
<file path=[Content_Types].xml><?xml version="1.0" encoding="utf-8"?>
<Types xmlns="http://schemas.openxmlformats.org/package/2006/content-types">
  <Default Extension="png" ContentType="image/png"/>
  <Default Extension="bin" ContentType="application/vnd.openxmlformats-officedocument.oleObject"/>
  <Default Extension="tmp" ContentType="image/png"/>
  <Default Extension="jpeg" ContentType="image/jpeg"/>
  <Default Extension="wmf" ContentType="image/x-wmf"/>
  <Default Extension="emf" ContentType="image/x-emf"/>
  <Default Extension="rels" ContentType="application/vnd.openxmlformats-package.relationships+xml"/>
  <Default Extension="xml" ContentType="application/xml"/>
  <Default Extension="wav" ContentType="audio/x-wav"/>
  <Default Extension="vml" ContentType="application/vnd.openxmlformats-officedocument.vmlDrawing"/>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2.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58" r:id="rId2"/>
  </p:sldMasterIdLst>
  <p:notesMasterIdLst>
    <p:notesMasterId r:id="rId264"/>
  </p:notesMasterIdLst>
  <p:handoutMasterIdLst>
    <p:handoutMasterId r:id="rId265"/>
  </p:handoutMasterIdLst>
  <p:sldIdLst>
    <p:sldId id="1495" r:id="rId3"/>
    <p:sldId id="970" r:id="rId4"/>
    <p:sldId id="1496" r:id="rId5"/>
    <p:sldId id="1497" r:id="rId6"/>
    <p:sldId id="1005" r:id="rId7"/>
    <p:sldId id="1088" r:id="rId8"/>
    <p:sldId id="1090" r:id="rId9"/>
    <p:sldId id="1091" r:id="rId10"/>
    <p:sldId id="1092" r:id="rId11"/>
    <p:sldId id="1725" r:id="rId12"/>
    <p:sldId id="1093" r:id="rId13"/>
    <p:sldId id="1280" r:id="rId14"/>
    <p:sldId id="1096" r:id="rId15"/>
    <p:sldId id="1281" r:id="rId16"/>
    <p:sldId id="1282" r:id="rId17"/>
    <p:sldId id="1283" r:id="rId18"/>
    <p:sldId id="1275" r:id="rId19"/>
    <p:sldId id="1126" r:id="rId20"/>
    <p:sldId id="1102" r:id="rId21"/>
    <p:sldId id="1128" r:id="rId22"/>
    <p:sldId id="1104" r:id="rId23"/>
    <p:sldId id="1185" r:id="rId24"/>
    <p:sldId id="1191" r:id="rId25"/>
    <p:sldId id="1186" r:id="rId26"/>
    <p:sldId id="1187" r:id="rId27"/>
    <p:sldId id="1188" r:id="rId28"/>
    <p:sldId id="1189" r:id="rId29"/>
    <p:sldId id="1192" r:id="rId30"/>
    <p:sldId id="1261" r:id="rId31"/>
    <p:sldId id="1262" r:id="rId32"/>
    <p:sldId id="1263" r:id="rId33"/>
    <p:sldId id="1758" r:id="rId34"/>
    <p:sldId id="1757" r:id="rId35"/>
    <p:sldId id="1759" r:id="rId36"/>
    <p:sldId id="1200" r:id="rId37"/>
    <p:sldId id="1201" r:id="rId38"/>
    <p:sldId id="1196" r:id="rId39"/>
    <p:sldId id="1202" r:id="rId40"/>
    <p:sldId id="1199" r:id="rId41"/>
    <p:sldId id="1198" r:id="rId42"/>
    <p:sldId id="1756" r:id="rId43"/>
    <p:sldId id="1726" r:id="rId44"/>
    <p:sldId id="1097" r:id="rId45"/>
    <p:sldId id="1105" r:id="rId46"/>
    <p:sldId id="1107" r:id="rId47"/>
    <p:sldId id="1130" r:id="rId48"/>
    <p:sldId id="1108" r:id="rId49"/>
    <p:sldId id="1081" r:id="rId50"/>
    <p:sldId id="1131" r:id="rId51"/>
    <p:sldId id="1132" r:id="rId52"/>
    <p:sldId id="1760" r:id="rId53"/>
    <p:sldId id="1761" r:id="rId54"/>
    <p:sldId id="1762" r:id="rId55"/>
    <p:sldId id="1045" r:id="rId56"/>
    <p:sldId id="1048" r:id="rId57"/>
    <p:sldId id="1184" r:id="rId58"/>
    <p:sldId id="1134" r:id="rId59"/>
    <p:sldId id="1135" r:id="rId60"/>
    <p:sldId id="1136" r:id="rId61"/>
    <p:sldId id="1137" r:id="rId62"/>
    <p:sldId id="1138" r:id="rId63"/>
    <p:sldId id="1500" r:id="rId64"/>
    <p:sldId id="1501" r:id="rId65"/>
    <p:sldId id="1502" r:id="rId66"/>
    <p:sldId id="1503" r:id="rId67"/>
    <p:sldId id="1504" r:id="rId68"/>
    <p:sldId id="1505" r:id="rId69"/>
    <p:sldId id="1506" r:id="rId70"/>
    <p:sldId id="1507" r:id="rId71"/>
    <p:sldId id="1508" r:id="rId72"/>
    <p:sldId id="1509" r:id="rId73"/>
    <p:sldId id="1510" r:id="rId74"/>
    <p:sldId id="1511" r:id="rId75"/>
    <p:sldId id="1512" r:id="rId76"/>
    <p:sldId id="1513" r:id="rId77"/>
    <p:sldId id="1514" r:id="rId78"/>
    <p:sldId id="1515" r:id="rId79"/>
    <p:sldId id="1516" r:id="rId80"/>
    <p:sldId id="1517" r:id="rId81"/>
    <p:sldId id="1518" r:id="rId82"/>
    <p:sldId id="1519" r:id="rId83"/>
    <p:sldId id="1520" r:id="rId84"/>
    <p:sldId id="1521" r:id="rId85"/>
    <p:sldId id="1522" r:id="rId86"/>
    <p:sldId id="1523" r:id="rId87"/>
    <p:sldId id="1165" r:id="rId88"/>
    <p:sldId id="1163" r:id="rId89"/>
    <p:sldId id="1164" r:id="rId90"/>
    <p:sldId id="1110" r:id="rId91"/>
    <p:sldId id="1111" r:id="rId92"/>
    <p:sldId id="1054" r:id="rId93"/>
    <p:sldId id="1765" r:id="rId94"/>
    <p:sldId id="1764" r:id="rId95"/>
    <p:sldId id="1763" r:id="rId96"/>
    <p:sldId id="1766" r:id="rId97"/>
    <p:sldId id="1727" r:id="rId98"/>
    <p:sldId id="1112" r:id="rId99"/>
    <p:sldId id="1113" r:id="rId100"/>
    <p:sldId id="1051" r:id="rId101"/>
    <p:sldId id="1114" r:id="rId102"/>
    <p:sldId id="1013" r:id="rId103"/>
    <p:sldId id="1351" r:id="rId104"/>
    <p:sldId id="1525" r:id="rId105"/>
    <p:sldId id="1526" r:id="rId106"/>
    <p:sldId id="1527" r:id="rId107"/>
    <p:sldId id="1528" r:id="rId108"/>
    <p:sldId id="1356" r:id="rId109"/>
    <p:sldId id="1529" r:id="rId110"/>
    <p:sldId id="1357" r:id="rId111"/>
    <p:sldId id="1204" r:id="rId112"/>
    <p:sldId id="1117" r:id="rId113"/>
    <p:sldId id="1116" r:id="rId114"/>
    <p:sldId id="1530" r:id="rId115"/>
    <p:sldId id="1056" r:id="rId116"/>
    <p:sldId id="1057" r:id="rId117"/>
    <p:sldId id="1216" r:id="rId118"/>
    <p:sldId id="1205" r:id="rId119"/>
    <p:sldId id="1207" r:id="rId120"/>
    <p:sldId id="1217" r:id="rId121"/>
    <p:sldId id="1218" r:id="rId122"/>
    <p:sldId id="1219" r:id="rId123"/>
    <p:sldId id="1220" r:id="rId124"/>
    <p:sldId id="1221" r:id="rId125"/>
    <p:sldId id="1222" r:id="rId126"/>
    <p:sldId id="1223" r:id="rId127"/>
    <p:sldId id="1224" r:id="rId128"/>
    <p:sldId id="1225" r:id="rId129"/>
    <p:sldId id="1227" r:id="rId130"/>
    <p:sldId id="1229" r:id="rId131"/>
    <p:sldId id="1230" r:id="rId132"/>
    <p:sldId id="1233" r:id="rId133"/>
    <p:sldId id="1231" r:id="rId134"/>
    <p:sldId id="1234" r:id="rId135"/>
    <p:sldId id="1235" r:id="rId136"/>
    <p:sldId id="1236" r:id="rId137"/>
    <p:sldId id="1237" r:id="rId138"/>
    <p:sldId id="1239" r:id="rId139"/>
    <p:sldId id="1244" r:id="rId140"/>
    <p:sldId id="1245" r:id="rId141"/>
    <p:sldId id="1242" r:id="rId142"/>
    <p:sldId id="1243" r:id="rId143"/>
    <p:sldId id="871" r:id="rId144"/>
    <p:sldId id="1728" r:id="rId145"/>
    <p:sldId id="1061" r:id="rId146"/>
    <p:sldId id="1167" r:id="rId147"/>
    <p:sldId id="1532" r:id="rId148"/>
    <p:sldId id="1533" r:id="rId149"/>
    <p:sldId id="1534" r:id="rId150"/>
    <p:sldId id="1535" r:id="rId151"/>
    <p:sldId id="1536" r:id="rId152"/>
    <p:sldId id="1537" r:id="rId153"/>
    <p:sldId id="1538" r:id="rId154"/>
    <p:sldId id="1539" r:id="rId155"/>
    <p:sldId id="1540" r:id="rId156"/>
    <p:sldId id="1541" r:id="rId157"/>
    <p:sldId id="1542" r:id="rId158"/>
    <p:sldId id="1181" r:id="rId159"/>
    <p:sldId id="1571" r:id="rId160"/>
    <p:sldId id="1573" r:id="rId161"/>
    <p:sldId id="1183" r:id="rId162"/>
    <p:sldId id="1248" r:id="rId163"/>
    <p:sldId id="1729" r:id="rId164"/>
    <p:sldId id="1249" r:id="rId165"/>
    <p:sldId id="1253" r:id="rId166"/>
    <p:sldId id="1252" r:id="rId167"/>
    <p:sldId id="1254" r:id="rId168"/>
    <p:sldId id="1255" r:id="rId169"/>
    <p:sldId id="1256" r:id="rId170"/>
    <p:sldId id="1250" r:id="rId171"/>
    <p:sldId id="1251" r:id="rId172"/>
    <p:sldId id="1257" r:id="rId173"/>
    <p:sldId id="1258" r:id="rId174"/>
    <p:sldId id="1259" r:id="rId175"/>
    <p:sldId id="1260" r:id="rId176"/>
    <p:sldId id="1730" r:id="rId177"/>
    <p:sldId id="1284" r:id="rId178"/>
    <p:sldId id="1287" r:id="rId179"/>
    <p:sldId id="1288" r:id="rId180"/>
    <p:sldId id="1289" r:id="rId181"/>
    <p:sldId id="1290" r:id="rId182"/>
    <p:sldId id="1291" r:id="rId183"/>
    <p:sldId id="1292" r:id="rId184"/>
    <p:sldId id="1293" r:id="rId185"/>
    <p:sldId id="1294" r:id="rId186"/>
    <p:sldId id="1295" r:id="rId187"/>
    <p:sldId id="1296" r:id="rId188"/>
    <p:sldId id="1297" r:id="rId189"/>
    <p:sldId id="1298" r:id="rId190"/>
    <p:sldId id="1299" r:id="rId191"/>
    <p:sldId id="1303" r:id="rId192"/>
    <p:sldId id="1304" r:id="rId193"/>
    <p:sldId id="1305" r:id="rId194"/>
    <p:sldId id="1306" r:id="rId195"/>
    <p:sldId id="1545" r:id="rId196"/>
    <p:sldId id="1546" r:id="rId197"/>
    <p:sldId id="1547" r:id="rId198"/>
    <p:sldId id="1548" r:id="rId199"/>
    <p:sldId id="1549" r:id="rId200"/>
    <p:sldId id="1550" r:id="rId201"/>
    <p:sldId id="1551" r:id="rId202"/>
    <p:sldId id="1552" r:id="rId203"/>
    <p:sldId id="1553" r:id="rId204"/>
    <p:sldId id="1554" r:id="rId205"/>
    <p:sldId id="1555" r:id="rId206"/>
    <p:sldId id="1557" r:id="rId207"/>
    <p:sldId id="1558" r:id="rId208"/>
    <p:sldId id="1559" r:id="rId209"/>
    <p:sldId id="1560" r:id="rId210"/>
    <p:sldId id="1561" r:id="rId211"/>
    <p:sldId id="1562" r:id="rId212"/>
    <p:sldId id="1563" r:id="rId213"/>
    <p:sldId id="1564" r:id="rId214"/>
    <p:sldId id="1565" r:id="rId215"/>
    <p:sldId id="1566" r:id="rId216"/>
    <p:sldId id="1567" r:id="rId217"/>
    <p:sldId id="1568" r:id="rId218"/>
    <p:sldId id="1569" r:id="rId219"/>
    <p:sldId id="1570" r:id="rId220"/>
    <p:sldId id="1333" r:id="rId221"/>
    <p:sldId id="1334" r:id="rId222"/>
    <p:sldId id="1335" r:id="rId223"/>
    <p:sldId id="1336" r:id="rId224"/>
    <p:sldId id="1337" r:id="rId225"/>
    <p:sldId id="1338" r:id="rId226"/>
    <p:sldId id="1339" r:id="rId227"/>
    <p:sldId id="1340" r:id="rId228"/>
    <p:sldId id="1341" r:id="rId229"/>
    <p:sldId id="1342" r:id="rId230"/>
    <p:sldId id="1343" r:id="rId231"/>
    <p:sldId id="1344" r:id="rId232"/>
    <p:sldId id="1345" r:id="rId233"/>
    <p:sldId id="1346" r:id="rId234"/>
    <p:sldId id="1347" r:id="rId235"/>
    <p:sldId id="1348" r:id="rId236"/>
    <p:sldId id="1349" r:id="rId237"/>
    <p:sldId id="1731" r:id="rId238"/>
    <p:sldId id="1732" r:id="rId239"/>
    <p:sldId id="1733" r:id="rId240"/>
    <p:sldId id="1736" r:id="rId241"/>
    <p:sldId id="1737" r:id="rId242"/>
    <p:sldId id="1738" r:id="rId243"/>
    <p:sldId id="1739" r:id="rId244"/>
    <p:sldId id="1740" r:id="rId245"/>
    <p:sldId id="1744" r:id="rId246"/>
    <p:sldId id="1745" r:id="rId247"/>
    <p:sldId id="1746" r:id="rId248"/>
    <p:sldId id="1747" r:id="rId249"/>
    <p:sldId id="1748" r:id="rId250"/>
    <p:sldId id="1749" r:id="rId251"/>
    <p:sldId id="1750" r:id="rId252"/>
    <p:sldId id="1751" r:id="rId253"/>
    <p:sldId id="1753" r:id="rId254"/>
    <p:sldId id="1752" r:id="rId255"/>
    <p:sldId id="921" r:id="rId256"/>
    <p:sldId id="1265" r:id="rId257"/>
    <p:sldId id="1267" r:id="rId258"/>
    <p:sldId id="1270" r:id="rId259"/>
    <p:sldId id="1269" r:id="rId260"/>
    <p:sldId id="1754" r:id="rId261"/>
    <p:sldId id="1755" r:id="rId262"/>
    <p:sldId id="904" r:id="rId263"/>
  </p:sldIdLst>
  <p:sldSz cx="9144000" cy="6858000" type="screen4x3"/>
  <p:notesSz cx="6858000" cy="9144000"/>
  <p:custDataLst>
    <p:tags r:id="rId266"/>
  </p:custDataLst>
  <p:defaultTextStyle>
    <a:defPPr>
      <a:defRPr lang="zh-CN"/>
    </a:defPPr>
    <a:lvl1pPr marL="0" lvl="0"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1pPr>
    <a:lvl2pPr marL="457200" lvl="1"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vl6pPr marL="2286000" lvl="5"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6pPr>
    <a:lvl7pPr marL="2743200" lvl="6"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7pPr>
    <a:lvl8pPr marL="3200400" lvl="7"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8pPr>
    <a:lvl9pPr marL="3657600" lvl="8"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9pPr>
  </p:defaultTextStyle>
  <p:extLst>
    <p:ext uri="{EFAFB233-063F-42B5-8137-9DF3F51BA10A}">
      <p15:sldGuideLst xmlns="" xmlns:p15="http://schemas.microsoft.com/office/powerpoint/2012/main">
        <p15:guide id="1" orient="horz" pos="2115" userDrawn="1">
          <p15:clr>
            <a:srgbClr val="A4A3A4"/>
          </p15:clr>
        </p15:guide>
        <p15:guide id="2" pos="2894"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Admin" initials="A" lastIdx="1" clrIdx="0"/>
  <p:cmAuthor id="1643296238" name="崔金满" initials="崔" lastIdx="4"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BEBEB"/>
    <a:srgbClr val="336699"/>
    <a:srgbClr val="33CCCC"/>
    <a:srgbClr val="33CCFF"/>
    <a:srgbClr val="CCCCFF"/>
    <a:srgbClr val="E2D9EB"/>
    <a:srgbClr val="EAEAEA"/>
    <a:srgbClr val="4F81BD"/>
    <a:srgbClr val="8064A2"/>
    <a:srgbClr val="C0504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1296"/>
    <p:restoredTop sz="94682"/>
  </p:normalViewPr>
  <p:slideViewPr>
    <p:cSldViewPr snapToObjects="1" showGuides="1">
      <p:cViewPr varScale="1">
        <p:scale>
          <a:sx n="84" d="100"/>
          <a:sy n="84" d="100"/>
        </p:scale>
        <p:origin x="-966" y="-84"/>
      </p:cViewPr>
      <p:guideLst>
        <p:guide orient="horz" pos="2115"/>
        <p:guide pos="2894"/>
      </p:guideLst>
    </p:cSldViewPr>
  </p:slideViewPr>
  <p:outlineViewPr>
    <p:cViewPr>
      <p:scale>
        <a:sx n="33" d="100"/>
        <a:sy n="33" d="100"/>
      </p:scale>
      <p:origin x="0" y="0"/>
    </p:cViewPr>
  </p:outlineViewPr>
  <p:notesTextViewPr>
    <p:cViewPr>
      <p:scale>
        <a:sx n="100" d="100"/>
        <a:sy n="100" d="100"/>
      </p:scale>
      <p:origin x="0" y="0"/>
    </p:cViewPr>
  </p:notesTextViewPr>
  <p:sorterViewPr showFormatting="0">
    <p:cViewPr>
      <p:scale>
        <a:sx n="66" d="100"/>
        <a:sy n="66" d="100"/>
      </p:scale>
      <p:origin x="0" y="732"/>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63" Type="http://schemas.openxmlformats.org/officeDocument/2006/relationships/slide" Target="slides/slide61.xml"/><Relationship Id="rId159" Type="http://schemas.openxmlformats.org/officeDocument/2006/relationships/slide" Target="slides/slide157.xml"/><Relationship Id="rId170" Type="http://schemas.openxmlformats.org/officeDocument/2006/relationships/slide" Target="slides/slide168.xml"/><Relationship Id="rId226" Type="http://schemas.openxmlformats.org/officeDocument/2006/relationships/slide" Target="slides/slide224.xml"/><Relationship Id="rId268" Type="http://schemas.openxmlformats.org/officeDocument/2006/relationships/presProps" Target="presProps.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slide" Target="slides/slide147.xml"/><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slide" Target="slides/slide158.xml"/><Relationship Id="rId181" Type="http://schemas.openxmlformats.org/officeDocument/2006/relationships/slide" Target="slides/slide179.xml"/><Relationship Id="rId216" Type="http://schemas.openxmlformats.org/officeDocument/2006/relationships/slide" Target="slides/slide214.xml"/><Relationship Id="rId237" Type="http://schemas.openxmlformats.org/officeDocument/2006/relationships/slide" Target="slides/slide235.xml"/><Relationship Id="rId258" Type="http://schemas.openxmlformats.org/officeDocument/2006/relationships/slide" Target="slides/slide256.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slide" Target="slides/slide190.xml"/><Relationship Id="rId206" Type="http://schemas.openxmlformats.org/officeDocument/2006/relationships/slide" Target="slides/slide204.xml"/><Relationship Id="rId227" Type="http://schemas.openxmlformats.org/officeDocument/2006/relationships/slide" Target="slides/slide225.xml"/><Relationship Id="rId248" Type="http://schemas.openxmlformats.org/officeDocument/2006/relationships/slide" Target="slides/slide246.xml"/><Relationship Id="rId269" Type="http://schemas.openxmlformats.org/officeDocument/2006/relationships/viewProps" Target="viewProps.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6" Type="http://schemas.openxmlformats.org/officeDocument/2006/relationships/slide" Target="slides/slide4.xml"/><Relationship Id="rId238" Type="http://schemas.openxmlformats.org/officeDocument/2006/relationships/slide" Target="slides/slide236.xml"/><Relationship Id="rId259" Type="http://schemas.openxmlformats.org/officeDocument/2006/relationships/slide" Target="slides/slide257.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theme" Target="theme/theme1.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39" Type="http://schemas.openxmlformats.org/officeDocument/2006/relationships/slide" Target="slides/slide237.xml"/><Relationship Id="rId250" Type="http://schemas.openxmlformats.org/officeDocument/2006/relationships/slide" Target="slides/slide248.xml"/><Relationship Id="rId271" Type="http://schemas.openxmlformats.org/officeDocument/2006/relationships/tableStyles" Target="tableStyles.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240" Type="http://schemas.openxmlformats.org/officeDocument/2006/relationships/slide" Target="slides/slide238.xml"/><Relationship Id="rId261" Type="http://schemas.openxmlformats.org/officeDocument/2006/relationships/slide" Target="slides/slide259.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220" Type="http://schemas.openxmlformats.org/officeDocument/2006/relationships/slide" Target="slides/slide218.xml"/><Relationship Id="rId241" Type="http://schemas.openxmlformats.org/officeDocument/2006/relationships/slide" Target="slides/slide23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262" Type="http://schemas.openxmlformats.org/officeDocument/2006/relationships/slide" Target="slides/slide260.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9" Type="http://schemas.openxmlformats.org/officeDocument/2006/relationships/slide" Target="slides/slide7.xml"/><Relationship Id="rId210" Type="http://schemas.openxmlformats.org/officeDocument/2006/relationships/slide" Target="slides/slide208.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slide" Target="slides/slide261.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notesMaster" Target="notesMasters/notesMaster1.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handoutMaster" Target="handoutMasters/handoutMaster1.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266" Type="http://schemas.openxmlformats.org/officeDocument/2006/relationships/tags" Target="tags/tag1.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267" Type="http://schemas.openxmlformats.org/officeDocument/2006/relationships/commentAuthors" Target="commentAuthors.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 Id="rId107" Type="http://schemas.openxmlformats.org/officeDocument/2006/relationships/slide" Target="slides/slide105.xml"/></Relationships>
</file>

<file path=ppt/diagrams/colors1.xml><?xml version="1.0" encoding="utf-8"?>
<dgm:colorsDef xmlns:dgm="http://schemas.openxmlformats.org/drawingml/2006/diagram" xmlns:a="http://schemas.openxmlformats.org/drawingml/2006/main" uniqueId="urn:microsoft.com/office/officeart/2005/8/colors/accent1_2#1">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A96B2411-DC16-462C-9978-AF5F0BCC8F89}" type="doc">
      <dgm:prSet loTypeId="urn:microsoft.com/office/officeart/2008/layout/HorizontalMultiLevelHierarchy#1" loCatId="hierarchy" qsTypeId="urn:microsoft.com/office/officeart/2005/8/quickstyle/simple1#1" qsCatId="simple" csTypeId="urn:microsoft.com/office/officeart/2005/8/colors/accent1_2#1" csCatId="accent1" phldr="1"/>
      <dgm:spPr/>
      <dgm:t>
        <a:bodyPr/>
        <a:lstStyle/>
        <a:p>
          <a:endParaRPr lang="zh-CN" altLang="en-US"/>
        </a:p>
      </dgm:t>
    </dgm:pt>
    <dgm:pt modelId="{24ABB9F3-0A4C-4320-8978-27F6643618DF}">
      <dgm:prSet phldrT="[文本]"/>
      <dgm:spPr/>
      <dgm:t>
        <a:bodyPr/>
        <a:lstStyle/>
        <a:p>
          <a:r>
            <a:rPr lang="en-US" altLang="zh-CN" dirty="0">
              <a:latin typeface="+mn-lt"/>
              <a:ea typeface="+mn-ea"/>
              <a:cs typeface="+mn-ea"/>
              <a:sym typeface="+mn-lt"/>
            </a:rPr>
            <a:t> </a:t>
          </a:r>
          <a:r>
            <a:rPr lang="zh-CN" altLang="en-US" dirty="0">
              <a:latin typeface="+mn-lt"/>
              <a:ea typeface="+mn-ea"/>
              <a:cs typeface="+mn-ea"/>
              <a:sym typeface="+mn-lt"/>
            </a:rPr>
            <a:t>数据结构</a:t>
          </a:r>
        </a:p>
      </dgm:t>
    </dgm:pt>
    <dgm:pt modelId="{01C08DA1-FEE9-4773-8B0C-E5EF8025317F}" type="parTrans" cxnId="{AC5F77F5-9582-42BD-ACE4-E3483A890931}">
      <dgm:prSet/>
      <dgm:spPr/>
      <dgm:t>
        <a:bodyPr/>
        <a:lstStyle/>
        <a:p>
          <a:endParaRPr lang="zh-CN" altLang="en-US"/>
        </a:p>
      </dgm:t>
    </dgm:pt>
    <dgm:pt modelId="{A4B68712-60F4-4A17-9D91-735F1D6DBDDE}" type="sibTrans" cxnId="{AC5F77F5-9582-42BD-ACE4-E3483A890931}">
      <dgm:prSet/>
      <dgm:spPr/>
      <dgm:t>
        <a:bodyPr/>
        <a:lstStyle/>
        <a:p>
          <a:endParaRPr lang="zh-CN" altLang="en-US"/>
        </a:p>
      </dgm:t>
    </dgm:pt>
    <dgm:pt modelId="{62A2BA7D-8D73-46D2-B136-DC236B0FA708}">
      <dgm:prSet phldrT="[文本]"/>
      <dgm:spPr/>
      <dgm:t>
        <a:bodyPr/>
        <a:lstStyle/>
        <a:p>
          <a:r>
            <a:rPr lang="zh-CN" altLang="en-US" dirty="0">
              <a:latin typeface="+mn-lt"/>
              <a:ea typeface="+mn-ea"/>
              <a:cs typeface="+mn-ea"/>
              <a:sym typeface="+mn-lt"/>
            </a:rPr>
            <a:t>逻辑结构</a:t>
          </a:r>
        </a:p>
      </dgm:t>
    </dgm:pt>
    <dgm:pt modelId="{322AE856-1454-4EB0-8E7B-1956A64D7956}" type="parTrans" cxnId="{D5B4F5C4-8289-4180-A14D-6E6BCB7A2C2A}">
      <dgm:prSet/>
      <dgm:spPr/>
      <dgm:t>
        <a:bodyPr/>
        <a:lstStyle/>
        <a:p>
          <a:endParaRPr lang="zh-CN" altLang="en-US"/>
        </a:p>
      </dgm:t>
    </dgm:pt>
    <dgm:pt modelId="{FD20E2D8-245C-41E1-ADB8-F57985263646}" type="sibTrans" cxnId="{D5B4F5C4-8289-4180-A14D-6E6BCB7A2C2A}">
      <dgm:prSet/>
      <dgm:spPr/>
      <dgm:t>
        <a:bodyPr/>
        <a:lstStyle/>
        <a:p>
          <a:endParaRPr lang="zh-CN" altLang="en-US"/>
        </a:p>
      </dgm:t>
    </dgm:pt>
    <dgm:pt modelId="{9F70255F-1144-4F29-843D-01180F586314}">
      <dgm:prSet phldrT="[文本]"/>
      <dgm:spPr/>
      <dgm:t>
        <a:bodyPr/>
        <a:lstStyle/>
        <a:p>
          <a:r>
            <a:rPr lang="zh-CN" altLang="en-US" dirty="0">
              <a:latin typeface="+mn-lt"/>
              <a:ea typeface="+mn-ea"/>
              <a:cs typeface="+mn-ea"/>
              <a:sym typeface="+mn-lt"/>
            </a:rPr>
            <a:t>线性结构（线性表、栈、队、串、数组）</a:t>
          </a:r>
        </a:p>
      </dgm:t>
    </dgm:pt>
    <dgm:pt modelId="{45A05C54-EC53-4281-B2F4-C80D41EFE07C}" type="parTrans" cxnId="{40C07515-0F69-457F-A4F1-41492883AD57}">
      <dgm:prSet/>
      <dgm:spPr/>
      <dgm:t>
        <a:bodyPr/>
        <a:lstStyle/>
        <a:p>
          <a:endParaRPr lang="zh-CN" altLang="en-US"/>
        </a:p>
      </dgm:t>
    </dgm:pt>
    <dgm:pt modelId="{95FCA461-EF95-4B27-9EB4-52F68A9E18B9}" type="sibTrans" cxnId="{40C07515-0F69-457F-A4F1-41492883AD57}">
      <dgm:prSet/>
      <dgm:spPr/>
      <dgm:t>
        <a:bodyPr/>
        <a:lstStyle/>
        <a:p>
          <a:endParaRPr lang="zh-CN" altLang="en-US"/>
        </a:p>
      </dgm:t>
    </dgm:pt>
    <dgm:pt modelId="{A9C91238-9E54-42D7-9BB7-AF4E30A08069}">
      <dgm:prSet phldrT="[文本]"/>
      <dgm:spPr/>
      <dgm:t>
        <a:bodyPr/>
        <a:lstStyle/>
        <a:p>
          <a:r>
            <a:rPr lang="zh-CN" altLang="en-US" dirty="0">
              <a:latin typeface="+mn-lt"/>
              <a:ea typeface="+mn-ea"/>
              <a:cs typeface="+mn-ea"/>
              <a:sym typeface="+mn-lt"/>
            </a:rPr>
            <a:t>非线性结构</a:t>
          </a:r>
        </a:p>
      </dgm:t>
    </dgm:pt>
    <dgm:pt modelId="{33DE039D-9933-463A-9860-574540D8AD0B}" type="parTrans" cxnId="{F55D3BA9-EF1C-4BF7-927E-A8F54F923458}">
      <dgm:prSet/>
      <dgm:spPr/>
      <dgm:t>
        <a:bodyPr/>
        <a:lstStyle/>
        <a:p>
          <a:endParaRPr lang="zh-CN" altLang="en-US"/>
        </a:p>
      </dgm:t>
    </dgm:pt>
    <dgm:pt modelId="{AFDB399E-5A55-40CA-8604-F179D5729E7A}" type="sibTrans" cxnId="{F55D3BA9-EF1C-4BF7-927E-A8F54F923458}">
      <dgm:prSet/>
      <dgm:spPr/>
      <dgm:t>
        <a:bodyPr/>
        <a:lstStyle/>
        <a:p>
          <a:endParaRPr lang="zh-CN" altLang="en-US"/>
        </a:p>
      </dgm:t>
    </dgm:pt>
    <dgm:pt modelId="{F07FD081-7676-420C-9189-03B4DE6D5DCE}">
      <dgm:prSet phldrT="[文本]"/>
      <dgm:spPr/>
      <dgm:t>
        <a:bodyPr/>
        <a:lstStyle/>
        <a:p>
          <a:r>
            <a:rPr lang="zh-CN" altLang="en-US" dirty="0">
              <a:latin typeface="+mn-lt"/>
              <a:ea typeface="+mn-ea"/>
              <a:cs typeface="+mn-ea"/>
              <a:sym typeface="+mn-lt"/>
            </a:rPr>
            <a:t>物理（存储结构）</a:t>
          </a:r>
        </a:p>
      </dgm:t>
    </dgm:pt>
    <dgm:pt modelId="{89DC8932-717E-47A0-934A-E60AD133CB73}" type="parTrans" cxnId="{296E1FA2-4A46-43FE-B219-B644963BCFBC}">
      <dgm:prSet/>
      <dgm:spPr/>
      <dgm:t>
        <a:bodyPr/>
        <a:lstStyle/>
        <a:p>
          <a:endParaRPr lang="zh-CN" altLang="en-US"/>
        </a:p>
      </dgm:t>
    </dgm:pt>
    <dgm:pt modelId="{6435B591-DB6B-4091-8ACE-C954DF441291}" type="sibTrans" cxnId="{296E1FA2-4A46-43FE-B219-B644963BCFBC}">
      <dgm:prSet/>
      <dgm:spPr/>
      <dgm:t>
        <a:bodyPr/>
        <a:lstStyle/>
        <a:p>
          <a:endParaRPr lang="zh-CN" altLang="en-US"/>
        </a:p>
      </dgm:t>
    </dgm:pt>
    <dgm:pt modelId="{0BCA741C-3E4D-467A-8AC8-A3AA66A637AE}">
      <dgm:prSet phldrT="[文本]"/>
      <dgm:spPr/>
      <dgm:t>
        <a:bodyPr/>
        <a:lstStyle/>
        <a:p>
          <a:r>
            <a:rPr lang="zh-CN" altLang="en-US" dirty="0">
              <a:latin typeface="+mn-lt"/>
              <a:ea typeface="+mn-ea"/>
              <a:cs typeface="+mn-ea"/>
              <a:sym typeface="+mn-lt"/>
            </a:rPr>
            <a:t>顺序结构</a:t>
          </a:r>
        </a:p>
      </dgm:t>
    </dgm:pt>
    <dgm:pt modelId="{E0E6FC69-0F7C-4A1D-9183-905A330339FC}" type="parTrans" cxnId="{9A006125-848A-4B59-8C89-9EBD74EC432C}">
      <dgm:prSet/>
      <dgm:spPr/>
      <dgm:t>
        <a:bodyPr/>
        <a:lstStyle/>
        <a:p>
          <a:endParaRPr lang="zh-CN" altLang="en-US"/>
        </a:p>
      </dgm:t>
    </dgm:pt>
    <dgm:pt modelId="{071CECA6-B2F3-4C3A-A741-FB5F89F1BF2E}" type="sibTrans" cxnId="{9A006125-848A-4B59-8C89-9EBD74EC432C}">
      <dgm:prSet/>
      <dgm:spPr/>
      <dgm:t>
        <a:bodyPr/>
        <a:lstStyle/>
        <a:p>
          <a:endParaRPr lang="zh-CN" altLang="en-US"/>
        </a:p>
      </dgm:t>
    </dgm:pt>
    <dgm:pt modelId="{0A1C0214-6986-445B-974F-C041BA440A6D}">
      <dgm:prSet phldrT="[文本]"/>
      <dgm:spPr/>
      <dgm:t>
        <a:bodyPr/>
        <a:lstStyle/>
        <a:p>
          <a:r>
            <a:rPr lang="zh-CN" altLang="en-US" dirty="0">
              <a:latin typeface="+mn-lt"/>
              <a:ea typeface="+mn-ea"/>
              <a:cs typeface="+mn-ea"/>
              <a:sym typeface="+mn-lt"/>
            </a:rPr>
            <a:t>数据运算</a:t>
          </a:r>
        </a:p>
      </dgm:t>
    </dgm:pt>
    <dgm:pt modelId="{72BDCEB5-E6AE-4365-815F-A51C5742A8A8}" type="parTrans" cxnId="{AE33949D-BF3F-4665-9D99-7DAF22D4CC37}">
      <dgm:prSet/>
      <dgm:spPr/>
      <dgm:t>
        <a:bodyPr/>
        <a:lstStyle/>
        <a:p>
          <a:endParaRPr lang="zh-CN" altLang="en-US"/>
        </a:p>
      </dgm:t>
    </dgm:pt>
    <dgm:pt modelId="{E6F456E1-1933-4257-A113-FFE85CEC0672}" type="sibTrans" cxnId="{AE33949D-BF3F-4665-9D99-7DAF22D4CC37}">
      <dgm:prSet/>
      <dgm:spPr/>
      <dgm:t>
        <a:bodyPr/>
        <a:lstStyle/>
        <a:p>
          <a:endParaRPr lang="zh-CN" altLang="en-US"/>
        </a:p>
      </dgm:t>
    </dgm:pt>
    <dgm:pt modelId="{947A5A78-3570-43EA-AA72-DAC2D211AE96}">
      <dgm:prSet phldrT="[文本]"/>
      <dgm:spPr/>
      <dgm:t>
        <a:bodyPr/>
        <a:lstStyle/>
        <a:p>
          <a:r>
            <a:rPr lang="zh-CN" altLang="en-US" dirty="0">
              <a:latin typeface="+mn-lt"/>
              <a:ea typeface="+mn-ea"/>
              <a:cs typeface="+mn-ea"/>
              <a:sym typeface="+mn-lt"/>
            </a:rPr>
            <a:t>插入运算</a:t>
          </a:r>
        </a:p>
      </dgm:t>
    </dgm:pt>
    <dgm:pt modelId="{010BCBD2-FC60-4715-8051-86E36A5D1451}" type="parTrans" cxnId="{17E07136-E228-4AF5-B33A-7149A12F452B}">
      <dgm:prSet/>
      <dgm:spPr/>
      <dgm:t>
        <a:bodyPr/>
        <a:lstStyle/>
        <a:p>
          <a:endParaRPr lang="zh-CN" altLang="en-US"/>
        </a:p>
      </dgm:t>
    </dgm:pt>
    <dgm:pt modelId="{06E578C1-E816-4160-86AC-62751CBB6E04}" type="sibTrans" cxnId="{17E07136-E228-4AF5-B33A-7149A12F452B}">
      <dgm:prSet/>
      <dgm:spPr/>
      <dgm:t>
        <a:bodyPr/>
        <a:lstStyle/>
        <a:p>
          <a:endParaRPr lang="zh-CN" altLang="en-US"/>
        </a:p>
      </dgm:t>
    </dgm:pt>
    <dgm:pt modelId="{95DBCDB5-E3A4-4E67-A92F-CE5F7DE4B5C9}">
      <dgm:prSet phldrT="[文本]"/>
      <dgm:spPr/>
      <dgm:t>
        <a:bodyPr/>
        <a:lstStyle/>
        <a:p>
          <a:r>
            <a:rPr lang="zh-CN" altLang="en-US" dirty="0">
              <a:latin typeface="+mn-lt"/>
              <a:ea typeface="+mn-ea"/>
              <a:cs typeface="+mn-ea"/>
              <a:sym typeface="+mn-lt"/>
            </a:rPr>
            <a:t>删除运算</a:t>
          </a:r>
        </a:p>
      </dgm:t>
    </dgm:pt>
    <dgm:pt modelId="{CAADDDF4-22B9-4AB9-B14A-73D6A4190C29}" type="parTrans" cxnId="{A6E20741-A655-4F16-BFAA-9D6557BB2986}">
      <dgm:prSet/>
      <dgm:spPr/>
      <dgm:t>
        <a:bodyPr/>
        <a:lstStyle/>
        <a:p>
          <a:endParaRPr lang="zh-CN" altLang="en-US"/>
        </a:p>
      </dgm:t>
    </dgm:pt>
    <dgm:pt modelId="{BBB1C1F9-E2BE-4E34-AC3A-E75CC598C77A}" type="sibTrans" cxnId="{A6E20741-A655-4F16-BFAA-9D6557BB2986}">
      <dgm:prSet/>
      <dgm:spPr/>
      <dgm:t>
        <a:bodyPr/>
        <a:lstStyle/>
        <a:p>
          <a:endParaRPr lang="zh-CN" altLang="en-US"/>
        </a:p>
      </dgm:t>
    </dgm:pt>
    <dgm:pt modelId="{C1C726F4-AEB5-4009-9843-9E4515BCBF71}">
      <dgm:prSet phldrT="[文本]"/>
      <dgm:spPr/>
      <dgm:t>
        <a:bodyPr/>
        <a:lstStyle/>
        <a:p>
          <a:r>
            <a:rPr lang="zh-CN" altLang="en-US" dirty="0">
              <a:latin typeface="+mn-lt"/>
              <a:ea typeface="+mn-ea"/>
              <a:cs typeface="+mn-ea"/>
              <a:sym typeface="+mn-lt"/>
            </a:rPr>
            <a:t>修改运算</a:t>
          </a:r>
        </a:p>
      </dgm:t>
    </dgm:pt>
    <dgm:pt modelId="{CFA8C15B-5792-4413-9850-8AC322B9698D}" type="parTrans" cxnId="{9287EC5C-4B2C-408B-8BF6-4C534DEBB794}">
      <dgm:prSet/>
      <dgm:spPr/>
      <dgm:t>
        <a:bodyPr/>
        <a:lstStyle/>
        <a:p>
          <a:endParaRPr lang="zh-CN" altLang="en-US"/>
        </a:p>
      </dgm:t>
    </dgm:pt>
    <dgm:pt modelId="{676602C0-0CD2-4A1C-909A-3C9E911C216A}" type="sibTrans" cxnId="{9287EC5C-4B2C-408B-8BF6-4C534DEBB794}">
      <dgm:prSet/>
      <dgm:spPr/>
      <dgm:t>
        <a:bodyPr/>
        <a:lstStyle/>
        <a:p>
          <a:endParaRPr lang="zh-CN" altLang="en-US"/>
        </a:p>
      </dgm:t>
    </dgm:pt>
    <dgm:pt modelId="{D3BB87B3-22F9-436F-8A56-1C6AB20AFD61}">
      <dgm:prSet phldrT="[文本]"/>
      <dgm:spPr>
        <a:solidFill>
          <a:srgbClr val="6C4C8F"/>
        </a:solidFill>
      </dgm:spPr>
      <dgm:t>
        <a:bodyPr/>
        <a:lstStyle/>
        <a:p>
          <a:r>
            <a:rPr lang="zh-CN" altLang="en-US" dirty="0">
              <a:latin typeface="+mn-lt"/>
              <a:ea typeface="+mn-ea"/>
              <a:cs typeface="+mn-ea"/>
              <a:sym typeface="+mn-lt"/>
            </a:rPr>
            <a:t>查找运算</a:t>
          </a:r>
        </a:p>
      </dgm:t>
    </dgm:pt>
    <dgm:pt modelId="{BD3704C6-1205-414D-B1DF-AED863789C79}" type="parTrans" cxnId="{73E92908-ED11-4216-B3EB-229A4FC53D06}">
      <dgm:prSet/>
      <dgm:spPr/>
      <dgm:t>
        <a:bodyPr/>
        <a:lstStyle/>
        <a:p>
          <a:endParaRPr lang="zh-CN" altLang="en-US"/>
        </a:p>
      </dgm:t>
    </dgm:pt>
    <dgm:pt modelId="{D49D89F6-1C1A-4B27-ACA1-CE5069C412CC}" type="sibTrans" cxnId="{73E92908-ED11-4216-B3EB-229A4FC53D06}">
      <dgm:prSet/>
      <dgm:spPr/>
      <dgm:t>
        <a:bodyPr/>
        <a:lstStyle/>
        <a:p>
          <a:endParaRPr lang="zh-CN" altLang="en-US"/>
        </a:p>
      </dgm:t>
    </dgm:pt>
    <dgm:pt modelId="{BFC78336-DCF1-485D-99A1-CC216F34237C}">
      <dgm:prSet phldrT="[文本]"/>
      <dgm:spPr>
        <a:solidFill>
          <a:srgbClr val="FF3300"/>
        </a:solidFill>
      </dgm:spPr>
      <dgm:t>
        <a:bodyPr/>
        <a:lstStyle/>
        <a:p>
          <a:r>
            <a:rPr lang="zh-CN" altLang="en-US" dirty="0">
              <a:latin typeface="+mn-lt"/>
              <a:ea typeface="+mn-ea"/>
              <a:cs typeface="+mn-ea"/>
              <a:sym typeface="+mn-lt"/>
            </a:rPr>
            <a:t>排序运算</a:t>
          </a:r>
        </a:p>
      </dgm:t>
    </dgm:pt>
    <dgm:pt modelId="{26D4C600-7029-477E-81DD-6BF7C63ED123}" type="parTrans" cxnId="{70917B87-7E58-450D-9AAA-D86B7ADD7494}">
      <dgm:prSet/>
      <dgm:spPr/>
      <dgm:t>
        <a:bodyPr/>
        <a:lstStyle/>
        <a:p>
          <a:endParaRPr lang="zh-CN" altLang="en-US"/>
        </a:p>
      </dgm:t>
    </dgm:pt>
    <dgm:pt modelId="{FF19E1F4-FBAA-45C8-8CAE-CCBE8F5C0F2A}" type="sibTrans" cxnId="{70917B87-7E58-450D-9AAA-D86B7ADD7494}">
      <dgm:prSet/>
      <dgm:spPr/>
      <dgm:t>
        <a:bodyPr/>
        <a:lstStyle/>
        <a:p>
          <a:endParaRPr lang="zh-CN" altLang="en-US"/>
        </a:p>
      </dgm:t>
    </dgm:pt>
    <dgm:pt modelId="{3452061E-13E2-4C73-B349-3157FA323C6E}">
      <dgm:prSet phldrT="[文本]"/>
      <dgm:spPr/>
      <dgm:t>
        <a:bodyPr/>
        <a:lstStyle/>
        <a:p>
          <a:r>
            <a:rPr lang="zh-CN" altLang="en-US" dirty="0">
              <a:latin typeface="+mn-lt"/>
              <a:ea typeface="+mn-ea"/>
              <a:cs typeface="+mn-ea"/>
              <a:sym typeface="+mn-lt"/>
            </a:rPr>
            <a:t>链式结构</a:t>
          </a:r>
        </a:p>
      </dgm:t>
    </dgm:pt>
    <dgm:pt modelId="{FA0F6768-6ADD-4998-8126-5156401B56C5}" type="parTrans" cxnId="{A7E40DCD-E4F8-495B-B78B-5B80CC994453}">
      <dgm:prSet/>
      <dgm:spPr/>
      <dgm:t>
        <a:bodyPr/>
        <a:lstStyle/>
        <a:p>
          <a:endParaRPr lang="zh-CN" altLang="en-US"/>
        </a:p>
      </dgm:t>
    </dgm:pt>
    <dgm:pt modelId="{1DB61ECA-5877-4B4A-BBAF-AB85EEE5C820}" type="sibTrans" cxnId="{A7E40DCD-E4F8-495B-B78B-5B80CC994453}">
      <dgm:prSet/>
      <dgm:spPr/>
      <dgm:t>
        <a:bodyPr/>
        <a:lstStyle/>
        <a:p>
          <a:endParaRPr lang="zh-CN" altLang="en-US"/>
        </a:p>
      </dgm:t>
    </dgm:pt>
    <dgm:pt modelId="{3AF04ED5-E5AD-4777-8ACC-EFCF492EC822}">
      <dgm:prSet phldrT="[文本]"/>
      <dgm:spPr/>
      <dgm:t>
        <a:bodyPr/>
        <a:lstStyle/>
        <a:p>
          <a:r>
            <a:rPr lang="zh-CN" altLang="en-US" dirty="0">
              <a:latin typeface="+mn-lt"/>
              <a:ea typeface="+mn-ea"/>
              <a:cs typeface="+mn-ea"/>
              <a:sym typeface="+mn-lt"/>
            </a:rPr>
            <a:t>树结构</a:t>
          </a:r>
        </a:p>
      </dgm:t>
    </dgm:pt>
    <dgm:pt modelId="{F2CF2EA7-0A59-4E9F-9E7B-1C3472EFBE30}" type="parTrans" cxnId="{4FD3993C-E1C6-41D6-AC8F-05465D6EAB00}">
      <dgm:prSet/>
      <dgm:spPr/>
      <dgm:t>
        <a:bodyPr/>
        <a:lstStyle/>
        <a:p>
          <a:endParaRPr lang="zh-CN" altLang="en-US"/>
        </a:p>
      </dgm:t>
    </dgm:pt>
    <dgm:pt modelId="{1996C344-5E33-48C0-A17B-14D827431330}" type="sibTrans" cxnId="{4FD3993C-E1C6-41D6-AC8F-05465D6EAB00}">
      <dgm:prSet/>
      <dgm:spPr/>
      <dgm:t>
        <a:bodyPr/>
        <a:lstStyle/>
        <a:p>
          <a:endParaRPr lang="zh-CN" altLang="en-US"/>
        </a:p>
      </dgm:t>
    </dgm:pt>
    <dgm:pt modelId="{40253CA6-B570-4847-A2BC-722A0D26E6C8}">
      <dgm:prSet phldrT="[文本]"/>
      <dgm:spPr/>
      <dgm:t>
        <a:bodyPr/>
        <a:lstStyle/>
        <a:p>
          <a:r>
            <a:rPr lang="zh-CN" altLang="en-US" dirty="0">
              <a:latin typeface="+mn-lt"/>
              <a:ea typeface="+mn-ea"/>
              <a:cs typeface="+mn-ea"/>
              <a:sym typeface="+mn-lt"/>
            </a:rPr>
            <a:t>图结构</a:t>
          </a:r>
        </a:p>
      </dgm:t>
    </dgm:pt>
    <dgm:pt modelId="{D57216AA-580C-40F0-8F61-7730FD1080D2}" type="parTrans" cxnId="{59018CCE-3725-4E2C-943A-CB99775F9C8E}">
      <dgm:prSet/>
      <dgm:spPr/>
      <dgm:t>
        <a:bodyPr/>
        <a:lstStyle/>
        <a:p>
          <a:endParaRPr lang="zh-CN" altLang="en-US"/>
        </a:p>
      </dgm:t>
    </dgm:pt>
    <dgm:pt modelId="{CC32A772-B908-4FCC-8634-BE4F5FCEA3EF}" type="sibTrans" cxnId="{59018CCE-3725-4E2C-943A-CB99775F9C8E}">
      <dgm:prSet/>
      <dgm:spPr/>
      <dgm:t>
        <a:bodyPr/>
        <a:lstStyle/>
        <a:p>
          <a:endParaRPr lang="zh-CN" altLang="en-US"/>
        </a:p>
      </dgm:t>
    </dgm:pt>
    <dgm:pt modelId="{EBB9B033-CD08-4943-B447-4E08F84400B0}" type="pres">
      <dgm:prSet presAssocID="{A96B2411-DC16-462C-9978-AF5F0BCC8F89}" presName="Name0" presStyleCnt="0">
        <dgm:presLayoutVars>
          <dgm:chPref val="1"/>
          <dgm:dir/>
          <dgm:animOne val="branch"/>
          <dgm:animLvl val="lvl"/>
          <dgm:resizeHandles val="exact"/>
        </dgm:presLayoutVars>
      </dgm:prSet>
      <dgm:spPr/>
      <dgm:t>
        <a:bodyPr/>
        <a:lstStyle/>
        <a:p>
          <a:endParaRPr lang="zh-CN" altLang="en-US"/>
        </a:p>
      </dgm:t>
    </dgm:pt>
    <dgm:pt modelId="{E892AAAD-A825-4B10-9758-883271F9D088}" type="pres">
      <dgm:prSet presAssocID="{24ABB9F3-0A4C-4320-8978-27F6643618DF}" presName="root1" presStyleCnt="0"/>
      <dgm:spPr/>
    </dgm:pt>
    <dgm:pt modelId="{289364D4-62C3-4470-8C7F-B490175B1EE6}" type="pres">
      <dgm:prSet presAssocID="{24ABB9F3-0A4C-4320-8978-27F6643618DF}" presName="LevelOneTextNode" presStyleLbl="node0" presStyleIdx="0" presStyleCnt="1">
        <dgm:presLayoutVars>
          <dgm:chPref val="3"/>
        </dgm:presLayoutVars>
      </dgm:prSet>
      <dgm:spPr/>
      <dgm:t>
        <a:bodyPr/>
        <a:lstStyle/>
        <a:p>
          <a:endParaRPr lang="zh-CN" altLang="en-US"/>
        </a:p>
      </dgm:t>
    </dgm:pt>
    <dgm:pt modelId="{AB687326-620A-4BEA-A12E-3614CCC95DC6}" type="pres">
      <dgm:prSet presAssocID="{24ABB9F3-0A4C-4320-8978-27F6643618DF}" presName="level2hierChild" presStyleCnt="0"/>
      <dgm:spPr/>
    </dgm:pt>
    <dgm:pt modelId="{0BBCAC59-83FF-4F39-9477-11267436B0BC}" type="pres">
      <dgm:prSet presAssocID="{322AE856-1454-4EB0-8E7B-1956A64D7956}" presName="conn2-1" presStyleLbl="parChTrans1D2" presStyleIdx="0" presStyleCnt="3"/>
      <dgm:spPr/>
      <dgm:t>
        <a:bodyPr/>
        <a:lstStyle/>
        <a:p>
          <a:endParaRPr lang="zh-CN" altLang="en-US"/>
        </a:p>
      </dgm:t>
    </dgm:pt>
    <dgm:pt modelId="{4FB9D346-12E8-4565-A57F-1E70A54AB37A}" type="pres">
      <dgm:prSet presAssocID="{322AE856-1454-4EB0-8E7B-1956A64D7956}" presName="connTx" presStyleLbl="parChTrans1D2" presStyleIdx="0" presStyleCnt="3"/>
      <dgm:spPr/>
      <dgm:t>
        <a:bodyPr/>
        <a:lstStyle/>
        <a:p>
          <a:endParaRPr lang="zh-CN" altLang="en-US"/>
        </a:p>
      </dgm:t>
    </dgm:pt>
    <dgm:pt modelId="{9BB060E6-CACC-4D6C-8182-F0667B0EB18F}" type="pres">
      <dgm:prSet presAssocID="{62A2BA7D-8D73-46D2-B136-DC236B0FA708}" presName="root2" presStyleCnt="0"/>
      <dgm:spPr/>
    </dgm:pt>
    <dgm:pt modelId="{16ECAC38-518A-47EE-8BD4-9FD0840D4B82}" type="pres">
      <dgm:prSet presAssocID="{62A2BA7D-8D73-46D2-B136-DC236B0FA708}" presName="LevelTwoTextNode" presStyleLbl="node2" presStyleIdx="0" presStyleCnt="3">
        <dgm:presLayoutVars>
          <dgm:chPref val="3"/>
        </dgm:presLayoutVars>
      </dgm:prSet>
      <dgm:spPr/>
      <dgm:t>
        <a:bodyPr/>
        <a:lstStyle/>
        <a:p>
          <a:endParaRPr lang="zh-CN" altLang="en-US"/>
        </a:p>
      </dgm:t>
    </dgm:pt>
    <dgm:pt modelId="{F10A83BA-18F8-4CD4-8FFA-EA8A7998F352}" type="pres">
      <dgm:prSet presAssocID="{62A2BA7D-8D73-46D2-B136-DC236B0FA708}" presName="level3hierChild" presStyleCnt="0"/>
      <dgm:spPr/>
    </dgm:pt>
    <dgm:pt modelId="{D6AC20A8-F52C-41E7-A11F-5A4B1B60A714}" type="pres">
      <dgm:prSet presAssocID="{45A05C54-EC53-4281-B2F4-C80D41EFE07C}" presName="conn2-1" presStyleLbl="parChTrans1D3" presStyleIdx="0" presStyleCnt="9"/>
      <dgm:spPr/>
      <dgm:t>
        <a:bodyPr/>
        <a:lstStyle/>
        <a:p>
          <a:endParaRPr lang="zh-CN" altLang="en-US"/>
        </a:p>
      </dgm:t>
    </dgm:pt>
    <dgm:pt modelId="{A6D64D25-24C5-4595-AB80-243F592B6452}" type="pres">
      <dgm:prSet presAssocID="{45A05C54-EC53-4281-B2F4-C80D41EFE07C}" presName="connTx" presStyleLbl="parChTrans1D3" presStyleIdx="0" presStyleCnt="9"/>
      <dgm:spPr/>
      <dgm:t>
        <a:bodyPr/>
        <a:lstStyle/>
        <a:p>
          <a:endParaRPr lang="zh-CN" altLang="en-US"/>
        </a:p>
      </dgm:t>
    </dgm:pt>
    <dgm:pt modelId="{6211BB73-91AE-4A15-A420-7A4E9ECA8E25}" type="pres">
      <dgm:prSet presAssocID="{9F70255F-1144-4F29-843D-01180F586314}" presName="root2" presStyleCnt="0"/>
      <dgm:spPr/>
    </dgm:pt>
    <dgm:pt modelId="{CA2411B4-EC87-4940-826C-689EAF2ADD5C}" type="pres">
      <dgm:prSet presAssocID="{9F70255F-1144-4F29-843D-01180F586314}" presName="LevelTwoTextNode" presStyleLbl="node3" presStyleIdx="0" presStyleCnt="9" custScaleX="300581">
        <dgm:presLayoutVars>
          <dgm:chPref val="3"/>
        </dgm:presLayoutVars>
      </dgm:prSet>
      <dgm:spPr/>
      <dgm:t>
        <a:bodyPr/>
        <a:lstStyle/>
        <a:p>
          <a:endParaRPr lang="zh-CN" altLang="en-US"/>
        </a:p>
      </dgm:t>
    </dgm:pt>
    <dgm:pt modelId="{63805E67-E20B-4BA7-AD7A-374F73298136}" type="pres">
      <dgm:prSet presAssocID="{9F70255F-1144-4F29-843D-01180F586314}" presName="level3hierChild" presStyleCnt="0"/>
      <dgm:spPr/>
    </dgm:pt>
    <dgm:pt modelId="{11163C56-239A-4C48-B1C2-C82990B2F389}" type="pres">
      <dgm:prSet presAssocID="{33DE039D-9933-463A-9860-574540D8AD0B}" presName="conn2-1" presStyleLbl="parChTrans1D3" presStyleIdx="1" presStyleCnt="9"/>
      <dgm:spPr/>
      <dgm:t>
        <a:bodyPr/>
        <a:lstStyle/>
        <a:p>
          <a:endParaRPr lang="zh-CN" altLang="en-US"/>
        </a:p>
      </dgm:t>
    </dgm:pt>
    <dgm:pt modelId="{F2FB7FDD-C506-4276-87AC-E4FC2DDB5C5C}" type="pres">
      <dgm:prSet presAssocID="{33DE039D-9933-463A-9860-574540D8AD0B}" presName="connTx" presStyleLbl="parChTrans1D3" presStyleIdx="1" presStyleCnt="9"/>
      <dgm:spPr/>
      <dgm:t>
        <a:bodyPr/>
        <a:lstStyle/>
        <a:p>
          <a:endParaRPr lang="zh-CN" altLang="en-US"/>
        </a:p>
      </dgm:t>
    </dgm:pt>
    <dgm:pt modelId="{F457594A-1A0C-4620-83FB-6F0840E10DC5}" type="pres">
      <dgm:prSet presAssocID="{A9C91238-9E54-42D7-9BB7-AF4E30A08069}" presName="root2" presStyleCnt="0"/>
      <dgm:spPr/>
    </dgm:pt>
    <dgm:pt modelId="{0848E00F-8704-4377-B25A-DAD92674F808}" type="pres">
      <dgm:prSet presAssocID="{A9C91238-9E54-42D7-9BB7-AF4E30A08069}" presName="LevelTwoTextNode" presStyleLbl="node3" presStyleIdx="1" presStyleCnt="9">
        <dgm:presLayoutVars>
          <dgm:chPref val="3"/>
        </dgm:presLayoutVars>
      </dgm:prSet>
      <dgm:spPr/>
      <dgm:t>
        <a:bodyPr/>
        <a:lstStyle/>
        <a:p>
          <a:endParaRPr lang="zh-CN" altLang="en-US"/>
        </a:p>
      </dgm:t>
    </dgm:pt>
    <dgm:pt modelId="{18B9ACD7-2A61-4D16-BE3B-25C65660251C}" type="pres">
      <dgm:prSet presAssocID="{A9C91238-9E54-42D7-9BB7-AF4E30A08069}" presName="level3hierChild" presStyleCnt="0"/>
      <dgm:spPr/>
    </dgm:pt>
    <dgm:pt modelId="{69AA4998-02A8-4314-8274-A97EFEE58F69}" type="pres">
      <dgm:prSet presAssocID="{F2CF2EA7-0A59-4E9F-9E7B-1C3472EFBE30}" presName="conn2-1" presStyleLbl="parChTrans1D4" presStyleIdx="0" presStyleCnt="2"/>
      <dgm:spPr/>
      <dgm:t>
        <a:bodyPr/>
        <a:lstStyle/>
        <a:p>
          <a:endParaRPr lang="zh-CN" altLang="en-US"/>
        </a:p>
      </dgm:t>
    </dgm:pt>
    <dgm:pt modelId="{301822AC-A6EE-4545-8AD2-F56DBBD97D9A}" type="pres">
      <dgm:prSet presAssocID="{F2CF2EA7-0A59-4E9F-9E7B-1C3472EFBE30}" presName="connTx" presStyleLbl="parChTrans1D4" presStyleIdx="0" presStyleCnt="2"/>
      <dgm:spPr/>
      <dgm:t>
        <a:bodyPr/>
        <a:lstStyle/>
        <a:p>
          <a:endParaRPr lang="zh-CN" altLang="en-US"/>
        </a:p>
      </dgm:t>
    </dgm:pt>
    <dgm:pt modelId="{D1F1356F-B9D5-4F6A-AF40-316158F4A0D9}" type="pres">
      <dgm:prSet presAssocID="{3AF04ED5-E5AD-4777-8ACC-EFCF492EC822}" presName="root2" presStyleCnt="0"/>
      <dgm:spPr/>
    </dgm:pt>
    <dgm:pt modelId="{27C1DD5A-4DE1-4D34-BF99-B55763485F5F}" type="pres">
      <dgm:prSet presAssocID="{3AF04ED5-E5AD-4777-8ACC-EFCF492EC822}" presName="LevelTwoTextNode" presStyleLbl="node4" presStyleIdx="0" presStyleCnt="2">
        <dgm:presLayoutVars>
          <dgm:chPref val="3"/>
        </dgm:presLayoutVars>
      </dgm:prSet>
      <dgm:spPr/>
      <dgm:t>
        <a:bodyPr/>
        <a:lstStyle/>
        <a:p>
          <a:endParaRPr lang="zh-CN" altLang="en-US"/>
        </a:p>
      </dgm:t>
    </dgm:pt>
    <dgm:pt modelId="{7B628AA7-26CF-4A40-8C41-E93C5359937D}" type="pres">
      <dgm:prSet presAssocID="{3AF04ED5-E5AD-4777-8ACC-EFCF492EC822}" presName="level3hierChild" presStyleCnt="0"/>
      <dgm:spPr/>
    </dgm:pt>
    <dgm:pt modelId="{A0B08AE4-A3EB-4176-8117-5034F0469192}" type="pres">
      <dgm:prSet presAssocID="{D57216AA-580C-40F0-8F61-7730FD1080D2}" presName="conn2-1" presStyleLbl="parChTrans1D4" presStyleIdx="1" presStyleCnt="2"/>
      <dgm:spPr/>
      <dgm:t>
        <a:bodyPr/>
        <a:lstStyle/>
        <a:p>
          <a:endParaRPr lang="zh-CN" altLang="en-US"/>
        </a:p>
      </dgm:t>
    </dgm:pt>
    <dgm:pt modelId="{FCCC415B-ED9E-4CEF-8C12-62727E57DA9C}" type="pres">
      <dgm:prSet presAssocID="{D57216AA-580C-40F0-8F61-7730FD1080D2}" presName="connTx" presStyleLbl="parChTrans1D4" presStyleIdx="1" presStyleCnt="2"/>
      <dgm:spPr/>
      <dgm:t>
        <a:bodyPr/>
        <a:lstStyle/>
        <a:p>
          <a:endParaRPr lang="zh-CN" altLang="en-US"/>
        </a:p>
      </dgm:t>
    </dgm:pt>
    <dgm:pt modelId="{4483668A-7693-4533-8452-E7440134718B}" type="pres">
      <dgm:prSet presAssocID="{40253CA6-B570-4847-A2BC-722A0D26E6C8}" presName="root2" presStyleCnt="0"/>
      <dgm:spPr/>
    </dgm:pt>
    <dgm:pt modelId="{AC3483A0-DE79-4A15-92B8-B4F1A7EC42C8}" type="pres">
      <dgm:prSet presAssocID="{40253CA6-B570-4847-A2BC-722A0D26E6C8}" presName="LevelTwoTextNode" presStyleLbl="node4" presStyleIdx="1" presStyleCnt="2">
        <dgm:presLayoutVars>
          <dgm:chPref val="3"/>
        </dgm:presLayoutVars>
      </dgm:prSet>
      <dgm:spPr/>
      <dgm:t>
        <a:bodyPr/>
        <a:lstStyle/>
        <a:p>
          <a:endParaRPr lang="zh-CN" altLang="en-US"/>
        </a:p>
      </dgm:t>
    </dgm:pt>
    <dgm:pt modelId="{CF32361E-299F-413A-8690-D458709D9C99}" type="pres">
      <dgm:prSet presAssocID="{40253CA6-B570-4847-A2BC-722A0D26E6C8}" presName="level3hierChild" presStyleCnt="0"/>
      <dgm:spPr/>
    </dgm:pt>
    <dgm:pt modelId="{07DFF6C3-18DC-4F08-A374-1DB056B939F6}" type="pres">
      <dgm:prSet presAssocID="{89DC8932-717E-47A0-934A-E60AD133CB73}" presName="conn2-1" presStyleLbl="parChTrans1D2" presStyleIdx="1" presStyleCnt="3"/>
      <dgm:spPr/>
      <dgm:t>
        <a:bodyPr/>
        <a:lstStyle/>
        <a:p>
          <a:endParaRPr lang="zh-CN" altLang="en-US"/>
        </a:p>
      </dgm:t>
    </dgm:pt>
    <dgm:pt modelId="{40DA70A5-E0F2-4C19-993B-0A0424BD0B58}" type="pres">
      <dgm:prSet presAssocID="{89DC8932-717E-47A0-934A-E60AD133CB73}" presName="connTx" presStyleLbl="parChTrans1D2" presStyleIdx="1" presStyleCnt="3"/>
      <dgm:spPr/>
      <dgm:t>
        <a:bodyPr/>
        <a:lstStyle/>
        <a:p>
          <a:endParaRPr lang="zh-CN" altLang="en-US"/>
        </a:p>
      </dgm:t>
    </dgm:pt>
    <dgm:pt modelId="{EC219274-1169-4F21-90EA-835A2CF6062C}" type="pres">
      <dgm:prSet presAssocID="{F07FD081-7676-420C-9189-03B4DE6D5DCE}" presName="root2" presStyleCnt="0"/>
      <dgm:spPr/>
    </dgm:pt>
    <dgm:pt modelId="{10DC5356-5669-4EEB-80DA-45642DEE7761}" type="pres">
      <dgm:prSet presAssocID="{F07FD081-7676-420C-9189-03B4DE6D5DCE}" presName="LevelTwoTextNode" presStyleLbl="node2" presStyleIdx="1" presStyleCnt="3" custScaleX="216482" custLinFactNeighborX="285" custLinFactNeighborY="16557">
        <dgm:presLayoutVars>
          <dgm:chPref val="3"/>
        </dgm:presLayoutVars>
      </dgm:prSet>
      <dgm:spPr/>
      <dgm:t>
        <a:bodyPr/>
        <a:lstStyle/>
        <a:p>
          <a:endParaRPr lang="zh-CN" altLang="en-US"/>
        </a:p>
      </dgm:t>
    </dgm:pt>
    <dgm:pt modelId="{96D25839-24B3-4F14-82F3-6368B67A16E9}" type="pres">
      <dgm:prSet presAssocID="{F07FD081-7676-420C-9189-03B4DE6D5DCE}" presName="level3hierChild" presStyleCnt="0"/>
      <dgm:spPr/>
    </dgm:pt>
    <dgm:pt modelId="{52A35EE1-0E39-47B0-AE12-EB8FFA76665A}" type="pres">
      <dgm:prSet presAssocID="{E0E6FC69-0F7C-4A1D-9183-905A330339FC}" presName="conn2-1" presStyleLbl="parChTrans1D3" presStyleIdx="2" presStyleCnt="9"/>
      <dgm:spPr/>
      <dgm:t>
        <a:bodyPr/>
        <a:lstStyle/>
        <a:p>
          <a:endParaRPr lang="zh-CN" altLang="en-US"/>
        </a:p>
      </dgm:t>
    </dgm:pt>
    <dgm:pt modelId="{E0B4A03F-785C-47E8-BEFF-2F1F52773277}" type="pres">
      <dgm:prSet presAssocID="{E0E6FC69-0F7C-4A1D-9183-905A330339FC}" presName="connTx" presStyleLbl="parChTrans1D3" presStyleIdx="2" presStyleCnt="9"/>
      <dgm:spPr/>
      <dgm:t>
        <a:bodyPr/>
        <a:lstStyle/>
        <a:p>
          <a:endParaRPr lang="zh-CN" altLang="en-US"/>
        </a:p>
      </dgm:t>
    </dgm:pt>
    <dgm:pt modelId="{79DD4578-5B5B-42C8-9322-0A1456EB85D4}" type="pres">
      <dgm:prSet presAssocID="{0BCA741C-3E4D-467A-8AC8-A3AA66A637AE}" presName="root2" presStyleCnt="0"/>
      <dgm:spPr/>
    </dgm:pt>
    <dgm:pt modelId="{E58AE112-5951-4214-B14C-1E473817C495}" type="pres">
      <dgm:prSet presAssocID="{0BCA741C-3E4D-467A-8AC8-A3AA66A637AE}" presName="LevelTwoTextNode" presStyleLbl="node3" presStyleIdx="2" presStyleCnt="9">
        <dgm:presLayoutVars>
          <dgm:chPref val="3"/>
        </dgm:presLayoutVars>
      </dgm:prSet>
      <dgm:spPr/>
      <dgm:t>
        <a:bodyPr/>
        <a:lstStyle/>
        <a:p>
          <a:endParaRPr lang="zh-CN" altLang="en-US"/>
        </a:p>
      </dgm:t>
    </dgm:pt>
    <dgm:pt modelId="{BC1271E5-6B44-450B-BE26-564DEC01A0B5}" type="pres">
      <dgm:prSet presAssocID="{0BCA741C-3E4D-467A-8AC8-A3AA66A637AE}" presName="level3hierChild" presStyleCnt="0"/>
      <dgm:spPr/>
    </dgm:pt>
    <dgm:pt modelId="{DA4320B4-8809-490D-ACD4-776D5DDD8293}" type="pres">
      <dgm:prSet presAssocID="{FA0F6768-6ADD-4998-8126-5156401B56C5}" presName="conn2-1" presStyleLbl="parChTrans1D3" presStyleIdx="3" presStyleCnt="9"/>
      <dgm:spPr/>
      <dgm:t>
        <a:bodyPr/>
        <a:lstStyle/>
        <a:p>
          <a:endParaRPr lang="zh-CN" altLang="en-US"/>
        </a:p>
      </dgm:t>
    </dgm:pt>
    <dgm:pt modelId="{8EB98DCE-7A3C-418C-811E-6069410364A0}" type="pres">
      <dgm:prSet presAssocID="{FA0F6768-6ADD-4998-8126-5156401B56C5}" presName="connTx" presStyleLbl="parChTrans1D3" presStyleIdx="3" presStyleCnt="9"/>
      <dgm:spPr/>
      <dgm:t>
        <a:bodyPr/>
        <a:lstStyle/>
        <a:p>
          <a:endParaRPr lang="zh-CN" altLang="en-US"/>
        </a:p>
      </dgm:t>
    </dgm:pt>
    <dgm:pt modelId="{325D50E6-5220-4365-BBA5-F0EE8050A3AD}" type="pres">
      <dgm:prSet presAssocID="{3452061E-13E2-4C73-B349-3157FA323C6E}" presName="root2" presStyleCnt="0"/>
      <dgm:spPr/>
    </dgm:pt>
    <dgm:pt modelId="{437AD372-5396-4AAF-A11C-855FAA6DC816}" type="pres">
      <dgm:prSet presAssocID="{3452061E-13E2-4C73-B349-3157FA323C6E}" presName="LevelTwoTextNode" presStyleLbl="node3" presStyleIdx="3" presStyleCnt="9">
        <dgm:presLayoutVars>
          <dgm:chPref val="3"/>
        </dgm:presLayoutVars>
      </dgm:prSet>
      <dgm:spPr/>
      <dgm:t>
        <a:bodyPr/>
        <a:lstStyle/>
        <a:p>
          <a:endParaRPr lang="zh-CN" altLang="en-US"/>
        </a:p>
      </dgm:t>
    </dgm:pt>
    <dgm:pt modelId="{D36F4B51-D544-4923-88F7-3868E84598EE}" type="pres">
      <dgm:prSet presAssocID="{3452061E-13E2-4C73-B349-3157FA323C6E}" presName="level3hierChild" presStyleCnt="0"/>
      <dgm:spPr/>
    </dgm:pt>
    <dgm:pt modelId="{46CACD35-3C43-4183-BD88-C64874869325}" type="pres">
      <dgm:prSet presAssocID="{72BDCEB5-E6AE-4365-815F-A51C5742A8A8}" presName="conn2-1" presStyleLbl="parChTrans1D2" presStyleIdx="2" presStyleCnt="3"/>
      <dgm:spPr/>
      <dgm:t>
        <a:bodyPr/>
        <a:lstStyle/>
        <a:p>
          <a:endParaRPr lang="zh-CN" altLang="en-US"/>
        </a:p>
      </dgm:t>
    </dgm:pt>
    <dgm:pt modelId="{1E173077-E60E-4E81-AA74-C71226B0D2D0}" type="pres">
      <dgm:prSet presAssocID="{72BDCEB5-E6AE-4365-815F-A51C5742A8A8}" presName="connTx" presStyleLbl="parChTrans1D2" presStyleIdx="2" presStyleCnt="3"/>
      <dgm:spPr/>
      <dgm:t>
        <a:bodyPr/>
        <a:lstStyle/>
        <a:p>
          <a:endParaRPr lang="zh-CN" altLang="en-US"/>
        </a:p>
      </dgm:t>
    </dgm:pt>
    <dgm:pt modelId="{A40E54BB-D207-4712-89DF-D8A550BE5484}" type="pres">
      <dgm:prSet presAssocID="{0A1C0214-6986-445B-974F-C041BA440A6D}" presName="root2" presStyleCnt="0"/>
      <dgm:spPr/>
    </dgm:pt>
    <dgm:pt modelId="{75D98B10-7C46-43A8-A348-FA1A95366FD3}" type="pres">
      <dgm:prSet presAssocID="{0A1C0214-6986-445B-974F-C041BA440A6D}" presName="LevelTwoTextNode" presStyleLbl="node2" presStyleIdx="2" presStyleCnt="3">
        <dgm:presLayoutVars>
          <dgm:chPref val="3"/>
        </dgm:presLayoutVars>
      </dgm:prSet>
      <dgm:spPr/>
      <dgm:t>
        <a:bodyPr/>
        <a:lstStyle/>
        <a:p>
          <a:endParaRPr lang="zh-CN" altLang="en-US"/>
        </a:p>
      </dgm:t>
    </dgm:pt>
    <dgm:pt modelId="{03879F0D-0B54-422F-99CD-9F022EA2CBFE}" type="pres">
      <dgm:prSet presAssocID="{0A1C0214-6986-445B-974F-C041BA440A6D}" presName="level3hierChild" presStyleCnt="0"/>
      <dgm:spPr/>
    </dgm:pt>
    <dgm:pt modelId="{CD44D7E2-BD0D-4DDC-A4D3-34C167473DA1}" type="pres">
      <dgm:prSet presAssocID="{010BCBD2-FC60-4715-8051-86E36A5D1451}" presName="conn2-1" presStyleLbl="parChTrans1D3" presStyleIdx="4" presStyleCnt="9"/>
      <dgm:spPr/>
      <dgm:t>
        <a:bodyPr/>
        <a:lstStyle/>
        <a:p>
          <a:endParaRPr lang="zh-CN" altLang="en-US"/>
        </a:p>
      </dgm:t>
    </dgm:pt>
    <dgm:pt modelId="{689C2128-4506-405E-9734-2FB10753292D}" type="pres">
      <dgm:prSet presAssocID="{010BCBD2-FC60-4715-8051-86E36A5D1451}" presName="connTx" presStyleLbl="parChTrans1D3" presStyleIdx="4" presStyleCnt="9"/>
      <dgm:spPr/>
      <dgm:t>
        <a:bodyPr/>
        <a:lstStyle/>
        <a:p>
          <a:endParaRPr lang="zh-CN" altLang="en-US"/>
        </a:p>
      </dgm:t>
    </dgm:pt>
    <dgm:pt modelId="{A1DB6E1C-C973-498F-96B4-7E0DEC8D9616}" type="pres">
      <dgm:prSet presAssocID="{947A5A78-3570-43EA-AA72-DAC2D211AE96}" presName="root2" presStyleCnt="0"/>
      <dgm:spPr/>
    </dgm:pt>
    <dgm:pt modelId="{323B10B6-089B-46BF-B6F0-7A307630A7CC}" type="pres">
      <dgm:prSet presAssocID="{947A5A78-3570-43EA-AA72-DAC2D211AE96}" presName="LevelTwoTextNode" presStyleLbl="node3" presStyleIdx="4" presStyleCnt="9">
        <dgm:presLayoutVars>
          <dgm:chPref val="3"/>
        </dgm:presLayoutVars>
      </dgm:prSet>
      <dgm:spPr/>
      <dgm:t>
        <a:bodyPr/>
        <a:lstStyle/>
        <a:p>
          <a:endParaRPr lang="zh-CN" altLang="en-US"/>
        </a:p>
      </dgm:t>
    </dgm:pt>
    <dgm:pt modelId="{DF8F8C95-4269-478E-B792-B4314DB4AD31}" type="pres">
      <dgm:prSet presAssocID="{947A5A78-3570-43EA-AA72-DAC2D211AE96}" presName="level3hierChild" presStyleCnt="0"/>
      <dgm:spPr/>
    </dgm:pt>
    <dgm:pt modelId="{B6EA75C3-BDA9-4698-B87E-2F64C78807DE}" type="pres">
      <dgm:prSet presAssocID="{CAADDDF4-22B9-4AB9-B14A-73D6A4190C29}" presName="conn2-1" presStyleLbl="parChTrans1D3" presStyleIdx="5" presStyleCnt="9"/>
      <dgm:spPr/>
      <dgm:t>
        <a:bodyPr/>
        <a:lstStyle/>
        <a:p>
          <a:endParaRPr lang="zh-CN" altLang="en-US"/>
        </a:p>
      </dgm:t>
    </dgm:pt>
    <dgm:pt modelId="{441D21E9-9AA6-4EDE-8CE0-54246757344E}" type="pres">
      <dgm:prSet presAssocID="{CAADDDF4-22B9-4AB9-B14A-73D6A4190C29}" presName="connTx" presStyleLbl="parChTrans1D3" presStyleIdx="5" presStyleCnt="9"/>
      <dgm:spPr/>
      <dgm:t>
        <a:bodyPr/>
        <a:lstStyle/>
        <a:p>
          <a:endParaRPr lang="zh-CN" altLang="en-US"/>
        </a:p>
      </dgm:t>
    </dgm:pt>
    <dgm:pt modelId="{48E83874-7F5A-4482-BB99-1A00BFEFD450}" type="pres">
      <dgm:prSet presAssocID="{95DBCDB5-E3A4-4E67-A92F-CE5F7DE4B5C9}" presName="root2" presStyleCnt="0"/>
      <dgm:spPr/>
    </dgm:pt>
    <dgm:pt modelId="{BBC49AC0-467B-4772-A63F-64647B771549}" type="pres">
      <dgm:prSet presAssocID="{95DBCDB5-E3A4-4E67-A92F-CE5F7DE4B5C9}" presName="LevelTwoTextNode" presStyleLbl="node3" presStyleIdx="5" presStyleCnt="9">
        <dgm:presLayoutVars>
          <dgm:chPref val="3"/>
        </dgm:presLayoutVars>
      </dgm:prSet>
      <dgm:spPr/>
      <dgm:t>
        <a:bodyPr/>
        <a:lstStyle/>
        <a:p>
          <a:endParaRPr lang="zh-CN" altLang="en-US"/>
        </a:p>
      </dgm:t>
    </dgm:pt>
    <dgm:pt modelId="{867483EA-1063-4CBD-A8EF-D0683D7D5603}" type="pres">
      <dgm:prSet presAssocID="{95DBCDB5-E3A4-4E67-A92F-CE5F7DE4B5C9}" presName="level3hierChild" presStyleCnt="0"/>
      <dgm:spPr/>
    </dgm:pt>
    <dgm:pt modelId="{997CC87B-5037-4CB1-BA79-A2E2C62ED436}" type="pres">
      <dgm:prSet presAssocID="{CFA8C15B-5792-4413-9850-8AC322B9698D}" presName="conn2-1" presStyleLbl="parChTrans1D3" presStyleIdx="6" presStyleCnt="9"/>
      <dgm:spPr/>
      <dgm:t>
        <a:bodyPr/>
        <a:lstStyle/>
        <a:p>
          <a:endParaRPr lang="zh-CN" altLang="en-US"/>
        </a:p>
      </dgm:t>
    </dgm:pt>
    <dgm:pt modelId="{6C4E92F7-E260-4C0E-BBB8-1F84919A2399}" type="pres">
      <dgm:prSet presAssocID="{CFA8C15B-5792-4413-9850-8AC322B9698D}" presName="connTx" presStyleLbl="parChTrans1D3" presStyleIdx="6" presStyleCnt="9"/>
      <dgm:spPr/>
      <dgm:t>
        <a:bodyPr/>
        <a:lstStyle/>
        <a:p>
          <a:endParaRPr lang="zh-CN" altLang="en-US"/>
        </a:p>
      </dgm:t>
    </dgm:pt>
    <dgm:pt modelId="{EED1F873-747E-4231-B7F7-BC5D31AAA3F4}" type="pres">
      <dgm:prSet presAssocID="{C1C726F4-AEB5-4009-9843-9E4515BCBF71}" presName="root2" presStyleCnt="0"/>
      <dgm:spPr/>
    </dgm:pt>
    <dgm:pt modelId="{5DD6F8E7-104E-40D3-8159-931158D7758D}" type="pres">
      <dgm:prSet presAssocID="{C1C726F4-AEB5-4009-9843-9E4515BCBF71}" presName="LevelTwoTextNode" presStyleLbl="node3" presStyleIdx="6" presStyleCnt="9">
        <dgm:presLayoutVars>
          <dgm:chPref val="3"/>
        </dgm:presLayoutVars>
      </dgm:prSet>
      <dgm:spPr/>
      <dgm:t>
        <a:bodyPr/>
        <a:lstStyle/>
        <a:p>
          <a:endParaRPr lang="zh-CN" altLang="en-US"/>
        </a:p>
      </dgm:t>
    </dgm:pt>
    <dgm:pt modelId="{C4E7F7E6-B033-48C4-A2DE-224DB6D74432}" type="pres">
      <dgm:prSet presAssocID="{C1C726F4-AEB5-4009-9843-9E4515BCBF71}" presName="level3hierChild" presStyleCnt="0"/>
      <dgm:spPr/>
    </dgm:pt>
    <dgm:pt modelId="{940E049A-F7DF-4595-939D-66553F85181E}" type="pres">
      <dgm:prSet presAssocID="{BD3704C6-1205-414D-B1DF-AED863789C79}" presName="conn2-1" presStyleLbl="parChTrans1D3" presStyleIdx="7" presStyleCnt="9"/>
      <dgm:spPr/>
      <dgm:t>
        <a:bodyPr/>
        <a:lstStyle/>
        <a:p>
          <a:endParaRPr lang="zh-CN" altLang="en-US"/>
        </a:p>
      </dgm:t>
    </dgm:pt>
    <dgm:pt modelId="{5B6352D3-1EC8-4287-AB47-C7F43D988A64}" type="pres">
      <dgm:prSet presAssocID="{BD3704C6-1205-414D-B1DF-AED863789C79}" presName="connTx" presStyleLbl="parChTrans1D3" presStyleIdx="7" presStyleCnt="9"/>
      <dgm:spPr/>
      <dgm:t>
        <a:bodyPr/>
        <a:lstStyle/>
        <a:p>
          <a:endParaRPr lang="zh-CN" altLang="en-US"/>
        </a:p>
      </dgm:t>
    </dgm:pt>
    <dgm:pt modelId="{3F786E89-3D53-4729-AFAA-3346D5515EF1}" type="pres">
      <dgm:prSet presAssocID="{D3BB87B3-22F9-436F-8A56-1C6AB20AFD61}" presName="root2" presStyleCnt="0"/>
      <dgm:spPr/>
    </dgm:pt>
    <dgm:pt modelId="{AA38CFE2-47E6-4A3D-A9CB-3E0E2C8B38EC}" type="pres">
      <dgm:prSet presAssocID="{D3BB87B3-22F9-436F-8A56-1C6AB20AFD61}" presName="LevelTwoTextNode" presStyleLbl="node3" presStyleIdx="7" presStyleCnt="9">
        <dgm:presLayoutVars>
          <dgm:chPref val="3"/>
        </dgm:presLayoutVars>
      </dgm:prSet>
      <dgm:spPr/>
      <dgm:t>
        <a:bodyPr/>
        <a:lstStyle/>
        <a:p>
          <a:endParaRPr lang="zh-CN" altLang="en-US"/>
        </a:p>
      </dgm:t>
    </dgm:pt>
    <dgm:pt modelId="{9981BB44-5CCE-47DD-9BF5-8FB8046EED1B}" type="pres">
      <dgm:prSet presAssocID="{D3BB87B3-22F9-436F-8A56-1C6AB20AFD61}" presName="level3hierChild" presStyleCnt="0"/>
      <dgm:spPr/>
    </dgm:pt>
    <dgm:pt modelId="{D0B25EBF-EF06-464B-BE67-4FCEDFE94839}" type="pres">
      <dgm:prSet presAssocID="{26D4C600-7029-477E-81DD-6BF7C63ED123}" presName="conn2-1" presStyleLbl="parChTrans1D3" presStyleIdx="8" presStyleCnt="9"/>
      <dgm:spPr/>
      <dgm:t>
        <a:bodyPr/>
        <a:lstStyle/>
        <a:p>
          <a:endParaRPr lang="zh-CN" altLang="en-US"/>
        </a:p>
      </dgm:t>
    </dgm:pt>
    <dgm:pt modelId="{D2239582-DAB6-47F8-A47A-5B2F17D417CC}" type="pres">
      <dgm:prSet presAssocID="{26D4C600-7029-477E-81DD-6BF7C63ED123}" presName="connTx" presStyleLbl="parChTrans1D3" presStyleIdx="8" presStyleCnt="9"/>
      <dgm:spPr/>
      <dgm:t>
        <a:bodyPr/>
        <a:lstStyle/>
        <a:p>
          <a:endParaRPr lang="zh-CN" altLang="en-US"/>
        </a:p>
      </dgm:t>
    </dgm:pt>
    <dgm:pt modelId="{CA90F339-1B7F-4795-A860-830AE55FB4C0}" type="pres">
      <dgm:prSet presAssocID="{BFC78336-DCF1-485D-99A1-CC216F34237C}" presName="root2" presStyleCnt="0"/>
      <dgm:spPr/>
    </dgm:pt>
    <dgm:pt modelId="{77A6741B-87B7-4DC4-8875-E859A9D33FDA}" type="pres">
      <dgm:prSet presAssocID="{BFC78336-DCF1-485D-99A1-CC216F34237C}" presName="LevelTwoTextNode" presStyleLbl="node3" presStyleIdx="8" presStyleCnt="9">
        <dgm:presLayoutVars>
          <dgm:chPref val="3"/>
        </dgm:presLayoutVars>
      </dgm:prSet>
      <dgm:spPr/>
      <dgm:t>
        <a:bodyPr/>
        <a:lstStyle/>
        <a:p>
          <a:endParaRPr lang="zh-CN" altLang="en-US"/>
        </a:p>
      </dgm:t>
    </dgm:pt>
    <dgm:pt modelId="{9A7861CA-76AA-45ED-8665-CE95340C1638}" type="pres">
      <dgm:prSet presAssocID="{BFC78336-DCF1-485D-99A1-CC216F34237C}" presName="level3hierChild" presStyleCnt="0"/>
      <dgm:spPr/>
    </dgm:pt>
  </dgm:ptLst>
  <dgm:cxnLst>
    <dgm:cxn modelId="{6DE3CA92-52B4-40BF-B91B-78FBE04AF06C}" type="presOf" srcId="{322AE856-1454-4EB0-8E7B-1956A64D7956}" destId="{0BBCAC59-83FF-4F39-9477-11267436B0BC}" srcOrd="0" destOrd="0" presId="urn:microsoft.com/office/officeart/2008/layout/HorizontalMultiLevelHierarchy#1"/>
    <dgm:cxn modelId="{BB44A36D-B060-48E0-A750-ED24321FA683}" type="presOf" srcId="{72BDCEB5-E6AE-4365-815F-A51C5742A8A8}" destId="{1E173077-E60E-4E81-AA74-C71226B0D2D0}" srcOrd="1" destOrd="0" presId="urn:microsoft.com/office/officeart/2008/layout/HorizontalMultiLevelHierarchy#1"/>
    <dgm:cxn modelId="{40C07515-0F69-457F-A4F1-41492883AD57}" srcId="{62A2BA7D-8D73-46D2-B136-DC236B0FA708}" destId="{9F70255F-1144-4F29-843D-01180F586314}" srcOrd="0" destOrd="0" parTransId="{45A05C54-EC53-4281-B2F4-C80D41EFE07C}" sibTransId="{95FCA461-EF95-4B27-9EB4-52F68A9E18B9}"/>
    <dgm:cxn modelId="{6BAC8BCA-5373-47FD-9C90-F2D855B4A845}" type="presOf" srcId="{BD3704C6-1205-414D-B1DF-AED863789C79}" destId="{940E049A-F7DF-4595-939D-66553F85181E}" srcOrd="0" destOrd="0" presId="urn:microsoft.com/office/officeart/2008/layout/HorizontalMultiLevelHierarchy#1"/>
    <dgm:cxn modelId="{7AC675D9-6357-4E2C-B905-BEC245AD2E0B}" type="presOf" srcId="{0A1C0214-6986-445B-974F-C041BA440A6D}" destId="{75D98B10-7C46-43A8-A348-FA1A95366FD3}" srcOrd="0" destOrd="0" presId="urn:microsoft.com/office/officeart/2008/layout/HorizontalMultiLevelHierarchy#1"/>
    <dgm:cxn modelId="{B03F2281-58AB-4BCF-9DD3-426E114662DF}" type="presOf" srcId="{F07FD081-7676-420C-9189-03B4DE6D5DCE}" destId="{10DC5356-5669-4EEB-80DA-45642DEE7761}" srcOrd="0" destOrd="0" presId="urn:microsoft.com/office/officeart/2008/layout/HorizontalMultiLevelHierarchy#1"/>
    <dgm:cxn modelId="{296E1FA2-4A46-43FE-B219-B644963BCFBC}" srcId="{24ABB9F3-0A4C-4320-8978-27F6643618DF}" destId="{F07FD081-7676-420C-9189-03B4DE6D5DCE}" srcOrd="1" destOrd="0" parTransId="{89DC8932-717E-47A0-934A-E60AD133CB73}" sibTransId="{6435B591-DB6B-4091-8ACE-C954DF441291}"/>
    <dgm:cxn modelId="{F55D3BA9-EF1C-4BF7-927E-A8F54F923458}" srcId="{62A2BA7D-8D73-46D2-B136-DC236B0FA708}" destId="{A9C91238-9E54-42D7-9BB7-AF4E30A08069}" srcOrd="1" destOrd="0" parTransId="{33DE039D-9933-463A-9860-574540D8AD0B}" sibTransId="{AFDB399E-5A55-40CA-8604-F179D5729E7A}"/>
    <dgm:cxn modelId="{70917B87-7E58-450D-9AAA-D86B7ADD7494}" srcId="{0A1C0214-6986-445B-974F-C041BA440A6D}" destId="{BFC78336-DCF1-485D-99A1-CC216F34237C}" srcOrd="4" destOrd="0" parTransId="{26D4C600-7029-477E-81DD-6BF7C63ED123}" sibTransId="{FF19E1F4-FBAA-45C8-8CAE-CCBE8F5C0F2A}"/>
    <dgm:cxn modelId="{7F63E336-CF17-4231-A018-BDD95C7CBD21}" type="presOf" srcId="{3AF04ED5-E5AD-4777-8ACC-EFCF492EC822}" destId="{27C1DD5A-4DE1-4D34-BF99-B55763485F5F}" srcOrd="0" destOrd="0" presId="urn:microsoft.com/office/officeart/2008/layout/HorizontalMultiLevelHierarchy#1"/>
    <dgm:cxn modelId="{13C28144-3A5E-413D-95A7-2D470AD5752A}" type="presOf" srcId="{33DE039D-9933-463A-9860-574540D8AD0B}" destId="{F2FB7FDD-C506-4276-87AC-E4FC2DDB5C5C}" srcOrd="1" destOrd="0" presId="urn:microsoft.com/office/officeart/2008/layout/HorizontalMultiLevelHierarchy#1"/>
    <dgm:cxn modelId="{A6E20741-A655-4F16-BFAA-9D6557BB2986}" srcId="{0A1C0214-6986-445B-974F-C041BA440A6D}" destId="{95DBCDB5-E3A4-4E67-A92F-CE5F7DE4B5C9}" srcOrd="1" destOrd="0" parTransId="{CAADDDF4-22B9-4AB9-B14A-73D6A4190C29}" sibTransId="{BBB1C1F9-E2BE-4E34-AC3A-E75CC598C77A}"/>
    <dgm:cxn modelId="{0EB6AF58-26E9-4920-8BA2-A30CDA79F83E}" type="presOf" srcId="{CFA8C15B-5792-4413-9850-8AC322B9698D}" destId="{997CC87B-5037-4CB1-BA79-A2E2C62ED436}" srcOrd="0" destOrd="0" presId="urn:microsoft.com/office/officeart/2008/layout/HorizontalMultiLevelHierarchy#1"/>
    <dgm:cxn modelId="{7D5C12F2-D88D-449C-BBF5-731D0CEF4D1A}" type="presOf" srcId="{FA0F6768-6ADD-4998-8126-5156401B56C5}" destId="{DA4320B4-8809-490D-ACD4-776D5DDD8293}" srcOrd="0" destOrd="0" presId="urn:microsoft.com/office/officeart/2008/layout/HorizontalMultiLevelHierarchy#1"/>
    <dgm:cxn modelId="{535D6C48-D3B7-4BE5-88FE-5CA73E56AAB4}" type="presOf" srcId="{24ABB9F3-0A4C-4320-8978-27F6643618DF}" destId="{289364D4-62C3-4470-8C7F-B490175B1EE6}" srcOrd="0" destOrd="0" presId="urn:microsoft.com/office/officeart/2008/layout/HorizontalMultiLevelHierarchy#1"/>
    <dgm:cxn modelId="{D5B4F5C4-8289-4180-A14D-6E6BCB7A2C2A}" srcId="{24ABB9F3-0A4C-4320-8978-27F6643618DF}" destId="{62A2BA7D-8D73-46D2-B136-DC236B0FA708}" srcOrd="0" destOrd="0" parTransId="{322AE856-1454-4EB0-8E7B-1956A64D7956}" sibTransId="{FD20E2D8-245C-41E1-ADB8-F57985263646}"/>
    <dgm:cxn modelId="{E0E62175-65C8-435F-90B8-0420B6C0DF37}" type="presOf" srcId="{40253CA6-B570-4847-A2BC-722A0D26E6C8}" destId="{AC3483A0-DE79-4A15-92B8-B4F1A7EC42C8}" srcOrd="0" destOrd="0" presId="urn:microsoft.com/office/officeart/2008/layout/HorizontalMultiLevelHierarchy#1"/>
    <dgm:cxn modelId="{3106B35B-39DC-44B2-8A48-E02AC6E67F29}" type="presOf" srcId="{89DC8932-717E-47A0-934A-E60AD133CB73}" destId="{07DFF6C3-18DC-4F08-A374-1DB056B939F6}" srcOrd="0" destOrd="0" presId="urn:microsoft.com/office/officeart/2008/layout/HorizontalMultiLevelHierarchy#1"/>
    <dgm:cxn modelId="{381A4D5F-53FC-4271-B9D1-577139E3F09C}" type="presOf" srcId="{A96B2411-DC16-462C-9978-AF5F0BCC8F89}" destId="{EBB9B033-CD08-4943-B447-4E08F84400B0}" srcOrd="0" destOrd="0" presId="urn:microsoft.com/office/officeart/2008/layout/HorizontalMultiLevelHierarchy#1"/>
    <dgm:cxn modelId="{BBCDE5D3-E93D-44BD-B000-F2A2A969CB3C}" type="presOf" srcId="{26D4C600-7029-477E-81DD-6BF7C63ED123}" destId="{D2239582-DAB6-47F8-A47A-5B2F17D417CC}" srcOrd="1" destOrd="0" presId="urn:microsoft.com/office/officeart/2008/layout/HorizontalMultiLevelHierarchy#1"/>
    <dgm:cxn modelId="{47EAC8E3-E62D-42C7-84FC-D3C7EF47AA85}" type="presOf" srcId="{D57216AA-580C-40F0-8F61-7730FD1080D2}" destId="{A0B08AE4-A3EB-4176-8117-5034F0469192}" srcOrd="0" destOrd="0" presId="urn:microsoft.com/office/officeart/2008/layout/HorizontalMultiLevelHierarchy#1"/>
    <dgm:cxn modelId="{6579495A-DE5B-43F2-9831-6947A7399235}" type="presOf" srcId="{3452061E-13E2-4C73-B349-3157FA323C6E}" destId="{437AD372-5396-4AAF-A11C-855FAA6DC816}" srcOrd="0" destOrd="0" presId="urn:microsoft.com/office/officeart/2008/layout/HorizontalMultiLevelHierarchy#1"/>
    <dgm:cxn modelId="{6FCB1447-BCE5-4722-B5B0-6194B5706C91}" type="presOf" srcId="{F2CF2EA7-0A59-4E9F-9E7B-1C3472EFBE30}" destId="{301822AC-A6EE-4545-8AD2-F56DBBD97D9A}" srcOrd="1" destOrd="0" presId="urn:microsoft.com/office/officeart/2008/layout/HorizontalMultiLevelHierarchy#1"/>
    <dgm:cxn modelId="{4FD3993C-E1C6-41D6-AC8F-05465D6EAB00}" srcId="{A9C91238-9E54-42D7-9BB7-AF4E30A08069}" destId="{3AF04ED5-E5AD-4777-8ACC-EFCF492EC822}" srcOrd="0" destOrd="0" parTransId="{F2CF2EA7-0A59-4E9F-9E7B-1C3472EFBE30}" sibTransId="{1996C344-5E33-48C0-A17B-14D827431330}"/>
    <dgm:cxn modelId="{0A5BE478-0525-4DFA-A0EC-C08C70659F0C}" type="presOf" srcId="{322AE856-1454-4EB0-8E7B-1956A64D7956}" destId="{4FB9D346-12E8-4565-A57F-1E70A54AB37A}" srcOrd="1" destOrd="0" presId="urn:microsoft.com/office/officeart/2008/layout/HorizontalMultiLevelHierarchy#1"/>
    <dgm:cxn modelId="{EC8EBD8E-5AB8-49D6-8A2B-93CEC3DA5B4E}" type="presOf" srcId="{26D4C600-7029-477E-81DD-6BF7C63ED123}" destId="{D0B25EBF-EF06-464B-BE67-4FCEDFE94839}" srcOrd="0" destOrd="0" presId="urn:microsoft.com/office/officeart/2008/layout/HorizontalMultiLevelHierarchy#1"/>
    <dgm:cxn modelId="{60618B9A-2849-4AF1-9D01-49BADB8E7B7C}" type="presOf" srcId="{FA0F6768-6ADD-4998-8126-5156401B56C5}" destId="{8EB98DCE-7A3C-418C-811E-6069410364A0}" srcOrd="1" destOrd="0" presId="urn:microsoft.com/office/officeart/2008/layout/HorizontalMultiLevelHierarchy#1"/>
    <dgm:cxn modelId="{529F76C5-3BA0-4F13-BE9F-BB776A249228}" type="presOf" srcId="{010BCBD2-FC60-4715-8051-86E36A5D1451}" destId="{CD44D7E2-BD0D-4DDC-A4D3-34C167473DA1}" srcOrd="0" destOrd="0" presId="urn:microsoft.com/office/officeart/2008/layout/HorizontalMultiLevelHierarchy#1"/>
    <dgm:cxn modelId="{59018CCE-3725-4E2C-943A-CB99775F9C8E}" srcId="{A9C91238-9E54-42D7-9BB7-AF4E30A08069}" destId="{40253CA6-B570-4847-A2BC-722A0D26E6C8}" srcOrd="1" destOrd="0" parTransId="{D57216AA-580C-40F0-8F61-7730FD1080D2}" sibTransId="{CC32A772-B908-4FCC-8634-BE4F5FCEA3EF}"/>
    <dgm:cxn modelId="{9986FAAB-4FA9-45B3-B02D-FAE2170EACDB}" type="presOf" srcId="{E0E6FC69-0F7C-4A1D-9183-905A330339FC}" destId="{E0B4A03F-785C-47E8-BEFF-2F1F52773277}" srcOrd="1" destOrd="0" presId="urn:microsoft.com/office/officeart/2008/layout/HorizontalMultiLevelHierarchy#1"/>
    <dgm:cxn modelId="{9DCE69DA-3E00-4721-81CE-3BC2229821DD}" type="presOf" srcId="{62A2BA7D-8D73-46D2-B136-DC236B0FA708}" destId="{16ECAC38-518A-47EE-8BD4-9FD0840D4B82}" srcOrd="0" destOrd="0" presId="urn:microsoft.com/office/officeart/2008/layout/HorizontalMultiLevelHierarchy#1"/>
    <dgm:cxn modelId="{9287EC5C-4B2C-408B-8BF6-4C534DEBB794}" srcId="{0A1C0214-6986-445B-974F-C041BA440A6D}" destId="{C1C726F4-AEB5-4009-9843-9E4515BCBF71}" srcOrd="2" destOrd="0" parTransId="{CFA8C15B-5792-4413-9850-8AC322B9698D}" sibTransId="{676602C0-0CD2-4A1C-909A-3C9E911C216A}"/>
    <dgm:cxn modelId="{9B59177B-33BD-4B23-9BC8-EDF64F015587}" type="presOf" srcId="{89DC8932-717E-47A0-934A-E60AD133CB73}" destId="{40DA70A5-E0F2-4C19-993B-0A0424BD0B58}" srcOrd="1" destOrd="0" presId="urn:microsoft.com/office/officeart/2008/layout/HorizontalMultiLevelHierarchy#1"/>
    <dgm:cxn modelId="{54802E08-950F-4835-AD11-0777548B65CD}" type="presOf" srcId="{0BCA741C-3E4D-467A-8AC8-A3AA66A637AE}" destId="{E58AE112-5951-4214-B14C-1E473817C495}" srcOrd="0" destOrd="0" presId="urn:microsoft.com/office/officeart/2008/layout/HorizontalMultiLevelHierarchy#1"/>
    <dgm:cxn modelId="{BEB97B34-C702-415B-B66C-3C368A2E4BFE}" type="presOf" srcId="{CFA8C15B-5792-4413-9850-8AC322B9698D}" destId="{6C4E92F7-E260-4C0E-BBB8-1F84919A2399}" srcOrd="1" destOrd="0" presId="urn:microsoft.com/office/officeart/2008/layout/HorizontalMultiLevelHierarchy#1"/>
    <dgm:cxn modelId="{73E92908-ED11-4216-B3EB-229A4FC53D06}" srcId="{0A1C0214-6986-445B-974F-C041BA440A6D}" destId="{D3BB87B3-22F9-436F-8A56-1C6AB20AFD61}" srcOrd="3" destOrd="0" parTransId="{BD3704C6-1205-414D-B1DF-AED863789C79}" sibTransId="{D49D89F6-1C1A-4B27-ACA1-CE5069C412CC}"/>
    <dgm:cxn modelId="{C5129F7C-6F25-4B1E-BCED-2C0C9E372C5B}" type="presOf" srcId="{45A05C54-EC53-4281-B2F4-C80D41EFE07C}" destId="{A6D64D25-24C5-4595-AB80-243F592B6452}" srcOrd="1" destOrd="0" presId="urn:microsoft.com/office/officeart/2008/layout/HorizontalMultiLevelHierarchy#1"/>
    <dgm:cxn modelId="{AE33949D-BF3F-4665-9D99-7DAF22D4CC37}" srcId="{24ABB9F3-0A4C-4320-8978-27F6643618DF}" destId="{0A1C0214-6986-445B-974F-C041BA440A6D}" srcOrd="2" destOrd="0" parTransId="{72BDCEB5-E6AE-4365-815F-A51C5742A8A8}" sibTransId="{E6F456E1-1933-4257-A113-FFE85CEC0672}"/>
    <dgm:cxn modelId="{C4B7DA9E-541A-4436-B364-11CBD793734B}" type="presOf" srcId="{A9C91238-9E54-42D7-9BB7-AF4E30A08069}" destId="{0848E00F-8704-4377-B25A-DAD92674F808}" srcOrd="0" destOrd="0" presId="urn:microsoft.com/office/officeart/2008/layout/HorizontalMultiLevelHierarchy#1"/>
    <dgm:cxn modelId="{A494876F-6B85-4397-8EA1-55216CFF9431}" type="presOf" srcId="{C1C726F4-AEB5-4009-9843-9E4515BCBF71}" destId="{5DD6F8E7-104E-40D3-8159-931158D7758D}" srcOrd="0" destOrd="0" presId="urn:microsoft.com/office/officeart/2008/layout/HorizontalMultiLevelHierarchy#1"/>
    <dgm:cxn modelId="{A7E40DCD-E4F8-495B-B78B-5B80CC994453}" srcId="{F07FD081-7676-420C-9189-03B4DE6D5DCE}" destId="{3452061E-13E2-4C73-B349-3157FA323C6E}" srcOrd="1" destOrd="0" parTransId="{FA0F6768-6ADD-4998-8126-5156401B56C5}" sibTransId="{1DB61ECA-5877-4B4A-BBAF-AB85EEE5C820}"/>
    <dgm:cxn modelId="{481366CD-90DC-43C1-96D8-7C2FF0248360}" type="presOf" srcId="{CAADDDF4-22B9-4AB9-B14A-73D6A4190C29}" destId="{441D21E9-9AA6-4EDE-8CE0-54246757344E}" srcOrd="1" destOrd="0" presId="urn:microsoft.com/office/officeart/2008/layout/HorizontalMultiLevelHierarchy#1"/>
    <dgm:cxn modelId="{1472EE81-DE99-42A4-B5CE-36CFDA312760}" type="presOf" srcId="{33DE039D-9933-463A-9860-574540D8AD0B}" destId="{11163C56-239A-4C48-B1C2-C82990B2F389}" srcOrd="0" destOrd="0" presId="urn:microsoft.com/office/officeart/2008/layout/HorizontalMultiLevelHierarchy#1"/>
    <dgm:cxn modelId="{1119CA25-0C19-4249-828F-FBB1527B7BE4}" type="presOf" srcId="{D57216AA-580C-40F0-8F61-7730FD1080D2}" destId="{FCCC415B-ED9E-4CEF-8C12-62727E57DA9C}" srcOrd="1" destOrd="0" presId="urn:microsoft.com/office/officeart/2008/layout/HorizontalMultiLevelHierarchy#1"/>
    <dgm:cxn modelId="{DCE4A593-6F9D-4AA0-9BCF-623A2BD8BDD6}" type="presOf" srcId="{9F70255F-1144-4F29-843D-01180F586314}" destId="{CA2411B4-EC87-4940-826C-689EAF2ADD5C}" srcOrd="0" destOrd="0" presId="urn:microsoft.com/office/officeart/2008/layout/HorizontalMultiLevelHierarchy#1"/>
    <dgm:cxn modelId="{E7601E2E-297D-40F2-A7E2-E0CAB77F104A}" type="presOf" srcId="{72BDCEB5-E6AE-4365-815F-A51C5742A8A8}" destId="{46CACD35-3C43-4183-BD88-C64874869325}" srcOrd="0" destOrd="0" presId="urn:microsoft.com/office/officeart/2008/layout/HorizontalMultiLevelHierarchy#1"/>
    <dgm:cxn modelId="{18384140-ACA4-4C13-A5FF-53D72B462AA0}" type="presOf" srcId="{95DBCDB5-E3A4-4E67-A92F-CE5F7DE4B5C9}" destId="{BBC49AC0-467B-4772-A63F-64647B771549}" srcOrd="0" destOrd="0" presId="urn:microsoft.com/office/officeart/2008/layout/HorizontalMultiLevelHierarchy#1"/>
    <dgm:cxn modelId="{ADAFB337-D040-4CDB-9497-E74CD73FA29E}" type="presOf" srcId="{E0E6FC69-0F7C-4A1D-9183-905A330339FC}" destId="{52A35EE1-0E39-47B0-AE12-EB8FFA76665A}" srcOrd="0" destOrd="0" presId="urn:microsoft.com/office/officeart/2008/layout/HorizontalMultiLevelHierarchy#1"/>
    <dgm:cxn modelId="{20DA5655-3A33-4831-9093-BED4651F2D52}" type="presOf" srcId="{010BCBD2-FC60-4715-8051-86E36A5D1451}" destId="{689C2128-4506-405E-9734-2FB10753292D}" srcOrd="1" destOrd="0" presId="urn:microsoft.com/office/officeart/2008/layout/HorizontalMultiLevelHierarchy#1"/>
    <dgm:cxn modelId="{96F3AA6E-FE36-4831-821F-CE9400BCF3FE}" type="presOf" srcId="{F2CF2EA7-0A59-4E9F-9E7B-1C3472EFBE30}" destId="{69AA4998-02A8-4314-8274-A97EFEE58F69}" srcOrd="0" destOrd="0" presId="urn:microsoft.com/office/officeart/2008/layout/HorizontalMultiLevelHierarchy#1"/>
    <dgm:cxn modelId="{9812C51A-F13B-41FE-9E23-3E33057D8D6E}" type="presOf" srcId="{BD3704C6-1205-414D-B1DF-AED863789C79}" destId="{5B6352D3-1EC8-4287-AB47-C7F43D988A64}" srcOrd="1" destOrd="0" presId="urn:microsoft.com/office/officeart/2008/layout/HorizontalMultiLevelHierarchy#1"/>
    <dgm:cxn modelId="{7773CD22-6716-4F16-BBDF-2D39A64454DD}" type="presOf" srcId="{D3BB87B3-22F9-436F-8A56-1C6AB20AFD61}" destId="{AA38CFE2-47E6-4A3D-A9CB-3E0E2C8B38EC}" srcOrd="0" destOrd="0" presId="urn:microsoft.com/office/officeart/2008/layout/HorizontalMultiLevelHierarchy#1"/>
    <dgm:cxn modelId="{AC5F77F5-9582-42BD-ACE4-E3483A890931}" srcId="{A96B2411-DC16-462C-9978-AF5F0BCC8F89}" destId="{24ABB9F3-0A4C-4320-8978-27F6643618DF}" srcOrd="0" destOrd="0" parTransId="{01C08DA1-FEE9-4773-8B0C-E5EF8025317F}" sibTransId="{A4B68712-60F4-4A17-9D91-735F1D6DBDDE}"/>
    <dgm:cxn modelId="{76AA1C05-838E-4FA9-A338-B1621DC90172}" type="presOf" srcId="{947A5A78-3570-43EA-AA72-DAC2D211AE96}" destId="{323B10B6-089B-46BF-B6F0-7A307630A7CC}" srcOrd="0" destOrd="0" presId="urn:microsoft.com/office/officeart/2008/layout/HorizontalMultiLevelHierarchy#1"/>
    <dgm:cxn modelId="{9A006125-848A-4B59-8C89-9EBD74EC432C}" srcId="{F07FD081-7676-420C-9189-03B4DE6D5DCE}" destId="{0BCA741C-3E4D-467A-8AC8-A3AA66A637AE}" srcOrd="0" destOrd="0" parTransId="{E0E6FC69-0F7C-4A1D-9183-905A330339FC}" sibTransId="{071CECA6-B2F3-4C3A-A741-FB5F89F1BF2E}"/>
    <dgm:cxn modelId="{22B5728A-640C-4EE8-8A9E-3487A53E4DB3}" type="presOf" srcId="{45A05C54-EC53-4281-B2F4-C80D41EFE07C}" destId="{D6AC20A8-F52C-41E7-A11F-5A4B1B60A714}" srcOrd="0" destOrd="0" presId="urn:microsoft.com/office/officeart/2008/layout/HorizontalMultiLevelHierarchy#1"/>
    <dgm:cxn modelId="{D0EDC70D-EB37-442A-ADF5-D2B023C8AEE1}" type="presOf" srcId="{BFC78336-DCF1-485D-99A1-CC216F34237C}" destId="{77A6741B-87B7-4DC4-8875-E859A9D33FDA}" srcOrd="0" destOrd="0" presId="urn:microsoft.com/office/officeart/2008/layout/HorizontalMultiLevelHierarchy#1"/>
    <dgm:cxn modelId="{17E07136-E228-4AF5-B33A-7149A12F452B}" srcId="{0A1C0214-6986-445B-974F-C041BA440A6D}" destId="{947A5A78-3570-43EA-AA72-DAC2D211AE96}" srcOrd="0" destOrd="0" parTransId="{010BCBD2-FC60-4715-8051-86E36A5D1451}" sibTransId="{06E578C1-E816-4160-86AC-62751CBB6E04}"/>
    <dgm:cxn modelId="{95C85E6E-4788-4723-89D3-89EBFCC357D5}" type="presOf" srcId="{CAADDDF4-22B9-4AB9-B14A-73D6A4190C29}" destId="{B6EA75C3-BDA9-4698-B87E-2F64C78807DE}" srcOrd="0" destOrd="0" presId="urn:microsoft.com/office/officeart/2008/layout/HorizontalMultiLevelHierarchy#1"/>
    <dgm:cxn modelId="{C817861F-04F0-49A9-A0DC-EE96E3188628}" type="presParOf" srcId="{EBB9B033-CD08-4943-B447-4E08F84400B0}" destId="{E892AAAD-A825-4B10-9758-883271F9D088}" srcOrd="0" destOrd="0" presId="urn:microsoft.com/office/officeart/2008/layout/HorizontalMultiLevelHierarchy#1"/>
    <dgm:cxn modelId="{790B4FA4-6EA6-4082-A95F-97917AE60A44}" type="presParOf" srcId="{E892AAAD-A825-4B10-9758-883271F9D088}" destId="{289364D4-62C3-4470-8C7F-B490175B1EE6}" srcOrd="0" destOrd="0" presId="urn:microsoft.com/office/officeart/2008/layout/HorizontalMultiLevelHierarchy#1"/>
    <dgm:cxn modelId="{1A2FDA8C-9A44-4DB1-BCAF-93F0EF2C9EB2}" type="presParOf" srcId="{E892AAAD-A825-4B10-9758-883271F9D088}" destId="{AB687326-620A-4BEA-A12E-3614CCC95DC6}" srcOrd="1" destOrd="0" presId="urn:microsoft.com/office/officeart/2008/layout/HorizontalMultiLevelHierarchy#1"/>
    <dgm:cxn modelId="{B66FD563-AD01-4370-AA31-2E676ACBC28E}" type="presParOf" srcId="{AB687326-620A-4BEA-A12E-3614CCC95DC6}" destId="{0BBCAC59-83FF-4F39-9477-11267436B0BC}" srcOrd="0" destOrd="0" presId="urn:microsoft.com/office/officeart/2008/layout/HorizontalMultiLevelHierarchy#1"/>
    <dgm:cxn modelId="{20F0F0B6-8CC2-45B0-9910-81ECF343571F}" type="presParOf" srcId="{0BBCAC59-83FF-4F39-9477-11267436B0BC}" destId="{4FB9D346-12E8-4565-A57F-1E70A54AB37A}" srcOrd="0" destOrd="0" presId="urn:microsoft.com/office/officeart/2008/layout/HorizontalMultiLevelHierarchy#1"/>
    <dgm:cxn modelId="{C1EBBFB9-F588-4DC6-8D9C-D5FA45B8E34E}" type="presParOf" srcId="{AB687326-620A-4BEA-A12E-3614CCC95DC6}" destId="{9BB060E6-CACC-4D6C-8182-F0667B0EB18F}" srcOrd="1" destOrd="0" presId="urn:microsoft.com/office/officeart/2008/layout/HorizontalMultiLevelHierarchy#1"/>
    <dgm:cxn modelId="{CB1FA602-1220-4476-A2F9-B83943704935}" type="presParOf" srcId="{9BB060E6-CACC-4D6C-8182-F0667B0EB18F}" destId="{16ECAC38-518A-47EE-8BD4-9FD0840D4B82}" srcOrd="0" destOrd="0" presId="urn:microsoft.com/office/officeart/2008/layout/HorizontalMultiLevelHierarchy#1"/>
    <dgm:cxn modelId="{31D75D1A-BC42-4FB5-8B34-94BDA2459181}" type="presParOf" srcId="{9BB060E6-CACC-4D6C-8182-F0667B0EB18F}" destId="{F10A83BA-18F8-4CD4-8FFA-EA8A7998F352}" srcOrd="1" destOrd="0" presId="urn:microsoft.com/office/officeart/2008/layout/HorizontalMultiLevelHierarchy#1"/>
    <dgm:cxn modelId="{F3389523-642F-4503-93C8-CDF7A404D055}" type="presParOf" srcId="{F10A83BA-18F8-4CD4-8FFA-EA8A7998F352}" destId="{D6AC20A8-F52C-41E7-A11F-5A4B1B60A714}" srcOrd="0" destOrd="0" presId="urn:microsoft.com/office/officeart/2008/layout/HorizontalMultiLevelHierarchy#1"/>
    <dgm:cxn modelId="{47F18446-4748-4D38-BC73-B82F45575A32}" type="presParOf" srcId="{D6AC20A8-F52C-41E7-A11F-5A4B1B60A714}" destId="{A6D64D25-24C5-4595-AB80-243F592B6452}" srcOrd="0" destOrd="0" presId="urn:microsoft.com/office/officeart/2008/layout/HorizontalMultiLevelHierarchy#1"/>
    <dgm:cxn modelId="{81CABE72-700B-453C-8EDA-174A18826C19}" type="presParOf" srcId="{F10A83BA-18F8-4CD4-8FFA-EA8A7998F352}" destId="{6211BB73-91AE-4A15-A420-7A4E9ECA8E25}" srcOrd="1" destOrd="0" presId="urn:microsoft.com/office/officeart/2008/layout/HorizontalMultiLevelHierarchy#1"/>
    <dgm:cxn modelId="{071D8CCE-F137-4337-A225-9712D04BFB58}" type="presParOf" srcId="{6211BB73-91AE-4A15-A420-7A4E9ECA8E25}" destId="{CA2411B4-EC87-4940-826C-689EAF2ADD5C}" srcOrd="0" destOrd="0" presId="urn:microsoft.com/office/officeart/2008/layout/HorizontalMultiLevelHierarchy#1"/>
    <dgm:cxn modelId="{97EE9360-E943-4452-9BD4-094427518DA6}" type="presParOf" srcId="{6211BB73-91AE-4A15-A420-7A4E9ECA8E25}" destId="{63805E67-E20B-4BA7-AD7A-374F73298136}" srcOrd="1" destOrd="0" presId="urn:microsoft.com/office/officeart/2008/layout/HorizontalMultiLevelHierarchy#1"/>
    <dgm:cxn modelId="{DCC46575-5D7E-4D47-91BF-FC63E43B4940}" type="presParOf" srcId="{F10A83BA-18F8-4CD4-8FFA-EA8A7998F352}" destId="{11163C56-239A-4C48-B1C2-C82990B2F389}" srcOrd="2" destOrd="0" presId="urn:microsoft.com/office/officeart/2008/layout/HorizontalMultiLevelHierarchy#1"/>
    <dgm:cxn modelId="{9B36CB67-E375-4B0F-893F-86E79C8CE613}" type="presParOf" srcId="{11163C56-239A-4C48-B1C2-C82990B2F389}" destId="{F2FB7FDD-C506-4276-87AC-E4FC2DDB5C5C}" srcOrd="0" destOrd="0" presId="urn:microsoft.com/office/officeart/2008/layout/HorizontalMultiLevelHierarchy#1"/>
    <dgm:cxn modelId="{7DF816DF-CBC0-48D3-9577-CDAD1A65314C}" type="presParOf" srcId="{F10A83BA-18F8-4CD4-8FFA-EA8A7998F352}" destId="{F457594A-1A0C-4620-83FB-6F0840E10DC5}" srcOrd="3" destOrd="0" presId="urn:microsoft.com/office/officeart/2008/layout/HorizontalMultiLevelHierarchy#1"/>
    <dgm:cxn modelId="{4537E067-ABB0-409B-BB6C-C62532E0AA89}" type="presParOf" srcId="{F457594A-1A0C-4620-83FB-6F0840E10DC5}" destId="{0848E00F-8704-4377-B25A-DAD92674F808}" srcOrd="0" destOrd="0" presId="urn:microsoft.com/office/officeart/2008/layout/HorizontalMultiLevelHierarchy#1"/>
    <dgm:cxn modelId="{BD9AE955-B638-4118-A1ED-589CFFBBF1C8}" type="presParOf" srcId="{F457594A-1A0C-4620-83FB-6F0840E10DC5}" destId="{18B9ACD7-2A61-4D16-BE3B-25C65660251C}" srcOrd="1" destOrd="0" presId="urn:microsoft.com/office/officeart/2008/layout/HorizontalMultiLevelHierarchy#1"/>
    <dgm:cxn modelId="{6A4948F1-B692-4B82-80C3-6051CDE09852}" type="presParOf" srcId="{18B9ACD7-2A61-4D16-BE3B-25C65660251C}" destId="{69AA4998-02A8-4314-8274-A97EFEE58F69}" srcOrd="0" destOrd="0" presId="urn:microsoft.com/office/officeart/2008/layout/HorizontalMultiLevelHierarchy#1"/>
    <dgm:cxn modelId="{64081A79-5195-4668-A69D-E1F2D17049A4}" type="presParOf" srcId="{69AA4998-02A8-4314-8274-A97EFEE58F69}" destId="{301822AC-A6EE-4545-8AD2-F56DBBD97D9A}" srcOrd="0" destOrd="0" presId="urn:microsoft.com/office/officeart/2008/layout/HorizontalMultiLevelHierarchy#1"/>
    <dgm:cxn modelId="{416654DB-E561-4355-988E-DB809CCF6396}" type="presParOf" srcId="{18B9ACD7-2A61-4D16-BE3B-25C65660251C}" destId="{D1F1356F-B9D5-4F6A-AF40-316158F4A0D9}" srcOrd="1" destOrd="0" presId="urn:microsoft.com/office/officeart/2008/layout/HorizontalMultiLevelHierarchy#1"/>
    <dgm:cxn modelId="{89C49413-E84D-4DFB-8E9F-F6E41D551EA7}" type="presParOf" srcId="{D1F1356F-B9D5-4F6A-AF40-316158F4A0D9}" destId="{27C1DD5A-4DE1-4D34-BF99-B55763485F5F}" srcOrd="0" destOrd="0" presId="urn:microsoft.com/office/officeart/2008/layout/HorizontalMultiLevelHierarchy#1"/>
    <dgm:cxn modelId="{CD1320AD-5667-408D-A101-BBFD584F7604}" type="presParOf" srcId="{D1F1356F-B9D5-4F6A-AF40-316158F4A0D9}" destId="{7B628AA7-26CF-4A40-8C41-E93C5359937D}" srcOrd="1" destOrd="0" presId="urn:microsoft.com/office/officeart/2008/layout/HorizontalMultiLevelHierarchy#1"/>
    <dgm:cxn modelId="{6A629928-28C8-4317-A3DC-9FC82F5D7F33}" type="presParOf" srcId="{18B9ACD7-2A61-4D16-BE3B-25C65660251C}" destId="{A0B08AE4-A3EB-4176-8117-5034F0469192}" srcOrd="2" destOrd="0" presId="urn:microsoft.com/office/officeart/2008/layout/HorizontalMultiLevelHierarchy#1"/>
    <dgm:cxn modelId="{4442CC46-6D61-4A93-8F53-2A76FE5F2D95}" type="presParOf" srcId="{A0B08AE4-A3EB-4176-8117-5034F0469192}" destId="{FCCC415B-ED9E-4CEF-8C12-62727E57DA9C}" srcOrd="0" destOrd="0" presId="urn:microsoft.com/office/officeart/2008/layout/HorizontalMultiLevelHierarchy#1"/>
    <dgm:cxn modelId="{B7216843-8F2E-4C84-8705-FD71AA8C8599}" type="presParOf" srcId="{18B9ACD7-2A61-4D16-BE3B-25C65660251C}" destId="{4483668A-7693-4533-8452-E7440134718B}" srcOrd="3" destOrd="0" presId="urn:microsoft.com/office/officeart/2008/layout/HorizontalMultiLevelHierarchy#1"/>
    <dgm:cxn modelId="{0A3F5D75-E593-4582-862B-48A29EC3E3D9}" type="presParOf" srcId="{4483668A-7693-4533-8452-E7440134718B}" destId="{AC3483A0-DE79-4A15-92B8-B4F1A7EC42C8}" srcOrd="0" destOrd="0" presId="urn:microsoft.com/office/officeart/2008/layout/HorizontalMultiLevelHierarchy#1"/>
    <dgm:cxn modelId="{6A5BAEA0-60F6-4DC9-B0B1-792F3F9CE5D2}" type="presParOf" srcId="{4483668A-7693-4533-8452-E7440134718B}" destId="{CF32361E-299F-413A-8690-D458709D9C99}" srcOrd="1" destOrd="0" presId="urn:microsoft.com/office/officeart/2008/layout/HorizontalMultiLevelHierarchy#1"/>
    <dgm:cxn modelId="{223156EC-A8E2-4129-B09E-300C40BD3E13}" type="presParOf" srcId="{AB687326-620A-4BEA-A12E-3614CCC95DC6}" destId="{07DFF6C3-18DC-4F08-A374-1DB056B939F6}" srcOrd="2" destOrd="0" presId="urn:microsoft.com/office/officeart/2008/layout/HorizontalMultiLevelHierarchy#1"/>
    <dgm:cxn modelId="{5EBEA8C8-75A8-485A-9306-C535E35A89D5}" type="presParOf" srcId="{07DFF6C3-18DC-4F08-A374-1DB056B939F6}" destId="{40DA70A5-E0F2-4C19-993B-0A0424BD0B58}" srcOrd="0" destOrd="0" presId="urn:microsoft.com/office/officeart/2008/layout/HorizontalMultiLevelHierarchy#1"/>
    <dgm:cxn modelId="{C703FC1E-A769-4194-86A4-279397319695}" type="presParOf" srcId="{AB687326-620A-4BEA-A12E-3614CCC95DC6}" destId="{EC219274-1169-4F21-90EA-835A2CF6062C}" srcOrd="3" destOrd="0" presId="urn:microsoft.com/office/officeart/2008/layout/HorizontalMultiLevelHierarchy#1"/>
    <dgm:cxn modelId="{0CC586A9-F2C4-4025-A271-69758630E1B5}" type="presParOf" srcId="{EC219274-1169-4F21-90EA-835A2CF6062C}" destId="{10DC5356-5669-4EEB-80DA-45642DEE7761}" srcOrd="0" destOrd="0" presId="urn:microsoft.com/office/officeart/2008/layout/HorizontalMultiLevelHierarchy#1"/>
    <dgm:cxn modelId="{776CBC28-53B4-473F-9EDD-CBC77697DA25}" type="presParOf" srcId="{EC219274-1169-4F21-90EA-835A2CF6062C}" destId="{96D25839-24B3-4F14-82F3-6368B67A16E9}" srcOrd="1" destOrd="0" presId="urn:microsoft.com/office/officeart/2008/layout/HorizontalMultiLevelHierarchy#1"/>
    <dgm:cxn modelId="{E696061A-1697-4692-BDF7-08F1C69F83AD}" type="presParOf" srcId="{96D25839-24B3-4F14-82F3-6368B67A16E9}" destId="{52A35EE1-0E39-47B0-AE12-EB8FFA76665A}" srcOrd="0" destOrd="0" presId="urn:microsoft.com/office/officeart/2008/layout/HorizontalMultiLevelHierarchy#1"/>
    <dgm:cxn modelId="{4FC0BC89-B851-4DEC-BE6D-43D9CA872367}" type="presParOf" srcId="{52A35EE1-0E39-47B0-AE12-EB8FFA76665A}" destId="{E0B4A03F-785C-47E8-BEFF-2F1F52773277}" srcOrd="0" destOrd="0" presId="urn:microsoft.com/office/officeart/2008/layout/HorizontalMultiLevelHierarchy#1"/>
    <dgm:cxn modelId="{DF341B81-14B1-44F6-954C-0862EF51701E}" type="presParOf" srcId="{96D25839-24B3-4F14-82F3-6368B67A16E9}" destId="{79DD4578-5B5B-42C8-9322-0A1456EB85D4}" srcOrd="1" destOrd="0" presId="urn:microsoft.com/office/officeart/2008/layout/HorizontalMultiLevelHierarchy#1"/>
    <dgm:cxn modelId="{45B5143D-7F95-443A-B17F-9796AB423A53}" type="presParOf" srcId="{79DD4578-5B5B-42C8-9322-0A1456EB85D4}" destId="{E58AE112-5951-4214-B14C-1E473817C495}" srcOrd="0" destOrd="0" presId="urn:microsoft.com/office/officeart/2008/layout/HorizontalMultiLevelHierarchy#1"/>
    <dgm:cxn modelId="{31146953-FAB7-4988-B7FA-BF94A5B01275}" type="presParOf" srcId="{79DD4578-5B5B-42C8-9322-0A1456EB85D4}" destId="{BC1271E5-6B44-450B-BE26-564DEC01A0B5}" srcOrd="1" destOrd="0" presId="urn:microsoft.com/office/officeart/2008/layout/HorizontalMultiLevelHierarchy#1"/>
    <dgm:cxn modelId="{8E75FF0A-00C3-4180-92A5-EC56322333DC}" type="presParOf" srcId="{96D25839-24B3-4F14-82F3-6368B67A16E9}" destId="{DA4320B4-8809-490D-ACD4-776D5DDD8293}" srcOrd="2" destOrd="0" presId="urn:microsoft.com/office/officeart/2008/layout/HorizontalMultiLevelHierarchy#1"/>
    <dgm:cxn modelId="{6CACA5D9-0E83-41E1-A8A7-22C87D78C1D2}" type="presParOf" srcId="{DA4320B4-8809-490D-ACD4-776D5DDD8293}" destId="{8EB98DCE-7A3C-418C-811E-6069410364A0}" srcOrd="0" destOrd="0" presId="urn:microsoft.com/office/officeart/2008/layout/HorizontalMultiLevelHierarchy#1"/>
    <dgm:cxn modelId="{F500C3C7-2028-42A9-B162-55F76DC2DA52}" type="presParOf" srcId="{96D25839-24B3-4F14-82F3-6368B67A16E9}" destId="{325D50E6-5220-4365-BBA5-F0EE8050A3AD}" srcOrd="3" destOrd="0" presId="urn:microsoft.com/office/officeart/2008/layout/HorizontalMultiLevelHierarchy#1"/>
    <dgm:cxn modelId="{A75DEBD0-93FC-4329-A70F-92871D762E18}" type="presParOf" srcId="{325D50E6-5220-4365-BBA5-F0EE8050A3AD}" destId="{437AD372-5396-4AAF-A11C-855FAA6DC816}" srcOrd="0" destOrd="0" presId="urn:microsoft.com/office/officeart/2008/layout/HorizontalMultiLevelHierarchy#1"/>
    <dgm:cxn modelId="{D8EEB7AE-E451-49E5-BC06-7B3F26D7AA92}" type="presParOf" srcId="{325D50E6-5220-4365-BBA5-F0EE8050A3AD}" destId="{D36F4B51-D544-4923-88F7-3868E84598EE}" srcOrd="1" destOrd="0" presId="urn:microsoft.com/office/officeart/2008/layout/HorizontalMultiLevelHierarchy#1"/>
    <dgm:cxn modelId="{8FE33DA9-55C6-4B9B-A048-2632A9124384}" type="presParOf" srcId="{AB687326-620A-4BEA-A12E-3614CCC95DC6}" destId="{46CACD35-3C43-4183-BD88-C64874869325}" srcOrd="4" destOrd="0" presId="urn:microsoft.com/office/officeart/2008/layout/HorizontalMultiLevelHierarchy#1"/>
    <dgm:cxn modelId="{293D68EF-8ECE-4EC6-8E16-7C5DB80DFD23}" type="presParOf" srcId="{46CACD35-3C43-4183-BD88-C64874869325}" destId="{1E173077-E60E-4E81-AA74-C71226B0D2D0}" srcOrd="0" destOrd="0" presId="urn:microsoft.com/office/officeart/2008/layout/HorizontalMultiLevelHierarchy#1"/>
    <dgm:cxn modelId="{0D511749-1CCD-4958-AB58-21021B64ECCF}" type="presParOf" srcId="{AB687326-620A-4BEA-A12E-3614CCC95DC6}" destId="{A40E54BB-D207-4712-89DF-D8A550BE5484}" srcOrd="5" destOrd="0" presId="urn:microsoft.com/office/officeart/2008/layout/HorizontalMultiLevelHierarchy#1"/>
    <dgm:cxn modelId="{30A328E3-9F4C-4618-A48E-D3529918646B}" type="presParOf" srcId="{A40E54BB-D207-4712-89DF-D8A550BE5484}" destId="{75D98B10-7C46-43A8-A348-FA1A95366FD3}" srcOrd="0" destOrd="0" presId="urn:microsoft.com/office/officeart/2008/layout/HorizontalMultiLevelHierarchy#1"/>
    <dgm:cxn modelId="{A883FD32-EC3A-420B-B32E-1B8A63CB7214}" type="presParOf" srcId="{A40E54BB-D207-4712-89DF-D8A550BE5484}" destId="{03879F0D-0B54-422F-99CD-9F022EA2CBFE}" srcOrd="1" destOrd="0" presId="urn:microsoft.com/office/officeart/2008/layout/HorizontalMultiLevelHierarchy#1"/>
    <dgm:cxn modelId="{AD6ADDFB-7850-477B-BF7E-5F1A056E4B58}" type="presParOf" srcId="{03879F0D-0B54-422F-99CD-9F022EA2CBFE}" destId="{CD44D7E2-BD0D-4DDC-A4D3-34C167473DA1}" srcOrd="0" destOrd="0" presId="urn:microsoft.com/office/officeart/2008/layout/HorizontalMultiLevelHierarchy#1"/>
    <dgm:cxn modelId="{989A9576-AE5E-4EA6-B1C8-7DC3312DE08A}" type="presParOf" srcId="{CD44D7E2-BD0D-4DDC-A4D3-34C167473DA1}" destId="{689C2128-4506-405E-9734-2FB10753292D}" srcOrd="0" destOrd="0" presId="urn:microsoft.com/office/officeart/2008/layout/HorizontalMultiLevelHierarchy#1"/>
    <dgm:cxn modelId="{D6DA6ED5-A68A-4038-855F-74D5B2ADC9A0}" type="presParOf" srcId="{03879F0D-0B54-422F-99CD-9F022EA2CBFE}" destId="{A1DB6E1C-C973-498F-96B4-7E0DEC8D9616}" srcOrd="1" destOrd="0" presId="urn:microsoft.com/office/officeart/2008/layout/HorizontalMultiLevelHierarchy#1"/>
    <dgm:cxn modelId="{CE2FE397-87D1-4629-A64E-EF1655C0435C}" type="presParOf" srcId="{A1DB6E1C-C973-498F-96B4-7E0DEC8D9616}" destId="{323B10B6-089B-46BF-B6F0-7A307630A7CC}" srcOrd="0" destOrd="0" presId="urn:microsoft.com/office/officeart/2008/layout/HorizontalMultiLevelHierarchy#1"/>
    <dgm:cxn modelId="{770CA45E-4441-4DB1-9658-F588F92B33B0}" type="presParOf" srcId="{A1DB6E1C-C973-498F-96B4-7E0DEC8D9616}" destId="{DF8F8C95-4269-478E-B792-B4314DB4AD31}" srcOrd="1" destOrd="0" presId="urn:microsoft.com/office/officeart/2008/layout/HorizontalMultiLevelHierarchy#1"/>
    <dgm:cxn modelId="{C59B988D-6842-40A7-9AE2-87EB6228AD1A}" type="presParOf" srcId="{03879F0D-0B54-422F-99CD-9F022EA2CBFE}" destId="{B6EA75C3-BDA9-4698-B87E-2F64C78807DE}" srcOrd="2" destOrd="0" presId="urn:microsoft.com/office/officeart/2008/layout/HorizontalMultiLevelHierarchy#1"/>
    <dgm:cxn modelId="{61E8FE81-CDC2-40F3-A594-4F0D98546DCE}" type="presParOf" srcId="{B6EA75C3-BDA9-4698-B87E-2F64C78807DE}" destId="{441D21E9-9AA6-4EDE-8CE0-54246757344E}" srcOrd="0" destOrd="0" presId="urn:microsoft.com/office/officeart/2008/layout/HorizontalMultiLevelHierarchy#1"/>
    <dgm:cxn modelId="{4D73B071-C465-444D-A81D-A09B0CC744E6}" type="presParOf" srcId="{03879F0D-0B54-422F-99CD-9F022EA2CBFE}" destId="{48E83874-7F5A-4482-BB99-1A00BFEFD450}" srcOrd="3" destOrd="0" presId="urn:microsoft.com/office/officeart/2008/layout/HorizontalMultiLevelHierarchy#1"/>
    <dgm:cxn modelId="{F8A38B59-F019-44CF-9391-7A66C2D3F45F}" type="presParOf" srcId="{48E83874-7F5A-4482-BB99-1A00BFEFD450}" destId="{BBC49AC0-467B-4772-A63F-64647B771549}" srcOrd="0" destOrd="0" presId="urn:microsoft.com/office/officeart/2008/layout/HorizontalMultiLevelHierarchy#1"/>
    <dgm:cxn modelId="{2CE8DAFC-D4C2-4F1A-9D22-8800EA4D4F69}" type="presParOf" srcId="{48E83874-7F5A-4482-BB99-1A00BFEFD450}" destId="{867483EA-1063-4CBD-A8EF-D0683D7D5603}" srcOrd="1" destOrd="0" presId="urn:microsoft.com/office/officeart/2008/layout/HorizontalMultiLevelHierarchy#1"/>
    <dgm:cxn modelId="{25492405-CE20-423F-89C7-8757697FF48E}" type="presParOf" srcId="{03879F0D-0B54-422F-99CD-9F022EA2CBFE}" destId="{997CC87B-5037-4CB1-BA79-A2E2C62ED436}" srcOrd="4" destOrd="0" presId="urn:microsoft.com/office/officeart/2008/layout/HorizontalMultiLevelHierarchy#1"/>
    <dgm:cxn modelId="{1A068CBD-FCBC-4970-99E9-A3E7ACD7736A}" type="presParOf" srcId="{997CC87B-5037-4CB1-BA79-A2E2C62ED436}" destId="{6C4E92F7-E260-4C0E-BBB8-1F84919A2399}" srcOrd="0" destOrd="0" presId="urn:microsoft.com/office/officeart/2008/layout/HorizontalMultiLevelHierarchy#1"/>
    <dgm:cxn modelId="{719FC122-8CBD-49CD-9A21-FCF77B7FF036}" type="presParOf" srcId="{03879F0D-0B54-422F-99CD-9F022EA2CBFE}" destId="{EED1F873-747E-4231-B7F7-BC5D31AAA3F4}" srcOrd="5" destOrd="0" presId="urn:microsoft.com/office/officeart/2008/layout/HorizontalMultiLevelHierarchy#1"/>
    <dgm:cxn modelId="{0C0B5E12-47D5-42A6-9701-70E96F1133DB}" type="presParOf" srcId="{EED1F873-747E-4231-B7F7-BC5D31AAA3F4}" destId="{5DD6F8E7-104E-40D3-8159-931158D7758D}" srcOrd="0" destOrd="0" presId="urn:microsoft.com/office/officeart/2008/layout/HorizontalMultiLevelHierarchy#1"/>
    <dgm:cxn modelId="{25763E13-0E60-43E8-B3C4-62CE40243FE0}" type="presParOf" srcId="{EED1F873-747E-4231-B7F7-BC5D31AAA3F4}" destId="{C4E7F7E6-B033-48C4-A2DE-224DB6D74432}" srcOrd="1" destOrd="0" presId="urn:microsoft.com/office/officeart/2008/layout/HorizontalMultiLevelHierarchy#1"/>
    <dgm:cxn modelId="{8AAD5AD7-D4B5-47E7-BEF3-A19E6FB8E6AF}" type="presParOf" srcId="{03879F0D-0B54-422F-99CD-9F022EA2CBFE}" destId="{940E049A-F7DF-4595-939D-66553F85181E}" srcOrd="6" destOrd="0" presId="urn:microsoft.com/office/officeart/2008/layout/HorizontalMultiLevelHierarchy#1"/>
    <dgm:cxn modelId="{BCDE39EC-487D-4D56-99F7-2100547882C9}" type="presParOf" srcId="{940E049A-F7DF-4595-939D-66553F85181E}" destId="{5B6352D3-1EC8-4287-AB47-C7F43D988A64}" srcOrd="0" destOrd="0" presId="urn:microsoft.com/office/officeart/2008/layout/HorizontalMultiLevelHierarchy#1"/>
    <dgm:cxn modelId="{5257DF84-3F4A-46A1-A49C-0A6D7D19278F}" type="presParOf" srcId="{03879F0D-0B54-422F-99CD-9F022EA2CBFE}" destId="{3F786E89-3D53-4729-AFAA-3346D5515EF1}" srcOrd="7" destOrd="0" presId="urn:microsoft.com/office/officeart/2008/layout/HorizontalMultiLevelHierarchy#1"/>
    <dgm:cxn modelId="{B53F2623-1EF8-47DC-AB20-19C2BAAEDED2}" type="presParOf" srcId="{3F786E89-3D53-4729-AFAA-3346D5515EF1}" destId="{AA38CFE2-47E6-4A3D-A9CB-3E0E2C8B38EC}" srcOrd="0" destOrd="0" presId="urn:microsoft.com/office/officeart/2008/layout/HorizontalMultiLevelHierarchy#1"/>
    <dgm:cxn modelId="{E646876D-1D91-4E92-AA91-87256F66F70E}" type="presParOf" srcId="{3F786E89-3D53-4729-AFAA-3346D5515EF1}" destId="{9981BB44-5CCE-47DD-9BF5-8FB8046EED1B}" srcOrd="1" destOrd="0" presId="urn:microsoft.com/office/officeart/2008/layout/HorizontalMultiLevelHierarchy#1"/>
    <dgm:cxn modelId="{6EFF937C-ED77-44AA-BCFB-9C2F5388540F}" type="presParOf" srcId="{03879F0D-0B54-422F-99CD-9F022EA2CBFE}" destId="{D0B25EBF-EF06-464B-BE67-4FCEDFE94839}" srcOrd="8" destOrd="0" presId="urn:microsoft.com/office/officeart/2008/layout/HorizontalMultiLevelHierarchy#1"/>
    <dgm:cxn modelId="{29CF8F41-31BA-4356-B6DF-854103AB083A}" type="presParOf" srcId="{D0B25EBF-EF06-464B-BE67-4FCEDFE94839}" destId="{D2239582-DAB6-47F8-A47A-5B2F17D417CC}" srcOrd="0" destOrd="0" presId="urn:microsoft.com/office/officeart/2008/layout/HorizontalMultiLevelHierarchy#1"/>
    <dgm:cxn modelId="{B23ED696-F6F9-4B0B-9BC5-5B3007E2A9D2}" type="presParOf" srcId="{03879F0D-0B54-422F-99CD-9F022EA2CBFE}" destId="{CA90F339-1B7F-4795-A860-830AE55FB4C0}" srcOrd="9" destOrd="0" presId="urn:microsoft.com/office/officeart/2008/layout/HorizontalMultiLevelHierarchy#1"/>
    <dgm:cxn modelId="{1C84BDA0-A1D5-4FB1-BD3E-5BBBBEF79752}" type="presParOf" srcId="{CA90F339-1B7F-4795-A860-830AE55FB4C0}" destId="{77A6741B-87B7-4DC4-8875-E859A9D33FDA}" srcOrd="0" destOrd="0" presId="urn:microsoft.com/office/officeart/2008/layout/HorizontalMultiLevelHierarchy#1"/>
    <dgm:cxn modelId="{F188309C-3EA7-4EE6-815D-8BD789CB6A1A}" type="presParOf" srcId="{CA90F339-1B7F-4795-A860-830AE55FB4C0}" destId="{9A7861CA-76AA-45ED-8665-CE95340C1638}" srcOrd="1" destOrd="0" presId="urn:microsoft.com/office/officeart/2008/layout/HorizontalMultiLevel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0B25EBF-EF06-464B-BE67-4FCEDFE94839}">
      <dsp:nvSpPr>
        <dsp:cNvPr id="0" name=""/>
        <dsp:cNvSpPr/>
      </dsp:nvSpPr>
      <dsp:spPr>
        <a:xfrm>
          <a:off x="2747012" y="4754480"/>
          <a:ext cx="361558" cy="1377888"/>
        </a:xfrm>
        <a:custGeom>
          <a:avLst/>
          <a:gdLst/>
          <a:ahLst/>
          <a:cxnLst/>
          <a:rect l="0" t="0" r="0" b="0"/>
          <a:pathLst>
            <a:path>
              <a:moveTo>
                <a:pt x="0" y="0"/>
              </a:moveTo>
              <a:lnTo>
                <a:pt x="180779" y="0"/>
              </a:lnTo>
              <a:lnTo>
                <a:pt x="180779" y="1377888"/>
              </a:lnTo>
              <a:lnTo>
                <a:pt x="361558" y="137788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2892177" y="5407811"/>
        <a:ext cx="71226" cy="71226"/>
      </dsp:txXfrm>
    </dsp:sp>
    <dsp:sp modelId="{940E049A-F7DF-4595-939D-66553F85181E}">
      <dsp:nvSpPr>
        <dsp:cNvPr id="0" name=""/>
        <dsp:cNvSpPr/>
      </dsp:nvSpPr>
      <dsp:spPr>
        <a:xfrm>
          <a:off x="2747012" y="4754480"/>
          <a:ext cx="361558" cy="688944"/>
        </a:xfrm>
        <a:custGeom>
          <a:avLst/>
          <a:gdLst/>
          <a:ahLst/>
          <a:cxnLst/>
          <a:rect l="0" t="0" r="0" b="0"/>
          <a:pathLst>
            <a:path>
              <a:moveTo>
                <a:pt x="0" y="0"/>
              </a:moveTo>
              <a:lnTo>
                <a:pt x="180779" y="0"/>
              </a:lnTo>
              <a:lnTo>
                <a:pt x="180779" y="688944"/>
              </a:lnTo>
              <a:lnTo>
                <a:pt x="361558" y="68894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2908339" y="5079501"/>
        <a:ext cx="38902" cy="38902"/>
      </dsp:txXfrm>
    </dsp:sp>
    <dsp:sp modelId="{997CC87B-5037-4CB1-BA79-A2E2C62ED436}">
      <dsp:nvSpPr>
        <dsp:cNvPr id="0" name=""/>
        <dsp:cNvSpPr/>
      </dsp:nvSpPr>
      <dsp:spPr>
        <a:xfrm>
          <a:off x="2747012" y="4708760"/>
          <a:ext cx="361558" cy="91440"/>
        </a:xfrm>
        <a:custGeom>
          <a:avLst/>
          <a:gdLst/>
          <a:ahLst/>
          <a:cxnLst/>
          <a:rect l="0" t="0" r="0" b="0"/>
          <a:pathLst>
            <a:path>
              <a:moveTo>
                <a:pt x="0" y="45720"/>
              </a:moveTo>
              <a:lnTo>
                <a:pt x="361558" y="4572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2918752" y="4745441"/>
        <a:ext cx="18077" cy="18077"/>
      </dsp:txXfrm>
    </dsp:sp>
    <dsp:sp modelId="{B6EA75C3-BDA9-4698-B87E-2F64C78807DE}">
      <dsp:nvSpPr>
        <dsp:cNvPr id="0" name=""/>
        <dsp:cNvSpPr/>
      </dsp:nvSpPr>
      <dsp:spPr>
        <a:xfrm>
          <a:off x="2747012" y="4065536"/>
          <a:ext cx="361558" cy="688944"/>
        </a:xfrm>
        <a:custGeom>
          <a:avLst/>
          <a:gdLst/>
          <a:ahLst/>
          <a:cxnLst/>
          <a:rect l="0" t="0" r="0" b="0"/>
          <a:pathLst>
            <a:path>
              <a:moveTo>
                <a:pt x="0" y="688944"/>
              </a:moveTo>
              <a:lnTo>
                <a:pt x="180779" y="688944"/>
              </a:lnTo>
              <a:lnTo>
                <a:pt x="180779" y="0"/>
              </a:lnTo>
              <a:lnTo>
                <a:pt x="361558"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2908339" y="4390557"/>
        <a:ext cx="38902" cy="38902"/>
      </dsp:txXfrm>
    </dsp:sp>
    <dsp:sp modelId="{CD44D7E2-BD0D-4DDC-A4D3-34C167473DA1}">
      <dsp:nvSpPr>
        <dsp:cNvPr id="0" name=""/>
        <dsp:cNvSpPr/>
      </dsp:nvSpPr>
      <dsp:spPr>
        <a:xfrm>
          <a:off x="2747012" y="3376592"/>
          <a:ext cx="361558" cy="1377888"/>
        </a:xfrm>
        <a:custGeom>
          <a:avLst/>
          <a:gdLst/>
          <a:ahLst/>
          <a:cxnLst/>
          <a:rect l="0" t="0" r="0" b="0"/>
          <a:pathLst>
            <a:path>
              <a:moveTo>
                <a:pt x="0" y="1377888"/>
              </a:moveTo>
              <a:lnTo>
                <a:pt x="180779" y="1377888"/>
              </a:lnTo>
              <a:lnTo>
                <a:pt x="180779" y="0"/>
              </a:lnTo>
              <a:lnTo>
                <a:pt x="361558"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2892177" y="4029923"/>
        <a:ext cx="71226" cy="71226"/>
      </dsp:txXfrm>
    </dsp:sp>
    <dsp:sp modelId="{46CACD35-3C43-4183-BD88-C64874869325}">
      <dsp:nvSpPr>
        <dsp:cNvPr id="0" name=""/>
        <dsp:cNvSpPr/>
      </dsp:nvSpPr>
      <dsp:spPr>
        <a:xfrm>
          <a:off x="577664" y="2773765"/>
          <a:ext cx="361558" cy="1980715"/>
        </a:xfrm>
        <a:custGeom>
          <a:avLst/>
          <a:gdLst/>
          <a:ahLst/>
          <a:cxnLst/>
          <a:rect l="0" t="0" r="0" b="0"/>
          <a:pathLst>
            <a:path>
              <a:moveTo>
                <a:pt x="0" y="0"/>
              </a:moveTo>
              <a:lnTo>
                <a:pt x="180779" y="0"/>
              </a:lnTo>
              <a:lnTo>
                <a:pt x="180779" y="1980715"/>
              </a:lnTo>
              <a:lnTo>
                <a:pt x="361558" y="1980715"/>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11150">
            <a:lnSpc>
              <a:spcPct val="90000"/>
            </a:lnSpc>
            <a:spcBef>
              <a:spcPct val="0"/>
            </a:spcBef>
            <a:spcAft>
              <a:spcPct val="35000"/>
            </a:spcAft>
          </a:pPr>
          <a:endParaRPr lang="zh-CN" altLang="en-US" sz="700" kern="1200"/>
        </a:p>
      </dsp:txBody>
      <dsp:txXfrm>
        <a:off x="708106" y="3713787"/>
        <a:ext cx="100672" cy="100672"/>
      </dsp:txXfrm>
    </dsp:sp>
    <dsp:sp modelId="{DA4320B4-8809-490D-ACD4-776D5DDD8293}">
      <dsp:nvSpPr>
        <dsp:cNvPr id="0" name=""/>
        <dsp:cNvSpPr/>
      </dsp:nvSpPr>
      <dsp:spPr>
        <a:xfrm>
          <a:off x="4857914" y="2778902"/>
          <a:ext cx="356405" cy="253217"/>
        </a:xfrm>
        <a:custGeom>
          <a:avLst/>
          <a:gdLst/>
          <a:ahLst/>
          <a:cxnLst/>
          <a:rect l="0" t="0" r="0" b="0"/>
          <a:pathLst>
            <a:path>
              <a:moveTo>
                <a:pt x="0" y="0"/>
              </a:moveTo>
              <a:lnTo>
                <a:pt x="178202" y="0"/>
              </a:lnTo>
              <a:lnTo>
                <a:pt x="178202" y="253217"/>
              </a:lnTo>
              <a:lnTo>
                <a:pt x="356405" y="253217"/>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5025187" y="2894581"/>
        <a:ext cx="21860" cy="21860"/>
      </dsp:txXfrm>
    </dsp:sp>
    <dsp:sp modelId="{52A35EE1-0E39-47B0-AE12-EB8FFA76665A}">
      <dsp:nvSpPr>
        <dsp:cNvPr id="0" name=""/>
        <dsp:cNvSpPr/>
      </dsp:nvSpPr>
      <dsp:spPr>
        <a:xfrm>
          <a:off x="4857914" y="2343175"/>
          <a:ext cx="356405" cy="435726"/>
        </a:xfrm>
        <a:custGeom>
          <a:avLst/>
          <a:gdLst/>
          <a:ahLst/>
          <a:cxnLst/>
          <a:rect l="0" t="0" r="0" b="0"/>
          <a:pathLst>
            <a:path>
              <a:moveTo>
                <a:pt x="0" y="435726"/>
              </a:moveTo>
              <a:lnTo>
                <a:pt x="178202" y="435726"/>
              </a:lnTo>
              <a:lnTo>
                <a:pt x="178202" y="0"/>
              </a:lnTo>
              <a:lnTo>
                <a:pt x="35640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5022044" y="2546965"/>
        <a:ext cx="28146" cy="28146"/>
      </dsp:txXfrm>
    </dsp:sp>
    <dsp:sp modelId="{07DFF6C3-18DC-4F08-A374-1DB056B939F6}">
      <dsp:nvSpPr>
        <dsp:cNvPr id="0" name=""/>
        <dsp:cNvSpPr/>
      </dsp:nvSpPr>
      <dsp:spPr>
        <a:xfrm>
          <a:off x="577664" y="2728045"/>
          <a:ext cx="366710" cy="91440"/>
        </a:xfrm>
        <a:custGeom>
          <a:avLst/>
          <a:gdLst/>
          <a:ahLst/>
          <a:cxnLst/>
          <a:rect l="0" t="0" r="0" b="0"/>
          <a:pathLst>
            <a:path>
              <a:moveTo>
                <a:pt x="0" y="45720"/>
              </a:moveTo>
              <a:lnTo>
                <a:pt x="183355" y="45720"/>
              </a:lnTo>
              <a:lnTo>
                <a:pt x="183355" y="50856"/>
              </a:lnTo>
              <a:lnTo>
                <a:pt x="366710" y="5085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751850" y="2764597"/>
        <a:ext cx="18337" cy="18337"/>
      </dsp:txXfrm>
    </dsp:sp>
    <dsp:sp modelId="{A0B08AE4-A3EB-4176-8117-5034F0469192}">
      <dsp:nvSpPr>
        <dsp:cNvPr id="0" name=""/>
        <dsp:cNvSpPr/>
      </dsp:nvSpPr>
      <dsp:spPr>
        <a:xfrm>
          <a:off x="4916360" y="1309759"/>
          <a:ext cx="361558" cy="344472"/>
        </a:xfrm>
        <a:custGeom>
          <a:avLst/>
          <a:gdLst/>
          <a:ahLst/>
          <a:cxnLst/>
          <a:rect l="0" t="0" r="0" b="0"/>
          <a:pathLst>
            <a:path>
              <a:moveTo>
                <a:pt x="0" y="0"/>
              </a:moveTo>
              <a:lnTo>
                <a:pt x="180779" y="0"/>
              </a:lnTo>
              <a:lnTo>
                <a:pt x="180779" y="344472"/>
              </a:lnTo>
              <a:lnTo>
                <a:pt x="361558" y="344472"/>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5084654" y="1469510"/>
        <a:ext cx="24969" cy="24969"/>
      </dsp:txXfrm>
    </dsp:sp>
    <dsp:sp modelId="{69AA4998-02A8-4314-8274-A97EFEE58F69}">
      <dsp:nvSpPr>
        <dsp:cNvPr id="0" name=""/>
        <dsp:cNvSpPr/>
      </dsp:nvSpPr>
      <dsp:spPr>
        <a:xfrm>
          <a:off x="4916360" y="965286"/>
          <a:ext cx="361558" cy="344472"/>
        </a:xfrm>
        <a:custGeom>
          <a:avLst/>
          <a:gdLst/>
          <a:ahLst/>
          <a:cxnLst/>
          <a:rect l="0" t="0" r="0" b="0"/>
          <a:pathLst>
            <a:path>
              <a:moveTo>
                <a:pt x="0" y="344472"/>
              </a:moveTo>
              <a:lnTo>
                <a:pt x="180779" y="344472"/>
              </a:lnTo>
              <a:lnTo>
                <a:pt x="180779" y="0"/>
              </a:lnTo>
              <a:lnTo>
                <a:pt x="361558"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5084654" y="1125038"/>
        <a:ext cx="24969" cy="24969"/>
      </dsp:txXfrm>
    </dsp:sp>
    <dsp:sp modelId="{11163C56-239A-4C48-B1C2-C82990B2F389}">
      <dsp:nvSpPr>
        <dsp:cNvPr id="0" name=""/>
        <dsp:cNvSpPr/>
      </dsp:nvSpPr>
      <dsp:spPr>
        <a:xfrm>
          <a:off x="2747012" y="793050"/>
          <a:ext cx="361558" cy="516708"/>
        </a:xfrm>
        <a:custGeom>
          <a:avLst/>
          <a:gdLst/>
          <a:ahLst/>
          <a:cxnLst/>
          <a:rect l="0" t="0" r="0" b="0"/>
          <a:pathLst>
            <a:path>
              <a:moveTo>
                <a:pt x="0" y="0"/>
              </a:moveTo>
              <a:lnTo>
                <a:pt x="180779" y="0"/>
              </a:lnTo>
              <a:lnTo>
                <a:pt x="180779" y="516708"/>
              </a:lnTo>
              <a:lnTo>
                <a:pt x="361558" y="51670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2912025" y="1035638"/>
        <a:ext cx="31532" cy="31532"/>
      </dsp:txXfrm>
    </dsp:sp>
    <dsp:sp modelId="{D6AC20A8-F52C-41E7-A11F-5A4B1B60A714}">
      <dsp:nvSpPr>
        <dsp:cNvPr id="0" name=""/>
        <dsp:cNvSpPr/>
      </dsp:nvSpPr>
      <dsp:spPr>
        <a:xfrm>
          <a:off x="2747012" y="276342"/>
          <a:ext cx="361558" cy="516708"/>
        </a:xfrm>
        <a:custGeom>
          <a:avLst/>
          <a:gdLst/>
          <a:ahLst/>
          <a:cxnLst/>
          <a:rect l="0" t="0" r="0" b="0"/>
          <a:pathLst>
            <a:path>
              <a:moveTo>
                <a:pt x="0" y="516708"/>
              </a:moveTo>
              <a:lnTo>
                <a:pt x="180779" y="516708"/>
              </a:lnTo>
              <a:lnTo>
                <a:pt x="180779" y="0"/>
              </a:lnTo>
              <a:lnTo>
                <a:pt x="361558"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zh-CN" altLang="en-US" sz="500" kern="1200"/>
        </a:p>
      </dsp:txBody>
      <dsp:txXfrm>
        <a:off x="2912025" y="518930"/>
        <a:ext cx="31532" cy="31532"/>
      </dsp:txXfrm>
    </dsp:sp>
    <dsp:sp modelId="{0BBCAC59-83FF-4F39-9477-11267436B0BC}">
      <dsp:nvSpPr>
        <dsp:cNvPr id="0" name=""/>
        <dsp:cNvSpPr/>
      </dsp:nvSpPr>
      <dsp:spPr>
        <a:xfrm>
          <a:off x="577664" y="793050"/>
          <a:ext cx="361558" cy="1980715"/>
        </a:xfrm>
        <a:custGeom>
          <a:avLst/>
          <a:gdLst/>
          <a:ahLst/>
          <a:cxnLst/>
          <a:rect l="0" t="0" r="0" b="0"/>
          <a:pathLst>
            <a:path>
              <a:moveTo>
                <a:pt x="0" y="1980715"/>
              </a:moveTo>
              <a:lnTo>
                <a:pt x="180779" y="1980715"/>
              </a:lnTo>
              <a:lnTo>
                <a:pt x="180779" y="0"/>
              </a:lnTo>
              <a:lnTo>
                <a:pt x="361558"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11150">
            <a:lnSpc>
              <a:spcPct val="90000"/>
            </a:lnSpc>
            <a:spcBef>
              <a:spcPct val="0"/>
            </a:spcBef>
            <a:spcAft>
              <a:spcPct val="35000"/>
            </a:spcAft>
          </a:pPr>
          <a:endParaRPr lang="zh-CN" altLang="en-US" sz="700" kern="1200"/>
        </a:p>
      </dsp:txBody>
      <dsp:txXfrm>
        <a:off x="708106" y="1733072"/>
        <a:ext cx="100672" cy="100672"/>
      </dsp:txXfrm>
    </dsp:sp>
    <dsp:sp modelId="{289364D4-62C3-4470-8C7F-B490175B1EE6}">
      <dsp:nvSpPr>
        <dsp:cNvPr id="0" name=""/>
        <dsp:cNvSpPr/>
      </dsp:nvSpPr>
      <dsp:spPr>
        <a:xfrm rot="16200000">
          <a:off x="-1148322" y="2498188"/>
          <a:ext cx="2900818"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875" tIns="15875" rIns="15875" bIns="15875" numCol="1" spcCol="1270" anchor="ctr" anchorCtr="0">
          <a:noAutofit/>
        </a:bodyPr>
        <a:lstStyle/>
        <a:p>
          <a:pPr lvl="0" algn="ctr" defTabSz="1111250">
            <a:lnSpc>
              <a:spcPct val="90000"/>
            </a:lnSpc>
            <a:spcBef>
              <a:spcPct val="0"/>
            </a:spcBef>
            <a:spcAft>
              <a:spcPct val="35000"/>
            </a:spcAft>
          </a:pPr>
          <a:r>
            <a:rPr lang="en-US" altLang="zh-CN" sz="2500" kern="1200" dirty="0">
              <a:latin typeface="+mn-lt"/>
              <a:ea typeface="+mn-ea"/>
              <a:cs typeface="+mn-ea"/>
              <a:sym typeface="+mn-lt"/>
            </a:rPr>
            <a:t> </a:t>
          </a:r>
          <a:r>
            <a:rPr lang="zh-CN" altLang="en-US" sz="2500" kern="1200" dirty="0">
              <a:latin typeface="+mn-lt"/>
              <a:ea typeface="+mn-ea"/>
              <a:cs typeface="+mn-ea"/>
              <a:sym typeface="+mn-lt"/>
            </a:rPr>
            <a:t>数据结构</a:t>
          </a:r>
        </a:p>
      </dsp:txBody>
      <dsp:txXfrm>
        <a:off x="-1148322" y="2498188"/>
        <a:ext cx="2900818" cy="551155"/>
      </dsp:txXfrm>
    </dsp:sp>
    <dsp:sp modelId="{16ECAC38-518A-47EE-8BD4-9FD0840D4B82}">
      <dsp:nvSpPr>
        <dsp:cNvPr id="0" name=""/>
        <dsp:cNvSpPr/>
      </dsp:nvSpPr>
      <dsp:spPr>
        <a:xfrm>
          <a:off x="939222" y="517472"/>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lvl="0" algn="ctr" defTabSz="1022350">
            <a:lnSpc>
              <a:spcPct val="90000"/>
            </a:lnSpc>
            <a:spcBef>
              <a:spcPct val="0"/>
            </a:spcBef>
            <a:spcAft>
              <a:spcPct val="35000"/>
            </a:spcAft>
          </a:pPr>
          <a:r>
            <a:rPr lang="zh-CN" altLang="en-US" sz="2300" kern="1200" dirty="0">
              <a:latin typeface="+mn-lt"/>
              <a:ea typeface="+mn-ea"/>
              <a:cs typeface="+mn-ea"/>
              <a:sym typeface="+mn-lt"/>
            </a:rPr>
            <a:t>逻辑结构</a:t>
          </a:r>
        </a:p>
      </dsp:txBody>
      <dsp:txXfrm>
        <a:off x="939222" y="517472"/>
        <a:ext cx="1807790" cy="551155"/>
      </dsp:txXfrm>
    </dsp:sp>
    <dsp:sp modelId="{CA2411B4-EC87-4940-826C-689EAF2ADD5C}">
      <dsp:nvSpPr>
        <dsp:cNvPr id="0" name=""/>
        <dsp:cNvSpPr/>
      </dsp:nvSpPr>
      <dsp:spPr>
        <a:xfrm>
          <a:off x="3108570" y="764"/>
          <a:ext cx="5433873"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lvl="0" algn="ctr" defTabSz="1022350">
            <a:lnSpc>
              <a:spcPct val="90000"/>
            </a:lnSpc>
            <a:spcBef>
              <a:spcPct val="0"/>
            </a:spcBef>
            <a:spcAft>
              <a:spcPct val="35000"/>
            </a:spcAft>
          </a:pPr>
          <a:r>
            <a:rPr lang="zh-CN" altLang="en-US" sz="2300" kern="1200" dirty="0">
              <a:latin typeface="+mn-lt"/>
              <a:ea typeface="+mn-ea"/>
              <a:cs typeface="+mn-ea"/>
              <a:sym typeface="+mn-lt"/>
            </a:rPr>
            <a:t>线性结构（线性表、栈、队、串、数组）</a:t>
          </a:r>
        </a:p>
      </dsp:txBody>
      <dsp:txXfrm>
        <a:off x="3108570" y="764"/>
        <a:ext cx="5433873" cy="551155"/>
      </dsp:txXfrm>
    </dsp:sp>
    <dsp:sp modelId="{0848E00F-8704-4377-B25A-DAD92674F808}">
      <dsp:nvSpPr>
        <dsp:cNvPr id="0" name=""/>
        <dsp:cNvSpPr/>
      </dsp:nvSpPr>
      <dsp:spPr>
        <a:xfrm>
          <a:off x="3108570" y="1034181"/>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lvl="0" algn="ctr" defTabSz="1022350">
            <a:lnSpc>
              <a:spcPct val="90000"/>
            </a:lnSpc>
            <a:spcBef>
              <a:spcPct val="0"/>
            </a:spcBef>
            <a:spcAft>
              <a:spcPct val="35000"/>
            </a:spcAft>
          </a:pPr>
          <a:r>
            <a:rPr lang="zh-CN" altLang="en-US" sz="2300" kern="1200" dirty="0">
              <a:latin typeface="+mn-lt"/>
              <a:ea typeface="+mn-ea"/>
              <a:cs typeface="+mn-ea"/>
              <a:sym typeface="+mn-lt"/>
            </a:rPr>
            <a:t>非线性结构</a:t>
          </a:r>
        </a:p>
      </dsp:txBody>
      <dsp:txXfrm>
        <a:off x="3108570" y="1034181"/>
        <a:ext cx="1807790" cy="551155"/>
      </dsp:txXfrm>
    </dsp:sp>
    <dsp:sp modelId="{27C1DD5A-4DE1-4D34-BF99-B55763485F5F}">
      <dsp:nvSpPr>
        <dsp:cNvPr id="0" name=""/>
        <dsp:cNvSpPr/>
      </dsp:nvSpPr>
      <dsp:spPr>
        <a:xfrm>
          <a:off x="5277918" y="689709"/>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lvl="0" algn="ctr" defTabSz="1022350">
            <a:lnSpc>
              <a:spcPct val="90000"/>
            </a:lnSpc>
            <a:spcBef>
              <a:spcPct val="0"/>
            </a:spcBef>
            <a:spcAft>
              <a:spcPct val="35000"/>
            </a:spcAft>
          </a:pPr>
          <a:r>
            <a:rPr lang="zh-CN" altLang="en-US" sz="2300" kern="1200" dirty="0">
              <a:latin typeface="+mn-lt"/>
              <a:ea typeface="+mn-ea"/>
              <a:cs typeface="+mn-ea"/>
              <a:sym typeface="+mn-lt"/>
            </a:rPr>
            <a:t>树结构</a:t>
          </a:r>
        </a:p>
      </dsp:txBody>
      <dsp:txXfrm>
        <a:off x="5277918" y="689709"/>
        <a:ext cx="1807790" cy="551155"/>
      </dsp:txXfrm>
    </dsp:sp>
    <dsp:sp modelId="{AC3483A0-DE79-4A15-92B8-B4F1A7EC42C8}">
      <dsp:nvSpPr>
        <dsp:cNvPr id="0" name=""/>
        <dsp:cNvSpPr/>
      </dsp:nvSpPr>
      <dsp:spPr>
        <a:xfrm>
          <a:off x="5277918" y="1378653"/>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lvl="0" algn="ctr" defTabSz="1022350">
            <a:lnSpc>
              <a:spcPct val="90000"/>
            </a:lnSpc>
            <a:spcBef>
              <a:spcPct val="0"/>
            </a:spcBef>
            <a:spcAft>
              <a:spcPct val="35000"/>
            </a:spcAft>
          </a:pPr>
          <a:r>
            <a:rPr lang="zh-CN" altLang="en-US" sz="2300" kern="1200" dirty="0">
              <a:latin typeface="+mn-lt"/>
              <a:ea typeface="+mn-ea"/>
              <a:cs typeface="+mn-ea"/>
              <a:sym typeface="+mn-lt"/>
            </a:rPr>
            <a:t>图结构</a:t>
          </a:r>
        </a:p>
      </dsp:txBody>
      <dsp:txXfrm>
        <a:off x="5277918" y="1378653"/>
        <a:ext cx="1807790" cy="551155"/>
      </dsp:txXfrm>
    </dsp:sp>
    <dsp:sp modelId="{10DC5356-5669-4EEB-80DA-45642DEE7761}">
      <dsp:nvSpPr>
        <dsp:cNvPr id="0" name=""/>
        <dsp:cNvSpPr/>
      </dsp:nvSpPr>
      <dsp:spPr>
        <a:xfrm>
          <a:off x="944374" y="2503324"/>
          <a:ext cx="3913539"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90000"/>
            </a:lnSpc>
            <a:spcBef>
              <a:spcPct val="0"/>
            </a:spcBef>
            <a:spcAft>
              <a:spcPct val="35000"/>
            </a:spcAft>
          </a:pPr>
          <a:r>
            <a:rPr lang="zh-CN" altLang="en-US" sz="2200" kern="1200" dirty="0">
              <a:latin typeface="+mn-lt"/>
              <a:ea typeface="+mn-ea"/>
              <a:cs typeface="+mn-ea"/>
              <a:sym typeface="+mn-lt"/>
            </a:rPr>
            <a:t>物理（存储结构）</a:t>
          </a:r>
        </a:p>
      </dsp:txBody>
      <dsp:txXfrm>
        <a:off x="944374" y="2503324"/>
        <a:ext cx="3913539" cy="551155"/>
      </dsp:txXfrm>
    </dsp:sp>
    <dsp:sp modelId="{E58AE112-5951-4214-B14C-1E473817C495}">
      <dsp:nvSpPr>
        <dsp:cNvPr id="0" name=""/>
        <dsp:cNvSpPr/>
      </dsp:nvSpPr>
      <dsp:spPr>
        <a:xfrm>
          <a:off x="5214320" y="2067597"/>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90000"/>
            </a:lnSpc>
            <a:spcBef>
              <a:spcPct val="0"/>
            </a:spcBef>
            <a:spcAft>
              <a:spcPct val="35000"/>
            </a:spcAft>
          </a:pPr>
          <a:r>
            <a:rPr lang="zh-CN" altLang="en-US" sz="2200" kern="1200" dirty="0">
              <a:latin typeface="+mn-lt"/>
              <a:ea typeface="+mn-ea"/>
              <a:cs typeface="+mn-ea"/>
              <a:sym typeface="+mn-lt"/>
            </a:rPr>
            <a:t>顺序结构</a:t>
          </a:r>
        </a:p>
      </dsp:txBody>
      <dsp:txXfrm>
        <a:off x="5214320" y="2067597"/>
        <a:ext cx="1807790" cy="551155"/>
      </dsp:txXfrm>
    </dsp:sp>
    <dsp:sp modelId="{437AD372-5396-4AAF-A11C-855FAA6DC816}">
      <dsp:nvSpPr>
        <dsp:cNvPr id="0" name=""/>
        <dsp:cNvSpPr/>
      </dsp:nvSpPr>
      <dsp:spPr>
        <a:xfrm>
          <a:off x="5214320" y="2756542"/>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90000"/>
            </a:lnSpc>
            <a:spcBef>
              <a:spcPct val="0"/>
            </a:spcBef>
            <a:spcAft>
              <a:spcPct val="35000"/>
            </a:spcAft>
          </a:pPr>
          <a:r>
            <a:rPr lang="zh-CN" altLang="en-US" sz="2200" kern="1200" dirty="0">
              <a:latin typeface="+mn-lt"/>
              <a:ea typeface="+mn-ea"/>
              <a:cs typeface="+mn-ea"/>
              <a:sym typeface="+mn-lt"/>
            </a:rPr>
            <a:t>链式结构</a:t>
          </a:r>
        </a:p>
      </dsp:txBody>
      <dsp:txXfrm>
        <a:off x="5214320" y="2756542"/>
        <a:ext cx="1807790" cy="551155"/>
      </dsp:txXfrm>
    </dsp:sp>
    <dsp:sp modelId="{75D98B10-7C46-43A8-A348-FA1A95366FD3}">
      <dsp:nvSpPr>
        <dsp:cNvPr id="0" name=""/>
        <dsp:cNvSpPr/>
      </dsp:nvSpPr>
      <dsp:spPr>
        <a:xfrm>
          <a:off x="939222" y="4478903"/>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90000"/>
            </a:lnSpc>
            <a:spcBef>
              <a:spcPct val="0"/>
            </a:spcBef>
            <a:spcAft>
              <a:spcPct val="35000"/>
            </a:spcAft>
          </a:pPr>
          <a:r>
            <a:rPr lang="zh-CN" altLang="en-US" sz="2200" kern="1200" dirty="0">
              <a:latin typeface="+mn-lt"/>
              <a:ea typeface="+mn-ea"/>
              <a:cs typeface="+mn-ea"/>
              <a:sym typeface="+mn-lt"/>
            </a:rPr>
            <a:t>数据运算</a:t>
          </a:r>
        </a:p>
      </dsp:txBody>
      <dsp:txXfrm>
        <a:off x="939222" y="4478903"/>
        <a:ext cx="1807790" cy="551155"/>
      </dsp:txXfrm>
    </dsp:sp>
    <dsp:sp modelId="{323B10B6-089B-46BF-B6F0-7A307630A7CC}">
      <dsp:nvSpPr>
        <dsp:cNvPr id="0" name=""/>
        <dsp:cNvSpPr/>
      </dsp:nvSpPr>
      <dsp:spPr>
        <a:xfrm>
          <a:off x="3108570" y="3101014"/>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90000"/>
            </a:lnSpc>
            <a:spcBef>
              <a:spcPct val="0"/>
            </a:spcBef>
            <a:spcAft>
              <a:spcPct val="35000"/>
            </a:spcAft>
          </a:pPr>
          <a:r>
            <a:rPr lang="zh-CN" altLang="en-US" sz="2200" kern="1200" dirty="0">
              <a:latin typeface="+mn-lt"/>
              <a:ea typeface="+mn-ea"/>
              <a:cs typeface="+mn-ea"/>
              <a:sym typeface="+mn-lt"/>
            </a:rPr>
            <a:t>插入运算</a:t>
          </a:r>
        </a:p>
      </dsp:txBody>
      <dsp:txXfrm>
        <a:off x="3108570" y="3101014"/>
        <a:ext cx="1807790" cy="551155"/>
      </dsp:txXfrm>
    </dsp:sp>
    <dsp:sp modelId="{BBC49AC0-467B-4772-A63F-64647B771549}">
      <dsp:nvSpPr>
        <dsp:cNvPr id="0" name=""/>
        <dsp:cNvSpPr/>
      </dsp:nvSpPr>
      <dsp:spPr>
        <a:xfrm>
          <a:off x="3108570" y="3789958"/>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90000"/>
            </a:lnSpc>
            <a:spcBef>
              <a:spcPct val="0"/>
            </a:spcBef>
            <a:spcAft>
              <a:spcPct val="35000"/>
            </a:spcAft>
          </a:pPr>
          <a:r>
            <a:rPr lang="zh-CN" altLang="en-US" sz="2200" kern="1200" dirty="0">
              <a:latin typeface="+mn-lt"/>
              <a:ea typeface="+mn-ea"/>
              <a:cs typeface="+mn-ea"/>
              <a:sym typeface="+mn-lt"/>
            </a:rPr>
            <a:t>删除运算</a:t>
          </a:r>
        </a:p>
      </dsp:txBody>
      <dsp:txXfrm>
        <a:off x="3108570" y="3789958"/>
        <a:ext cx="1807790" cy="551155"/>
      </dsp:txXfrm>
    </dsp:sp>
    <dsp:sp modelId="{5DD6F8E7-104E-40D3-8159-931158D7758D}">
      <dsp:nvSpPr>
        <dsp:cNvPr id="0" name=""/>
        <dsp:cNvSpPr/>
      </dsp:nvSpPr>
      <dsp:spPr>
        <a:xfrm>
          <a:off x="3108570" y="4478903"/>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90000"/>
            </a:lnSpc>
            <a:spcBef>
              <a:spcPct val="0"/>
            </a:spcBef>
            <a:spcAft>
              <a:spcPct val="35000"/>
            </a:spcAft>
          </a:pPr>
          <a:r>
            <a:rPr lang="zh-CN" altLang="en-US" sz="2200" kern="1200" dirty="0">
              <a:latin typeface="+mn-lt"/>
              <a:ea typeface="+mn-ea"/>
              <a:cs typeface="+mn-ea"/>
              <a:sym typeface="+mn-lt"/>
            </a:rPr>
            <a:t>修改运算</a:t>
          </a:r>
        </a:p>
      </dsp:txBody>
      <dsp:txXfrm>
        <a:off x="3108570" y="4478903"/>
        <a:ext cx="1807790" cy="551155"/>
      </dsp:txXfrm>
    </dsp:sp>
    <dsp:sp modelId="{AA38CFE2-47E6-4A3D-A9CB-3E0E2C8B38EC}">
      <dsp:nvSpPr>
        <dsp:cNvPr id="0" name=""/>
        <dsp:cNvSpPr/>
      </dsp:nvSpPr>
      <dsp:spPr>
        <a:xfrm>
          <a:off x="3108570" y="5167847"/>
          <a:ext cx="1807790" cy="551155"/>
        </a:xfrm>
        <a:prstGeom prst="rect">
          <a:avLst/>
        </a:prstGeom>
        <a:solidFill>
          <a:srgbClr val="6C4C8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90000"/>
            </a:lnSpc>
            <a:spcBef>
              <a:spcPct val="0"/>
            </a:spcBef>
            <a:spcAft>
              <a:spcPct val="35000"/>
            </a:spcAft>
          </a:pPr>
          <a:r>
            <a:rPr lang="zh-CN" altLang="en-US" sz="2200" kern="1200" dirty="0">
              <a:latin typeface="+mn-lt"/>
              <a:ea typeface="+mn-ea"/>
              <a:cs typeface="+mn-ea"/>
              <a:sym typeface="+mn-lt"/>
            </a:rPr>
            <a:t>查找运算</a:t>
          </a:r>
        </a:p>
      </dsp:txBody>
      <dsp:txXfrm>
        <a:off x="3108570" y="5167847"/>
        <a:ext cx="1807790" cy="551155"/>
      </dsp:txXfrm>
    </dsp:sp>
    <dsp:sp modelId="{77A6741B-87B7-4DC4-8875-E859A9D33FDA}">
      <dsp:nvSpPr>
        <dsp:cNvPr id="0" name=""/>
        <dsp:cNvSpPr/>
      </dsp:nvSpPr>
      <dsp:spPr>
        <a:xfrm>
          <a:off x="3108570" y="5856791"/>
          <a:ext cx="1807790" cy="551155"/>
        </a:xfrm>
        <a:prstGeom prst="rect">
          <a:avLst/>
        </a:prstGeom>
        <a:solidFill>
          <a:srgbClr val="FF33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90000"/>
            </a:lnSpc>
            <a:spcBef>
              <a:spcPct val="0"/>
            </a:spcBef>
            <a:spcAft>
              <a:spcPct val="35000"/>
            </a:spcAft>
          </a:pPr>
          <a:r>
            <a:rPr lang="zh-CN" altLang="en-US" sz="2200" kern="1200" dirty="0">
              <a:latin typeface="+mn-lt"/>
              <a:ea typeface="+mn-ea"/>
              <a:cs typeface="+mn-ea"/>
              <a:sym typeface="+mn-lt"/>
            </a:rPr>
            <a:t>排序运算</a:t>
          </a:r>
        </a:p>
      </dsp:txBody>
      <dsp:txXfrm>
        <a:off x="3108570" y="5856791"/>
        <a:ext cx="1807790" cy="551155"/>
      </dsp:txXfrm>
    </dsp:sp>
  </dsp:spTree>
</dsp:drawing>
</file>

<file path=ppt/diagrams/layout1.xml><?xml version="1.0" encoding="utf-8"?>
<dgm:layoutDef xmlns:dgm="http://schemas.openxmlformats.org/drawingml/2006/diagram" xmlns:a="http://schemas.openxmlformats.org/drawingml/2006/main" uniqueId="urn:microsoft.com/office/officeart/2008/layout/HorizontalMultiLevelHierarchy#1">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endSty" val="noArr"/>
                        <dgm:param type="connRout" val="bend"/>
                        <dgm:param type="begPts" val="midR"/>
                        <dgm:param type="endPts" val="midL"/>
                      </dgm:alg>
                    </dgm:if>
                    <dgm:else name="Name18">
                      <dgm:alg type="conn">
                        <dgm:param type="dim" val="1D"/>
                        <dgm:param type="endSty" val="noArr"/>
                        <dgm:param type="connRout" val="bend"/>
                        <dgm:param type="begPts" val="midL"/>
                        <dgm:param type="endPts" val="midR"/>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drawings/_rels/vmlDrawing1.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6.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8.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11.wmf"/><Relationship Id="rId1" Type="http://schemas.openxmlformats.org/officeDocument/2006/relationships/image" Target="../media/image10.wmf"/></Relationships>
</file>

<file path=ppt/drawings/_rels/vmlDrawing5.vml.rels><?xml version="1.0" encoding="UTF-8" standalone="yes"?>
<Relationships xmlns="http://schemas.openxmlformats.org/package/2006/relationships"><Relationship Id="rId2" Type="http://schemas.openxmlformats.org/officeDocument/2006/relationships/image" Target="../media/image13.wmf"/><Relationship Id="rId1" Type="http://schemas.openxmlformats.org/officeDocument/2006/relationships/image" Target="../media/image12.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image" Target="../media/image15.wmf"/><Relationship Id="rId1" Type="http://schemas.openxmlformats.org/officeDocument/2006/relationships/image" Target="../media/image14.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19.wmf"/><Relationship Id="rId1" Type="http://schemas.openxmlformats.org/officeDocument/2006/relationships/image" Target="../media/image18.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21.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22.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5.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26.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36.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2971800" cy="457200"/>
          </a:xfrm>
          <a:prstGeom prst="rect">
            <a:avLst/>
          </a:prstGeom>
          <a:noFill/>
          <a:ln w="9525">
            <a:noFill/>
            <a:miter lim="800000"/>
          </a:ln>
        </p:spPr>
        <p:txBody>
          <a:bodyPr vert="horz" wrap="square" lIns="91440" tIns="45720" rIns="91440" bIns="45720" numCol="1" anchor="t" anchorCtr="0" compatLnSpc="1"/>
          <a:lstStyle>
            <a:lvl1pPr eaLnBrk="1" hangingPunct="1">
              <a:spcBef>
                <a:spcPct val="0"/>
              </a:spcBef>
              <a:buFontTx/>
              <a:buNone/>
              <a:defRPr kumimoji="1" sz="1200" b="0">
                <a:ea typeface="仿宋_GB2312" pitchFamily="49" charset="-122"/>
                <a:cs typeface="+mn-cs"/>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3075" name="Rectangle 3"/>
          <p:cNvSpPr>
            <a:spLocks noGrp="1" noChangeArrowheads="1"/>
          </p:cNvSpPr>
          <p:nvPr>
            <p:ph type="dt" sz="quarter" idx="1"/>
          </p:nvPr>
        </p:nvSpPr>
        <p:spPr bwMode="auto">
          <a:xfrm>
            <a:off x="3886200" y="0"/>
            <a:ext cx="2971800" cy="457200"/>
          </a:xfrm>
          <a:prstGeom prst="rect">
            <a:avLst/>
          </a:prstGeom>
          <a:noFill/>
          <a:ln w="9525">
            <a:noFill/>
            <a:miter lim="800000"/>
          </a:ln>
        </p:spPr>
        <p:txBody>
          <a:bodyPr vert="horz" wrap="square" lIns="91440" tIns="45720" rIns="91440" bIns="45720" numCol="1" anchor="t" anchorCtr="0" compatLnSpc="1"/>
          <a:lstStyle>
            <a:lvl1pPr algn="r" eaLnBrk="1" hangingPunct="1">
              <a:spcBef>
                <a:spcPct val="0"/>
              </a:spcBef>
              <a:buFontTx/>
              <a:buNone/>
              <a:defRPr kumimoji="1" sz="1200" b="0">
                <a:ea typeface="仿宋_GB2312" pitchFamily="49" charset="-122"/>
                <a:cs typeface="+mn-cs"/>
              </a:defRPr>
            </a:lvl1p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3076" name="Rectangle 4"/>
          <p:cNvSpPr>
            <a:spLocks noGrp="1" noChangeArrowheads="1"/>
          </p:cNvSpPr>
          <p:nvPr>
            <p:ph type="ftr" sz="quarter" idx="2"/>
          </p:nvPr>
        </p:nvSpPr>
        <p:spPr bwMode="auto">
          <a:xfrm>
            <a:off x="0" y="8686800"/>
            <a:ext cx="2971800" cy="457200"/>
          </a:xfrm>
          <a:prstGeom prst="rect">
            <a:avLst/>
          </a:prstGeom>
          <a:noFill/>
          <a:ln w="9525">
            <a:noFill/>
            <a:miter lim="800000"/>
          </a:ln>
        </p:spPr>
        <p:txBody>
          <a:bodyPr vert="horz" wrap="square" lIns="91440" tIns="45720" rIns="91440" bIns="45720" numCol="1" anchor="b" anchorCtr="0" compatLnSpc="1"/>
          <a:lstStyle>
            <a:lvl1pPr eaLnBrk="1" hangingPunct="1">
              <a:spcBef>
                <a:spcPct val="0"/>
              </a:spcBef>
              <a:buFontTx/>
              <a:buNone/>
              <a:defRPr kumimoji="1" sz="1200" b="0">
                <a:ea typeface="仿宋_GB2312" pitchFamily="49" charset="-122"/>
                <a:cs typeface="+mn-cs"/>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3077" name="Rectangle 5"/>
          <p:cNvSpPr>
            <a:spLocks noGrp="1" noChangeArrowheads="1"/>
          </p:cNvSpPr>
          <p:nvPr>
            <p:ph type="sldNum" sz="quarter" idx="3"/>
          </p:nvPr>
        </p:nvSpPr>
        <p:spPr bwMode="auto">
          <a:xfrm>
            <a:off x="3886200" y="8686800"/>
            <a:ext cx="2971800" cy="457200"/>
          </a:xfrm>
          <a:prstGeom prst="rect">
            <a:avLst/>
          </a:prstGeom>
          <a:noFill/>
          <a:ln w="9525">
            <a:noFill/>
            <a:miter lim="800000"/>
          </a:ln>
        </p:spPr>
        <p:txBody>
          <a:bodyPr vert="horz" wrap="square" lIns="91440" tIns="45720" rIns="91440" bIns="45720" numCol="1" anchor="b" anchorCtr="0" compatLnSpc="1"/>
          <a:lstStyle/>
          <a:p>
            <a:pPr lvl="0" algn="r" eaLnBrk="1" hangingPunct="1">
              <a:buNone/>
            </a:pPr>
            <a:fld id="{9A0DB2DC-4C9A-4742-B13C-FB6460FD3503}" type="slidenum">
              <a:rPr lang="en-US" altLang="zh-CN" sz="1200" b="0" dirty="0">
                <a:ea typeface="仿宋_GB2312" pitchFamily="49" charset="-122"/>
              </a:rPr>
              <a:t>‹#›</a:t>
            </a:fld>
            <a:endParaRPr lang="en-US" altLang="zh-CN" sz="1200" b="0" dirty="0">
              <a:ea typeface="仿宋_GB2312" pitchFamily="49" charset="-122"/>
            </a:endParaRPr>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hdr" sz="quarter"/>
          </p:nvPr>
        </p:nvSpPr>
        <p:spPr bwMode="auto">
          <a:xfrm>
            <a:off x="0" y="0"/>
            <a:ext cx="2971800" cy="457200"/>
          </a:xfrm>
          <a:prstGeom prst="rect">
            <a:avLst/>
          </a:prstGeom>
          <a:noFill/>
          <a:ln w="9525">
            <a:noFill/>
            <a:miter lim="800000"/>
          </a:ln>
        </p:spPr>
        <p:txBody>
          <a:bodyPr vert="horz" wrap="square" lIns="91440" tIns="45720" rIns="91440" bIns="45720" numCol="1" anchor="t" anchorCtr="0" compatLnSpc="1"/>
          <a:lstStyle>
            <a:lvl1pPr eaLnBrk="1" hangingPunct="1">
              <a:spcBef>
                <a:spcPct val="0"/>
              </a:spcBef>
              <a:buFontTx/>
              <a:buNone/>
              <a:defRPr kumimoji="1" sz="1200" b="0">
                <a:ea typeface="仿宋_GB2312" pitchFamily="49" charset="-122"/>
                <a:cs typeface="+mn-cs"/>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2051" name="Rectangle 3"/>
          <p:cNvSpPr>
            <a:spLocks noGrp="1" noChangeArrowheads="1"/>
          </p:cNvSpPr>
          <p:nvPr>
            <p:ph type="dt" idx="1"/>
          </p:nvPr>
        </p:nvSpPr>
        <p:spPr bwMode="auto">
          <a:xfrm>
            <a:off x="3886200" y="0"/>
            <a:ext cx="2971800" cy="457200"/>
          </a:xfrm>
          <a:prstGeom prst="rect">
            <a:avLst/>
          </a:prstGeom>
          <a:noFill/>
          <a:ln w="9525">
            <a:noFill/>
            <a:miter lim="800000"/>
          </a:ln>
        </p:spPr>
        <p:txBody>
          <a:bodyPr vert="horz" wrap="square" lIns="91440" tIns="45720" rIns="91440" bIns="45720" numCol="1" anchor="t" anchorCtr="0" compatLnSpc="1"/>
          <a:lstStyle>
            <a:lvl1pPr algn="r" eaLnBrk="1" hangingPunct="1">
              <a:spcBef>
                <a:spcPct val="0"/>
              </a:spcBef>
              <a:buFontTx/>
              <a:buNone/>
              <a:defRPr kumimoji="1" sz="1200" b="0">
                <a:ea typeface="仿宋_GB2312" pitchFamily="49" charset="-122"/>
                <a:cs typeface="+mn-cs"/>
              </a:defRPr>
            </a:lvl1p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2292" name="Rectangle 4"/>
          <p:cNvSpPr>
            <a:spLocks noGrp="1" noRot="1" noChangeAspect="1"/>
          </p:cNvSpPr>
          <p:nvPr>
            <p:ph type="sldImg"/>
          </p:nvPr>
        </p:nvSpPr>
        <p:spPr>
          <a:xfrm>
            <a:off x="1143000" y="685800"/>
            <a:ext cx="4572000" cy="3429000"/>
          </a:xfrm>
          <a:prstGeom prst="rect">
            <a:avLst/>
          </a:prstGeom>
          <a:noFill/>
          <a:ln w="9525" cap="flat" cmpd="sng">
            <a:solidFill>
              <a:srgbClr val="000000"/>
            </a:solidFill>
            <a:prstDash val="solid"/>
            <a:miter/>
            <a:headEnd type="none" w="med" len="med"/>
            <a:tailEnd type="none" w="med" len="med"/>
          </a:ln>
        </p:spPr>
      </p:sp>
      <p:sp>
        <p:nvSpPr>
          <p:cNvPr id="2053" name="Rectangle 5"/>
          <p:cNvSpPr>
            <a:spLocks noGrp="1" noChangeArrowheads="1"/>
          </p:cNvSpPr>
          <p:nvPr>
            <p:ph type="body" sz="quarter" idx="3"/>
          </p:nvPr>
        </p:nvSpPr>
        <p:spPr bwMode="auto">
          <a:xfrm>
            <a:off x="914400" y="4343400"/>
            <a:ext cx="5029200" cy="4114800"/>
          </a:xfrm>
          <a:prstGeom prst="rect">
            <a:avLst/>
          </a:prstGeom>
          <a:noFill/>
          <a:ln w="9525">
            <a:no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单击以编辑母版文本样式</a:t>
            </a:r>
          </a:p>
          <a:p>
            <a:pPr marL="457200" marR="0" lvl="1"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第二级</a:t>
            </a:r>
          </a:p>
          <a:p>
            <a:pPr marL="914400" marR="0" lvl="2"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第三级</a:t>
            </a:r>
          </a:p>
          <a:p>
            <a:pPr marL="1371600" marR="0" lvl="3"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第四级</a:t>
            </a:r>
          </a:p>
          <a:p>
            <a:pPr marL="1828800" marR="0" lvl="4"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第五级</a:t>
            </a:r>
          </a:p>
        </p:txBody>
      </p:sp>
      <p:sp>
        <p:nvSpPr>
          <p:cNvPr id="2054" name="Rectangle 6"/>
          <p:cNvSpPr>
            <a:spLocks noGrp="1" noChangeArrowheads="1"/>
          </p:cNvSpPr>
          <p:nvPr>
            <p:ph type="ftr" sz="quarter" idx="4"/>
          </p:nvPr>
        </p:nvSpPr>
        <p:spPr bwMode="auto">
          <a:xfrm>
            <a:off x="0" y="8686800"/>
            <a:ext cx="2971800" cy="457200"/>
          </a:xfrm>
          <a:prstGeom prst="rect">
            <a:avLst/>
          </a:prstGeom>
          <a:noFill/>
          <a:ln w="9525">
            <a:noFill/>
            <a:miter lim="800000"/>
          </a:ln>
        </p:spPr>
        <p:txBody>
          <a:bodyPr vert="horz" wrap="square" lIns="91440" tIns="45720" rIns="91440" bIns="45720" numCol="1" anchor="b" anchorCtr="0" compatLnSpc="1"/>
          <a:lstStyle>
            <a:lvl1pPr eaLnBrk="1" hangingPunct="1">
              <a:spcBef>
                <a:spcPct val="0"/>
              </a:spcBef>
              <a:buFontTx/>
              <a:buNone/>
              <a:defRPr kumimoji="1" sz="1200" b="0">
                <a:ea typeface="仿宋_GB2312" pitchFamily="49" charset="-122"/>
                <a:cs typeface="+mn-cs"/>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2055" name="Rectangle 7"/>
          <p:cNvSpPr>
            <a:spLocks noGrp="1" noChangeArrowheads="1"/>
          </p:cNvSpPr>
          <p:nvPr>
            <p:ph type="sldNum" sz="quarter" idx="5"/>
          </p:nvPr>
        </p:nvSpPr>
        <p:spPr bwMode="auto">
          <a:xfrm>
            <a:off x="3886200" y="8686800"/>
            <a:ext cx="2971800" cy="457200"/>
          </a:xfrm>
          <a:prstGeom prst="rect">
            <a:avLst/>
          </a:prstGeom>
          <a:noFill/>
          <a:ln w="9525">
            <a:noFill/>
            <a:miter lim="800000"/>
          </a:ln>
        </p:spPr>
        <p:txBody>
          <a:bodyPr vert="horz" wrap="square" lIns="91440" tIns="45720" rIns="91440" bIns="45720" numCol="1" anchor="b" anchorCtr="0" compatLnSpc="1"/>
          <a:lstStyle/>
          <a:p>
            <a:pPr lvl="0" algn="r" eaLnBrk="1" hangingPunct="1">
              <a:buNone/>
            </a:pPr>
            <a:fld id="{9A0DB2DC-4C9A-4742-B13C-FB6460FD3503}" type="slidenum">
              <a:rPr lang="en-US" altLang="zh-CN" sz="1200" b="0" dirty="0">
                <a:ea typeface="仿宋_GB2312" pitchFamily="49" charset="-122"/>
              </a:rPr>
              <a:t>‹#›</a:t>
            </a:fld>
            <a:endParaRPr lang="en-US" altLang="zh-CN" sz="1200" b="0" dirty="0">
              <a:ea typeface="仿宋_GB2312" pitchFamily="49" charset="-122"/>
            </a:endParaRPr>
          </a:p>
        </p:txBody>
      </p:sp>
    </p:spTree>
    <p:extLst>
      <p:ext uri="{BB962C8B-B14F-4D97-AF65-F5344CB8AC3E}">
        <p14:creationId xmlns:p14="http://schemas.microsoft.com/office/powerpoint/2010/main" val="2682041321"/>
      </p:ext>
    </p:extLst>
  </p:cSld>
  <p:clrMap bg1="lt1" tx1="dk1" bg2="lt2" tx2="dk2" accent1="accent1" accent2="accent2" accent3="accent3" accent4="accent4" accent5="accent5" accent6="accent6" hlink="hlink" folHlink="folHlink"/>
  <p:hf sldNum="0" hdr="0" ftr="0" dt="0"/>
  <p:notesStyle>
    <a:lvl1pPr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1pPr>
    <a:lvl2pPr marL="4572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2pPr>
    <a:lvl3pPr marL="9144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3pPr>
    <a:lvl4pPr marL="13716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4pPr>
    <a:lvl5pPr marL="18288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7"/>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solidFill>
                  <a:srgbClr val="000000"/>
                </a:solidFill>
                <a:ea typeface="宋体" panose="02010600030101010101" pitchFamily="2" charset="-122"/>
              </a:rPr>
              <a:t>1</a:t>
            </a:fld>
            <a:endParaRPr lang="en-US" altLang="zh-CN" sz="1200" b="0" dirty="0">
              <a:solidFill>
                <a:srgbClr val="000000"/>
              </a:solidFill>
              <a:ea typeface="宋体" panose="02010600030101010101" pitchFamily="2" charset="-122"/>
            </a:endParaRPr>
          </a:p>
        </p:txBody>
      </p:sp>
      <p:sp>
        <p:nvSpPr>
          <p:cNvPr id="15363" name="Rectangle 2"/>
          <p:cNvSpPr>
            <a:spLocks noGrp="1" noRot="1" noChangeAspect="1" noTextEdit="1"/>
          </p:cNvSpPr>
          <p:nvPr>
            <p:ph type="sldImg"/>
          </p:nvPr>
        </p:nvSpPr>
        <p:spPr/>
      </p:sp>
      <p:sp>
        <p:nvSpPr>
          <p:cNvPr id="15364" name="Rectangle 3"/>
          <p:cNvSpPr>
            <a:spLocks noGrp="1"/>
          </p:cNvSpPr>
          <p:nvPr>
            <p:ph type="body"/>
          </p:nvPr>
        </p:nvSpPr>
        <p:spPr/>
        <p:txBody>
          <a:bodyPr wrap="square" lIns="91440" tIns="45720" rIns="91440" bIns="45720" anchor="t" anchorCtr="0"/>
          <a:lstStyle/>
          <a:p>
            <a:pPr lvl="0"/>
            <a:endParaRPr lang="zh-CN" altLang="zh-CN"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solidFill>
                  <a:srgbClr val="000000"/>
                </a:solidFill>
                <a:ea typeface="宋体" panose="02010600030101010101" pitchFamily="2" charset="-122"/>
              </a:rPr>
              <a:t>3</a:t>
            </a:fld>
            <a:endParaRPr lang="en-US" altLang="zh-CN" sz="1200" b="0" dirty="0">
              <a:solidFill>
                <a:srgbClr val="000000"/>
              </a:solidFill>
              <a:ea typeface="宋体" panose="02010600030101010101" pitchFamily="2" charset="-122"/>
            </a:endParaRPr>
          </a:p>
        </p:txBody>
      </p:sp>
      <p:sp>
        <p:nvSpPr>
          <p:cNvPr id="18435" name="Rectangle 2"/>
          <p:cNvSpPr>
            <a:spLocks noGrp="1" noRot="1" noChangeAspect="1" noTextEdit="1"/>
          </p:cNvSpPr>
          <p:nvPr>
            <p:ph type="sldImg"/>
          </p:nvPr>
        </p:nvSpPr>
        <p:spPr/>
      </p:sp>
      <p:sp>
        <p:nvSpPr>
          <p:cNvPr id="18436" name="Rectangle 3"/>
          <p:cNvSpPr>
            <a:spLocks noGrp="1"/>
          </p:cNvSpPr>
          <p:nvPr>
            <p:ph type="body"/>
          </p:nvPr>
        </p:nvSpPr>
        <p:spPr/>
        <p:txBody>
          <a:bodyPr wrap="square" lIns="91440" tIns="45720" rIns="91440" bIns="45720" anchor="t" anchorCtr="0"/>
          <a:lstStyle/>
          <a:p>
            <a:pPr lvl="0"/>
            <a:endParaRPr lang="zh-CN" altLang="zh-CN"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5"/>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ea typeface="仿宋_GB2312" pitchFamily="49" charset="-122"/>
              </a:rPr>
              <a:t>107</a:t>
            </a:fld>
            <a:endParaRPr lang="en-US" altLang="zh-CN" sz="1200" b="0" dirty="0">
              <a:ea typeface="仿宋_GB2312" pitchFamily="49" charset="-122"/>
            </a:endParaRPr>
          </a:p>
        </p:txBody>
      </p:sp>
      <p:sp>
        <p:nvSpPr>
          <p:cNvPr id="114691" name="Rectangle 2"/>
          <p:cNvSpPr>
            <a:spLocks noGrp="1" noRot="1" noChangeAspect="1" noTextEdit="1"/>
          </p:cNvSpPr>
          <p:nvPr>
            <p:ph type="sldImg"/>
          </p:nvPr>
        </p:nvSpPr>
        <p:spPr>
          <a:xfrm>
            <a:off x="765175" y="384175"/>
            <a:ext cx="5514975" cy="4137025"/>
          </a:xfrm>
        </p:spPr>
      </p:sp>
      <p:sp>
        <p:nvSpPr>
          <p:cNvPr id="114692" name="Rectangle 3"/>
          <p:cNvSpPr>
            <a:spLocks noGrp="1"/>
          </p:cNvSpPr>
          <p:nvPr>
            <p:ph type="body"/>
          </p:nvPr>
        </p:nvSpPr>
        <p:spPr/>
        <p:txBody>
          <a:bodyPr wrap="square" lIns="91440" tIns="45720" rIns="91440" bIns="45720" anchor="t" anchorCtr="0"/>
          <a:lstStyle/>
          <a:p>
            <a:pPr lvl="0"/>
            <a:endParaRPr lang="zh-CN" altLang="zh-CN"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5"/>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ea typeface="仿宋_GB2312" pitchFamily="49" charset="-122"/>
              </a:rPr>
              <a:t>108</a:t>
            </a:fld>
            <a:endParaRPr lang="en-US" altLang="zh-CN" sz="1200" b="0" dirty="0">
              <a:ea typeface="仿宋_GB2312" pitchFamily="49" charset="-122"/>
            </a:endParaRPr>
          </a:p>
        </p:txBody>
      </p:sp>
      <p:sp>
        <p:nvSpPr>
          <p:cNvPr id="116739" name="Rectangle 2"/>
          <p:cNvSpPr>
            <a:spLocks noGrp="1" noRot="1" noChangeAspect="1" noTextEdit="1"/>
          </p:cNvSpPr>
          <p:nvPr>
            <p:ph type="sldImg"/>
          </p:nvPr>
        </p:nvSpPr>
        <p:spPr>
          <a:xfrm>
            <a:off x="765175" y="384175"/>
            <a:ext cx="5514975" cy="4137025"/>
          </a:xfrm>
        </p:spPr>
      </p:sp>
      <p:sp>
        <p:nvSpPr>
          <p:cNvPr id="116740" name="Rectangle 3"/>
          <p:cNvSpPr>
            <a:spLocks noGrp="1"/>
          </p:cNvSpPr>
          <p:nvPr>
            <p:ph type="body"/>
          </p:nvPr>
        </p:nvSpPr>
        <p:spPr/>
        <p:txBody>
          <a:bodyPr wrap="square" lIns="91440" tIns="45720" rIns="91440" bIns="45720" anchor="t" anchorCtr="0"/>
          <a:lstStyle/>
          <a:p>
            <a:pPr lvl="0"/>
            <a:endParaRPr lang="zh-CN" altLang="zh-CN"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5"/>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ea typeface="仿宋_GB2312" pitchFamily="49" charset="-122"/>
              </a:rPr>
              <a:t>109</a:t>
            </a:fld>
            <a:endParaRPr lang="en-US" altLang="zh-CN" sz="1200" b="0" dirty="0">
              <a:ea typeface="仿宋_GB2312" pitchFamily="49" charset="-122"/>
            </a:endParaRPr>
          </a:p>
        </p:txBody>
      </p:sp>
      <p:sp>
        <p:nvSpPr>
          <p:cNvPr id="118787" name="Rectangle 2"/>
          <p:cNvSpPr>
            <a:spLocks noGrp="1" noRot="1" noChangeAspect="1" noTextEdit="1"/>
          </p:cNvSpPr>
          <p:nvPr>
            <p:ph type="sldImg"/>
          </p:nvPr>
        </p:nvSpPr>
        <p:spPr>
          <a:xfrm>
            <a:off x="765175" y="384175"/>
            <a:ext cx="5514975" cy="4137025"/>
          </a:xfrm>
        </p:spPr>
      </p:sp>
      <p:sp>
        <p:nvSpPr>
          <p:cNvPr id="118788" name="Rectangle 3"/>
          <p:cNvSpPr>
            <a:spLocks noGrp="1"/>
          </p:cNvSpPr>
          <p:nvPr>
            <p:ph type="body"/>
          </p:nvPr>
        </p:nvSpPr>
        <p:spPr/>
        <p:txBody>
          <a:bodyPr wrap="square" lIns="91440" tIns="45720" rIns="91440" bIns="45720" anchor="t" anchorCtr="0"/>
          <a:lstStyle/>
          <a:p>
            <a:pPr lvl="0"/>
            <a:endParaRPr lang="zh-CN" altLang="zh-CN"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Rectangle 2"/>
          <p:cNvSpPr>
            <a:spLocks noGrp="1" noRot="1" noChangeAspect="1" noTextEdit="1"/>
          </p:cNvSpPr>
          <p:nvPr>
            <p:ph type="sldImg"/>
          </p:nvPr>
        </p:nvSpPr>
        <p:spPr>
          <a:xfrm>
            <a:off x="765175" y="384175"/>
            <a:ext cx="5516563" cy="4137025"/>
          </a:xfrm>
        </p:spPr>
      </p:sp>
      <p:sp>
        <p:nvSpPr>
          <p:cNvPr id="191491"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2"/>
          <p:cNvSpPr>
            <a:spLocks noGrp="1" noRot="1" noChangeAspect="1" noTextEdit="1"/>
          </p:cNvSpPr>
          <p:nvPr>
            <p:ph type="sldImg"/>
          </p:nvPr>
        </p:nvSpPr>
        <p:spPr>
          <a:xfrm>
            <a:off x="765175" y="384175"/>
            <a:ext cx="5516563" cy="4137025"/>
          </a:xfrm>
        </p:spPr>
      </p:sp>
      <p:sp>
        <p:nvSpPr>
          <p:cNvPr id="194563"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2"/>
          <p:cNvSpPr>
            <a:spLocks noGrp="1" noRot="1" noChangeAspect="1" noTextEdit="1"/>
          </p:cNvSpPr>
          <p:nvPr>
            <p:ph type="sldImg"/>
          </p:nvPr>
        </p:nvSpPr>
        <p:spPr>
          <a:xfrm>
            <a:off x="765175" y="384175"/>
            <a:ext cx="5516563" cy="4137025"/>
          </a:xfrm>
        </p:spPr>
      </p:sp>
      <p:sp>
        <p:nvSpPr>
          <p:cNvPr id="196611"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Grp="1" noRot="1" noChangeAspect="1" noTextEdit="1"/>
          </p:cNvSpPr>
          <p:nvPr>
            <p:ph type="sldImg"/>
          </p:nvPr>
        </p:nvSpPr>
        <p:spPr>
          <a:xfrm>
            <a:off x="765175" y="384175"/>
            <a:ext cx="5516563" cy="4137025"/>
          </a:xfrm>
        </p:spPr>
      </p:sp>
      <p:sp>
        <p:nvSpPr>
          <p:cNvPr id="198659"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2"/>
          <p:cNvSpPr>
            <a:spLocks noGrp="1" noRot="1" noChangeAspect="1" noTextEdit="1"/>
          </p:cNvSpPr>
          <p:nvPr>
            <p:ph type="sldImg"/>
          </p:nvPr>
        </p:nvSpPr>
        <p:spPr>
          <a:xfrm>
            <a:off x="765175" y="384175"/>
            <a:ext cx="5516563" cy="4137025"/>
          </a:xfrm>
        </p:spPr>
      </p:sp>
      <p:sp>
        <p:nvSpPr>
          <p:cNvPr id="200707"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2"/>
          <p:cNvSpPr>
            <a:spLocks noGrp="1" noRot="1" noChangeAspect="1" noTextEdit="1"/>
          </p:cNvSpPr>
          <p:nvPr>
            <p:ph type="sldImg"/>
          </p:nvPr>
        </p:nvSpPr>
        <p:spPr>
          <a:xfrm>
            <a:off x="765175" y="384175"/>
            <a:ext cx="5516563" cy="4137025"/>
          </a:xfrm>
        </p:spPr>
      </p:sp>
      <p:sp>
        <p:nvSpPr>
          <p:cNvPr id="202755"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p:cNvSpPr>
            <a:spLocks noGrp="1" noRot="1" noChangeAspect="1" noTextEdit="1"/>
          </p:cNvSpPr>
          <p:nvPr>
            <p:ph type="sldImg"/>
          </p:nvPr>
        </p:nvSpPr>
        <p:spPr>
          <a:xfrm>
            <a:off x="765175" y="384175"/>
            <a:ext cx="5516563" cy="4137025"/>
          </a:xfrm>
        </p:spPr>
      </p:sp>
      <p:sp>
        <p:nvSpPr>
          <p:cNvPr id="207875"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Rot="1" noChangeAspect="1" noTextEdit="1"/>
          </p:cNvSpPr>
          <p:nvPr>
            <p:ph type="sldImg"/>
          </p:nvPr>
        </p:nvSpPr>
        <p:spPr>
          <a:xfrm>
            <a:off x="765175" y="384175"/>
            <a:ext cx="5516563" cy="4137025"/>
          </a:xfrm>
        </p:spPr>
      </p:sp>
      <p:sp>
        <p:nvSpPr>
          <p:cNvPr id="237571"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2"/>
          <p:cNvSpPr>
            <a:spLocks noGrp="1" noRot="1" noChangeAspect="1" noTextEdit="1"/>
          </p:cNvSpPr>
          <p:nvPr>
            <p:ph type="sldImg"/>
          </p:nvPr>
        </p:nvSpPr>
        <p:spPr>
          <a:xfrm>
            <a:off x="765175" y="384175"/>
            <a:ext cx="5516563" cy="4137025"/>
          </a:xfrm>
        </p:spPr>
      </p:sp>
      <p:sp>
        <p:nvSpPr>
          <p:cNvPr id="245763"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2"/>
          <p:cNvSpPr>
            <a:spLocks noGrp="1" noRot="1" noChangeAspect="1" noTextEdit="1"/>
          </p:cNvSpPr>
          <p:nvPr>
            <p:ph type="sldImg"/>
          </p:nvPr>
        </p:nvSpPr>
        <p:spPr>
          <a:xfrm>
            <a:off x="765175" y="384175"/>
            <a:ext cx="5516563" cy="4137025"/>
          </a:xfrm>
        </p:spPr>
      </p:sp>
      <p:sp>
        <p:nvSpPr>
          <p:cNvPr id="247811"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2"/>
          <p:cNvSpPr>
            <a:spLocks noGrp="1" noRot="1" noChangeAspect="1" noTextEdit="1"/>
          </p:cNvSpPr>
          <p:nvPr>
            <p:ph type="sldImg"/>
          </p:nvPr>
        </p:nvSpPr>
        <p:spPr>
          <a:xfrm>
            <a:off x="765175" y="384175"/>
            <a:ext cx="5516563" cy="4137025"/>
          </a:xfrm>
        </p:spPr>
      </p:sp>
      <p:sp>
        <p:nvSpPr>
          <p:cNvPr id="249859"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2"/>
          <p:cNvSpPr>
            <a:spLocks noGrp="1" noRot="1" noChangeAspect="1" noTextEdit="1"/>
          </p:cNvSpPr>
          <p:nvPr>
            <p:ph type="sldImg"/>
          </p:nvPr>
        </p:nvSpPr>
        <p:spPr>
          <a:xfrm>
            <a:off x="765175" y="384175"/>
            <a:ext cx="5516563" cy="4137025"/>
          </a:xfrm>
        </p:spPr>
      </p:sp>
      <p:sp>
        <p:nvSpPr>
          <p:cNvPr id="251907"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p:cNvSpPr>
            <a:spLocks noGrp="1" noRot="1" noChangeAspect="1" noTextEdit="1"/>
          </p:cNvSpPr>
          <p:nvPr>
            <p:ph type="sldImg"/>
          </p:nvPr>
        </p:nvSpPr>
        <p:spPr>
          <a:xfrm>
            <a:off x="765175" y="384175"/>
            <a:ext cx="5516563" cy="4137025"/>
          </a:xfrm>
        </p:spPr>
      </p:sp>
      <p:sp>
        <p:nvSpPr>
          <p:cNvPr id="253955"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2"/>
          <p:cNvSpPr>
            <a:spLocks noGrp="1" noRot="1" noChangeAspect="1" noTextEdit="1"/>
          </p:cNvSpPr>
          <p:nvPr>
            <p:ph type="sldImg"/>
          </p:nvPr>
        </p:nvSpPr>
        <p:spPr>
          <a:xfrm>
            <a:off x="765175" y="384175"/>
            <a:ext cx="5516563" cy="4137025"/>
          </a:xfrm>
        </p:spPr>
      </p:sp>
      <p:sp>
        <p:nvSpPr>
          <p:cNvPr id="257027"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2"/>
          <p:cNvSpPr>
            <a:spLocks noGrp="1" noRot="1" noChangeAspect="1" noTextEdit="1"/>
          </p:cNvSpPr>
          <p:nvPr>
            <p:ph type="sldImg"/>
          </p:nvPr>
        </p:nvSpPr>
        <p:spPr>
          <a:xfrm>
            <a:off x="765175" y="384175"/>
            <a:ext cx="5516563" cy="4137025"/>
          </a:xfrm>
        </p:spPr>
      </p:sp>
      <p:sp>
        <p:nvSpPr>
          <p:cNvPr id="259075"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2"/>
          <p:cNvSpPr>
            <a:spLocks noGrp="1" noRot="1" noChangeAspect="1" noTextEdit="1"/>
          </p:cNvSpPr>
          <p:nvPr>
            <p:ph type="sldImg"/>
          </p:nvPr>
        </p:nvSpPr>
        <p:spPr>
          <a:xfrm>
            <a:off x="765175" y="384175"/>
            <a:ext cx="5516563" cy="4137025"/>
          </a:xfrm>
        </p:spPr>
      </p:sp>
      <p:sp>
        <p:nvSpPr>
          <p:cNvPr id="261123" name="Rectangle 3"/>
          <p:cNvSpPr>
            <a:spLocks noGrp="1"/>
          </p:cNvSpPr>
          <p:nvPr>
            <p:ph type="body"/>
          </p:nvPr>
        </p:nvSpPr>
        <p:spPr>
          <a:xfrm>
            <a:off x="571500" y="5408613"/>
            <a:ext cx="5905500" cy="3295650"/>
          </a:xfrm>
          <a:solidFill>
            <a:srgbClr val="FFFFFF">
              <a:alpha val="100000"/>
            </a:srgbClr>
          </a:solidFill>
          <a:ln>
            <a:solidFill>
              <a:srgbClr val="000000">
                <a:alpha val="100000"/>
              </a:srgbClr>
            </a:solidFill>
            <a:miter/>
          </a:ln>
        </p:spPr>
        <p:txBody>
          <a:bodyPr wrap="square" lIns="91440" tIns="45720" rIns="91440" bIns="45720" anchor="t" anchorCtr="0"/>
          <a:lstStyle/>
          <a:p>
            <a:pPr lvl="0"/>
            <a:endParaRPr lang="zh-CN" altLang="en-US" dirty="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7"/>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ea typeface="宋体" panose="02010600030101010101" pitchFamily="2" charset="-122"/>
              </a:rPr>
              <a:t>261</a:t>
            </a:fld>
            <a:endParaRPr lang="en-US" altLang="zh-CN" sz="1200" b="0" dirty="0">
              <a:ea typeface="宋体" panose="02010600030101010101" pitchFamily="2" charset="-122"/>
            </a:endParaRPr>
          </a:p>
        </p:txBody>
      </p:sp>
      <p:sp>
        <p:nvSpPr>
          <p:cNvPr id="269315" name="Rectangle 2"/>
          <p:cNvSpPr>
            <a:spLocks noGrp="1" noRot="1" noChangeAspect="1" noTextEdit="1"/>
          </p:cNvSpPr>
          <p:nvPr>
            <p:ph type="sldImg"/>
          </p:nvPr>
        </p:nvSpPr>
        <p:spPr/>
      </p:sp>
      <p:sp>
        <p:nvSpPr>
          <p:cNvPr id="269316" name="Rectangle 3"/>
          <p:cNvSpPr>
            <a:spLocks noGrp="1"/>
          </p:cNvSpPr>
          <p:nvPr>
            <p:ph type="body"/>
          </p:nvPr>
        </p:nvSpPr>
        <p:spPr/>
        <p:txBody>
          <a:bodyPr wrap="square" lIns="91440" tIns="45720" rIns="91440" bIns="45720" anchor="t" anchorCtr="0"/>
          <a:lstStyle/>
          <a:p>
            <a:pPr lvl="0"/>
            <a:endParaRPr lang="zh-CN" altLang="zh-CN"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标题幻灯片">
    <p:bg>
      <p:bgPr>
        <a:solidFill>
          <a:schemeClr val="bg1"/>
        </a:solidFill>
        <a:effectLst/>
      </p:bgPr>
    </p:bg>
    <p:spTree>
      <p:nvGrpSpPr>
        <p:cNvPr id="1" name=""/>
        <p:cNvGrpSpPr/>
        <p:nvPr/>
      </p:nvGrpSpPr>
      <p:grpSpPr>
        <a:xfrm>
          <a:off x="0" y="0"/>
          <a:ext cx="0" cy="0"/>
          <a:chOff x="0" y="0"/>
          <a:chExt cx="0" cy="0"/>
        </a:xfrm>
      </p:grpSpPr>
      <p:sp>
        <p:nvSpPr>
          <p:cNvPr id="3074" name="直接连接符 9"/>
          <p:cNvSpPr/>
          <p:nvPr userDrawn="1"/>
        </p:nvSpPr>
        <p:spPr>
          <a:xfrm>
            <a:off x="0" y="6357938"/>
            <a:ext cx="9144000" cy="71437"/>
          </a:xfrm>
          <a:prstGeom prst="line">
            <a:avLst/>
          </a:prstGeom>
          <a:ln w="9525">
            <a:noFill/>
          </a:ln>
        </p:spPr>
      </p:sp>
      <p:sp>
        <p:nvSpPr>
          <p:cNvPr id="16" name="矩形 15"/>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矩形 16"/>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9"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10" name="内容占位符 2"/>
          <p:cNvSpPr>
            <a:spLocks noGrp="1"/>
          </p:cNvSpPr>
          <p:nvPr>
            <p:ph idx="1" hasCustomPrompt="1"/>
          </p:nvPr>
        </p:nvSpPr>
        <p:spPr>
          <a:xfrm>
            <a:off x="496888" y="1116013"/>
            <a:ext cx="8251825" cy="5472112"/>
          </a:xfrm>
        </p:spPr>
        <p:txBody>
          <a:bodyPr/>
          <a:lstStyle/>
          <a:p>
            <a:pPr lvl="0"/>
            <a:r>
              <a:rPr lang="zh-CN" altLang="en-US" noProof="1"/>
              <a:t>编辑母版文本样式</a:t>
            </a:r>
          </a:p>
          <a:p>
            <a:pPr lvl="1"/>
            <a:r>
              <a:rPr lang="zh-CN" altLang="en-US" noProof="1"/>
              <a:t>第二级</a:t>
            </a:r>
          </a:p>
        </p:txBody>
      </p:sp>
      <p:grpSp>
        <p:nvGrpSpPr>
          <p:cNvPr id="18" name="组合 17"/>
          <p:cNvGrpSpPr/>
          <p:nvPr/>
        </p:nvGrpSpPr>
        <p:grpSpPr>
          <a:xfrm>
            <a:off x="115637" y="404664"/>
            <a:ext cx="617410" cy="174607"/>
            <a:chOff x="384175" y="480608"/>
            <a:chExt cx="348872" cy="98663"/>
          </a:xfrm>
          <a:solidFill>
            <a:srgbClr val="76AEDD"/>
          </a:solidFill>
        </p:grpSpPr>
        <p:sp>
          <p:nvSpPr>
            <p:cNvPr id="19" name="等腰三角形 18">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1" name="等腰三角形 20">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2"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3" name="内容占位符 2"/>
          <p:cNvSpPr>
            <a:spLocks noGrp="1"/>
          </p:cNvSpPr>
          <p:nvPr>
            <p:ph idx="1" hasCustomPrompt="1"/>
          </p:nvPr>
        </p:nvSpPr>
        <p:spPr/>
        <p:txBody>
          <a:bodyPr/>
          <a:lstStyle/>
          <a:p>
            <a:pPr lvl="0"/>
            <a:r>
              <a:rPr lang="zh-CN" altLang="en-US" noProof="1"/>
              <a:t>编辑母版文本样式</a:t>
            </a:r>
          </a:p>
          <a:p>
            <a:pPr lvl="1"/>
            <a:r>
              <a:rPr lang="zh-CN" altLang="en-US" noProof="1"/>
              <a:t>第二级</a:t>
            </a:r>
          </a:p>
        </p:txBody>
      </p:sp>
      <p:grpSp>
        <p:nvGrpSpPr>
          <p:cNvPr id="17" name="组合 16"/>
          <p:cNvGrpSpPr/>
          <p:nvPr/>
        </p:nvGrpSpPr>
        <p:grpSpPr>
          <a:xfrm>
            <a:off x="115637" y="404664"/>
            <a:ext cx="617410" cy="174607"/>
            <a:chOff x="384175" y="480608"/>
            <a:chExt cx="348872" cy="98663"/>
          </a:xfrm>
          <a:solidFill>
            <a:srgbClr val="76AEDD"/>
          </a:solidFill>
        </p:grpSpPr>
        <p:sp>
          <p:nvSpPr>
            <p:cNvPr id="18" name="等腰三角形 17">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titleOnly" preserve="1">
  <p:cSld name="仅标题">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2" name="标题 1"/>
          <p:cNvSpPr>
            <a:spLocks noGrp="1"/>
          </p:cNvSpPr>
          <p:nvPr>
            <p:ph type="title"/>
          </p:nvPr>
        </p:nvSpPr>
        <p:spPr/>
        <p:txBody>
          <a:bodyPr/>
          <a:lstStyle/>
          <a:p>
            <a:r>
              <a:rPr lang="zh-CN" altLang="en-US" noProof="1"/>
              <a:t>单击此处编辑母版标题样式</a:t>
            </a:r>
          </a:p>
        </p:txBody>
      </p:sp>
      <p:sp>
        <p:nvSpPr>
          <p:cNvPr id="5125" name="直接连接符 9"/>
          <p:cNvSpPr/>
          <p:nvPr userDrawn="1"/>
        </p:nvSpPr>
        <p:spPr>
          <a:xfrm>
            <a:off x="0" y="6357938"/>
            <a:ext cx="9144000" cy="71437"/>
          </a:xfrm>
          <a:prstGeom prst="line">
            <a:avLst/>
          </a:prstGeom>
          <a:ln w="9525">
            <a:noFill/>
          </a:ln>
        </p:spPr>
      </p:sp>
      <p:grpSp>
        <p:nvGrpSpPr>
          <p:cNvPr id="17" name="组合 16"/>
          <p:cNvGrpSpPr/>
          <p:nvPr/>
        </p:nvGrpSpPr>
        <p:grpSpPr>
          <a:xfrm>
            <a:off x="115637" y="404664"/>
            <a:ext cx="617410" cy="174607"/>
            <a:chOff x="384175" y="480608"/>
            <a:chExt cx="348872" cy="98663"/>
          </a:xfrm>
          <a:solidFill>
            <a:srgbClr val="76AEDD"/>
          </a:solidFill>
        </p:grpSpPr>
        <p:sp>
          <p:nvSpPr>
            <p:cNvPr id="18" name="等腰三角形 17">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a:r>
              <a:rPr lang="zh-CN" altLang="en-US" noProof="1"/>
              <a:t>编辑母版文本样式</a:t>
            </a:r>
          </a:p>
          <a:p>
            <a:pPr lvl="1"/>
            <a:r>
              <a:rPr lang="zh-CN" altLang="en-US" noProof="1"/>
              <a:t>第二级</a:t>
            </a:r>
          </a:p>
        </p:txBody>
      </p:sp>
      <p:grpSp>
        <p:nvGrpSpPr>
          <p:cNvPr id="2" name="组合 16"/>
          <p:cNvGrpSpPr/>
          <p:nvPr/>
        </p:nvGrpSpPr>
        <p:grpSpPr>
          <a:xfrm>
            <a:off x="115637" y="404664"/>
            <a:ext cx="617410" cy="174607"/>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649288" y="609600"/>
            <a:ext cx="7983537" cy="5565775"/>
          </a:xfrm>
          <a:prstGeom prst="rect">
            <a:avLst/>
          </a:prstGeom>
        </p:spPr>
        <p:txBody>
          <a:body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cSld name="1_空白">
    <p:spTree>
      <p:nvGrpSpPr>
        <p:cNvPr id="1" name=""/>
        <p:cNvGrpSpPr/>
        <p:nvPr/>
      </p:nvGrpSpPr>
      <p:grpSpPr>
        <a:xfrm>
          <a:off x="0" y="0"/>
          <a:ext cx="0" cy="0"/>
          <a:chOff x="0" y="0"/>
          <a:chExt cx="0" cy="0"/>
        </a:xfrm>
      </p:grpSpPr>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内容占位符 2"/>
          <p:cNvSpPr>
            <a:spLocks noGrp="1"/>
          </p:cNvSpPr>
          <p:nvPr>
            <p:ph sz="half" idx="1"/>
          </p:nvPr>
        </p:nvSpPr>
        <p:spPr>
          <a:xfrm>
            <a:off x="649288" y="1449388"/>
            <a:ext cx="3914775" cy="4725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half" idx="2"/>
          </p:nvPr>
        </p:nvSpPr>
        <p:spPr>
          <a:xfrm>
            <a:off x="4716463" y="1449388"/>
            <a:ext cx="3916362" cy="4725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xAndObj">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899592" y="188640"/>
            <a:ext cx="6400800" cy="685800"/>
          </a:xfrm>
        </p:spPr>
        <p:txBody>
          <a:bodyPr/>
          <a:lstStyle/>
          <a:p>
            <a:r>
              <a:rPr lang="zh-CN" altLang="en-US" noProof="1"/>
              <a:t>单击此处编辑母版标题样式</a:t>
            </a:r>
          </a:p>
        </p:txBody>
      </p:sp>
      <p:sp>
        <p:nvSpPr>
          <p:cNvPr id="3" name="文本占位符 2"/>
          <p:cNvSpPr>
            <a:spLocks noGrp="1"/>
          </p:cNvSpPr>
          <p:nvPr>
            <p:ph type="body" sz="half" idx="1"/>
          </p:nvPr>
        </p:nvSpPr>
        <p:spPr>
          <a:xfrm>
            <a:off x="649288" y="1449388"/>
            <a:ext cx="3914775" cy="4725987"/>
          </a:xfrm>
        </p:spPr>
        <p:txBody>
          <a:body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half" idx="2"/>
          </p:nvPr>
        </p:nvSpPr>
        <p:spPr>
          <a:xfrm>
            <a:off x="4716463" y="1449388"/>
            <a:ext cx="3916362" cy="4725987"/>
          </a:xfrm>
        </p:spPr>
        <p:txBody>
          <a:body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userDrawn="1">
  <p:cSld name="2_标题幻灯片">
    <p:bg>
      <p:bgPr>
        <a:solidFill>
          <a:schemeClr val="bg1"/>
        </a:solidFill>
        <a:effectLst/>
      </p:bgPr>
    </p:bg>
    <p:spTree>
      <p:nvGrpSpPr>
        <p:cNvPr id="1" name=""/>
        <p:cNvGrpSpPr/>
        <p:nvPr/>
      </p:nvGrpSpPr>
      <p:grpSpPr>
        <a:xfrm>
          <a:off x="0" y="0"/>
          <a:ext cx="0" cy="0"/>
          <a:chOff x="0" y="0"/>
          <a:chExt cx="0" cy="0"/>
        </a:xfrm>
      </p:grpSpPr>
      <p:sp>
        <p:nvSpPr>
          <p:cNvPr id="7170" name="直接连接符 9"/>
          <p:cNvSpPr/>
          <p:nvPr userDrawn="1"/>
        </p:nvSpPr>
        <p:spPr>
          <a:xfrm>
            <a:off x="0" y="6357938"/>
            <a:ext cx="9144000" cy="71437"/>
          </a:xfrm>
          <a:prstGeom prst="line">
            <a:avLst/>
          </a:prstGeom>
          <a:ln w="9525">
            <a:noFill/>
          </a:ln>
        </p:spPr>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标题幻灯片">
    <p:bg>
      <p:bgPr>
        <a:solidFill>
          <a:schemeClr val="bg1"/>
        </a:solidFill>
        <a:effectLst/>
      </p:bgPr>
    </p:bg>
    <p:spTree>
      <p:nvGrpSpPr>
        <p:cNvPr id="1" name=""/>
        <p:cNvGrpSpPr/>
        <p:nvPr/>
      </p:nvGrpSpPr>
      <p:grpSpPr>
        <a:xfrm>
          <a:off x="0" y="0"/>
          <a:ext cx="0" cy="0"/>
          <a:chOff x="0" y="0"/>
          <a:chExt cx="0" cy="0"/>
        </a:xfrm>
      </p:grpSpPr>
      <p:sp>
        <p:nvSpPr>
          <p:cNvPr id="8194" name="直接连接符 9"/>
          <p:cNvSpPr/>
          <p:nvPr userDrawn="1"/>
        </p:nvSpPr>
        <p:spPr>
          <a:xfrm>
            <a:off x="0" y="6357938"/>
            <a:ext cx="9144000" cy="71437"/>
          </a:xfrm>
          <a:prstGeom prst="line">
            <a:avLst/>
          </a:prstGeom>
          <a:ln w="9525">
            <a:noFill/>
          </a:ln>
        </p:spPr>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2"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3" name="内容占位符 2"/>
          <p:cNvSpPr>
            <a:spLocks noGrp="1"/>
          </p:cNvSpPr>
          <p:nvPr>
            <p:ph idx="1" hasCustomPrompt="1"/>
          </p:nvPr>
        </p:nvSpPr>
        <p:spPr/>
        <p:txBody>
          <a:bodyPr/>
          <a:lstStyle/>
          <a:p>
            <a:pPr lvl="0"/>
            <a:r>
              <a:rPr lang="zh-CN" altLang="en-US" noProof="1"/>
              <a:t>编辑母版文本样式</a:t>
            </a:r>
          </a:p>
          <a:p>
            <a:pPr lvl="1"/>
            <a:r>
              <a:rPr lang="zh-CN" altLang="en-US" noProof="1"/>
              <a:t>第二级</a:t>
            </a:r>
          </a:p>
        </p:txBody>
      </p:sp>
      <p:grpSp>
        <p:nvGrpSpPr>
          <p:cNvPr id="17" name="组合 16"/>
          <p:cNvGrpSpPr/>
          <p:nvPr/>
        </p:nvGrpSpPr>
        <p:grpSpPr>
          <a:xfrm>
            <a:off x="115637" y="404664"/>
            <a:ext cx="617410" cy="174607"/>
            <a:chOff x="384175" y="480608"/>
            <a:chExt cx="348872" cy="98663"/>
          </a:xfrm>
          <a:solidFill>
            <a:srgbClr val="76AEDD"/>
          </a:solidFill>
        </p:grpSpPr>
        <p:sp>
          <p:nvSpPr>
            <p:cNvPr id="18" name="等腰三角形 17">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Only" preserve="1">
  <p:cSld name="仅标题">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2" name="标题 1"/>
          <p:cNvSpPr>
            <a:spLocks noGrp="1"/>
          </p:cNvSpPr>
          <p:nvPr>
            <p:ph type="title"/>
          </p:nvPr>
        </p:nvSpPr>
        <p:spPr/>
        <p:txBody>
          <a:bodyPr/>
          <a:lstStyle/>
          <a:p>
            <a:r>
              <a:rPr lang="zh-CN" altLang="en-US" noProof="1"/>
              <a:t>单击此处编辑母版标题样式</a:t>
            </a:r>
          </a:p>
        </p:txBody>
      </p:sp>
      <p:sp>
        <p:nvSpPr>
          <p:cNvPr id="10245" name="直接连接符 9"/>
          <p:cNvSpPr/>
          <p:nvPr userDrawn="1"/>
        </p:nvSpPr>
        <p:spPr>
          <a:xfrm>
            <a:off x="0" y="6357938"/>
            <a:ext cx="9144000" cy="71437"/>
          </a:xfrm>
          <a:prstGeom prst="line">
            <a:avLst/>
          </a:prstGeom>
          <a:ln w="9525">
            <a:noFill/>
          </a:ln>
        </p:spPr>
      </p:sp>
      <p:grpSp>
        <p:nvGrpSpPr>
          <p:cNvPr id="17" name="组合 16"/>
          <p:cNvGrpSpPr/>
          <p:nvPr/>
        </p:nvGrpSpPr>
        <p:grpSpPr>
          <a:xfrm>
            <a:off x="115637" y="404664"/>
            <a:ext cx="617410" cy="174607"/>
            <a:chOff x="384175" y="480608"/>
            <a:chExt cx="348872" cy="98663"/>
          </a:xfrm>
          <a:solidFill>
            <a:srgbClr val="76AEDD"/>
          </a:solidFill>
        </p:grpSpPr>
        <p:sp>
          <p:nvSpPr>
            <p:cNvPr id="18" name="等腰三角形 17">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blank" preserve="1">
  <p:cSld name="空白">
    <p:bg>
      <p:bgPr>
        <a:solidFill>
          <a:srgbClr val="000000"/>
        </a:solidFill>
        <a:effectLst/>
      </p:bgPr>
    </p:bg>
    <p:spTree>
      <p:nvGrpSpPr>
        <p:cNvPr id="1" name=""/>
        <p:cNvGrpSpPr/>
        <p:nvPr/>
      </p:nvGrpSpPr>
      <p:grpSpPr>
        <a:xfrm>
          <a:off x="0" y="0"/>
          <a:ext cx="0" cy="0"/>
          <a:chOff x="0" y="0"/>
          <a:chExt cx="0" cy="0"/>
        </a:xfrm>
      </p:grpSpPr>
      <p:sp>
        <p:nvSpPr>
          <p:cNvPr id="11266" name="直接连接符 9"/>
          <p:cNvSpPr/>
          <p:nvPr userDrawn="1"/>
        </p:nvSpPr>
        <p:spPr>
          <a:xfrm>
            <a:off x="0" y="6357938"/>
            <a:ext cx="9144000" cy="71437"/>
          </a:xfrm>
          <a:prstGeom prst="line">
            <a:avLst/>
          </a:prstGeom>
          <a:ln w="9525">
            <a:noFill/>
          </a:ln>
        </p:spPr>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slideLayout" Target="../slideLayouts/slideLayout11.xml"/><Relationship Id="rId1" Type="http://schemas.openxmlformats.org/officeDocument/2006/relationships/slideLayout" Target="../slideLayouts/slideLayout10.xml"/><Relationship Id="rId5" Type="http://schemas.openxmlformats.org/officeDocument/2006/relationships/theme" Target="../theme/theme2.xml"/><Relationship Id="rId4" Type="http://schemas.openxmlformats.org/officeDocument/2006/relationships/slideLayout" Target="../slideLayouts/slideLayout1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3"/>
          <p:cNvSpPr>
            <a:spLocks noGrp="1"/>
          </p:cNvSpPr>
          <p:nvPr>
            <p:ph type="body"/>
          </p:nvPr>
        </p:nvSpPr>
        <p:spPr>
          <a:xfrm>
            <a:off x="496888" y="1116013"/>
            <a:ext cx="8251825" cy="5472112"/>
          </a:xfrm>
          <a:prstGeom prst="rect">
            <a:avLst/>
          </a:prstGeom>
          <a:noFill/>
          <a:ln w="9525">
            <a:noFill/>
          </a:ln>
        </p:spPr>
        <p:txBody>
          <a:bodyPr/>
          <a:lstStyle/>
          <a:p>
            <a:pPr lvl="0"/>
            <a:r>
              <a:rPr lang="zh-CN" altLang="en-US" dirty="0"/>
              <a:t>单击以编辑母版文本样式</a:t>
            </a:r>
          </a:p>
        </p:txBody>
      </p:sp>
      <p:cxnSp>
        <p:nvCxnSpPr>
          <p:cNvPr id="1027" name="直接连接符 9"/>
          <p:cNvCxnSpPr/>
          <p:nvPr/>
        </p:nvCxnSpPr>
        <p:spPr>
          <a:xfrm>
            <a:off x="0" y="6357938"/>
            <a:ext cx="9144000" cy="71437"/>
          </a:xfrm>
          <a:prstGeom prst="line">
            <a:avLst/>
          </a:prstGeom>
          <a:ln w="9525">
            <a:noFill/>
          </a:ln>
        </p:spPr>
      </p:cxnSp>
      <p:sp>
        <p:nvSpPr>
          <p:cNvPr id="10" name="矩形 9"/>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1" name="矩形 10"/>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grpSp>
        <p:nvGrpSpPr>
          <p:cNvPr id="2" name="组合 1"/>
          <p:cNvGrpSpPr/>
          <p:nvPr/>
        </p:nvGrpSpPr>
        <p:grpSpPr>
          <a:xfrm>
            <a:off x="115637" y="404664"/>
            <a:ext cx="617410" cy="174607"/>
            <a:chOff x="384175" y="480608"/>
            <a:chExt cx="348872" cy="98663"/>
          </a:xfrm>
          <a:solidFill>
            <a:srgbClr val="76AEDD"/>
          </a:solidFill>
        </p:grpSpPr>
        <p:sp>
          <p:nvSpPr>
            <p:cNvPr id="12" name="等腰三角形 11">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3" name="等腰三角形 12">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4" name="等腰三角形 13">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
        <p:nvSpPr>
          <p:cNvPr id="1031" name="Rectangle 2"/>
          <p:cNvSpPr>
            <a:spLocks noGrp="1"/>
          </p:cNvSpPr>
          <p:nvPr>
            <p:ph type="title"/>
          </p:nvPr>
        </p:nvSpPr>
        <p:spPr>
          <a:xfrm>
            <a:off x="844550" y="260350"/>
            <a:ext cx="6400800" cy="457200"/>
          </a:xfrm>
          <a:prstGeom prst="rect">
            <a:avLst/>
          </a:prstGeom>
          <a:noFill/>
          <a:ln w="9525">
            <a:noFill/>
          </a:ln>
        </p:spPr>
        <p:txBody>
          <a:bodyPr anchor="ctr" anchorCtr="0"/>
          <a:lstStyle/>
          <a:p>
            <a:pPr lvl="0"/>
            <a:r>
              <a:rPr lang="en-US" altLang="zh-CN" dirty="0"/>
              <a:t>单击以编辑</a:t>
            </a:r>
            <a:r>
              <a:rPr lang="en-US" altLang="en-US" dirty="0"/>
              <a:t>母版标题样式</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Lst>
  <p:hf sldNum="0" hdr="0" ftr="0" dt="0"/>
  <p:txStyles>
    <p:titleStyle>
      <a:lvl1pPr algn="l" rtl="0" eaLnBrk="0" fontAlgn="base" hangingPunct="0">
        <a:spcBef>
          <a:spcPct val="0"/>
        </a:spcBef>
        <a:spcAft>
          <a:spcPct val="0"/>
        </a:spcAft>
        <a:defRPr sz="2800">
          <a:solidFill>
            <a:schemeClr val="bg1"/>
          </a:solidFill>
          <a:latin typeface="+mj-lt"/>
          <a:ea typeface="微软雅黑" panose="020B0503020204020204" pitchFamily="34" charset="-122"/>
          <a:cs typeface="+mj-cs"/>
        </a:defRPr>
      </a:lvl1pPr>
      <a:lvl2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2pPr>
      <a:lvl3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3pPr>
      <a:lvl4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4pPr>
      <a:lvl5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5pPr>
      <a:lvl6pPr marL="4572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6pPr>
      <a:lvl7pPr marL="9144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7pPr>
      <a:lvl8pPr marL="13716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8pPr>
      <a:lvl9pPr marL="18288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9pPr>
    </p:titleStyle>
    <p:body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vl6pPr marL="2514600" indent="-228600" algn="l" rtl="0" eaLnBrk="0" fontAlgn="base" hangingPunct="0">
        <a:spcBef>
          <a:spcPct val="20000"/>
        </a:spcBef>
        <a:spcAft>
          <a:spcPct val="0"/>
        </a:spcAft>
        <a:buChar char="»"/>
        <a:defRPr kumimoji="1" sz="2000">
          <a:solidFill>
            <a:schemeClr val="tx1"/>
          </a:solidFill>
          <a:latin typeface="+mn-lt"/>
          <a:ea typeface="+mn-ea"/>
        </a:defRPr>
      </a:lvl6pPr>
      <a:lvl7pPr marL="2971800" indent="-228600" algn="l" rtl="0" eaLnBrk="0" fontAlgn="base" hangingPunct="0">
        <a:spcBef>
          <a:spcPct val="20000"/>
        </a:spcBef>
        <a:spcAft>
          <a:spcPct val="0"/>
        </a:spcAft>
        <a:buChar char="»"/>
        <a:defRPr kumimoji="1" sz="2000">
          <a:solidFill>
            <a:schemeClr val="tx1"/>
          </a:solidFill>
          <a:latin typeface="+mn-lt"/>
          <a:ea typeface="+mn-ea"/>
        </a:defRPr>
      </a:lvl7pPr>
      <a:lvl8pPr marL="3429000" indent="-228600" algn="l" rtl="0" eaLnBrk="0" fontAlgn="base" hangingPunct="0">
        <a:spcBef>
          <a:spcPct val="20000"/>
        </a:spcBef>
        <a:spcAft>
          <a:spcPct val="0"/>
        </a:spcAft>
        <a:buChar char="»"/>
        <a:defRPr kumimoji="1" sz="2000">
          <a:solidFill>
            <a:schemeClr val="tx1"/>
          </a:solidFill>
          <a:latin typeface="+mn-lt"/>
          <a:ea typeface="+mn-ea"/>
        </a:defRPr>
      </a:lvl8pPr>
      <a:lvl9pPr marL="3886200" indent="-228600" algn="l" rtl="0" eaLnBrk="0" fontAlgn="base" hangingPunct="0">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3"/>
          <p:cNvSpPr>
            <a:spLocks noGrp="1"/>
          </p:cNvSpPr>
          <p:nvPr>
            <p:ph type="body"/>
          </p:nvPr>
        </p:nvSpPr>
        <p:spPr>
          <a:xfrm>
            <a:off x="496888" y="1116013"/>
            <a:ext cx="8251825" cy="5472112"/>
          </a:xfrm>
          <a:prstGeom prst="rect">
            <a:avLst/>
          </a:prstGeom>
          <a:noFill/>
          <a:ln w="9525">
            <a:noFill/>
          </a:ln>
        </p:spPr>
        <p:txBody>
          <a:bodyPr/>
          <a:lstStyle/>
          <a:p>
            <a:pPr lvl="0"/>
            <a:r>
              <a:rPr lang="zh-CN" altLang="en-US" dirty="0"/>
              <a:t>单击以编辑母版文本样式</a:t>
            </a:r>
          </a:p>
        </p:txBody>
      </p:sp>
      <p:cxnSp>
        <p:nvCxnSpPr>
          <p:cNvPr id="2051" name="直接连接符 9"/>
          <p:cNvCxnSpPr/>
          <p:nvPr/>
        </p:nvCxnSpPr>
        <p:spPr>
          <a:xfrm>
            <a:off x="0" y="6357938"/>
            <a:ext cx="9144000" cy="71437"/>
          </a:xfrm>
          <a:prstGeom prst="line">
            <a:avLst/>
          </a:prstGeom>
          <a:ln w="9525">
            <a:noFill/>
          </a:ln>
        </p:spPr>
      </p:cxnSp>
      <p:sp>
        <p:nvSpPr>
          <p:cNvPr id="10" name="矩形 9"/>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1" name="矩形 10"/>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grpSp>
        <p:nvGrpSpPr>
          <p:cNvPr id="2" name="组合 1"/>
          <p:cNvGrpSpPr/>
          <p:nvPr/>
        </p:nvGrpSpPr>
        <p:grpSpPr>
          <a:xfrm>
            <a:off x="115637" y="404664"/>
            <a:ext cx="617410" cy="174607"/>
            <a:chOff x="384175" y="480608"/>
            <a:chExt cx="348872" cy="98663"/>
          </a:xfrm>
          <a:solidFill>
            <a:srgbClr val="76AEDD"/>
          </a:solidFill>
        </p:grpSpPr>
        <p:sp>
          <p:nvSpPr>
            <p:cNvPr id="12" name="等腰三角形 11">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3" name="等腰三角形 12">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4" name="等腰三角形 13">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
        <p:nvSpPr>
          <p:cNvPr id="2055" name="Rectangle 2"/>
          <p:cNvSpPr>
            <a:spLocks noGrp="1"/>
          </p:cNvSpPr>
          <p:nvPr>
            <p:ph type="title"/>
          </p:nvPr>
        </p:nvSpPr>
        <p:spPr>
          <a:xfrm>
            <a:off x="844550" y="260350"/>
            <a:ext cx="6400800" cy="457200"/>
          </a:xfrm>
          <a:prstGeom prst="rect">
            <a:avLst/>
          </a:prstGeom>
          <a:noFill/>
          <a:ln w="9525">
            <a:noFill/>
          </a:ln>
        </p:spPr>
        <p:txBody>
          <a:bodyPr anchor="ctr" anchorCtr="0"/>
          <a:lstStyle/>
          <a:p>
            <a:pPr lvl="0"/>
            <a:r>
              <a:rPr lang="en-US" altLang="zh-CN" dirty="0"/>
              <a:t>单击以编辑</a:t>
            </a:r>
            <a:r>
              <a:rPr lang="en-US" altLang="en-US" dirty="0"/>
              <a:t>母版标题样式</a:t>
            </a:r>
          </a:p>
        </p:txBody>
      </p:sp>
    </p:spTree>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Lst>
  <p:hf sldNum="0" hdr="0" ftr="0" dt="0"/>
  <p:txStyles>
    <p:titleStyle>
      <a:lvl1pPr algn="l" rtl="0" eaLnBrk="0" fontAlgn="base" hangingPunct="0">
        <a:spcBef>
          <a:spcPct val="0"/>
        </a:spcBef>
        <a:spcAft>
          <a:spcPct val="0"/>
        </a:spcAft>
        <a:defRPr sz="2800">
          <a:solidFill>
            <a:schemeClr val="bg1"/>
          </a:solidFill>
          <a:latin typeface="+mj-lt"/>
          <a:ea typeface="微软雅黑" panose="020B0503020204020204" pitchFamily="34" charset="-122"/>
          <a:cs typeface="+mj-cs"/>
        </a:defRPr>
      </a:lvl1pPr>
      <a:lvl2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2pPr>
      <a:lvl3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3pPr>
      <a:lvl4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4pPr>
      <a:lvl5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5pPr>
      <a:lvl6pPr marL="4572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6pPr>
      <a:lvl7pPr marL="9144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7pPr>
      <a:lvl8pPr marL="13716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8pPr>
      <a:lvl9pPr marL="18288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9pPr>
    </p:titleStyle>
    <p:body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vl6pPr marL="2514600" indent="-228600" algn="l" rtl="0" eaLnBrk="0" fontAlgn="base" hangingPunct="0">
        <a:spcBef>
          <a:spcPct val="20000"/>
        </a:spcBef>
        <a:spcAft>
          <a:spcPct val="0"/>
        </a:spcAft>
        <a:buChar char="»"/>
        <a:defRPr kumimoji="1" sz="2000">
          <a:solidFill>
            <a:schemeClr val="tx1"/>
          </a:solidFill>
          <a:latin typeface="+mn-lt"/>
          <a:ea typeface="+mn-ea"/>
        </a:defRPr>
      </a:lvl6pPr>
      <a:lvl7pPr marL="2971800" indent="-228600" algn="l" rtl="0" eaLnBrk="0" fontAlgn="base" hangingPunct="0">
        <a:spcBef>
          <a:spcPct val="20000"/>
        </a:spcBef>
        <a:spcAft>
          <a:spcPct val="0"/>
        </a:spcAft>
        <a:buChar char="»"/>
        <a:defRPr kumimoji="1" sz="2000">
          <a:solidFill>
            <a:schemeClr val="tx1"/>
          </a:solidFill>
          <a:latin typeface="+mn-lt"/>
          <a:ea typeface="+mn-ea"/>
        </a:defRPr>
      </a:lvl7pPr>
      <a:lvl8pPr marL="3429000" indent="-228600" algn="l" rtl="0" eaLnBrk="0" fontAlgn="base" hangingPunct="0">
        <a:spcBef>
          <a:spcPct val="20000"/>
        </a:spcBef>
        <a:spcAft>
          <a:spcPct val="0"/>
        </a:spcAft>
        <a:buChar char="»"/>
        <a:defRPr kumimoji="1" sz="2000">
          <a:solidFill>
            <a:schemeClr val="tx1"/>
          </a:solidFill>
          <a:latin typeface="+mn-lt"/>
          <a:ea typeface="+mn-ea"/>
        </a:defRPr>
      </a:lvl8pPr>
      <a:lvl9pPr marL="3886200" indent="-228600" algn="l" rtl="0" eaLnBrk="0" fontAlgn="base" hangingPunct="0">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6.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image" Target="../media/image4.jpeg"/><Relationship Id="rId7" Type="http://schemas.openxmlformats.org/officeDocument/2006/relationships/image" Target="../media/image7.w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6.wmf"/><Relationship Id="rId4" Type="http://schemas.openxmlformats.org/officeDocument/2006/relationships/oleObject" Target="../embeddings/oleObject1.bin"/></Relationships>
</file>

<file path=ppt/slides/_rels/slide2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6.xml"/><Relationship Id="rId1" Type="http://schemas.openxmlformats.org/officeDocument/2006/relationships/vmlDrawing" Target="../drawings/vmlDrawing2.vml"/><Relationship Id="rId4" Type="http://schemas.openxmlformats.org/officeDocument/2006/relationships/image" Target="../media/image8.wmf"/></Relationships>
</file>

<file path=ppt/slides/_rels/slide24.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Layout" Target="../slideLayouts/slideLayout2.xml"/><Relationship Id="rId1" Type="http://schemas.openxmlformats.org/officeDocument/2006/relationships/vmlDrawing" Target="../drawings/vmlDrawing3.vml"/><Relationship Id="rId4" Type="http://schemas.openxmlformats.org/officeDocument/2006/relationships/image" Target="../media/image9.wmf"/></Relationships>
</file>

<file path=ppt/slides/_rels/slide25.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6.xml"/><Relationship Id="rId1" Type="http://schemas.openxmlformats.org/officeDocument/2006/relationships/vmlDrawing" Target="../drawings/vmlDrawing4.vml"/><Relationship Id="rId6" Type="http://schemas.openxmlformats.org/officeDocument/2006/relationships/image" Target="../media/image11.wmf"/><Relationship Id="rId5" Type="http://schemas.openxmlformats.org/officeDocument/2006/relationships/oleObject" Target="../embeddings/oleObject6.bin"/><Relationship Id="rId4" Type="http://schemas.openxmlformats.org/officeDocument/2006/relationships/image" Target="../media/image10.wmf"/></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6.xml"/><Relationship Id="rId1" Type="http://schemas.openxmlformats.org/officeDocument/2006/relationships/vmlDrawing" Target="../drawings/vmlDrawing5.vml"/><Relationship Id="rId6" Type="http://schemas.openxmlformats.org/officeDocument/2006/relationships/image" Target="../media/image13.wmf"/><Relationship Id="rId5" Type="http://schemas.openxmlformats.org/officeDocument/2006/relationships/oleObject" Target="../embeddings/oleObject8.bin"/><Relationship Id="rId4" Type="http://schemas.openxmlformats.org/officeDocument/2006/relationships/image" Target="../media/image12.wmf"/></Relationships>
</file>

<file path=ppt/slides/_rels/slide27.xml.rels><?xml version="1.0" encoding="UTF-8" standalone="yes"?>
<Relationships xmlns="http://schemas.openxmlformats.org/package/2006/relationships"><Relationship Id="rId8" Type="http://schemas.openxmlformats.org/officeDocument/2006/relationships/image" Target="../media/image16.wmf"/><Relationship Id="rId3" Type="http://schemas.openxmlformats.org/officeDocument/2006/relationships/oleObject" Target="../embeddings/oleObject9.bin"/><Relationship Id="rId7" Type="http://schemas.openxmlformats.org/officeDocument/2006/relationships/oleObject" Target="../embeddings/oleObject11.bin"/><Relationship Id="rId2" Type="http://schemas.openxmlformats.org/officeDocument/2006/relationships/slideLayout" Target="../slideLayouts/slideLayout6.xml"/><Relationship Id="rId1" Type="http://schemas.openxmlformats.org/officeDocument/2006/relationships/vmlDrawing" Target="../drawings/vmlDrawing6.vml"/><Relationship Id="rId6" Type="http://schemas.openxmlformats.org/officeDocument/2006/relationships/image" Target="../media/image15.wmf"/><Relationship Id="rId5" Type="http://schemas.openxmlformats.org/officeDocument/2006/relationships/oleObject" Target="../embeddings/oleObject10.bin"/><Relationship Id="rId4" Type="http://schemas.openxmlformats.org/officeDocument/2006/relationships/image" Target="../media/image14.wmf"/></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3" Type="http://schemas.openxmlformats.org/officeDocument/2006/relationships/tags" Target="../tags/tag4.xml"/><Relationship Id="rId7" Type="http://schemas.openxmlformats.org/officeDocument/2006/relationships/tags" Target="../tags/tag8.xml"/><Relationship Id="rId12" Type="http://schemas.openxmlformats.org/officeDocument/2006/relationships/tags" Target="../tags/tag13.xml"/><Relationship Id="rId2" Type="http://schemas.openxmlformats.org/officeDocument/2006/relationships/tags" Target="../tags/tag3.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image" Target="../media/image17.tmp"/><Relationship Id="rId10" Type="http://schemas.openxmlformats.org/officeDocument/2006/relationships/tags" Target="../tags/tag11.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8" Type="http://schemas.openxmlformats.org/officeDocument/2006/relationships/tags" Target="../tags/tag22.xml"/><Relationship Id="rId13" Type="http://schemas.openxmlformats.org/officeDocument/2006/relationships/tags" Target="../tags/tag27.xml"/><Relationship Id="rId18" Type="http://schemas.openxmlformats.org/officeDocument/2006/relationships/slideLayout" Target="../slideLayouts/slideLayout6.xml"/><Relationship Id="rId3" Type="http://schemas.openxmlformats.org/officeDocument/2006/relationships/tags" Target="../tags/tag17.xml"/><Relationship Id="rId7" Type="http://schemas.openxmlformats.org/officeDocument/2006/relationships/tags" Target="../tags/tag21.xml"/><Relationship Id="rId12" Type="http://schemas.openxmlformats.org/officeDocument/2006/relationships/tags" Target="../tags/tag26.xml"/><Relationship Id="rId17" Type="http://schemas.openxmlformats.org/officeDocument/2006/relationships/tags" Target="../tags/tag31.xml"/><Relationship Id="rId2" Type="http://schemas.openxmlformats.org/officeDocument/2006/relationships/tags" Target="../tags/tag16.xml"/><Relationship Id="rId16" Type="http://schemas.openxmlformats.org/officeDocument/2006/relationships/tags" Target="../tags/tag30.xml"/><Relationship Id="rId1" Type="http://schemas.openxmlformats.org/officeDocument/2006/relationships/tags" Target="../tags/tag15.xml"/><Relationship Id="rId6" Type="http://schemas.openxmlformats.org/officeDocument/2006/relationships/tags" Target="../tags/tag20.xml"/><Relationship Id="rId11" Type="http://schemas.openxmlformats.org/officeDocument/2006/relationships/tags" Target="../tags/tag25.xml"/><Relationship Id="rId5" Type="http://schemas.openxmlformats.org/officeDocument/2006/relationships/tags" Target="../tags/tag19.xml"/><Relationship Id="rId15" Type="http://schemas.openxmlformats.org/officeDocument/2006/relationships/tags" Target="../tags/tag29.xml"/><Relationship Id="rId10" Type="http://schemas.openxmlformats.org/officeDocument/2006/relationships/tags" Target="../tags/tag24.xml"/><Relationship Id="rId19" Type="http://schemas.openxmlformats.org/officeDocument/2006/relationships/image" Target="../media/image17.tmp"/><Relationship Id="rId4" Type="http://schemas.openxmlformats.org/officeDocument/2006/relationships/tags" Target="../tags/tag18.xml"/><Relationship Id="rId9" Type="http://schemas.openxmlformats.org/officeDocument/2006/relationships/tags" Target="../tags/tag23.xml"/><Relationship Id="rId14" Type="http://schemas.openxmlformats.org/officeDocument/2006/relationships/tags" Target="../tags/tag28.xml"/></Relationships>
</file>

<file path=ppt/slides/_rels/slide34.xml.rels><?xml version="1.0" encoding="UTF-8" standalone="yes"?>
<Relationships xmlns="http://schemas.openxmlformats.org/package/2006/relationships"><Relationship Id="rId8" Type="http://schemas.openxmlformats.org/officeDocument/2006/relationships/tags" Target="../tags/tag39.xml"/><Relationship Id="rId13" Type="http://schemas.openxmlformats.org/officeDocument/2006/relationships/tags" Target="../tags/tag44.xml"/><Relationship Id="rId18" Type="http://schemas.openxmlformats.org/officeDocument/2006/relationships/slideLayout" Target="../slideLayouts/slideLayout6.xml"/><Relationship Id="rId3" Type="http://schemas.openxmlformats.org/officeDocument/2006/relationships/tags" Target="../tags/tag34.xml"/><Relationship Id="rId7" Type="http://schemas.openxmlformats.org/officeDocument/2006/relationships/tags" Target="../tags/tag38.xml"/><Relationship Id="rId12" Type="http://schemas.openxmlformats.org/officeDocument/2006/relationships/tags" Target="../tags/tag43.xml"/><Relationship Id="rId17" Type="http://schemas.openxmlformats.org/officeDocument/2006/relationships/tags" Target="../tags/tag48.xml"/><Relationship Id="rId2" Type="http://schemas.openxmlformats.org/officeDocument/2006/relationships/tags" Target="../tags/tag33.xml"/><Relationship Id="rId16" Type="http://schemas.openxmlformats.org/officeDocument/2006/relationships/tags" Target="../tags/tag47.xml"/><Relationship Id="rId1" Type="http://schemas.openxmlformats.org/officeDocument/2006/relationships/tags" Target="../tags/tag32.xml"/><Relationship Id="rId6" Type="http://schemas.openxmlformats.org/officeDocument/2006/relationships/tags" Target="../tags/tag37.xml"/><Relationship Id="rId11" Type="http://schemas.openxmlformats.org/officeDocument/2006/relationships/tags" Target="../tags/tag42.xml"/><Relationship Id="rId5" Type="http://schemas.openxmlformats.org/officeDocument/2006/relationships/tags" Target="../tags/tag36.xml"/><Relationship Id="rId15" Type="http://schemas.openxmlformats.org/officeDocument/2006/relationships/tags" Target="../tags/tag46.xml"/><Relationship Id="rId10" Type="http://schemas.openxmlformats.org/officeDocument/2006/relationships/tags" Target="../tags/tag41.xml"/><Relationship Id="rId19" Type="http://schemas.openxmlformats.org/officeDocument/2006/relationships/image" Target="../media/image17.tmp"/><Relationship Id="rId4" Type="http://schemas.openxmlformats.org/officeDocument/2006/relationships/tags" Target="../tags/tag35.xml"/><Relationship Id="rId9" Type="http://schemas.openxmlformats.org/officeDocument/2006/relationships/tags" Target="../tags/tag40.xml"/><Relationship Id="rId14" Type="http://schemas.openxmlformats.org/officeDocument/2006/relationships/tags" Target="../tags/tag4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8" Type="http://schemas.openxmlformats.org/officeDocument/2006/relationships/tags" Target="../tags/tag56.xml"/><Relationship Id="rId13" Type="http://schemas.openxmlformats.org/officeDocument/2006/relationships/tags" Target="../tags/tag61.xml"/><Relationship Id="rId18" Type="http://schemas.openxmlformats.org/officeDocument/2006/relationships/slideLayout" Target="../slideLayouts/slideLayout6.xml"/><Relationship Id="rId3" Type="http://schemas.openxmlformats.org/officeDocument/2006/relationships/tags" Target="../tags/tag51.xml"/><Relationship Id="rId7" Type="http://schemas.openxmlformats.org/officeDocument/2006/relationships/tags" Target="../tags/tag55.xml"/><Relationship Id="rId12" Type="http://schemas.openxmlformats.org/officeDocument/2006/relationships/tags" Target="../tags/tag60.xml"/><Relationship Id="rId17" Type="http://schemas.openxmlformats.org/officeDocument/2006/relationships/tags" Target="../tags/tag65.xml"/><Relationship Id="rId2" Type="http://schemas.openxmlformats.org/officeDocument/2006/relationships/tags" Target="../tags/tag50.xml"/><Relationship Id="rId16" Type="http://schemas.openxmlformats.org/officeDocument/2006/relationships/tags" Target="../tags/tag64.xml"/><Relationship Id="rId1" Type="http://schemas.openxmlformats.org/officeDocument/2006/relationships/tags" Target="../tags/tag49.xml"/><Relationship Id="rId6" Type="http://schemas.openxmlformats.org/officeDocument/2006/relationships/tags" Target="../tags/tag54.xml"/><Relationship Id="rId11" Type="http://schemas.openxmlformats.org/officeDocument/2006/relationships/tags" Target="../tags/tag59.xml"/><Relationship Id="rId5" Type="http://schemas.openxmlformats.org/officeDocument/2006/relationships/tags" Target="../tags/tag53.xml"/><Relationship Id="rId15" Type="http://schemas.openxmlformats.org/officeDocument/2006/relationships/tags" Target="../tags/tag63.xml"/><Relationship Id="rId10" Type="http://schemas.openxmlformats.org/officeDocument/2006/relationships/tags" Target="../tags/tag58.xml"/><Relationship Id="rId19" Type="http://schemas.openxmlformats.org/officeDocument/2006/relationships/image" Target="../media/image17.tmp"/><Relationship Id="rId4" Type="http://schemas.openxmlformats.org/officeDocument/2006/relationships/tags" Target="../tags/tag52.xml"/><Relationship Id="rId9" Type="http://schemas.openxmlformats.org/officeDocument/2006/relationships/tags" Target="../tags/tag57.xml"/><Relationship Id="rId14" Type="http://schemas.openxmlformats.org/officeDocument/2006/relationships/tags" Target="../tags/tag62.xml"/></Relationships>
</file>

<file path=ppt/slides/_rels/slide4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4.jpeg"/><Relationship Id="rId7" Type="http://schemas.openxmlformats.org/officeDocument/2006/relationships/image" Target="../media/image19.wmf"/><Relationship Id="rId2" Type="http://schemas.openxmlformats.org/officeDocument/2006/relationships/slideLayout" Target="../slideLayouts/slideLayout2.xml"/><Relationship Id="rId1" Type="http://schemas.openxmlformats.org/officeDocument/2006/relationships/vmlDrawing" Target="../drawings/vmlDrawing7.vml"/><Relationship Id="rId6" Type="http://schemas.openxmlformats.org/officeDocument/2006/relationships/oleObject" Target="../embeddings/oleObject13.bin"/><Relationship Id="rId5" Type="http://schemas.openxmlformats.org/officeDocument/2006/relationships/image" Target="../media/image18.wmf"/><Relationship Id="rId4" Type="http://schemas.openxmlformats.org/officeDocument/2006/relationships/oleObject" Target="../embeddings/oleObject12.bin"/></Relationships>
</file>

<file path=ppt/slides/_rels/slide51.xml.rels><?xml version="1.0" encoding="UTF-8" standalone="yes"?>
<Relationships xmlns="http://schemas.openxmlformats.org/package/2006/relationships"><Relationship Id="rId8" Type="http://schemas.openxmlformats.org/officeDocument/2006/relationships/tags" Target="../tags/tag73.xml"/><Relationship Id="rId13" Type="http://schemas.openxmlformats.org/officeDocument/2006/relationships/tags" Target="../tags/tag78.xml"/><Relationship Id="rId18" Type="http://schemas.openxmlformats.org/officeDocument/2006/relationships/slideLayout" Target="../slideLayouts/slideLayout6.xml"/><Relationship Id="rId3" Type="http://schemas.openxmlformats.org/officeDocument/2006/relationships/tags" Target="../tags/tag68.xml"/><Relationship Id="rId7" Type="http://schemas.openxmlformats.org/officeDocument/2006/relationships/tags" Target="../tags/tag72.xml"/><Relationship Id="rId12" Type="http://schemas.openxmlformats.org/officeDocument/2006/relationships/tags" Target="../tags/tag77.xml"/><Relationship Id="rId17" Type="http://schemas.openxmlformats.org/officeDocument/2006/relationships/tags" Target="../tags/tag82.xml"/><Relationship Id="rId2" Type="http://schemas.openxmlformats.org/officeDocument/2006/relationships/tags" Target="../tags/tag67.xml"/><Relationship Id="rId16" Type="http://schemas.openxmlformats.org/officeDocument/2006/relationships/tags" Target="../tags/tag81.xml"/><Relationship Id="rId1" Type="http://schemas.openxmlformats.org/officeDocument/2006/relationships/tags" Target="../tags/tag66.xml"/><Relationship Id="rId6" Type="http://schemas.openxmlformats.org/officeDocument/2006/relationships/tags" Target="../tags/tag71.xml"/><Relationship Id="rId11" Type="http://schemas.openxmlformats.org/officeDocument/2006/relationships/tags" Target="../tags/tag76.xml"/><Relationship Id="rId5" Type="http://schemas.openxmlformats.org/officeDocument/2006/relationships/tags" Target="../tags/tag70.xml"/><Relationship Id="rId15" Type="http://schemas.openxmlformats.org/officeDocument/2006/relationships/tags" Target="../tags/tag80.xml"/><Relationship Id="rId10" Type="http://schemas.openxmlformats.org/officeDocument/2006/relationships/tags" Target="../tags/tag75.xml"/><Relationship Id="rId19" Type="http://schemas.openxmlformats.org/officeDocument/2006/relationships/image" Target="../media/image17.tmp"/><Relationship Id="rId4" Type="http://schemas.openxmlformats.org/officeDocument/2006/relationships/tags" Target="../tags/tag69.xml"/><Relationship Id="rId9" Type="http://schemas.openxmlformats.org/officeDocument/2006/relationships/tags" Target="../tags/tag74.xml"/><Relationship Id="rId14" Type="http://schemas.openxmlformats.org/officeDocument/2006/relationships/tags" Target="../tags/tag79.xml"/></Relationships>
</file>

<file path=ppt/slides/_rels/slide52.xml.rels><?xml version="1.0" encoding="UTF-8" standalone="yes"?>
<Relationships xmlns="http://schemas.openxmlformats.org/package/2006/relationships"><Relationship Id="rId8" Type="http://schemas.openxmlformats.org/officeDocument/2006/relationships/tags" Target="../tags/tag90.xml"/><Relationship Id="rId13" Type="http://schemas.openxmlformats.org/officeDocument/2006/relationships/tags" Target="../tags/tag95.xml"/><Relationship Id="rId18" Type="http://schemas.openxmlformats.org/officeDocument/2006/relationships/slideLayout" Target="../slideLayouts/slideLayout6.xml"/><Relationship Id="rId3" Type="http://schemas.openxmlformats.org/officeDocument/2006/relationships/tags" Target="../tags/tag85.xml"/><Relationship Id="rId7" Type="http://schemas.openxmlformats.org/officeDocument/2006/relationships/tags" Target="../tags/tag89.xml"/><Relationship Id="rId12" Type="http://schemas.openxmlformats.org/officeDocument/2006/relationships/tags" Target="../tags/tag94.xml"/><Relationship Id="rId17" Type="http://schemas.openxmlformats.org/officeDocument/2006/relationships/tags" Target="../tags/tag99.xml"/><Relationship Id="rId2" Type="http://schemas.openxmlformats.org/officeDocument/2006/relationships/tags" Target="../tags/tag84.xml"/><Relationship Id="rId16" Type="http://schemas.openxmlformats.org/officeDocument/2006/relationships/tags" Target="../tags/tag98.xml"/><Relationship Id="rId1" Type="http://schemas.openxmlformats.org/officeDocument/2006/relationships/tags" Target="../tags/tag83.xml"/><Relationship Id="rId6" Type="http://schemas.openxmlformats.org/officeDocument/2006/relationships/tags" Target="../tags/tag88.xml"/><Relationship Id="rId11" Type="http://schemas.openxmlformats.org/officeDocument/2006/relationships/tags" Target="../tags/tag93.xml"/><Relationship Id="rId5" Type="http://schemas.openxmlformats.org/officeDocument/2006/relationships/tags" Target="../tags/tag87.xml"/><Relationship Id="rId15" Type="http://schemas.openxmlformats.org/officeDocument/2006/relationships/tags" Target="../tags/tag97.xml"/><Relationship Id="rId10" Type="http://schemas.openxmlformats.org/officeDocument/2006/relationships/tags" Target="../tags/tag92.xml"/><Relationship Id="rId19" Type="http://schemas.openxmlformats.org/officeDocument/2006/relationships/image" Target="../media/image17.tmp"/><Relationship Id="rId4" Type="http://schemas.openxmlformats.org/officeDocument/2006/relationships/tags" Target="../tags/tag86.xml"/><Relationship Id="rId9" Type="http://schemas.openxmlformats.org/officeDocument/2006/relationships/tags" Target="../tags/tag91.xml"/><Relationship Id="rId14" Type="http://schemas.openxmlformats.org/officeDocument/2006/relationships/tags" Target="../tags/tag96.xml"/></Relationships>
</file>

<file path=ppt/slides/_rels/slide53.xml.rels><?xml version="1.0" encoding="UTF-8" standalone="yes"?>
<Relationships xmlns="http://schemas.openxmlformats.org/package/2006/relationships"><Relationship Id="rId8" Type="http://schemas.openxmlformats.org/officeDocument/2006/relationships/tags" Target="../tags/tag107.xml"/><Relationship Id="rId13" Type="http://schemas.openxmlformats.org/officeDocument/2006/relationships/tags" Target="../tags/tag112.xml"/><Relationship Id="rId18" Type="http://schemas.openxmlformats.org/officeDocument/2006/relationships/slideLayout" Target="../slideLayouts/slideLayout6.xml"/><Relationship Id="rId3" Type="http://schemas.openxmlformats.org/officeDocument/2006/relationships/tags" Target="../tags/tag102.xml"/><Relationship Id="rId7" Type="http://schemas.openxmlformats.org/officeDocument/2006/relationships/tags" Target="../tags/tag106.xml"/><Relationship Id="rId12" Type="http://schemas.openxmlformats.org/officeDocument/2006/relationships/tags" Target="../tags/tag111.xml"/><Relationship Id="rId17" Type="http://schemas.openxmlformats.org/officeDocument/2006/relationships/tags" Target="../tags/tag116.xml"/><Relationship Id="rId2" Type="http://schemas.openxmlformats.org/officeDocument/2006/relationships/tags" Target="../tags/tag101.xml"/><Relationship Id="rId16" Type="http://schemas.openxmlformats.org/officeDocument/2006/relationships/tags" Target="../tags/tag115.xml"/><Relationship Id="rId1" Type="http://schemas.openxmlformats.org/officeDocument/2006/relationships/tags" Target="../tags/tag100.xml"/><Relationship Id="rId6" Type="http://schemas.openxmlformats.org/officeDocument/2006/relationships/tags" Target="../tags/tag105.xml"/><Relationship Id="rId11" Type="http://schemas.openxmlformats.org/officeDocument/2006/relationships/tags" Target="../tags/tag110.xml"/><Relationship Id="rId5" Type="http://schemas.openxmlformats.org/officeDocument/2006/relationships/tags" Target="../tags/tag104.xml"/><Relationship Id="rId15" Type="http://schemas.openxmlformats.org/officeDocument/2006/relationships/tags" Target="../tags/tag114.xml"/><Relationship Id="rId10" Type="http://schemas.openxmlformats.org/officeDocument/2006/relationships/tags" Target="../tags/tag109.xml"/><Relationship Id="rId19" Type="http://schemas.openxmlformats.org/officeDocument/2006/relationships/image" Target="../media/image17.tmp"/><Relationship Id="rId4" Type="http://schemas.openxmlformats.org/officeDocument/2006/relationships/tags" Target="../tags/tag103.xml"/><Relationship Id="rId9" Type="http://schemas.openxmlformats.org/officeDocument/2006/relationships/tags" Target="../tags/tag108.xml"/><Relationship Id="rId14" Type="http://schemas.openxmlformats.org/officeDocument/2006/relationships/tags" Target="../tags/tag113.xml"/></Relationships>
</file>

<file path=ppt/slides/_rels/slide54.xml.rels><?xml version="1.0" encoding="UTF-8" standalone="yes"?>
<Relationships xmlns="http://schemas.openxmlformats.org/package/2006/relationships"><Relationship Id="rId2" Type="http://schemas.openxmlformats.org/officeDocument/2006/relationships/image" Target="../media/image20.GIF"/><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Layout" Target="../slideLayouts/slideLayout5.xml"/><Relationship Id="rId1" Type="http://schemas.openxmlformats.org/officeDocument/2006/relationships/vmlDrawing" Target="../drawings/vmlDrawing8.vml"/><Relationship Id="rId4" Type="http://schemas.openxmlformats.org/officeDocument/2006/relationships/image" Target="../media/image21.wmf"/></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8" Type="http://schemas.openxmlformats.org/officeDocument/2006/relationships/tags" Target="../tags/tag124.xml"/><Relationship Id="rId13" Type="http://schemas.openxmlformats.org/officeDocument/2006/relationships/tags" Target="../tags/tag129.xml"/><Relationship Id="rId18" Type="http://schemas.openxmlformats.org/officeDocument/2006/relationships/slideLayout" Target="../slideLayouts/slideLayout6.xml"/><Relationship Id="rId3" Type="http://schemas.openxmlformats.org/officeDocument/2006/relationships/tags" Target="../tags/tag119.xml"/><Relationship Id="rId7" Type="http://schemas.openxmlformats.org/officeDocument/2006/relationships/tags" Target="../tags/tag123.xml"/><Relationship Id="rId12" Type="http://schemas.openxmlformats.org/officeDocument/2006/relationships/tags" Target="../tags/tag128.xml"/><Relationship Id="rId17" Type="http://schemas.openxmlformats.org/officeDocument/2006/relationships/tags" Target="../tags/tag133.xml"/><Relationship Id="rId2" Type="http://schemas.openxmlformats.org/officeDocument/2006/relationships/tags" Target="../tags/tag118.xml"/><Relationship Id="rId16" Type="http://schemas.openxmlformats.org/officeDocument/2006/relationships/tags" Target="../tags/tag132.xml"/><Relationship Id="rId1" Type="http://schemas.openxmlformats.org/officeDocument/2006/relationships/tags" Target="../tags/tag117.xml"/><Relationship Id="rId6" Type="http://schemas.openxmlformats.org/officeDocument/2006/relationships/tags" Target="../tags/tag122.xml"/><Relationship Id="rId11" Type="http://schemas.openxmlformats.org/officeDocument/2006/relationships/tags" Target="../tags/tag127.xml"/><Relationship Id="rId5" Type="http://schemas.openxmlformats.org/officeDocument/2006/relationships/tags" Target="../tags/tag121.xml"/><Relationship Id="rId15" Type="http://schemas.openxmlformats.org/officeDocument/2006/relationships/tags" Target="../tags/tag131.xml"/><Relationship Id="rId10" Type="http://schemas.openxmlformats.org/officeDocument/2006/relationships/tags" Target="../tags/tag126.xml"/><Relationship Id="rId19" Type="http://schemas.openxmlformats.org/officeDocument/2006/relationships/image" Target="../media/image17.tmp"/><Relationship Id="rId4" Type="http://schemas.openxmlformats.org/officeDocument/2006/relationships/tags" Target="../tags/tag120.xml"/><Relationship Id="rId9" Type="http://schemas.openxmlformats.org/officeDocument/2006/relationships/tags" Target="../tags/tag125.xml"/><Relationship Id="rId14" Type="http://schemas.openxmlformats.org/officeDocument/2006/relationships/tags" Target="../tags/tag130.xml"/></Relationships>
</file>

<file path=ppt/slides/_rels/slide93.xml.rels><?xml version="1.0" encoding="UTF-8" standalone="yes"?>
<Relationships xmlns="http://schemas.openxmlformats.org/package/2006/relationships"><Relationship Id="rId8" Type="http://schemas.openxmlformats.org/officeDocument/2006/relationships/tags" Target="../tags/tag141.xml"/><Relationship Id="rId13" Type="http://schemas.openxmlformats.org/officeDocument/2006/relationships/tags" Target="../tags/tag146.xml"/><Relationship Id="rId18" Type="http://schemas.openxmlformats.org/officeDocument/2006/relationships/slideLayout" Target="../slideLayouts/slideLayout6.xml"/><Relationship Id="rId3" Type="http://schemas.openxmlformats.org/officeDocument/2006/relationships/tags" Target="../tags/tag136.xml"/><Relationship Id="rId7" Type="http://schemas.openxmlformats.org/officeDocument/2006/relationships/tags" Target="../tags/tag140.xml"/><Relationship Id="rId12" Type="http://schemas.openxmlformats.org/officeDocument/2006/relationships/tags" Target="../tags/tag145.xml"/><Relationship Id="rId17" Type="http://schemas.openxmlformats.org/officeDocument/2006/relationships/tags" Target="../tags/tag150.xml"/><Relationship Id="rId2" Type="http://schemas.openxmlformats.org/officeDocument/2006/relationships/tags" Target="../tags/tag135.xml"/><Relationship Id="rId16" Type="http://schemas.openxmlformats.org/officeDocument/2006/relationships/tags" Target="../tags/tag149.xml"/><Relationship Id="rId1" Type="http://schemas.openxmlformats.org/officeDocument/2006/relationships/tags" Target="../tags/tag134.xml"/><Relationship Id="rId6" Type="http://schemas.openxmlformats.org/officeDocument/2006/relationships/tags" Target="../tags/tag139.xml"/><Relationship Id="rId11" Type="http://schemas.openxmlformats.org/officeDocument/2006/relationships/tags" Target="../tags/tag144.xml"/><Relationship Id="rId5" Type="http://schemas.openxmlformats.org/officeDocument/2006/relationships/tags" Target="../tags/tag138.xml"/><Relationship Id="rId15" Type="http://schemas.openxmlformats.org/officeDocument/2006/relationships/tags" Target="../tags/tag148.xml"/><Relationship Id="rId10" Type="http://schemas.openxmlformats.org/officeDocument/2006/relationships/tags" Target="../tags/tag143.xml"/><Relationship Id="rId19" Type="http://schemas.openxmlformats.org/officeDocument/2006/relationships/image" Target="../media/image17.tmp"/><Relationship Id="rId4" Type="http://schemas.openxmlformats.org/officeDocument/2006/relationships/tags" Target="../tags/tag137.xml"/><Relationship Id="rId9" Type="http://schemas.openxmlformats.org/officeDocument/2006/relationships/tags" Target="../tags/tag142.xml"/><Relationship Id="rId14" Type="http://schemas.openxmlformats.org/officeDocument/2006/relationships/tags" Target="../tags/tag147.xml"/></Relationships>
</file>

<file path=ppt/slides/_rels/slide94.xml.rels><?xml version="1.0" encoding="UTF-8" standalone="yes"?>
<Relationships xmlns="http://schemas.openxmlformats.org/package/2006/relationships"><Relationship Id="rId8" Type="http://schemas.openxmlformats.org/officeDocument/2006/relationships/tags" Target="../tags/tag158.xml"/><Relationship Id="rId13" Type="http://schemas.openxmlformats.org/officeDocument/2006/relationships/tags" Target="../tags/tag163.xml"/><Relationship Id="rId18" Type="http://schemas.openxmlformats.org/officeDocument/2006/relationships/slideLayout" Target="../slideLayouts/slideLayout6.xml"/><Relationship Id="rId3" Type="http://schemas.openxmlformats.org/officeDocument/2006/relationships/tags" Target="../tags/tag153.xml"/><Relationship Id="rId7" Type="http://schemas.openxmlformats.org/officeDocument/2006/relationships/tags" Target="../tags/tag157.xml"/><Relationship Id="rId12" Type="http://schemas.openxmlformats.org/officeDocument/2006/relationships/tags" Target="../tags/tag162.xml"/><Relationship Id="rId17" Type="http://schemas.openxmlformats.org/officeDocument/2006/relationships/tags" Target="../tags/tag167.xml"/><Relationship Id="rId2" Type="http://schemas.openxmlformats.org/officeDocument/2006/relationships/tags" Target="../tags/tag152.xml"/><Relationship Id="rId16" Type="http://schemas.openxmlformats.org/officeDocument/2006/relationships/tags" Target="../tags/tag166.xml"/><Relationship Id="rId1" Type="http://schemas.openxmlformats.org/officeDocument/2006/relationships/tags" Target="../tags/tag151.xml"/><Relationship Id="rId6" Type="http://schemas.openxmlformats.org/officeDocument/2006/relationships/tags" Target="../tags/tag156.xml"/><Relationship Id="rId11" Type="http://schemas.openxmlformats.org/officeDocument/2006/relationships/tags" Target="../tags/tag161.xml"/><Relationship Id="rId5" Type="http://schemas.openxmlformats.org/officeDocument/2006/relationships/tags" Target="../tags/tag155.xml"/><Relationship Id="rId15" Type="http://schemas.openxmlformats.org/officeDocument/2006/relationships/tags" Target="../tags/tag165.xml"/><Relationship Id="rId10" Type="http://schemas.openxmlformats.org/officeDocument/2006/relationships/tags" Target="../tags/tag160.xml"/><Relationship Id="rId19" Type="http://schemas.openxmlformats.org/officeDocument/2006/relationships/image" Target="../media/image17.tmp"/><Relationship Id="rId4" Type="http://schemas.openxmlformats.org/officeDocument/2006/relationships/tags" Target="../tags/tag154.xml"/><Relationship Id="rId9" Type="http://schemas.openxmlformats.org/officeDocument/2006/relationships/tags" Target="../tags/tag159.xml"/><Relationship Id="rId14" Type="http://schemas.openxmlformats.org/officeDocument/2006/relationships/tags" Target="../tags/tag164.xml"/></Relationships>
</file>

<file path=ppt/slides/_rels/slide95.xml.rels><?xml version="1.0" encoding="UTF-8" standalone="yes"?>
<Relationships xmlns="http://schemas.openxmlformats.org/package/2006/relationships"><Relationship Id="rId8" Type="http://schemas.openxmlformats.org/officeDocument/2006/relationships/tags" Target="../tags/tag175.xml"/><Relationship Id="rId13" Type="http://schemas.openxmlformats.org/officeDocument/2006/relationships/tags" Target="../tags/tag180.xml"/><Relationship Id="rId18" Type="http://schemas.openxmlformats.org/officeDocument/2006/relationships/slideLayout" Target="../slideLayouts/slideLayout6.xml"/><Relationship Id="rId3" Type="http://schemas.openxmlformats.org/officeDocument/2006/relationships/tags" Target="../tags/tag170.xml"/><Relationship Id="rId7" Type="http://schemas.openxmlformats.org/officeDocument/2006/relationships/tags" Target="../tags/tag174.xml"/><Relationship Id="rId12" Type="http://schemas.openxmlformats.org/officeDocument/2006/relationships/tags" Target="../tags/tag179.xml"/><Relationship Id="rId17" Type="http://schemas.openxmlformats.org/officeDocument/2006/relationships/tags" Target="../tags/tag184.xml"/><Relationship Id="rId2" Type="http://schemas.openxmlformats.org/officeDocument/2006/relationships/tags" Target="../tags/tag169.xml"/><Relationship Id="rId16" Type="http://schemas.openxmlformats.org/officeDocument/2006/relationships/tags" Target="../tags/tag183.xml"/><Relationship Id="rId1" Type="http://schemas.openxmlformats.org/officeDocument/2006/relationships/tags" Target="../tags/tag168.xml"/><Relationship Id="rId6" Type="http://schemas.openxmlformats.org/officeDocument/2006/relationships/tags" Target="../tags/tag173.xml"/><Relationship Id="rId11" Type="http://schemas.openxmlformats.org/officeDocument/2006/relationships/tags" Target="../tags/tag178.xml"/><Relationship Id="rId5" Type="http://schemas.openxmlformats.org/officeDocument/2006/relationships/tags" Target="../tags/tag172.xml"/><Relationship Id="rId15" Type="http://schemas.openxmlformats.org/officeDocument/2006/relationships/tags" Target="../tags/tag182.xml"/><Relationship Id="rId10" Type="http://schemas.openxmlformats.org/officeDocument/2006/relationships/tags" Target="../tags/tag177.xml"/><Relationship Id="rId19" Type="http://schemas.openxmlformats.org/officeDocument/2006/relationships/image" Target="../media/image17.tmp"/><Relationship Id="rId4" Type="http://schemas.openxmlformats.org/officeDocument/2006/relationships/tags" Target="../tags/tag171.xml"/><Relationship Id="rId9" Type="http://schemas.openxmlformats.org/officeDocument/2006/relationships/tags" Target="../tags/tag176.xml"/><Relationship Id="rId14" Type="http://schemas.openxmlformats.org/officeDocument/2006/relationships/tags" Target="../tags/tag181.xml"/></Relationships>
</file>

<file path=ppt/slides/_rels/slide9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0.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Layout" Target="../slideLayouts/slideLayout6.xml"/><Relationship Id="rId1" Type="http://schemas.openxmlformats.org/officeDocument/2006/relationships/vmlDrawing" Target="../drawings/vmlDrawing9.vml"/><Relationship Id="rId4" Type="http://schemas.openxmlformats.org/officeDocument/2006/relationships/image" Target="../media/image18.wmf"/></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Layout" Target="../slideLayouts/slideLayout6.xml"/><Relationship Id="rId1" Type="http://schemas.openxmlformats.org/officeDocument/2006/relationships/vmlDrawing" Target="../drawings/vmlDrawing10.vml"/><Relationship Id="rId4" Type="http://schemas.openxmlformats.org/officeDocument/2006/relationships/image" Target="../media/image22.wmf"/></Relationships>
</file>

<file path=ppt/slides/_rels/slide111.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2" Type="http://schemas.openxmlformats.org/officeDocument/2006/relationships/slide" Target="slide125.xml"/><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 Target="slide115.xml"/><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0.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0.xml"/></Relationships>
</file>

<file path=ppt/slides/_rels/slide163.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Layout" Target="../slideLayouts/slideLayout6.xml"/><Relationship Id="rId1" Type="http://schemas.openxmlformats.org/officeDocument/2006/relationships/vmlDrawing" Target="../drawings/vmlDrawing11.vml"/><Relationship Id="rId4" Type="http://schemas.openxmlformats.org/officeDocument/2006/relationships/image" Target="../media/image25.wmf"/></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Layout" Target="../slideLayouts/slideLayout6.xml"/><Relationship Id="rId1" Type="http://schemas.openxmlformats.org/officeDocument/2006/relationships/vmlDrawing" Target="../drawings/vmlDrawing12.vml"/><Relationship Id="rId4" Type="http://schemas.openxmlformats.org/officeDocument/2006/relationships/image" Target="../media/image26.wmf"/></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0.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6.xml"/></Relationships>
</file>

<file path=ppt/slides/_rels/slide173.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0.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0.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1.xml"/></Relationships>
</file>

<file path=ppt/slides/_rels/slide23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11.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4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11.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1.xml"/></Relationships>
</file>

<file path=ppt/slides/_rels/slide243.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1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4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11.xml"/></Relationships>
</file>

<file path=ppt/slides/_rels/slide246.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1.xml"/></Relationships>
</file>

<file path=ppt/slides/_rels/slide247.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11.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1.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1.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11.xml"/></Relationships>
</file>

<file path=ppt/slides/_rels/slide25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5.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Layout" Target="../slideLayouts/slideLayout6.xml"/><Relationship Id="rId1" Type="http://schemas.openxmlformats.org/officeDocument/2006/relationships/vmlDrawing" Target="../drawings/vmlDrawing13.vml"/><Relationship Id="rId4" Type="http://schemas.openxmlformats.org/officeDocument/2006/relationships/image" Target="../media/image36.emf"/></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6.xml"/></Relationships>
</file>

<file path=ppt/slides/_rels/slide260.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8.png"/><Relationship Id="rId1" Type="http://schemas.openxmlformats.org/officeDocument/2006/relationships/slideLayout" Target="../slideLayouts/slideLayout6.xml"/></Relationships>
</file>

<file path=ppt/slides/_rels/slide26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5.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alpha val="90195"/>
          </a:schemeClr>
        </a:solidFill>
        <a:effectLst/>
      </p:bgPr>
    </p:bg>
    <p:spTree>
      <p:nvGrpSpPr>
        <p:cNvPr id="1" name=""/>
        <p:cNvGrpSpPr/>
        <p:nvPr/>
      </p:nvGrpSpPr>
      <p:grpSpPr>
        <a:xfrm>
          <a:off x="0" y="0"/>
          <a:ext cx="0" cy="0"/>
          <a:chOff x="0" y="0"/>
          <a:chExt cx="0" cy="0"/>
        </a:xfrm>
      </p:grpSpPr>
      <p:sp>
        <p:nvSpPr>
          <p:cNvPr id="8194" name="矩形: 圆角 2"/>
          <p:cNvSpPr>
            <a:spLocks noChangeArrowheads="1"/>
          </p:cNvSpPr>
          <p:nvPr/>
        </p:nvSpPr>
        <p:spPr bwMode="auto">
          <a:xfrm>
            <a:off x="3179763" y="3141663"/>
            <a:ext cx="5640388" cy="579438"/>
          </a:xfrm>
          <a:prstGeom prst="roundRect">
            <a:avLst>
              <a:gd name="adj" fmla="val 16667"/>
            </a:avLst>
          </a:prstGeom>
          <a:solidFill>
            <a:schemeClr val="accent1"/>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2" name="矩形 1"/>
          <p:cNvSpPr/>
          <p:nvPr/>
        </p:nvSpPr>
        <p:spPr bwMode="auto">
          <a:xfrm>
            <a:off x="0" y="514350"/>
            <a:ext cx="9144000" cy="881063"/>
          </a:xfrm>
          <a:prstGeom prst="rect">
            <a:avLst/>
          </a:prstGeom>
          <a:solidFill>
            <a:srgbClr val="6C4C8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23" name="矩形 22"/>
          <p:cNvSpPr/>
          <p:nvPr/>
        </p:nvSpPr>
        <p:spPr bwMode="auto">
          <a:xfrm>
            <a:off x="0" y="1519238"/>
            <a:ext cx="9144000" cy="53975"/>
          </a:xfrm>
          <a:prstGeom prst="rect">
            <a:avLst/>
          </a:prstGeom>
          <a:solidFill>
            <a:srgbClr val="6C4C8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pic>
        <p:nvPicPr>
          <p:cNvPr id="14342" name="图片 1"/>
          <p:cNvPicPr>
            <a:picLocks noChangeAspect="1"/>
          </p:cNvPicPr>
          <p:nvPr/>
        </p:nvPicPr>
        <p:blipFill>
          <a:blip r:embed="rId3"/>
          <a:srcRect l="36591" t="61440" r="36745" b="14038"/>
          <a:stretch>
            <a:fillRect/>
          </a:stretch>
        </p:blipFill>
        <p:spPr>
          <a:xfrm>
            <a:off x="511175" y="2382838"/>
            <a:ext cx="2282825" cy="2935287"/>
          </a:xfrm>
          <a:prstGeom prst="rect">
            <a:avLst/>
          </a:prstGeom>
          <a:noFill/>
          <a:ln w="9525">
            <a:noFill/>
          </a:ln>
        </p:spPr>
      </p:pic>
      <p:sp>
        <p:nvSpPr>
          <p:cNvPr id="29" name="矩形 28"/>
          <p:cNvSpPr/>
          <p:nvPr/>
        </p:nvSpPr>
        <p:spPr bwMode="auto">
          <a:xfrm>
            <a:off x="0" y="6121400"/>
            <a:ext cx="9155113" cy="604838"/>
          </a:xfrm>
          <a:prstGeom prst="rect">
            <a:avLst/>
          </a:prstGeom>
          <a:solidFill>
            <a:srgbClr val="76AEDD"/>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34" name="Rectangle 24"/>
          <p:cNvSpPr txBox="1">
            <a:spLocks noChangeArrowheads="1"/>
          </p:cNvSpPr>
          <p:nvPr/>
        </p:nvSpPr>
        <p:spPr bwMode="auto">
          <a:xfrm>
            <a:off x="3294063" y="3074988"/>
            <a:ext cx="2554288" cy="714375"/>
          </a:xfrm>
          <a:prstGeom prst="rect">
            <a:avLst/>
          </a:prstGeom>
          <a:noFill/>
          <a:ln w="9525">
            <a:noFill/>
            <a:miter lim="800000"/>
          </a:ln>
        </p:spPr>
        <p:txBody>
          <a:bodyPr anchor="ctr"/>
          <a:lstStyle/>
          <a:p>
            <a:pPr marR="0"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排序</a:t>
            </a:r>
            <a:endParaRPr kumimoji="1" lang="zh-CN" altLang="en-US" sz="4800" i="1" kern="0" cap="none" spc="0" normalizeH="0" baseline="0" noProof="0" dirty="0">
              <a:solidFill>
                <a:srgbClr val="6C4C8F">
                  <a:lumMod val="50000"/>
                </a:srgbClr>
              </a:solidFill>
              <a:effectLst>
                <a:outerShdw blurRad="38100" dist="38100" dir="2700000" algn="tl">
                  <a:srgbClr val="C0C0C0"/>
                </a:outerShdw>
              </a:effectLst>
              <a:latin typeface="+mn-lt"/>
              <a:ea typeface="+mn-ea"/>
              <a:cs typeface="+mn-ea"/>
              <a:sym typeface="+mn-lt"/>
            </a:endParaRPr>
          </a:p>
        </p:txBody>
      </p:sp>
      <p:sp>
        <p:nvSpPr>
          <p:cNvPr id="17" name="Rectangle 24"/>
          <p:cNvSpPr txBox="1">
            <a:spLocks noChangeArrowheads="1"/>
          </p:cNvSpPr>
          <p:nvPr/>
        </p:nvSpPr>
        <p:spPr bwMode="auto">
          <a:xfrm>
            <a:off x="3119438" y="2352675"/>
            <a:ext cx="2554288" cy="714375"/>
          </a:xfrm>
          <a:prstGeom prst="rect">
            <a:avLst/>
          </a:prstGeom>
          <a:noFill/>
          <a:ln w="9525">
            <a:noFill/>
            <a:miter lim="800000"/>
          </a:ln>
        </p:spPr>
        <p:txBody>
          <a:bodyPr anchor="ctr"/>
          <a:lstStyle/>
          <a:p>
            <a:pPr marR="0" defTabSz="914400">
              <a:buClrTx/>
              <a:buSzTx/>
              <a:buFontTx/>
              <a:buNone/>
              <a:defRPr/>
            </a:pPr>
            <a:r>
              <a:rPr kumimoji="1" lang="zh-CN" altLang="en-US" sz="3600" b="0" kern="0" cap="none" spc="0" normalizeH="0" baseline="0" noProof="0" dirty="0">
                <a:solidFill>
                  <a:srgbClr val="FEFFFF"/>
                </a:solidFill>
                <a:latin typeface="+mn-lt"/>
                <a:ea typeface="+mn-ea"/>
                <a:cs typeface="+mn-ea"/>
                <a:sym typeface="+mn-lt"/>
              </a:rPr>
              <a:t>第</a:t>
            </a:r>
            <a:r>
              <a:rPr kumimoji="1" lang="en-US" altLang="zh-CN" sz="3600" b="0" kern="0" cap="none" spc="0" normalizeH="0" baseline="0" noProof="0" dirty="0">
                <a:solidFill>
                  <a:srgbClr val="FEFFFF"/>
                </a:solidFill>
                <a:latin typeface="+mn-lt"/>
                <a:ea typeface="+mn-ea"/>
                <a:cs typeface="+mn-ea"/>
                <a:sym typeface="+mn-lt"/>
              </a:rPr>
              <a:t>8</a:t>
            </a:r>
            <a:r>
              <a:rPr kumimoji="1" lang="zh-CN" altLang="en-US" sz="3600" b="0" kern="0" cap="none" spc="0" normalizeH="0" baseline="0" noProof="0" dirty="0">
                <a:solidFill>
                  <a:srgbClr val="FEFFFF"/>
                </a:solidFill>
                <a:latin typeface="+mn-lt"/>
                <a:ea typeface="+mn-ea"/>
                <a:cs typeface="+mn-ea"/>
                <a:sym typeface="+mn-lt"/>
              </a:rPr>
              <a:t>章</a:t>
            </a:r>
            <a:endParaRPr kumimoji="1" lang="zh-CN" altLang="en-US" sz="4800" b="0" kern="0" cap="none" spc="0" normalizeH="0" baseline="0" noProof="0" dirty="0">
              <a:solidFill>
                <a:srgbClr val="6C4C8F">
                  <a:lumMod val="50000"/>
                </a:srgbClr>
              </a:solidFill>
              <a:latin typeface="+mn-lt"/>
              <a:ea typeface="+mn-ea"/>
              <a:cs typeface="+mn-ea"/>
              <a:sym typeface="+mn-lt"/>
            </a:endParaRPr>
          </a:p>
        </p:txBody>
      </p:sp>
      <p:sp>
        <p:nvSpPr>
          <p:cNvPr id="20" name="Rectangle 24"/>
          <p:cNvSpPr txBox="1">
            <a:spLocks noChangeArrowheads="1"/>
          </p:cNvSpPr>
          <p:nvPr/>
        </p:nvSpPr>
        <p:spPr bwMode="auto">
          <a:xfrm>
            <a:off x="300038" y="641350"/>
            <a:ext cx="8843963" cy="714375"/>
          </a:xfrm>
          <a:prstGeom prst="rect">
            <a:avLst/>
          </a:prstGeom>
          <a:noFill/>
          <a:ln w="9525">
            <a:noFill/>
            <a:miter lim="800000"/>
          </a:ln>
        </p:spPr>
        <p:txBody>
          <a:bodyPr anchor="ctr"/>
          <a:lstStyle/>
          <a:p>
            <a:pPr marR="0" defTabSz="914400">
              <a:buClrTx/>
              <a:buSzTx/>
              <a:buFontTx/>
              <a:buNone/>
              <a:defRPr/>
            </a:pPr>
            <a:r>
              <a:rPr kumimoji="0" lang="zh-CN" altLang="en-US" sz="4000" b="0" kern="1200" cap="none" spc="0" normalizeH="0" baseline="0" noProof="0" dirty="0">
                <a:solidFill>
                  <a:srgbClr val="FEFFFF"/>
                </a:solidFill>
                <a:latin typeface="+mn-lt"/>
                <a:ea typeface="+mn-ea"/>
                <a:cs typeface="+mn-ea"/>
                <a:sym typeface="+mn-lt"/>
              </a:rPr>
              <a:t>数据结构（</a:t>
            </a:r>
            <a:r>
              <a:rPr kumimoji="0" lang="en-US" altLang="zh-CN" sz="4000" b="0" kern="1200" cap="none" spc="0" normalizeH="0" baseline="0" noProof="0" dirty="0">
                <a:solidFill>
                  <a:srgbClr val="FEFFFF"/>
                </a:solidFill>
                <a:latin typeface="+mn-lt"/>
                <a:ea typeface="+mn-ea"/>
                <a:cs typeface="+mn-ea"/>
                <a:sym typeface="+mn-lt"/>
              </a:rPr>
              <a:t>C</a:t>
            </a:r>
            <a:r>
              <a:rPr kumimoji="0" lang="zh-CN" altLang="en-US" sz="4000" b="0" kern="1200" cap="none" spc="0" normalizeH="0" baseline="0" noProof="0" dirty="0">
                <a:solidFill>
                  <a:srgbClr val="FEFFFF"/>
                </a:solidFill>
                <a:latin typeface="+mn-lt"/>
                <a:ea typeface="+mn-ea"/>
                <a:cs typeface="+mn-ea"/>
                <a:sym typeface="+mn-lt"/>
              </a:rPr>
              <a:t>语言版</a:t>
            </a:r>
            <a:r>
              <a:rPr kumimoji="0" lang="zh-CN" altLang="en-US" sz="4000" b="0" kern="1200" cap="none" spc="0" normalizeH="0" baseline="0" noProof="0" dirty="0" smtClean="0">
                <a:solidFill>
                  <a:srgbClr val="FEFFFF"/>
                </a:solidFill>
                <a:latin typeface="+mn-lt"/>
                <a:ea typeface="+mn-ea"/>
                <a:cs typeface="+mn-ea"/>
                <a:sym typeface="+mn-lt"/>
              </a:rPr>
              <a:t>）</a:t>
            </a:r>
            <a:endParaRPr kumimoji="1" lang="zh-CN" altLang="en-US" sz="5400" i="1" kern="0" cap="none" spc="0" normalizeH="0" baseline="0" noProof="0" dirty="0">
              <a:solidFill>
                <a:srgbClr val="6C4C8F">
                  <a:lumMod val="50000"/>
                </a:srgbClr>
              </a:solidFill>
              <a:effectLst>
                <a:outerShdw blurRad="38100" dist="38100" dir="2700000" algn="tl">
                  <a:srgbClr val="C0C0C0"/>
                </a:outerShdw>
              </a:effectLst>
              <a:latin typeface="+mn-lt"/>
              <a:ea typeface="+mn-ea"/>
              <a:cs typeface="+mn-ea"/>
              <a:sym typeface="+mn-lt"/>
            </a:endParaRPr>
          </a:p>
        </p:txBody>
      </p:sp>
    </p:spTree>
  </p:cSld>
  <p:clrMapOvr>
    <a:masterClrMapping/>
  </p:clrMapOvr>
  <p:transition spd="slow"/>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bwMode="auto">
          <a:xfrm>
            <a:off x="0" y="0"/>
            <a:ext cx="9144000" cy="6858000"/>
          </a:xfrm>
          <a:prstGeom prst="rect">
            <a:avLst/>
          </a:prstGeom>
          <a:solidFill>
            <a:schemeClr val="bg1"/>
          </a:solidFill>
          <a:ln w="9525" cap="flat" cmpd="sng" algn="ctr">
            <a:noFill/>
            <a:prstDash val="solid"/>
            <a:round/>
            <a:headEnd type="none" w="med" len="med"/>
            <a:tailEnd type="none" w="med" len="med"/>
          </a:ln>
        </p:spPr>
        <p:txBody>
          <a:bodyPr/>
          <a:lstStyle/>
          <a:p>
            <a:pPr marL="342900" marR="0" lvl="0" indent="-34290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aphicFrame>
        <p:nvGraphicFramePr>
          <p:cNvPr id="6" name="图示 5"/>
          <p:cNvGraphicFramePr/>
          <p:nvPr/>
        </p:nvGraphicFramePr>
        <p:xfrm>
          <a:off x="251520" y="260648"/>
          <a:ext cx="8568952" cy="64087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transition spd="slow"/>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矩形 50"/>
          <p:cNvSpPr/>
          <p:nvPr/>
        </p:nvSpPr>
        <p:spPr bwMode="auto">
          <a:xfrm>
            <a:off x="0" y="1727200"/>
            <a:ext cx="9144000" cy="53975"/>
          </a:xfrm>
          <a:prstGeom prst="rect">
            <a:avLst/>
          </a:prstGeom>
          <a:solidFill>
            <a:srgbClr val="6C4C8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9476B6"/>
              </a:solidFill>
              <a:effectLst/>
              <a:uLnTx/>
              <a:uFillTx/>
              <a:latin typeface="+mn-lt"/>
              <a:ea typeface="+mn-ea"/>
              <a:cs typeface="+mn-ea"/>
              <a:sym typeface="+mn-lt"/>
            </a:endParaRPr>
          </a:p>
        </p:txBody>
      </p:sp>
      <p:pic>
        <p:nvPicPr>
          <p:cNvPr id="17411" name="图片 2"/>
          <p:cNvPicPr>
            <a:picLocks noChangeAspect="1"/>
          </p:cNvPicPr>
          <p:nvPr/>
        </p:nvPicPr>
        <p:blipFill>
          <a:blip r:embed="rId3"/>
          <a:srcRect l="1575" t="11116"/>
          <a:stretch>
            <a:fillRect/>
          </a:stretch>
        </p:blipFill>
        <p:spPr>
          <a:xfrm>
            <a:off x="-4762" y="0"/>
            <a:ext cx="9124950" cy="1627188"/>
          </a:xfrm>
          <a:prstGeom prst="rect">
            <a:avLst/>
          </a:prstGeom>
          <a:noFill/>
          <a:ln w="9525">
            <a:noFill/>
          </a:ln>
        </p:spPr>
      </p:pic>
      <p:sp>
        <p:nvSpPr>
          <p:cNvPr id="63" name="矩形 62"/>
          <p:cNvSpPr/>
          <p:nvPr/>
        </p:nvSpPr>
        <p:spPr bwMode="auto">
          <a:xfrm>
            <a:off x="23813" y="9525"/>
            <a:ext cx="9151938" cy="1609725"/>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64"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grpSp>
        <p:nvGrpSpPr>
          <p:cNvPr id="17415" name="组合 28"/>
          <p:cNvGrpSpPr/>
          <p:nvPr/>
        </p:nvGrpSpPr>
        <p:grpSpPr>
          <a:xfrm>
            <a:off x="236538" y="2132856"/>
            <a:ext cx="590550" cy="627062"/>
            <a:chOff x="6242320" y="1105727"/>
            <a:chExt cx="589786" cy="626517"/>
          </a:xfrm>
        </p:grpSpPr>
        <p:sp>
          <p:nvSpPr>
            <p:cNvPr id="12310" name="TextBox 6"/>
            <p:cNvSpPr txBox="1">
              <a:spLocks noChangeArrowheads="1"/>
            </p:cNvSpPr>
            <p:nvPr/>
          </p:nvSpPr>
          <p:spPr bwMode="auto">
            <a:xfrm>
              <a:off x="6327934" y="1105727"/>
              <a:ext cx="447096" cy="491697"/>
            </a:xfrm>
            <a:prstGeom prst="rect">
              <a:avLst/>
            </a:prstGeom>
            <a:noFill/>
            <a:ln>
              <a:noFill/>
            </a:ln>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FF9900"/>
                  </a:solidFill>
                  <a:effectLst/>
                  <a:uLnTx/>
                  <a:uFillTx/>
                  <a:latin typeface="+mn-lt"/>
                  <a:ea typeface="+mn-ea"/>
                  <a:cs typeface="+mn-ea"/>
                  <a:sym typeface="+mn-lt"/>
                </a:rPr>
                <a:t>01</a:t>
              </a:r>
              <a:endParaRPr kumimoji="0" lang="zh-CN" altLang="en-US" sz="3200" b="0" i="0" u="none" strike="noStrike" kern="1200" cap="none" spc="0" normalizeH="0" baseline="0" noProof="0" dirty="0">
                <a:ln>
                  <a:noFill/>
                </a:ln>
                <a:solidFill>
                  <a:srgbClr val="FF9900"/>
                </a:solidFill>
                <a:effectLst/>
                <a:uLnTx/>
                <a:uFillTx/>
                <a:latin typeface="+mn-lt"/>
                <a:ea typeface="+mn-ea"/>
                <a:cs typeface="+mn-ea"/>
                <a:sym typeface="+mn-lt"/>
              </a:endParaRPr>
            </a:p>
          </p:txBody>
        </p:sp>
        <p:sp>
          <p:nvSpPr>
            <p:cNvPr id="12311" name="文本框 22"/>
            <p:cNvSpPr txBox="1">
              <a:spLocks noChangeArrowheads="1"/>
            </p:cNvSpPr>
            <p:nvPr/>
          </p:nvSpPr>
          <p:spPr bwMode="auto">
            <a:xfrm>
              <a:off x="6242320" y="1516532"/>
              <a:ext cx="589786" cy="215712"/>
            </a:xfrm>
            <a:prstGeom prst="rect">
              <a:avLst/>
            </a:prstGeom>
            <a:noFill/>
            <a:ln>
              <a:noFill/>
            </a:ln>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grpSp>
        <p:nvGrpSpPr>
          <p:cNvPr id="17416" name="组合 45"/>
          <p:cNvGrpSpPr/>
          <p:nvPr/>
        </p:nvGrpSpPr>
        <p:grpSpPr>
          <a:xfrm>
            <a:off x="236538" y="3068638"/>
            <a:ext cx="590550" cy="631825"/>
            <a:chOff x="6242320" y="2373233"/>
            <a:chExt cx="589786" cy="631741"/>
          </a:xfrm>
        </p:grpSpPr>
        <p:sp>
          <p:nvSpPr>
            <p:cNvPr id="12308" name="TextBox 6"/>
            <p:cNvSpPr txBox="1">
              <a:spLocks noChangeArrowheads="1"/>
            </p:cNvSpPr>
            <p:nvPr/>
          </p:nvSpPr>
          <p:spPr bwMode="auto">
            <a:xfrm>
              <a:off x="6327934" y="2373233"/>
              <a:ext cx="447096" cy="492060"/>
            </a:xfrm>
            <a:prstGeom prst="rect">
              <a:avLst/>
            </a:prstGeom>
            <a:noFill/>
            <a:ln>
              <a:noFill/>
            </a:ln>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6C4C8F"/>
                  </a:solidFill>
                  <a:effectLst/>
                  <a:uLnTx/>
                  <a:uFillTx/>
                  <a:latin typeface="+mn-lt"/>
                  <a:ea typeface="+mn-ea"/>
                  <a:cs typeface="+mn-ea"/>
                  <a:sym typeface="+mn-lt"/>
                </a:rPr>
                <a:t>02</a:t>
              </a:r>
              <a:endParaRPr kumimoji="0" lang="zh-CN" altLang="en-US" sz="3200" b="0" i="0" u="none" strike="noStrike" kern="1200" cap="none" spc="0" normalizeH="0" baseline="0" noProof="0" dirty="0">
                <a:ln>
                  <a:noFill/>
                </a:ln>
                <a:solidFill>
                  <a:srgbClr val="6C4C8F"/>
                </a:solidFill>
                <a:effectLst/>
                <a:uLnTx/>
                <a:uFillTx/>
                <a:latin typeface="+mn-lt"/>
                <a:ea typeface="+mn-ea"/>
                <a:cs typeface="+mn-ea"/>
                <a:sym typeface="+mn-lt"/>
              </a:endParaRPr>
            </a:p>
          </p:txBody>
        </p:sp>
        <p:sp>
          <p:nvSpPr>
            <p:cNvPr id="12309" name="文本框 23"/>
            <p:cNvSpPr txBox="1">
              <a:spLocks noChangeArrowheads="1"/>
            </p:cNvSpPr>
            <p:nvPr/>
          </p:nvSpPr>
          <p:spPr bwMode="auto">
            <a:xfrm>
              <a:off x="6242320" y="2789103"/>
              <a:ext cx="589786" cy="215871"/>
            </a:xfrm>
            <a:prstGeom prst="rect">
              <a:avLst/>
            </a:prstGeom>
            <a:noFill/>
            <a:ln>
              <a:noFill/>
            </a:ln>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grpSp>
        <p:nvGrpSpPr>
          <p:cNvPr id="17417" name="组合 48"/>
          <p:cNvGrpSpPr/>
          <p:nvPr/>
        </p:nvGrpSpPr>
        <p:grpSpPr>
          <a:xfrm>
            <a:off x="236538" y="4076700"/>
            <a:ext cx="590550" cy="620713"/>
            <a:chOff x="6242320" y="3640739"/>
            <a:chExt cx="589786" cy="620418"/>
          </a:xfrm>
        </p:grpSpPr>
        <p:sp>
          <p:nvSpPr>
            <p:cNvPr id="12306" name="TextBox 6"/>
            <p:cNvSpPr txBox="1">
              <a:spLocks noChangeArrowheads="1"/>
            </p:cNvSpPr>
            <p:nvPr/>
          </p:nvSpPr>
          <p:spPr bwMode="auto">
            <a:xfrm>
              <a:off x="6327934" y="3640739"/>
              <a:ext cx="447096" cy="491891"/>
            </a:xfrm>
            <a:prstGeom prst="rect">
              <a:avLst/>
            </a:prstGeom>
            <a:noFill/>
            <a:ln>
              <a:noFill/>
            </a:ln>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76AEDD"/>
                  </a:solidFill>
                  <a:effectLst/>
                  <a:uLnTx/>
                  <a:uFillTx/>
                  <a:latin typeface="+mn-lt"/>
                  <a:ea typeface="+mn-ea"/>
                  <a:cs typeface="+mn-ea"/>
                  <a:sym typeface="+mn-lt"/>
                </a:rPr>
                <a:t>03</a:t>
              </a:r>
              <a:endParaRPr kumimoji="0" lang="zh-CN" altLang="en-US" sz="3200" b="0" i="0" u="none" strike="noStrike" kern="1200" cap="none" spc="0" normalizeH="0" baseline="0" noProof="0" dirty="0">
                <a:ln>
                  <a:noFill/>
                </a:ln>
                <a:solidFill>
                  <a:srgbClr val="76AEDD"/>
                </a:solidFill>
                <a:effectLst/>
                <a:uLnTx/>
                <a:uFillTx/>
                <a:latin typeface="+mn-lt"/>
                <a:ea typeface="+mn-ea"/>
                <a:cs typeface="+mn-ea"/>
                <a:sym typeface="+mn-lt"/>
              </a:endParaRPr>
            </a:p>
          </p:txBody>
        </p:sp>
        <p:sp>
          <p:nvSpPr>
            <p:cNvPr id="12307" name="文本框 24"/>
            <p:cNvSpPr txBox="1">
              <a:spLocks noChangeArrowheads="1"/>
            </p:cNvSpPr>
            <p:nvPr/>
          </p:nvSpPr>
          <p:spPr bwMode="auto">
            <a:xfrm>
              <a:off x="6242320" y="4045360"/>
              <a:ext cx="589786" cy="215797"/>
            </a:xfrm>
            <a:prstGeom prst="rect">
              <a:avLst/>
            </a:prstGeom>
            <a:noFill/>
            <a:ln>
              <a:noFill/>
            </a:ln>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grpSp>
        <p:nvGrpSpPr>
          <p:cNvPr id="17419" name="组合 3"/>
          <p:cNvGrpSpPr/>
          <p:nvPr/>
        </p:nvGrpSpPr>
        <p:grpSpPr>
          <a:xfrm>
            <a:off x="3684588" y="336550"/>
            <a:ext cx="1830387" cy="1831975"/>
            <a:chOff x="3117668" y="234317"/>
            <a:chExt cx="2127323" cy="2127323"/>
          </a:xfrm>
        </p:grpSpPr>
        <p:sp>
          <p:nvSpPr>
            <p:cNvPr id="46" name="椭圆 45"/>
            <p:cNvSpPr/>
            <p:nvPr/>
          </p:nvSpPr>
          <p:spPr>
            <a:xfrm>
              <a:off x="3117668" y="234317"/>
              <a:ext cx="2127323" cy="2127323"/>
            </a:xfrm>
            <a:prstGeom prst="ellipse">
              <a:avLst/>
            </a:prstGeom>
            <a:solidFill>
              <a:schemeClr val="tx1">
                <a:alpha val="3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ea"/>
                <a:sym typeface="+mn-lt"/>
              </a:endParaRPr>
            </a:p>
          </p:txBody>
        </p:sp>
        <p:sp>
          <p:nvSpPr>
            <p:cNvPr id="47" name="椭圆 46"/>
            <p:cNvSpPr/>
            <p:nvPr/>
          </p:nvSpPr>
          <p:spPr>
            <a:xfrm>
              <a:off x="3372208" y="482505"/>
              <a:ext cx="1630947" cy="1630947"/>
            </a:xfrm>
            <a:prstGeom prst="ellipse">
              <a:avLst/>
            </a:prstGeom>
            <a:solidFill>
              <a:schemeClr val="bg1"/>
            </a:solidFill>
            <a:ln>
              <a:noFill/>
            </a:ln>
            <a:effectLst>
              <a:glow rad="165100">
                <a:schemeClr val="tx1">
                  <a:alpha val="27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ea"/>
                <a:sym typeface="+mn-lt"/>
              </a:endParaRPr>
            </a:p>
          </p:txBody>
        </p:sp>
        <p:grpSp>
          <p:nvGrpSpPr>
            <p:cNvPr id="17424" name="组合 47"/>
            <p:cNvGrpSpPr/>
            <p:nvPr/>
          </p:nvGrpSpPr>
          <p:grpSpPr>
            <a:xfrm>
              <a:off x="3250509" y="768989"/>
              <a:ext cx="1800200" cy="1001573"/>
              <a:chOff x="3896925" y="1033243"/>
              <a:chExt cx="1350150" cy="751179"/>
            </a:xfrm>
          </p:grpSpPr>
          <p:sp>
            <p:nvSpPr>
              <p:cNvPr id="49" name="TextBox 7"/>
              <p:cNvSpPr txBox="1"/>
              <p:nvPr/>
            </p:nvSpPr>
            <p:spPr>
              <a:xfrm>
                <a:off x="4256708" y="1399568"/>
                <a:ext cx="690504" cy="384356"/>
              </a:xfrm>
              <a:prstGeom prst="rect">
                <a:avLst/>
              </a:prstGeom>
              <a:noFill/>
            </p:spPr>
            <p:txBody>
              <a:bodyPr lIns="0" tIns="0" rIns="0" bIns="0" anchor="b">
                <a:normAutofit/>
              </a:bodyPr>
              <a:lstStyle/>
              <a:p>
                <a:pPr marR="0" algn="dist" defTabSz="914400">
                  <a:buClrTx/>
                  <a:buSzTx/>
                  <a:buFontTx/>
                  <a:buNone/>
                  <a:defRPr/>
                </a:pPr>
                <a:r>
                  <a:rPr kumimoji="0" lang="en-US" altLang="zh-CN" sz="2135" b="0" kern="1200" cap="none" spc="0" normalizeH="0" baseline="0" noProof="0" dirty="0">
                    <a:solidFill>
                      <a:srgbClr val="000000"/>
                    </a:solidFill>
                    <a:latin typeface="+mn-lt"/>
                    <a:ea typeface="+mn-ea"/>
                    <a:cs typeface="+mn-ea"/>
                    <a:sym typeface="+mn-lt"/>
                  </a:rPr>
                  <a:t>target</a:t>
                </a:r>
              </a:p>
            </p:txBody>
          </p:sp>
          <p:sp>
            <p:nvSpPr>
              <p:cNvPr id="50" name="Rectangle 9"/>
              <p:cNvSpPr/>
              <p:nvPr/>
            </p:nvSpPr>
            <p:spPr>
              <a:xfrm>
                <a:off x="3896926" y="1033186"/>
                <a:ext cx="1350565" cy="692670"/>
              </a:xfrm>
              <a:prstGeom prst="rect">
                <a:avLst/>
              </a:prstGeom>
            </p:spPr>
            <p:txBody>
              <a:bodyPr>
                <a:norm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3735" b="1" i="0" u="none" strike="noStrike" kern="1200" cap="none" spc="0" normalizeH="0" baseline="0" noProof="0" dirty="0">
                    <a:ln>
                      <a:noFill/>
                    </a:ln>
                    <a:solidFill>
                      <a:srgbClr val="000000"/>
                    </a:solidFill>
                    <a:effectLst/>
                    <a:uLnTx/>
                    <a:uFillTx/>
                    <a:latin typeface="+mn-lt"/>
                    <a:ea typeface="+mn-ea"/>
                    <a:cs typeface="+mn-ea"/>
                    <a:sym typeface="+mn-lt"/>
                  </a:rPr>
                  <a:t>目标</a:t>
                </a:r>
              </a:p>
            </p:txBody>
          </p:sp>
        </p:grpSp>
      </p:grpSp>
      <p:sp>
        <p:nvSpPr>
          <p:cNvPr id="20" name="Rectangle 114"/>
          <p:cNvSpPr>
            <a:spLocks noChangeArrowheads="1"/>
          </p:cNvSpPr>
          <p:nvPr/>
        </p:nvSpPr>
        <p:spPr bwMode="auto">
          <a:xfrm>
            <a:off x="899478" y="2060575"/>
            <a:ext cx="7894638" cy="4949825"/>
          </a:xfrm>
          <a:prstGeom prst="rect">
            <a:avLst/>
          </a:prstGeom>
          <a:noFill/>
          <a:ln w="9525">
            <a:noFill/>
            <a:miter lim="800000"/>
          </a:ln>
          <a:effectLst/>
        </p:spPr>
        <p:txBody>
          <a:bodyPr/>
          <a:lstStyle/>
          <a:p>
            <a:pPr marL="0" marR="0" lvl="0" indent="0" algn="l" defTabSz="914400" rtl="0" eaLnBrk="0" fontAlgn="base" latinLnBrk="0" hangingPunct="0">
              <a:lnSpc>
                <a:spcPct val="125000"/>
              </a:lnSpc>
              <a:spcBef>
                <a:spcPts val="1000"/>
              </a:spcBef>
              <a:spcAft>
                <a:spcPct val="0"/>
              </a:spcAft>
              <a:buClrTx/>
              <a:buSzTx/>
              <a:buFontTx/>
              <a:buNone/>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掌握直接插入排序</a:t>
            </a:r>
            <a:r>
              <a:rPr kumimoji="1" lang="zh-CN" altLang="en-US" sz="2400" b="0" i="0" u="none" strike="noStrike" kern="1200" cap="none" spc="0" normalizeH="0" baseline="0" noProof="0" dirty="0" smtClean="0">
                <a:ln>
                  <a:noFill/>
                </a:ln>
                <a:solidFill>
                  <a:schemeClr val="tx1"/>
                </a:solidFill>
                <a:effectLst/>
                <a:uLnTx/>
                <a:uFillTx/>
                <a:latin typeface="+mn-lt"/>
                <a:ea typeface="+mn-ea"/>
                <a:cs typeface="+mn-ea"/>
                <a:sym typeface="+mn-lt"/>
              </a:rPr>
              <a:t>、冒泡排序</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、快速排序、简单选择</a:t>
            </a:r>
            <a:r>
              <a:rPr kumimoji="1" lang="zh-CN" altLang="en-US" sz="2400" b="0" i="0" u="none" strike="noStrike" kern="1200" cap="none" spc="0" normalizeH="0" baseline="0" noProof="0" dirty="0" smtClean="0">
                <a:ln>
                  <a:noFill/>
                </a:ln>
                <a:solidFill>
                  <a:schemeClr val="tx1"/>
                </a:solidFill>
                <a:effectLst/>
                <a:uLnTx/>
                <a:uFillTx/>
                <a:latin typeface="+mn-lt"/>
                <a:ea typeface="+mn-ea"/>
                <a:cs typeface="+mn-ea"/>
                <a:sym typeface="+mn-lt"/>
              </a:rPr>
              <a:t>排序的</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算法实现及其性能分析，掌握希尔排序、堆排序的方法及其性能分析。</a:t>
            </a:r>
            <a:r>
              <a:rPr kumimoji="1"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（排序过程必考一道应用题，可能涉及两或三种排序方法）</a:t>
            </a:r>
          </a:p>
          <a:p>
            <a:pPr marL="0" marR="0" lvl="0" indent="0" algn="l" defTabSz="914400" rtl="0" eaLnBrk="0" fontAlgn="base" latinLnBrk="0" hangingPunct="0">
              <a:lnSpc>
                <a:spcPct val="125000"/>
              </a:lnSpc>
              <a:spcBef>
                <a:spcPts val="1000"/>
              </a:spcBef>
              <a:spcAft>
                <a:spcPct val="0"/>
              </a:spcAft>
              <a:buClrTx/>
              <a:buSzTx/>
              <a:buFontTx/>
              <a:buNone/>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各种内部排序方法的比较分析（时间、空间、稳定性、适用情况）</a:t>
            </a:r>
            <a:r>
              <a:rPr kumimoji="1" lang="zh-CN" altLang="en-US" sz="2400" b="0" i="0" u="none" strike="noStrike" kern="1200" cap="none" spc="0" normalizeH="0" baseline="0" noProof="0" dirty="0" smtClean="0">
                <a:ln>
                  <a:noFill/>
                </a:ln>
                <a:solidFill>
                  <a:schemeClr val="tx1"/>
                </a:solidFill>
                <a:effectLst/>
                <a:uLnTx/>
                <a:uFillTx/>
                <a:latin typeface="+mn-lt"/>
                <a:ea typeface="+mn-ea"/>
                <a:cs typeface="+mn-ea"/>
                <a:sym typeface="+mn-lt"/>
              </a:rPr>
              <a:t>。</a:t>
            </a:r>
            <a:endPar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anim calcmode="lin" valueType="num">
                                      <p:cBhvr>
                                        <p:cTn id="8" dur="1000" fill="hold"/>
                                        <p:tgtEl>
                                          <p:spTgt spid="64"/>
                                        </p:tgtEl>
                                        <p:attrNameLst>
                                          <p:attrName>ppt_x</p:attrName>
                                        </p:attrNameLst>
                                      </p:cBhvr>
                                      <p:tavLst>
                                        <p:tav tm="0">
                                          <p:val>
                                            <p:strVal val="#ppt_x"/>
                                          </p:val>
                                        </p:tav>
                                        <p:tav tm="100000">
                                          <p:val>
                                            <p:strVal val="#ppt_x"/>
                                          </p:val>
                                        </p:tav>
                                      </p:tavLst>
                                    </p:anim>
                                    <p:anim calcmode="lin" valueType="num">
                                      <p:cBhvr>
                                        <p:cTn id="9"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11266" name="矩形: 圆角 16"/>
          <p:cNvSpPr>
            <a:spLocks noChangeArrowheads="1"/>
          </p:cNvSpPr>
          <p:nvPr/>
        </p:nvSpPr>
        <p:spPr bwMode="auto">
          <a:xfrm>
            <a:off x="2830513" y="2349183"/>
            <a:ext cx="4432300" cy="504825"/>
          </a:xfrm>
          <a:prstGeom prst="roundRect">
            <a:avLst>
              <a:gd name="adj" fmla="val 16667"/>
            </a:avLst>
          </a:prstGeom>
          <a:solidFill>
            <a:srgbClr val="9476B6"/>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1885950" y="2349183"/>
            <a:ext cx="839788" cy="504825"/>
          </a:xfrm>
          <a:prstGeom prst="roundRect">
            <a:avLst>
              <a:gd name="adj" fmla="val 16667"/>
            </a:avLst>
          </a:prstGeom>
          <a:solidFill>
            <a:schemeClr val="accent1"/>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sp>
        <p:nvSpPr>
          <p:cNvPr id="14" name="文本框 13"/>
          <p:cNvSpPr txBox="1"/>
          <p:nvPr/>
        </p:nvSpPr>
        <p:spPr>
          <a:xfrm>
            <a:off x="2005013" y="2205990"/>
            <a:ext cx="720725" cy="2308324"/>
          </a:xfrm>
          <a:prstGeom prst="rect">
            <a:avLst/>
          </a:prstGeom>
          <a:noFill/>
        </p:spPr>
        <p:txBody>
          <a:bodyPr>
            <a:spAutoFit/>
          </a:bodyPr>
          <a:lstStyle/>
          <a:p>
            <a:pPr marR="0" defTabSz="914400">
              <a:lnSpc>
                <a:spcPct val="150000"/>
              </a:lnSpc>
              <a:buClrTx/>
              <a:buSzTx/>
              <a:buFontTx/>
              <a:buNone/>
              <a:defRPr/>
            </a:pPr>
            <a:r>
              <a:rPr kumimoji="0" lang="en-US" altLang="zh-CN" sz="2400" b="0" kern="1200" cap="none" spc="0" normalizeH="0" baseline="0" noProof="0" dirty="0">
                <a:solidFill>
                  <a:srgbClr val="FEFFFF"/>
                </a:solidFill>
                <a:latin typeface="+mn-lt"/>
                <a:ea typeface="+mn-ea"/>
                <a:cs typeface="+mn-ea"/>
                <a:sym typeface="+mn-lt"/>
              </a:rPr>
              <a:t>8.1</a:t>
            </a:r>
            <a:endParaRPr kumimoji="0" lang="zh-CN" altLang="en-US" sz="2400" b="0" kern="1200" cap="none" spc="0" normalizeH="0" baseline="0" noProof="0" dirty="0">
              <a:solidFill>
                <a:srgbClr val="FEFFFF"/>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8.2</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8.3</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smtClean="0">
                <a:solidFill>
                  <a:srgbClr val="000000">
                    <a:lumMod val="95000"/>
                    <a:lumOff val="5000"/>
                  </a:srgbClr>
                </a:solidFill>
                <a:latin typeface="+mn-lt"/>
                <a:ea typeface="+mn-ea"/>
                <a:cs typeface="+mn-ea"/>
                <a:sym typeface="+mn-lt"/>
              </a:rPr>
              <a:t>8.4</a:t>
            </a:r>
            <a:endParaRPr kumimoji="0" lang="en-US" altLang="zh-CN" sz="24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2843530" y="2205990"/>
            <a:ext cx="4177665" cy="2308324"/>
          </a:xfrm>
          <a:prstGeom prst="rect">
            <a:avLst/>
          </a:prstGeom>
          <a:noFill/>
        </p:spPr>
        <p:txBody>
          <a:bodyPr wrap="square">
            <a:spAutoFit/>
          </a:bodyPr>
          <a:lstStyle/>
          <a:p>
            <a:pPr marR="0" defTabSz="914400">
              <a:lnSpc>
                <a:spcPct val="150000"/>
              </a:lnSpc>
              <a:buClrTx/>
              <a:buSzTx/>
              <a:buFontTx/>
              <a:buNone/>
              <a:defRPr/>
            </a:pPr>
            <a:r>
              <a:rPr kumimoji="0" lang="zh-CN" altLang="en-US" sz="2400" b="0" kern="1200" cap="none" spc="0" normalizeH="0" baseline="0" noProof="0" dirty="0">
                <a:solidFill>
                  <a:schemeClr val="bg1"/>
                </a:solidFill>
                <a:latin typeface="+mn-lt"/>
                <a:ea typeface="+mn-ea"/>
                <a:cs typeface="+mn-ea"/>
                <a:sym typeface="+mn-lt"/>
              </a:rPr>
              <a:t>　概述</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插入排序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交换排序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选择</a:t>
            </a:r>
            <a:r>
              <a:rPr kumimoji="0" lang="zh-CN" altLang="en-US" sz="2400" b="0" kern="1200" cap="none" spc="0" normalizeH="0" baseline="0" noProof="0" dirty="0" smtClean="0">
                <a:solidFill>
                  <a:srgbClr val="000000">
                    <a:lumMod val="95000"/>
                    <a:lumOff val="5000"/>
                  </a:srgbClr>
                </a:solidFill>
                <a:latin typeface="+mn-lt"/>
                <a:ea typeface="+mn-ea"/>
                <a:cs typeface="+mn-ea"/>
                <a:sym typeface="+mn-lt"/>
              </a:rPr>
              <a:t>排序</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p:txBody>
      </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transition spd="slow"/>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0" name="Rectangle 30"/>
          <p:cNvSpPr>
            <a:spLocks noChangeArrowheads="1"/>
          </p:cNvSpPr>
          <p:nvPr/>
        </p:nvSpPr>
        <p:spPr bwMode="auto">
          <a:xfrm>
            <a:off x="550863" y="1552575"/>
            <a:ext cx="8610600" cy="1006475"/>
          </a:xfrm>
          <a:prstGeom prst="rect">
            <a:avLst/>
          </a:prstGeom>
          <a:noFill/>
          <a:ln w="9525">
            <a:noFill/>
            <a:miter lim="800000"/>
          </a:ln>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tab pos="666750" algn="l"/>
              </a:tabLst>
              <a:defRPr/>
            </a:pPr>
            <a:r>
              <a:rPr kumimoji="1" lang="en-US" altLang="zh-CN" sz="3200" b="0" i="0" u="none" strike="noStrike" kern="1200" cap="none" spc="0" normalizeH="0" baseline="0" noProof="0" dirty="0">
                <a:ln>
                  <a:noFill/>
                </a:ln>
                <a:solidFill>
                  <a:srgbClr val="FF3300"/>
                </a:solidFill>
                <a:effectLst/>
                <a:uLnTx/>
                <a:uFillTx/>
                <a:latin typeface="+mn-lt"/>
                <a:ea typeface="+mn-ea"/>
                <a:cs typeface="+mn-ea"/>
                <a:sym typeface="+mn-lt"/>
              </a:rPr>
              <a:t>1. </a:t>
            </a:r>
            <a:r>
              <a:rPr kumimoji="1" lang="zh-CN" altLang="en-US" sz="3200" b="0" i="0" u="none" strike="noStrike" kern="1200" cap="none" spc="0" normalizeH="0" baseline="0" noProof="0" dirty="0">
                <a:ln>
                  <a:noFill/>
                </a:ln>
                <a:solidFill>
                  <a:srgbClr val="FF3300"/>
                </a:solidFill>
                <a:effectLst/>
                <a:uLnTx/>
                <a:uFillTx/>
                <a:latin typeface="+mn-lt"/>
                <a:ea typeface="+mn-ea"/>
                <a:cs typeface="+mn-ea"/>
                <a:sym typeface="+mn-lt"/>
              </a:rPr>
              <a:t>什么是排序？</a:t>
            </a:r>
          </a:p>
          <a:p>
            <a:pPr marL="0" marR="0" lvl="0" indent="0" algn="l" defTabSz="914400" rtl="0" eaLnBrk="1" fontAlgn="base" latinLnBrk="0" hangingPunct="1">
              <a:lnSpc>
                <a:spcPct val="100000"/>
              </a:lnSpc>
              <a:spcBef>
                <a:spcPct val="0"/>
              </a:spcBef>
              <a:spcAft>
                <a:spcPct val="0"/>
              </a:spcAft>
              <a:buClrTx/>
              <a:buSzTx/>
              <a:buFontTx/>
              <a:buNone/>
              <a:tabLst>
                <a:tab pos="666750" algn="l"/>
              </a:tabLst>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  将一组杂乱无章的</a:t>
            </a:r>
            <a:r>
              <a:rPr kumimoji="1" lang="zh-CN" altLang="en-US" sz="2800" b="0" i="0" u="none" strike="noStrike" kern="1200" cap="none" spc="0" normalizeH="0" baseline="0" noProof="0" dirty="0">
                <a:ln>
                  <a:noFill/>
                </a:ln>
                <a:solidFill>
                  <a:schemeClr val="accent2"/>
                </a:solidFill>
                <a:effectLst/>
                <a:uLnTx/>
                <a:uFillTx/>
                <a:latin typeface="+mn-lt"/>
                <a:ea typeface="+mn-ea"/>
                <a:cs typeface="+mn-ea"/>
                <a:sym typeface="+mn-lt"/>
              </a:rPr>
              <a:t>数据</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按一定</a:t>
            </a:r>
            <a:r>
              <a:rPr kumimoji="1" lang="zh-CN" altLang="en-US" sz="2800" b="0" i="0" u="none" strike="noStrike" kern="1200" cap="none" spc="0" normalizeH="0" baseline="0" noProof="0" dirty="0">
                <a:ln>
                  <a:noFill/>
                </a:ln>
                <a:solidFill>
                  <a:schemeClr val="accent2"/>
                </a:solidFill>
                <a:effectLst/>
                <a:uLnTx/>
                <a:uFillTx/>
                <a:latin typeface="+mn-lt"/>
                <a:ea typeface="+mn-ea"/>
                <a:cs typeface="+mn-ea"/>
                <a:sym typeface="+mn-lt"/>
              </a:rPr>
              <a:t>规律</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顺次排列起来。</a:t>
            </a:r>
            <a:r>
              <a:rPr kumimoji="1" lang="zh-CN" altLang="en-US" sz="2800" b="0" i="0" u="none" strike="noStrike" kern="1200" cap="none" spc="0" normalizeH="0" baseline="0" noProof="0" dirty="0">
                <a:ln>
                  <a:noFill/>
                </a:ln>
                <a:solidFill>
                  <a:schemeClr val="tx1"/>
                </a:solidFill>
                <a:effectLst>
                  <a:outerShdw blurRad="38100" dist="38100" dir="2700000" algn="tl">
                    <a:srgbClr val="C0C0C0"/>
                  </a:outerShdw>
                </a:effectLst>
                <a:uLnTx/>
                <a:uFillTx/>
                <a:latin typeface="+mn-lt"/>
                <a:ea typeface="+mn-ea"/>
                <a:cs typeface="+mn-ea"/>
                <a:sym typeface="+mn-lt"/>
              </a:rPr>
              <a:t> </a:t>
            </a:r>
          </a:p>
        </p:txBody>
      </p:sp>
      <p:sp>
        <p:nvSpPr>
          <p:cNvPr id="890911" name="Rectangle 31"/>
          <p:cNvSpPr>
            <a:spLocks noChangeArrowheads="1"/>
          </p:cNvSpPr>
          <p:nvPr/>
        </p:nvSpPr>
        <p:spPr bwMode="auto">
          <a:xfrm>
            <a:off x="550863" y="3856038"/>
            <a:ext cx="4699000" cy="5794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rgbClr val="FF3300"/>
                </a:solidFill>
                <a:effectLst/>
                <a:uLnTx/>
                <a:uFillTx/>
                <a:latin typeface="+mn-lt"/>
                <a:ea typeface="+mn-ea"/>
                <a:cs typeface="+mn-ea"/>
                <a:sym typeface="+mn-lt"/>
              </a:rPr>
              <a:t>2. </a:t>
            </a:r>
            <a:r>
              <a:rPr kumimoji="0" lang="zh-CN" altLang="en-US" sz="3200" b="0" i="0" u="none" strike="noStrike" kern="1200" cap="none" spc="0" normalizeH="0" baseline="0" noProof="0">
                <a:ln>
                  <a:noFill/>
                </a:ln>
                <a:solidFill>
                  <a:srgbClr val="FF3300"/>
                </a:solidFill>
                <a:effectLst/>
                <a:uLnTx/>
                <a:uFillTx/>
                <a:latin typeface="+mn-lt"/>
                <a:ea typeface="+mn-ea"/>
                <a:cs typeface="+mn-ea"/>
                <a:sym typeface="+mn-lt"/>
              </a:rPr>
              <a:t>排序的目的是什么？</a:t>
            </a:r>
          </a:p>
        </p:txBody>
      </p:sp>
      <p:sp>
        <p:nvSpPr>
          <p:cNvPr id="890912" name="AutoShape 32"/>
          <p:cNvSpPr>
            <a:spLocks noChangeArrowheads="1"/>
          </p:cNvSpPr>
          <p:nvPr/>
        </p:nvSpPr>
        <p:spPr bwMode="auto">
          <a:xfrm>
            <a:off x="1389063" y="3063875"/>
            <a:ext cx="2678113" cy="546100"/>
          </a:xfrm>
          <a:prstGeom prst="wedgeRoundRectCallout">
            <a:avLst>
              <a:gd name="adj1" fmla="val 56935"/>
              <a:gd name="adj2" fmla="val -195060"/>
              <a:gd name="adj3" fmla="val 16667"/>
            </a:avLst>
          </a:prstGeom>
          <a:solidFill>
            <a:schemeClr val="accent1">
              <a:lumMod val="60000"/>
              <a:lumOff val="40000"/>
            </a:schemeClr>
          </a:solidFill>
          <a:ln w="9525">
            <a:solidFill>
              <a:schemeClr val="tx1"/>
            </a:solidFill>
            <a:miter lim="800000"/>
          </a:ln>
        </p:spPr>
        <p:txBody>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bg1"/>
                </a:solidFill>
                <a:effectLst/>
                <a:uLnTx/>
                <a:uFillTx/>
                <a:latin typeface="+mn-lt"/>
                <a:ea typeface="+mn-ea"/>
                <a:cs typeface="+mn-ea"/>
                <a:sym typeface="+mn-lt"/>
              </a:rPr>
              <a:t>存放在数据表中</a:t>
            </a:r>
          </a:p>
        </p:txBody>
      </p:sp>
      <p:sp>
        <p:nvSpPr>
          <p:cNvPr id="890913" name="AutoShape 33"/>
          <p:cNvSpPr>
            <a:spLocks noChangeArrowheads="1"/>
          </p:cNvSpPr>
          <p:nvPr/>
        </p:nvSpPr>
        <p:spPr bwMode="auto">
          <a:xfrm>
            <a:off x="6494463" y="3063875"/>
            <a:ext cx="2487613" cy="546100"/>
          </a:xfrm>
          <a:prstGeom prst="wedgeRoundRectCallout">
            <a:avLst>
              <a:gd name="adj1" fmla="val -62190"/>
              <a:gd name="adj2" fmla="val -188954"/>
              <a:gd name="adj3" fmla="val 16667"/>
            </a:avLst>
          </a:prstGeom>
          <a:solidFill>
            <a:schemeClr val="accent1">
              <a:lumMod val="60000"/>
              <a:lumOff val="40000"/>
            </a:schemeClr>
          </a:solidFill>
          <a:ln w="9525">
            <a:solidFill>
              <a:schemeClr val="tx1"/>
            </a:solidFill>
            <a:miter lim="800000"/>
          </a:ln>
        </p:spPr>
        <p:txBody>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bg1"/>
                </a:solidFill>
                <a:effectLst/>
                <a:uLnTx/>
                <a:uFillTx/>
                <a:latin typeface="+mn-lt"/>
                <a:ea typeface="+mn-ea"/>
                <a:cs typeface="+mn-ea"/>
                <a:sym typeface="+mn-lt"/>
              </a:rPr>
              <a:t>按关键字排序</a:t>
            </a:r>
          </a:p>
        </p:txBody>
      </p:sp>
      <p:sp>
        <p:nvSpPr>
          <p:cNvPr id="890914" name="Rectangle 34"/>
          <p:cNvSpPr>
            <a:spLocks noChangeArrowheads="1"/>
          </p:cNvSpPr>
          <p:nvPr/>
        </p:nvSpPr>
        <p:spPr bwMode="auto">
          <a:xfrm>
            <a:off x="4972050" y="3916363"/>
            <a:ext cx="2860675" cy="519113"/>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a:ln>
                  <a:noFill/>
                </a:ln>
                <a:solidFill>
                  <a:schemeClr val="tx1"/>
                </a:solidFill>
                <a:effectLst/>
                <a:uLnTx/>
                <a:uFillTx/>
                <a:latin typeface="+mn-lt"/>
                <a:ea typeface="+mn-ea"/>
                <a:cs typeface="+mn-ea"/>
                <a:sym typeface="+mn-lt"/>
              </a:rPr>
              <a:t>便于查找！</a:t>
            </a:r>
          </a:p>
        </p:txBody>
      </p:sp>
      <p:sp>
        <p:nvSpPr>
          <p:cNvPr id="20487" name="标题 1"/>
          <p:cNvSpPr txBox="1"/>
          <p:nvPr/>
        </p:nvSpPr>
        <p:spPr>
          <a:xfrm>
            <a:off x="844550" y="236538"/>
            <a:ext cx="6400800" cy="455612"/>
          </a:xfrm>
          <a:prstGeom prst="rect">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概述</a:t>
            </a:r>
          </a:p>
        </p:txBody>
      </p:sp>
      <p:sp>
        <p:nvSpPr>
          <p:cNvPr id="13"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890910">
                                            <p:txEl>
                                              <p:pRg st="0" end="0"/>
                                            </p:txEl>
                                          </p:spTgt>
                                        </p:tgtEl>
                                        <p:attrNameLst>
                                          <p:attrName>style.visibility</p:attrName>
                                        </p:attrNameLst>
                                      </p:cBhvr>
                                      <p:to>
                                        <p:strVal val="visible"/>
                                      </p:to>
                                    </p:set>
                                    <p:animEffect transition="in" filter="strips(downRight)">
                                      <p:cBhvr>
                                        <p:cTn id="7" dur="500"/>
                                        <p:tgtEl>
                                          <p:spTgt spid="8909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890910">
                                            <p:txEl>
                                              <p:pRg st="1" end="1"/>
                                            </p:txEl>
                                          </p:spTgt>
                                        </p:tgtEl>
                                        <p:attrNameLst>
                                          <p:attrName>style.visibility</p:attrName>
                                        </p:attrNameLst>
                                      </p:cBhvr>
                                      <p:to>
                                        <p:strVal val="visible"/>
                                      </p:to>
                                    </p:set>
                                    <p:animEffect transition="in" filter="strips(downRight)">
                                      <p:cBhvr>
                                        <p:cTn id="12" dur="500"/>
                                        <p:tgtEl>
                                          <p:spTgt spid="89091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890912"/>
                                        </p:tgtEl>
                                        <p:attrNameLst>
                                          <p:attrName>style.visibility</p:attrName>
                                        </p:attrNameLst>
                                      </p:cBhvr>
                                      <p:to>
                                        <p:strVal val="visible"/>
                                      </p:to>
                                    </p:set>
                                    <p:anim calcmode="lin" valueType="num">
                                      <p:cBhvr additive="base">
                                        <p:cTn id="17" dur="500" fill="hold"/>
                                        <p:tgtEl>
                                          <p:spTgt spid="890912"/>
                                        </p:tgtEl>
                                        <p:attrNameLst>
                                          <p:attrName>ppt_x</p:attrName>
                                        </p:attrNameLst>
                                      </p:cBhvr>
                                      <p:tavLst>
                                        <p:tav tm="0">
                                          <p:val>
                                            <p:strVal val="0-#ppt_w/2"/>
                                          </p:val>
                                        </p:tav>
                                        <p:tav tm="100000">
                                          <p:val>
                                            <p:strVal val="#ppt_x"/>
                                          </p:val>
                                        </p:tav>
                                      </p:tavLst>
                                    </p:anim>
                                    <p:anim calcmode="lin" valueType="num">
                                      <p:cBhvr additive="base">
                                        <p:cTn id="18" dur="500" fill="hold"/>
                                        <p:tgtEl>
                                          <p:spTgt spid="89091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890913"/>
                                        </p:tgtEl>
                                        <p:attrNameLst>
                                          <p:attrName>style.visibility</p:attrName>
                                        </p:attrNameLst>
                                      </p:cBhvr>
                                      <p:to>
                                        <p:strVal val="visible"/>
                                      </p:to>
                                    </p:set>
                                    <p:anim calcmode="lin" valueType="num">
                                      <p:cBhvr additive="base">
                                        <p:cTn id="23" dur="500" fill="hold"/>
                                        <p:tgtEl>
                                          <p:spTgt spid="890913"/>
                                        </p:tgtEl>
                                        <p:attrNameLst>
                                          <p:attrName>ppt_x</p:attrName>
                                        </p:attrNameLst>
                                      </p:cBhvr>
                                      <p:tavLst>
                                        <p:tav tm="0">
                                          <p:val>
                                            <p:strVal val="1+#ppt_w/2"/>
                                          </p:val>
                                        </p:tav>
                                        <p:tav tm="100000">
                                          <p:val>
                                            <p:strVal val="#ppt_x"/>
                                          </p:val>
                                        </p:tav>
                                      </p:tavLst>
                                    </p:anim>
                                    <p:anim calcmode="lin" valueType="num">
                                      <p:cBhvr additive="base">
                                        <p:cTn id="24" dur="500" fill="hold"/>
                                        <p:tgtEl>
                                          <p:spTgt spid="890913"/>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8" presetClass="entr" presetSubtype="6" fill="hold" grpId="0" nodeType="clickEffect">
                                  <p:stCondLst>
                                    <p:cond delay="0"/>
                                  </p:stCondLst>
                                  <p:childTnLst>
                                    <p:set>
                                      <p:cBhvr>
                                        <p:cTn id="28" dur="1" fill="hold">
                                          <p:stCondLst>
                                            <p:cond delay="0"/>
                                          </p:stCondLst>
                                        </p:cTn>
                                        <p:tgtEl>
                                          <p:spTgt spid="890911"/>
                                        </p:tgtEl>
                                        <p:attrNameLst>
                                          <p:attrName>style.visibility</p:attrName>
                                        </p:attrNameLst>
                                      </p:cBhvr>
                                      <p:to>
                                        <p:strVal val="visible"/>
                                      </p:to>
                                    </p:set>
                                    <p:animEffect transition="in" filter="strips(downRight)">
                                      <p:cBhvr>
                                        <p:cTn id="29" dur="500"/>
                                        <p:tgtEl>
                                          <p:spTgt spid="890911"/>
                                        </p:tgtEl>
                                      </p:cBhvr>
                                    </p:animEffect>
                                  </p:childTnLst>
                                </p:cTn>
                              </p:par>
                            </p:childTnLst>
                          </p:cTn>
                        </p:par>
                      </p:childTnLst>
                    </p:cTn>
                  </p:par>
                  <p:par>
                    <p:cTn id="30" fill="hold">
                      <p:stCondLst>
                        <p:cond delay="indefinite"/>
                      </p:stCondLst>
                      <p:childTnLst>
                        <p:par>
                          <p:cTn id="31" fill="hold">
                            <p:stCondLst>
                              <p:cond delay="0"/>
                            </p:stCondLst>
                            <p:childTnLst>
                              <p:par>
                                <p:cTn id="32" presetID="23" presetClass="entr" presetSubtype="16" fill="hold" grpId="0" nodeType="clickEffect">
                                  <p:stCondLst>
                                    <p:cond delay="0"/>
                                  </p:stCondLst>
                                  <p:childTnLst>
                                    <p:set>
                                      <p:cBhvr>
                                        <p:cTn id="33" dur="1" fill="hold">
                                          <p:stCondLst>
                                            <p:cond delay="0"/>
                                          </p:stCondLst>
                                        </p:cTn>
                                        <p:tgtEl>
                                          <p:spTgt spid="890914"/>
                                        </p:tgtEl>
                                        <p:attrNameLst>
                                          <p:attrName>style.visibility</p:attrName>
                                        </p:attrNameLst>
                                      </p:cBhvr>
                                      <p:to>
                                        <p:strVal val="visible"/>
                                      </p:to>
                                    </p:set>
                                    <p:anim calcmode="lin" valueType="num">
                                      <p:cBhvr>
                                        <p:cTn id="34" dur="500" fill="hold"/>
                                        <p:tgtEl>
                                          <p:spTgt spid="890914"/>
                                        </p:tgtEl>
                                        <p:attrNameLst>
                                          <p:attrName>ppt_w</p:attrName>
                                        </p:attrNameLst>
                                      </p:cBhvr>
                                      <p:tavLst>
                                        <p:tav tm="0">
                                          <p:val>
                                            <p:fltVal val="0"/>
                                          </p:val>
                                        </p:tav>
                                        <p:tav tm="100000">
                                          <p:val>
                                            <p:strVal val="#ppt_w"/>
                                          </p:val>
                                        </p:tav>
                                      </p:tavLst>
                                    </p:anim>
                                    <p:anim calcmode="lin" valueType="num">
                                      <p:cBhvr>
                                        <p:cTn id="35" dur="500" fill="hold"/>
                                        <p:tgtEl>
                                          <p:spTgt spid="890914"/>
                                        </p:tgtEl>
                                        <p:attrNameLst>
                                          <p:attrName>ppt_h</p:attrName>
                                        </p:attrNameLst>
                                      </p:cBhvr>
                                      <p:tavLst>
                                        <p:tav tm="0">
                                          <p:val>
                                            <p:fltVal val="0"/>
                                          </p:val>
                                        </p:tav>
                                        <p:tav tm="100000">
                                          <p:val>
                                            <p:strVal val="#ppt_h"/>
                                          </p:val>
                                        </p:tav>
                                      </p:tavLst>
                                    </p:anim>
                                  </p:childTnLst>
                                </p:cTn>
                              </p:par>
                              <p:par>
                                <p:cTn id="36" presetID="42" presetClass="entr" presetSubtype="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1000"/>
                                        <p:tgtEl>
                                          <p:spTgt spid="13"/>
                                        </p:tgtEl>
                                      </p:cBhvr>
                                    </p:animEffect>
                                    <p:anim calcmode="lin" valueType="num">
                                      <p:cBhvr>
                                        <p:cTn id="39" dur="1000" fill="hold"/>
                                        <p:tgtEl>
                                          <p:spTgt spid="13"/>
                                        </p:tgtEl>
                                        <p:attrNameLst>
                                          <p:attrName>ppt_x</p:attrName>
                                        </p:attrNameLst>
                                      </p:cBhvr>
                                      <p:tavLst>
                                        <p:tav tm="0">
                                          <p:val>
                                            <p:strVal val="#ppt_x"/>
                                          </p:val>
                                        </p:tav>
                                        <p:tav tm="100000">
                                          <p:val>
                                            <p:strVal val="#ppt_x"/>
                                          </p:val>
                                        </p:tav>
                                      </p:tavLst>
                                    </p:anim>
                                    <p:anim calcmode="lin" valueType="num">
                                      <p:cBhvr>
                                        <p:cTn id="4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0910" grpId="0" build="p"/>
      <p:bldP spid="890911" grpId="0"/>
      <p:bldP spid="890912" grpId="0" animBg="1"/>
      <p:bldP spid="890913" grpId="0" animBg="1"/>
      <p:bldP spid="8909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91" name="Rectangle 7"/>
          <p:cNvSpPr>
            <a:spLocks noChangeArrowheads="1"/>
          </p:cNvSpPr>
          <p:nvPr/>
        </p:nvSpPr>
        <p:spPr bwMode="auto">
          <a:xfrm>
            <a:off x="647700" y="1208088"/>
            <a:ext cx="7772400" cy="658813"/>
          </a:xfrm>
          <a:prstGeom prst="rect">
            <a:avLst/>
          </a:prstGeom>
          <a:noFill/>
          <a:ln w="9525">
            <a:noFill/>
            <a:miter lim="800000"/>
          </a:ln>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r>
              <a:rPr kumimoji="1" lang="en-US" altLang="zh-CN" sz="3200" b="0" i="0" u="none" strike="noStrike" kern="1200" cap="none" spc="0" normalizeH="0" baseline="0" noProof="0" dirty="0">
                <a:ln>
                  <a:noFill/>
                </a:ln>
                <a:solidFill>
                  <a:srgbClr val="FF3300"/>
                </a:solidFill>
                <a:effectLst/>
                <a:uLnTx/>
                <a:uFillTx/>
                <a:latin typeface="+mn-lt"/>
                <a:ea typeface="+mn-ea"/>
                <a:cs typeface="+mn-ea"/>
                <a:sym typeface="+mn-lt"/>
              </a:rPr>
              <a:t>3. </a:t>
            </a:r>
            <a:r>
              <a:rPr kumimoji="1" lang="zh-CN" altLang="en-US" sz="3200" b="0" i="0" u="none" strike="noStrike" kern="1200" cap="none" spc="0" normalizeH="0" baseline="0" noProof="0" dirty="0">
                <a:ln>
                  <a:noFill/>
                </a:ln>
                <a:solidFill>
                  <a:srgbClr val="FF3300"/>
                </a:solidFill>
                <a:effectLst/>
                <a:uLnTx/>
                <a:uFillTx/>
                <a:latin typeface="+mn-lt"/>
                <a:ea typeface="+mn-ea"/>
                <a:cs typeface="+mn-ea"/>
                <a:sym typeface="+mn-lt"/>
              </a:rPr>
              <a:t>什么叫内部排序？什么叫外部排序？</a:t>
            </a:r>
            <a:r>
              <a:rPr kumimoji="1" lang="zh-CN" altLang="en-US" sz="2800" b="0" i="0" u="none" strike="noStrike" kern="1200" cap="none" spc="0" normalizeH="0" baseline="0" noProof="0" dirty="0">
                <a:ln>
                  <a:noFill/>
                </a:ln>
                <a:solidFill>
                  <a:schemeClr val="accent1"/>
                </a:solidFill>
                <a:effectLst>
                  <a:outerShdw blurRad="38100" dist="38100" dir="2700000" algn="tl">
                    <a:srgbClr val="C0C0C0"/>
                  </a:outerShdw>
                </a:effectLst>
                <a:uLnTx/>
                <a:uFillTx/>
                <a:latin typeface="+mn-lt"/>
                <a:ea typeface="+mn-ea"/>
                <a:cs typeface="+mn-ea"/>
                <a:sym typeface="+mn-lt"/>
              </a:rPr>
              <a:t> </a:t>
            </a:r>
          </a:p>
        </p:txBody>
      </p:sp>
      <p:sp>
        <p:nvSpPr>
          <p:cNvPr id="989192" name="Text Box 8"/>
          <p:cNvSpPr txBox="1">
            <a:spLocks noChangeArrowheads="1"/>
          </p:cNvSpPr>
          <p:nvPr/>
        </p:nvSpPr>
        <p:spPr bwMode="auto">
          <a:xfrm>
            <a:off x="1522413" y="2117725"/>
            <a:ext cx="7178675" cy="2247900"/>
          </a:xfrm>
          <a:prstGeom prst="rect">
            <a:avLst/>
          </a:prstGeom>
          <a:noFill/>
          <a:ln>
            <a:noFill/>
          </a:ln>
        </p:spPr>
        <p:txBody>
          <a:bodyPr>
            <a:spAutoFit/>
          </a:bodyPr>
          <a:lstStyle>
            <a:lvl1pPr marL="762000" indent="-7620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
                <a:srgbClr val="CC00CC"/>
              </a:buClr>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若待排序记录都在内存中，称为内部排序；</a:t>
            </a:r>
          </a:p>
          <a:p>
            <a:pPr marL="762000" marR="0" lvl="0" indent="-762000" algn="l" defTabSz="914400" rtl="0" eaLnBrk="1" fontAlgn="base" latinLnBrk="0" hangingPunct="1">
              <a:lnSpc>
                <a:spcPct val="125000"/>
              </a:lnSpc>
              <a:spcBef>
                <a:spcPct val="0"/>
              </a:spcBef>
              <a:spcAft>
                <a:spcPct val="0"/>
              </a:spcAft>
              <a:buClr>
                <a:srgbClr val="CC00CC"/>
              </a:buClr>
              <a:buSzTx/>
              <a:buFont typeface="Arial" panose="020B0604020202020204" pitchFamily="34" charset="0"/>
              <a:buChar char="•"/>
              <a:defRPr/>
            </a:pPr>
            <a:endPar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0"/>
              </a:spcBef>
              <a:spcAft>
                <a:spcPct val="0"/>
              </a:spcAft>
              <a:buClr>
                <a:srgbClr val="CC00CC"/>
              </a:buClr>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若待排序记录一部分在内存，一部分在外存，则称为外部排序。</a:t>
            </a:r>
          </a:p>
        </p:txBody>
      </p:sp>
      <p:sp>
        <p:nvSpPr>
          <p:cNvPr id="989193" name="Text Box 9"/>
          <p:cNvSpPr txBox="1">
            <a:spLocks noChangeArrowheads="1"/>
          </p:cNvSpPr>
          <p:nvPr/>
        </p:nvSpPr>
        <p:spPr bwMode="auto">
          <a:xfrm>
            <a:off x="0" y="4756150"/>
            <a:ext cx="9144000" cy="1754188"/>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 typeface="Arial" panose="020B0604020202020204" pitchFamily="34" charset="0"/>
              <a:buNone/>
              <a:defRPr/>
            </a:pPr>
            <a:endParaRPr kumimoji="0" lang="en-US" altLang="zh-CN" sz="1000" b="0" i="0" u="none" strike="noStrike" kern="1200" cap="none" spc="0" normalizeH="0" baseline="0" noProof="0" dirty="0">
              <a:ln>
                <a:noFill/>
              </a:ln>
              <a:solidFill>
                <a:schemeClr val="tx2"/>
              </a:solidFill>
              <a:effectLst/>
              <a:uLnTx/>
              <a:uFillTx/>
              <a:latin typeface="+mn-lt"/>
              <a:ea typeface="+mn-ea"/>
              <a:cs typeface="+mn-ea"/>
              <a:sym typeface="+mn-lt"/>
            </a:endParaRPr>
          </a:p>
          <a:p>
            <a:pPr marL="0" marR="0" lvl="0" indent="629920" algn="l" defTabSz="914400" rtl="0" eaLnBrk="1" fontAlgn="base" latinLnBrk="0" hangingPunct="1">
              <a:lnSpc>
                <a:spcPct val="125000"/>
              </a:lnSpc>
              <a:spcBef>
                <a:spcPct val="5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chemeClr val="tx2"/>
                </a:solidFill>
                <a:effectLst/>
                <a:uLnTx/>
                <a:uFillTx/>
                <a:latin typeface="+mn-lt"/>
                <a:ea typeface="+mn-ea"/>
                <a:cs typeface="+mn-ea"/>
                <a:sym typeface="+mn-lt"/>
              </a:rPr>
              <a:t>注：</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外部排序时，要将数据分批调入内存来排序，中间结果还要及时放入外存，显然外部排序要复杂得多。</a:t>
            </a:r>
            <a:endPar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50000"/>
              </a:spcBef>
              <a:spcAft>
                <a:spcPct val="0"/>
              </a:spcAft>
              <a:buClrTx/>
              <a:buSzTx/>
              <a:buFont typeface="Arial" panose="020B0604020202020204" pitchFamily="34" charset="0"/>
              <a:buNone/>
              <a:defRPr/>
            </a:pPr>
            <a:r>
              <a:rPr kumimoji="0" lang="zh-CN" altLang="en-US" sz="10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21509" name="标题 1"/>
          <p:cNvSpPr txBox="1"/>
          <p:nvPr/>
        </p:nvSpPr>
        <p:spPr>
          <a:xfrm>
            <a:off x="844550" y="236538"/>
            <a:ext cx="6400800" cy="455612"/>
          </a:xfrm>
          <a:prstGeom prst="rect">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概述</a:t>
            </a:r>
          </a:p>
        </p:txBody>
      </p:sp>
      <p:grpSp>
        <p:nvGrpSpPr>
          <p:cNvPr id="7" name="组合 16"/>
          <p:cNvGrpSpPr/>
          <p:nvPr/>
        </p:nvGrpSpPr>
        <p:grpSpPr>
          <a:xfrm>
            <a:off x="698500" y="2157413"/>
            <a:ext cx="657225" cy="663575"/>
            <a:chOff x="4929188" y="1303338"/>
            <a:chExt cx="501650" cy="506412"/>
          </a:xfrm>
        </p:grpSpPr>
        <p:sp>
          <p:nvSpPr>
            <p:cNvPr id="8" name="Freeform 6"/>
            <p:cNvSpPr/>
            <p:nvPr/>
          </p:nvSpPr>
          <p:spPr bwMode="auto">
            <a:xfrm>
              <a:off x="4929188" y="1303338"/>
              <a:ext cx="501650" cy="506412"/>
            </a:xfrm>
            <a:custGeom>
              <a:avLst/>
              <a:gdLst>
                <a:gd name="T0" fmla="*/ 134 w 134"/>
                <a:gd name="T1" fmla="*/ 36 h 135"/>
                <a:gd name="T2" fmla="*/ 134 w 134"/>
                <a:gd name="T3" fmla="*/ 98 h 135"/>
                <a:gd name="T4" fmla="*/ 98 w 134"/>
                <a:gd name="T5" fmla="*/ 135 h 135"/>
                <a:gd name="T6" fmla="*/ 36 w 134"/>
                <a:gd name="T7" fmla="*/ 135 h 135"/>
                <a:gd name="T8" fmla="*/ 0 w 134"/>
                <a:gd name="T9" fmla="*/ 98 h 135"/>
                <a:gd name="T10" fmla="*/ 0 w 134"/>
                <a:gd name="T11" fmla="*/ 36 h 135"/>
                <a:gd name="T12" fmla="*/ 36 w 134"/>
                <a:gd name="T13" fmla="*/ 0 h 135"/>
                <a:gd name="T14" fmla="*/ 134 w 134"/>
                <a:gd name="T15" fmla="*/ 0 h 135"/>
                <a:gd name="T16" fmla="*/ 134 w 134"/>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6"/>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4" y="0"/>
                    <a:pt x="134" y="0"/>
                    <a:pt x="134" y="0"/>
                  </a:cubicBezTo>
                  <a:lnTo>
                    <a:pt x="134" y="36"/>
                  </a:lnTo>
                  <a:close/>
                </a:path>
              </a:pathLst>
            </a:custGeom>
            <a:solidFill>
              <a:srgbClr val="65A5D9"/>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9" name="Freeform 7"/>
            <p:cNvSpPr/>
            <p:nvPr/>
          </p:nvSpPr>
          <p:spPr bwMode="auto">
            <a:xfrm>
              <a:off x="4995833" y="1359068"/>
              <a:ext cx="371996" cy="205957"/>
            </a:xfrm>
            <a:custGeom>
              <a:avLst/>
              <a:gdLst>
                <a:gd name="T0" fmla="*/ 97 w 99"/>
                <a:gd name="T1" fmla="*/ 44 h 55"/>
                <a:gd name="T2" fmla="*/ 50 w 99"/>
                <a:gd name="T3" fmla="*/ 0 h 55"/>
                <a:gd name="T4" fmla="*/ 3 w 99"/>
                <a:gd name="T5" fmla="*/ 44 h 55"/>
                <a:gd name="T6" fmla="*/ 3 w 99"/>
                <a:gd name="T7" fmla="*/ 53 h 55"/>
                <a:gd name="T8" fmla="*/ 8 w 99"/>
                <a:gd name="T9" fmla="*/ 55 h 55"/>
                <a:gd name="T10" fmla="*/ 12 w 99"/>
                <a:gd name="T11" fmla="*/ 53 h 55"/>
                <a:gd name="T12" fmla="*/ 50 w 99"/>
                <a:gd name="T13" fmla="*/ 18 h 55"/>
                <a:gd name="T14" fmla="*/ 87 w 99"/>
                <a:gd name="T15" fmla="*/ 53 h 55"/>
                <a:gd name="T16" fmla="*/ 92 w 99"/>
                <a:gd name="T17" fmla="*/ 55 h 55"/>
                <a:gd name="T18" fmla="*/ 97 w 99"/>
                <a:gd name="T19" fmla="*/ 53 h 55"/>
                <a:gd name="T20" fmla="*/ 97 w 99"/>
                <a:gd name="T21"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5">
                  <a:moveTo>
                    <a:pt x="97" y="44"/>
                  </a:moveTo>
                  <a:cubicBezTo>
                    <a:pt x="50" y="0"/>
                    <a:pt x="50" y="0"/>
                    <a:pt x="50" y="0"/>
                  </a:cubicBezTo>
                  <a:cubicBezTo>
                    <a:pt x="3" y="44"/>
                    <a:pt x="3" y="44"/>
                    <a:pt x="3" y="44"/>
                  </a:cubicBezTo>
                  <a:cubicBezTo>
                    <a:pt x="1" y="46"/>
                    <a:pt x="0" y="50"/>
                    <a:pt x="3" y="53"/>
                  </a:cubicBezTo>
                  <a:cubicBezTo>
                    <a:pt x="4" y="54"/>
                    <a:pt x="6" y="55"/>
                    <a:pt x="8" y="55"/>
                  </a:cubicBezTo>
                  <a:cubicBezTo>
                    <a:pt x="9" y="55"/>
                    <a:pt x="11" y="54"/>
                    <a:pt x="12" y="53"/>
                  </a:cubicBezTo>
                  <a:cubicBezTo>
                    <a:pt x="50" y="18"/>
                    <a:pt x="50" y="18"/>
                    <a:pt x="50" y="18"/>
                  </a:cubicBezTo>
                  <a:cubicBezTo>
                    <a:pt x="87" y="53"/>
                    <a:pt x="87" y="53"/>
                    <a:pt x="87" y="53"/>
                  </a:cubicBezTo>
                  <a:cubicBezTo>
                    <a:pt x="89" y="54"/>
                    <a:pt x="90" y="55"/>
                    <a:pt x="92" y="55"/>
                  </a:cubicBezTo>
                  <a:cubicBezTo>
                    <a:pt x="94" y="55"/>
                    <a:pt x="96" y="54"/>
                    <a:pt x="97" y="53"/>
                  </a:cubicBezTo>
                  <a:cubicBezTo>
                    <a:pt x="99" y="50"/>
                    <a:pt x="99" y="46"/>
                    <a:pt x="97" y="44"/>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0" name="Freeform 8"/>
            <p:cNvSpPr/>
            <p:nvPr/>
          </p:nvSpPr>
          <p:spPr bwMode="auto">
            <a:xfrm>
              <a:off x="5056418" y="1446296"/>
              <a:ext cx="255671" cy="265321"/>
            </a:xfrm>
            <a:custGeom>
              <a:avLst/>
              <a:gdLst>
                <a:gd name="T0" fmla="*/ 0 w 68"/>
                <a:gd name="T1" fmla="*/ 32 h 71"/>
                <a:gd name="T2" fmla="*/ 0 w 68"/>
                <a:gd name="T3" fmla="*/ 68 h 71"/>
                <a:gd name="T4" fmla="*/ 5 w 68"/>
                <a:gd name="T5" fmla="*/ 71 h 71"/>
                <a:gd name="T6" fmla="*/ 22 w 68"/>
                <a:gd name="T7" fmla="*/ 71 h 71"/>
                <a:gd name="T8" fmla="*/ 22 w 68"/>
                <a:gd name="T9" fmla="*/ 44 h 71"/>
                <a:gd name="T10" fmla="*/ 46 w 68"/>
                <a:gd name="T11" fmla="*/ 44 h 71"/>
                <a:gd name="T12" fmla="*/ 46 w 68"/>
                <a:gd name="T13" fmla="*/ 71 h 71"/>
                <a:gd name="T14" fmla="*/ 63 w 68"/>
                <a:gd name="T15" fmla="*/ 71 h 71"/>
                <a:gd name="T16" fmla="*/ 68 w 68"/>
                <a:gd name="T17" fmla="*/ 68 h 71"/>
                <a:gd name="T18" fmla="*/ 68 w 68"/>
                <a:gd name="T19" fmla="*/ 32 h 71"/>
                <a:gd name="T20" fmla="*/ 34 w 68"/>
                <a:gd name="T21" fmla="*/ 0 h 71"/>
                <a:gd name="T22" fmla="*/ 0 w 68"/>
                <a:gd name="T23"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1">
                  <a:moveTo>
                    <a:pt x="0" y="32"/>
                  </a:moveTo>
                  <a:cubicBezTo>
                    <a:pt x="0" y="68"/>
                    <a:pt x="0" y="68"/>
                    <a:pt x="0" y="68"/>
                  </a:cubicBezTo>
                  <a:cubicBezTo>
                    <a:pt x="0" y="70"/>
                    <a:pt x="2" y="71"/>
                    <a:pt x="5" y="71"/>
                  </a:cubicBezTo>
                  <a:cubicBezTo>
                    <a:pt x="22" y="71"/>
                    <a:pt x="22" y="71"/>
                    <a:pt x="22" y="71"/>
                  </a:cubicBezTo>
                  <a:cubicBezTo>
                    <a:pt x="22" y="44"/>
                    <a:pt x="22" y="44"/>
                    <a:pt x="22" y="44"/>
                  </a:cubicBezTo>
                  <a:cubicBezTo>
                    <a:pt x="46" y="44"/>
                    <a:pt x="46" y="44"/>
                    <a:pt x="46" y="44"/>
                  </a:cubicBezTo>
                  <a:cubicBezTo>
                    <a:pt x="46" y="71"/>
                    <a:pt x="46" y="71"/>
                    <a:pt x="46" y="71"/>
                  </a:cubicBezTo>
                  <a:cubicBezTo>
                    <a:pt x="63" y="71"/>
                    <a:pt x="63" y="71"/>
                    <a:pt x="63" y="71"/>
                  </a:cubicBezTo>
                  <a:cubicBezTo>
                    <a:pt x="66" y="71"/>
                    <a:pt x="68" y="70"/>
                    <a:pt x="68" y="68"/>
                  </a:cubicBezTo>
                  <a:cubicBezTo>
                    <a:pt x="68" y="32"/>
                    <a:pt x="68" y="32"/>
                    <a:pt x="68" y="32"/>
                  </a:cubicBezTo>
                  <a:cubicBezTo>
                    <a:pt x="34" y="0"/>
                    <a:pt x="34" y="0"/>
                    <a:pt x="34" y="0"/>
                  </a:cubicBezTo>
                  <a:lnTo>
                    <a:pt x="0" y="32"/>
                  </a:ln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grpSp>
      <p:grpSp>
        <p:nvGrpSpPr>
          <p:cNvPr id="11" name="组合 20"/>
          <p:cNvGrpSpPr/>
          <p:nvPr/>
        </p:nvGrpSpPr>
        <p:grpSpPr>
          <a:xfrm>
            <a:off x="692150" y="3189288"/>
            <a:ext cx="663575" cy="661987"/>
            <a:chOff x="1339850" y="2163763"/>
            <a:chExt cx="506413" cy="506412"/>
          </a:xfrm>
        </p:grpSpPr>
        <p:sp>
          <p:nvSpPr>
            <p:cNvPr id="12" name="Freeform 13"/>
            <p:cNvSpPr/>
            <p:nvPr/>
          </p:nvSpPr>
          <p:spPr bwMode="auto">
            <a:xfrm>
              <a:off x="1339850" y="2163763"/>
              <a:ext cx="506413" cy="506412"/>
            </a:xfrm>
            <a:custGeom>
              <a:avLst/>
              <a:gdLst>
                <a:gd name="T0" fmla="*/ 135 w 135"/>
                <a:gd name="T1" fmla="*/ 36 h 135"/>
                <a:gd name="T2" fmla="*/ 135 w 135"/>
                <a:gd name="T3" fmla="*/ 98 h 135"/>
                <a:gd name="T4" fmla="*/ 98 w 135"/>
                <a:gd name="T5" fmla="*/ 135 h 135"/>
                <a:gd name="T6" fmla="*/ 37 w 135"/>
                <a:gd name="T7" fmla="*/ 135 h 135"/>
                <a:gd name="T8" fmla="*/ 0 w 135"/>
                <a:gd name="T9" fmla="*/ 98 h 135"/>
                <a:gd name="T10" fmla="*/ 0 w 135"/>
                <a:gd name="T11" fmla="*/ 36 h 135"/>
                <a:gd name="T12" fmla="*/ 37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7" y="135"/>
                    <a:pt x="37" y="135"/>
                    <a:pt x="37" y="135"/>
                  </a:cubicBezTo>
                  <a:cubicBezTo>
                    <a:pt x="16" y="135"/>
                    <a:pt x="0" y="118"/>
                    <a:pt x="0" y="98"/>
                  </a:cubicBezTo>
                  <a:cubicBezTo>
                    <a:pt x="0" y="36"/>
                    <a:pt x="0" y="36"/>
                    <a:pt x="0" y="36"/>
                  </a:cubicBezTo>
                  <a:cubicBezTo>
                    <a:pt x="0" y="16"/>
                    <a:pt x="16" y="0"/>
                    <a:pt x="37" y="0"/>
                  </a:cubicBezTo>
                  <a:cubicBezTo>
                    <a:pt x="135" y="0"/>
                    <a:pt x="135" y="0"/>
                    <a:pt x="135" y="0"/>
                  </a:cubicBezTo>
                  <a:lnTo>
                    <a:pt x="135" y="36"/>
                  </a:lnTo>
                  <a:close/>
                </a:path>
              </a:pathLst>
            </a:custGeom>
            <a:solidFill>
              <a:schemeClr val="tx1">
                <a:lumMod val="50000"/>
                <a:lumOff val="50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3" name="Freeform 14"/>
            <p:cNvSpPr/>
            <p:nvPr/>
          </p:nvSpPr>
          <p:spPr bwMode="auto">
            <a:xfrm>
              <a:off x="1499770" y="2276704"/>
              <a:ext cx="176881" cy="104440"/>
            </a:xfrm>
            <a:custGeom>
              <a:avLst/>
              <a:gdLst>
                <a:gd name="T0" fmla="*/ 111 w 111"/>
                <a:gd name="T1" fmla="*/ 0 h 66"/>
                <a:gd name="T2" fmla="*/ 55 w 111"/>
                <a:gd name="T3" fmla="*/ 0 h 66"/>
                <a:gd name="T4" fmla="*/ 55 w 111"/>
                <a:gd name="T5" fmla="*/ 54 h 66"/>
                <a:gd name="T6" fmla="*/ 14 w 111"/>
                <a:gd name="T7" fmla="*/ 54 h 66"/>
                <a:gd name="T8" fmla="*/ 14 w 111"/>
                <a:gd name="T9" fmla="*/ 0 h 66"/>
                <a:gd name="T10" fmla="*/ 0 w 111"/>
                <a:gd name="T11" fmla="*/ 0 h 66"/>
                <a:gd name="T12" fmla="*/ 0 w 111"/>
                <a:gd name="T13" fmla="*/ 66 h 66"/>
                <a:gd name="T14" fmla="*/ 111 w 111"/>
                <a:gd name="T15" fmla="*/ 66 h 66"/>
                <a:gd name="T16" fmla="*/ 111 w 111"/>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6">
                  <a:moveTo>
                    <a:pt x="111" y="0"/>
                  </a:moveTo>
                  <a:lnTo>
                    <a:pt x="55" y="0"/>
                  </a:lnTo>
                  <a:lnTo>
                    <a:pt x="55" y="54"/>
                  </a:lnTo>
                  <a:lnTo>
                    <a:pt x="14" y="54"/>
                  </a:lnTo>
                  <a:lnTo>
                    <a:pt x="14" y="0"/>
                  </a:lnTo>
                  <a:lnTo>
                    <a:pt x="0" y="0"/>
                  </a:lnTo>
                  <a:lnTo>
                    <a:pt x="0" y="66"/>
                  </a:lnTo>
                  <a:lnTo>
                    <a:pt x="111" y="66"/>
                  </a:lnTo>
                  <a:lnTo>
                    <a:pt x="111" y="0"/>
                  </a:ln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4" name="Freeform 15"/>
            <p:cNvSpPr>
              <a:spLocks noEditPoints="1"/>
            </p:cNvSpPr>
            <p:nvPr/>
          </p:nvSpPr>
          <p:spPr bwMode="auto">
            <a:xfrm>
              <a:off x="1447675" y="2276704"/>
              <a:ext cx="289552" cy="278102"/>
            </a:xfrm>
            <a:custGeom>
              <a:avLst/>
              <a:gdLst>
                <a:gd name="T0" fmla="*/ 72 w 77"/>
                <a:gd name="T1" fmla="*/ 0 h 74"/>
                <a:gd name="T2" fmla="*/ 64 w 77"/>
                <a:gd name="T3" fmla="*/ 0 h 74"/>
                <a:gd name="T4" fmla="*/ 64 w 77"/>
                <a:gd name="T5" fmla="*/ 31 h 74"/>
                <a:gd name="T6" fmla="*/ 10 w 77"/>
                <a:gd name="T7" fmla="*/ 31 h 74"/>
                <a:gd name="T8" fmla="*/ 10 w 77"/>
                <a:gd name="T9" fmla="*/ 0 h 74"/>
                <a:gd name="T10" fmla="*/ 5 w 77"/>
                <a:gd name="T11" fmla="*/ 0 h 74"/>
                <a:gd name="T12" fmla="*/ 0 w 77"/>
                <a:gd name="T13" fmla="*/ 6 h 74"/>
                <a:gd name="T14" fmla="*/ 0 w 77"/>
                <a:gd name="T15" fmla="*/ 68 h 74"/>
                <a:gd name="T16" fmla="*/ 5 w 77"/>
                <a:gd name="T17" fmla="*/ 74 h 74"/>
                <a:gd name="T18" fmla="*/ 72 w 77"/>
                <a:gd name="T19" fmla="*/ 74 h 74"/>
                <a:gd name="T20" fmla="*/ 77 w 77"/>
                <a:gd name="T21" fmla="*/ 68 h 74"/>
                <a:gd name="T22" fmla="*/ 77 w 77"/>
                <a:gd name="T23" fmla="*/ 6 h 74"/>
                <a:gd name="T24" fmla="*/ 72 w 77"/>
                <a:gd name="T25" fmla="*/ 0 h 74"/>
                <a:gd name="T26" fmla="*/ 38 w 77"/>
                <a:gd name="T27" fmla="*/ 65 h 74"/>
                <a:gd name="T28" fmla="*/ 22 w 77"/>
                <a:gd name="T29" fmla="*/ 49 h 74"/>
                <a:gd name="T30" fmla="*/ 38 w 77"/>
                <a:gd name="T31" fmla="*/ 33 h 74"/>
                <a:gd name="T32" fmla="*/ 54 w 77"/>
                <a:gd name="T33" fmla="*/ 49 h 74"/>
                <a:gd name="T34" fmla="*/ 38 w 77"/>
                <a:gd name="T35"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4">
                  <a:moveTo>
                    <a:pt x="72" y="0"/>
                  </a:moveTo>
                  <a:cubicBezTo>
                    <a:pt x="64" y="0"/>
                    <a:pt x="64" y="0"/>
                    <a:pt x="64" y="0"/>
                  </a:cubicBezTo>
                  <a:cubicBezTo>
                    <a:pt x="64" y="31"/>
                    <a:pt x="64" y="31"/>
                    <a:pt x="64" y="31"/>
                  </a:cubicBezTo>
                  <a:cubicBezTo>
                    <a:pt x="10" y="31"/>
                    <a:pt x="10" y="31"/>
                    <a:pt x="10" y="31"/>
                  </a:cubicBezTo>
                  <a:cubicBezTo>
                    <a:pt x="10" y="0"/>
                    <a:pt x="10" y="0"/>
                    <a:pt x="10" y="0"/>
                  </a:cubicBezTo>
                  <a:cubicBezTo>
                    <a:pt x="5" y="0"/>
                    <a:pt x="5" y="0"/>
                    <a:pt x="5" y="0"/>
                  </a:cubicBezTo>
                  <a:cubicBezTo>
                    <a:pt x="2" y="0"/>
                    <a:pt x="0" y="3"/>
                    <a:pt x="0" y="6"/>
                  </a:cubicBezTo>
                  <a:cubicBezTo>
                    <a:pt x="0" y="68"/>
                    <a:pt x="0" y="68"/>
                    <a:pt x="0" y="68"/>
                  </a:cubicBezTo>
                  <a:cubicBezTo>
                    <a:pt x="0" y="72"/>
                    <a:pt x="2" y="74"/>
                    <a:pt x="5" y="74"/>
                  </a:cubicBezTo>
                  <a:cubicBezTo>
                    <a:pt x="72" y="74"/>
                    <a:pt x="72" y="74"/>
                    <a:pt x="72" y="74"/>
                  </a:cubicBezTo>
                  <a:cubicBezTo>
                    <a:pt x="75" y="74"/>
                    <a:pt x="77" y="72"/>
                    <a:pt x="77" y="68"/>
                  </a:cubicBezTo>
                  <a:cubicBezTo>
                    <a:pt x="77" y="6"/>
                    <a:pt x="77" y="6"/>
                    <a:pt x="77" y="6"/>
                  </a:cubicBezTo>
                  <a:cubicBezTo>
                    <a:pt x="77" y="3"/>
                    <a:pt x="75" y="0"/>
                    <a:pt x="72" y="0"/>
                  </a:cubicBezTo>
                  <a:close/>
                  <a:moveTo>
                    <a:pt x="38" y="65"/>
                  </a:moveTo>
                  <a:cubicBezTo>
                    <a:pt x="29" y="65"/>
                    <a:pt x="22" y="58"/>
                    <a:pt x="22" y="49"/>
                  </a:cubicBezTo>
                  <a:cubicBezTo>
                    <a:pt x="22" y="40"/>
                    <a:pt x="29" y="33"/>
                    <a:pt x="38" y="33"/>
                  </a:cubicBezTo>
                  <a:cubicBezTo>
                    <a:pt x="46" y="33"/>
                    <a:pt x="54" y="40"/>
                    <a:pt x="54" y="49"/>
                  </a:cubicBezTo>
                  <a:cubicBezTo>
                    <a:pt x="54" y="58"/>
                    <a:pt x="46" y="65"/>
                    <a:pt x="38" y="65"/>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21515" name="Oval 16"/>
            <p:cNvSpPr/>
            <p:nvPr/>
          </p:nvSpPr>
          <p:spPr>
            <a:xfrm>
              <a:off x="1549442" y="2418791"/>
              <a:ext cx="82383" cy="82580"/>
            </a:xfrm>
            <a:prstGeom prst="ellipse">
              <a:avLst/>
            </a:prstGeom>
            <a:solidFill>
              <a:srgbClr val="ECEC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pPr>
              <a:endParaRPr lang="zh-CN" altLang="en-US" sz="1800" b="1" dirty="0">
                <a:solidFill>
                  <a:srgbClr val="000000"/>
                </a:solidFill>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989191"/>
                                        </p:tgtEl>
                                        <p:attrNameLst>
                                          <p:attrName>style.visibility</p:attrName>
                                        </p:attrNameLst>
                                      </p:cBhvr>
                                      <p:to>
                                        <p:strVal val="visible"/>
                                      </p:to>
                                    </p:set>
                                    <p:anim calcmode="lin" valueType="num">
                                      <p:cBhvr additive="base">
                                        <p:cTn id="7" dur="500" fill="hold"/>
                                        <p:tgtEl>
                                          <p:spTgt spid="989191"/>
                                        </p:tgtEl>
                                        <p:attrNameLst>
                                          <p:attrName>ppt_x</p:attrName>
                                        </p:attrNameLst>
                                      </p:cBhvr>
                                      <p:tavLst>
                                        <p:tav tm="0">
                                          <p:val>
                                            <p:strVal val="0-#ppt_w/2"/>
                                          </p:val>
                                        </p:tav>
                                        <p:tav tm="100000">
                                          <p:val>
                                            <p:strVal val="#ppt_x"/>
                                          </p:val>
                                        </p:tav>
                                      </p:tavLst>
                                    </p:anim>
                                    <p:anim calcmode="lin" valueType="num">
                                      <p:cBhvr additive="base">
                                        <p:cTn id="8" dur="500" fill="hold"/>
                                        <p:tgtEl>
                                          <p:spTgt spid="98919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8" presetClass="entr" presetSubtype="6"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strips(downRight)">
                                      <p:cBhvr>
                                        <p:cTn id="13" dur="500"/>
                                        <p:tgtEl>
                                          <p:spTgt spid="7"/>
                                        </p:tgtEl>
                                      </p:cBhvr>
                                    </p:animEffect>
                                  </p:childTnLst>
                                </p:cTn>
                              </p:par>
                            </p:childTnLst>
                          </p:cTn>
                        </p:par>
                        <p:par>
                          <p:cTn id="14" fill="hold">
                            <p:stCondLst>
                              <p:cond delay="500"/>
                            </p:stCondLst>
                            <p:childTnLst>
                              <p:par>
                                <p:cTn id="15" presetID="18" presetClass="entr" presetSubtype="6" fill="hold" grpId="0" nodeType="afterEffect">
                                  <p:stCondLst>
                                    <p:cond delay="0"/>
                                  </p:stCondLst>
                                  <p:childTnLst>
                                    <p:set>
                                      <p:cBhvr>
                                        <p:cTn id="16" dur="1" fill="hold">
                                          <p:stCondLst>
                                            <p:cond delay="0"/>
                                          </p:stCondLst>
                                        </p:cTn>
                                        <p:tgtEl>
                                          <p:spTgt spid="989192">
                                            <p:txEl>
                                              <p:pRg st="0" end="0"/>
                                            </p:txEl>
                                          </p:spTgt>
                                        </p:tgtEl>
                                        <p:attrNameLst>
                                          <p:attrName>style.visibility</p:attrName>
                                        </p:attrNameLst>
                                      </p:cBhvr>
                                      <p:to>
                                        <p:strVal val="visible"/>
                                      </p:to>
                                    </p:set>
                                    <p:animEffect transition="in" filter="strips(downRight)">
                                      <p:cBhvr>
                                        <p:cTn id="17" dur="500"/>
                                        <p:tgtEl>
                                          <p:spTgt spid="989192">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8" presetClass="entr" presetSubtype="6"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strips(downRight)">
                                      <p:cBhvr>
                                        <p:cTn id="22" dur="500"/>
                                        <p:tgtEl>
                                          <p:spTgt spid="11"/>
                                        </p:tgtEl>
                                      </p:cBhvr>
                                    </p:animEffect>
                                  </p:childTnLst>
                                </p:cTn>
                              </p:par>
                            </p:childTnLst>
                          </p:cTn>
                        </p:par>
                        <p:par>
                          <p:cTn id="23" fill="hold">
                            <p:stCondLst>
                              <p:cond delay="500"/>
                            </p:stCondLst>
                            <p:childTnLst>
                              <p:par>
                                <p:cTn id="24" presetID="18" presetClass="entr" presetSubtype="6" fill="hold" grpId="0" nodeType="afterEffect">
                                  <p:stCondLst>
                                    <p:cond delay="0"/>
                                  </p:stCondLst>
                                  <p:childTnLst>
                                    <p:set>
                                      <p:cBhvr>
                                        <p:cTn id="25" dur="1" fill="hold">
                                          <p:stCondLst>
                                            <p:cond delay="0"/>
                                          </p:stCondLst>
                                        </p:cTn>
                                        <p:tgtEl>
                                          <p:spTgt spid="989192">
                                            <p:txEl>
                                              <p:pRg st="2" end="2"/>
                                            </p:txEl>
                                          </p:spTgt>
                                        </p:tgtEl>
                                        <p:attrNameLst>
                                          <p:attrName>style.visibility</p:attrName>
                                        </p:attrNameLst>
                                      </p:cBhvr>
                                      <p:to>
                                        <p:strVal val="visible"/>
                                      </p:to>
                                    </p:set>
                                    <p:animEffect transition="in" filter="strips(downRight)">
                                      <p:cBhvr>
                                        <p:cTn id="26" dur="500"/>
                                        <p:tgtEl>
                                          <p:spTgt spid="989192">
                                            <p:txEl>
                                              <p:pRg st="2" end="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18" presetClass="entr" presetSubtype="6" fill="hold" grpId="0" nodeType="clickEffect">
                                  <p:stCondLst>
                                    <p:cond delay="0"/>
                                  </p:stCondLst>
                                  <p:iterate type="lt">
                                    <p:tmPct val="100000"/>
                                  </p:iterate>
                                  <p:childTnLst>
                                    <p:set>
                                      <p:cBhvr>
                                        <p:cTn id="30" dur="1" fill="hold">
                                          <p:stCondLst>
                                            <p:cond delay="0"/>
                                          </p:stCondLst>
                                        </p:cTn>
                                        <p:tgtEl>
                                          <p:spTgt spid="989193"/>
                                        </p:tgtEl>
                                        <p:attrNameLst>
                                          <p:attrName>style.visibility</p:attrName>
                                        </p:attrNameLst>
                                      </p:cBhvr>
                                      <p:to>
                                        <p:strVal val="visible"/>
                                      </p:to>
                                    </p:set>
                                    <p:animEffect transition="in" filter="strips(downRight)">
                                      <p:cBhvr>
                                        <p:cTn id="31" dur="75"/>
                                        <p:tgtEl>
                                          <p:spTgt spid="9891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9191" grpId="0"/>
      <p:bldP spid="989192" grpId="0" build="p"/>
      <p:bldP spid="98919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1241" name="Text Box 9"/>
          <p:cNvSpPr txBox="1">
            <a:spLocks noChangeArrowheads="1"/>
          </p:cNvSpPr>
          <p:nvPr/>
        </p:nvSpPr>
        <p:spPr bwMode="auto">
          <a:xfrm>
            <a:off x="309563" y="981075"/>
            <a:ext cx="8064500" cy="708025"/>
          </a:xfrm>
          <a:prstGeom prst="rect">
            <a:avLst/>
          </a:prstGeom>
          <a:noFill/>
          <a:ln w="9525">
            <a:noFill/>
            <a:miter lim="800000"/>
          </a:ln>
          <a:effectLst/>
        </p:spPr>
        <p:txBody>
          <a:bodyPr>
            <a:spAutoFit/>
          </a:bodyPr>
          <a:lstStyle/>
          <a:p>
            <a:pPr marL="285750" marR="0" indent="-285750" algn="just" defTabSz="914400" eaLnBrk="1" hangingPunct="1">
              <a:lnSpc>
                <a:spcPct val="125000"/>
              </a:lnSpc>
              <a:spcBef>
                <a:spcPct val="50000"/>
              </a:spcBef>
              <a:buClrTx/>
              <a:buSzTx/>
              <a:buFontTx/>
              <a:buNone/>
              <a:defRPr/>
            </a:pPr>
            <a:r>
              <a:rPr kumimoji="1" lang="en-US" altLang="zh-CN" sz="3200" b="0" kern="1200" cap="none" spc="0" normalizeH="0" baseline="0" noProof="0" dirty="0">
                <a:solidFill>
                  <a:srgbClr val="FF3300"/>
                </a:solidFill>
                <a:latin typeface="+mn-lt"/>
                <a:ea typeface="+mn-ea"/>
                <a:cs typeface="+mn-ea"/>
                <a:sym typeface="+mn-lt"/>
              </a:rPr>
              <a:t>4.</a:t>
            </a:r>
            <a:r>
              <a:rPr kumimoji="1" lang="zh-CN" altLang="en-US" sz="3200" b="0" kern="1200" cap="none" spc="0" normalizeH="0" baseline="0" noProof="0" dirty="0">
                <a:solidFill>
                  <a:srgbClr val="FF3300"/>
                </a:solidFill>
                <a:latin typeface="+mn-lt"/>
                <a:ea typeface="+mn-ea"/>
                <a:cs typeface="+mn-ea"/>
                <a:sym typeface="+mn-lt"/>
              </a:rPr>
              <a:t>排序算法的好坏如何衡量？</a:t>
            </a:r>
          </a:p>
        </p:txBody>
      </p:sp>
      <p:sp>
        <p:nvSpPr>
          <p:cNvPr id="22531" name="标题 1"/>
          <p:cNvSpPr txBox="1"/>
          <p:nvPr/>
        </p:nvSpPr>
        <p:spPr>
          <a:xfrm>
            <a:off x="844550" y="236538"/>
            <a:ext cx="6400800" cy="455612"/>
          </a:xfrm>
          <a:prstGeom prst="rect">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概述</a:t>
            </a:r>
          </a:p>
        </p:txBody>
      </p:sp>
      <p:grpSp>
        <p:nvGrpSpPr>
          <p:cNvPr id="40" name="组合 39"/>
          <p:cNvGrpSpPr/>
          <p:nvPr/>
        </p:nvGrpSpPr>
        <p:grpSpPr>
          <a:xfrm>
            <a:off x="3417888" y="2241550"/>
            <a:ext cx="2360612" cy="3125788"/>
            <a:chOff x="4561682" y="2200808"/>
            <a:chExt cx="3219450" cy="4263231"/>
          </a:xfrm>
        </p:grpSpPr>
        <p:sp>
          <p:nvSpPr>
            <p:cNvPr id="41" name="i$liḋe-Oval 12"/>
            <p:cNvSpPr/>
            <p:nvPr/>
          </p:nvSpPr>
          <p:spPr bwMode="auto">
            <a:xfrm>
              <a:off x="4996859" y="2200808"/>
              <a:ext cx="2284144" cy="2284261"/>
            </a:xfrm>
            <a:prstGeom prst="ellipse">
              <a:avLst/>
            </a:prstGeom>
            <a:solidFill>
              <a:srgbClr val="4F81BD"/>
            </a:solidFill>
            <a:ln w="50800">
              <a:solidFill>
                <a:sysClr val="windowText" lastClr="000000">
                  <a:alpha val="0"/>
                </a:sysClr>
              </a:solidFill>
              <a:miter lim="800000"/>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空间效率</a:t>
              </a:r>
            </a:p>
          </p:txBody>
        </p:sp>
        <p:sp>
          <p:nvSpPr>
            <p:cNvPr id="42" name="i$liḋe-Oval 14"/>
            <p:cNvSpPr/>
            <p:nvPr/>
          </p:nvSpPr>
          <p:spPr bwMode="auto">
            <a:xfrm>
              <a:off x="4561682" y="3049557"/>
              <a:ext cx="326924" cy="324776"/>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43" name="i$liḋe-Oval 15"/>
            <p:cNvSpPr/>
            <p:nvPr/>
          </p:nvSpPr>
          <p:spPr bwMode="auto">
            <a:xfrm>
              <a:off x="5878041" y="4355158"/>
              <a:ext cx="543430" cy="543458"/>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44" name="i$liḋe-Oval 16"/>
            <p:cNvSpPr/>
            <p:nvPr/>
          </p:nvSpPr>
          <p:spPr bwMode="auto">
            <a:xfrm>
              <a:off x="6856650" y="2222460"/>
              <a:ext cx="173205" cy="173214"/>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45" name="i$liḋe-Oval 17"/>
            <p:cNvSpPr/>
            <p:nvPr/>
          </p:nvSpPr>
          <p:spPr bwMode="auto">
            <a:xfrm>
              <a:off x="7118622" y="3909132"/>
              <a:ext cx="402702" cy="400557"/>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46" name="i$liḋe-Oval 18"/>
            <p:cNvSpPr/>
            <p:nvPr/>
          </p:nvSpPr>
          <p:spPr bwMode="auto">
            <a:xfrm>
              <a:off x="7291827" y="2939133"/>
              <a:ext cx="489305" cy="489330"/>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49" name="îṣļîḑé-TextBox 36"/>
            <p:cNvSpPr txBox="1"/>
            <p:nvPr/>
          </p:nvSpPr>
          <p:spPr bwMode="auto">
            <a:xfrm>
              <a:off x="4996859" y="5121630"/>
              <a:ext cx="2385901" cy="1342409"/>
            </a:xfrm>
            <a:prstGeom prst="rect">
              <a:avLst/>
            </a:prstGeom>
            <a:noFill/>
          </p:spPr>
          <p:txBody>
            <a:bodyPr lIns="90000" tIns="46800" rIns="90000" bIns="46800" anchor="ctr" anchorCtr="1"/>
            <a:lstStyle/>
            <a:p>
              <a:pPr marR="0" defTabSz="914400" eaLnBrk="1" fontAlgn="auto" hangingPunct="1">
                <a:lnSpc>
                  <a:spcPct val="120000"/>
                </a:lnSpc>
                <a:spcBef>
                  <a:spcPts val="0"/>
                </a:spcBef>
                <a:spcAft>
                  <a:spcPts val="0"/>
                </a:spcAft>
                <a:buClrTx/>
                <a:buSzTx/>
                <a:buFontTx/>
                <a:buNone/>
                <a:defRPr/>
              </a:pP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占内存辅助空间的大小</a:t>
              </a:r>
            </a:p>
          </p:txBody>
        </p:sp>
      </p:grpSp>
      <p:grpSp>
        <p:nvGrpSpPr>
          <p:cNvPr id="50" name="组合 49"/>
          <p:cNvGrpSpPr/>
          <p:nvPr/>
        </p:nvGrpSpPr>
        <p:grpSpPr>
          <a:xfrm>
            <a:off x="6108700" y="1743075"/>
            <a:ext cx="2717800" cy="4916488"/>
            <a:chOff x="7981950" y="1522152"/>
            <a:chExt cx="3705017" cy="6705217"/>
          </a:xfrm>
        </p:grpSpPr>
        <p:sp>
          <p:nvSpPr>
            <p:cNvPr id="51" name="i$liḋe-Oval 20"/>
            <p:cNvSpPr/>
            <p:nvPr/>
          </p:nvSpPr>
          <p:spPr bwMode="auto">
            <a:xfrm>
              <a:off x="8527315" y="2201983"/>
              <a:ext cx="2296159" cy="2294972"/>
            </a:xfrm>
            <a:prstGeom prst="ellipse">
              <a:avLst/>
            </a:prstGeom>
            <a:solidFill>
              <a:srgbClr val="C0504D"/>
            </a:solidFill>
            <a:ln w="50800">
              <a:solidFill>
                <a:sysClr val="windowText" lastClr="000000">
                  <a:alpha val="0"/>
                </a:sysClr>
              </a:solidFill>
              <a:miter lim="800000"/>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稳定性</a:t>
              </a:r>
            </a:p>
          </p:txBody>
        </p:sp>
        <p:sp>
          <p:nvSpPr>
            <p:cNvPr id="52" name="i$liḋe-Oval 22"/>
            <p:cNvSpPr/>
            <p:nvPr/>
          </p:nvSpPr>
          <p:spPr bwMode="auto">
            <a:xfrm>
              <a:off x="7981950" y="3161109"/>
              <a:ext cx="491262" cy="491470"/>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53" name="i$liḋe-Oval 23"/>
            <p:cNvSpPr/>
            <p:nvPr/>
          </p:nvSpPr>
          <p:spPr bwMode="auto">
            <a:xfrm>
              <a:off x="9206856" y="1522152"/>
              <a:ext cx="248877" cy="251148"/>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54" name="îṣļîḑé-Oval 24"/>
            <p:cNvSpPr/>
            <p:nvPr/>
          </p:nvSpPr>
          <p:spPr bwMode="auto">
            <a:xfrm>
              <a:off x="10167737" y="3914553"/>
              <a:ext cx="623274" cy="623540"/>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55" name="îṣļîḑé-Oval 25"/>
            <p:cNvSpPr/>
            <p:nvPr/>
          </p:nvSpPr>
          <p:spPr bwMode="auto">
            <a:xfrm>
              <a:off x="11358017" y="3477209"/>
              <a:ext cx="175296" cy="175370"/>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56" name="îṣļîḑé-Oval 26"/>
            <p:cNvSpPr/>
            <p:nvPr/>
          </p:nvSpPr>
          <p:spPr bwMode="auto">
            <a:xfrm>
              <a:off x="9752221" y="2035274"/>
              <a:ext cx="415516" cy="415693"/>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59" name="îṣļîḑé-TextBox 41"/>
            <p:cNvSpPr txBox="1"/>
            <p:nvPr/>
          </p:nvSpPr>
          <p:spPr bwMode="auto">
            <a:xfrm>
              <a:off x="7981950" y="5133486"/>
              <a:ext cx="3705017" cy="3093883"/>
            </a:xfrm>
            <a:prstGeom prst="rect">
              <a:avLst/>
            </a:prstGeom>
            <a:noFill/>
          </p:spPr>
          <p:txBody>
            <a:bodyPr lIns="90000" tIns="46800" rIns="90000" bIns="46800" anchor="ctr" anchorCtr="1"/>
            <a:lstStyle/>
            <a:p>
              <a:pPr marR="0" defTabSz="914400" eaLnBrk="1" fontAlgn="auto" hangingPunct="1">
                <a:lnSpc>
                  <a:spcPct val="120000"/>
                </a:lnSpc>
                <a:spcBef>
                  <a:spcPts val="0"/>
                </a:spcBef>
                <a:spcAft>
                  <a:spcPts val="0"/>
                </a:spcAft>
                <a:buClrTx/>
                <a:buSzTx/>
                <a:buFontTx/>
                <a:buNone/>
                <a:defRPr/>
              </a:pPr>
              <a:r>
                <a:rPr kumimoji="0" lang="en-US" altLang="zh-CN"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A</a:t>
              </a: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和</a:t>
              </a:r>
              <a:r>
                <a:rPr kumimoji="0" lang="en-US" altLang="zh-CN"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B</a:t>
              </a: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的关键字相等，排序后</a:t>
              </a:r>
              <a:r>
                <a:rPr kumimoji="0" lang="en-US" altLang="zh-CN"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A</a:t>
              </a: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a:t>
              </a:r>
              <a:r>
                <a:rPr kumimoji="0" lang="en-US" altLang="zh-CN"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B</a:t>
              </a: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的先后次序保持不变，则称这种排序算法是稳定的。</a:t>
              </a:r>
            </a:p>
          </p:txBody>
        </p:sp>
      </p:grpSp>
      <p:grpSp>
        <p:nvGrpSpPr>
          <p:cNvPr id="60" name="组合 59"/>
          <p:cNvGrpSpPr/>
          <p:nvPr/>
        </p:nvGrpSpPr>
        <p:grpSpPr>
          <a:xfrm>
            <a:off x="344488" y="2044700"/>
            <a:ext cx="2760662" cy="3457575"/>
            <a:chOff x="755650" y="1929345"/>
            <a:chExt cx="3765529" cy="4714903"/>
          </a:xfrm>
        </p:grpSpPr>
        <p:sp>
          <p:nvSpPr>
            <p:cNvPr id="61" name="i$liḋe-Oval 4"/>
            <p:cNvSpPr/>
            <p:nvPr/>
          </p:nvSpPr>
          <p:spPr bwMode="auto">
            <a:xfrm>
              <a:off x="1561157" y="2262722"/>
              <a:ext cx="2221641" cy="2223235"/>
            </a:xfrm>
            <a:prstGeom prst="ellipse">
              <a:avLst/>
            </a:prstGeom>
            <a:solidFill>
              <a:srgbClr val="8064A2"/>
            </a:solidFill>
            <a:ln w="50800" cap="flat">
              <a:solidFill>
                <a:sysClr val="windowText" lastClr="000000">
                  <a:alpha val="0"/>
                </a:sysClr>
              </a:solidFill>
              <a:prstDash val="solid"/>
              <a:miter lim="800000"/>
              <a:headEnd type="none" w="med" len="med"/>
              <a:tailEnd type="none" w="med" len="med"/>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时间效率</a:t>
              </a:r>
            </a:p>
          </p:txBody>
        </p:sp>
        <p:sp>
          <p:nvSpPr>
            <p:cNvPr id="62" name="i$liḋe-Oval 6"/>
            <p:cNvSpPr/>
            <p:nvPr/>
          </p:nvSpPr>
          <p:spPr bwMode="auto">
            <a:xfrm>
              <a:off x="3969017" y="3600559"/>
              <a:ext cx="348619" cy="35069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63" name="i$liḋe-Oval 7"/>
            <p:cNvSpPr/>
            <p:nvPr/>
          </p:nvSpPr>
          <p:spPr bwMode="auto">
            <a:xfrm>
              <a:off x="1524346" y="3834356"/>
              <a:ext cx="348621" cy="35069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64" name="i$liḋe-Oval 8"/>
            <p:cNvSpPr/>
            <p:nvPr/>
          </p:nvSpPr>
          <p:spPr bwMode="auto">
            <a:xfrm>
              <a:off x="2011548" y="4362564"/>
              <a:ext cx="601965" cy="60397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65" name="i$liḋe-Oval 9"/>
            <p:cNvSpPr/>
            <p:nvPr/>
          </p:nvSpPr>
          <p:spPr bwMode="auto">
            <a:xfrm>
              <a:off x="2485758" y="1929345"/>
              <a:ext cx="201377" cy="20132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66" name="i$liḋe-Oval 10"/>
            <p:cNvSpPr/>
            <p:nvPr/>
          </p:nvSpPr>
          <p:spPr bwMode="auto">
            <a:xfrm>
              <a:off x="755650" y="3109154"/>
              <a:ext cx="433068" cy="435121"/>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69" name="îṣļîḑé-TextBox 44"/>
            <p:cNvSpPr txBox="1"/>
            <p:nvPr/>
          </p:nvSpPr>
          <p:spPr bwMode="auto">
            <a:xfrm>
              <a:off x="1251513" y="4901596"/>
              <a:ext cx="3269666" cy="1742652"/>
            </a:xfrm>
            <a:prstGeom prst="rect">
              <a:avLst/>
            </a:prstGeom>
            <a:noFill/>
          </p:spPr>
          <p:txBody>
            <a:bodyPr lIns="90000" tIns="46800" rIns="90000" bIns="46800" anchor="ctr" anchorCtr="1"/>
            <a:lstStyle/>
            <a:p>
              <a:pPr marR="0" defTabSz="914400" eaLnBrk="1" fontAlgn="auto" hangingPunct="1">
                <a:lnSpc>
                  <a:spcPct val="120000"/>
                </a:lnSpc>
                <a:spcBef>
                  <a:spcPts val="0"/>
                </a:spcBef>
                <a:spcAft>
                  <a:spcPts val="0"/>
                </a:spcAft>
                <a:buClrTx/>
                <a:buSzTx/>
                <a:buFontTx/>
                <a:buNone/>
                <a:defRPr/>
              </a:pP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排序速度（比较次数与移动次数）</a:t>
              </a: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991241">
                                            <p:txEl>
                                              <p:pRg st="0" end="0"/>
                                            </p:txEl>
                                          </p:spTgt>
                                        </p:tgtEl>
                                        <p:attrNameLst>
                                          <p:attrName>style.visibility</p:attrName>
                                        </p:attrNameLst>
                                      </p:cBhvr>
                                      <p:to>
                                        <p:strVal val="visible"/>
                                      </p:to>
                                    </p:set>
                                    <p:animEffect transition="in" filter="strips(downRight)">
                                      <p:cBhvr>
                                        <p:cTn id="7" dur="500"/>
                                        <p:tgtEl>
                                          <p:spTgt spid="99124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wipe(up)">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wipe(up)">
                                      <p:cBhvr>
                                        <p:cTn id="17" dur="500"/>
                                        <p:tgtEl>
                                          <p:spTgt spid="4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0"/>
                                        </p:tgtEl>
                                        <p:attrNameLst>
                                          <p:attrName>style.visibility</p:attrName>
                                        </p:attrNameLst>
                                      </p:cBhvr>
                                      <p:to>
                                        <p:strVal val="visible"/>
                                      </p:to>
                                    </p:set>
                                    <p:animEffect transition="in" filter="wipe(up)">
                                      <p:cBhvr>
                                        <p:cTn id="22"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1241" grpId="0"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7"/>
          <p:cNvSpPr txBox="1"/>
          <p:nvPr/>
        </p:nvSpPr>
        <p:spPr>
          <a:xfrm>
            <a:off x="827088" y="231775"/>
            <a:ext cx="4521200" cy="523875"/>
          </a:xfrm>
          <a:prstGeom prst="rect">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记录序列以顺序表存储</a:t>
            </a:r>
          </a:p>
        </p:txBody>
      </p:sp>
      <p:sp>
        <p:nvSpPr>
          <p:cNvPr id="992264" name="Rectangle 8"/>
          <p:cNvSpPr>
            <a:spLocks noChangeArrowheads="1"/>
          </p:cNvSpPr>
          <p:nvPr/>
        </p:nvSpPr>
        <p:spPr bwMode="auto">
          <a:xfrm>
            <a:off x="392113" y="2039938"/>
            <a:ext cx="8458200" cy="1938338"/>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Typedef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定义每个记录（数据元素）的结构</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KeyType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key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关键字 </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InfoType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otherinfo</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其它数据项</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rgbClr val="FF0000"/>
                </a:solidFill>
                <a:effectLst/>
                <a:uLnTx/>
                <a:uFillTx/>
                <a:latin typeface="+mn-lt"/>
                <a:ea typeface="+mn-ea"/>
                <a:cs typeface="+mn-ea"/>
                <a:sym typeface="+mn-lt"/>
              </a:rPr>
              <a:t>RedType</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 ;</a:t>
            </a:r>
          </a:p>
        </p:txBody>
      </p:sp>
      <p:sp>
        <p:nvSpPr>
          <p:cNvPr id="992265" name="Rectangle 9"/>
          <p:cNvSpPr>
            <a:spLocks noChangeArrowheads="1"/>
          </p:cNvSpPr>
          <p:nvPr/>
        </p:nvSpPr>
        <p:spPr bwMode="auto">
          <a:xfrm>
            <a:off x="392113" y="4090988"/>
            <a:ext cx="8458200" cy="2400300"/>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Typedef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定义顺序表的结构</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rgbClr val="FF0000"/>
                </a:solidFill>
                <a:effectLst/>
                <a:uLnTx/>
                <a:uFillTx/>
                <a:latin typeface="+mn-lt"/>
                <a:ea typeface="+mn-ea"/>
                <a:cs typeface="+mn-ea"/>
                <a:sym typeface="+mn-lt"/>
              </a:rPr>
              <a:t>RedType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r [ MAXSIZE +1 ];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存储顺序表的向量</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9900FF"/>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//r[0]</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一般作哨兵或缓冲区</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int length ;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顺序表的长度</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2"/>
                </a:solidFill>
                <a:effectLst/>
                <a:uLnTx/>
                <a:uFillTx/>
                <a:latin typeface="+mn-lt"/>
                <a:ea typeface="+mn-ea"/>
                <a:cs typeface="+mn-ea"/>
                <a:sym typeface="+mn-lt"/>
              </a:rPr>
              <a:t>SqList</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 ;</a:t>
            </a:r>
          </a:p>
        </p:txBody>
      </p:sp>
      <p:sp>
        <p:nvSpPr>
          <p:cNvPr id="11269" name="Rectangle 10"/>
          <p:cNvSpPr>
            <a:spLocks noChangeArrowheads="1"/>
          </p:cNvSpPr>
          <p:nvPr/>
        </p:nvSpPr>
        <p:spPr bwMode="auto">
          <a:xfrm>
            <a:off x="392113" y="909638"/>
            <a:ext cx="8458200" cy="1016000"/>
          </a:xfrm>
          <a:prstGeom prst="rect">
            <a:avLst/>
          </a:prstGeom>
          <a:solidFill>
            <a:schemeClr val="accent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define MAXSIZE 20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设记录不超过</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typedef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int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KeyType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设关键字为整型量（</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int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型）</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92264"/>
                                        </p:tgtEl>
                                        <p:attrNameLst>
                                          <p:attrName>style.visibility</p:attrName>
                                        </p:attrNameLst>
                                      </p:cBhvr>
                                      <p:to>
                                        <p:strVal val="visible"/>
                                      </p:to>
                                    </p:set>
                                    <p:anim calcmode="lin" valueType="num">
                                      <p:cBhvr additive="base">
                                        <p:cTn id="7" dur="500" fill="hold"/>
                                        <p:tgtEl>
                                          <p:spTgt spid="992264"/>
                                        </p:tgtEl>
                                        <p:attrNameLst>
                                          <p:attrName>ppt_x</p:attrName>
                                        </p:attrNameLst>
                                      </p:cBhvr>
                                      <p:tavLst>
                                        <p:tav tm="0">
                                          <p:val>
                                            <p:strVal val="#ppt_x"/>
                                          </p:val>
                                        </p:tav>
                                        <p:tav tm="100000">
                                          <p:val>
                                            <p:strVal val="#ppt_x"/>
                                          </p:val>
                                        </p:tav>
                                      </p:tavLst>
                                    </p:anim>
                                    <p:anim calcmode="lin" valueType="num">
                                      <p:cBhvr additive="base">
                                        <p:cTn id="8" dur="500" fill="hold"/>
                                        <p:tgtEl>
                                          <p:spTgt spid="99226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992265"/>
                                        </p:tgtEl>
                                        <p:attrNameLst>
                                          <p:attrName>style.visibility</p:attrName>
                                        </p:attrNameLst>
                                      </p:cBhvr>
                                      <p:to>
                                        <p:strVal val="visible"/>
                                      </p:to>
                                    </p:set>
                                    <p:animEffect transition="in" filter="box(in)">
                                      <p:cBhvr>
                                        <p:cTn id="13" dur="500"/>
                                        <p:tgtEl>
                                          <p:spTgt spid="992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2264" grpId="0" animBg="1"/>
      <p:bldP spid="992265"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ext Box 9"/>
          <p:cNvSpPr txBox="1"/>
          <p:nvPr/>
        </p:nvSpPr>
        <p:spPr>
          <a:xfrm>
            <a:off x="942975" y="203200"/>
            <a:ext cx="4521200" cy="523875"/>
          </a:xfrm>
          <a:prstGeom prst="rect">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排序算法分类</a:t>
            </a:r>
          </a:p>
        </p:txBody>
      </p:sp>
      <p:sp>
        <p:nvSpPr>
          <p:cNvPr id="12291" name="Oval 10"/>
          <p:cNvSpPr>
            <a:spLocks noChangeArrowheads="1"/>
          </p:cNvSpPr>
          <p:nvPr/>
        </p:nvSpPr>
        <p:spPr bwMode="auto">
          <a:xfrm>
            <a:off x="942975" y="1484313"/>
            <a:ext cx="2520950" cy="863600"/>
          </a:xfrm>
          <a:prstGeom prst="ellipse">
            <a:avLst/>
          </a:prstGeom>
          <a:solidFill>
            <a:schemeClr val="accent1">
              <a:lumMod val="60000"/>
              <a:lumOff val="40000"/>
            </a:schemeClr>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bg1"/>
                </a:solidFill>
                <a:effectLst/>
                <a:uLnTx/>
                <a:uFillTx/>
                <a:latin typeface="+mn-lt"/>
                <a:ea typeface="+mn-ea"/>
                <a:cs typeface="+mn-ea"/>
                <a:sym typeface="+mn-lt"/>
              </a:rPr>
              <a:t>规则不同</a:t>
            </a:r>
          </a:p>
        </p:txBody>
      </p:sp>
      <p:grpSp>
        <p:nvGrpSpPr>
          <p:cNvPr id="2" name="Group 15"/>
          <p:cNvGrpSpPr/>
          <p:nvPr/>
        </p:nvGrpSpPr>
        <p:grpSpPr>
          <a:xfrm>
            <a:off x="942975" y="2563813"/>
            <a:ext cx="2520950" cy="3097212"/>
            <a:chOff x="430" y="1026"/>
            <a:chExt cx="1588" cy="1951"/>
          </a:xfrm>
        </p:grpSpPr>
        <p:sp>
          <p:nvSpPr>
            <p:cNvPr id="993286" name="Rectangle 6"/>
            <p:cNvSpPr>
              <a:spLocks noChangeArrowheads="1"/>
            </p:cNvSpPr>
            <p:nvPr/>
          </p:nvSpPr>
          <p:spPr bwMode="auto">
            <a:xfrm>
              <a:off x="430" y="1525"/>
              <a:ext cx="1588" cy="1452"/>
            </a:xfrm>
            <a:prstGeom prst="roundRect">
              <a:avLst>
                <a:gd name="adj" fmla="val 10606"/>
              </a:avLst>
            </a:prstGeom>
            <a:solidFill>
              <a:srgbClr val="CCCCFF"/>
            </a:solidFill>
            <a:ln w="9525">
              <a:noFill/>
              <a:miter lim="800000"/>
            </a:ln>
            <a:effectLst/>
          </p:spPr>
          <p:txBody>
            <a:bodyPr anchor="ctr"/>
            <a:lstStyle/>
            <a:p>
              <a:pPr marL="342900" marR="0" lvl="0" indent="-342900" algn="l" defTabSz="914400" rtl="0" eaLnBrk="1" fontAlgn="base" latinLnBrk="0" hangingPunct="1">
                <a:lnSpc>
                  <a:spcPct val="100000"/>
                </a:lnSpc>
                <a:spcBef>
                  <a:spcPct val="50000"/>
                </a:spcBef>
                <a:spcAft>
                  <a:spcPct val="0"/>
                </a:spcAft>
                <a:buClrTx/>
                <a:buSzTx/>
                <a:buFontTx/>
                <a:buNone/>
                <a:defRPr/>
              </a:pP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插入排序</a:t>
              </a:r>
            </a:p>
            <a:p>
              <a:pPr marL="342900" marR="0" lvl="0" indent="-342900" algn="l" defTabSz="914400" rtl="0" eaLnBrk="1" fontAlgn="base" latinLnBrk="0" hangingPunct="1">
                <a:lnSpc>
                  <a:spcPct val="100000"/>
                </a:lnSpc>
                <a:spcBef>
                  <a:spcPct val="20000"/>
                </a:spcBef>
                <a:spcAft>
                  <a:spcPct val="0"/>
                </a:spcAft>
                <a:buClr>
                  <a:schemeClr val="hlink"/>
                </a:buClr>
                <a:buSzTx/>
                <a:buFont typeface="Monotype Sorts" pitchFamily="2" charset="2"/>
                <a:buNone/>
                <a:defRPr/>
              </a:pP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交换排序</a:t>
              </a:r>
            </a:p>
            <a:p>
              <a:pPr marL="342900" marR="0" lvl="0" indent="-342900" algn="l" defTabSz="914400" rtl="0" eaLnBrk="1" fontAlgn="base" latinLnBrk="0" hangingPunct="1">
                <a:lnSpc>
                  <a:spcPct val="100000"/>
                </a:lnSpc>
                <a:spcBef>
                  <a:spcPct val="20000"/>
                </a:spcBef>
                <a:spcAft>
                  <a:spcPct val="0"/>
                </a:spcAft>
                <a:buClr>
                  <a:schemeClr val="hlink"/>
                </a:buClr>
                <a:buSzTx/>
                <a:buFont typeface="Monotype Sorts" pitchFamily="2" charset="2"/>
                <a:buNone/>
                <a:defRPr/>
              </a:pP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选择排序</a:t>
              </a:r>
            </a:p>
            <a:p>
              <a:pPr marL="342900" marR="0" lvl="0" indent="-342900" algn="l" defTabSz="914400" rtl="0" eaLnBrk="1" fontAlgn="base" latinLnBrk="0" hangingPunct="1">
                <a:lnSpc>
                  <a:spcPct val="100000"/>
                </a:lnSpc>
                <a:spcBef>
                  <a:spcPct val="20000"/>
                </a:spcBef>
                <a:spcAft>
                  <a:spcPct val="0"/>
                </a:spcAft>
                <a:buClr>
                  <a:schemeClr val="hlink"/>
                </a:buClr>
                <a:buSzTx/>
                <a:buFont typeface="Monotype Sorts" pitchFamily="2" charset="2"/>
                <a:buNone/>
                <a:defRPr/>
              </a:pPr>
              <a:endPar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endParaRPr>
            </a:p>
          </p:txBody>
        </p:sp>
        <p:sp>
          <p:nvSpPr>
            <p:cNvPr id="12294" name="AutoShape 11"/>
            <p:cNvSpPr>
              <a:spLocks noChangeArrowheads="1"/>
            </p:cNvSpPr>
            <p:nvPr/>
          </p:nvSpPr>
          <p:spPr bwMode="auto">
            <a:xfrm>
              <a:off x="1065" y="1026"/>
              <a:ext cx="182" cy="499"/>
            </a:xfrm>
            <a:prstGeom prst="downArrow">
              <a:avLst>
                <a:gd name="adj1" fmla="val 50000"/>
                <a:gd name="adj2" fmla="val 68519"/>
              </a:avLst>
            </a:prstGeom>
            <a:solidFill>
              <a:srgbClr val="FF0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2295" name="Oval 12"/>
          <p:cNvSpPr>
            <a:spLocks noChangeArrowheads="1"/>
          </p:cNvSpPr>
          <p:nvPr/>
        </p:nvSpPr>
        <p:spPr bwMode="auto">
          <a:xfrm>
            <a:off x="4781550" y="1484313"/>
            <a:ext cx="3579813" cy="863600"/>
          </a:xfrm>
          <a:prstGeom prst="ellipse">
            <a:avLst/>
          </a:prstGeom>
          <a:solidFill>
            <a:schemeClr val="accent1">
              <a:lumMod val="60000"/>
              <a:lumOff val="40000"/>
            </a:schemeClr>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bg1"/>
                </a:solidFill>
                <a:effectLst/>
                <a:uLnTx/>
                <a:uFillTx/>
                <a:latin typeface="+mn-lt"/>
                <a:ea typeface="+mn-ea"/>
                <a:cs typeface="+mn-ea"/>
                <a:sym typeface="+mn-lt"/>
              </a:rPr>
              <a:t>时间复杂度不同</a:t>
            </a:r>
          </a:p>
        </p:txBody>
      </p:sp>
      <p:grpSp>
        <p:nvGrpSpPr>
          <p:cNvPr id="3" name="Group 16"/>
          <p:cNvGrpSpPr/>
          <p:nvPr/>
        </p:nvGrpSpPr>
        <p:grpSpPr>
          <a:xfrm>
            <a:off x="4781550" y="2563813"/>
            <a:ext cx="3579813" cy="3097212"/>
            <a:chOff x="2848" y="1026"/>
            <a:chExt cx="2255" cy="1951"/>
          </a:xfrm>
        </p:grpSpPr>
        <p:sp>
          <p:nvSpPr>
            <p:cNvPr id="993288" name="Rectangle 8"/>
            <p:cNvSpPr>
              <a:spLocks noChangeArrowheads="1"/>
            </p:cNvSpPr>
            <p:nvPr/>
          </p:nvSpPr>
          <p:spPr bwMode="auto">
            <a:xfrm>
              <a:off x="2848" y="1525"/>
              <a:ext cx="2255" cy="1452"/>
            </a:xfrm>
            <a:prstGeom prst="roundRect">
              <a:avLst>
                <a:gd name="adj" fmla="val 7301"/>
              </a:avLst>
            </a:prstGeom>
            <a:solidFill>
              <a:srgbClr val="CCCCFF"/>
            </a:solidFill>
            <a:ln w="9525">
              <a:noFill/>
              <a:miter lim="800000"/>
            </a:ln>
            <a:effectLst/>
          </p:spPr>
          <p:txBody>
            <a:bodyPr/>
            <a:lstStyle/>
            <a:p>
              <a:pPr marL="342900" marR="0" lvl="0" indent="-342900" algn="l" defTabSz="914400" rtl="0" eaLnBrk="1" fontAlgn="base" latinLnBrk="0" hangingPunct="1">
                <a:lnSpc>
                  <a:spcPct val="100000"/>
                </a:lnSpc>
                <a:spcBef>
                  <a:spcPts val="100"/>
                </a:spcBef>
                <a:spcAft>
                  <a:spcPct val="0"/>
                </a:spcAft>
                <a:buClrTx/>
                <a:buSzTx/>
                <a:buFontTx/>
                <a:buNone/>
                <a:defRPr/>
              </a:pP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简单排序</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O(n</a:t>
              </a:r>
              <a:r>
                <a:rPr kumimoji="1" lang="en-US" altLang="zh-CN" sz="2800" b="0" i="0" u="none" strike="noStrike" kern="1200" cap="none" spc="0" normalizeH="0" baseline="30000" noProof="0" dirty="0">
                  <a:ln>
                    <a:noFill/>
                  </a:ln>
                  <a:solidFill>
                    <a:schemeClr val="tx1"/>
                  </a:solidFill>
                  <a:effectLst/>
                  <a:uLnTx/>
                  <a:uFillTx/>
                  <a:latin typeface="+mn-lt"/>
                  <a:ea typeface="+mn-ea"/>
                  <a:cs typeface="+mn-ea"/>
                  <a:sym typeface="+mn-lt"/>
                </a:rPr>
                <a:t>2</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endPar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endParaRPr>
            </a:p>
            <a:p>
              <a:pPr marL="342900" marR="0" lvl="0" indent="-342900" algn="l" defTabSz="914400" rtl="0" eaLnBrk="1" fontAlgn="base" latinLnBrk="0" hangingPunct="1">
                <a:lnSpc>
                  <a:spcPct val="100000"/>
                </a:lnSpc>
                <a:spcBef>
                  <a:spcPct val="20000"/>
                </a:spcBef>
                <a:spcAft>
                  <a:spcPct val="0"/>
                </a:spcAft>
                <a:buClr>
                  <a:schemeClr val="hlink"/>
                </a:buClr>
                <a:buSzTx/>
                <a:buFont typeface="Monotype Sorts" pitchFamily="2" charset="2"/>
                <a:buNone/>
                <a:defRPr/>
              </a:pP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先进排序</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O( nlog</a:t>
              </a:r>
              <a:r>
                <a:rPr kumimoji="1"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2</a:t>
              </a:r>
              <a:r>
                <a:rPr kumimoji="1" lang="en-US" altLang="zh-CN" sz="2800" b="0" i="0" u="none" strike="noStrike" kern="1200" cap="none" spc="0" normalizeH="0" baseline="30000" noProof="0" dirty="0">
                  <a:ln>
                    <a:noFill/>
                  </a:ln>
                  <a:solidFill>
                    <a:schemeClr val="tx1"/>
                  </a:solidFill>
                  <a:effectLst/>
                  <a:uLnTx/>
                  <a:uFillTx/>
                  <a:latin typeface="+mn-lt"/>
                  <a:ea typeface="+mn-ea"/>
                  <a:cs typeface="+mn-ea"/>
                  <a:sym typeface="+mn-lt"/>
                </a:rPr>
                <a:t>n</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endPar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endParaRPr>
            </a:p>
          </p:txBody>
        </p:sp>
        <p:sp>
          <p:nvSpPr>
            <p:cNvPr id="12298" name="AutoShape 13"/>
            <p:cNvSpPr>
              <a:spLocks noChangeArrowheads="1"/>
            </p:cNvSpPr>
            <p:nvPr/>
          </p:nvSpPr>
          <p:spPr bwMode="auto">
            <a:xfrm>
              <a:off x="3833" y="1026"/>
              <a:ext cx="182" cy="499"/>
            </a:xfrm>
            <a:prstGeom prst="downArrow">
              <a:avLst>
                <a:gd name="adj1" fmla="val 50000"/>
                <a:gd name="adj2" fmla="val 68519"/>
              </a:avLst>
            </a:prstGeom>
            <a:solidFill>
              <a:srgbClr val="FF0000"/>
            </a:solidFill>
            <a:ln>
              <a:noFill/>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24583" name="矩形 3"/>
          <p:cNvSpPr/>
          <p:nvPr/>
        </p:nvSpPr>
        <p:spPr>
          <a:xfrm>
            <a:off x="4781550" y="4652963"/>
            <a:ext cx="3579813" cy="71437"/>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4584" name="矩形 12"/>
          <p:cNvSpPr/>
          <p:nvPr/>
        </p:nvSpPr>
        <p:spPr>
          <a:xfrm>
            <a:off x="4781550" y="4868863"/>
            <a:ext cx="3579813" cy="73025"/>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4585" name="矩形 13"/>
          <p:cNvSpPr/>
          <p:nvPr/>
        </p:nvSpPr>
        <p:spPr>
          <a:xfrm>
            <a:off x="4781550" y="5084763"/>
            <a:ext cx="3579813" cy="73025"/>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2295"/>
                                        </p:tgtEl>
                                        <p:attrNameLst>
                                          <p:attrName>style.visibility</p:attrName>
                                        </p:attrNameLst>
                                      </p:cBhvr>
                                      <p:to>
                                        <p:strVal val="visible"/>
                                      </p:to>
                                    </p:set>
                                    <p:anim calcmode="lin" valueType="num">
                                      <p:cBhvr additive="base">
                                        <p:cTn id="13" dur="500" fill="hold"/>
                                        <p:tgtEl>
                                          <p:spTgt spid="12295"/>
                                        </p:tgtEl>
                                        <p:attrNameLst>
                                          <p:attrName>ppt_x</p:attrName>
                                        </p:attrNameLst>
                                      </p:cBhvr>
                                      <p:tavLst>
                                        <p:tav tm="0">
                                          <p:val>
                                            <p:strVal val="#ppt_x"/>
                                          </p:val>
                                        </p:tav>
                                        <p:tav tm="100000">
                                          <p:val>
                                            <p:strVal val="#ppt_x"/>
                                          </p:val>
                                        </p:tav>
                                      </p:tavLst>
                                    </p:anim>
                                    <p:anim calcmode="lin" valueType="num">
                                      <p:cBhvr additive="base">
                                        <p:cTn id="14" dur="500" fill="hold"/>
                                        <p:tgtEl>
                                          <p:spTgt spid="1229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 presetClass="entr" presetSubtype="16"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box(in)">
                                      <p:cBhvr>
                                        <p:cTn id="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11266" name="矩形: 圆角 16"/>
          <p:cNvSpPr>
            <a:spLocks noChangeArrowheads="1"/>
          </p:cNvSpPr>
          <p:nvPr/>
        </p:nvSpPr>
        <p:spPr bwMode="auto">
          <a:xfrm>
            <a:off x="2830513" y="2851468"/>
            <a:ext cx="4432300" cy="504825"/>
          </a:xfrm>
          <a:prstGeom prst="roundRect">
            <a:avLst>
              <a:gd name="adj" fmla="val 16667"/>
            </a:avLst>
          </a:prstGeom>
          <a:solidFill>
            <a:srgbClr val="9476B6"/>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1885950" y="2851468"/>
            <a:ext cx="839788" cy="504825"/>
          </a:xfrm>
          <a:prstGeom prst="roundRect">
            <a:avLst>
              <a:gd name="adj" fmla="val 16667"/>
            </a:avLst>
          </a:prstGeom>
          <a:solidFill>
            <a:schemeClr val="accent1"/>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sp>
        <p:nvSpPr>
          <p:cNvPr id="14" name="文本框 13"/>
          <p:cNvSpPr txBox="1"/>
          <p:nvPr/>
        </p:nvSpPr>
        <p:spPr>
          <a:xfrm>
            <a:off x="2005013" y="2205990"/>
            <a:ext cx="720725" cy="2308324"/>
          </a:xfrm>
          <a:prstGeom prst="rect">
            <a:avLst/>
          </a:prstGeom>
          <a:noFill/>
        </p:spPr>
        <p:txBody>
          <a:bodyPr>
            <a:spAutoFit/>
          </a:bodyPr>
          <a:lstStyle/>
          <a:p>
            <a:pPr marR="0" defTabSz="914400">
              <a:lnSpc>
                <a:spcPct val="150000"/>
              </a:lnSpc>
              <a:buClrTx/>
              <a:buSzTx/>
              <a:buFontTx/>
              <a:buNone/>
              <a:defRPr/>
            </a:pPr>
            <a:r>
              <a:rPr kumimoji="0" lang="en-US" altLang="zh-CN" sz="2400" b="0" kern="1200" cap="none" spc="0" normalizeH="0" baseline="0" noProof="0" dirty="0">
                <a:solidFill>
                  <a:schemeClr val="tx1"/>
                </a:solidFill>
                <a:latin typeface="+mn-lt"/>
                <a:ea typeface="+mn-ea"/>
                <a:cs typeface="+mn-ea"/>
                <a:sym typeface="+mn-lt"/>
              </a:rPr>
              <a:t>8.1</a:t>
            </a:r>
            <a:endParaRPr kumimoji="0" lang="zh-CN" altLang="en-US" sz="24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chemeClr val="bg1"/>
                </a:solidFill>
                <a:latin typeface="+mn-lt"/>
                <a:ea typeface="+mn-ea"/>
                <a:cs typeface="+mn-ea"/>
                <a:sym typeface="+mn-lt"/>
              </a:rPr>
              <a:t>8.2</a:t>
            </a:r>
            <a:endParaRPr kumimoji="0" lang="zh-CN" altLang="en-US" sz="24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8.3</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smtClean="0">
                <a:solidFill>
                  <a:srgbClr val="000000">
                    <a:lumMod val="95000"/>
                    <a:lumOff val="5000"/>
                  </a:srgbClr>
                </a:solidFill>
                <a:latin typeface="+mn-lt"/>
                <a:ea typeface="+mn-ea"/>
                <a:cs typeface="+mn-ea"/>
                <a:sym typeface="+mn-lt"/>
              </a:rPr>
              <a:t>8.4</a:t>
            </a:r>
            <a:endParaRPr kumimoji="0" lang="en-US" altLang="zh-CN" sz="24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2843530" y="2205990"/>
            <a:ext cx="4177665" cy="2862322"/>
          </a:xfrm>
          <a:prstGeom prst="rect">
            <a:avLst/>
          </a:prstGeom>
          <a:noFill/>
        </p:spPr>
        <p:txBody>
          <a:bodyPr wrap="square">
            <a:spAutoFit/>
          </a:bodyPr>
          <a:lstStyle/>
          <a:p>
            <a:pPr marR="0" defTabSz="914400">
              <a:lnSpc>
                <a:spcPct val="150000"/>
              </a:lnSpc>
              <a:buClrTx/>
              <a:buSzTx/>
              <a:buFontTx/>
              <a:buNone/>
              <a:defRPr/>
            </a:pPr>
            <a:r>
              <a:rPr kumimoji="0" lang="zh-CN" altLang="en-US" sz="2400" b="0" kern="1200" cap="none" spc="0" normalizeH="0" baseline="0" noProof="0" dirty="0">
                <a:solidFill>
                  <a:schemeClr val="tx1"/>
                </a:solidFill>
                <a:latin typeface="+mn-lt"/>
                <a:ea typeface="+mn-ea"/>
                <a:cs typeface="+mn-ea"/>
                <a:sym typeface="+mn-lt"/>
              </a:rPr>
              <a:t>　概述</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a:t>
            </a:r>
            <a:r>
              <a:rPr kumimoji="0" lang="zh-CN" altLang="en-US" sz="2400" b="0" kern="1200" cap="none" spc="0" normalizeH="0" baseline="0" noProof="0" dirty="0">
                <a:solidFill>
                  <a:schemeClr val="bg1"/>
                </a:solidFill>
                <a:latin typeface="+mn-lt"/>
                <a:ea typeface="+mn-ea"/>
                <a:cs typeface="+mn-ea"/>
                <a:sym typeface="+mn-lt"/>
              </a:rPr>
              <a:t>插入排序</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交换排序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选择排序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a:t>
            </a:r>
          </a:p>
        </p:txBody>
      </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transition spd="slow"/>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6"/>
          <p:cNvSpPr>
            <a:spLocks noChangeArrowheads="1"/>
          </p:cNvSpPr>
          <p:nvPr/>
        </p:nvSpPr>
        <p:spPr bwMode="auto">
          <a:xfrm>
            <a:off x="874713" y="220663"/>
            <a:ext cx="6156325" cy="6858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插入排序</a:t>
            </a:r>
          </a:p>
        </p:txBody>
      </p:sp>
      <p:sp>
        <p:nvSpPr>
          <p:cNvPr id="994313" name="Rectangle 9"/>
          <p:cNvSpPr>
            <a:spLocks noChangeArrowheads="1"/>
          </p:cNvSpPr>
          <p:nvPr/>
        </p:nvSpPr>
        <p:spPr bwMode="auto">
          <a:xfrm>
            <a:off x="903288" y="1074738"/>
            <a:ext cx="6923088" cy="630238"/>
          </a:xfrm>
          <a:prstGeom prst="rect">
            <a:avLst/>
          </a:prstGeom>
          <a:noFill/>
          <a:ln w="9525">
            <a:noFill/>
            <a:miter lim="800000"/>
          </a:ln>
        </p:spPr>
        <p:txBody>
          <a:bodyPr>
            <a:spAutoFit/>
          </a:bodyPr>
          <a:lstStyle/>
          <a:p>
            <a:pPr marL="0" marR="0" lvl="0" indent="0" algn="l" defTabSz="914400" rtl="0" eaLnBrk="1" fontAlgn="base" latinLnBrk="0" hangingPunct="1">
              <a:lnSpc>
                <a:spcPct val="125000"/>
              </a:lnSpc>
              <a:spcBef>
                <a:spcPct val="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基本思想：</a:t>
            </a:r>
          </a:p>
        </p:txBody>
      </p:sp>
      <p:sp>
        <p:nvSpPr>
          <p:cNvPr id="994315" name="Rectangle 11"/>
          <p:cNvSpPr>
            <a:spLocks noChangeArrowheads="1"/>
          </p:cNvSpPr>
          <p:nvPr/>
        </p:nvSpPr>
        <p:spPr bwMode="auto">
          <a:xfrm>
            <a:off x="577850" y="5151438"/>
            <a:ext cx="8083550" cy="581025"/>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即边插入边排序，保证子序列中随时都是排好序的</a:t>
            </a:r>
          </a:p>
        </p:txBody>
      </p:sp>
      <p:sp>
        <p:nvSpPr>
          <p:cNvPr id="26629" name="椭圆 8"/>
          <p:cNvSpPr/>
          <p:nvPr/>
        </p:nvSpPr>
        <p:spPr>
          <a:xfrm>
            <a:off x="976313" y="4471988"/>
            <a:ext cx="95250"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26630" name="椭圆 9"/>
          <p:cNvSpPr/>
          <p:nvPr/>
        </p:nvSpPr>
        <p:spPr>
          <a:xfrm>
            <a:off x="306388" y="4481513"/>
            <a:ext cx="95250"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26631" name="椭圆 11"/>
          <p:cNvSpPr/>
          <p:nvPr/>
        </p:nvSpPr>
        <p:spPr>
          <a:xfrm>
            <a:off x="301625" y="2114550"/>
            <a:ext cx="96838"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2" name="矩形 11"/>
          <p:cNvSpPr>
            <a:spLocks noChangeArrowheads="1"/>
          </p:cNvSpPr>
          <p:nvPr/>
        </p:nvSpPr>
        <p:spPr bwMode="auto">
          <a:xfrm>
            <a:off x="0" y="2225675"/>
            <a:ext cx="9140825" cy="2339975"/>
          </a:xfrm>
          <a:prstGeom prst="rect">
            <a:avLst/>
          </a:prstGeom>
          <a:solidFill>
            <a:srgbClr val="F2F2F2"/>
          </a:solidFill>
          <a:ln>
            <a:noFill/>
          </a:ln>
        </p:spPr>
        <p:txBody>
          <a:bodyPr lIns="4248000" rIns="252000" anchor="ctr"/>
          <a:lstStyle/>
          <a:p>
            <a:pPr marL="0" marR="0" lvl="0" indent="0" algn="just" defTabSz="914400" rtl="0" eaLnBrk="1" fontAlgn="base" latinLnBrk="0" hangingPunct="1">
              <a:lnSpc>
                <a:spcPct val="130000"/>
              </a:lnSpc>
              <a:spcBef>
                <a:spcPts val="600"/>
              </a:spcBef>
              <a:spcAft>
                <a:spcPts val="600"/>
              </a:spcAft>
              <a:buClrTx/>
              <a:buSzTx/>
              <a:buFont typeface="Arial" panose="020B0604020202020204" pitchFamily="34" charset="0"/>
              <a:buNone/>
              <a:defRPr/>
            </a:pPr>
            <a:endParaRPr kumimoji="0" lang="zh-CN" altLang="en-US" sz="2800" b="1"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13" name="圆角矩形 15"/>
          <p:cNvSpPr>
            <a:spLocks noChangeArrowheads="1"/>
          </p:cNvSpPr>
          <p:nvPr/>
        </p:nvSpPr>
        <p:spPr bwMode="auto">
          <a:xfrm>
            <a:off x="331788" y="2111375"/>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6634" name="椭圆 13"/>
          <p:cNvSpPr/>
          <p:nvPr/>
        </p:nvSpPr>
        <p:spPr>
          <a:xfrm>
            <a:off x="971550" y="2105025"/>
            <a:ext cx="96838"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5" name="圆角矩形 15"/>
          <p:cNvSpPr>
            <a:spLocks noChangeArrowheads="1"/>
          </p:cNvSpPr>
          <p:nvPr/>
        </p:nvSpPr>
        <p:spPr bwMode="auto">
          <a:xfrm>
            <a:off x="1001713" y="2101850"/>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94314" name="Rectangle 10"/>
          <p:cNvSpPr>
            <a:spLocks noChangeArrowheads="1"/>
          </p:cNvSpPr>
          <p:nvPr/>
        </p:nvSpPr>
        <p:spPr bwMode="auto">
          <a:xfrm>
            <a:off x="1820863" y="2411413"/>
            <a:ext cx="7004050" cy="1708150"/>
          </a:xfrm>
          <a:prstGeom prst="rect">
            <a:avLst/>
          </a:prstGeom>
          <a:noFill/>
          <a:ln w="9525">
            <a:noFill/>
            <a:miter lim="800000"/>
          </a:ln>
          <a:effectLst/>
        </p:spPr>
        <p:txBody>
          <a:bodyPr>
            <a:spAutoFit/>
          </a:bodyPr>
          <a:lstStyle/>
          <a:p>
            <a:pPr marL="0" marR="0" lvl="0" indent="0" algn="l" defTabSz="914400" rtl="0" eaLnBrk="1" fontAlgn="base" latinLnBrk="0" hangingPunct="1">
              <a:lnSpc>
                <a:spcPct val="125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每步将一个待排序的对象，按其关键码大小，</a:t>
            </a:r>
            <a:r>
              <a:rPr kumimoji="1" lang="zh-CN" altLang="en-US" sz="2800" b="0" i="0" u="none" strike="noStrike" kern="1200" cap="none" spc="0" normalizeH="0" baseline="0" noProof="0" dirty="0">
                <a:ln>
                  <a:noFill/>
                </a:ln>
                <a:solidFill>
                  <a:srgbClr val="0000FF"/>
                </a:solidFill>
                <a:effectLst/>
                <a:uLnTx/>
                <a:uFillTx/>
                <a:latin typeface="+mn-lt"/>
                <a:ea typeface="+mn-ea"/>
                <a:cs typeface="+mn-ea"/>
                <a:sym typeface="+mn-lt"/>
              </a:rPr>
              <a:t>插入到前面</a:t>
            </a:r>
            <a:r>
              <a:rPr kumimoji="1" lang="zh-CN" altLang="en-US" sz="2800" b="0" i="0" u="none" strike="noStrike" kern="1200" cap="none" spc="0" normalizeH="0" baseline="0" noProof="0" dirty="0">
                <a:ln>
                  <a:noFill/>
                </a:ln>
                <a:solidFill>
                  <a:srgbClr val="FF0000"/>
                </a:solidFill>
                <a:effectLst/>
                <a:uLnTx/>
                <a:uFillTx/>
                <a:latin typeface="+mn-lt"/>
                <a:ea typeface="+mn-ea"/>
                <a:cs typeface="+mn-ea"/>
                <a:sym typeface="+mn-lt"/>
              </a:rPr>
              <a:t>已经排好序的一组对象</a:t>
            </a:r>
            <a:r>
              <a:rPr kumimoji="1" lang="zh-CN" altLang="en-US" sz="2800" b="0" i="0" u="none" strike="noStrike" kern="1200" cap="none" spc="0" normalizeH="0" baseline="0" noProof="0" dirty="0">
                <a:ln>
                  <a:noFill/>
                </a:ln>
                <a:solidFill>
                  <a:srgbClr val="0000FF"/>
                </a:solidFill>
                <a:effectLst/>
                <a:uLnTx/>
                <a:uFillTx/>
                <a:latin typeface="+mn-lt"/>
                <a:ea typeface="+mn-ea"/>
                <a:cs typeface="+mn-ea"/>
                <a:sym typeface="+mn-lt"/>
              </a:rPr>
              <a:t>的</a:t>
            </a:r>
            <a:r>
              <a:rPr kumimoji="1" lang="zh-CN" altLang="en-US" sz="2800" b="0" i="0" u="none" strike="noStrike" kern="1200" cap="none" spc="0" normalizeH="0" baseline="0" noProof="0" dirty="0">
                <a:ln>
                  <a:noFill/>
                </a:ln>
                <a:solidFill>
                  <a:srgbClr val="FF0000"/>
                </a:solidFill>
                <a:effectLst/>
                <a:uLnTx/>
                <a:uFillTx/>
                <a:latin typeface="+mn-lt"/>
                <a:ea typeface="+mn-ea"/>
                <a:cs typeface="+mn-ea"/>
                <a:sym typeface="+mn-lt"/>
              </a:rPr>
              <a:t>适当位置</a:t>
            </a:r>
            <a:r>
              <a:rPr kumimoji="1" lang="zh-CN" altLang="en-US" sz="2800" b="0" i="0" u="none" strike="noStrike" kern="1200" cap="none" spc="0" normalizeH="0" baseline="0" noProof="0" dirty="0">
                <a:ln>
                  <a:noFill/>
                </a:ln>
                <a:solidFill>
                  <a:srgbClr val="0000FF"/>
                </a:solidFill>
                <a:effectLst/>
                <a:uLnTx/>
                <a:uFillTx/>
                <a:latin typeface="+mn-lt"/>
                <a:ea typeface="+mn-ea"/>
                <a:cs typeface="+mn-ea"/>
                <a:sym typeface="+mn-lt"/>
              </a:rPr>
              <a:t>上</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，直到对象全部插入为止。</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94315"/>
                                        </p:tgtEl>
                                        <p:attrNameLst>
                                          <p:attrName>style.visibility</p:attrName>
                                        </p:attrNameLst>
                                      </p:cBhvr>
                                      <p:to>
                                        <p:strVal val="visible"/>
                                      </p:to>
                                    </p:set>
                                    <p:animEffect transition="in" filter="wipe(left)">
                                      <p:cBhvr>
                                        <p:cTn id="7" dur="500"/>
                                        <p:tgtEl>
                                          <p:spTgt spid="9943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431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2255838"/>
            <a:ext cx="9144000" cy="369411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202180" name="Text Box 4">
            <a:hlinkClick r:id="" action="ppaction://hlinkshowjump?jump=nextslide"/>
          </p:cNvPr>
          <p:cNvSpPr txBox="1">
            <a:spLocks noChangeArrowheads="1"/>
          </p:cNvSpPr>
          <p:nvPr/>
        </p:nvSpPr>
        <p:spPr bwMode="auto">
          <a:xfrm>
            <a:off x="1476375" y="2933700"/>
            <a:ext cx="6324600" cy="493713"/>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2600" b="0" kern="1200" cap="none" spc="0" normalizeH="0" baseline="0" noProof="0" dirty="0">
                <a:latin typeface="+mn-lt"/>
                <a:ea typeface="+mn-ea"/>
                <a:cs typeface="+mn-ea"/>
                <a:sym typeface="+mn-lt"/>
              </a:rPr>
              <a:t>直接插入排序</a:t>
            </a:r>
            <a:r>
              <a:rPr kumimoji="1" lang="zh-CN" altLang="en-US" sz="2600" b="0" kern="1200" cap="none" spc="0" normalizeH="0" baseline="0" noProof="0" dirty="0">
                <a:solidFill>
                  <a:srgbClr val="FF3300"/>
                </a:solidFill>
                <a:latin typeface="+mn-lt"/>
                <a:ea typeface="+mn-ea"/>
                <a:cs typeface="+mn-ea"/>
                <a:sym typeface="+mn-lt"/>
              </a:rPr>
              <a:t>（基于顺序查找）</a:t>
            </a:r>
          </a:p>
        </p:txBody>
      </p:sp>
      <p:pic>
        <p:nvPicPr>
          <p:cNvPr id="1202181" name="Picture 5" descr="Pebble">
            <a:hlinkClick r:id="" action="ppaction://hlinkshowjump?jump=nextslide"/>
          </p:cNvPr>
          <p:cNvPicPr>
            <a:picLocks noChangeAspect="1"/>
          </p:cNvPicPr>
          <p:nvPr/>
        </p:nvPicPr>
        <p:blipFill>
          <a:blip r:embed="rId2">
            <a:clrChange>
              <a:clrFrom>
                <a:srgbClr val="000000"/>
              </a:clrFrom>
              <a:clrTo>
                <a:srgbClr val="000000">
                  <a:alpha val="0"/>
                </a:srgbClr>
              </a:clrTo>
            </a:clrChange>
          </a:blip>
          <a:stretch>
            <a:fillRect/>
          </a:stretch>
        </p:blipFill>
        <p:spPr>
          <a:xfrm>
            <a:off x="741363" y="2940050"/>
            <a:ext cx="457200" cy="434975"/>
          </a:xfrm>
          <a:prstGeom prst="rect">
            <a:avLst/>
          </a:prstGeom>
          <a:noFill/>
          <a:ln w="9525">
            <a:noFill/>
          </a:ln>
        </p:spPr>
      </p:pic>
      <p:pic>
        <p:nvPicPr>
          <p:cNvPr id="1202182" name="Picture 6" descr="Pebble">
            <a:hlinkClick r:id="" action="ppaction://noaction"/>
          </p:cNvPr>
          <p:cNvPicPr>
            <a:picLocks noChangeAspect="1"/>
          </p:cNvPicPr>
          <p:nvPr/>
        </p:nvPicPr>
        <p:blipFill>
          <a:blip r:embed="rId2">
            <a:clrChange>
              <a:clrFrom>
                <a:srgbClr val="000000"/>
              </a:clrFrom>
              <a:clrTo>
                <a:srgbClr val="000000">
                  <a:alpha val="0"/>
                </a:srgbClr>
              </a:clrTo>
            </a:clrChange>
          </a:blip>
          <a:stretch>
            <a:fillRect/>
          </a:stretch>
        </p:blipFill>
        <p:spPr>
          <a:xfrm>
            <a:off x="741363" y="3832225"/>
            <a:ext cx="457200" cy="434975"/>
          </a:xfrm>
          <a:prstGeom prst="rect">
            <a:avLst/>
          </a:prstGeom>
          <a:noFill/>
          <a:ln w="9525">
            <a:noFill/>
          </a:ln>
        </p:spPr>
      </p:pic>
      <p:pic>
        <p:nvPicPr>
          <p:cNvPr id="1202183" name="Picture 7" descr="Pebble">
            <a:hlinkClick r:id="" action="ppaction://noaction"/>
          </p:cNvPr>
          <p:cNvPicPr>
            <a:picLocks noChangeAspect="1"/>
          </p:cNvPicPr>
          <p:nvPr/>
        </p:nvPicPr>
        <p:blipFill>
          <a:blip r:embed="rId2">
            <a:clrChange>
              <a:clrFrom>
                <a:srgbClr val="000000"/>
              </a:clrFrom>
              <a:clrTo>
                <a:srgbClr val="000000">
                  <a:alpha val="0"/>
                </a:srgbClr>
              </a:clrTo>
            </a:clrChange>
          </a:blip>
          <a:stretch>
            <a:fillRect/>
          </a:stretch>
        </p:blipFill>
        <p:spPr>
          <a:xfrm>
            <a:off x="765175" y="4746625"/>
            <a:ext cx="457200" cy="434975"/>
          </a:xfrm>
          <a:prstGeom prst="rect">
            <a:avLst/>
          </a:prstGeom>
          <a:noFill/>
          <a:ln w="9525">
            <a:noFill/>
          </a:ln>
        </p:spPr>
      </p:pic>
      <p:sp>
        <p:nvSpPr>
          <p:cNvPr id="1202184" name="Text Box 8"/>
          <p:cNvSpPr txBox="1">
            <a:spLocks noChangeArrowheads="1"/>
          </p:cNvSpPr>
          <p:nvPr/>
        </p:nvSpPr>
        <p:spPr bwMode="auto">
          <a:xfrm>
            <a:off x="608013" y="1509713"/>
            <a:ext cx="6891338" cy="492125"/>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2600" b="0" kern="1200" cap="none" spc="0" normalizeH="0" baseline="0" noProof="0" dirty="0">
                <a:solidFill>
                  <a:srgbClr val="FF3300"/>
                </a:solidFill>
                <a:latin typeface="+mn-lt"/>
                <a:ea typeface="+mn-ea"/>
                <a:cs typeface="+mn-ea"/>
                <a:sym typeface="+mn-lt"/>
              </a:rPr>
              <a:t>不同的具体实现方法导致不同的算法描述</a:t>
            </a:r>
          </a:p>
        </p:txBody>
      </p:sp>
      <p:sp>
        <p:nvSpPr>
          <p:cNvPr id="1202185" name="Text Box 9">
            <a:hlinkClick r:id="" action="ppaction://noaction"/>
          </p:cNvPr>
          <p:cNvSpPr txBox="1">
            <a:spLocks noChangeArrowheads="1"/>
          </p:cNvSpPr>
          <p:nvPr/>
        </p:nvSpPr>
        <p:spPr bwMode="auto">
          <a:xfrm>
            <a:off x="1476375" y="3848100"/>
            <a:ext cx="6172200" cy="493713"/>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2600" b="0" kern="1200" cap="none" spc="0" normalizeH="0" baseline="0" noProof="0" dirty="0">
                <a:latin typeface="+mn-lt"/>
                <a:ea typeface="+mn-ea"/>
                <a:cs typeface="+mn-ea"/>
                <a:sym typeface="+mn-lt"/>
              </a:rPr>
              <a:t>折半插入排序</a:t>
            </a:r>
            <a:r>
              <a:rPr kumimoji="1" lang="zh-CN" altLang="en-US" sz="2600" b="0" kern="1200" cap="none" spc="0" normalizeH="0" baseline="0" noProof="0" dirty="0">
                <a:solidFill>
                  <a:srgbClr val="FF3300"/>
                </a:solidFill>
                <a:latin typeface="+mn-lt"/>
                <a:ea typeface="+mn-ea"/>
                <a:cs typeface="+mn-ea"/>
                <a:sym typeface="+mn-lt"/>
              </a:rPr>
              <a:t>（基于折半查找）</a:t>
            </a:r>
          </a:p>
        </p:txBody>
      </p:sp>
      <p:sp>
        <p:nvSpPr>
          <p:cNvPr id="1202186" name="Text Box 10">
            <a:hlinkClick r:id="" action="ppaction://noaction"/>
          </p:cNvPr>
          <p:cNvSpPr txBox="1">
            <a:spLocks noChangeArrowheads="1"/>
          </p:cNvSpPr>
          <p:nvPr/>
        </p:nvSpPr>
        <p:spPr bwMode="auto">
          <a:xfrm>
            <a:off x="1522413" y="4694238"/>
            <a:ext cx="6096000" cy="493713"/>
          </a:xfrm>
          <a:prstGeom prst="rect">
            <a:avLst/>
          </a:prstGeom>
          <a:noFill/>
          <a:ln w="9525">
            <a:noFill/>
            <a:miter lim="800000"/>
          </a:ln>
          <a:effectLst/>
        </p:spPr>
        <p:txBody>
          <a:bodyPr>
            <a:spAutoFit/>
          </a:bodyPr>
          <a:lstStyle/>
          <a:p>
            <a:pPr marR="0" defTabSz="914400" eaLnBrk="1" hangingPunct="1">
              <a:buClrTx/>
              <a:buSzTx/>
              <a:buFontTx/>
              <a:buNone/>
              <a:defRPr/>
            </a:pPr>
            <a:r>
              <a:rPr kumimoji="1" lang="zh-CN" altLang="en-US" sz="2600" b="0" kern="1200" cap="none" spc="0" normalizeH="0" baseline="0" noProof="0" dirty="0">
                <a:latin typeface="+mn-lt"/>
                <a:ea typeface="+mn-ea"/>
                <a:cs typeface="+mn-ea"/>
                <a:sym typeface="+mn-lt"/>
              </a:rPr>
              <a:t>希尔排序</a:t>
            </a:r>
            <a:r>
              <a:rPr kumimoji="1" lang="zh-CN" altLang="en-US" sz="2600" b="0" kern="1200" cap="none" spc="0" normalizeH="0" baseline="0" noProof="0" dirty="0">
                <a:solidFill>
                  <a:srgbClr val="FF3300"/>
                </a:solidFill>
                <a:latin typeface="+mn-lt"/>
                <a:ea typeface="+mn-ea"/>
                <a:cs typeface="+mn-ea"/>
                <a:sym typeface="+mn-lt"/>
              </a:rPr>
              <a:t>（基于逐趟缩小增量）</a:t>
            </a:r>
          </a:p>
        </p:txBody>
      </p:sp>
      <p:sp>
        <p:nvSpPr>
          <p:cNvPr id="1202187" name="AutoShape 11"/>
          <p:cNvSpPr>
            <a:spLocks noChangeArrowheads="1"/>
          </p:cNvSpPr>
          <p:nvPr/>
        </p:nvSpPr>
        <p:spPr bwMode="auto">
          <a:xfrm>
            <a:off x="5421313" y="2255838"/>
            <a:ext cx="3038475" cy="677863"/>
          </a:xfrm>
          <a:prstGeom prst="wedgeRoundRectCallout">
            <a:avLst>
              <a:gd name="adj1" fmla="val -88823"/>
              <a:gd name="adj2" fmla="val 58107"/>
              <a:gd name="adj3" fmla="val 16667"/>
            </a:avLst>
          </a:prstGeom>
          <a:solidFill>
            <a:schemeClr val="accent1">
              <a:lumMod val="60000"/>
              <a:lumOff val="40000"/>
            </a:schemeClr>
          </a:solidFill>
          <a:ln w="9525">
            <a:solidFill>
              <a:schemeClr val="tx1"/>
            </a:solidFill>
            <a:miter lim="800000"/>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chemeClr val="bg1"/>
                </a:solidFill>
                <a:effectLst/>
                <a:uLnTx/>
                <a:uFillTx/>
                <a:latin typeface="+mn-lt"/>
                <a:ea typeface="+mn-ea"/>
                <a:cs typeface="+mn-ea"/>
                <a:sym typeface="+mn-lt"/>
              </a:rPr>
              <a:t>最简单的排序法！</a:t>
            </a:r>
          </a:p>
        </p:txBody>
      </p:sp>
      <p:sp>
        <p:nvSpPr>
          <p:cNvPr id="11" name="Rectangle 6"/>
          <p:cNvSpPr>
            <a:spLocks noChangeArrowheads="1"/>
          </p:cNvSpPr>
          <p:nvPr/>
        </p:nvSpPr>
        <p:spPr bwMode="auto">
          <a:xfrm>
            <a:off x="874713" y="220663"/>
            <a:ext cx="6156325" cy="6858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插入排序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02184"/>
                                        </p:tgtEl>
                                        <p:attrNameLst>
                                          <p:attrName>style.visibility</p:attrName>
                                        </p:attrNameLst>
                                      </p:cBhvr>
                                      <p:to>
                                        <p:strVal val="visible"/>
                                      </p:to>
                                    </p:set>
                                    <p:animEffect transition="in" filter="wipe(left)">
                                      <p:cBhvr>
                                        <p:cTn id="7" dur="500"/>
                                        <p:tgtEl>
                                          <p:spTgt spid="1202184"/>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1" presetClass="entr" presetSubtype="0" fill="hold" nodeType="afterEffect">
                                  <p:stCondLst>
                                    <p:cond delay="0"/>
                                  </p:stCondLst>
                                  <p:childTnLst>
                                    <p:set>
                                      <p:cBhvr>
                                        <p:cTn id="16" dur="1" fill="hold">
                                          <p:stCondLst>
                                            <p:cond delay="499"/>
                                          </p:stCondLst>
                                        </p:cTn>
                                        <p:tgtEl>
                                          <p:spTgt spid="1202181"/>
                                        </p:tgtEl>
                                        <p:attrNameLst>
                                          <p:attrName>style.visibility</p:attrName>
                                        </p:attrNameLst>
                                      </p:cBhvr>
                                      <p:to>
                                        <p:strVal val="visible"/>
                                      </p:to>
                                    </p:set>
                                  </p:childTnLst>
                                </p:cTn>
                              </p:par>
                            </p:childTnLst>
                          </p:cTn>
                        </p:par>
                        <p:par>
                          <p:cTn id="17" fill="hold">
                            <p:stCondLst>
                              <p:cond delay="1000"/>
                            </p:stCondLst>
                            <p:childTnLst>
                              <p:par>
                                <p:cTn id="18" presetID="9" presetClass="entr" presetSubtype="0" fill="hold" grpId="0" nodeType="afterEffect">
                                  <p:stCondLst>
                                    <p:cond delay="0"/>
                                  </p:stCondLst>
                                  <p:childTnLst>
                                    <p:set>
                                      <p:cBhvr>
                                        <p:cTn id="19" dur="1" fill="hold">
                                          <p:stCondLst>
                                            <p:cond delay="0"/>
                                          </p:stCondLst>
                                        </p:cTn>
                                        <p:tgtEl>
                                          <p:spTgt spid="1202180"/>
                                        </p:tgtEl>
                                        <p:attrNameLst>
                                          <p:attrName>style.visibility</p:attrName>
                                        </p:attrNameLst>
                                      </p:cBhvr>
                                      <p:to>
                                        <p:strVal val="visible"/>
                                      </p:to>
                                    </p:set>
                                    <p:animEffect transition="in" filter="dissolve">
                                      <p:cBhvr>
                                        <p:cTn id="20" dur="500"/>
                                        <p:tgtEl>
                                          <p:spTgt spid="1202180"/>
                                        </p:tgtEl>
                                      </p:cBhvr>
                                    </p:animEffect>
                                  </p:childTnLst>
                                </p:cTn>
                              </p:par>
                            </p:childTnLst>
                          </p:cTn>
                        </p:par>
                        <p:par>
                          <p:cTn id="21" fill="hold">
                            <p:stCondLst>
                              <p:cond delay="1500"/>
                            </p:stCondLst>
                            <p:childTnLst>
                              <p:par>
                                <p:cTn id="22" presetID="1" presetClass="entr" presetSubtype="0" fill="hold" nodeType="afterEffect">
                                  <p:stCondLst>
                                    <p:cond delay="0"/>
                                  </p:stCondLst>
                                  <p:childTnLst>
                                    <p:set>
                                      <p:cBhvr>
                                        <p:cTn id="23" dur="1" fill="hold">
                                          <p:stCondLst>
                                            <p:cond delay="499"/>
                                          </p:stCondLst>
                                        </p:cTn>
                                        <p:tgtEl>
                                          <p:spTgt spid="1202182"/>
                                        </p:tgtEl>
                                        <p:attrNameLst>
                                          <p:attrName>style.visibility</p:attrName>
                                        </p:attrNameLst>
                                      </p:cBhvr>
                                      <p:to>
                                        <p:strVal val="visible"/>
                                      </p:to>
                                    </p:set>
                                  </p:childTnLst>
                                </p:cTn>
                              </p:par>
                            </p:childTnLst>
                          </p:cTn>
                        </p:par>
                        <p:par>
                          <p:cTn id="24" fill="hold">
                            <p:stCondLst>
                              <p:cond delay="2000"/>
                            </p:stCondLst>
                            <p:childTnLst>
                              <p:par>
                                <p:cTn id="25" presetID="9" presetClass="entr" presetSubtype="0" fill="hold" grpId="0" nodeType="afterEffect">
                                  <p:stCondLst>
                                    <p:cond delay="0"/>
                                  </p:stCondLst>
                                  <p:childTnLst>
                                    <p:set>
                                      <p:cBhvr>
                                        <p:cTn id="26" dur="1" fill="hold">
                                          <p:stCondLst>
                                            <p:cond delay="0"/>
                                          </p:stCondLst>
                                        </p:cTn>
                                        <p:tgtEl>
                                          <p:spTgt spid="1202185"/>
                                        </p:tgtEl>
                                        <p:attrNameLst>
                                          <p:attrName>style.visibility</p:attrName>
                                        </p:attrNameLst>
                                      </p:cBhvr>
                                      <p:to>
                                        <p:strVal val="visible"/>
                                      </p:to>
                                    </p:set>
                                    <p:animEffect transition="in" filter="dissolve">
                                      <p:cBhvr>
                                        <p:cTn id="27" dur="500"/>
                                        <p:tgtEl>
                                          <p:spTgt spid="1202185"/>
                                        </p:tgtEl>
                                      </p:cBhvr>
                                    </p:animEffect>
                                  </p:childTnLst>
                                </p:cTn>
                              </p:par>
                            </p:childTnLst>
                          </p:cTn>
                        </p:par>
                        <p:par>
                          <p:cTn id="28" fill="hold">
                            <p:stCondLst>
                              <p:cond delay="2500"/>
                            </p:stCondLst>
                            <p:childTnLst>
                              <p:par>
                                <p:cTn id="29" presetID="1" presetClass="entr" presetSubtype="0" fill="hold" nodeType="afterEffect">
                                  <p:stCondLst>
                                    <p:cond delay="0"/>
                                  </p:stCondLst>
                                  <p:childTnLst>
                                    <p:set>
                                      <p:cBhvr>
                                        <p:cTn id="30" dur="1" fill="hold">
                                          <p:stCondLst>
                                            <p:cond delay="499"/>
                                          </p:stCondLst>
                                        </p:cTn>
                                        <p:tgtEl>
                                          <p:spTgt spid="1202183"/>
                                        </p:tgtEl>
                                        <p:attrNameLst>
                                          <p:attrName>style.visibility</p:attrName>
                                        </p:attrNameLst>
                                      </p:cBhvr>
                                      <p:to>
                                        <p:strVal val="visible"/>
                                      </p:to>
                                    </p:set>
                                  </p:childTnLst>
                                </p:cTn>
                              </p:par>
                            </p:childTnLst>
                          </p:cTn>
                        </p:par>
                        <p:par>
                          <p:cTn id="31" fill="hold">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1202186"/>
                                        </p:tgtEl>
                                        <p:attrNameLst>
                                          <p:attrName>style.visibility</p:attrName>
                                        </p:attrNameLst>
                                      </p:cBhvr>
                                      <p:to>
                                        <p:strVal val="visible"/>
                                      </p:to>
                                    </p:set>
                                    <p:animEffect transition="in" filter="dissolve">
                                      <p:cBhvr>
                                        <p:cTn id="34" dur="500"/>
                                        <p:tgtEl>
                                          <p:spTgt spid="1202186"/>
                                        </p:tgtEl>
                                      </p:cBhvr>
                                    </p:animEffect>
                                  </p:childTnLst>
                                </p:cTn>
                              </p:par>
                            </p:childTnLst>
                          </p:cTn>
                        </p:par>
                      </p:childTnLst>
                    </p:cTn>
                  </p:par>
                  <p:par>
                    <p:cTn id="35" fill="hold">
                      <p:stCondLst>
                        <p:cond delay="indefinite"/>
                      </p:stCondLst>
                      <p:childTnLst>
                        <p:par>
                          <p:cTn id="36" fill="hold">
                            <p:stCondLst>
                              <p:cond delay="0"/>
                            </p:stCondLst>
                            <p:childTnLst>
                              <p:par>
                                <p:cTn id="37" presetID="8" presetClass="entr" presetSubtype="16" fill="hold" grpId="0" nodeType="clickEffect">
                                  <p:stCondLst>
                                    <p:cond delay="0"/>
                                  </p:stCondLst>
                                  <p:childTnLst>
                                    <p:set>
                                      <p:cBhvr>
                                        <p:cTn id="38" dur="1" fill="hold">
                                          <p:stCondLst>
                                            <p:cond delay="0"/>
                                          </p:stCondLst>
                                        </p:cTn>
                                        <p:tgtEl>
                                          <p:spTgt spid="1202187"/>
                                        </p:tgtEl>
                                        <p:attrNameLst>
                                          <p:attrName>style.visibility</p:attrName>
                                        </p:attrNameLst>
                                      </p:cBhvr>
                                      <p:to>
                                        <p:strVal val="visible"/>
                                      </p:to>
                                    </p:set>
                                    <p:animEffect transition="in" filter="diamond(in)">
                                      <p:cBhvr>
                                        <p:cTn id="39" dur="2000"/>
                                        <p:tgtEl>
                                          <p:spTgt spid="1202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202180" grpId="0"/>
      <p:bldP spid="1202184" grpId="0"/>
      <p:bldP spid="1202185" grpId="0"/>
      <p:bldP spid="1202186" grpId="0"/>
      <p:bldP spid="1202187"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80"/>
          <p:cNvSpPr>
            <a:spLocks noChangeArrowheads="1"/>
          </p:cNvSpPr>
          <p:nvPr/>
        </p:nvSpPr>
        <p:spPr bwMode="auto">
          <a:xfrm>
            <a:off x="793750" y="203200"/>
            <a:ext cx="3092450"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直接插入排序</a:t>
            </a:r>
          </a:p>
        </p:txBody>
      </p:sp>
      <p:sp>
        <p:nvSpPr>
          <p:cNvPr id="15363" name="Rectangle 82"/>
          <p:cNvSpPr>
            <a:spLocks noChangeArrowheads="1"/>
          </p:cNvSpPr>
          <p:nvPr/>
        </p:nvSpPr>
        <p:spPr bwMode="auto">
          <a:xfrm>
            <a:off x="684213" y="2066925"/>
            <a:ext cx="3219450" cy="3816350"/>
          </a:xfrm>
          <a:prstGeom prst="rect">
            <a:avLst/>
          </a:prstGeom>
          <a:solidFill>
            <a:schemeClr val="accent1">
              <a:lumMod val="20000"/>
              <a:lumOff val="80000"/>
            </a:schemeClr>
          </a:solidFill>
          <a:ln w="57150">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排序过程：整个排序过程为</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n-1</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趟插入，即先将序列中</a:t>
            </a:r>
            <a:r>
              <a:rPr kumimoji="0" lang="zh-CN" altLang="zh-CN" sz="2400" b="0" i="0" u="none" strike="noStrike" kern="1200" cap="none" spc="0" normalizeH="0" baseline="0" noProof="0" dirty="0">
                <a:ln>
                  <a:noFill/>
                </a:ln>
                <a:solidFill>
                  <a:srgbClr val="FF3300"/>
                </a:solidFill>
                <a:effectLst/>
                <a:uLnTx/>
                <a:uFillTx/>
                <a:latin typeface="+mn-lt"/>
                <a:ea typeface="+mn-ea"/>
                <a:cs typeface="+mn-ea"/>
                <a:sym typeface="+mn-lt"/>
              </a:rPr>
              <a:t>第1个记录</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看成是一个有序子序列，然后从</a:t>
            </a:r>
            <a:r>
              <a:rPr kumimoji="0" lang="zh-CN" altLang="zh-CN" sz="2400" b="0" i="0" u="none" strike="noStrike" kern="1200" cap="none" spc="0" normalizeH="0" baseline="0" noProof="0" dirty="0">
                <a:ln>
                  <a:noFill/>
                </a:ln>
                <a:solidFill>
                  <a:srgbClr val="FF3300"/>
                </a:solidFill>
                <a:effectLst/>
                <a:uLnTx/>
                <a:uFillTx/>
                <a:latin typeface="+mn-lt"/>
                <a:ea typeface="+mn-ea"/>
                <a:cs typeface="+mn-ea"/>
                <a:sym typeface="+mn-lt"/>
              </a:rPr>
              <a:t>第2个记录</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开始，</a:t>
            </a:r>
            <a:r>
              <a:rPr kumimoji="0" lang="zh-CN" altLang="zh-CN" sz="2400" b="0" i="0" u="none" strike="noStrike" kern="1200" cap="none" spc="0" normalizeH="0" baseline="0" noProof="0" dirty="0">
                <a:ln>
                  <a:noFill/>
                </a:ln>
                <a:solidFill>
                  <a:srgbClr val="FF3300"/>
                </a:solidFill>
                <a:effectLst/>
                <a:uLnTx/>
                <a:uFillTx/>
                <a:latin typeface="+mn-lt"/>
                <a:ea typeface="+mn-ea"/>
                <a:cs typeface="+mn-ea"/>
                <a:sym typeface="+mn-lt"/>
              </a:rPr>
              <a:t>逐个</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进行插入，直至整个序列有序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997459" name="Text Box 83"/>
          <p:cNvSpPr txBox="1">
            <a:spLocks noChangeArrowheads="1"/>
          </p:cNvSpPr>
          <p:nvPr/>
        </p:nvSpPr>
        <p:spPr bwMode="auto">
          <a:xfrm>
            <a:off x="4313238" y="2066925"/>
            <a:ext cx="4343400" cy="3822700"/>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just"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13</a:t>
            </a: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 6, 3, 31, 9, 27, 5, 11</a:t>
            </a:r>
          </a:p>
          <a:p>
            <a:pPr marL="0" marR="0" lvl="0" indent="0" algn="just"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6, 13</a:t>
            </a: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 3, 31, 9, 27, 5, 11</a:t>
            </a:r>
          </a:p>
          <a:p>
            <a:pPr marL="0" marR="0" lvl="0" indent="0" algn="just"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3, 6, 13</a:t>
            </a: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 31, 9, 27, 5, 11</a:t>
            </a:r>
          </a:p>
          <a:p>
            <a:pPr marL="0" marR="0" lvl="0" indent="0" algn="just"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3, 6, 13</a:t>
            </a:r>
            <a:r>
              <a:rPr kumimoji="0" lang="zh-CN" altLang="en-US" sz="2600" b="1"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31</a:t>
            </a: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 9, 27, 5, 11</a:t>
            </a:r>
          </a:p>
          <a:p>
            <a:pPr marL="0" marR="0" lvl="0" indent="0" algn="just"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3, 6, 9, 13</a:t>
            </a:r>
            <a:r>
              <a:rPr kumimoji="0" lang="zh-CN" altLang="en-US" sz="2600" b="1"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31</a:t>
            </a: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 27, 5, 11</a:t>
            </a:r>
          </a:p>
          <a:p>
            <a:pPr marL="0" marR="0" lvl="0" indent="0" algn="just"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3, 6, 9, 13</a:t>
            </a:r>
            <a:r>
              <a:rPr kumimoji="0" lang="zh-CN" altLang="en-US" sz="2600" b="1"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27, 31</a:t>
            </a: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 5, 11</a:t>
            </a:r>
          </a:p>
          <a:p>
            <a:pPr marL="0" marR="0" lvl="0" indent="0" algn="just"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3, 5, 6, 9, 13</a:t>
            </a:r>
            <a:r>
              <a:rPr kumimoji="0" lang="zh-CN" altLang="en-US" sz="2600" b="1"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27, 31</a:t>
            </a: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 11</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3, 5, 6, 9, 11</a:t>
            </a:r>
            <a:r>
              <a:rPr kumimoji="0" lang="zh-CN" altLang="en-US" sz="2600" b="1"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600" b="1"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27, 31</a:t>
            </a:r>
            <a:r>
              <a:rPr kumimoji="0" lang="en-US" altLang="zh-CN" sz="2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600" b="1"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997460" name="Rectangle 84"/>
          <p:cNvSpPr>
            <a:spLocks noChangeArrowheads="1"/>
          </p:cNvSpPr>
          <p:nvPr/>
        </p:nvSpPr>
        <p:spPr bwMode="auto">
          <a:xfrm>
            <a:off x="684213" y="1376363"/>
            <a:ext cx="7972425" cy="522288"/>
          </a:xfrm>
          <a:prstGeom prst="rect">
            <a:avLst/>
          </a:prstGeom>
          <a:solidFill>
            <a:schemeClr val="accent1">
              <a:lumMod val="60000"/>
              <a:lumOff val="40000"/>
            </a:schemeClr>
          </a:solidFill>
          <a:ln w="38100">
            <a:noFill/>
            <a:miter lim="800000"/>
          </a:ln>
        </p:spPr>
        <p:txBody>
          <a:bodyPr>
            <a:spAutoFit/>
          </a:bodyPr>
          <a:lstStyle>
            <a:lvl1pPr marL="857250" indent="-85725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857250" marR="0" lvl="0" indent="-85725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例</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6</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31</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9</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5</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11</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997460"/>
                                        </p:tgtEl>
                                        <p:attrNameLst>
                                          <p:attrName>style.visibility</p:attrName>
                                        </p:attrNameLst>
                                      </p:cBhvr>
                                      <p:to>
                                        <p:strVal val="visible"/>
                                      </p:to>
                                    </p:set>
                                    <p:animEffect transition="in" filter="strips(downRight)">
                                      <p:cBhvr>
                                        <p:cTn id="7" dur="500"/>
                                        <p:tgtEl>
                                          <p:spTgt spid="997460"/>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5363"/>
                                        </p:tgtEl>
                                        <p:attrNameLst>
                                          <p:attrName>style.visibility</p:attrName>
                                        </p:attrNameLst>
                                      </p:cBhvr>
                                      <p:to>
                                        <p:strVal val="visible"/>
                                      </p:to>
                                    </p:set>
                                    <p:anim calcmode="lin" valueType="num">
                                      <p:cBhvr additive="base">
                                        <p:cTn id="12" dur="500" fill="hold"/>
                                        <p:tgtEl>
                                          <p:spTgt spid="15363"/>
                                        </p:tgtEl>
                                        <p:attrNameLst>
                                          <p:attrName>ppt_x</p:attrName>
                                        </p:attrNameLst>
                                      </p:cBhvr>
                                      <p:tavLst>
                                        <p:tav tm="0">
                                          <p:val>
                                            <p:strVal val="#ppt_x"/>
                                          </p:val>
                                        </p:tav>
                                        <p:tav tm="100000">
                                          <p:val>
                                            <p:strVal val="#ppt_x"/>
                                          </p:val>
                                        </p:tav>
                                      </p:tavLst>
                                    </p:anim>
                                    <p:anim calcmode="lin" valueType="num">
                                      <p:cBhvr additive="base">
                                        <p:cTn id="13" dur="500" fill="hold"/>
                                        <p:tgtEl>
                                          <p:spTgt spid="15363"/>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997459">
                                            <p:bg/>
                                          </p:spTgt>
                                        </p:tgtEl>
                                        <p:attrNameLst>
                                          <p:attrName>style.visibility</p:attrName>
                                        </p:attrNameLst>
                                      </p:cBhvr>
                                      <p:to>
                                        <p:strVal val="visible"/>
                                      </p:to>
                                    </p:set>
                                    <p:anim calcmode="lin" valueType="num">
                                      <p:cBhvr additive="base">
                                        <p:cTn id="18" dur="500" fill="hold"/>
                                        <p:tgtEl>
                                          <p:spTgt spid="997459">
                                            <p:bg/>
                                          </p:spTgt>
                                        </p:tgtEl>
                                        <p:attrNameLst>
                                          <p:attrName>ppt_x</p:attrName>
                                        </p:attrNameLst>
                                      </p:cBhvr>
                                      <p:tavLst>
                                        <p:tav tm="0">
                                          <p:val>
                                            <p:strVal val="#ppt_x"/>
                                          </p:val>
                                        </p:tav>
                                        <p:tav tm="100000">
                                          <p:val>
                                            <p:strVal val="#ppt_x"/>
                                          </p:val>
                                        </p:tav>
                                      </p:tavLst>
                                    </p:anim>
                                    <p:anim calcmode="lin" valueType="num">
                                      <p:cBhvr additive="base">
                                        <p:cTn id="19" dur="500" fill="hold"/>
                                        <p:tgtEl>
                                          <p:spTgt spid="997459">
                                            <p:bg/>
                                          </p:spTgt>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997459">
                                            <p:txEl>
                                              <p:pRg st="0" end="0"/>
                                            </p:txEl>
                                          </p:spTgt>
                                        </p:tgtEl>
                                        <p:attrNameLst>
                                          <p:attrName>style.visibility</p:attrName>
                                        </p:attrNameLst>
                                      </p:cBhvr>
                                      <p:to>
                                        <p:strVal val="visible"/>
                                      </p:to>
                                    </p:set>
                                    <p:anim calcmode="lin" valueType="num">
                                      <p:cBhvr additive="base">
                                        <p:cTn id="24" dur="500" fill="hold"/>
                                        <p:tgtEl>
                                          <p:spTgt spid="997459">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99745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997459">
                                            <p:txEl>
                                              <p:pRg st="1" end="1"/>
                                            </p:txEl>
                                          </p:spTgt>
                                        </p:tgtEl>
                                        <p:attrNameLst>
                                          <p:attrName>style.visibility</p:attrName>
                                        </p:attrNameLst>
                                      </p:cBhvr>
                                      <p:to>
                                        <p:strVal val="visible"/>
                                      </p:to>
                                    </p:set>
                                    <p:anim calcmode="lin" valueType="num">
                                      <p:cBhvr additive="base">
                                        <p:cTn id="30" dur="500" fill="hold"/>
                                        <p:tgtEl>
                                          <p:spTgt spid="997459">
                                            <p:txEl>
                                              <p:pRg st="1" end="1"/>
                                            </p:txEl>
                                          </p:spTgt>
                                        </p:tgtEl>
                                        <p:attrNameLst>
                                          <p:attrName>ppt_x</p:attrName>
                                        </p:attrNameLst>
                                      </p:cBhvr>
                                      <p:tavLst>
                                        <p:tav tm="0">
                                          <p:val>
                                            <p:strVal val="#ppt_x"/>
                                          </p:val>
                                        </p:tav>
                                        <p:tav tm="100000">
                                          <p:val>
                                            <p:strVal val="#ppt_x"/>
                                          </p:val>
                                        </p:tav>
                                      </p:tavLst>
                                    </p:anim>
                                    <p:anim calcmode="lin" valueType="num">
                                      <p:cBhvr additive="base">
                                        <p:cTn id="31" dur="500" fill="hold"/>
                                        <p:tgtEl>
                                          <p:spTgt spid="99745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grpId="0" nodeType="clickEffect">
                                  <p:stCondLst>
                                    <p:cond delay="0"/>
                                  </p:stCondLst>
                                  <p:childTnLst>
                                    <p:set>
                                      <p:cBhvr>
                                        <p:cTn id="35" dur="1" fill="hold">
                                          <p:stCondLst>
                                            <p:cond delay="0"/>
                                          </p:stCondLst>
                                        </p:cTn>
                                        <p:tgtEl>
                                          <p:spTgt spid="997459">
                                            <p:txEl>
                                              <p:pRg st="2" end="2"/>
                                            </p:txEl>
                                          </p:spTgt>
                                        </p:tgtEl>
                                        <p:attrNameLst>
                                          <p:attrName>style.visibility</p:attrName>
                                        </p:attrNameLst>
                                      </p:cBhvr>
                                      <p:to>
                                        <p:strVal val="visible"/>
                                      </p:to>
                                    </p:set>
                                    <p:anim calcmode="lin" valueType="num">
                                      <p:cBhvr additive="base">
                                        <p:cTn id="36" dur="500" fill="hold"/>
                                        <p:tgtEl>
                                          <p:spTgt spid="997459">
                                            <p:txEl>
                                              <p:pRg st="2" end="2"/>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99745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grpId="0" nodeType="clickEffect">
                                  <p:stCondLst>
                                    <p:cond delay="0"/>
                                  </p:stCondLst>
                                  <p:childTnLst>
                                    <p:set>
                                      <p:cBhvr>
                                        <p:cTn id="41" dur="1" fill="hold">
                                          <p:stCondLst>
                                            <p:cond delay="0"/>
                                          </p:stCondLst>
                                        </p:cTn>
                                        <p:tgtEl>
                                          <p:spTgt spid="997459">
                                            <p:txEl>
                                              <p:pRg st="3" end="3"/>
                                            </p:txEl>
                                          </p:spTgt>
                                        </p:tgtEl>
                                        <p:attrNameLst>
                                          <p:attrName>style.visibility</p:attrName>
                                        </p:attrNameLst>
                                      </p:cBhvr>
                                      <p:to>
                                        <p:strVal val="visible"/>
                                      </p:to>
                                    </p:set>
                                    <p:anim calcmode="lin" valueType="num">
                                      <p:cBhvr additive="base">
                                        <p:cTn id="42" dur="500" fill="hold"/>
                                        <p:tgtEl>
                                          <p:spTgt spid="997459">
                                            <p:txEl>
                                              <p:pRg st="3" end="3"/>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99745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grpId="0" nodeType="clickEffect">
                                  <p:stCondLst>
                                    <p:cond delay="0"/>
                                  </p:stCondLst>
                                  <p:childTnLst>
                                    <p:set>
                                      <p:cBhvr>
                                        <p:cTn id="47" dur="1" fill="hold">
                                          <p:stCondLst>
                                            <p:cond delay="0"/>
                                          </p:stCondLst>
                                        </p:cTn>
                                        <p:tgtEl>
                                          <p:spTgt spid="997459">
                                            <p:txEl>
                                              <p:pRg st="4" end="4"/>
                                            </p:txEl>
                                          </p:spTgt>
                                        </p:tgtEl>
                                        <p:attrNameLst>
                                          <p:attrName>style.visibility</p:attrName>
                                        </p:attrNameLst>
                                      </p:cBhvr>
                                      <p:to>
                                        <p:strVal val="visible"/>
                                      </p:to>
                                    </p:set>
                                    <p:anim calcmode="lin" valueType="num">
                                      <p:cBhvr additive="base">
                                        <p:cTn id="48" dur="500" fill="hold"/>
                                        <p:tgtEl>
                                          <p:spTgt spid="997459">
                                            <p:txEl>
                                              <p:pRg st="4" end="4"/>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99745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grpId="0" nodeType="clickEffect">
                                  <p:stCondLst>
                                    <p:cond delay="0"/>
                                  </p:stCondLst>
                                  <p:childTnLst>
                                    <p:set>
                                      <p:cBhvr>
                                        <p:cTn id="53" dur="1" fill="hold">
                                          <p:stCondLst>
                                            <p:cond delay="0"/>
                                          </p:stCondLst>
                                        </p:cTn>
                                        <p:tgtEl>
                                          <p:spTgt spid="997459">
                                            <p:txEl>
                                              <p:pRg st="5" end="5"/>
                                            </p:txEl>
                                          </p:spTgt>
                                        </p:tgtEl>
                                        <p:attrNameLst>
                                          <p:attrName>style.visibility</p:attrName>
                                        </p:attrNameLst>
                                      </p:cBhvr>
                                      <p:to>
                                        <p:strVal val="visible"/>
                                      </p:to>
                                    </p:set>
                                    <p:anim calcmode="lin" valueType="num">
                                      <p:cBhvr additive="base">
                                        <p:cTn id="54" dur="500" fill="hold"/>
                                        <p:tgtEl>
                                          <p:spTgt spid="997459">
                                            <p:txEl>
                                              <p:pRg st="5" end="5"/>
                                            </p:txEl>
                                          </p:spTgt>
                                        </p:tgtEl>
                                        <p:attrNameLst>
                                          <p:attrName>ppt_x</p:attrName>
                                        </p:attrNameLst>
                                      </p:cBhvr>
                                      <p:tavLst>
                                        <p:tav tm="0">
                                          <p:val>
                                            <p:strVal val="#ppt_x"/>
                                          </p:val>
                                        </p:tav>
                                        <p:tav tm="100000">
                                          <p:val>
                                            <p:strVal val="#ppt_x"/>
                                          </p:val>
                                        </p:tav>
                                      </p:tavLst>
                                    </p:anim>
                                    <p:anim calcmode="lin" valueType="num">
                                      <p:cBhvr additive="base">
                                        <p:cTn id="55" dur="500" fill="hold"/>
                                        <p:tgtEl>
                                          <p:spTgt spid="997459">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2" presetClass="entr" presetSubtype="4" fill="hold" grpId="0" nodeType="clickEffect">
                                  <p:stCondLst>
                                    <p:cond delay="0"/>
                                  </p:stCondLst>
                                  <p:childTnLst>
                                    <p:set>
                                      <p:cBhvr>
                                        <p:cTn id="59" dur="1" fill="hold">
                                          <p:stCondLst>
                                            <p:cond delay="0"/>
                                          </p:stCondLst>
                                        </p:cTn>
                                        <p:tgtEl>
                                          <p:spTgt spid="997459">
                                            <p:txEl>
                                              <p:pRg st="6" end="6"/>
                                            </p:txEl>
                                          </p:spTgt>
                                        </p:tgtEl>
                                        <p:attrNameLst>
                                          <p:attrName>style.visibility</p:attrName>
                                        </p:attrNameLst>
                                      </p:cBhvr>
                                      <p:to>
                                        <p:strVal val="visible"/>
                                      </p:to>
                                    </p:set>
                                    <p:anim calcmode="lin" valueType="num">
                                      <p:cBhvr additive="base">
                                        <p:cTn id="60" dur="500" fill="hold"/>
                                        <p:tgtEl>
                                          <p:spTgt spid="997459">
                                            <p:txEl>
                                              <p:pRg st="6" end="6"/>
                                            </p:txEl>
                                          </p:spTgt>
                                        </p:tgtEl>
                                        <p:attrNameLst>
                                          <p:attrName>ppt_x</p:attrName>
                                        </p:attrNameLst>
                                      </p:cBhvr>
                                      <p:tavLst>
                                        <p:tav tm="0">
                                          <p:val>
                                            <p:strVal val="#ppt_x"/>
                                          </p:val>
                                        </p:tav>
                                        <p:tav tm="100000">
                                          <p:val>
                                            <p:strVal val="#ppt_x"/>
                                          </p:val>
                                        </p:tav>
                                      </p:tavLst>
                                    </p:anim>
                                    <p:anim calcmode="lin" valueType="num">
                                      <p:cBhvr additive="base">
                                        <p:cTn id="61" dur="500" fill="hold"/>
                                        <p:tgtEl>
                                          <p:spTgt spid="997459">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62" fill="hold">
                      <p:stCondLst>
                        <p:cond delay="indefinite"/>
                      </p:stCondLst>
                      <p:childTnLst>
                        <p:par>
                          <p:cTn id="63" fill="hold">
                            <p:stCondLst>
                              <p:cond delay="0"/>
                            </p:stCondLst>
                            <p:childTnLst>
                              <p:par>
                                <p:cTn id="64" presetID="2" presetClass="entr" presetSubtype="4" fill="hold" grpId="0" nodeType="clickEffect">
                                  <p:stCondLst>
                                    <p:cond delay="0"/>
                                  </p:stCondLst>
                                  <p:childTnLst>
                                    <p:set>
                                      <p:cBhvr>
                                        <p:cTn id="65" dur="1" fill="hold">
                                          <p:stCondLst>
                                            <p:cond delay="0"/>
                                          </p:stCondLst>
                                        </p:cTn>
                                        <p:tgtEl>
                                          <p:spTgt spid="997459">
                                            <p:txEl>
                                              <p:pRg st="7" end="7"/>
                                            </p:txEl>
                                          </p:spTgt>
                                        </p:tgtEl>
                                        <p:attrNameLst>
                                          <p:attrName>style.visibility</p:attrName>
                                        </p:attrNameLst>
                                      </p:cBhvr>
                                      <p:to>
                                        <p:strVal val="visible"/>
                                      </p:to>
                                    </p:set>
                                    <p:anim calcmode="lin" valueType="num">
                                      <p:cBhvr additive="base">
                                        <p:cTn id="66" dur="500" fill="hold"/>
                                        <p:tgtEl>
                                          <p:spTgt spid="997459">
                                            <p:txEl>
                                              <p:pRg st="7" end="7"/>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997459">
                                            <p:txEl>
                                              <p:pRg st="7" end="7"/>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3" grpId="0" animBg="1"/>
      <p:bldP spid="997459" grpId="0" build="p" animBg="1"/>
      <p:bldP spid="99746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3204" name="AutoShape 4" descr="白色大理石"/>
          <p:cNvSpPr>
            <a:spLocks noChangeArrowheads="1"/>
          </p:cNvSpPr>
          <p:nvPr/>
        </p:nvSpPr>
        <p:spPr bwMode="auto">
          <a:xfrm>
            <a:off x="901700" y="4699000"/>
            <a:ext cx="7848600" cy="457200"/>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2" name="Group 5"/>
          <p:cNvGrpSpPr/>
          <p:nvPr/>
        </p:nvGrpSpPr>
        <p:grpSpPr>
          <a:xfrm>
            <a:off x="2197100" y="3937000"/>
            <a:ext cx="5181600" cy="1676400"/>
            <a:chOff x="1296" y="96"/>
            <a:chExt cx="3264" cy="1056"/>
          </a:xfrm>
        </p:grpSpPr>
        <p:sp>
          <p:nvSpPr>
            <p:cNvPr id="1203206" name="AutoShape 6"/>
            <p:cNvSpPr>
              <a:spLocks noChangeArrowheads="1"/>
            </p:cNvSpPr>
            <p:nvPr/>
          </p:nvSpPr>
          <p:spPr bwMode="auto">
            <a:xfrm>
              <a:off x="1824" y="336"/>
              <a:ext cx="336" cy="480"/>
            </a:xfrm>
            <a:prstGeom prst="can">
              <a:avLst>
                <a:gd name="adj" fmla="val 35714"/>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203207" name="AutoShape 7"/>
            <p:cNvSpPr>
              <a:spLocks noChangeArrowheads="1"/>
            </p:cNvSpPr>
            <p:nvPr/>
          </p:nvSpPr>
          <p:spPr bwMode="auto">
            <a:xfrm>
              <a:off x="2304" y="288"/>
              <a:ext cx="336" cy="528"/>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203208" name="AutoShape 8"/>
            <p:cNvSpPr>
              <a:spLocks noChangeArrowheads="1"/>
            </p:cNvSpPr>
            <p:nvPr/>
          </p:nvSpPr>
          <p:spPr bwMode="auto">
            <a:xfrm>
              <a:off x="2784" y="96"/>
              <a:ext cx="336" cy="72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203209" name="AutoShape 9"/>
            <p:cNvSpPr>
              <a:spLocks noChangeArrowheads="1"/>
            </p:cNvSpPr>
            <p:nvPr/>
          </p:nvSpPr>
          <p:spPr bwMode="auto">
            <a:xfrm>
              <a:off x="3264" y="288"/>
              <a:ext cx="336" cy="528"/>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203210" name="AutoShape 10"/>
            <p:cNvSpPr>
              <a:spLocks noChangeArrowheads="1"/>
            </p:cNvSpPr>
            <p:nvPr/>
          </p:nvSpPr>
          <p:spPr bwMode="auto">
            <a:xfrm>
              <a:off x="3744" y="384"/>
              <a:ext cx="336" cy="432"/>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203211" name="AutoShape 11"/>
            <p:cNvSpPr>
              <a:spLocks noChangeArrowheads="1"/>
            </p:cNvSpPr>
            <p:nvPr/>
          </p:nvSpPr>
          <p:spPr bwMode="auto">
            <a:xfrm>
              <a:off x="4224" y="576"/>
              <a:ext cx="336" cy="240"/>
            </a:xfrm>
            <a:prstGeom prst="can">
              <a:avLst>
                <a:gd name="adj" fmla="val 25000"/>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6394" name="Text Box 12"/>
            <p:cNvSpPr txBox="1">
              <a:spLocks noChangeArrowheads="1"/>
            </p:cNvSpPr>
            <p:nvPr/>
          </p:nvSpPr>
          <p:spPr bwMode="auto">
            <a:xfrm>
              <a:off x="1372" y="864"/>
              <a:ext cx="3140" cy="28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0         1        2        3        4        5        6</a:t>
              </a:r>
              <a:endParaRPr kumimoji="0" lang="en-US"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3213" name="AutoShape 13"/>
            <p:cNvSpPr>
              <a:spLocks noChangeArrowheads="1"/>
            </p:cNvSpPr>
            <p:nvPr/>
          </p:nvSpPr>
          <p:spPr bwMode="auto">
            <a:xfrm>
              <a:off x="1296" y="288"/>
              <a:ext cx="336" cy="528"/>
            </a:xfrm>
            <a:prstGeom prst="can">
              <a:avLst>
                <a:gd name="adj" fmla="val 39286"/>
              </a:avLst>
            </a:prstGeom>
            <a:solidFill>
              <a:srgbClr val="008000"/>
            </a:soli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sz="1800" b="0" i="0" u="none" strike="noStrike" kern="1200" cap="none" spc="0" normalizeH="0" baseline="0" noProof="0">
                  <a:ln>
                    <a:noFill/>
                  </a:ln>
                  <a:solidFill>
                    <a:srgbClr val="FF0000"/>
                  </a:solidFill>
                  <a:effectLst>
                    <a:outerShdw blurRad="38100" dist="38100" dir="2700000" algn="tl">
                      <a:srgbClr val="000000"/>
                    </a:outerShdw>
                  </a:effectLst>
                  <a:uLnTx/>
                  <a:uFillTx/>
                  <a:latin typeface="+mn-lt"/>
                  <a:ea typeface="+mn-ea"/>
                  <a:cs typeface="+mn-ea"/>
                  <a:sym typeface="+mn-lt"/>
                </a:rPr>
                <a:t>暂</a:t>
              </a:r>
            </a:p>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sz="1800" b="0" i="0" u="none" strike="noStrike" kern="1200" cap="none" spc="0" normalizeH="0" baseline="0" noProof="0">
                  <a:ln>
                    <a:noFill/>
                  </a:ln>
                  <a:solidFill>
                    <a:srgbClr val="FF0000"/>
                  </a:solidFill>
                  <a:effectLst>
                    <a:outerShdw blurRad="38100" dist="38100" dir="2700000" algn="tl">
                      <a:srgbClr val="000000"/>
                    </a:outerShdw>
                  </a:effectLst>
                  <a:uLnTx/>
                  <a:uFillTx/>
                  <a:latin typeface="+mn-lt"/>
                  <a:ea typeface="+mn-ea"/>
                  <a:cs typeface="+mn-ea"/>
                  <a:sym typeface="+mn-lt"/>
                </a:rPr>
                <a:t>存</a:t>
              </a:r>
            </a:p>
          </p:txBody>
        </p:sp>
      </p:grpSp>
      <p:sp>
        <p:nvSpPr>
          <p:cNvPr id="1203214" name="AutoShape 14"/>
          <p:cNvSpPr>
            <a:spLocks noChangeArrowheads="1"/>
          </p:cNvSpPr>
          <p:nvPr/>
        </p:nvSpPr>
        <p:spPr bwMode="auto">
          <a:xfrm>
            <a:off x="3035300" y="4318000"/>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sp>
        <p:nvSpPr>
          <p:cNvPr id="1203215" name="Text Box 15"/>
          <p:cNvSpPr txBox="1">
            <a:spLocks noChangeArrowheads="1"/>
          </p:cNvSpPr>
          <p:nvPr/>
        </p:nvSpPr>
        <p:spPr bwMode="auto">
          <a:xfrm>
            <a:off x="3797300" y="5613400"/>
            <a:ext cx="533400" cy="396875"/>
          </a:xfrm>
          <a:prstGeom prst="rect">
            <a:avLst/>
          </a:prstGeom>
          <a:noFill/>
          <a:ln w="9525">
            <a:noFill/>
            <a:miter lim="800000"/>
          </a:ln>
        </p:spPr>
        <p:txBody>
          <a:bodyPr>
            <a:spAutoFit/>
          </a:bodyPr>
          <a:lstStyle/>
          <a:p>
            <a:pPr marR="0" defTabSz="914400" eaLnBrk="1" hangingPunct="1">
              <a:buClrTx/>
              <a:buSzTx/>
              <a:buFontTx/>
              <a:buNone/>
              <a:defRPr/>
            </a:pPr>
            <a:r>
              <a:rPr kumimoji="1" lang="en-US" altLang="zh-CN" sz="2000" b="0" i="1" kern="1200" cap="none" spc="0" normalizeH="0" baseline="0" noProof="0">
                <a:latin typeface="+mn-lt"/>
                <a:ea typeface="+mn-ea"/>
                <a:cs typeface="+mn-ea"/>
                <a:sym typeface="+mn-lt"/>
              </a:rPr>
              <a:t>i</a:t>
            </a:r>
            <a:r>
              <a:rPr kumimoji="1" lang="en-US" altLang="zh-CN" sz="2000" b="0" kern="1200" cap="none" spc="0" normalizeH="0" baseline="0" noProof="0">
                <a:latin typeface="+mn-lt"/>
                <a:ea typeface="+mn-ea"/>
                <a:cs typeface="+mn-ea"/>
                <a:sym typeface="+mn-lt"/>
              </a:rPr>
              <a:t>=2</a:t>
            </a:r>
            <a:endParaRPr kumimoji="1" lang="en-US" altLang="zh-CN" sz="2000" b="0" kern="1200" cap="none" spc="0" normalizeH="0" baseline="0" noProof="0">
              <a:solidFill>
                <a:schemeClr val="bg1"/>
              </a:solidFill>
              <a:latin typeface="+mn-lt"/>
              <a:ea typeface="+mn-ea"/>
              <a:cs typeface="+mn-ea"/>
              <a:sym typeface="+mn-lt"/>
            </a:endParaRPr>
          </a:p>
        </p:txBody>
      </p:sp>
      <p:sp>
        <p:nvSpPr>
          <p:cNvPr id="1203216" name="Text Box 16"/>
          <p:cNvSpPr txBox="1">
            <a:spLocks noChangeArrowheads="1"/>
          </p:cNvSpPr>
          <p:nvPr/>
        </p:nvSpPr>
        <p:spPr bwMode="auto">
          <a:xfrm>
            <a:off x="4559300" y="5613400"/>
            <a:ext cx="533400" cy="396875"/>
          </a:xfrm>
          <a:prstGeom prst="rect">
            <a:avLst/>
          </a:prstGeom>
          <a:noFill/>
          <a:ln w="9525">
            <a:noFill/>
            <a:miter lim="800000"/>
          </a:ln>
        </p:spPr>
        <p:txBody>
          <a:bodyPr>
            <a:spAutoFit/>
          </a:bodyPr>
          <a:lstStyle/>
          <a:p>
            <a:pPr marR="0" defTabSz="914400" eaLnBrk="1" hangingPunct="1">
              <a:buClrTx/>
              <a:buSzTx/>
              <a:buFontTx/>
              <a:buNone/>
              <a:defRPr/>
            </a:pPr>
            <a:r>
              <a:rPr kumimoji="1" lang="en-US" altLang="zh-CN" sz="2000" b="0" i="1" kern="1200" cap="none" spc="0" normalizeH="0" baseline="0" noProof="0">
                <a:latin typeface="+mn-lt"/>
                <a:ea typeface="+mn-ea"/>
                <a:cs typeface="+mn-ea"/>
                <a:sym typeface="+mn-lt"/>
              </a:rPr>
              <a:t>i</a:t>
            </a:r>
            <a:r>
              <a:rPr kumimoji="1" lang="en-US" altLang="zh-CN" sz="2000" b="0" kern="1200" cap="none" spc="0" normalizeH="0" baseline="0" noProof="0">
                <a:latin typeface="+mn-lt"/>
                <a:ea typeface="+mn-ea"/>
                <a:cs typeface="+mn-ea"/>
                <a:sym typeface="+mn-lt"/>
              </a:rPr>
              <a:t>=3</a:t>
            </a:r>
            <a:endParaRPr kumimoji="1" lang="en-US" altLang="zh-CN" sz="2000" b="0" kern="1200" cap="none" spc="0" normalizeH="0" baseline="0" noProof="0">
              <a:solidFill>
                <a:schemeClr val="bg1"/>
              </a:solidFill>
              <a:latin typeface="+mn-lt"/>
              <a:ea typeface="+mn-ea"/>
              <a:cs typeface="+mn-ea"/>
              <a:sym typeface="+mn-lt"/>
            </a:endParaRPr>
          </a:p>
        </p:txBody>
      </p:sp>
      <p:sp>
        <p:nvSpPr>
          <p:cNvPr id="1203217" name="Text Box 17"/>
          <p:cNvSpPr txBox="1">
            <a:spLocks noChangeArrowheads="1"/>
          </p:cNvSpPr>
          <p:nvPr/>
        </p:nvSpPr>
        <p:spPr bwMode="auto">
          <a:xfrm>
            <a:off x="6159500" y="5629275"/>
            <a:ext cx="533400" cy="396875"/>
          </a:xfrm>
          <a:prstGeom prst="rect">
            <a:avLst/>
          </a:prstGeom>
          <a:noFill/>
          <a:ln w="9525">
            <a:noFill/>
            <a:miter lim="800000"/>
          </a:ln>
        </p:spPr>
        <p:txBody>
          <a:bodyPr>
            <a:spAutoFit/>
          </a:bodyPr>
          <a:lstStyle/>
          <a:p>
            <a:pPr marR="0" defTabSz="914400" eaLnBrk="1" hangingPunct="1">
              <a:buClrTx/>
              <a:buSzTx/>
              <a:buFontTx/>
              <a:buNone/>
              <a:defRPr/>
            </a:pPr>
            <a:r>
              <a:rPr kumimoji="1" lang="en-US" altLang="zh-CN" sz="2000" b="0" i="1" kern="1200" cap="none" spc="0" normalizeH="0" baseline="0" noProof="0">
                <a:latin typeface="+mn-lt"/>
                <a:ea typeface="+mn-ea"/>
                <a:cs typeface="+mn-ea"/>
                <a:sym typeface="+mn-lt"/>
              </a:rPr>
              <a:t>i</a:t>
            </a:r>
            <a:r>
              <a:rPr kumimoji="1" lang="en-US" altLang="zh-CN" sz="2000" b="0" kern="1200" cap="none" spc="0" normalizeH="0" baseline="0" noProof="0">
                <a:latin typeface="+mn-lt"/>
                <a:ea typeface="+mn-ea"/>
                <a:cs typeface="+mn-ea"/>
                <a:sym typeface="+mn-lt"/>
              </a:rPr>
              <a:t>=5</a:t>
            </a:r>
            <a:endParaRPr kumimoji="1" lang="en-US" altLang="zh-CN" sz="2000" b="0" kern="1200" cap="none" spc="0" normalizeH="0" baseline="0" noProof="0">
              <a:solidFill>
                <a:schemeClr val="bg1"/>
              </a:solidFill>
              <a:latin typeface="+mn-lt"/>
              <a:ea typeface="+mn-ea"/>
              <a:cs typeface="+mn-ea"/>
              <a:sym typeface="+mn-lt"/>
            </a:endParaRPr>
          </a:p>
        </p:txBody>
      </p:sp>
      <p:sp>
        <p:nvSpPr>
          <p:cNvPr id="1203218" name="Text Box 18"/>
          <p:cNvSpPr txBox="1">
            <a:spLocks noChangeArrowheads="1"/>
          </p:cNvSpPr>
          <p:nvPr/>
        </p:nvSpPr>
        <p:spPr bwMode="auto">
          <a:xfrm>
            <a:off x="5397500" y="5629275"/>
            <a:ext cx="533400" cy="396875"/>
          </a:xfrm>
          <a:prstGeom prst="rect">
            <a:avLst/>
          </a:prstGeom>
          <a:noFill/>
          <a:ln w="9525">
            <a:noFill/>
            <a:miter lim="800000"/>
          </a:ln>
        </p:spPr>
        <p:txBody>
          <a:bodyPr>
            <a:spAutoFit/>
          </a:bodyPr>
          <a:lstStyle/>
          <a:p>
            <a:pPr marR="0" defTabSz="914400" eaLnBrk="1" hangingPunct="1">
              <a:buClrTx/>
              <a:buSzTx/>
              <a:buFontTx/>
              <a:buNone/>
              <a:defRPr/>
            </a:pPr>
            <a:r>
              <a:rPr kumimoji="1" lang="en-US" altLang="zh-CN" sz="2000" b="0" i="1" kern="1200" cap="none" spc="0" normalizeH="0" baseline="0" noProof="0">
                <a:latin typeface="+mn-lt"/>
                <a:ea typeface="+mn-ea"/>
                <a:cs typeface="+mn-ea"/>
                <a:sym typeface="+mn-lt"/>
              </a:rPr>
              <a:t>i</a:t>
            </a:r>
            <a:r>
              <a:rPr kumimoji="1" lang="en-US" altLang="zh-CN" sz="2000" b="0" kern="1200" cap="none" spc="0" normalizeH="0" baseline="0" noProof="0">
                <a:latin typeface="+mn-lt"/>
                <a:ea typeface="+mn-ea"/>
                <a:cs typeface="+mn-ea"/>
                <a:sym typeface="+mn-lt"/>
              </a:rPr>
              <a:t>=4</a:t>
            </a:r>
            <a:endParaRPr kumimoji="1" lang="en-US" altLang="zh-CN" sz="2000" b="0" kern="1200" cap="none" spc="0" normalizeH="0" baseline="0" noProof="0">
              <a:solidFill>
                <a:schemeClr val="bg1"/>
              </a:solidFill>
              <a:latin typeface="+mn-lt"/>
              <a:ea typeface="+mn-ea"/>
              <a:cs typeface="+mn-ea"/>
              <a:sym typeface="+mn-lt"/>
            </a:endParaRPr>
          </a:p>
        </p:txBody>
      </p:sp>
      <p:sp>
        <p:nvSpPr>
          <p:cNvPr id="1203219" name="Text Box 19"/>
          <p:cNvSpPr txBox="1">
            <a:spLocks noChangeArrowheads="1"/>
          </p:cNvSpPr>
          <p:nvPr/>
        </p:nvSpPr>
        <p:spPr bwMode="auto">
          <a:xfrm>
            <a:off x="6845300" y="5629275"/>
            <a:ext cx="533400" cy="396875"/>
          </a:xfrm>
          <a:prstGeom prst="rect">
            <a:avLst/>
          </a:prstGeom>
          <a:noFill/>
          <a:ln w="9525">
            <a:noFill/>
            <a:miter lim="800000"/>
          </a:ln>
        </p:spPr>
        <p:txBody>
          <a:bodyPr>
            <a:spAutoFit/>
          </a:bodyPr>
          <a:lstStyle/>
          <a:p>
            <a:pPr marR="0" defTabSz="914400" eaLnBrk="1" hangingPunct="1">
              <a:buClrTx/>
              <a:buSzTx/>
              <a:buFontTx/>
              <a:buNone/>
              <a:defRPr/>
            </a:pPr>
            <a:r>
              <a:rPr kumimoji="1" lang="en-US" altLang="zh-CN" sz="2000" b="0" i="1" kern="1200" cap="none" spc="0" normalizeH="0" baseline="0" noProof="0">
                <a:latin typeface="+mn-lt"/>
                <a:ea typeface="+mn-ea"/>
                <a:cs typeface="+mn-ea"/>
                <a:sym typeface="+mn-lt"/>
              </a:rPr>
              <a:t>i</a:t>
            </a:r>
            <a:r>
              <a:rPr kumimoji="1" lang="en-US" altLang="zh-CN" sz="2000" b="0" kern="1200" cap="none" spc="0" normalizeH="0" baseline="0" noProof="0">
                <a:latin typeface="+mn-lt"/>
                <a:ea typeface="+mn-ea"/>
                <a:cs typeface="+mn-ea"/>
                <a:sym typeface="+mn-lt"/>
              </a:rPr>
              <a:t>=6</a:t>
            </a:r>
            <a:endParaRPr kumimoji="1" lang="en-US" altLang="zh-CN" sz="2000" b="0" kern="1200" cap="none" spc="0" normalizeH="0" baseline="0" noProof="0">
              <a:solidFill>
                <a:schemeClr val="bg1"/>
              </a:solidFill>
              <a:latin typeface="+mn-lt"/>
              <a:ea typeface="+mn-ea"/>
              <a:cs typeface="+mn-ea"/>
              <a:sym typeface="+mn-lt"/>
            </a:endParaRPr>
          </a:p>
        </p:txBody>
      </p:sp>
      <p:sp>
        <p:nvSpPr>
          <p:cNvPr id="1203220" name="AutoShape 20"/>
          <p:cNvSpPr>
            <a:spLocks noChangeArrowheads="1"/>
          </p:cNvSpPr>
          <p:nvPr/>
        </p:nvSpPr>
        <p:spPr bwMode="auto">
          <a:xfrm>
            <a:off x="3797300" y="4241800"/>
            <a:ext cx="533400" cy="838200"/>
          </a:xfrm>
          <a:prstGeom prst="can">
            <a:avLst>
              <a:gd name="adj" fmla="val 39286"/>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C0C0C0"/>
                </a:outerShdw>
              </a:effectLst>
              <a:uLnTx/>
              <a:uFillTx/>
              <a:latin typeface="+mn-lt"/>
              <a:ea typeface="+mn-ea"/>
              <a:cs typeface="+mn-ea"/>
              <a:sym typeface="+mn-lt"/>
            </a:endParaRPr>
          </a:p>
        </p:txBody>
      </p:sp>
      <p:sp>
        <p:nvSpPr>
          <p:cNvPr id="1203221" name="AutoShape 21"/>
          <p:cNvSpPr>
            <a:spLocks noChangeArrowheads="1"/>
          </p:cNvSpPr>
          <p:nvPr/>
        </p:nvSpPr>
        <p:spPr bwMode="auto">
          <a:xfrm>
            <a:off x="3797300" y="4257675"/>
            <a:ext cx="533400" cy="838200"/>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25</a:t>
            </a:r>
          </a:p>
        </p:txBody>
      </p:sp>
      <p:sp>
        <p:nvSpPr>
          <p:cNvPr id="1203222" name="AutoShape 22"/>
          <p:cNvSpPr>
            <a:spLocks noChangeArrowheads="1"/>
          </p:cNvSpPr>
          <p:nvPr/>
        </p:nvSpPr>
        <p:spPr bwMode="auto">
          <a:xfrm>
            <a:off x="4559300" y="3937000"/>
            <a:ext cx="533400" cy="1143000"/>
          </a:xfrm>
          <a:prstGeom prst="can">
            <a:avLst>
              <a:gd name="adj" fmla="val 53571"/>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C0C0C0"/>
                </a:outerShdw>
              </a:effectLst>
              <a:uLnTx/>
              <a:uFillTx/>
              <a:latin typeface="+mn-lt"/>
              <a:ea typeface="+mn-ea"/>
              <a:cs typeface="+mn-ea"/>
              <a:sym typeface="+mn-lt"/>
            </a:endParaRPr>
          </a:p>
        </p:txBody>
      </p:sp>
      <p:sp>
        <p:nvSpPr>
          <p:cNvPr id="1203223" name="AutoShape 23"/>
          <p:cNvSpPr>
            <a:spLocks noChangeArrowheads="1"/>
          </p:cNvSpPr>
          <p:nvPr/>
        </p:nvSpPr>
        <p:spPr bwMode="auto">
          <a:xfrm>
            <a:off x="4559300" y="3952875"/>
            <a:ext cx="533400" cy="114300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sp>
        <p:nvSpPr>
          <p:cNvPr id="1203224" name="AutoShape 24"/>
          <p:cNvSpPr>
            <a:spLocks noChangeArrowheads="1"/>
          </p:cNvSpPr>
          <p:nvPr/>
        </p:nvSpPr>
        <p:spPr bwMode="auto">
          <a:xfrm>
            <a:off x="5321300" y="4257675"/>
            <a:ext cx="533400" cy="838200"/>
          </a:xfrm>
          <a:prstGeom prst="can">
            <a:avLst>
              <a:gd name="adj" fmla="val 39286"/>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C0C0C0"/>
                </a:outerShdw>
              </a:effectLst>
              <a:uLnTx/>
              <a:uFillTx/>
              <a:latin typeface="+mn-lt"/>
              <a:ea typeface="+mn-ea"/>
              <a:cs typeface="+mn-ea"/>
              <a:sym typeface="+mn-lt"/>
            </a:endParaRPr>
          </a:p>
        </p:txBody>
      </p:sp>
      <p:grpSp>
        <p:nvGrpSpPr>
          <p:cNvPr id="3" name="Group 25"/>
          <p:cNvGrpSpPr/>
          <p:nvPr/>
        </p:nvGrpSpPr>
        <p:grpSpPr>
          <a:xfrm>
            <a:off x="2197100" y="3859213"/>
            <a:ext cx="552450" cy="1219200"/>
            <a:chOff x="1284" y="576"/>
            <a:chExt cx="348" cy="768"/>
          </a:xfrm>
        </p:grpSpPr>
        <p:sp>
          <p:nvSpPr>
            <p:cNvPr id="1203226" name="AutoShape 26"/>
            <p:cNvSpPr>
              <a:spLocks noChangeArrowheads="1"/>
            </p:cNvSpPr>
            <p:nvPr/>
          </p:nvSpPr>
          <p:spPr bwMode="auto">
            <a:xfrm>
              <a:off x="1284" y="576"/>
              <a:ext cx="348" cy="768"/>
            </a:xfrm>
            <a:prstGeom prst="can">
              <a:avLst>
                <a:gd name="adj" fmla="val 50000"/>
              </a:avLst>
            </a:prstGeom>
            <a:solidFill>
              <a:schemeClr val="bg1"/>
            </a:solidFill>
            <a:ln w="9525">
              <a:solidFill>
                <a:schemeClr val="bg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1" lang="zh-CN" altLang="zh-CN" sz="2400" b="0" i="0" u="none" strike="noStrike" kern="1200" cap="none" spc="0" normalizeH="0" baseline="0" noProof="0">
                <a:ln>
                  <a:noFill/>
                </a:ln>
                <a:solidFill>
                  <a:schemeClr val="tx1"/>
                </a:solidFill>
                <a:effectLst>
                  <a:outerShdw blurRad="38100" dist="38100" dir="2700000" algn="tl">
                    <a:srgbClr val="C0C0C0"/>
                  </a:outerShdw>
                </a:effectLst>
                <a:uLnTx/>
                <a:uFillTx/>
                <a:latin typeface="+mn-lt"/>
                <a:ea typeface="+mn-ea"/>
                <a:cs typeface="+mn-ea"/>
                <a:sym typeface="+mn-lt"/>
              </a:endParaRPr>
            </a:p>
          </p:txBody>
        </p:sp>
        <p:sp>
          <p:nvSpPr>
            <p:cNvPr id="1203227" name="AutoShape 27"/>
            <p:cNvSpPr>
              <a:spLocks noChangeArrowheads="1"/>
            </p:cNvSpPr>
            <p:nvPr/>
          </p:nvSpPr>
          <p:spPr bwMode="auto">
            <a:xfrm>
              <a:off x="1296" y="816"/>
              <a:ext cx="336" cy="528"/>
            </a:xfrm>
            <a:prstGeom prst="can">
              <a:avLst>
                <a:gd name="adj" fmla="val 39286"/>
              </a:avLst>
            </a:prstGeom>
            <a:solidFill>
              <a:srgbClr val="008000"/>
            </a:soli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sp>
        <p:nvSpPr>
          <p:cNvPr id="1203228" name="AutoShape 28"/>
          <p:cNvSpPr>
            <a:spLocks noChangeArrowheads="1"/>
          </p:cNvSpPr>
          <p:nvPr/>
        </p:nvSpPr>
        <p:spPr bwMode="auto">
          <a:xfrm>
            <a:off x="5316538" y="3959225"/>
            <a:ext cx="533400" cy="114300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sp>
        <p:nvSpPr>
          <p:cNvPr id="1203229" name="AutoShape 29"/>
          <p:cNvSpPr>
            <a:spLocks noChangeArrowheads="1"/>
          </p:cNvSpPr>
          <p:nvPr/>
        </p:nvSpPr>
        <p:spPr bwMode="auto">
          <a:xfrm>
            <a:off x="6083300" y="4410075"/>
            <a:ext cx="533400" cy="685800"/>
          </a:xfrm>
          <a:prstGeom prst="can">
            <a:avLst>
              <a:gd name="adj" fmla="val 32143"/>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C0C0C0"/>
                </a:outerShdw>
              </a:effectLst>
              <a:uLnTx/>
              <a:uFillTx/>
              <a:latin typeface="+mn-lt"/>
              <a:ea typeface="+mn-ea"/>
              <a:cs typeface="+mn-ea"/>
              <a:sym typeface="+mn-lt"/>
            </a:endParaRPr>
          </a:p>
        </p:txBody>
      </p:sp>
      <p:sp>
        <p:nvSpPr>
          <p:cNvPr id="1203230" name="AutoShape 30"/>
          <p:cNvSpPr>
            <a:spLocks noChangeArrowheads="1"/>
          </p:cNvSpPr>
          <p:nvPr/>
        </p:nvSpPr>
        <p:spPr bwMode="auto">
          <a:xfrm>
            <a:off x="2216150" y="4216400"/>
            <a:ext cx="533400" cy="838200"/>
          </a:xfrm>
          <a:prstGeom prst="can">
            <a:avLst>
              <a:gd name="adj" fmla="val 39286"/>
            </a:avLst>
          </a:prstGeom>
          <a:solidFill>
            <a:srgbClr val="008000"/>
          </a:soli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nvGrpSpPr>
          <p:cNvPr id="4" name="Group 31"/>
          <p:cNvGrpSpPr/>
          <p:nvPr/>
        </p:nvGrpSpPr>
        <p:grpSpPr>
          <a:xfrm>
            <a:off x="4559300" y="3876675"/>
            <a:ext cx="533400" cy="1219200"/>
            <a:chOff x="2784" y="576"/>
            <a:chExt cx="336" cy="768"/>
          </a:xfrm>
        </p:grpSpPr>
        <p:sp>
          <p:nvSpPr>
            <p:cNvPr id="1203232" name="AutoShape 32"/>
            <p:cNvSpPr>
              <a:spLocks noChangeArrowheads="1"/>
            </p:cNvSpPr>
            <p:nvPr/>
          </p:nvSpPr>
          <p:spPr bwMode="auto">
            <a:xfrm>
              <a:off x="2784" y="576"/>
              <a:ext cx="336" cy="720"/>
            </a:xfrm>
            <a:prstGeom prst="can">
              <a:avLst>
                <a:gd name="adj" fmla="val 53571"/>
              </a:avLst>
            </a:prstGeom>
            <a:solidFill>
              <a:schemeClr val="bg1"/>
            </a:solidFill>
            <a:ln w="9525">
              <a:solidFill>
                <a:schemeClr val="bg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1" lang="zh-CN" altLang="zh-CN" sz="2400" b="0" i="0" u="none" strike="noStrike" kern="1200" cap="none" spc="0" normalizeH="0" baseline="0" noProof="0">
                <a:ln>
                  <a:noFill/>
                </a:ln>
                <a:solidFill>
                  <a:schemeClr val="tx1"/>
                </a:solidFill>
                <a:effectLst>
                  <a:outerShdw blurRad="38100" dist="38100" dir="2700000" algn="tl">
                    <a:srgbClr val="C0C0C0"/>
                  </a:outerShdw>
                </a:effectLst>
                <a:uLnTx/>
                <a:uFillTx/>
                <a:latin typeface="+mn-lt"/>
                <a:ea typeface="+mn-ea"/>
                <a:cs typeface="+mn-ea"/>
                <a:sym typeface="+mn-lt"/>
              </a:endParaRPr>
            </a:p>
          </p:txBody>
        </p:sp>
        <p:sp>
          <p:nvSpPr>
            <p:cNvPr id="1203233" name="AutoShape 33"/>
            <p:cNvSpPr>
              <a:spLocks noChangeArrowheads="1"/>
            </p:cNvSpPr>
            <p:nvPr/>
          </p:nvSpPr>
          <p:spPr bwMode="auto">
            <a:xfrm>
              <a:off x="2784" y="816"/>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grpSp>
      <p:sp>
        <p:nvSpPr>
          <p:cNvPr id="1203234" name="AutoShape 34"/>
          <p:cNvSpPr>
            <a:spLocks noChangeArrowheads="1"/>
          </p:cNvSpPr>
          <p:nvPr/>
        </p:nvSpPr>
        <p:spPr bwMode="auto">
          <a:xfrm>
            <a:off x="6845300" y="4714875"/>
            <a:ext cx="533400" cy="381000"/>
          </a:xfrm>
          <a:prstGeom prst="can">
            <a:avLst>
              <a:gd name="adj" fmla="val 25000"/>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C0C0C0"/>
                </a:outerShdw>
              </a:effectLst>
              <a:uLnTx/>
              <a:uFillTx/>
              <a:latin typeface="+mn-lt"/>
              <a:ea typeface="+mn-ea"/>
              <a:cs typeface="+mn-ea"/>
              <a:sym typeface="+mn-lt"/>
            </a:endParaRPr>
          </a:p>
        </p:txBody>
      </p:sp>
      <p:grpSp>
        <p:nvGrpSpPr>
          <p:cNvPr id="5" name="Group 35"/>
          <p:cNvGrpSpPr/>
          <p:nvPr/>
        </p:nvGrpSpPr>
        <p:grpSpPr>
          <a:xfrm>
            <a:off x="2197100" y="4210050"/>
            <a:ext cx="554038" cy="838200"/>
            <a:chOff x="1331" y="2160"/>
            <a:chExt cx="349" cy="528"/>
          </a:xfrm>
        </p:grpSpPr>
        <p:sp>
          <p:nvSpPr>
            <p:cNvPr id="1203236" name="AutoShape 36"/>
            <p:cNvSpPr>
              <a:spLocks noChangeArrowheads="1"/>
            </p:cNvSpPr>
            <p:nvPr/>
          </p:nvSpPr>
          <p:spPr bwMode="auto">
            <a:xfrm>
              <a:off x="1344" y="2160"/>
              <a:ext cx="336" cy="528"/>
            </a:xfrm>
            <a:prstGeom prst="can">
              <a:avLst>
                <a:gd name="adj" fmla="val 39286"/>
              </a:avLst>
            </a:prstGeom>
            <a:solidFill>
              <a:schemeClr val="bg1"/>
            </a:solidFill>
            <a:ln w="9525">
              <a:solidFill>
                <a:schemeClr val="bg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1" lang="zh-CN" altLang="zh-CN" sz="2400" b="0" i="0" u="none" strike="noStrike" kern="1200" cap="none" spc="0" normalizeH="0" baseline="0" noProof="0">
                <a:ln>
                  <a:noFill/>
                </a:ln>
                <a:solidFill>
                  <a:schemeClr val="tx1"/>
                </a:solidFill>
                <a:effectLst>
                  <a:outerShdw blurRad="38100" dist="38100" dir="2700000" algn="tl">
                    <a:srgbClr val="C0C0C0"/>
                  </a:outerShdw>
                </a:effectLst>
                <a:uLnTx/>
                <a:uFillTx/>
                <a:latin typeface="+mn-lt"/>
                <a:ea typeface="+mn-ea"/>
                <a:cs typeface="+mn-ea"/>
                <a:sym typeface="+mn-lt"/>
              </a:endParaRPr>
            </a:p>
          </p:txBody>
        </p:sp>
        <p:sp>
          <p:nvSpPr>
            <p:cNvPr id="1203237" name="AutoShape 37"/>
            <p:cNvSpPr>
              <a:spLocks noChangeArrowheads="1"/>
            </p:cNvSpPr>
            <p:nvPr/>
          </p:nvSpPr>
          <p:spPr bwMode="auto">
            <a:xfrm>
              <a:off x="1331" y="2448"/>
              <a:ext cx="349" cy="240"/>
            </a:xfrm>
            <a:prstGeom prst="can">
              <a:avLst>
                <a:gd name="adj" fmla="val 25000"/>
              </a:avLst>
            </a:prstGeom>
            <a:solidFill>
              <a:srgbClr val="008000"/>
            </a:soli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dirty="0">
                  <a:ln>
                    <a:noFill/>
                  </a:ln>
                  <a:solidFill>
                    <a:srgbClr val="FF3300"/>
                  </a:solidFill>
                  <a:effectLst/>
                  <a:uLnTx/>
                  <a:uFillTx/>
                  <a:latin typeface="+mn-lt"/>
                  <a:ea typeface="+mn-ea"/>
                  <a:cs typeface="+mn-ea"/>
                  <a:sym typeface="+mn-lt"/>
                </a:rPr>
                <a:t>08</a:t>
              </a:r>
              <a:endPar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p:txBody>
        </p:sp>
      </p:grpSp>
      <p:sp>
        <p:nvSpPr>
          <p:cNvPr id="1203238" name="AutoShape 38"/>
          <p:cNvSpPr>
            <a:spLocks noChangeArrowheads="1"/>
          </p:cNvSpPr>
          <p:nvPr/>
        </p:nvSpPr>
        <p:spPr bwMode="auto">
          <a:xfrm>
            <a:off x="6845300" y="3952875"/>
            <a:ext cx="542925" cy="1214438"/>
          </a:xfrm>
          <a:prstGeom prst="can">
            <a:avLst>
              <a:gd name="adj" fmla="val 5592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nvGrpSpPr>
          <p:cNvPr id="6" name="Group 39"/>
          <p:cNvGrpSpPr/>
          <p:nvPr/>
        </p:nvGrpSpPr>
        <p:grpSpPr>
          <a:xfrm>
            <a:off x="3035300" y="3952875"/>
            <a:ext cx="3657600" cy="1143000"/>
            <a:chOff x="1872" y="2928"/>
            <a:chExt cx="2304" cy="720"/>
          </a:xfrm>
        </p:grpSpPr>
        <p:sp>
          <p:nvSpPr>
            <p:cNvPr id="1203240" name="AutoShape 40"/>
            <p:cNvSpPr>
              <a:spLocks noChangeArrowheads="1"/>
            </p:cNvSpPr>
            <p:nvPr/>
          </p:nvSpPr>
          <p:spPr bwMode="auto">
            <a:xfrm>
              <a:off x="2335" y="3090"/>
              <a:ext cx="353" cy="558"/>
            </a:xfrm>
            <a:prstGeom prst="can">
              <a:avLst>
                <a:gd name="adj" fmla="val 39286"/>
              </a:avLst>
            </a:prstGeom>
            <a:solidFill>
              <a:schemeClr val="bg1"/>
            </a:solidFill>
            <a:ln w="9525">
              <a:solidFill>
                <a:schemeClr val="bg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1" lang="zh-CN" altLang="zh-CN" sz="2400" b="1" i="0" u="none" strike="noStrike" kern="1200" cap="none" spc="0" normalizeH="0" baseline="0" noProof="0">
                <a:ln>
                  <a:noFill/>
                </a:ln>
                <a:solidFill>
                  <a:srgbClr val="00FFFF"/>
                </a:solidFill>
                <a:effectLst>
                  <a:outerShdw blurRad="38100" dist="38100" dir="2700000" algn="tl">
                    <a:srgbClr val="C0C0C0"/>
                  </a:outerShdw>
                </a:effectLst>
                <a:uLnTx/>
                <a:uFillTx/>
                <a:latin typeface="+mn-lt"/>
                <a:ea typeface="+mn-ea"/>
                <a:cs typeface="+mn-ea"/>
                <a:sym typeface="+mn-lt"/>
              </a:endParaRPr>
            </a:p>
          </p:txBody>
        </p:sp>
        <p:sp>
          <p:nvSpPr>
            <p:cNvPr id="1203241" name="AutoShape 41"/>
            <p:cNvSpPr>
              <a:spLocks noChangeArrowheads="1"/>
            </p:cNvSpPr>
            <p:nvPr/>
          </p:nvSpPr>
          <p:spPr bwMode="auto">
            <a:xfrm>
              <a:off x="3289" y="2928"/>
              <a:ext cx="359" cy="720"/>
            </a:xfrm>
            <a:prstGeom prst="can">
              <a:avLst>
                <a:gd name="adj" fmla="val 53571"/>
              </a:avLst>
            </a:prstGeom>
            <a:solidFill>
              <a:schemeClr val="bg1"/>
            </a:solidFill>
            <a:ln w="9525">
              <a:solidFill>
                <a:schemeClr val="bg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1" lang="zh-CN" altLang="zh-CN" sz="2400" b="0" i="0" u="none" strike="noStrike" kern="1200" cap="none" spc="0" normalizeH="0" baseline="0" noProof="0">
                <a:ln>
                  <a:noFill/>
                </a:ln>
                <a:solidFill>
                  <a:srgbClr val="00FFFF"/>
                </a:solidFill>
                <a:effectLst>
                  <a:outerShdw blurRad="38100" dist="38100" dir="2700000" algn="tl">
                    <a:srgbClr val="C0C0C0"/>
                  </a:outerShdw>
                </a:effectLst>
                <a:uLnTx/>
                <a:uFillTx/>
                <a:latin typeface="+mn-lt"/>
                <a:ea typeface="+mn-ea"/>
                <a:cs typeface="+mn-ea"/>
                <a:sym typeface="+mn-lt"/>
              </a:endParaRPr>
            </a:p>
          </p:txBody>
        </p:sp>
        <p:sp>
          <p:nvSpPr>
            <p:cNvPr id="1203242" name="AutoShape 42"/>
            <p:cNvSpPr>
              <a:spLocks noChangeArrowheads="1"/>
            </p:cNvSpPr>
            <p:nvPr/>
          </p:nvSpPr>
          <p:spPr bwMode="auto">
            <a:xfrm>
              <a:off x="2352" y="3168"/>
              <a:ext cx="336" cy="48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sp>
          <p:nvSpPr>
            <p:cNvPr id="1203243" name="AutoShape 43"/>
            <p:cNvSpPr>
              <a:spLocks noChangeArrowheads="1"/>
            </p:cNvSpPr>
            <p:nvPr/>
          </p:nvSpPr>
          <p:spPr bwMode="auto">
            <a:xfrm>
              <a:off x="2832" y="3120"/>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25</a:t>
              </a:r>
            </a:p>
          </p:txBody>
        </p:sp>
        <p:sp>
          <p:nvSpPr>
            <p:cNvPr id="1203244" name="AutoShape 44"/>
            <p:cNvSpPr>
              <a:spLocks noChangeArrowheads="1"/>
            </p:cNvSpPr>
            <p:nvPr/>
          </p:nvSpPr>
          <p:spPr bwMode="auto">
            <a:xfrm>
              <a:off x="3792" y="2928"/>
              <a:ext cx="384" cy="720"/>
            </a:xfrm>
            <a:prstGeom prst="can">
              <a:avLst>
                <a:gd name="adj" fmla="val 46875"/>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sp>
          <p:nvSpPr>
            <p:cNvPr id="1203245" name="AutoShape 45"/>
            <p:cNvSpPr>
              <a:spLocks noChangeArrowheads="1"/>
            </p:cNvSpPr>
            <p:nvPr/>
          </p:nvSpPr>
          <p:spPr bwMode="auto">
            <a:xfrm>
              <a:off x="3312" y="3120"/>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sp>
          <p:nvSpPr>
            <p:cNvPr id="1203246" name="AutoShape 46"/>
            <p:cNvSpPr>
              <a:spLocks noChangeArrowheads="1"/>
            </p:cNvSpPr>
            <p:nvPr/>
          </p:nvSpPr>
          <p:spPr bwMode="auto">
            <a:xfrm>
              <a:off x="1872" y="3168"/>
              <a:ext cx="336" cy="480"/>
            </a:xfrm>
            <a:prstGeom prst="can">
              <a:avLst>
                <a:gd name="adj" fmla="val 35714"/>
              </a:avLst>
            </a:prstGeom>
            <a:solidFill>
              <a:schemeClr val="accent1"/>
            </a:soli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grpSp>
      <p:sp>
        <p:nvSpPr>
          <p:cNvPr id="1203247" name="Rectangle 47"/>
          <p:cNvSpPr>
            <a:spLocks noChangeArrowheads="1"/>
          </p:cNvSpPr>
          <p:nvPr/>
        </p:nvSpPr>
        <p:spPr bwMode="auto">
          <a:xfrm>
            <a:off x="368300" y="4257675"/>
            <a:ext cx="1108075"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初态：</a:t>
            </a:r>
          </a:p>
        </p:txBody>
      </p:sp>
      <p:sp>
        <p:nvSpPr>
          <p:cNvPr id="1203248" name="AutoShape 48"/>
          <p:cNvSpPr>
            <a:spLocks noChangeArrowheads="1"/>
          </p:cNvSpPr>
          <p:nvPr/>
        </p:nvSpPr>
        <p:spPr bwMode="auto">
          <a:xfrm>
            <a:off x="3035300" y="4333875"/>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grpSp>
        <p:nvGrpSpPr>
          <p:cNvPr id="7" name="Group 49"/>
          <p:cNvGrpSpPr/>
          <p:nvPr/>
        </p:nvGrpSpPr>
        <p:grpSpPr>
          <a:xfrm>
            <a:off x="6083300" y="3886200"/>
            <a:ext cx="614363" cy="1214438"/>
            <a:chOff x="3744" y="2201"/>
            <a:chExt cx="342" cy="765"/>
          </a:xfrm>
        </p:grpSpPr>
        <p:sp>
          <p:nvSpPr>
            <p:cNvPr id="1203250" name="AutoShape 50"/>
            <p:cNvSpPr>
              <a:spLocks noChangeArrowheads="1"/>
            </p:cNvSpPr>
            <p:nvPr/>
          </p:nvSpPr>
          <p:spPr bwMode="auto">
            <a:xfrm>
              <a:off x="3744" y="2201"/>
              <a:ext cx="342" cy="765"/>
            </a:xfrm>
            <a:prstGeom prst="can">
              <a:avLst>
                <a:gd name="adj" fmla="val 55921"/>
              </a:avLst>
            </a:prstGeom>
            <a:solidFill>
              <a:schemeClr val="bg1"/>
            </a:solidFill>
            <a:ln w="9525">
              <a:solidFill>
                <a:schemeClr val="bg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C0C0C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C0C0C0"/>
                  </a:outerShdw>
                </a:effectLst>
                <a:uLnTx/>
                <a:uFillTx/>
                <a:latin typeface="+mn-lt"/>
                <a:ea typeface="+mn-ea"/>
                <a:cs typeface="+mn-ea"/>
                <a:sym typeface="+mn-lt"/>
              </a:endParaRPr>
            </a:p>
          </p:txBody>
        </p:sp>
        <p:sp>
          <p:nvSpPr>
            <p:cNvPr id="1203251" name="AutoShape 51"/>
            <p:cNvSpPr>
              <a:spLocks noChangeArrowheads="1"/>
            </p:cNvSpPr>
            <p:nvPr/>
          </p:nvSpPr>
          <p:spPr bwMode="auto">
            <a:xfrm>
              <a:off x="3744" y="2400"/>
              <a:ext cx="342" cy="561"/>
            </a:xfrm>
            <a:prstGeom prst="can">
              <a:avLst>
                <a:gd name="adj" fmla="val 41009"/>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sp>
        <p:nvSpPr>
          <p:cNvPr id="1203252" name="AutoShape 52"/>
          <p:cNvSpPr>
            <a:spLocks noChangeArrowheads="1"/>
          </p:cNvSpPr>
          <p:nvPr/>
        </p:nvSpPr>
        <p:spPr bwMode="auto">
          <a:xfrm>
            <a:off x="5284788" y="4221163"/>
            <a:ext cx="542925" cy="890588"/>
          </a:xfrm>
          <a:prstGeom prst="can">
            <a:avLst>
              <a:gd name="adj" fmla="val 41009"/>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203253" name="AutoShape 53"/>
          <p:cNvSpPr>
            <a:spLocks noChangeArrowheads="1"/>
          </p:cNvSpPr>
          <p:nvPr/>
        </p:nvSpPr>
        <p:spPr bwMode="auto">
          <a:xfrm>
            <a:off x="4559300" y="4257675"/>
            <a:ext cx="542925" cy="809625"/>
          </a:xfrm>
          <a:prstGeom prst="can">
            <a:avLst>
              <a:gd name="adj" fmla="val 3728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203254" name="AutoShape 54"/>
          <p:cNvSpPr>
            <a:spLocks noChangeArrowheads="1"/>
          </p:cNvSpPr>
          <p:nvPr/>
        </p:nvSpPr>
        <p:spPr bwMode="auto">
          <a:xfrm>
            <a:off x="3797300" y="4333875"/>
            <a:ext cx="542925" cy="728663"/>
          </a:xfrm>
          <a:prstGeom prst="can">
            <a:avLst>
              <a:gd name="adj" fmla="val 3355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nvGrpSpPr>
          <p:cNvPr id="8" name="Group 55"/>
          <p:cNvGrpSpPr/>
          <p:nvPr/>
        </p:nvGrpSpPr>
        <p:grpSpPr>
          <a:xfrm>
            <a:off x="3025775" y="4257675"/>
            <a:ext cx="542925" cy="809625"/>
            <a:chOff x="1776" y="2463"/>
            <a:chExt cx="342" cy="510"/>
          </a:xfrm>
        </p:grpSpPr>
        <p:sp>
          <p:nvSpPr>
            <p:cNvPr id="1203256" name="AutoShape 56"/>
            <p:cNvSpPr>
              <a:spLocks noChangeArrowheads="1"/>
            </p:cNvSpPr>
            <p:nvPr/>
          </p:nvSpPr>
          <p:spPr bwMode="auto">
            <a:xfrm>
              <a:off x="1776" y="2463"/>
              <a:ext cx="342" cy="510"/>
            </a:xfrm>
            <a:prstGeom prst="can">
              <a:avLst>
                <a:gd name="adj" fmla="val 37281"/>
              </a:avLst>
            </a:prstGeom>
            <a:solidFill>
              <a:schemeClr val="bg1"/>
            </a:solidFill>
            <a:ln w="9525">
              <a:solidFill>
                <a:schemeClr val="bg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1" lang="zh-CN" altLang="zh-CN" sz="2400" b="0" i="0" u="none" strike="noStrike" kern="1200" cap="none" spc="0" normalizeH="0" baseline="0" noProof="0">
                <a:ln>
                  <a:noFill/>
                </a:ln>
                <a:solidFill>
                  <a:srgbClr val="00FFFF"/>
                </a:solidFill>
                <a:effectLst>
                  <a:outerShdw blurRad="38100" dist="38100" dir="2700000" algn="tl">
                    <a:srgbClr val="C0C0C0"/>
                  </a:outerShdw>
                </a:effectLst>
                <a:uLnTx/>
                <a:uFillTx/>
                <a:latin typeface="+mn-lt"/>
                <a:ea typeface="+mn-ea"/>
                <a:cs typeface="+mn-ea"/>
                <a:sym typeface="+mn-lt"/>
              </a:endParaRPr>
            </a:p>
          </p:txBody>
        </p:sp>
        <p:sp>
          <p:nvSpPr>
            <p:cNvPr id="1203257" name="AutoShape 57"/>
            <p:cNvSpPr>
              <a:spLocks noChangeArrowheads="1"/>
            </p:cNvSpPr>
            <p:nvPr/>
          </p:nvSpPr>
          <p:spPr bwMode="auto">
            <a:xfrm>
              <a:off x="1776" y="2718"/>
              <a:ext cx="342" cy="255"/>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rgbClr val="00FFFF"/>
                </a:solidFill>
                <a:effectLst>
                  <a:outerShdw blurRad="38100" dist="38100" dir="2700000" algn="tl">
                    <a:srgbClr val="000000"/>
                  </a:outerShdw>
                </a:effectLst>
                <a:uLnTx/>
                <a:uFillTx/>
                <a:latin typeface="+mn-lt"/>
                <a:ea typeface="+mn-ea"/>
                <a:cs typeface="+mn-ea"/>
                <a:sym typeface="+mn-lt"/>
              </a:endParaRPr>
            </a:p>
          </p:txBody>
        </p:sp>
      </p:grpSp>
      <p:sp>
        <p:nvSpPr>
          <p:cNvPr id="1203258" name="Text Box 58"/>
          <p:cNvSpPr txBox="1">
            <a:spLocks noChangeArrowheads="1"/>
          </p:cNvSpPr>
          <p:nvPr/>
        </p:nvSpPr>
        <p:spPr bwMode="auto">
          <a:xfrm>
            <a:off x="444500" y="5476875"/>
            <a:ext cx="1371600" cy="701675"/>
          </a:xfrm>
          <a:prstGeom prst="rect">
            <a:avLst/>
          </a:prstGeom>
          <a:noFill/>
          <a:ln w="9525">
            <a:noFill/>
            <a:miter lim="800000"/>
          </a:ln>
        </p:spPr>
        <p:txBody>
          <a:bodyPr>
            <a:spAutoFit/>
          </a:bodyPr>
          <a:lstStyle/>
          <a:p>
            <a:pPr marR="0" defTabSz="914400" eaLnBrk="1" hangingPunct="1">
              <a:buClrTx/>
              <a:buSzTx/>
              <a:buFontTx/>
              <a:buNone/>
              <a:defRPr/>
            </a:pPr>
            <a:r>
              <a:rPr kumimoji="1" lang="zh-CN" altLang="en-US" sz="4000" b="0" kern="1200" cap="none" spc="0" normalizeH="0" baseline="0" noProof="0" dirty="0">
                <a:solidFill>
                  <a:schemeClr val="tx2"/>
                </a:solidFill>
                <a:latin typeface="+mn-lt"/>
                <a:ea typeface="+mn-ea"/>
                <a:cs typeface="+mn-ea"/>
                <a:sym typeface="+mn-lt"/>
              </a:rPr>
              <a:t>完成</a:t>
            </a:r>
            <a:r>
              <a:rPr kumimoji="1" lang="en-US" altLang="zh-CN" sz="4000" b="0" kern="1200" cap="none" spc="0" normalizeH="0" baseline="0" noProof="0" dirty="0">
                <a:solidFill>
                  <a:schemeClr val="tx2"/>
                </a:solidFill>
                <a:latin typeface="+mn-lt"/>
                <a:ea typeface="+mn-ea"/>
                <a:cs typeface="+mn-ea"/>
                <a:sym typeface="+mn-lt"/>
              </a:rPr>
              <a:t>!</a:t>
            </a:r>
          </a:p>
        </p:txBody>
      </p:sp>
      <p:sp>
        <p:nvSpPr>
          <p:cNvPr id="1203259" name="Text Box 59"/>
          <p:cNvSpPr txBox="1">
            <a:spLocks noChangeArrowheads="1"/>
          </p:cNvSpPr>
          <p:nvPr/>
        </p:nvSpPr>
        <p:spPr bwMode="auto">
          <a:xfrm>
            <a:off x="331788" y="2730500"/>
            <a:ext cx="8229600" cy="461963"/>
          </a:xfrm>
          <a:prstGeom prst="rect">
            <a:avLst/>
          </a:prstGeom>
          <a:noFill/>
          <a:ln w="57150">
            <a:noFill/>
            <a:miter lim="800000"/>
          </a:ln>
        </p:spPr>
        <p:txBody>
          <a:bodyPr>
            <a:spAutoFit/>
          </a:bodyPr>
          <a:lstStyle>
            <a:lvl1pPr marL="571500" indent="-5715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571500" marR="0" lvl="0" indent="-57150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将序列存入顺序表</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中，将</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作为哨兵</a:t>
            </a:r>
          </a:p>
        </p:txBody>
      </p:sp>
      <p:sp>
        <p:nvSpPr>
          <p:cNvPr id="1203260" name="Rectangle 60"/>
          <p:cNvSpPr>
            <a:spLocks noChangeArrowheads="1"/>
          </p:cNvSpPr>
          <p:nvPr/>
        </p:nvSpPr>
        <p:spPr bwMode="auto">
          <a:xfrm>
            <a:off x="444500" y="1622425"/>
            <a:ext cx="5638800" cy="515938"/>
          </a:xfrm>
          <a:prstGeom prst="rect">
            <a:avLst/>
          </a:prstGeom>
          <a:solidFill>
            <a:schemeClr val="accent1">
              <a:lumMod val="20000"/>
              <a:lumOff val="80000"/>
            </a:schemeClr>
          </a:solidFill>
          <a:ln w="9525">
            <a:noFill/>
            <a:miter lim="800000"/>
          </a:ln>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21</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25</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49</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25</a:t>
            </a:r>
            <a:r>
              <a:rPr kumimoji="1" lang="en-US" altLang="zh-CN" sz="2800" b="0" i="0" u="none" strike="noStrike" kern="1200" cap="none" spc="0" normalizeH="0" baseline="0" noProof="0" dirty="0">
                <a:ln>
                  <a:noFill/>
                </a:ln>
                <a:solidFill>
                  <a:srgbClr val="FF6600"/>
                </a:solidFill>
                <a:effectLst/>
                <a:uLnTx/>
                <a:uFillTx/>
                <a:latin typeface="+mn-lt"/>
                <a:ea typeface="+mn-ea"/>
                <a:cs typeface="+mn-ea"/>
                <a:sym typeface="+mn-lt"/>
              </a:rPr>
              <a:t>*</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16</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08</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1203261" name="AutoShape 61"/>
          <p:cNvSpPr>
            <a:spLocks noChangeArrowheads="1"/>
          </p:cNvSpPr>
          <p:nvPr/>
        </p:nvSpPr>
        <p:spPr bwMode="auto">
          <a:xfrm>
            <a:off x="6335713" y="1196975"/>
            <a:ext cx="2465388" cy="661988"/>
          </a:xfrm>
          <a:prstGeom prst="wedgeRoundRectCallout">
            <a:avLst>
              <a:gd name="adj1" fmla="val -161761"/>
              <a:gd name="adj2" fmla="val 45159"/>
              <a:gd name="adj3" fmla="val 16667"/>
            </a:avLst>
          </a:prstGeom>
          <a:solidFill>
            <a:schemeClr val="accent1">
              <a:lumMod val="60000"/>
              <a:lumOff val="40000"/>
            </a:schemeClr>
          </a:solidFill>
          <a:ln w="9525">
            <a:solidFill>
              <a:schemeClr val="tx1"/>
            </a:solidFill>
            <a:miter lim="800000"/>
          </a:ln>
        </p:spPr>
        <p:txBody>
          <a:bodyPr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表示后一个</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61" name="Rectangle 80"/>
          <p:cNvSpPr>
            <a:spLocks noChangeArrowheads="1"/>
          </p:cNvSpPr>
          <p:nvPr/>
        </p:nvSpPr>
        <p:spPr bwMode="auto">
          <a:xfrm>
            <a:off x="793750" y="203200"/>
            <a:ext cx="3092450"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直接插入排序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203261"/>
                                        </p:tgtEl>
                                        <p:attrNameLst>
                                          <p:attrName>style.visibility</p:attrName>
                                        </p:attrNameLst>
                                      </p:cBhvr>
                                      <p:to>
                                        <p:strVal val="visible"/>
                                      </p:to>
                                    </p:set>
                                    <p:anim calcmode="lin" valueType="num">
                                      <p:cBhvr additive="base">
                                        <p:cTn id="7" dur="500" fill="hold"/>
                                        <p:tgtEl>
                                          <p:spTgt spid="1203261"/>
                                        </p:tgtEl>
                                        <p:attrNameLst>
                                          <p:attrName>ppt_x</p:attrName>
                                        </p:attrNameLst>
                                      </p:cBhvr>
                                      <p:tavLst>
                                        <p:tav tm="0">
                                          <p:val>
                                            <p:strVal val="1+#ppt_w/2"/>
                                          </p:val>
                                        </p:tav>
                                        <p:tav tm="100000">
                                          <p:val>
                                            <p:strVal val="#ppt_x"/>
                                          </p:val>
                                        </p:tav>
                                      </p:tavLst>
                                    </p:anim>
                                    <p:anim calcmode="lin" valueType="num">
                                      <p:cBhvr additive="base">
                                        <p:cTn id="8" dur="500" fill="hold"/>
                                        <p:tgtEl>
                                          <p:spTgt spid="120326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iterate type="lt">
                                    <p:tmAbs val="75"/>
                                  </p:iterate>
                                  <p:childTnLst>
                                    <p:set>
                                      <p:cBhvr>
                                        <p:cTn id="12" dur="1" fill="hold">
                                          <p:stCondLst>
                                            <p:cond delay="74"/>
                                          </p:stCondLst>
                                        </p:cTn>
                                        <p:tgtEl>
                                          <p:spTgt spid="120325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499"/>
                                          </p:stCondLst>
                                        </p:cTn>
                                        <p:tgtEl>
                                          <p:spTgt spid="1203204"/>
                                        </p:tgtEl>
                                        <p:attrNameLst>
                                          <p:attrName>style.visibility</p:attrName>
                                        </p:attrNameLst>
                                      </p:cBhvr>
                                      <p:to>
                                        <p:strVal val="visible"/>
                                      </p:to>
                                    </p:se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wipe(left)">
                                      <p:cBhvr>
                                        <p:cTn id="20" dur="500"/>
                                        <p:tgtEl>
                                          <p:spTgt spid="2"/>
                                        </p:tgtEl>
                                      </p:cBhvr>
                                    </p:animEffect>
                                  </p:childTnLst>
                                </p:cTn>
                              </p:par>
                            </p:childTnLst>
                          </p:cTn>
                        </p:par>
                        <p:par>
                          <p:cTn id="21" fill="hold">
                            <p:stCondLst>
                              <p:cond delay="1000"/>
                            </p:stCondLst>
                            <p:childTnLst>
                              <p:par>
                                <p:cTn id="22" presetID="2" presetClass="entr" presetSubtype="8" fill="hold" grpId="0" nodeType="afterEffect">
                                  <p:stCondLst>
                                    <p:cond delay="0"/>
                                  </p:stCondLst>
                                  <p:childTnLst>
                                    <p:set>
                                      <p:cBhvr>
                                        <p:cTn id="23" dur="1" fill="hold">
                                          <p:stCondLst>
                                            <p:cond delay="0"/>
                                          </p:stCondLst>
                                        </p:cTn>
                                        <p:tgtEl>
                                          <p:spTgt spid="1203247"/>
                                        </p:tgtEl>
                                        <p:attrNameLst>
                                          <p:attrName>style.visibility</p:attrName>
                                        </p:attrNameLst>
                                      </p:cBhvr>
                                      <p:to>
                                        <p:strVal val="visible"/>
                                      </p:to>
                                    </p:set>
                                    <p:anim calcmode="lin" valueType="num">
                                      <p:cBhvr additive="base">
                                        <p:cTn id="24" dur="500" fill="hold"/>
                                        <p:tgtEl>
                                          <p:spTgt spid="1203247"/>
                                        </p:tgtEl>
                                        <p:attrNameLst>
                                          <p:attrName>ppt_x</p:attrName>
                                        </p:attrNameLst>
                                      </p:cBhvr>
                                      <p:tavLst>
                                        <p:tav tm="0">
                                          <p:val>
                                            <p:strVal val="0-#ppt_w/2"/>
                                          </p:val>
                                        </p:tav>
                                        <p:tav tm="100000">
                                          <p:val>
                                            <p:strVal val="#ppt_x"/>
                                          </p:val>
                                        </p:tav>
                                      </p:tavLst>
                                    </p:anim>
                                    <p:anim calcmode="lin" valueType="num">
                                      <p:cBhvr additive="base">
                                        <p:cTn id="25" dur="500" fill="hold"/>
                                        <p:tgtEl>
                                          <p:spTgt spid="1203247"/>
                                        </p:tgtEl>
                                        <p:attrNameLst>
                                          <p:attrName>ppt_y</p:attrName>
                                        </p:attrNameLst>
                                      </p:cBhvr>
                                      <p:tavLst>
                                        <p:tav tm="0">
                                          <p:val>
                                            <p:strVal val="#ppt_y"/>
                                          </p:val>
                                        </p:tav>
                                        <p:tav tm="100000">
                                          <p:val>
                                            <p:strVal val="#ppt_y"/>
                                          </p:val>
                                        </p:tav>
                                      </p:tavLst>
                                    </p:anim>
                                  </p:childTnLst>
                                  <p:subTnLst>
                                    <p:set>
                                      <p:cBhvr override="childStyle">
                                        <p:cTn dur="1" fill="hold" display="0" masterRel="nextClick" afterEffect="1"/>
                                        <p:tgtEl>
                                          <p:spTgt spid="1203247"/>
                                        </p:tgtEl>
                                        <p:attrNameLst>
                                          <p:attrName>style.visibility</p:attrName>
                                        </p:attrNameLst>
                                      </p:cBhvr>
                                      <p:to>
                                        <p:strVal val="hidden"/>
                                      </p:to>
                                    </p:set>
                                  </p:subTnLst>
                                </p:cTn>
                              </p:par>
                            </p:childTnLst>
                          </p:cTn>
                        </p:par>
                      </p:childTnLst>
                    </p:cTn>
                  </p:par>
                  <p:par>
                    <p:cTn id="26" fill="hold">
                      <p:stCondLst>
                        <p:cond delay="indefinite"/>
                      </p:stCondLst>
                      <p:childTnLst>
                        <p:par>
                          <p:cTn id="27" fill="hold">
                            <p:stCondLst>
                              <p:cond delay="0"/>
                            </p:stCondLst>
                            <p:childTnLst>
                              <p:par>
                                <p:cTn id="28" presetID="12" presetClass="entr" presetSubtype="8" fill="hold" grpId="0" nodeType="clickEffect">
                                  <p:stCondLst>
                                    <p:cond delay="0"/>
                                  </p:stCondLst>
                                  <p:childTnLst>
                                    <p:set>
                                      <p:cBhvr>
                                        <p:cTn id="29" dur="1" fill="hold">
                                          <p:stCondLst>
                                            <p:cond delay="0"/>
                                          </p:stCondLst>
                                        </p:cTn>
                                        <p:tgtEl>
                                          <p:spTgt spid="1203214"/>
                                        </p:tgtEl>
                                        <p:attrNameLst>
                                          <p:attrName>style.visibility</p:attrName>
                                        </p:attrNameLst>
                                      </p:cBhvr>
                                      <p:to>
                                        <p:strVal val="visible"/>
                                      </p:to>
                                    </p:set>
                                    <p:animEffect transition="in" filter="slide(fromLeft)">
                                      <p:cBhvr>
                                        <p:cTn id="30" dur="500"/>
                                        <p:tgtEl>
                                          <p:spTgt spid="1203214"/>
                                        </p:tgtEl>
                                      </p:cBhvr>
                                    </p:animEffec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203215"/>
                                        </p:tgtEl>
                                        <p:attrNameLst>
                                          <p:attrName>style.visibility</p:attrName>
                                        </p:attrNameLst>
                                      </p:cBhvr>
                                      <p:to>
                                        <p:strVal val="visible"/>
                                      </p:to>
                                    </p:set>
                                    <p:anim calcmode="lin" valueType="num">
                                      <p:cBhvr additive="base">
                                        <p:cTn id="35" dur="500" fill="hold"/>
                                        <p:tgtEl>
                                          <p:spTgt spid="1203215"/>
                                        </p:tgtEl>
                                        <p:attrNameLst>
                                          <p:attrName>ppt_x</p:attrName>
                                        </p:attrNameLst>
                                      </p:cBhvr>
                                      <p:tavLst>
                                        <p:tav tm="0">
                                          <p:val>
                                            <p:strVal val="#ppt_x"/>
                                          </p:val>
                                        </p:tav>
                                        <p:tav tm="100000">
                                          <p:val>
                                            <p:strVal val="#ppt_x"/>
                                          </p:val>
                                        </p:tav>
                                      </p:tavLst>
                                    </p:anim>
                                    <p:anim calcmode="lin" valueType="num">
                                      <p:cBhvr additive="base">
                                        <p:cTn id="36" dur="500" fill="hold"/>
                                        <p:tgtEl>
                                          <p:spTgt spid="120321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2" presetClass="entr" presetSubtype="4" fill="hold" grpId="0" nodeType="clickEffect">
                                  <p:stCondLst>
                                    <p:cond delay="0"/>
                                  </p:stCondLst>
                                  <p:childTnLst>
                                    <p:set>
                                      <p:cBhvr>
                                        <p:cTn id="40" dur="1" fill="hold">
                                          <p:stCondLst>
                                            <p:cond delay="0"/>
                                          </p:stCondLst>
                                        </p:cTn>
                                        <p:tgtEl>
                                          <p:spTgt spid="1203220"/>
                                        </p:tgtEl>
                                        <p:attrNameLst>
                                          <p:attrName>style.visibility</p:attrName>
                                        </p:attrNameLst>
                                      </p:cBhvr>
                                      <p:to>
                                        <p:strVal val="visible"/>
                                      </p:to>
                                    </p:set>
                                    <p:animEffect transition="in" filter="slide(fromBottom)">
                                      <p:cBhvr>
                                        <p:cTn id="41" dur="500"/>
                                        <p:tgtEl>
                                          <p:spTgt spid="1203220"/>
                                        </p:tgtEl>
                                      </p:cBhvr>
                                    </p:animEffect>
                                  </p:childTnLst>
                                </p:cTn>
                              </p:par>
                            </p:childTnLst>
                          </p:cTn>
                        </p:par>
                      </p:childTnLst>
                    </p:cTn>
                  </p:par>
                  <p:par>
                    <p:cTn id="42" fill="hold">
                      <p:stCondLst>
                        <p:cond delay="indefinite"/>
                      </p:stCondLst>
                      <p:childTnLst>
                        <p:par>
                          <p:cTn id="43" fill="hold">
                            <p:stCondLst>
                              <p:cond delay="0"/>
                            </p:stCondLst>
                            <p:childTnLst>
                              <p:par>
                                <p:cTn id="44" presetID="2" presetClass="entr" presetSubtype="1" fill="hold" grpId="0" nodeType="clickEffect">
                                  <p:stCondLst>
                                    <p:cond delay="0"/>
                                  </p:stCondLst>
                                  <p:childTnLst>
                                    <p:set>
                                      <p:cBhvr>
                                        <p:cTn id="45" dur="1" fill="hold">
                                          <p:stCondLst>
                                            <p:cond delay="0"/>
                                          </p:stCondLst>
                                        </p:cTn>
                                        <p:tgtEl>
                                          <p:spTgt spid="1203221"/>
                                        </p:tgtEl>
                                        <p:attrNameLst>
                                          <p:attrName>style.visibility</p:attrName>
                                        </p:attrNameLst>
                                      </p:cBhvr>
                                      <p:to>
                                        <p:strVal val="visible"/>
                                      </p:to>
                                    </p:set>
                                    <p:anim calcmode="lin" valueType="num">
                                      <p:cBhvr additive="base">
                                        <p:cTn id="46" dur="500" fill="hold"/>
                                        <p:tgtEl>
                                          <p:spTgt spid="1203221"/>
                                        </p:tgtEl>
                                        <p:attrNameLst>
                                          <p:attrName>ppt_x</p:attrName>
                                        </p:attrNameLst>
                                      </p:cBhvr>
                                      <p:tavLst>
                                        <p:tav tm="0">
                                          <p:val>
                                            <p:strVal val="#ppt_x"/>
                                          </p:val>
                                        </p:tav>
                                        <p:tav tm="100000">
                                          <p:val>
                                            <p:strVal val="#ppt_x"/>
                                          </p:val>
                                        </p:tav>
                                      </p:tavLst>
                                    </p:anim>
                                    <p:anim calcmode="lin" valueType="num">
                                      <p:cBhvr additive="base">
                                        <p:cTn id="47" dur="500" fill="hold"/>
                                        <p:tgtEl>
                                          <p:spTgt spid="1203221"/>
                                        </p:tgtEl>
                                        <p:attrNameLst>
                                          <p:attrName>ppt_y</p:attrName>
                                        </p:attrNameLst>
                                      </p:cBhvr>
                                      <p:tavLst>
                                        <p:tav tm="0">
                                          <p:val>
                                            <p:strVal val="0-#ppt_h/2"/>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4" fill="hold" grpId="0" nodeType="clickEffect">
                                  <p:stCondLst>
                                    <p:cond delay="0"/>
                                  </p:stCondLst>
                                  <p:childTnLst>
                                    <p:set>
                                      <p:cBhvr>
                                        <p:cTn id="51" dur="1" fill="hold">
                                          <p:stCondLst>
                                            <p:cond delay="0"/>
                                          </p:stCondLst>
                                        </p:cTn>
                                        <p:tgtEl>
                                          <p:spTgt spid="1203216"/>
                                        </p:tgtEl>
                                        <p:attrNameLst>
                                          <p:attrName>style.visibility</p:attrName>
                                        </p:attrNameLst>
                                      </p:cBhvr>
                                      <p:to>
                                        <p:strVal val="visible"/>
                                      </p:to>
                                    </p:set>
                                    <p:anim calcmode="lin" valueType="num">
                                      <p:cBhvr additive="base">
                                        <p:cTn id="52" dur="500" fill="hold"/>
                                        <p:tgtEl>
                                          <p:spTgt spid="1203216"/>
                                        </p:tgtEl>
                                        <p:attrNameLst>
                                          <p:attrName>ppt_x</p:attrName>
                                        </p:attrNameLst>
                                      </p:cBhvr>
                                      <p:tavLst>
                                        <p:tav tm="0">
                                          <p:val>
                                            <p:strVal val="#ppt_x"/>
                                          </p:val>
                                        </p:tav>
                                        <p:tav tm="100000">
                                          <p:val>
                                            <p:strVal val="#ppt_x"/>
                                          </p:val>
                                        </p:tav>
                                      </p:tavLst>
                                    </p:anim>
                                    <p:anim calcmode="lin" valueType="num">
                                      <p:cBhvr additive="base">
                                        <p:cTn id="53" dur="500" fill="hold"/>
                                        <p:tgtEl>
                                          <p:spTgt spid="1203216"/>
                                        </p:tgtEl>
                                        <p:attrNameLst>
                                          <p:attrName>ppt_y</p:attrName>
                                        </p:attrNameLst>
                                      </p:cBhvr>
                                      <p:tavLst>
                                        <p:tav tm="0">
                                          <p:val>
                                            <p:strVal val="1+#ppt_h/2"/>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12" presetClass="entr" presetSubtype="4" fill="hold" grpId="0" nodeType="clickEffect">
                                  <p:stCondLst>
                                    <p:cond delay="0"/>
                                  </p:stCondLst>
                                  <p:childTnLst>
                                    <p:set>
                                      <p:cBhvr>
                                        <p:cTn id="57" dur="1" fill="hold">
                                          <p:stCondLst>
                                            <p:cond delay="0"/>
                                          </p:stCondLst>
                                        </p:cTn>
                                        <p:tgtEl>
                                          <p:spTgt spid="1203222"/>
                                        </p:tgtEl>
                                        <p:attrNameLst>
                                          <p:attrName>style.visibility</p:attrName>
                                        </p:attrNameLst>
                                      </p:cBhvr>
                                      <p:to>
                                        <p:strVal val="visible"/>
                                      </p:to>
                                    </p:set>
                                    <p:animEffect transition="in" filter="slide(fromBottom)">
                                      <p:cBhvr>
                                        <p:cTn id="58" dur="500"/>
                                        <p:tgtEl>
                                          <p:spTgt spid="1203222"/>
                                        </p:tgtEl>
                                      </p:cBhvr>
                                    </p:animEffect>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1203223"/>
                                        </p:tgtEl>
                                        <p:attrNameLst>
                                          <p:attrName>style.visibility</p:attrName>
                                        </p:attrNameLst>
                                      </p:cBhvr>
                                      <p:to>
                                        <p:strVal val="visible"/>
                                      </p:to>
                                    </p:set>
                                    <p:anim calcmode="lin" valueType="num">
                                      <p:cBhvr additive="base">
                                        <p:cTn id="63" dur="500" fill="hold"/>
                                        <p:tgtEl>
                                          <p:spTgt spid="1203223"/>
                                        </p:tgtEl>
                                        <p:attrNameLst>
                                          <p:attrName>ppt_x</p:attrName>
                                        </p:attrNameLst>
                                      </p:cBhvr>
                                      <p:tavLst>
                                        <p:tav tm="0">
                                          <p:val>
                                            <p:strVal val="#ppt_x"/>
                                          </p:val>
                                        </p:tav>
                                        <p:tav tm="100000">
                                          <p:val>
                                            <p:strVal val="#ppt_x"/>
                                          </p:val>
                                        </p:tav>
                                      </p:tavLst>
                                    </p:anim>
                                    <p:anim calcmode="lin" valueType="num">
                                      <p:cBhvr additive="base">
                                        <p:cTn id="64" dur="500" fill="hold"/>
                                        <p:tgtEl>
                                          <p:spTgt spid="1203223"/>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1203218"/>
                                        </p:tgtEl>
                                        <p:attrNameLst>
                                          <p:attrName>style.visibility</p:attrName>
                                        </p:attrNameLst>
                                      </p:cBhvr>
                                      <p:to>
                                        <p:strVal val="visible"/>
                                      </p:to>
                                    </p:set>
                                    <p:anim calcmode="lin" valueType="num">
                                      <p:cBhvr additive="base">
                                        <p:cTn id="69" dur="500" fill="hold"/>
                                        <p:tgtEl>
                                          <p:spTgt spid="1203218"/>
                                        </p:tgtEl>
                                        <p:attrNameLst>
                                          <p:attrName>ppt_x</p:attrName>
                                        </p:attrNameLst>
                                      </p:cBhvr>
                                      <p:tavLst>
                                        <p:tav tm="0">
                                          <p:val>
                                            <p:strVal val="#ppt_x"/>
                                          </p:val>
                                        </p:tav>
                                        <p:tav tm="100000">
                                          <p:val>
                                            <p:strVal val="#ppt_x"/>
                                          </p:val>
                                        </p:tav>
                                      </p:tavLst>
                                    </p:anim>
                                    <p:anim calcmode="lin" valueType="num">
                                      <p:cBhvr additive="base">
                                        <p:cTn id="70" dur="500" fill="hold"/>
                                        <p:tgtEl>
                                          <p:spTgt spid="1203218"/>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2" presetClass="entr" presetSubtype="4" fill="hold" grpId="0" nodeType="clickEffect">
                                  <p:stCondLst>
                                    <p:cond delay="0"/>
                                  </p:stCondLst>
                                  <p:childTnLst>
                                    <p:set>
                                      <p:cBhvr>
                                        <p:cTn id="74" dur="1" fill="hold">
                                          <p:stCondLst>
                                            <p:cond delay="0"/>
                                          </p:stCondLst>
                                        </p:cTn>
                                        <p:tgtEl>
                                          <p:spTgt spid="1203224"/>
                                        </p:tgtEl>
                                        <p:attrNameLst>
                                          <p:attrName>style.visibility</p:attrName>
                                        </p:attrNameLst>
                                      </p:cBhvr>
                                      <p:to>
                                        <p:strVal val="visible"/>
                                      </p:to>
                                    </p:set>
                                    <p:animEffect transition="in" filter="slide(fromBottom)">
                                      <p:cBhvr>
                                        <p:cTn id="75" dur="500"/>
                                        <p:tgtEl>
                                          <p:spTgt spid="1203224"/>
                                        </p:tgtEl>
                                      </p:cBhvr>
                                    </p:animEffect>
                                  </p:childTnLst>
                                </p:cTn>
                              </p:par>
                            </p:childTnLst>
                          </p:cTn>
                        </p:par>
                        <p:par>
                          <p:cTn id="76" fill="hold">
                            <p:stCondLst>
                              <p:cond delay="500"/>
                            </p:stCondLst>
                            <p:childTnLst>
                              <p:par>
                                <p:cTn id="77" presetID="2" presetClass="entr" presetSubtype="1" fill="hold" nodeType="afterEffect">
                                  <p:stCondLst>
                                    <p:cond delay="0"/>
                                  </p:stCondLst>
                                  <p:childTnLst>
                                    <p:set>
                                      <p:cBhvr>
                                        <p:cTn id="78" dur="1" fill="hold">
                                          <p:stCondLst>
                                            <p:cond delay="0"/>
                                          </p:stCondLst>
                                        </p:cTn>
                                        <p:tgtEl>
                                          <p:spTgt spid="3"/>
                                        </p:tgtEl>
                                        <p:attrNameLst>
                                          <p:attrName>style.visibility</p:attrName>
                                        </p:attrNameLst>
                                      </p:cBhvr>
                                      <p:to>
                                        <p:strVal val="visible"/>
                                      </p:to>
                                    </p:set>
                                    <p:anim calcmode="lin" valueType="num">
                                      <p:cBhvr additive="base">
                                        <p:cTn id="79" dur="500" fill="hold"/>
                                        <p:tgtEl>
                                          <p:spTgt spid="3"/>
                                        </p:tgtEl>
                                        <p:attrNameLst>
                                          <p:attrName>ppt_x</p:attrName>
                                        </p:attrNameLst>
                                      </p:cBhvr>
                                      <p:tavLst>
                                        <p:tav tm="0">
                                          <p:val>
                                            <p:strVal val="#ppt_x"/>
                                          </p:val>
                                        </p:tav>
                                        <p:tav tm="100000">
                                          <p:val>
                                            <p:strVal val="#ppt_x"/>
                                          </p:val>
                                        </p:tav>
                                      </p:tavLst>
                                    </p:anim>
                                    <p:anim calcmode="lin" valueType="num">
                                      <p:cBhvr additive="base">
                                        <p:cTn id="80"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12" presetClass="entr" presetSubtype="8" fill="hold" grpId="0" nodeType="clickEffect">
                                  <p:stCondLst>
                                    <p:cond delay="0"/>
                                  </p:stCondLst>
                                  <p:childTnLst>
                                    <p:set>
                                      <p:cBhvr>
                                        <p:cTn id="84" dur="1" fill="hold">
                                          <p:stCondLst>
                                            <p:cond delay="0"/>
                                          </p:stCondLst>
                                        </p:cTn>
                                        <p:tgtEl>
                                          <p:spTgt spid="1203228"/>
                                        </p:tgtEl>
                                        <p:attrNameLst>
                                          <p:attrName>style.visibility</p:attrName>
                                        </p:attrNameLst>
                                      </p:cBhvr>
                                      <p:to>
                                        <p:strVal val="visible"/>
                                      </p:to>
                                    </p:set>
                                    <p:animEffect transition="in" filter="slide(fromLeft)">
                                      <p:cBhvr>
                                        <p:cTn id="85" dur="500"/>
                                        <p:tgtEl>
                                          <p:spTgt spid="1203228"/>
                                        </p:tgtEl>
                                      </p:cBhvr>
                                    </p:animEffect>
                                  </p:childTnLst>
                                </p:cTn>
                              </p:par>
                            </p:childTnLst>
                          </p:cTn>
                        </p:par>
                        <p:par>
                          <p:cTn id="86" fill="hold">
                            <p:stCondLst>
                              <p:cond delay="500"/>
                            </p:stCondLst>
                            <p:childTnLst>
                              <p:par>
                                <p:cTn id="87" presetID="2" presetClass="entr" presetSubtype="1" fill="hold" nodeType="afterEffect">
                                  <p:stCondLst>
                                    <p:cond delay="0"/>
                                  </p:stCondLst>
                                  <p:childTnLst>
                                    <p:set>
                                      <p:cBhvr>
                                        <p:cTn id="88" dur="1" fill="hold">
                                          <p:stCondLst>
                                            <p:cond delay="0"/>
                                          </p:stCondLst>
                                        </p:cTn>
                                        <p:tgtEl>
                                          <p:spTgt spid="4"/>
                                        </p:tgtEl>
                                        <p:attrNameLst>
                                          <p:attrName>style.visibility</p:attrName>
                                        </p:attrNameLst>
                                      </p:cBhvr>
                                      <p:to>
                                        <p:strVal val="visible"/>
                                      </p:to>
                                    </p:set>
                                    <p:anim calcmode="lin" valueType="num">
                                      <p:cBhvr additive="base">
                                        <p:cTn id="89" dur="500" fill="hold"/>
                                        <p:tgtEl>
                                          <p:spTgt spid="4"/>
                                        </p:tgtEl>
                                        <p:attrNameLst>
                                          <p:attrName>ppt_x</p:attrName>
                                        </p:attrNameLst>
                                      </p:cBhvr>
                                      <p:tavLst>
                                        <p:tav tm="0">
                                          <p:val>
                                            <p:strVal val="#ppt_x"/>
                                          </p:val>
                                        </p:tav>
                                        <p:tav tm="100000">
                                          <p:val>
                                            <p:strVal val="#ppt_x"/>
                                          </p:val>
                                        </p:tav>
                                      </p:tavLst>
                                    </p:anim>
                                    <p:anim calcmode="lin" valueType="num">
                                      <p:cBhvr additive="base">
                                        <p:cTn id="90"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grpId="0" nodeType="clickEffect">
                                  <p:stCondLst>
                                    <p:cond delay="0"/>
                                  </p:stCondLst>
                                  <p:childTnLst>
                                    <p:set>
                                      <p:cBhvr>
                                        <p:cTn id="94" dur="1" fill="hold">
                                          <p:stCondLst>
                                            <p:cond delay="0"/>
                                          </p:stCondLst>
                                        </p:cTn>
                                        <p:tgtEl>
                                          <p:spTgt spid="1203217"/>
                                        </p:tgtEl>
                                        <p:attrNameLst>
                                          <p:attrName>style.visibility</p:attrName>
                                        </p:attrNameLst>
                                      </p:cBhvr>
                                      <p:to>
                                        <p:strVal val="visible"/>
                                      </p:to>
                                    </p:set>
                                    <p:anim calcmode="lin" valueType="num">
                                      <p:cBhvr additive="base">
                                        <p:cTn id="95" dur="500" fill="hold"/>
                                        <p:tgtEl>
                                          <p:spTgt spid="1203217"/>
                                        </p:tgtEl>
                                        <p:attrNameLst>
                                          <p:attrName>ppt_x</p:attrName>
                                        </p:attrNameLst>
                                      </p:cBhvr>
                                      <p:tavLst>
                                        <p:tav tm="0">
                                          <p:val>
                                            <p:strVal val="#ppt_x"/>
                                          </p:val>
                                        </p:tav>
                                        <p:tav tm="100000">
                                          <p:val>
                                            <p:strVal val="#ppt_x"/>
                                          </p:val>
                                        </p:tav>
                                      </p:tavLst>
                                    </p:anim>
                                    <p:anim calcmode="lin" valueType="num">
                                      <p:cBhvr additive="base">
                                        <p:cTn id="96" dur="500" fill="hold"/>
                                        <p:tgtEl>
                                          <p:spTgt spid="1203217"/>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12" presetClass="entr" presetSubtype="4" fill="hold" grpId="0" nodeType="clickEffect">
                                  <p:stCondLst>
                                    <p:cond delay="0"/>
                                  </p:stCondLst>
                                  <p:childTnLst>
                                    <p:set>
                                      <p:cBhvr>
                                        <p:cTn id="100" dur="1" fill="hold">
                                          <p:stCondLst>
                                            <p:cond delay="0"/>
                                          </p:stCondLst>
                                        </p:cTn>
                                        <p:tgtEl>
                                          <p:spTgt spid="1203229"/>
                                        </p:tgtEl>
                                        <p:attrNameLst>
                                          <p:attrName>style.visibility</p:attrName>
                                        </p:attrNameLst>
                                      </p:cBhvr>
                                      <p:to>
                                        <p:strVal val="visible"/>
                                      </p:to>
                                    </p:set>
                                    <p:animEffect transition="in" filter="slide(fromBottom)">
                                      <p:cBhvr>
                                        <p:cTn id="101" dur="500"/>
                                        <p:tgtEl>
                                          <p:spTgt spid="1203229"/>
                                        </p:tgtEl>
                                      </p:cBhvr>
                                    </p:animEffect>
                                  </p:childTnLst>
                                </p:cTn>
                              </p:par>
                            </p:childTnLst>
                          </p:cTn>
                        </p:par>
                        <p:par>
                          <p:cTn id="102" fill="hold">
                            <p:stCondLst>
                              <p:cond delay="500"/>
                            </p:stCondLst>
                            <p:childTnLst>
                              <p:par>
                                <p:cTn id="103" presetID="12" presetClass="entr" presetSubtype="1" fill="hold" grpId="0" nodeType="afterEffect">
                                  <p:stCondLst>
                                    <p:cond delay="0"/>
                                  </p:stCondLst>
                                  <p:childTnLst>
                                    <p:set>
                                      <p:cBhvr>
                                        <p:cTn id="104" dur="1" fill="hold">
                                          <p:stCondLst>
                                            <p:cond delay="0"/>
                                          </p:stCondLst>
                                        </p:cTn>
                                        <p:tgtEl>
                                          <p:spTgt spid="1203230"/>
                                        </p:tgtEl>
                                        <p:attrNameLst>
                                          <p:attrName>style.visibility</p:attrName>
                                        </p:attrNameLst>
                                      </p:cBhvr>
                                      <p:to>
                                        <p:strVal val="visible"/>
                                      </p:to>
                                    </p:set>
                                    <p:animEffect transition="in" filter="slide(fromTop)">
                                      <p:cBhvr>
                                        <p:cTn id="105" dur="500"/>
                                        <p:tgtEl>
                                          <p:spTgt spid="1203230"/>
                                        </p:tgtEl>
                                      </p:cBhvr>
                                    </p:animEffect>
                                  </p:childTnLst>
                                </p:cTn>
                              </p:par>
                            </p:childTnLst>
                          </p:cTn>
                        </p:par>
                      </p:childTnLst>
                    </p:cTn>
                  </p:par>
                  <p:par>
                    <p:cTn id="106" fill="hold">
                      <p:stCondLst>
                        <p:cond delay="indefinite"/>
                      </p:stCondLst>
                      <p:childTnLst>
                        <p:par>
                          <p:cTn id="107" fill="hold">
                            <p:stCondLst>
                              <p:cond delay="0"/>
                            </p:stCondLst>
                            <p:childTnLst>
                              <p:par>
                                <p:cTn id="108" presetID="12" presetClass="entr" presetSubtype="8" fill="hold" nodeType="clickEffect">
                                  <p:stCondLst>
                                    <p:cond delay="0"/>
                                  </p:stCondLst>
                                  <p:childTnLst>
                                    <p:set>
                                      <p:cBhvr>
                                        <p:cTn id="109" dur="1" fill="hold">
                                          <p:stCondLst>
                                            <p:cond delay="0"/>
                                          </p:stCondLst>
                                        </p:cTn>
                                        <p:tgtEl>
                                          <p:spTgt spid="6"/>
                                        </p:tgtEl>
                                        <p:attrNameLst>
                                          <p:attrName>style.visibility</p:attrName>
                                        </p:attrNameLst>
                                      </p:cBhvr>
                                      <p:to>
                                        <p:strVal val="visible"/>
                                      </p:to>
                                    </p:set>
                                    <p:animEffect transition="in" filter="slide(fromLeft)">
                                      <p:cBhvr>
                                        <p:cTn id="110" dur="500"/>
                                        <p:tgtEl>
                                          <p:spTgt spid="6"/>
                                        </p:tgtEl>
                                      </p:cBhvr>
                                    </p:animEffect>
                                  </p:childTnLst>
                                </p:cTn>
                              </p:par>
                            </p:childTnLst>
                          </p:cTn>
                        </p:par>
                      </p:childTnLst>
                    </p:cTn>
                  </p:par>
                  <p:par>
                    <p:cTn id="111" fill="hold">
                      <p:stCondLst>
                        <p:cond delay="indefinite"/>
                      </p:stCondLst>
                      <p:childTnLst>
                        <p:par>
                          <p:cTn id="112" fill="hold">
                            <p:stCondLst>
                              <p:cond delay="0"/>
                            </p:stCondLst>
                            <p:childTnLst>
                              <p:par>
                                <p:cTn id="113" presetID="2" presetClass="entr" presetSubtype="1" fill="hold" grpId="0" nodeType="clickEffect">
                                  <p:stCondLst>
                                    <p:cond delay="0"/>
                                  </p:stCondLst>
                                  <p:childTnLst>
                                    <p:set>
                                      <p:cBhvr>
                                        <p:cTn id="114" dur="1" fill="hold">
                                          <p:stCondLst>
                                            <p:cond delay="0"/>
                                          </p:stCondLst>
                                        </p:cTn>
                                        <p:tgtEl>
                                          <p:spTgt spid="1203248"/>
                                        </p:tgtEl>
                                        <p:attrNameLst>
                                          <p:attrName>style.visibility</p:attrName>
                                        </p:attrNameLst>
                                      </p:cBhvr>
                                      <p:to>
                                        <p:strVal val="visible"/>
                                      </p:to>
                                    </p:set>
                                    <p:anim calcmode="lin" valueType="num">
                                      <p:cBhvr additive="base">
                                        <p:cTn id="115" dur="500" fill="hold"/>
                                        <p:tgtEl>
                                          <p:spTgt spid="1203248"/>
                                        </p:tgtEl>
                                        <p:attrNameLst>
                                          <p:attrName>ppt_x</p:attrName>
                                        </p:attrNameLst>
                                      </p:cBhvr>
                                      <p:tavLst>
                                        <p:tav tm="0">
                                          <p:val>
                                            <p:strVal val="#ppt_x"/>
                                          </p:val>
                                        </p:tav>
                                        <p:tav tm="100000">
                                          <p:val>
                                            <p:strVal val="#ppt_x"/>
                                          </p:val>
                                        </p:tav>
                                      </p:tavLst>
                                    </p:anim>
                                    <p:anim calcmode="lin" valueType="num">
                                      <p:cBhvr additive="base">
                                        <p:cTn id="116" dur="500" fill="hold"/>
                                        <p:tgtEl>
                                          <p:spTgt spid="1203248"/>
                                        </p:tgtEl>
                                        <p:attrNameLst>
                                          <p:attrName>ppt_y</p:attrName>
                                        </p:attrNameLst>
                                      </p:cBhvr>
                                      <p:tavLst>
                                        <p:tav tm="0">
                                          <p:val>
                                            <p:strVal val="0-#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1203219"/>
                                        </p:tgtEl>
                                        <p:attrNameLst>
                                          <p:attrName>style.visibility</p:attrName>
                                        </p:attrNameLst>
                                      </p:cBhvr>
                                      <p:to>
                                        <p:strVal val="visible"/>
                                      </p:to>
                                    </p:set>
                                    <p:anim calcmode="lin" valueType="num">
                                      <p:cBhvr additive="base">
                                        <p:cTn id="121" dur="500" fill="hold"/>
                                        <p:tgtEl>
                                          <p:spTgt spid="1203219"/>
                                        </p:tgtEl>
                                        <p:attrNameLst>
                                          <p:attrName>ppt_x</p:attrName>
                                        </p:attrNameLst>
                                      </p:cBhvr>
                                      <p:tavLst>
                                        <p:tav tm="0">
                                          <p:val>
                                            <p:strVal val="#ppt_x"/>
                                          </p:val>
                                        </p:tav>
                                        <p:tav tm="100000">
                                          <p:val>
                                            <p:strVal val="#ppt_x"/>
                                          </p:val>
                                        </p:tav>
                                      </p:tavLst>
                                    </p:anim>
                                    <p:anim calcmode="lin" valueType="num">
                                      <p:cBhvr additive="base">
                                        <p:cTn id="122" dur="500" fill="hold"/>
                                        <p:tgtEl>
                                          <p:spTgt spid="1203219"/>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12" presetClass="entr" presetSubtype="4" fill="hold" grpId="0" nodeType="clickEffect">
                                  <p:stCondLst>
                                    <p:cond delay="0"/>
                                  </p:stCondLst>
                                  <p:childTnLst>
                                    <p:set>
                                      <p:cBhvr>
                                        <p:cTn id="126" dur="1" fill="hold">
                                          <p:stCondLst>
                                            <p:cond delay="0"/>
                                          </p:stCondLst>
                                        </p:cTn>
                                        <p:tgtEl>
                                          <p:spTgt spid="1203234"/>
                                        </p:tgtEl>
                                        <p:attrNameLst>
                                          <p:attrName>style.visibility</p:attrName>
                                        </p:attrNameLst>
                                      </p:cBhvr>
                                      <p:to>
                                        <p:strVal val="visible"/>
                                      </p:to>
                                    </p:set>
                                    <p:animEffect transition="in" filter="slide(fromBottom)">
                                      <p:cBhvr>
                                        <p:cTn id="127" dur="500"/>
                                        <p:tgtEl>
                                          <p:spTgt spid="1203234"/>
                                        </p:tgtEl>
                                      </p:cBhvr>
                                    </p:animEffect>
                                  </p:childTnLst>
                                </p:cTn>
                              </p:par>
                            </p:childTnLst>
                          </p:cTn>
                        </p:par>
                        <p:par>
                          <p:cTn id="128" fill="hold">
                            <p:stCondLst>
                              <p:cond delay="500"/>
                            </p:stCondLst>
                            <p:childTnLst>
                              <p:par>
                                <p:cTn id="129" presetID="12" presetClass="entr" presetSubtype="1" fill="hold" nodeType="afterEffect">
                                  <p:stCondLst>
                                    <p:cond delay="0"/>
                                  </p:stCondLst>
                                  <p:childTnLst>
                                    <p:set>
                                      <p:cBhvr>
                                        <p:cTn id="130" dur="1" fill="hold">
                                          <p:stCondLst>
                                            <p:cond delay="0"/>
                                          </p:stCondLst>
                                        </p:cTn>
                                        <p:tgtEl>
                                          <p:spTgt spid="5"/>
                                        </p:tgtEl>
                                        <p:attrNameLst>
                                          <p:attrName>style.visibility</p:attrName>
                                        </p:attrNameLst>
                                      </p:cBhvr>
                                      <p:to>
                                        <p:strVal val="visible"/>
                                      </p:to>
                                    </p:set>
                                    <p:animEffect transition="in" filter="slide(fromTop)">
                                      <p:cBhvr>
                                        <p:cTn id="131" dur="500"/>
                                        <p:tgtEl>
                                          <p:spTgt spid="5"/>
                                        </p:tgtEl>
                                      </p:cBhvr>
                                    </p:animEffect>
                                  </p:childTnLst>
                                </p:cTn>
                              </p:par>
                            </p:childTnLst>
                          </p:cTn>
                        </p:par>
                      </p:childTnLst>
                    </p:cTn>
                  </p:par>
                  <p:par>
                    <p:cTn id="132" fill="hold">
                      <p:stCondLst>
                        <p:cond delay="indefinite"/>
                      </p:stCondLst>
                      <p:childTnLst>
                        <p:par>
                          <p:cTn id="133" fill="hold">
                            <p:stCondLst>
                              <p:cond delay="0"/>
                            </p:stCondLst>
                            <p:childTnLst>
                              <p:par>
                                <p:cTn id="134" presetID="12" presetClass="entr" presetSubtype="8" fill="hold" grpId="0" nodeType="clickEffect">
                                  <p:stCondLst>
                                    <p:cond delay="0"/>
                                  </p:stCondLst>
                                  <p:childTnLst>
                                    <p:set>
                                      <p:cBhvr>
                                        <p:cTn id="135" dur="1" fill="hold">
                                          <p:stCondLst>
                                            <p:cond delay="0"/>
                                          </p:stCondLst>
                                        </p:cTn>
                                        <p:tgtEl>
                                          <p:spTgt spid="1203238"/>
                                        </p:tgtEl>
                                        <p:attrNameLst>
                                          <p:attrName>style.visibility</p:attrName>
                                        </p:attrNameLst>
                                      </p:cBhvr>
                                      <p:to>
                                        <p:strVal val="visible"/>
                                      </p:to>
                                    </p:set>
                                    <p:animEffect transition="in" filter="slide(fromLeft)">
                                      <p:cBhvr>
                                        <p:cTn id="136" dur="500"/>
                                        <p:tgtEl>
                                          <p:spTgt spid="1203238"/>
                                        </p:tgtEl>
                                      </p:cBhvr>
                                    </p:animEffect>
                                  </p:childTnLst>
                                </p:cTn>
                              </p:par>
                            </p:childTnLst>
                          </p:cTn>
                        </p:par>
                        <p:par>
                          <p:cTn id="137" fill="hold">
                            <p:stCondLst>
                              <p:cond delay="500"/>
                            </p:stCondLst>
                            <p:childTnLst>
                              <p:par>
                                <p:cTn id="138" presetID="12" presetClass="entr" presetSubtype="8" fill="hold" nodeType="afterEffect">
                                  <p:stCondLst>
                                    <p:cond delay="0"/>
                                  </p:stCondLst>
                                  <p:childTnLst>
                                    <p:set>
                                      <p:cBhvr>
                                        <p:cTn id="139" dur="1" fill="hold">
                                          <p:stCondLst>
                                            <p:cond delay="0"/>
                                          </p:stCondLst>
                                        </p:cTn>
                                        <p:tgtEl>
                                          <p:spTgt spid="7"/>
                                        </p:tgtEl>
                                        <p:attrNameLst>
                                          <p:attrName>style.visibility</p:attrName>
                                        </p:attrNameLst>
                                      </p:cBhvr>
                                      <p:to>
                                        <p:strVal val="visible"/>
                                      </p:to>
                                    </p:set>
                                    <p:animEffect transition="in" filter="slide(fromLeft)">
                                      <p:cBhvr>
                                        <p:cTn id="140" dur="500"/>
                                        <p:tgtEl>
                                          <p:spTgt spid="7"/>
                                        </p:tgtEl>
                                      </p:cBhvr>
                                    </p:animEffect>
                                  </p:childTnLst>
                                </p:cTn>
                              </p:par>
                            </p:childTnLst>
                          </p:cTn>
                        </p:par>
                        <p:par>
                          <p:cTn id="141" fill="hold">
                            <p:stCondLst>
                              <p:cond delay="1000"/>
                            </p:stCondLst>
                            <p:childTnLst>
                              <p:par>
                                <p:cTn id="142" presetID="12" presetClass="entr" presetSubtype="8" fill="hold" grpId="0" nodeType="afterEffect">
                                  <p:stCondLst>
                                    <p:cond delay="0"/>
                                  </p:stCondLst>
                                  <p:childTnLst>
                                    <p:set>
                                      <p:cBhvr>
                                        <p:cTn id="143" dur="1" fill="hold">
                                          <p:stCondLst>
                                            <p:cond delay="0"/>
                                          </p:stCondLst>
                                        </p:cTn>
                                        <p:tgtEl>
                                          <p:spTgt spid="1203252"/>
                                        </p:tgtEl>
                                        <p:attrNameLst>
                                          <p:attrName>style.visibility</p:attrName>
                                        </p:attrNameLst>
                                      </p:cBhvr>
                                      <p:to>
                                        <p:strVal val="visible"/>
                                      </p:to>
                                    </p:set>
                                    <p:animEffect transition="in" filter="slide(fromLeft)">
                                      <p:cBhvr>
                                        <p:cTn id="144" dur="500"/>
                                        <p:tgtEl>
                                          <p:spTgt spid="1203252"/>
                                        </p:tgtEl>
                                      </p:cBhvr>
                                    </p:animEffect>
                                  </p:childTnLst>
                                </p:cTn>
                              </p:par>
                            </p:childTnLst>
                          </p:cTn>
                        </p:par>
                        <p:par>
                          <p:cTn id="145" fill="hold">
                            <p:stCondLst>
                              <p:cond delay="1500"/>
                            </p:stCondLst>
                            <p:childTnLst>
                              <p:par>
                                <p:cTn id="146" presetID="12" presetClass="entr" presetSubtype="8" fill="hold" grpId="0" nodeType="afterEffect">
                                  <p:stCondLst>
                                    <p:cond delay="0"/>
                                  </p:stCondLst>
                                  <p:childTnLst>
                                    <p:set>
                                      <p:cBhvr>
                                        <p:cTn id="147" dur="1" fill="hold">
                                          <p:stCondLst>
                                            <p:cond delay="0"/>
                                          </p:stCondLst>
                                        </p:cTn>
                                        <p:tgtEl>
                                          <p:spTgt spid="1203253"/>
                                        </p:tgtEl>
                                        <p:attrNameLst>
                                          <p:attrName>style.visibility</p:attrName>
                                        </p:attrNameLst>
                                      </p:cBhvr>
                                      <p:to>
                                        <p:strVal val="visible"/>
                                      </p:to>
                                    </p:set>
                                    <p:animEffect transition="in" filter="slide(fromLeft)">
                                      <p:cBhvr>
                                        <p:cTn id="148" dur="500"/>
                                        <p:tgtEl>
                                          <p:spTgt spid="1203253"/>
                                        </p:tgtEl>
                                      </p:cBhvr>
                                    </p:animEffect>
                                  </p:childTnLst>
                                </p:cTn>
                              </p:par>
                            </p:childTnLst>
                          </p:cTn>
                        </p:par>
                        <p:par>
                          <p:cTn id="149" fill="hold">
                            <p:stCondLst>
                              <p:cond delay="2000"/>
                            </p:stCondLst>
                            <p:childTnLst>
                              <p:par>
                                <p:cTn id="150" presetID="12" presetClass="entr" presetSubtype="8" fill="hold" grpId="0" nodeType="afterEffect">
                                  <p:stCondLst>
                                    <p:cond delay="0"/>
                                  </p:stCondLst>
                                  <p:childTnLst>
                                    <p:set>
                                      <p:cBhvr>
                                        <p:cTn id="151" dur="1" fill="hold">
                                          <p:stCondLst>
                                            <p:cond delay="0"/>
                                          </p:stCondLst>
                                        </p:cTn>
                                        <p:tgtEl>
                                          <p:spTgt spid="1203254"/>
                                        </p:tgtEl>
                                        <p:attrNameLst>
                                          <p:attrName>style.visibility</p:attrName>
                                        </p:attrNameLst>
                                      </p:cBhvr>
                                      <p:to>
                                        <p:strVal val="visible"/>
                                      </p:to>
                                    </p:set>
                                    <p:animEffect transition="in" filter="slide(fromLeft)">
                                      <p:cBhvr>
                                        <p:cTn id="152" dur="500"/>
                                        <p:tgtEl>
                                          <p:spTgt spid="1203254"/>
                                        </p:tgtEl>
                                      </p:cBhvr>
                                    </p:animEffect>
                                  </p:childTnLst>
                                </p:cTn>
                              </p:par>
                            </p:childTnLst>
                          </p:cTn>
                        </p:par>
                      </p:childTnLst>
                    </p:cTn>
                  </p:par>
                  <p:par>
                    <p:cTn id="153" fill="hold">
                      <p:stCondLst>
                        <p:cond delay="indefinite"/>
                      </p:stCondLst>
                      <p:childTnLst>
                        <p:par>
                          <p:cTn id="154" fill="hold">
                            <p:stCondLst>
                              <p:cond delay="0"/>
                            </p:stCondLst>
                            <p:childTnLst>
                              <p:par>
                                <p:cTn id="155" presetID="2" presetClass="entr" presetSubtype="1" fill="hold" nodeType="clickEffect">
                                  <p:stCondLst>
                                    <p:cond delay="0"/>
                                  </p:stCondLst>
                                  <p:childTnLst>
                                    <p:set>
                                      <p:cBhvr>
                                        <p:cTn id="156" dur="1" fill="hold">
                                          <p:stCondLst>
                                            <p:cond delay="0"/>
                                          </p:stCondLst>
                                        </p:cTn>
                                        <p:tgtEl>
                                          <p:spTgt spid="8"/>
                                        </p:tgtEl>
                                        <p:attrNameLst>
                                          <p:attrName>style.visibility</p:attrName>
                                        </p:attrNameLst>
                                      </p:cBhvr>
                                      <p:to>
                                        <p:strVal val="visible"/>
                                      </p:to>
                                    </p:set>
                                    <p:anim calcmode="lin" valueType="num">
                                      <p:cBhvr additive="base">
                                        <p:cTn id="157" dur="500" fill="hold"/>
                                        <p:tgtEl>
                                          <p:spTgt spid="8"/>
                                        </p:tgtEl>
                                        <p:attrNameLst>
                                          <p:attrName>ppt_x</p:attrName>
                                        </p:attrNameLst>
                                      </p:cBhvr>
                                      <p:tavLst>
                                        <p:tav tm="0">
                                          <p:val>
                                            <p:strVal val="#ppt_x"/>
                                          </p:val>
                                        </p:tav>
                                        <p:tav tm="100000">
                                          <p:val>
                                            <p:strVal val="#ppt_x"/>
                                          </p:val>
                                        </p:tav>
                                      </p:tavLst>
                                    </p:anim>
                                    <p:anim calcmode="lin" valueType="num">
                                      <p:cBhvr additive="base">
                                        <p:cTn id="158" dur="500" fill="hold"/>
                                        <p:tgtEl>
                                          <p:spTgt spid="8"/>
                                        </p:tgtEl>
                                        <p:attrNameLst>
                                          <p:attrName>ppt_y</p:attrName>
                                        </p:attrNameLst>
                                      </p:cBhvr>
                                      <p:tavLst>
                                        <p:tav tm="0">
                                          <p:val>
                                            <p:strVal val="0-#ppt_h/2"/>
                                          </p:val>
                                        </p:tav>
                                        <p:tav tm="100000">
                                          <p:val>
                                            <p:strVal val="#ppt_y"/>
                                          </p:val>
                                        </p:tav>
                                      </p:tavLst>
                                    </p:anim>
                                  </p:childTnLst>
                                </p:cTn>
                              </p:par>
                            </p:childTnLst>
                          </p:cTn>
                        </p:par>
                        <p:par>
                          <p:cTn id="159" fill="hold">
                            <p:stCondLst>
                              <p:cond delay="500"/>
                            </p:stCondLst>
                            <p:childTnLst>
                              <p:par>
                                <p:cTn id="160" presetID="23" presetClass="entr" presetSubtype="16" fill="hold" grpId="0" nodeType="afterEffect">
                                  <p:stCondLst>
                                    <p:cond delay="0"/>
                                  </p:stCondLst>
                                  <p:childTnLst>
                                    <p:set>
                                      <p:cBhvr>
                                        <p:cTn id="161" dur="1" fill="hold">
                                          <p:stCondLst>
                                            <p:cond delay="0"/>
                                          </p:stCondLst>
                                        </p:cTn>
                                        <p:tgtEl>
                                          <p:spTgt spid="1203258"/>
                                        </p:tgtEl>
                                        <p:attrNameLst>
                                          <p:attrName>style.visibility</p:attrName>
                                        </p:attrNameLst>
                                      </p:cBhvr>
                                      <p:to>
                                        <p:strVal val="visible"/>
                                      </p:to>
                                    </p:set>
                                    <p:anim calcmode="lin" valueType="num">
                                      <p:cBhvr>
                                        <p:cTn id="162" dur="500" fill="hold"/>
                                        <p:tgtEl>
                                          <p:spTgt spid="1203258"/>
                                        </p:tgtEl>
                                        <p:attrNameLst>
                                          <p:attrName>ppt_w</p:attrName>
                                        </p:attrNameLst>
                                      </p:cBhvr>
                                      <p:tavLst>
                                        <p:tav tm="0">
                                          <p:val>
                                            <p:fltVal val="0"/>
                                          </p:val>
                                        </p:tav>
                                        <p:tav tm="100000">
                                          <p:val>
                                            <p:strVal val="#ppt_w"/>
                                          </p:val>
                                        </p:tav>
                                      </p:tavLst>
                                    </p:anim>
                                    <p:anim calcmode="lin" valueType="num">
                                      <p:cBhvr>
                                        <p:cTn id="163" dur="500" fill="hold"/>
                                        <p:tgtEl>
                                          <p:spTgt spid="1203258"/>
                                        </p:tgtEl>
                                        <p:attrNameLst>
                                          <p:attrName>ppt_h</p:attrName>
                                        </p:attrNameLst>
                                      </p:cBhvr>
                                      <p:tavLst>
                                        <p:tav tm="0">
                                          <p:val>
                                            <p:fltVal val="0"/>
                                          </p:val>
                                        </p:tav>
                                        <p:tav tm="100000">
                                          <p:val>
                                            <p:strVal val="#ppt_h"/>
                                          </p:val>
                                        </p:tav>
                                      </p:tavLst>
                                    </p:anim>
                                  </p:childTnLst>
                                  <p:subTnLst>
                                    <p:set>
                                      <p:cBhvr override="childStyle">
                                        <p:cTn dur="1" fill="hold" display="0" masterRel="nextClick" afterEffect="1"/>
                                        <p:tgtEl>
                                          <p:spTgt spid="1203258"/>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3204" grpId="0" animBg="1"/>
      <p:bldP spid="1203214" grpId="0" animBg="1"/>
      <p:bldP spid="1203215" grpId="0"/>
      <p:bldP spid="1203216" grpId="0"/>
      <p:bldP spid="1203217" grpId="0"/>
      <p:bldP spid="1203218" grpId="0"/>
      <p:bldP spid="1203219" grpId="0"/>
      <p:bldP spid="1203220" grpId="0" animBg="1"/>
      <p:bldP spid="1203221" grpId="0" animBg="1"/>
      <p:bldP spid="1203222" grpId="0" animBg="1"/>
      <p:bldP spid="1203223" grpId="0" animBg="1"/>
      <p:bldP spid="1203224" grpId="0" animBg="1"/>
      <p:bldP spid="1203228" grpId="0" animBg="1"/>
      <p:bldP spid="1203229" grpId="0" animBg="1"/>
      <p:bldP spid="1203230" grpId="0" animBg="1"/>
      <p:bldP spid="1203234" grpId="0" animBg="1"/>
      <p:bldP spid="1203238" grpId="0" animBg="1"/>
      <p:bldP spid="1203247" grpId="0"/>
      <p:bldP spid="1203248" grpId="0" animBg="1"/>
      <p:bldP spid="1203252" grpId="0" animBg="1"/>
      <p:bldP spid="1203253" grpId="0" animBg="1"/>
      <p:bldP spid="1203254" grpId="0" animBg="1"/>
      <p:bldP spid="1203258" grpId="0"/>
      <p:bldP spid="1203259" grpId="0"/>
      <p:bldP spid="1203261"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4228" name="Rectangle 4" descr="60%"/>
          <p:cNvSpPr>
            <a:spLocks noChangeArrowheads="1"/>
          </p:cNvSpPr>
          <p:nvPr/>
        </p:nvSpPr>
        <p:spPr bwMode="auto">
          <a:xfrm>
            <a:off x="1073150" y="1487488"/>
            <a:ext cx="3352800" cy="838200"/>
          </a:xfrm>
          <a:prstGeom prst="rect">
            <a:avLst/>
          </a:prstGeom>
          <a:pattFill prst="pct60">
            <a:fgClr>
              <a:srgbClr val="CC99FF"/>
            </a:fgClr>
            <a:bgClr>
              <a:srgbClr val="FFFFFF"/>
            </a:bgClr>
          </a:patt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有序序列</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R[1..i-1]</a:t>
            </a:r>
          </a:p>
        </p:txBody>
      </p:sp>
      <p:sp>
        <p:nvSpPr>
          <p:cNvPr id="1204229" name="Rectangle 5"/>
          <p:cNvSpPr>
            <a:spLocks noChangeArrowheads="1"/>
          </p:cNvSpPr>
          <p:nvPr/>
        </p:nvSpPr>
        <p:spPr bwMode="auto">
          <a:xfrm>
            <a:off x="4425950" y="2627313"/>
            <a:ext cx="577850" cy="838200"/>
          </a:xfrm>
          <a:prstGeom prst="rect">
            <a:avLst/>
          </a:prstGeom>
          <a:solidFill>
            <a:schemeClr val="accent2"/>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bg1"/>
                </a:solidFill>
                <a:effectLst/>
                <a:uLnTx/>
                <a:uFillTx/>
                <a:latin typeface="+mn-lt"/>
                <a:ea typeface="+mn-ea"/>
                <a:cs typeface="+mn-ea"/>
                <a:sym typeface="+mn-lt"/>
              </a:rPr>
              <a:t>R[i]</a:t>
            </a:r>
          </a:p>
        </p:txBody>
      </p:sp>
      <p:sp>
        <p:nvSpPr>
          <p:cNvPr id="1204230" name="Rectangle 6" descr="棚架"/>
          <p:cNvSpPr>
            <a:spLocks noChangeArrowheads="1"/>
          </p:cNvSpPr>
          <p:nvPr/>
        </p:nvSpPr>
        <p:spPr bwMode="auto">
          <a:xfrm>
            <a:off x="4425950" y="1484313"/>
            <a:ext cx="3384550" cy="838200"/>
          </a:xfrm>
          <a:prstGeom prst="rect">
            <a:avLst/>
          </a:prstGeom>
          <a:solidFill>
            <a:schemeClr val="bg2">
              <a:lumMod val="20000"/>
              <a:lumOff val="80000"/>
            </a:schemeClr>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1" i="0" u="none" strike="noStrike" kern="1200" cap="none" spc="0" normalizeH="0" baseline="0" noProof="0" dirty="0">
                <a:ln>
                  <a:noFill/>
                </a:ln>
                <a:solidFill>
                  <a:schemeClr val="tx1"/>
                </a:solidFill>
                <a:effectLst/>
                <a:uLnTx/>
                <a:uFillTx/>
                <a:latin typeface="+mn-lt"/>
                <a:ea typeface="+mn-ea"/>
                <a:cs typeface="+mn-ea"/>
                <a:sym typeface="+mn-lt"/>
              </a:rPr>
              <a:t>无序序列 </a:t>
            </a:r>
            <a:r>
              <a:rPr kumimoji="0" lang="en-US" altLang="zh-CN" sz="2800" b="1" i="0" u="none" strike="noStrike" kern="1200" cap="none" spc="0" normalizeH="0" baseline="0" noProof="0" dirty="0">
                <a:ln>
                  <a:noFill/>
                </a:ln>
                <a:solidFill>
                  <a:schemeClr val="tx1"/>
                </a:solidFill>
                <a:effectLst/>
                <a:uLnTx/>
                <a:uFillTx/>
                <a:latin typeface="+mn-lt"/>
                <a:ea typeface="+mn-ea"/>
                <a:cs typeface="+mn-ea"/>
                <a:sym typeface="+mn-lt"/>
              </a:rPr>
              <a:t>R[</a:t>
            </a:r>
            <a:r>
              <a:rPr kumimoji="0" lang="en-US" altLang="zh-CN" sz="2800" b="1"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800" b="1" i="0" u="none" strike="noStrike" kern="1200" cap="none" spc="0" normalizeH="0" baseline="0" noProof="0" dirty="0">
                <a:ln>
                  <a:noFill/>
                </a:ln>
                <a:solidFill>
                  <a:schemeClr val="tx1"/>
                </a:solidFill>
                <a:effectLst/>
                <a:uLnTx/>
                <a:uFillTx/>
                <a:latin typeface="+mn-lt"/>
                <a:ea typeface="+mn-ea"/>
                <a:cs typeface="+mn-ea"/>
                <a:sym typeface="+mn-lt"/>
              </a:rPr>
              <a:t>..n]</a:t>
            </a:r>
          </a:p>
        </p:txBody>
      </p:sp>
      <p:sp>
        <p:nvSpPr>
          <p:cNvPr id="30725" name="Text Box 7"/>
          <p:cNvSpPr txBox="1"/>
          <p:nvPr/>
        </p:nvSpPr>
        <p:spPr>
          <a:xfrm>
            <a:off x="827088" y="233363"/>
            <a:ext cx="3776662" cy="523875"/>
          </a:xfrm>
          <a:prstGeom prst="rect">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插入排序的基本思想：</a:t>
            </a:r>
          </a:p>
        </p:txBody>
      </p:sp>
      <p:sp>
        <p:nvSpPr>
          <p:cNvPr id="1204232" name="Rectangle 8" descr="60%"/>
          <p:cNvSpPr>
            <a:spLocks noChangeArrowheads="1"/>
          </p:cNvSpPr>
          <p:nvPr/>
        </p:nvSpPr>
        <p:spPr bwMode="auto">
          <a:xfrm>
            <a:off x="990600" y="4837113"/>
            <a:ext cx="3902075" cy="838200"/>
          </a:xfrm>
          <a:prstGeom prst="rect">
            <a:avLst/>
          </a:prstGeom>
          <a:pattFill prst="pct60">
            <a:fgClr>
              <a:srgbClr val="CC99FF"/>
            </a:fgClr>
            <a:bgClr>
              <a:srgbClr val="FFFFFF"/>
            </a:bgClr>
          </a:patt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有序序列</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R[1..i]</a:t>
            </a:r>
          </a:p>
        </p:txBody>
      </p:sp>
      <p:sp>
        <p:nvSpPr>
          <p:cNvPr id="1204233" name="Rectangle 9" descr="棚架"/>
          <p:cNvSpPr>
            <a:spLocks noChangeArrowheads="1"/>
          </p:cNvSpPr>
          <p:nvPr/>
        </p:nvSpPr>
        <p:spPr bwMode="auto">
          <a:xfrm>
            <a:off x="4892675" y="4837113"/>
            <a:ext cx="3200400" cy="838200"/>
          </a:xfrm>
          <a:prstGeom prst="rect">
            <a:avLst/>
          </a:prstGeom>
          <a:solidFill>
            <a:schemeClr val="bg2">
              <a:lumMod val="20000"/>
              <a:lumOff val="80000"/>
            </a:schemeClr>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无序序列 </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R[i+1..n]</a:t>
            </a:r>
          </a:p>
        </p:txBody>
      </p:sp>
      <p:cxnSp>
        <p:nvCxnSpPr>
          <p:cNvPr id="30728" name="AutoShape 10"/>
          <p:cNvCxnSpPr>
            <a:stCxn id="1204229" idx="1"/>
            <a:endCxn id="1204228" idx="2"/>
          </p:cNvCxnSpPr>
          <p:nvPr/>
        </p:nvCxnSpPr>
        <p:spPr>
          <a:xfrm rot="10800000">
            <a:off x="2749550" y="2325688"/>
            <a:ext cx="1676400" cy="720725"/>
          </a:xfrm>
          <a:prstGeom prst="bentConnector2">
            <a:avLst/>
          </a:prstGeom>
          <a:ln w="57150" cap="flat" cmpd="sng">
            <a:solidFill>
              <a:srgbClr val="FF0000"/>
            </a:solidFill>
            <a:prstDash val="solid"/>
            <a:miter/>
            <a:headEnd type="none" w="med" len="med"/>
            <a:tailEnd type="triangle" w="med" len="med"/>
          </a:ln>
        </p:spPr>
      </p:cxnSp>
      <p:sp>
        <p:nvSpPr>
          <p:cNvPr id="1204235" name="AutoShape 11"/>
          <p:cNvSpPr>
            <a:spLocks noChangeArrowheads="1"/>
          </p:cNvSpPr>
          <p:nvPr/>
        </p:nvSpPr>
        <p:spPr bwMode="auto">
          <a:xfrm>
            <a:off x="3233738" y="3313113"/>
            <a:ext cx="838200" cy="1371600"/>
          </a:xfrm>
          <a:prstGeom prst="downArrow">
            <a:avLst>
              <a:gd name="adj1" fmla="val 50000"/>
              <a:gd name="adj2" fmla="val 40894"/>
            </a:avLst>
          </a:prstGeom>
          <a:solidFill>
            <a:schemeClr val="hlink"/>
          </a:solidFill>
          <a:ln w="9525">
            <a:noFill/>
            <a:miter lim="800000"/>
          </a:ln>
        </p:spPr>
        <p:txBody>
          <a:bodyPr vert="eaVert"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4236" name="Line 12"/>
          <p:cNvSpPr>
            <a:spLocks noChangeShapeType="1"/>
          </p:cNvSpPr>
          <p:nvPr/>
        </p:nvSpPr>
        <p:spPr bwMode="auto">
          <a:xfrm>
            <a:off x="5002213" y="1484313"/>
            <a:ext cx="0" cy="838200"/>
          </a:xfrm>
          <a:prstGeom prst="line">
            <a:avLst/>
          </a:prstGeom>
          <a:noFill/>
          <a:ln w="9525">
            <a:solidFill>
              <a:schemeClr val="tx1"/>
            </a:solidFill>
            <a:prstDash val="dash"/>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4237" name="Line 13"/>
          <p:cNvSpPr>
            <a:spLocks noChangeShapeType="1"/>
          </p:cNvSpPr>
          <p:nvPr/>
        </p:nvSpPr>
        <p:spPr bwMode="auto">
          <a:xfrm>
            <a:off x="4960938" y="3465513"/>
            <a:ext cx="0" cy="1371600"/>
          </a:xfrm>
          <a:prstGeom prst="line">
            <a:avLst/>
          </a:prstGeom>
          <a:noFill/>
          <a:ln w="57150" cap="rnd">
            <a:solidFill>
              <a:srgbClr val="FF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04228"/>
                                        </p:tgtEl>
                                        <p:attrNameLst>
                                          <p:attrName>style.visibility</p:attrName>
                                        </p:attrNameLst>
                                      </p:cBhvr>
                                      <p:to>
                                        <p:strVal val="visible"/>
                                      </p:to>
                                    </p:set>
                                    <p:animEffect transition="in" filter="wipe(left)">
                                      <p:cBhvr>
                                        <p:cTn id="7" dur="500"/>
                                        <p:tgtEl>
                                          <p:spTgt spid="120422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04230"/>
                                        </p:tgtEl>
                                        <p:attrNameLst>
                                          <p:attrName>style.visibility</p:attrName>
                                        </p:attrNameLst>
                                      </p:cBhvr>
                                      <p:to>
                                        <p:strVal val="visible"/>
                                      </p:to>
                                    </p:set>
                                    <p:animEffect transition="in" filter="wipe(left)">
                                      <p:cBhvr>
                                        <p:cTn id="11" dur="500"/>
                                        <p:tgtEl>
                                          <p:spTgt spid="1204230"/>
                                        </p:tgtEl>
                                      </p:cBhvr>
                                    </p:animEffect>
                                  </p:childTnLst>
                                </p:cTn>
                              </p:par>
                            </p:childTnLst>
                          </p:cTn>
                        </p:par>
                      </p:childTnLst>
                    </p:cTn>
                  </p:par>
                  <p:par>
                    <p:cTn id="12" fill="hold">
                      <p:stCondLst>
                        <p:cond delay="indefinite"/>
                      </p:stCondLst>
                      <p:childTnLst>
                        <p:par>
                          <p:cTn id="13" fill="hold">
                            <p:stCondLst>
                              <p:cond delay="0"/>
                            </p:stCondLst>
                            <p:childTnLst>
                              <p:par>
                                <p:cTn id="14" presetID="17" presetClass="entr" presetSubtype="1" fill="hold" nodeType="clickEffect">
                                  <p:stCondLst>
                                    <p:cond delay="0"/>
                                  </p:stCondLst>
                                  <p:childTnLst>
                                    <p:set>
                                      <p:cBhvr>
                                        <p:cTn id="15" dur="1" fill="hold">
                                          <p:stCondLst>
                                            <p:cond delay="0"/>
                                          </p:stCondLst>
                                        </p:cTn>
                                        <p:tgtEl>
                                          <p:spTgt spid="1204236"/>
                                        </p:tgtEl>
                                        <p:attrNameLst>
                                          <p:attrName>style.visibility</p:attrName>
                                        </p:attrNameLst>
                                      </p:cBhvr>
                                      <p:to>
                                        <p:strVal val="visible"/>
                                      </p:to>
                                    </p:set>
                                    <p:anim calcmode="lin" valueType="num">
                                      <p:cBhvr>
                                        <p:cTn id="16" dur="500" fill="hold"/>
                                        <p:tgtEl>
                                          <p:spTgt spid="1204236"/>
                                        </p:tgtEl>
                                        <p:attrNameLst>
                                          <p:attrName>ppt_x</p:attrName>
                                        </p:attrNameLst>
                                      </p:cBhvr>
                                      <p:tavLst>
                                        <p:tav tm="0">
                                          <p:val>
                                            <p:strVal val="#ppt_x"/>
                                          </p:val>
                                        </p:tav>
                                        <p:tav tm="100000">
                                          <p:val>
                                            <p:strVal val="#ppt_x"/>
                                          </p:val>
                                        </p:tav>
                                      </p:tavLst>
                                    </p:anim>
                                    <p:anim calcmode="lin" valueType="num">
                                      <p:cBhvr>
                                        <p:cTn id="17" dur="500" fill="hold"/>
                                        <p:tgtEl>
                                          <p:spTgt spid="1204236"/>
                                        </p:tgtEl>
                                        <p:attrNameLst>
                                          <p:attrName>ppt_y</p:attrName>
                                        </p:attrNameLst>
                                      </p:cBhvr>
                                      <p:tavLst>
                                        <p:tav tm="0">
                                          <p:val>
                                            <p:strVal val="#ppt_y-#ppt_h/2"/>
                                          </p:val>
                                        </p:tav>
                                        <p:tav tm="100000">
                                          <p:val>
                                            <p:strVal val="#ppt_y"/>
                                          </p:val>
                                        </p:tav>
                                      </p:tavLst>
                                    </p:anim>
                                    <p:anim calcmode="lin" valueType="num">
                                      <p:cBhvr>
                                        <p:cTn id="18" dur="500" fill="hold"/>
                                        <p:tgtEl>
                                          <p:spTgt spid="1204236"/>
                                        </p:tgtEl>
                                        <p:attrNameLst>
                                          <p:attrName>ppt_w</p:attrName>
                                        </p:attrNameLst>
                                      </p:cBhvr>
                                      <p:tavLst>
                                        <p:tav tm="0">
                                          <p:val>
                                            <p:strVal val="#ppt_w"/>
                                          </p:val>
                                        </p:tav>
                                        <p:tav tm="100000">
                                          <p:val>
                                            <p:strVal val="#ppt_w"/>
                                          </p:val>
                                        </p:tav>
                                      </p:tavLst>
                                    </p:anim>
                                    <p:anim calcmode="lin" valueType="num">
                                      <p:cBhvr>
                                        <p:cTn id="19" dur="500" fill="hold"/>
                                        <p:tgtEl>
                                          <p:spTgt spid="1204236"/>
                                        </p:tgtEl>
                                        <p:attrNameLst>
                                          <p:attrName>ppt_h</p:attrName>
                                        </p:attrNameLst>
                                      </p:cBhvr>
                                      <p:tavLst>
                                        <p:tav tm="0">
                                          <p:val>
                                            <p:fltVal val="0"/>
                                          </p:val>
                                        </p:tav>
                                        <p:tav tm="100000">
                                          <p:val>
                                            <p:strVal val="#ppt_h"/>
                                          </p:val>
                                        </p:tav>
                                      </p:tavLst>
                                    </p:anim>
                                  </p:childTnLst>
                                </p:cTn>
                              </p:par>
                            </p:childTnLst>
                          </p:cTn>
                        </p:par>
                        <p:par>
                          <p:cTn id="20" fill="hold">
                            <p:stCondLst>
                              <p:cond delay="500"/>
                            </p:stCondLst>
                            <p:childTnLst>
                              <p:par>
                                <p:cTn id="21" presetID="12" presetClass="entr" presetSubtype="1" fill="hold" grpId="0" nodeType="afterEffect">
                                  <p:stCondLst>
                                    <p:cond delay="0"/>
                                  </p:stCondLst>
                                  <p:childTnLst>
                                    <p:set>
                                      <p:cBhvr>
                                        <p:cTn id="22" dur="1" fill="hold">
                                          <p:stCondLst>
                                            <p:cond delay="0"/>
                                          </p:stCondLst>
                                        </p:cTn>
                                        <p:tgtEl>
                                          <p:spTgt spid="1204229"/>
                                        </p:tgtEl>
                                        <p:attrNameLst>
                                          <p:attrName>style.visibility</p:attrName>
                                        </p:attrNameLst>
                                      </p:cBhvr>
                                      <p:to>
                                        <p:strVal val="visible"/>
                                      </p:to>
                                    </p:set>
                                    <p:animEffect transition="in" filter="slide(fromTop)">
                                      <p:cBhvr>
                                        <p:cTn id="23" dur="500"/>
                                        <p:tgtEl>
                                          <p:spTgt spid="1204229"/>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nodeType="clickEffect">
                                  <p:stCondLst>
                                    <p:cond delay="0"/>
                                  </p:stCondLst>
                                  <p:childTnLst>
                                    <p:set>
                                      <p:cBhvr>
                                        <p:cTn id="27" dur="1" fill="hold">
                                          <p:stCondLst>
                                            <p:cond delay="0"/>
                                          </p:stCondLst>
                                        </p:cTn>
                                        <p:tgtEl>
                                          <p:spTgt spid="30728"/>
                                        </p:tgtEl>
                                        <p:attrNameLst>
                                          <p:attrName>style.visibility</p:attrName>
                                        </p:attrNameLst>
                                      </p:cBhvr>
                                      <p:to>
                                        <p:strVal val="visible"/>
                                      </p:to>
                                    </p:set>
                                    <p:animEffect transition="in" filter="wipe(right)">
                                      <p:cBhvr>
                                        <p:cTn id="28" dur="500"/>
                                        <p:tgtEl>
                                          <p:spTgt spid="30728"/>
                                        </p:tgtEl>
                                      </p:cBhvr>
                                    </p:animEffect>
                                  </p:childTnLst>
                                </p:cTn>
                              </p:par>
                            </p:childTnLst>
                          </p:cTn>
                        </p:par>
                      </p:childTnLst>
                    </p:cTn>
                  </p:par>
                  <p:par>
                    <p:cTn id="29" fill="hold">
                      <p:stCondLst>
                        <p:cond delay="indefinite"/>
                      </p:stCondLst>
                      <p:childTnLst>
                        <p:par>
                          <p:cTn id="30" fill="hold">
                            <p:stCondLst>
                              <p:cond delay="0"/>
                            </p:stCondLst>
                            <p:childTnLst>
                              <p:par>
                                <p:cTn id="31" presetID="17" presetClass="entr" presetSubtype="1" fill="hold" grpId="0" nodeType="clickEffect">
                                  <p:stCondLst>
                                    <p:cond delay="0"/>
                                  </p:stCondLst>
                                  <p:childTnLst>
                                    <p:set>
                                      <p:cBhvr>
                                        <p:cTn id="32" dur="1" fill="hold">
                                          <p:stCondLst>
                                            <p:cond delay="0"/>
                                          </p:stCondLst>
                                        </p:cTn>
                                        <p:tgtEl>
                                          <p:spTgt spid="1204235"/>
                                        </p:tgtEl>
                                        <p:attrNameLst>
                                          <p:attrName>style.visibility</p:attrName>
                                        </p:attrNameLst>
                                      </p:cBhvr>
                                      <p:to>
                                        <p:strVal val="visible"/>
                                      </p:to>
                                    </p:set>
                                    <p:anim calcmode="lin" valueType="num">
                                      <p:cBhvr>
                                        <p:cTn id="33" dur="500" fill="hold"/>
                                        <p:tgtEl>
                                          <p:spTgt spid="1204235"/>
                                        </p:tgtEl>
                                        <p:attrNameLst>
                                          <p:attrName>ppt_x</p:attrName>
                                        </p:attrNameLst>
                                      </p:cBhvr>
                                      <p:tavLst>
                                        <p:tav tm="0">
                                          <p:val>
                                            <p:strVal val="#ppt_x"/>
                                          </p:val>
                                        </p:tav>
                                        <p:tav tm="100000">
                                          <p:val>
                                            <p:strVal val="#ppt_x"/>
                                          </p:val>
                                        </p:tav>
                                      </p:tavLst>
                                    </p:anim>
                                    <p:anim calcmode="lin" valueType="num">
                                      <p:cBhvr>
                                        <p:cTn id="34" dur="500" fill="hold"/>
                                        <p:tgtEl>
                                          <p:spTgt spid="1204235"/>
                                        </p:tgtEl>
                                        <p:attrNameLst>
                                          <p:attrName>ppt_y</p:attrName>
                                        </p:attrNameLst>
                                      </p:cBhvr>
                                      <p:tavLst>
                                        <p:tav tm="0">
                                          <p:val>
                                            <p:strVal val="#ppt_y-#ppt_h/2"/>
                                          </p:val>
                                        </p:tav>
                                        <p:tav tm="100000">
                                          <p:val>
                                            <p:strVal val="#ppt_y"/>
                                          </p:val>
                                        </p:tav>
                                      </p:tavLst>
                                    </p:anim>
                                    <p:anim calcmode="lin" valueType="num">
                                      <p:cBhvr>
                                        <p:cTn id="35" dur="500" fill="hold"/>
                                        <p:tgtEl>
                                          <p:spTgt spid="1204235"/>
                                        </p:tgtEl>
                                        <p:attrNameLst>
                                          <p:attrName>ppt_w</p:attrName>
                                        </p:attrNameLst>
                                      </p:cBhvr>
                                      <p:tavLst>
                                        <p:tav tm="0">
                                          <p:val>
                                            <p:strVal val="#ppt_w"/>
                                          </p:val>
                                        </p:tav>
                                        <p:tav tm="100000">
                                          <p:val>
                                            <p:strVal val="#ppt_w"/>
                                          </p:val>
                                        </p:tav>
                                      </p:tavLst>
                                    </p:anim>
                                    <p:anim calcmode="lin" valueType="num">
                                      <p:cBhvr>
                                        <p:cTn id="36" dur="500" fill="hold"/>
                                        <p:tgtEl>
                                          <p:spTgt spid="1204235"/>
                                        </p:tgtEl>
                                        <p:attrNameLst>
                                          <p:attrName>ppt_h</p:attrName>
                                        </p:attrNameLst>
                                      </p:cBhvr>
                                      <p:tavLst>
                                        <p:tav tm="0">
                                          <p:val>
                                            <p:fltVal val="0"/>
                                          </p:val>
                                        </p:tav>
                                        <p:tav tm="100000">
                                          <p:val>
                                            <p:strVal val="#ppt_h"/>
                                          </p:val>
                                        </p:tav>
                                      </p:tavLst>
                                    </p:anim>
                                  </p:childTnLst>
                                </p:cTn>
                              </p:par>
                            </p:childTnLst>
                          </p:cTn>
                        </p:par>
                        <p:par>
                          <p:cTn id="37" fill="hold">
                            <p:stCondLst>
                              <p:cond delay="500"/>
                            </p:stCondLst>
                            <p:childTnLst>
                              <p:par>
                                <p:cTn id="38" presetID="17" presetClass="entr" presetSubtype="1" fill="hold" nodeType="afterEffect">
                                  <p:stCondLst>
                                    <p:cond delay="0"/>
                                  </p:stCondLst>
                                  <p:childTnLst>
                                    <p:set>
                                      <p:cBhvr>
                                        <p:cTn id="39" dur="1" fill="hold">
                                          <p:stCondLst>
                                            <p:cond delay="0"/>
                                          </p:stCondLst>
                                        </p:cTn>
                                        <p:tgtEl>
                                          <p:spTgt spid="1204237"/>
                                        </p:tgtEl>
                                        <p:attrNameLst>
                                          <p:attrName>style.visibility</p:attrName>
                                        </p:attrNameLst>
                                      </p:cBhvr>
                                      <p:to>
                                        <p:strVal val="visible"/>
                                      </p:to>
                                    </p:set>
                                    <p:anim calcmode="lin" valueType="num">
                                      <p:cBhvr>
                                        <p:cTn id="40" dur="500" fill="hold"/>
                                        <p:tgtEl>
                                          <p:spTgt spid="1204237"/>
                                        </p:tgtEl>
                                        <p:attrNameLst>
                                          <p:attrName>ppt_x</p:attrName>
                                        </p:attrNameLst>
                                      </p:cBhvr>
                                      <p:tavLst>
                                        <p:tav tm="0">
                                          <p:val>
                                            <p:strVal val="#ppt_x"/>
                                          </p:val>
                                        </p:tav>
                                        <p:tav tm="100000">
                                          <p:val>
                                            <p:strVal val="#ppt_x"/>
                                          </p:val>
                                        </p:tav>
                                      </p:tavLst>
                                    </p:anim>
                                    <p:anim calcmode="lin" valueType="num">
                                      <p:cBhvr>
                                        <p:cTn id="41" dur="500" fill="hold"/>
                                        <p:tgtEl>
                                          <p:spTgt spid="1204237"/>
                                        </p:tgtEl>
                                        <p:attrNameLst>
                                          <p:attrName>ppt_y</p:attrName>
                                        </p:attrNameLst>
                                      </p:cBhvr>
                                      <p:tavLst>
                                        <p:tav tm="0">
                                          <p:val>
                                            <p:strVal val="#ppt_y-#ppt_h/2"/>
                                          </p:val>
                                        </p:tav>
                                        <p:tav tm="100000">
                                          <p:val>
                                            <p:strVal val="#ppt_y"/>
                                          </p:val>
                                        </p:tav>
                                      </p:tavLst>
                                    </p:anim>
                                    <p:anim calcmode="lin" valueType="num">
                                      <p:cBhvr>
                                        <p:cTn id="42" dur="500" fill="hold"/>
                                        <p:tgtEl>
                                          <p:spTgt spid="1204237"/>
                                        </p:tgtEl>
                                        <p:attrNameLst>
                                          <p:attrName>ppt_w</p:attrName>
                                        </p:attrNameLst>
                                      </p:cBhvr>
                                      <p:tavLst>
                                        <p:tav tm="0">
                                          <p:val>
                                            <p:strVal val="#ppt_w"/>
                                          </p:val>
                                        </p:tav>
                                        <p:tav tm="100000">
                                          <p:val>
                                            <p:strVal val="#ppt_w"/>
                                          </p:val>
                                        </p:tav>
                                      </p:tavLst>
                                    </p:anim>
                                    <p:anim calcmode="lin" valueType="num">
                                      <p:cBhvr>
                                        <p:cTn id="43" dur="500" fill="hold"/>
                                        <p:tgtEl>
                                          <p:spTgt spid="1204237"/>
                                        </p:tgtEl>
                                        <p:attrNameLst>
                                          <p:attrName>ppt_h</p:attrName>
                                        </p:attrNameLst>
                                      </p:cBhvr>
                                      <p:tavLst>
                                        <p:tav tm="0">
                                          <p:val>
                                            <p:fltVal val="0"/>
                                          </p:val>
                                        </p:tav>
                                        <p:tav tm="100000">
                                          <p:val>
                                            <p:strVal val="#ppt_h"/>
                                          </p:val>
                                        </p:tav>
                                      </p:tavLst>
                                    </p:anim>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1204232"/>
                                        </p:tgtEl>
                                        <p:attrNameLst>
                                          <p:attrName>style.visibility</p:attrName>
                                        </p:attrNameLst>
                                      </p:cBhvr>
                                      <p:to>
                                        <p:strVal val="visible"/>
                                      </p:to>
                                    </p:set>
                                    <p:animEffect transition="in" filter="wipe(left)">
                                      <p:cBhvr>
                                        <p:cTn id="48" dur="500"/>
                                        <p:tgtEl>
                                          <p:spTgt spid="1204232"/>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04233"/>
                                        </p:tgtEl>
                                        <p:attrNameLst>
                                          <p:attrName>style.visibility</p:attrName>
                                        </p:attrNameLst>
                                      </p:cBhvr>
                                      <p:to>
                                        <p:strVal val="visible"/>
                                      </p:to>
                                    </p:set>
                                    <p:animEffect transition="in" filter="wipe(left)">
                                      <p:cBhvr>
                                        <p:cTn id="52" dur="500"/>
                                        <p:tgtEl>
                                          <p:spTgt spid="12042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4228" grpId="0" animBg="1"/>
      <p:bldP spid="1204229" grpId="0" animBg="1"/>
      <p:bldP spid="1204230" grpId="0" animBg="1"/>
      <p:bldP spid="1204232" grpId="0" animBg="1"/>
      <p:bldP spid="1204233" grpId="0" animBg="1"/>
      <p:bldP spid="1204235"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ext Box 7"/>
          <p:cNvSpPr txBox="1"/>
          <p:nvPr/>
        </p:nvSpPr>
        <p:spPr>
          <a:xfrm>
            <a:off x="885825" y="215900"/>
            <a:ext cx="3776663" cy="523875"/>
          </a:xfrm>
          <a:prstGeom prst="rect">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插入排序的基本步骤</a:t>
            </a:r>
          </a:p>
        </p:txBody>
      </p:sp>
      <p:sp>
        <p:nvSpPr>
          <p:cNvPr id="10" name="Rectangle 1114"/>
          <p:cNvSpPr>
            <a:spLocks noChangeArrowheads="1"/>
          </p:cNvSpPr>
          <p:nvPr/>
        </p:nvSpPr>
        <p:spPr bwMode="auto">
          <a:xfrm>
            <a:off x="1870075" y="1917700"/>
            <a:ext cx="6769100" cy="904863"/>
          </a:xfrm>
          <a:prstGeom prst="rect">
            <a:avLst/>
          </a:prstGeom>
          <a:noFill/>
          <a:ln>
            <a:noFill/>
          </a:ln>
        </p:spPr>
        <p:txBody>
          <a:bodyPr>
            <a:spAutoFit/>
          </a:bodyPr>
          <a:lstStyle>
            <a:lvl1pPr>
              <a:defRPr sz="2400" b="1">
                <a:solidFill>
                  <a:schemeClr val="tx1"/>
                </a:solidFill>
                <a:latin typeface="Times New Roman" panose="02020603050405020304" pitchFamily="18" charset="0"/>
                <a:ea typeface="楷体_GB2312" pitchFamily="49" charset="-122"/>
              </a:defRPr>
            </a:lvl1pPr>
            <a:lvl2pPr>
              <a:defRPr sz="2400" b="1">
                <a:solidFill>
                  <a:schemeClr val="tx1"/>
                </a:solidFill>
                <a:latin typeface="Times New Roman" panose="02020603050405020304" pitchFamily="18" charset="0"/>
                <a:ea typeface="楷体_GB2312" pitchFamily="49" charset="-122"/>
              </a:defRPr>
            </a:lvl2pPr>
            <a:lvl3pPr>
              <a:defRPr sz="2400" b="1">
                <a:solidFill>
                  <a:schemeClr val="tx1"/>
                </a:solidFill>
                <a:latin typeface="Times New Roman" panose="02020603050405020304" pitchFamily="18" charset="0"/>
                <a:ea typeface="楷体_GB2312" pitchFamily="49" charset="-122"/>
              </a:defRPr>
            </a:lvl3pPr>
            <a:lvl4pPr>
              <a:defRPr sz="2400" b="1">
                <a:solidFill>
                  <a:schemeClr val="tx1"/>
                </a:solidFill>
                <a:latin typeface="Times New Roman" panose="02020603050405020304" pitchFamily="18" charset="0"/>
                <a:ea typeface="楷体_GB2312" pitchFamily="49" charset="-122"/>
              </a:defRPr>
            </a:lvl4pPr>
            <a:lvl5pPr>
              <a:defRPr sz="24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pt-BR" sz="2400" b="0" i="0" u="none" strike="noStrike" kern="1200" cap="none" spc="0" normalizeH="0" baseline="0" noProof="0" dirty="0">
                <a:ln>
                  <a:noFill/>
                </a:ln>
                <a:solidFill>
                  <a:srgbClr val="000000"/>
                </a:solidFill>
                <a:effectLst/>
                <a:uLnTx/>
                <a:uFillTx/>
                <a:latin typeface="+mn-lt"/>
                <a:ea typeface="+mn-ea"/>
                <a:cs typeface="+mn-ea"/>
                <a:sym typeface="+mn-lt"/>
              </a:rPr>
              <a:t>在</a:t>
            </a:r>
            <a:r>
              <a:rPr kumimoji="0" lang="pt-BR" altLang="zh-CN" sz="2400" b="0" i="0" u="none" strike="noStrike" kern="1200" cap="none" spc="0" normalizeH="0" baseline="0" noProof="0" dirty="0">
                <a:ln>
                  <a:noFill/>
                </a:ln>
                <a:solidFill>
                  <a:srgbClr val="000000"/>
                </a:solidFill>
                <a:effectLst/>
                <a:uLnTx/>
                <a:uFillTx/>
                <a:latin typeface="+mn-lt"/>
                <a:ea typeface="+mn-ea"/>
                <a:cs typeface="+mn-ea"/>
                <a:sym typeface="+mn-lt"/>
              </a:rPr>
              <a:t>R[1..i-1]</a:t>
            </a:r>
            <a:r>
              <a:rPr kumimoji="0" lang="zh-CN" altLang="pt-BR" sz="2400" b="0" i="0" u="none" strike="noStrike" kern="1200" cap="none" spc="0" normalizeH="0" baseline="0" noProof="0" dirty="0">
                <a:ln>
                  <a:noFill/>
                </a:ln>
                <a:solidFill>
                  <a:srgbClr val="000000"/>
                </a:solidFill>
                <a:effectLst/>
                <a:uLnTx/>
                <a:uFillTx/>
                <a:latin typeface="+mn-lt"/>
                <a:ea typeface="+mn-ea"/>
                <a:cs typeface="+mn-ea"/>
                <a:sym typeface="+mn-lt"/>
              </a:rPr>
              <a:t>中查找</a:t>
            </a:r>
            <a:r>
              <a:rPr kumimoji="0" lang="pt-BR" altLang="zh-CN" sz="2400" b="0" i="0" u="none" strike="noStrike" kern="1200" cap="none" spc="0" normalizeH="0" baseline="0" noProof="0" dirty="0">
                <a:ln>
                  <a:noFill/>
                </a:ln>
                <a:solidFill>
                  <a:srgbClr val="000000"/>
                </a:solidFill>
                <a:effectLst/>
                <a:uLnTx/>
                <a:uFillTx/>
                <a:latin typeface="+mn-lt"/>
                <a:ea typeface="+mn-ea"/>
                <a:cs typeface="+mn-ea"/>
                <a:sym typeface="+mn-lt"/>
              </a:rPr>
              <a:t>R[i]</a:t>
            </a:r>
            <a:r>
              <a:rPr kumimoji="0" lang="zh-CN" altLang="pt-BR" sz="2400" b="0" i="0" u="none" strike="noStrike" kern="1200" cap="none" spc="0" normalizeH="0" baseline="0" noProof="0" dirty="0">
                <a:ln>
                  <a:noFill/>
                </a:ln>
                <a:solidFill>
                  <a:srgbClr val="000000"/>
                </a:solidFill>
                <a:effectLst/>
                <a:uLnTx/>
                <a:uFillTx/>
                <a:latin typeface="+mn-lt"/>
                <a:ea typeface="+mn-ea"/>
                <a:cs typeface="+mn-ea"/>
                <a:sym typeface="+mn-lt"/>
              </a:rPr>
              <a:t>的插入位置，</a:t>
            </a:r>
          </a:p>
          <a:p>
            <a:pPr lvl="0" eaLnBrk="1" hangingPunct="1">
              <a:spcBef>
                <a:spcPct val="20000"/>
              </a:spcBef>
              <a:defRPr/>
            </a:pPr>
            <a:r>
              <a:rPr kumimoji="0" lang="pt-BR" altLang="zh-CN" sz="2400" b="0" i="0" u="none" strike="noStrike" kern="1200" cap="none" spc="0" normalizeH="0" baseline="0" noProof="0" dirty="0">
                <a:ln>
                  <a:noFill/>
                </a:ln>
                <a:solidFill>
                  <a:srgbClr val="000000"/>
                </a:solidFill>
                <a:effectLst/>
                <a:uLnTx/>
                <a:uFillTx/>
                <a:latin typeface="+mn-lt"/>
                <a:ea typeface="+mn-ea"/>
                <a:cs typeface="+mn-ea"/>
                <a:sym typeface="+mn-lt"/>
              </a:rPr>
              <a:t>R[1..j].key</a:t>
            </a:r>
            <a:r>
              <a:rPr kumimoji="1" lang="en-US" altLang="zh-CN" dirty="0">
                <a:solidFill>
                  <a:srgbClr val="FF0000"/>
                </a:solidFill>
                <a:latin typeface="楷体_GB2312" pitchFamily="49" charset="-122"/>
                <a:sym typeface="Symbol" panose="05050102010706020507" pitchFamily="18" charset="2"/>
              </a:rPr>
              <a:t></a:t>
            </a:r>
            <a:r>
              <a:rPr kumimoji="0" lang="pt-BR" altLang="zh-CN" sz="2400" b="0" i="0" u="none" strike="noStrike" kern="1200" cap="none" spc="0" normalizeH="0" baseline="0" noProof="0" dirty="0">
                <a:ln>
                  <a:noFill/>
                </a:ln>
                <a:solidFill>
                  <a:srgbClr val="FF0000"/>
                </a:solidFill>
                <a:effectLst/>
                <a:uLnTx/>
                <a:uFillTx/>
                <a:latin typeface="+mn-lt"/>
                <a:ea typeface="+mn-ea"/>
                <a:cs typeface="+mn-ea"/>
                <a:sym typeface="+mn-lt"/>
              </a:rPr>
              <a:t> R[i].key</a:t>
            </a:r>
            <a:r>
              <a:rPr kumimoji="0" lang="pt-BR" altLang="zh-CN" sz="2400" b="0" i="0" u="none" strike="noStrike" kern="1200" cap="none" spc="0" normalizeH="0" baseline="0" noProof="0" dirty="0">
                <a:ln>
                  <a:noFill/>
                </a:ln>
                <a:solidFill>
                  <a:srgbClr val="000000"/>
                </a:solidFill>
                <a:effectLst/>
                <a:uLnTx/>
                <a:uFillTx/>
                <a:latin typeface="+mn-lt"/>
                <a:ea typeface="+mn-ea"/>
                <a:cs typeface="+mn-ea"/>
                <a:sym typeface="+mn-lt"/>
              </a:rPr>
              <a:t>&lt; R[j+1..i-1].key</a:t>
            </a:r>
            <a:r>
              <a:rPr kumimoji="0" lang="zh-CN" altLang="pt-BR" sz="2400" b="0" i="0" u="none" strike="noStrike" kern="1200" cap="none" spc="0" normalizeH="0" baseline="0" noProof="0" dirty="0">
                <a:ln>
                  <a:noFill/>
                </a:ln>
                <a:solidFill>
                  <a:srgbClr val="000000"/>
                </a:solidFill>
                <a:effectLst/>
                <a:uLnTx/>
                <a:uFillTx/>
                <a:latin typeface="+mn-lt"/>
                <a:ea typeface="+mn-ea"/>
                <a:cs typeface="+mn-ea"/>
                <a:sym typeface="+mn-lt"/>
              </a:rPr>
              <a:t>；</a:t>
            </a:r>
          </a:p>
        </p:txBody>
      </p:sp>
      <p:grpSp>
        <p:nvGrpSpPr>
          <p:cNvPr id="11" name="组合 28"/>
          <p:cNvGrpSpPr/>
          <p:nvPr/>
        </p:nvGrpSpPr>
        <p:grpSpPr>
          <a:xfrm>
            <a:off x="890588" y="2043113"/>
            <a:ext cx="590550" cy="627062"/>
            <a:chOff x="6242320" y="1105887"/>
            <a:chExt cx="589786" cy="626357"/>
          </a:xfrm>
        </p:grpSpPr>
        <p:sp>
          <p:nvSpPr>
            <p:cNvPr id="31761" name="TextBox 6"/>
            <p:cNvSpPr txBox="1"/>
            <p:nvPr/>
          </p:nvSpPr>
          <p:spPr>
            <a:xfrm>
              <a:off x="6327934" y="1105887"/>
              <a:ext cx="475634" cy="491572"/>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pPr>
              <a:r>
                <a:rPr lang="en-US" altLang="zh-CN" sz="3200" b="1" dirty="0">
                  <a:solidFill>
                    <a:srgbClr val="FF9900"/>
                  </a:solidFill>
                  <a:sym typeface="+mn-lt"/>
                </a:rPr>
                <a:t>01</a:t>
              </a:r>
              <a:endParaRPr lang="zh-CN" altLang="en-US" sz="3200" b="1" dirty="0">
                <a:solidFill>
                  <a:srgbClr val="FF9900"/>
                </a:solidFill>
                <a:sym typeface="+mn-lt"/>
              </a:endParaRPr>
            </a:p>
          </p:txBody>
        </p:sp>
        <p:sp>
          <p:nvSpPr>
            <p:cNvPr id="31762" name="文本框 22"/>
            <p:cNvSpPr txBox="1"/>
            <p:nvPr/>
          </p:nvSpPr>
          <p:spPr>
            <a:xfrm>
              <a:off x="6242320" y="1516587"/>
              <a:ext cx="589786" cy="215657"/>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pPr>
              <a:r>
                <a:rPr lang="en-US" altLang="zh-CN" sz="800" b="1" dirty="0">
                  <a:solidFill>
                    <a:srgbClr val="818181"/>
                  </a:solidFill>
                  <a:sym typeface="+mn-lt"/>
                </a:rPr>
                <a:t>OPTION</a:t>
              </a:r>
              <a:endParaRPr lang="zh-CN" altLang="en-US" sz="800" b="1" dirty="0">
                <a:solidFill>
                  <a:srgbClr val="818181"/>
                </a:solidFill>
                <a:sym typeface="+mn-lt"/>
              </a:endParaRPr>
            </a:p>
          </p:txBody>
        </p:sp>
      </p:grpSp>
      <p:grpSp>
        <p:nvGrpSpPr>
          <p:cNvPr id="14" name="组合 45"/>
          <p:cNvGrpSpPr/>
          <p:nvPr/>
        </p:nvGrpSpPr>
        <p:grpSpPr>
          <a:xfrm>
            <a:off x="908050" y="3000375"/>
            <a:ext cx="590550" cy="631825"/>
            <a:chOff x="6242320" y="2373259"/>
            <a:chExt cx="589786" cy="631715"/>
          </a:xfrm>
        </p:grpSpPr>
        <p:sp>
          <p:nvSpPr>
            <p:cNvPr id="31759" name="TextBox 6"/>
            <p:cNvSpPr txBox="1"/>
            <p:nvPr/>
          </p:nvSpPr>
          <p:spPr>
            <a:xfrm>
              <a:off x="6327934" y="2373259"/>
              <a:ext cx="458194" cy="492039"/>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pPr>
              <a:r>
                <a:rPr lang="en-US" altLang="zh-CN" sz="3200" dirty="0">
                  <a:solidFill>
                    <a:srgbClr val="6C4C8F"/>
                  </a:solidFill>
                  <a:sym typeface="+mn-lt"/>
                </a:rPr>
                <a:t>02</a:t>
              </a:r>
              <a:endParaRPr lang="zh-CN" altLang="en-US" sz="3200" dirty="0">
                <a:solidFill>
                  <a:srgbClr val="6C4C8F"/>
                </a:solidFill>
                <a:sym typeface="+mn-lt"/>
              </a:endParaRPr>
            </a:p>
          </p:txBody>
        </p:sp>
        <p:sp>
          <p:nvSpPr>
            <p:cNvPr id="31760" name="文本框 23"/>
            <p:cNvSpPr txBox="1"/>
            <p:nvPr/>
          </p:nvSpPr>
          <p:spPr>
            <a:xfrm>
              <a:off x="6242320" y="2789112"/>
              <a:ext cx="589786" cy="215862"/>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pPr>
              <a:r>
                <a:rPr lang="en-US" altLang="zh-CN" sz="800" b="1" dirty="0">
                  <a:solidFill>
                    <a:srgbClr val="818181"/>
                  </a:solidFill>
                  <a:sym typeface="+mn-lt"/>
                </a:rPr>
                <a:t>OPTION</a:t>
              </a:r>
              <a:endParaRPr lang="zh-CN" altLang="en-US" sz="800" b="1" dirty="0">
                <a:solidFill>
                  <a:srgbClr val="818181"/>
                </a:solidFill>
                <a:sym typeface="+mn-lt"/>
              </a:endParaRPr>
            </a:p>
          </p:txBody>
        </p:sp>
      </p:grpSp>
      <p:grpSp>
        <p:nvGrpSpPr>
          <p:cNvPr id="17" name="组合 48"/>
          <p:cNvGrpSpPr/>
          <p:nvPr/>
        </p:nvGrpSpPr>
        <p:grpSpPr>
          <a:xfrm>
            <a:off x="862013" y="3938588"/>
            <a:ext cx="590550" cy="620712"/>
            <a:chOff x="6242320" y="3640826"/>
            <a:chExt cx="589786" cy="620331"/>
          </a:xfrm>
        </p:grpSpPr>
        <p:sp>
          <p:nvSpPr>
            <p:cNvPr id="31757" name="TextBox 6"/>
            <p:cNvSpPr txBox="1"/>
            <p:nvPr/>
          </p:nvSpPr>
          <p:spPr>
            <a:xfrm>
              <a:off x="6327934" y="3640826"/>
              <a:ext cx="504172" cy="491823"/>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pPr>
              <a:r>
                <a:rPr lang="en-US" altLang="zh-CN" sz="3200" dirty="0">
                  <a:solidFill>
                    <a:srgbClr val="76AEDD"/>
                  </a:solidFill>
                  <a:sym typeface="+mn-lt"/>
                </a:rPr>
                <a:t>03</a:t>
              </a:r>
              <a:endParaRPr lang="zh-CN" altLang="en-US" sz="3200" dirty="0">
                <a:solidFill>
                  <a:srgbClr val="76AEDD"/>
                </a:solidFill>
                <a:sym typeface="+mn-lt"/>
              </a:endParaRPr>
            </a:p>
          </p:txBody>
        </p:sp>
        <p:sp>
          <p:nvSpPr>
            <p:cNvPr id="31758" name="文本框 24"/>
            <p:cNvSpPr txBox="1"/>
            <p:nvPr/>
          </p:nvSpPr>
          <p:spPr>
            <a:xfrm>
              <a:off x="6242320" y="4045390"/>
              <a:ext cx="589786" cy="215767"/>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pPr>
              <a:r>
                <a:rPr lang="en-US" altLang="zh-CN" sz="800" b="1" dirty="0">
                  <a:solidFill>
                    <a:srgbClr val="818181"/>
                  </a:solidFill>
                  <a:sym typeface="+mn-lt"/>
                </a:rPr>
                <a:t>OPTION</a:t>
              </a:r>
              <a:endParaRPr lang="zh-CN" altLang="en-US" sz="800" b="1" dirty="0">
                <a:solidFill>
                  <a:srgbClr val="818181"/>
                </a:solidFill>
                <a:sym typeface="+mn-lt"/>
              </a:endParaRPr>
            </a:p>
          </p:txBody>
        </p:sp>
      </p:grpSp>
      <p:cxnSp>
        <p:nvCxnSpPr>
          <p:cNvPr id="20" name="直接连接符 53"/>
          <p:cNvCxnSpPr/>
          <p:nvPr/>
        </p:nvCxnSpPr>
        <p:spPr>
          <a:xfrm>
            <a:off x="976313" y="2817813"/>
            <a:ext cx="7662862" cy="0"/>
          </a:xfrm>
          <a:prstGeom prst="line">
            <a:avLst/>
          </a:prstGeom>
          <a:ln w="9525" cap="flat" cmpd="sng">
            <a:solidFill>
              <a:srgbClr val="7F7F7F"/>
            </a:solidFill>
            <a:prstDash val="dash"/>
            <a:headEnd type="none" w="med" len="med"/>
            <a:tailEnd type="none" w="med" len="med"/>
          </a:ln>
        </p:spPr>
      </p:cxnSp>
      <p:sp>
        <p:nvSpPr>
          <p:cNvPr id="21" name="Rectangle 1105"/>
          <p:cNvSpPr>
            <a:spLocks noChangeArrowheads="1"/>
          </p:cNvSpPr>
          <p:nvPr/>
        </p:nvSpPr>
        <p:spPr bwMode="auto">
          <a:xfrm>
            <a:off x="1865313" y="3070225"/>
            <a:ext cx="6769100" cy="423863"/>
          </a:xfrm>
          <a:prstGeom prst="rect">
            <a:avLst/>
          </a:prstGeom>
          <a:noFill/>
          <a:ln>
            <a:noFill/>
          </a:ln>
        </p:spPr>
        <p:txBody>
          <a:bodyPr>
            <a:spAutoFit/>
          </a:bodyPr>
          <a:lstStyle>
            <a:lvl1pPr>
              <a:defRPr sz="2400" b="1">
                <a:solidFill>
                  <a:schemeClr val="tx1"/>
                </a:solidFill>
                <a:latin typeface="Times New Roman" panose="02020603050405020304" pitchFamily="18" charset="0"/>
                <a:ea typeface="楷体_GB2312" pitchFamily="49" charset="-122"/>
              </a:defRPr>
            </a:lvl1pPr>
            <a:lvl2pPr>
              <a:defRPr sz="2400" b="1">
                <a:solidFill>
                  <a:schemeClr val="tx1"/>
                </a:solidFill>
                <a:latin typeface="Times New Roman" panose="02020603050405020304" pitchFamily="18" charset="0"/>
                <a:ea typeface="楷体_GB2312" pitchFamily="49" charset="-122"/>
              </a:defRPr>
            </a:lvl2pPr>
            <a:lvl3pPr>
              <a:defRPr sz="2400" b="1">
                <a:solidFill>
                  <a:schemeClr val="tx1"/>
                </a:solidFill>
                <a:latin typeface="Times New Roman" panose="02020603050405020304" pitchFamily="18" charset="0"/>
                <a:ea typeface="楷体_GB2312" pitchFamily="49" charset="-122"/>
              </a:defRPr>
            </a:lvl3pPr>
            <a:lvl4pPr>
              <a:defRPr sz="2400" b="1">
                <a:solidFill>
                  <a:schemeClr val="tx1"/>
                </a:solidFill>
                <a:latin typeface="Times New Roman" panose="02020603050405020304" pitchFamily="18" charset="0"/>
                <a:ea typeface="楷体_GB2312" pitchFamily="49" charset="-122"/>
              </a:defRPr>
            </a:lvl4pPr>
            <a:lvl5pPr>
              <a:defRPr sz="24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9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000000"/>
                </a:solidFill>
                <a:effectLst/>
                <a:uLnTx/>
                <a:uFillTx/>
                <a:latin typeface="+mn-lt"/>
                <a:ea typeface="+mn-ea"/>
                <a:cs typeface="+mn-ea"/>
                <a:sym typeface="+mn-lt"/>
              </a:rPr>
              <a:t>将</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R[j+1..i-1]</a:t>
            </a:r>
            <a:r>
              <a:rPr kumimoji="0" lang="zh-CN" altLang="en-US" sz="2400" b="0" i="0" u="none" strike="noStrike" kern="1200" cap="none" spc="0" normalizeH="0" baseline="0" noProof="0" dirty="0">
                <a:ln>
                  <a:noFill/>
                </a:ln>
                <a:solidFill>
                  <a:srgbClr val="000000"/>
                </a:solidFill>
                <a:effectLst/>
                <a:uLnTx/>
                <a:uFillTx/>
                <a:latin typeface="+mn-lt"/>
                <a:ea typeface="+mn-ea"/>
                <a:cs typeface="+mn-ea"/>
                <a:sym typeface="+mn-lt"/>
              </a:rPr>
              <a:t>中的所有记录均后移一个位置；</a:t>
            </a:r>
          </a:p>
        </p:txBody>
      </p:sp>
      <p:sp>
        <p:nvSpPr>
          <p:cNvPr id="22" name="Rectangle 1106"/>
          <p:cNvSpPr>
            <a:spLocks noChangeArrowheads="1"/>
          </p:cNvSpPr>
          <p:nvPr/>
        </p:nvSpPr>
        <p:spPr bwMode="auto">
          <a:xfrm>
            <a:off x="1865313" y="4011613"/>
            <a:ext cx="6769100" cy="547688"/>
          </a:xfrm>
          <a:prstGeom prst="rect">
            <a:avLst/>
          </a:prstGeom>
          <a:noFill/>
          <a:ln>
            <a:noFill/>
          </a:ln>
        </p:spPr>
        <p:txBody>
          <a:bodyPr/>
          <a:lstStyle>
            <a:lvl1pPr>
              <a:defRPr sz="2400" b="1">
                <a:solidFill>
                  <a:schemeClr val="tx1"/>
                </a:solidFill>
                <a:latin typeface="Times New Roman" panose="02020603050405020304" pitchFamily="18" charset="0"/>
                <a:ea typeface="楷体_GB2312" pitchFamily="49" charset="-122"/>
              </a:defRPr>
            </a:lvl1pPr>
            <a:lvl2pPr>
              <a:defRPr sz="2400" b="1">
                <a:solidFill>
                  <a:schemeClr val="tx1"/>
                </a:solidFill>
                <a:latin typeface="Times New Roman" panose="02020603050405020304" pitchFamily="18" charset="0"/>
                <a:ea typeface="楷体_GB2312" pitchFamily="49" charset="-122"/>
              </a:defRPr>
            </a:lvl2pPr>
            <a:lvl3pPr>
              <a:defRPr sz="2400" b="1">
                <a:solidFill>
                  <a:schemeClr val="tx1"/>
                </a:solidFill>
                <a:latin typeface="Times New Roman" panose="02020603050405020304" pitchFamily="18" charset="0"/>
                <a:ea typeface="楷体_GB2312" pitchFamily="49" charset="-122"/>
              </a:defRPr>
            </a:lvl3pPr>
            <a:lvl4pPr>
              <a:defRPr sz="2400" b="1">
                <a:solidFill>
                  <a:schemeClr val="tx1"/>
                </a:solidFill>
                <a:latin typeface="Times New Roman" panose="02020603050405020304" pitchFamily="18" charset="0"/>
                <a:ea typeface="楷体_GB2312" pitchFamily="49" charset="-122"/>
              </a:defRPr>
            </a:lvl4pPr>
            <a:lvl5pPr>
              <a:defRPr sz="24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000000"/>
                </a:solidFill>
                <a:effectLst/>
                <a:uLnTx/>
                <a:uFillTx/>
                <a:latin typeface="+mn-lt"/>
                <a:ea typeface="+mn-ea"/>
                <a:cs typeface="+mn-ea"/>
                <a:sym typeface="+mn-lt"/>
              </a:rPr>
              <a:t>将</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R[</a:t>
            </a:r>
            <a:r>
              <a:rPr kumimoji="0" lang="en-US" altLang="zh-CN" sz="2400" b="0" i="0" u="none" strike="noStrike" kern="1200" cap="none" spc="0" normalizeH="0" baseline="0" noProof="0" dirty="0" err="1">
                <a:ln>
                  <a:noFill/>
                </a:ln>
                <a:solidFill>
                  <a:srgbClr val="000000"/>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rgbClr val="000000"/>
                </a:solidFill>
                <a:effectLst/>
                <a:uLnTx/>
                <a:uFillTx/>
                <a:latin typeface="+mn-lt"/>
                <a:ea typeface="+mn-ea"/>
                <a:cs typeface="+mn-ea"/>
                <a:sym typeface="+mn-lt"/>
              </a:rPr>
              <a:t>插入到</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R[j+1]</a:t>
            </a:r>
            <a:r>
              <a:rPr kumimoji="0" lang="zh-CN" altLang="en-US" sz="2400" b="0" i="0" u="none" strike="noStrike" kern="1200" cap="none" spc="0" normalizeH="0" baseline="0" noProof="0" dirty="0">
                <a:ln>
                  <a:noFill/>
                </a:ln>
                <a:solidFill>
                  <a:srgbClr val="000000"/>
                </a:solidFill>
                <a:effectLst/>
                <a:uLnTx/>
                <a:uFillTx/>
                <a:latin typeface="+mn-lt"/>
                <a:ea typeface="+mn-ea"/>
                <a:cs typeface="+mn-ea"/>
                <a:sym typeface="+mn-lt"/>
              </a:rPr>
              <a:t>的位置上。</a:t>
            </a:r>
          </a:p>
        </p:txBody>
      </p:sp>
      <p:cxnSp>
        <p:nvCxnSpPr>
          <p:cNvPr id="23" name="直接连接符 56"/>
          <p:cNvCxnSpPr/>
          <p:nvPr/>
        </p:nvCxnSpPr>
        <p:spPr>
          <a:xfrm>
            <a:off x="976313" y="3746500"/>
            <a:ext cx="7662862" cy="0"/>
          </a:xfrm>
          <a:prstGeom prst="line">
            <a:avLst/>
          </a:prstGeom>
          <a:ln w="9525" cap="flat" cmpd="sng">
            <a:solidFill>
              <a:srgbClr val="7F7F7F"/>
            </a:solidFill>
            <a:prstDash val="dash"/>
            <a:headEnd type="none" w="med" len="med"/>
            <a:tailEnd type="none" w="med" len="med"/>
          </a:ln>
        </p:spPr>
      </p:cxnSp>
      <p:cxnSp>
        <p:nvCxnSpPr>
          <p:cNvPr id="24" name="直接连接符 57"/>
          <p:cNvCxnSpPr/>
          <p:nvPr/>
        </p:nvCxnSpPr>
        <p:spPr>
          <a:xfrm>
            <a:off x="976313" y="4724400"/>
            <a:ext cx="7662862" cy="0"/>
          </a:xfrm>
          <a:prstGeom prst="line">
            <a:avLst/>
          </a:prstGeom>
          <a:ln w="9525" cap="flat" cmpd="sng">
            <a:solidFill>
              <a:srgbClr val="7F7F7F"/>
            </a:solidFill>
            <a:prstDash val="dash"/>
            <a:headEnd type="none" w="med" len="med"/>
            <a:tailEnd type="none" w="med" len="med"/>
          </a:ln>
        </p:spPr>
      </p:cxnSp>
      <p:sp>
        <p:nvSpPr>
          <p:cNvPr id="28"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500"/>
                                        <p:tgtEl>
                                          <p:spTgt spid="10"/>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wipe(left)">
                                      <p:cBhvr>
                                        <p:cTn id="15" dur="500"/>
                                        <p:tgtEl>
                                          <p:spTgt spid="20"/>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left)">
                                      <p:cBhvr>
                                        <p:cTn id="19" dur="500"/>
                                        <p:tgtEl>
                                          <p:spTgt spid="1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wipe(left)">
                                      <p:cBhvr>
                                        <p:cTn id="27" dur="500"/>
                                        <p:tgtEl>
                                          <p:spTgt spid="23"/>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wipe(left)">
                                      <p:cBhvr>
                                        <p:cTn id="35" dur="500"/>
                                        <p:tgtEl>
                                          <p:spTgt spid="22"/>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wipe(left)">
                                      <p:cBhvr>
                                        <p:cTn id="39" dur="500"/>
                                        <p:tgtEl>
                                          <p:spTgt spid="24"/>
                                        </p:tgtEl>
                                      </p:cBhvr>
                                    </p:animEffect>
                                  </p:childTnLst>
                                </p:cTn>
                              </p:par>
                              <p:par>
                                <p:cTn id="40" presetID="42" presetClass="entr" presetSubtype="0" fill="hold" nodeType="with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1000"/>
                                        <p:tgtEl>
                                          <p:spTgt spid="28"/>
                                        </p:tgtEl>
                                      </p:cBhvr>
                                    </p:animEffect>
                                    <p:anim calcmode="lin" valueType="num">
                                      <p:cBhvr>
                                        <p:cTn id="43" dur="1000" fill="hold"/>
                                        <p:tgtEl>
                                          <p:spTgt spid="28"/>
                                        </p:tgtEl>
                                        <p:attrNameLst>
                                          <p:attrName>ppt_x</p:attrName>
                                        </p:attrNameLst>
                                      </p:cBhvr>
                                      <p:tavLst>
                                        <p:tav tm="0">
                                          <p:val>
                                            <p:strVal val="#ppt_x"/>
                                          </p:val>
                                        </p:tav>
                                        <p:tav tm="100000">
                                          <p:val>
                                            <p:strVal val="#ppt_x"/>
                                          </p:val>
                                        </p:tav>
                                      </p:tavLst>
                                    </p:anim>
                                    <p:anim calcmode="lin" valueType="num">
                                      <p:cBhvr>
                                        <p:cTn id="44"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21" grpId="0"/>
      <p:bldP spid="2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7060" name="Text Box 4">
            <a:hlinkClick r:id="" action="ppaction://noaction"/>
          </p:cNvPr>
          <p:cNvSpPr txBox="1">
            <a:spLocks noChangeArrowheads="1"/>
          </p:cNvSpPr>
          <p:nvPr/>
        </p:nvSpPr>
        <p:spPr bwMode="auto">
          <a:xfrm>
            <a:off x="992188" y="873125"/>
            <a:ext cx="8370888" cy="581025"/>
          </a:xfrm>
          <a:prstGeom prst="rect">
            <a:avLst/>
          </a:prstGeom>
          <a:noFill/>
          <a:ln w="9525">
            <a:noFill/>
            <a:miter lim="800000"/>
          </a:ln>
          <a:effectLst/>
        </p:spPr>
        <p:txBody>
          <a:bodyPr>
            <a:spAutoFit/>
          </a:bodyPr>
          <a:lstStyle/>
          <a:p>
            <a:pPr marR="0" defTabSz="914400" eaLnBrk="1" hangingPunct="1">
              <a:lnSpc>
                <a:spcPct val="125000"/>
              </a:lnSpc>
              <a:buClrTx/>
              <a:buSzTx/>
              <a:buFontTx/>
              <a:buNone/>
              <a:defRPr/>
            </a:pPr>
            <a:r>
              <a:rPr kumimoji="1" lang="zh-CN" altLang="en-US" b="0" kern="1200" cap="none" spc="0" normalizeH="0" baseline="0" noProof="0" dirty="0">
                <a:latin typeface="+mn-lt"/>
                <a:ea typeface="+mn-ea"/>
                <a:cs typeface="+mn-ea"/>
                <a:sym typeface="+mn-lt"/>
              </a:rPr>
              <a:t>从</a:t>
            </a:r>
            <a:r>
              <a:rPr kumimoji="1" lang="en-US" altLang="zh-CN" b="0" kern="1200" cap="none" spc="0" normalizeH="0" baseline="0" noProof="0" dirty="0">
                <a:latin typeface="+mn-lt"/>
                <a:ea typeface="+mn-ea"/>
                <a:cs typeface="+mn-ea"/>
                <a:sym typeface="+mn-lt"/>
              </a:rPr>
              <a:t>R[i-1]</a:t>
            </a:r>
            <a:r>
              <a:rPr kumimoji="1" lang="zh-CN" altLang="en-US" b="0" kern="1200" cap="none" spc="0" normalizeH="0" baseline="0" noProof="0" dirty="0">
                <a:latin typeface="+mn-lt"/>
                <a:ea typeface="+mn-ea"/>
                <a:cs typeface="+mn-ea"/>
                <a:sym typeface="+mn-lt"/>
              </a:rPr>
              <a:t>向前进行顺序查找，监视哨设置在</a:t>
            </a:r>
            <a:r>
              <a:rPr kumimoji="1" lang="en-US" altLang="zh-CN" b="0" kern="1200" cap="none" spc="0" normalizeH="0" baseline="0" noProof="0" dirty="0">
                <a:latin typeface="+mn-lt"/>
                <a:ea typeface="+mn-ea"/>
                <a:cs typeface="+mn-ea"/>
                <a:sym typeface="+mn-lt"/>
              </a:rPr>
              <a:t>R[0]</a:t>
            </a:r>
          </a:p>
        </p:txBody>
      </p:sp>
      <p:pic>
        <p:nvPicPr>
          <p:cNvPr id="1197061" name="Picture 5" descr="Green Ball">
            <a:hlinkClick r:id="" action="ppaction://noaction"/>
          </p:cNvPr>
          <p:cNvPicPr>
            <a:picLocks noChangeAspect="1"/>
          </p:cNvPicPr>
          <p:nvPr/>
        </p:nvPicPr>
        <p:blipFill>
          <a:blip r:embed="rId2"/>
          <a:stretch>
            <a:fillRect/>
          </a:stretch>
        </p:blipFill>
        <p:spPr>
          <a:xfrm>
            <a:off x="382588" y="1101725"/>
            <a:ext cx="304800" cy="304800"/>
          </a:xfrm>
          <a:prstGeom prst="rect">
            <a:avLst/>
          </a:prstGeom>
          <a:noFill/>
          <a:ln w="9525">
            <a:noFill/>
          </a:ln>
        </p:spPr>
      </p:pic>
      <p:sp>
        <p:nvSpPr>
          <p:cNvPr id="1197062" name="Text Box 6"/>
          <p:cNvSpPr txBox="1">
            <a:spLocks noChangeArrowheads="1"/>
          </p:cNvSpPr>
          <p:nvPr/>
        </p:nvSpPr>
        <p:spPr bwMode="auto">
          <a:xfrm>
            <a:off x="963613" y="3808413"/>
            <a:ext cx="7502525" cy="2074863"/>
          </a:xfrm>
          <a:prstGeom prst="rect">
            <a:avLst/>
          </a:prstGeom>
          <a:noFill/>
          <a:ln w="9525">
            <a:noFill/>
            <a:miter lim="800000"/>
          </a:ln>
          <a:effectLst/>
        </p:spPr>
        <p:txBody>
          <a:bodyPr>
            <a:spAutoFit/>
          </a:bodyPr>
          <a:lstStyle/>
          <a:p>
            <a:pPr marR="0" defTabSz="914400" eaLnBrk="1" hangingPunct="1">
              <a:lnSpc>
                <a:spcPct val="140000"/>
              </a:lnSpc>
              <a:buClrTx/>
              <a:buSzTx/>
              <a:buFontTx/>
              <a:buNone/>
              <a:defRPr/>
            </a:pPr>
            <a:r>
              <a:rPr kumimoji="1" lang="en-US" altLang="zh-CN" sz="2400" b="0" kern="1200" cap="none" spc="0" normalizeH="0" baseline="0" noProof="0" dirty="0">
                <a:latin typeface="+mn-lt"/>
                <a:ea typeface="+mn-ea"/>
                <a:cs typeface="+mn-ea"/>
                <a:sym typeface="+mn-lt"/>
              </a:rPr>
              <a:t>if( </a:t>
            </a:r>
            <a:r>
              <a:rPr kumimoji="1" lang="en-US" altLang="zh-CN" sz="2400" b="0" kern="1200" cap="none" spc="0" normalizeH="0" baseline="0" noProof="0" dirty="0" err="1">
                <a:latin typeface="+mn-lt"/>
                <a:ea typeface="+mn-ea"/>
                <a:cs typeface="+mn-ea"/>
                <a:sym typeface="+mn-lt"/>
              </a:rPr>
              <a:t>L.r</a:t>
            </a:r>
            <a:r>
              <a:rPr kumimoji="1" lang="en-US" altLang="zh-CN" sz="2400" b="0" kern="1200" cap="none" spc="0" normalizeH="0" baseline="0" noProof="0" dirty="0">
                <a:latin typeface="+mn-lt"/>
                <a:ea typeface="+mn-ea"/>
                <a:cs typeface="+mn-ea"/>
                <a:sym typeface="+mn-lt"/>
              </a:rPr>
              <a:t>[</a:t>
            </a:r>
            <a:r>
              <a:rPr kumimoji="1" lang="en-US" altLang="zh-CN" sz="2400" b="0" kern="1200" cap="none" spc="0" normalizeH="0" baseline="0" noProof="0" dirty="0" err="1">
                <a:latin typeface="+mn-lt"/>
                <a:ea typeface="+mn-ea"/>
                <a:cs typeface="+mn-ea"/>
                <a:sym typeface="+mn-lt"/>
              </a:rPr>
              <a:t>i</a:t>
            </a:r>
            <a:r>
              <a:rPr kumimoji="1" lang="en-US" altLang="zh-CN" sz="2400" b="0" kern="1200" cap="none" spc="0" normalizeH="0" baseline="0" noProof="0" dirty="0">
                <a:latin typeface="+mn-lt"/>
                <a:ea typeface="+mn-ea"/>
                <a:cs typeface="+mn-ea"/>
                <a:sym typeface="+mn-lt"/>
              </a:rPr>
              <a:t>].key&lt;</a:t>
            </a:r>
            <a:r>
              <a:rPr kumimoji="1" lang="en-US" altLang="zh-CN" sz="2400" b="0" kern="1200" cap="none" spc="0" normalizeH="0" baseline="0" noProof="0" dirty="0" err="1">
                <a:latin typeface="+mn-lt"/>
                <a:ea typeface="+mn-ea"/>
                <a:cs typeface="+mn-ea"/>
                <a:sym typeface="+mn-lt"/>
              </a:rPr>
              <a:t>L.r</a:t>
            </a:r>
            <a:r>
              <a:rPr kumimoji="1" lang="en-US" altLang="zh-CN" sz="2400" b="0" kern="1200" cap="none" spc="0" normalizeH="0" baseline="0" noProof="0" dirty="0">
                <a:latin typeface="+mn-lt"/>
                <a:ea typeface="+mn-ea"/>
                <a:cs typeface="+mn-ea"/>
                <a:sym typeface="+mn-lt"/>
              </a:rPr>
              <a:t>[i-1].key){</a:t>
            </a:r>
          </a:p>
          <a:p>
            <a:pPr marR="0" defTabSz="914400" eaLnBrk="1" hangingPunct="1">
              <a:lnSpc>
                <a:spcPct val="140000"/>
              </a:lnSpc>
              <a:buClrTx/>
              <a:buSzTx/>
              <a:buFontTx/>
              <a:buNone/>
              <a:defRPr/>
            </a:pPr>
            <a:r>
              <a:rPr kumimoji="1" lang="en-US" altLang="zh-CN" sz="2400" b="0" kern="1200" cap="none" spc="0" normalizeH="0" baseline="0" noProof="0" dirty="0">
                <a:solidFill>
                  <a:schemeClr val="hlink"/>
                </a:solidFill>
                <a:latin typeface="+mn-lt"/>
                <a:ea typeface="+mn-ea"/>
                <a:cs typeface="+mn-ea"/>
                <a:sym typeface="+mn-lt"/>
              </a:rPr>
              <a:t>    R[0] = R[</a:t>
            </a:r>
            <a:r>
              <a:rPr kumimoji="1" lang="en-US" altLang="zh-CN" sz="2400" b="0" kern="1200" cap="none" spc="0" normalizeH="0" baseline="0" noProof="0" dirty="0" err="1">
                <a:solidFill>
                  <a:schemeClr val="hlink"/>
                </a:solidFill>
                <a:latin typeface="+mn-lt"/>
                <a:ea typeface="+mn-ea"/>
                <a:cs typeface="+mn-ea"/>
                <a:sym typeface="+mn-lt"/>
              </a:rPr>
              <a:t>i</a:t>
            </a:r>
            <a:r>
              <a:rPr kumimoji="1" lang="en-US" altLang="zh-CN" sz="2400" b="0" kern="1200" cap="none" spc="0" normalizeH="0" baseline="0" noProof="0" dirty="0">
                <a:solidFill>
                  <a:schemeClr val="hlink"/>
                </a:solidFill>
                <a:latin typeface="+mn-lt"/>
                <a:ea typeface="+mn-ea"/>
                <a:cs typeface="+mn-ea"/>
                <a:sym typeface="+mn-lt"/>
              </a:rPr>
              <a:t>]; // </a:t>
            </a:r>
            <a:r>
              <a:rPr kumimoji="1" lang="zh-CN" altLang="en-US" sz="2400" b="0" kern="1200" cap="none" spc="0" normalizeH="0" baseline="0" noProof="0" dirty="0">
                <a:solidFill>
                  <a:schemeClr val="hlink"/>
                </a:solidFill>
                <a:latin typeface="+mn-lt"/>
                <a:ea typeface="+mn-ea"/>
                <a:cs typeface="+mn-ea"/>
                <a:sym typeface="+mn-lt"/>
              </a:rPr>
              <a:t>设置“哨兵”           </a:t>
            </a:r>
            <a:r>
              <a:rPr kumimoji="1" lang="en-US" altLang="zh-CN" sz="2400" b="0" kern="1200" cap="none" spc="0" normalizeH="0" baseline="0" noProof="0" dirty="0">
                <a:solidFill>
                  <a:schemeClr val="hlink"/>
                </a:solidFill>
                <a:latin typeface="+mn-lt"/>
                <a:ea typeface="+mn-ea"/>
                <a:cs typeface="+mn-ea"/>
                <a:sym typeface="+mn-lt"/>
              </a:rPr>
              <a:t>R[</a:t>
            </a:r>
            <a:r>
              <a:rPr kumimoji="1" lang="en-US" altLang="zh-CN" sz="2400" b="0" kern="1200" cap="none" spc="0" normalizeH="0" baseline="0" noProof="0" dirty="0" err="1">
                <a:solidFill>
                  <a:schemeClr val="hlink"/>
                </a:solidFill>
                <a:latin typeface="+mn-lt"/>
                <a:ea typeface="+mn-ea"/>
                <a:cs typeface="+mn-ea"/>
                <a:sym typeface="+mn-lt"/>
              </a:rPr>
              <a:t>i</a:t>
            </a:r>
            <a:r>
              <a:rPr kumimoji="1" lang="en-US" altLang="zh-CN" sz="2400" b="0" kern="1200" cap="none" spc="0" normalizeH="0" baseline="0" noProof="0" dirty="0">
                <a:solidFill>
                  <a:schemeClr val="hlink"/>
                </a:solidFill>
                <a:latin typeface="+mn-lt"/>
                <a:ea typeface="+mn-ea"/>
                <a:cs typeface="+mn-ea"/>
                <a:sym typeface="+mn-lt"/>
              </a:rPr>
              <a:t>] = R[i-1];</a:t>
            </a:r>
          </a:p>
          <a:p>
            <a:pPr marR="0" defTabSz="914400" eaLnBrk="1" hangingPunct="1">
              <a:lnSpc>
                <a:spcPct val="140000"/>
              </a:lnSpc>
              <a:buClrTx/>
              <a:buSzTx/>
              <a:buFontTx/>
              <a:buNone/>
              <a:defRPr/>
            </a:pPr>
            <a:r>
              <a:rPr kumimoji="1" lang="en-US" altLang="zh-CN" sz="2400" b="0" kern="1200" cap="none" spc="0" normalizeH="0" baseline="0" noProof="0" dirty="0">
                <a:latin typeface="+mn-lt"/>
                <a:ea typeface="+mn-ea"/>
                <a:cs typeface="+mn-ea"/>
                <a:sym typeface="+mn-lt"/>
              </a:rPr>
              <a:t> </a:t>
            </a:r>
            <a:r>
              <a:rPr kumimoji="1" lang="en-US" altLang="zh-CN" sz="2400" b="0" kern="1200" cap="none" spc="0" normalizeH="0" baseline="0" noProof="0" dirty="0">
                <a:solidFill>
                  <a:schemeClr val="hlink"/>
                </a:solidFill>
                <a:latin typeface="+mn-lt"/>
                <a:ea typeface="+mn-ea"/>
                <a:cs typeface="+mn-ea"/>
                <a:sym typeface="+mn-lt"/>
              </a:rPr>
              <a:t>for (j=i-2; R[0].key&lt;R[j].key; --j)        R[j+1] = R[j];</a:t>
            </a:r>
          </a:p>
          <a:p>
            <a:pPr marR="0" defTabSz="914400" eaLnBrk="1" hangingPunct="1">
              <a:lnSpc>
                <a:spcPct val="140000"/>
              </a:lnSpc>
              <a:buClrTx/>
              <a:buSzTx/>
              <a:buFontTx/>
              <a:buNone/>
              <a:defRPr/>
            </a:pPr>
            <a:endParaRPr kumimoji="1" lang="en-US" altLang="zh-CN" sz="2000" b="0" kern="1200" cap="none" spc="0" normalizeH="0" baseline="0" noProof="0" dirty="0">
              <a:solidFill>
                <a:schemeClr val="hlink"/>
              </a:solidFill>
              <a:latin typeface="+mn-lt"/>
              <a:ea typeface="+mn-ea"/>
              <a:cs typeface="+mn-ea"/>
              <a:sym typeface="+mn-lt"/>
            </a:endParaRPr>
          </a:p>
        </p:txBody>
      </p:sp>
      <p:sp>
        <p:nvSpPr>
          <p:cNvPr id="1197064" name="Rectangle 8" descr="大棋盘"/>
          <p:cNvSpPr>
            <a:spLocks noChangeArrowheads="1"/>
          </p:cNvSpPr>
          <p:nvPr/>
        </p:nvSpPr>
        <p:spPr bwMode="auto">
          <a:xfrm>
            <a:off x="1508125" y="1638300"/>
            <a:ext cx="3124200" cy="304800"/>
          </a:xfrm>
          <a:prstGeom prst="rect">
            <a:avLst/>
          </a:prstGeom>
          <a:pattFill prst="lgCheck">
            <a:fgClr>
              <a:srgbClr val="CCFFFF"/>
            </a:fgClr>
            <a:bgClr>
              <a:srgbClr val="FFFFFF"/>
            </a:bgClr>
          </a:patt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7065" name="Rectangle 9"/>
          <p:cNvSpPr>
            <a:spLocks noChangeArrowheads="1"/>
          </p:cNvSpPr>
          <p:nvPr/>
        </p:nvSpPr>
        <p:spPr bwMode="auto">
          <a:xfrm>
            <a:off x="1203325" y="1638300"/>
            <a:ext cx="304800" cy="304800"/>
          </a:xfrm>
          <a:prstGeom prst="rect">
            <a:avLst/>
          </a:prstGeom>
          <a:solidFill>
            <a:schemeClr val="bg2">
              <a:lumMod val="20000"/>
              <a:lumOff val="80000"/>
            </a:schemeClr>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7067" name="Line 11"/>
          <p:cNvSpPr>
            <a:spLocks noChangeShapeType="1"/>
          </p:cNvSpPr>
          <p:nvPr/>
        </p:nvSpPr>
        <p:spPr bwMode="auto">
          <a:xfrm>
            <a:off x="4479925" y="1943100"/>
            <a:ext cx="0" cy="762000"/>
          </a:xfrm>
          <a:prstGeom prst="line">
            <a:avLst/>
          </a:prstGeom>
          <a:noFill/>
          <a:ln w="38100">
            <a:solidFill>
              <a:srgbClr val="FF0000"/>
            </a:solidFill>
            <a:round/>
            <a:headEnd type="stealth" w="med" len="lg"/>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7068" name="Line 12"/>
          <p:cNvSpPr>
            <a:spLocks noChangeShapeType="1"/>
          </p:cNvSpPr>
          <p:nvPr/>
        </p:nvSpPr>
        <p:spPr bwMode="auto">
          <a:xfrm>
            <a:off x="3184525" y="1943100"/>
            <a:ext cx="0" cy="762000"/>
          </a:xfrm>
          <a:prstGeom prst="line">
            <a:avLst/>
          </a:prstGeom>
          <a:noFill/>
          <a:ln w="57150">
            <a:solidFill>
              <a:srgbClr val="FF0000"/>
            </a:solidFill>
            <a:round/>
            <a:headEnd type="stealth" w="med" len="lg"/>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7069" name="Text Box 13"/>
          <p:cNvSpPr txBox="1">
            <a:spLocks noChangeArrowheads="1"/>
          </p:cNvSpPr>
          <p:nvPr/>
        </p:nvSpPr>
        <p:spPr bwMode="auto">
          <a:xfrm>
            <a:off x="3206750" y="2095500"/>
            <a:ext cx="587375" cy="6413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3600" b="0" i="0" u="none" strike="noStrike" kern="1200" cap="none" spc="0" normalizeH="0" baseline="0" noProof="0">
                <a:ln>
                  <a:noFill/>
                </a:ln>
                <a:solidFill>
                  <a:schemeClr val="bg1"/>
                </a:solidFill>
                <a:effectLst/>
                <a:uLnTx/>
                <a:uFillTx/>
                <a:latin typeface="+mn-lt"/>
                <a:ea typeface="+mn-ea"/>
                <a:cs typeface="+mn-ea"/>
                <a:sym typeface="+mn-lt"/>
              </a:rPr>
              <a:t>j</a:t>
            </a:r>
            <a:endParaRPr kumimoji="0" lang="en-US" altLang="zh-CN"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7070" name="Rectangle 14" descr="60%"/>
          <p:cNvSpPr>
            <a:spLocks noChangeArrowheads="1"/>
          </p:cNvSpPr>
          <p:nvPr/>
        </p:nvSpPr>
        <p:spPr bwMode="auto">
          <a:xfrm>
            <a:off x="3336925" y="1638300"/>
            <a:ext cx="1295400" cy="304800"/>
          </a:xfrm>
          <a:prstGeom prst="rect">
            <a:avLst/>
          </a:prstGeom>
          <a:pattFill prst="pct60">
            <a:fgClr>
              <a:srgbClr val="FF99FF"/>
            </a:fgClr>
            <a:bgClr>
              <a:srgbClr val="FFFFFF"/>
            </a:bgClr>
          </a:patt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7071" name="Rectangle 15"/>
          <p:cNvSpPr>
            <a:spLocks noChangeArrowheads="1"/>
          </p:cNvSpPr>
          <p:nvPr/>
        </p:nvSpPr>
        <p:spPr bwMode="auto">
          <a:xfrm>
            <a:off x="4632325" y="1638300"/>
            <a:ext cx="3429000" cy="304800"/>
          </a:xfrm>
          <a:prstGeom prst="rect">
            <a:avLst/>
          </a:prstGeom>
          <a:solidFill>
            <a:schemeClr val="hlink"/>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7072" name="Rectangle 16"/>
          <p:cNvSpPr>
            <a:spLocks noChangeArrowheads="1"/>
          </p:cNvSpPr>
          <p:nvPr/>
        </p:nvSpPr>
        <p:spPr bwMode="auto">
          <a:xfrm>
            <a:off x="4632325" y="1638300"/>
            <a:ext cx="304800" cy="304800"/>
          </a:xfrm>
          <a:prstGeom prst="rect">
            <a:avLst/>
          </a:prstGeom>
          <a:solidFill>
            <a:schemeClr val="bg2">
              <a:lumMod val="20000"/>
              <a:lumOff val="80000"/>
            </a:schemeClr>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7073" name="Rectangle 17"/>
          <p:cNvSpPr>
            <a:spLocks noChangeArrowheads="1"/>
          </p:cNvSpPr>
          <p:nvPr/>
        </p:nvSpPr>
        <p:spPr bwMode="auto">
          <a:xfrm>
            <a:off x="4941888" y="1104900"/>
            <a:ext cx="777875" cy="519113"/>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chemeClr val="bg1"/>
                </a:solidFill>
                <a:effectLst/>
                <a:uLnTx/>
                <a:uFillTx/>
                <a:latin typeface="+mn-lt"/>
                <a:ea typeface="+mn-ea"/>
                <a:cs typeface="+mn-ea"/>
                <a:sym typeface="+mn-lt"/>
              </a:rPr>
              <a:t>R[i]</a:t>
            </a:r>
          </a:p>
        </p:txBody>
      </p:sp>
      <p:sp>
        <p:nvSpPr>
          <p:cNvPr id="1197075" name="Text Box 19"/>
          <p:cNvSpPr txBox="1">
            <a:spLocks noChangeArrowheads="1"/>
          </p:cNvSpPr>
          <p:nvPr/>
        </p:nvSpPr>
        <p:spPr bwMode="auto">
          <a:xfrm>
            <a:off x="3968750" y="2247900"/>
            <a:ext cx="968375" cy="519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chemeClr val="tx1"/>
                </a:solidFill>
                <a:effectLst/>
                <a:uLnTx/>
                <a:uFillTx/>
                <a:latin typeface="+mn-lt"/>
                <a:ea typeface="+mn-ea"/>
                <a:cs typeface="+mn-ea"/>
                <a:sym typeface="+mn-lt"/>
              </a:rPr>
              <a:t>i-1</a:t>
            </a:r>
          </a:p>
        </p:txBody>
      </p:sp>
      <p:sp>
        <p:nvSpPr>
          <p:cNvPr id="1197076" name="AutoShape 20"/>
          <p:cNvSpPr>
            <a:spLocks noChangeArrowheads="1"/>
          </p:cNvSpPr>
          <p:nvPr/>
        </p:nvSpPr>
        <p:spPr bwMode="auto">
          <a:xfrm>
            <a:off x="4692650" y="2538413"/>
            <a:ext cx="2030413" cy="457200"/>
          </a:xfrm>
          <a:prstGeom prst="wedgeRoundRectCallout">
            <a:avLst>
              <a:gd name="adj1" fmla="val -57242"/>
              <a:gd name="adj2" fmla="val -192708"/>
              <a:gd name="adj3" fmla="val 16667"/>
            </a:avLst>
          </a:prstGeom>
          <a:solidFill>
            <a:srgbClr val="6C4C8F"/>
          </a:solidFill>
          <a:ln w="12700">
            <a:solidFill>
              <a:srgbClr val="8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插入位置</a:t>
            </a:r>
          </a:p>
        </p:txBody>
      </p:sp>
      <p:sp>
        <p:nvSpPr>
          <p:cNvPr id="32784" name="Text Box 21"/>
          <p:cNvSpPr txBox="1"/>
          <p:nvPr/>
        </p:nvSpPr>
        <p:spPr>
          <a:xfrm>
            <a:off x="903288" y="200025"/>
            <a:ext cx="8240712" cy="519113"/>
          </a:xfrm>
          <a:prstGeom prst="rect">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直接插入排序</a:t>
            </a:r>
          </a:p>
        </p:txBody>
      </p:sp>
      <p:sp>
        <p:nvSpPr>
          <p:cNvPr id="1197079" name="Text Box 23"/>
          <p:cNvSpPr txBox="1">
            <a:spLocks noChangeArrowheads="1"/>
          </p:cNvSpPr>
          <p:nvPr/>
        </p:nvSpPr>
        <p:spPr bwMode="auto">
          <a:xfrm>
            <a:off x="963613" y="3251200"/>
            <a:ext cx="7607300" cy="582613"/>
          </a:xfrm>
          <a:prstGeom prst="rect">
            <a:avLst/>
          </a:prstGeom>
          <a:noFill/>
          <a:ln w="9525">
            <a:noFill/>
            <a:miter lim="800000"/>
          </a:ln>
          <a:effectLst/>
        </p:spPr>
        <p:txBody>
          <a:bodyPr>
            <a:spAutoFit/>
          </a:bodyPr>
          <a:lstStyle/>
          <a:p>
            <a:pPr marR="0" defTabSz="914400" eaLnBrk="1" hangingPunct="1">
              <a:lnSpc>
                <a:spcPct val="125000"/>
              </a:lnSpc>
              <a:buClrTx/>
              <a:buSzTx/>
              <a:buFontTx/>
              <a:buNone/>
              <a:defRPr/>
            </a:pPr>
            <a:r>
              <a:rPr kumimoji="1" lang="zh-CN" altLang="en-US" b="0" kern="1200" cap="none" spc="0" normalizeH="0" baseline="0" noProof="0" dirty="0">
                <a:latin typeface="+mn-lt"/>
                <a:ea typeface="+mn-ea"/>
                <a:cs typeface="+mn-ea"/>
                <a:sym typeface="+mn-lt"/>
              </a:rPr>
              <a:t>关键字大于</a:t>
            </a:r>
            <a:r>
              <a:rPr kumimoji="1" lang="en-US" altLang="zh-CN" b="0" kern="1200" cap="none" spc="0" normalizeH="0" baseline="0" noProof="0" dirty="0">
                <a:latin typeface="+mn-lt"/>
                <a:ea typeface="+mn-ea"/>
                <a:cs typeface="+mn-ea"/>
                <a:sym typeface="+mn-lt"/>
              </a:rPr>
              <a:t>R[</a:t>
            </a:r>
            <a:r>
              <a:rPr kumimoji="1" lang="en-US" altLang="zh-CN" b="0" kern="1200" cap="none" spc="0" normalizeH="0" baseline="0" noProof="0" dirty="0" err="1">
                <a:latin typeface="+mn-lt"/>
                <a:ea typeface="+mn-ea"/>
                <a:cs typeface="+mn-ea"/>
                <a:sym typeface="+mn-lt"/>
              </a:rPr>
              <a:t>i</a:t>
            </a:r>
            <a:r>
              <a:rPr kumimoji="1" lang="en-US" altLang="zh-CN" b="0" kern="1200" cap="none" spc="0" normalizeH="0" baseline="0" noProof="0" dirty="0">
                <a:latin typeface="+mn-lt"/>
                <a:ea typeface="+mn-ea"/>
                <a:cs typeface="+mn-ea"/>
                <a:sym typeface="+mn-lt"/>
              </a:rPr>
              <a:t>].key</a:t>
            </a:r>
            <a:r>
              <a:rPr kumimoji="1" lang="zh-CN" altLang="en-US" b="0" kern="1200" cap="none" spc="0" normalizeH="0" baseline="0" noProof="0" dirty="0">
                <a:latin typeface="+mn-lt"/>
                <a:ea typeface="+mn-ea"/>
                <a:cs typeface="+mn-ea"/>
                <a:sym typeface="+mn-lt"/>
              </a:rPr>
              <a:t>的记录向后移动</a:t>
            </a:r>
          </a:p>
        </p:txBody>
      </p:sp>
      <p:pic>
        <p:nvPicPr>
          <p:cNvPr id="1197080" name="Picture 24" descr="Green Ball">
            <a:hlinkClick r:id="" action="ppaction://noaction"/>
          </p:cNvPr>
          <p:cNvPicPr>
            <a:picLocks noChangeAspect="1"/>
          </p:cNvPicPr>
          <p:nvPr/>
        </p:nvPicPr>
        <p:blipFill>
          <a:blip r:embed="rId2"/>
          <a:stretch>
            <a:fillRect/>
          </a:stretch>
        </p:blipFill>
        <p:spPr>
          <a:xfrm>
            <a:off x="417513" y="3494088"/>
            <a:ext cx="304800" cy="304800"/>
          </a:xfrm>
          <a:prstGeom prst="rect">
            <a:avLst/>
          </a:prstGeom>
          <a:noFill/>
          <a:ln w="9525">
            <a:noFill/>
          </a:ln>
        </p:spPr>
      </p:pic>
      <p:sp>
        <p:nvSpPr>
          <p:cNvPr id="1197081" name="Text Box 25"/>
          <p:cNvSpPr txBox="1">
            <a:spLocks noChangeArrowheads="1"/>
          </p:cNvSpPr>
          <p:nvPr/>
        </p:nvSpPr>
        <p:spPr bwMode="auto">
          <a:xfrm>
            <a:off x="963613" y="5529263"/>
            <a:ext cx="6751638" cy="1050925"/>
          </a:xfrm>
          <a:prstGeom prst="rect">
            <a:avLst/>
          </a:prstGeom>
          <a:noFill/>
          <a:ln w="9525">
            <a:noFill/>
            <a:miter lim="800000"/>
          </a:ln>
          <a:effectLst/>
        </p:spPr>
        <p:txBody>
          <a:bodyPr>
            <a:spAutoFit/>
          </a:bodyPr>
          <a:lstStyle/>
          <a:p>
            <a:pPr marR="0" defTabSz="914400" eaLnBrk="1" hangingPunct="1">
              <a:lnSpc>
                <a:spcPct val="125000"/>
              </a:lnSpc>
              <a:buClrTx/>
              <a:buSzTx/>
              <a:buFontTx/>
              <a:buNone/>
              <a:defRPr/>
            </a:pPr>
            <a:r>
              <a:rPr kumimoji="1" lang="zh-CN" altLang="en-US" b="0" kern="1200" cap="none" spc="0" normalizeH="0" baseline="0" noProof="0" dirty="0">
                <a:latin typeface="+mn-lt"/>
                <a:ea typeface="+mn-ea"/>
                <a:cs typeface="+mn-ea"/>
                <a:sym typeface="+mn-lt"/>
              </a:rPr>
              <a:t>循环结束表明</a:t>
            </a:r>
            <a:r>
              <a:rPr kumimoji="1" lang="en-US" altLang="zh-CN" b="0" kern="1200" cap="none" spc="0" normalizeH="0" baseline="0" noProof="0" dirty="0">
                <a:latin typeface="+mn-lt"/>
                <a:ea typeface="+mn-ea"/>
                <a:cs typeface="+mn-ea"/>
                <a:sym typeface="+mn-lt"/>
              </a:rPr>
              <a:t>R[</a:t>
            </a:r>
            <a:r>
              <a:rPr kumimoji="1" lang="en-US" altLang="zh-CN" b="0" kern="1200" cap="none" spc="0" normalizeH="0" baseline="0" noProof="0" dirty="0" err="1">
                <a:latin typeface="+mn-lt"/>
                <a:ea typeface="+mn-ea"/>
                <a:cs typeface="+mn-ea"/>
                <a:sym typeface="+mn-lt"/>
              </a:rPr>
              <a:t>i</a:t>
            </a:r>
            <a:r>
              <a:rPr kumimoji="1" lang="en-US" altLang="zh-CN" b="0" kern="1200" cap="none" spc="0" normalizeH="0" baseline="0" noProof="0" dirty="0">
                <a:latin typeface="+mn-lt"/>
                <a:ea typeface="+mn-ea"/>
                <a:cs typeface="+mn-ea"/>
                <a:sym typeface="+mn-lt"/>
              </a:rPr>
              <a:t>]</a:t>
            </a:r>
            <a:r>
              <a:rPr kumimoji="1" lang="zh-CN" altLang="en-US" b="0" kern="1200" cap="none" spc="0" normalizeH="0" baseline="0" noProof="0" dirty="0">
                <a:latin typeface="+mn-lt"/>
                <a:ea typeface="+mn-ea"/>
                <a:cs typeface="+mn-ea"/>
                <a:sym typeface="+mn-lt"/>
              </a:rPr>
              <a:t>的插入位置为 </a:t>
            </a:r>
            <a:r>
              <a:rPr kumimoji="1" lang="en-US" altLang="zh-CN" b="0" kern="1200" cap="none" spc="0" normalizeH="0" baseline="0" noProof="0" dirty="0">
                <a:solidFill>
                  <a:srgbClr val="FF3300"/>
                </a:solidFill>
                <a:latin typeface="+mn-lt"/>
                <a:ea typeface="+mn-ea"/>
                <a:cs typeface="+mn-ea"/>
                <a:sym typeface="+mn-lt"/>
              </a:rPr>
              <a:t>j+1</a:t>
            </a:r>
          </a:p>
          <a:p>
            <a:pPr marR="0" defTabSz="914400" eaLnBrk="1" hangingPunct="1">
              <a:lnSpc>
                <a:spcPct val="125000"/>
              </a:lnSpc>
              <a:buClrTx/>
              <a:buSzTx/>
              <a:buFontTx/>
              <a:buNone/>
              <a:defRPr/>
            </a:pPr>
            <a:r>
              <a:rPr kumimoji="1" lang="en-US" altLang="zh-CN" sz="2400" b="0" kern="1200" cap="none" spc="0" normalizeH="0" baseline="0" noProof="0" dirty="0" err="1">
                <a:solidFill>
                  <a:schemeClr val="hlink"/>
                </a:solidFill>
                <a:latin typeface="+mn-lt"/>
                <a:ea typeface="+mn-ea"/>
                <a:cs typeface="+mn-ea"/>
                <a:sym typeface="+mn-lt"/>
              </a:rPr>
              <a:t>L.r</a:t>
            </a:r>
            <a:r>
              <a:rPr kumimoji="1" lang="en-US" altLang="zh-CN" sz="2400" b="0" kern="1200" cap="none" spc="0" normalizeH="0" baseline="0" noProof="0" dirty="0">
                <a:solidFill>
                  <a:schemeClr val="hlink"/>
                </a:solidFill>
                <a:latin typeface="+mn-lt"/>
                <a:ea typeface="+mn-ea"/>
                <a:cs typeface="+mn-ea"/>
                <a:sym typeface="+mn-lt"/>
              </a:rPr>
              <a:t>[j+1]=</a:t>
            </a:r>
            <a:r>
              <a:rPr kumimoji="1" lang="en-US" altLang="zh-CN" sz="2400" b="0" kern="1200" cap="none" spc="0" normalizeH="0" baseline="0" noProof="0" dirty="0" err="1">
                <a:solidFill>
                  <a:schemeClr val="hlink"/>
                </a:solidFill>
                <a:latin typeface="+mn-lt"/>
                <a:ea typeface="+mn-ea"/>
                <a:cs typeface="+mn-ea"/>
                <a:sym typeface="+mn-lt"/>
              </a:rPr>
              <a:t>L.r</a:t>
            </a:r>
            <a:r>
              <a:rPr kumimoji="1" lang="en-US" altLang="zh-CN" sz="2400" b="0" kern="1200" cap="none" spc="0" normalizeH="0" baseline="0" noProof="0" dirty="0">
                <a:solidFill>
                  <a:schemeClr val="hlink"/>
                </a:solidFill>
                <a:latin typeface="+mn-lt"/>
                <a:ea typeface="+mn-ea"/>
                <a:cs typeface="+mn-ea"/>
                <a:sym typeface="+mn-lt"/>
              </a:rPr>
              <a:t>[0]; //</a:t>
            </a:r>
            <a:r>
              <a:rPr kumimoji="1" lang="zh-CN" altLang="en-US" sz="2400" b="0" kern="1200" cap="none" spc="0" normalizeH="0" baseline="0" noProof="0" dirty="0">
                <a:solidFill>
                  <a:schemeClr val="hlink"/>
                </a:solidFill>
                <a:latin typeface="+mn-lt"/>
                <a:ea typeface="+mn-ea"/>
                <a:cs typeface="+mn-ea"/>
                <a:sym typeface="+mn-lt"/>
              </a:rPr>
              <a:t>插入到正确位置</a:t>
            </a:r>
          </a:p>
        </p:txBody>
      </p:sp>
      <p:pic>
        <p:nvPicPr>
          <p:cNvPr id="1197083" name="Picture 27" descr="Green Ball">
            <a:hlinkClick r:id="" action="ppaction://noaction"/>
          </p:cNvPr>
          <p:cNvPicPr>
            <a:picLocks noChangeAspect="1"/>
          </p:cNvPicPr>
          <p:nvPr/>
        </p:nvPicPr>
        <p:blipFill>
          <a:blip r:embed="rId2"/>
          <a:stretch>
            <a:fillRect/>
          </a:stretch>
        </p:blipFill>
        <p:spPr>
          <a:xfrm>
            <a:off x="417513" y="5734050"/>
            <a:ext cx="304800" cy="304800"/>
          </a:xfrm>
          <a:prstGeom prst="rect">
            <a:avLst/>
          </a:prstGeom>
          <a:noFill/>
          <a:ln w="9525">
            <a:noFill/>
          </a:ln>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499"/>
                                          </p:stCondLst>
                                        </p:cTn>
                                        <p:tgtEl>
                                          <p:spTgt spid="1197061"/>
                                        </p:tgtEl>
                                        <p:attrNameLst>
                                          <p:attrName>style.visibility</p:attrName>
                                        </p:attrNameLst>
                                      </p:cBhvr>
                                      <p:to>
                                        <p:strVal val="visible"/>
                                      </p:to>
                                    </p:set>
                                  </p:childTnLst>
                                </p:cTn>
                              </p:par>
                            </p:childTnLst>
                          </p:cTn>
                        </p:par>
                        <p:par>
                          <p:cTn id="7" fill="hold">
                            <p:stCondLst>
                              <p:cond delay="500"/>
                            </p:stCondLst>
                            <p:childTnLst>
                              <p:par>
                                <p:cTn id="8" presetID="18" presetClass="entr" presetSubtype="6" fill="hold" grpId="0" nodeType="afterEffect">
                                  <p:stCondLst>
                                    <p:cond delay="0"/>
                                  </p:stCondLst>
                                  <p:childTnLst>
                                    <p:set>
                                      <p:cBhvr>
                                        <p:cTn id="9" dur="1" fill="hold">
                                          <p:stCondLst>
                                            <p:cond delay="0"/>
                                          </p:stCondLst>
                                        </p:cTn>
                                        <p:tgtEl>
                                          <p:spTgt spid="1197060"/>
                                        </p:tgtEl>
                                        <p:attrNameLst>
                                          <p:attrName>style.visibility</p:attrName>
                                        </p:attrNameLst>
                                      </p:cBhvr>
                                      <p:to>
                                        <p:strVal val="visible"/>
                                      </p:to>
                                    </p:set>
                                    <p:animEffect transition="in" filter="strips(downRight)">
                                      <p:cBhvr>
                                        <p:cTn id="10" dur="500"/>
                                        <p:tgtEl>
                                          <p:spTgt spid="1197060"/>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197064"/>
                                        </p:tgtEl>
                                        <p:attrNameLst>
                                          <p:attrName>style.visibility</p:attrName>
                                        </p:attrNameLst>
                                      </p:cBhvr>
                                      <p:to>
                                        <p:strVal val="visible"/>
                                      </p:to>
                                    </p:set>
                                    <p:animEffect transition="in" filter="wipe(left)">
                                      <p:cBhvr>
                                        <p:cTn id="15" dur="500"/>
                                        <p:tgtEl>
                                          <p:spTgt spid="1197064"/>
                                        </p:tgtEl>
                                      </p:cBhvr>
                                    </p:animEffect>
                                  </p:childTnLst>
                                </p:cTn>
                              </p:par>
                            </p:childTnLst>
                          </p:cTn>
                        </p:par>
                        <p:par>
                          <p:cTn id="16" fill="hold">
                            <p:stCondLst>
                              <p:cond delay="500"/>
                            </p:stCondLst>
                            <p:childTnLst>
                              <p:par>
                                <p:cTn id="17" presetID="22" presetClass="entr" presetSubtype="8" fill="hold" grpId="0" nodeType="afterEffect">
                                  <p:stCondLst>
                                    <p:cond delay="0"/>
                                  </p:stCondLst>
                                  <p:childTnLst>
                                    <p:set>
                                      <p:cBhvr>
                                        <p:cTn id="18" dur="1" fill="hold">
                                          <p:stCondLst>
                                            <p:cond delay="0"/>
                                          </p:stCondLst>
                                        </p:cTn>
                                        <p:tgtEl>
                                          <p:spTgt spid="1197071"/>
                                        </p:tgtEl>
                                        <p:attrNameLst>
                                          <p:attrName>style.visibility</p:attrName>
                                        </p:attrNameLst>
                                      </p:cBhvr>
                                      <p:to>
                                        <p:strVal val="visible"/>
                                      </p:to>
                                    </p:set>
                                    <p:animEffect transition="in" filter="wipe(left)">
                                      <p:cBhvr>
                                        <p:cTn id="19" dur="500"/>
                                        <p:tgtEl>
                                          <p:spTgt spid="1197071"/>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1" fill="hold" grpId="0" nodeType="clickEffect">
                                  <p:stCondLst>
                                    <p:cond delay="0"/>
                                  </p:stCondLst>
                                  <p:childTnLst>
                                    <p:set>
                                      <p:cBhvr>
                                        <p:cTn id="23" dur="1" fill="hold">
                                          <p:stCondLst>
                                            <p:cond delay="0"/>
                                          </p:stCondLst>
                                        </p:cTn>
                                        <p:tgtEl>
                                          <p:spTgt spid="1197073"/>
                                        </p:tgtEl>
                                        <p:attrNameLst>
                                          <p:attrName>style.visibility</p:attrName>
                                        </p:attrNameLst>
                                      </p:cBhvr>
                                      <p:to>
                                        <p:strVal val="visible"/>
                                      </p:to>
                                    </p:set>
                                    <p:animEffect transition="in" filter="slide(fromTop)">
                                      <p:cBhvr>
                                        <p:cTn id="24" dur="500"/>
                                        <p:tgtEl>
                                          <p:spTgt spid="1197073"/>
                                        </p:tgtEl>
                                      </p:cBhvr>
                                    </p:animEffect>
                                  </p:childTnLst>
                                </p:cTn>
                              </p:par>
                            </p:childTnLst>
                          </p:cTn>
                        </p:par>
                        <p:par>
                          <p:cTn id="25" fill="hold">
                            <p:stCondLst>
                              <p:cond delay="500"/>
                            </p:stCondLst>
                            <p:childTnLst>
                              <p:par>
                                <p:cTn id="26" presetID="9" presetClass="entr" presetSubtype="0" fill="hold" grpId="0" nodeType="afterEffect">
                                  <p:stCondLst>
                                    <p:cond delay="0"/>
                                  </p:stCondLst>
                                  <p:childTnLst>
                                    <p:set>
                                      <p:cBhvr>
                                        <p:cTn id="27" dur="1" fill="hold">
                                          <p:stCondLst>
                                            <p:cond delay="0"/>
                                          </p:stCondLst>
                                        </p:cTn>
                                        <p:tgtEl>
                                          <p:spTgt spid="1197072"/>
                                        </p:tgtEl>
                                        <p:attrNameLst>
                                          <p:attrName>style.visibility</p:attrName>
                                        </p:attrNameLst>
                                      </p:cBhvr>
                                      <p:to>
                                        <p:strVal val="visible"/>
                                      </p:to>
                                    </p:set>
                                    <p:animEffect transition="in" filter="dissolve">
                                      <p:cBhvr>
                                        <p:cTn id="28" dur="500"/>
                                        <p:tgtEl>
                                          <p:spTgt spid="1197072"/>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197065"/>
                                        </p:tgtEl>
                                        <p:attrNameLst>
                                          <p:attrName>style.visibility</p:attrName>
                                        </p:attrNameLst>
                                      </p:cBhvr>
                                      <p:to>
                                        <p:strVal val="visible"/>
                                      </p:to>
                                    </p:set>
                                    <p:animEffect transition="in" filter="dissolve">
                                      <p:cBhvr>
                                        <p:cTn id="32" dur="500"/>
                                        <p:tgtEl>
                                          <p:spTgt spid="1197065"/>
                                        </p:tgtEl>
                                      </p:cBhvr>
                                    </p:animEffect>
                                  </p:childTnLst>
                                </p:cTn>
                              </p:par>
                            </p:childTnLst>
                          </p:cTn>
                        </p:par>
                      </p:childTnLst>
                    </p:cTn>
                  </p:par>
                  <p:par>
                    <p:cTn id="33" fill="hold">
                      <p:stCondLst>
                        <p:cond delay="indefinite"/>
                      </p:stCondLst>
                      <p:childTnLst>
                        <p:par>
                          <p:cTn id="34" fill="hold">
                            <p:stCondLst>
                              <p:cond delay="0"/>
                            </p:stCondLst>
                            <p:childTnLst>
                              <p:par>
                                <p:cTn id="35" presetID="17" presetClass="entr" presetSubtype="4" fill="hold" nodeType="clickEffect">
                                  <p:stCondLst>
                                    <p:cond delay="0"/>
                                  </p:stCondLst>
                                  <p:childTnLst>
                                    <p:set>
                                      <p:cBhvr>
                                        <p:cTn id="36" dur="1" fill="hold">
                                          <p:stCondLst>
                                            <p:cond delay="0"/>
                                          </p:stCondLst>
                                        </p:cTn>
                                        <p:tgtEl>
                                          <p:spTgt spid="1197067"/>
                                        </p:tgtEl>
                                        <p:attrNameLst>
                                          <p:attrName>style.visibility</p:attrName>
                                        </p:attrNameLst>
                                      </p:cBhvr>
                                      <p:to>
                                        <p:strVal val="visible"/>
                                      </p:to>
                                    </p:set>
                                    <p:anim calcmode="lin" valueType="num">
                                      <p:cBhvr>
                                        <p:cTn id="37" dur="500" fill="hold"/>
                                        <p:tgtEl>
                                          <p:spTgt spid="1197067"/>
                                        </p:tgtEl>
                                        <p:attrNameLst>
                                          <p:attrName>ppt_x</p:attrName>
                                        </p:attrNameLst>
                                      </p:cBhvr>
                                      <p:tavLst>
                                        <p:tav tm="0">
                                          <p:val>
                                            <p:strVal val="#ppt_x"/>
                                          </p:val>
                                        </p:tav>
                                        <p:tav tm="100000">
                                          <p:val>
                                            <p:strVal val="#ppt_x"/>
                                          </p:val>
                                        </p:tav>
                                      </p:tavLst>
                                    </p:anim>
                                    <p:anim calcmode="lin" valueType="num">
                                      <p:cBhvr>
                                        <p:cTn id="38" dur="500" fill="hold"/>
                                        <p:tgtEl>
                                          <p:spTgt spid="1197067"/>
                                        </p:tgtEl>
                                        <p:attrNameLst>
                                          <p:attrName>ppt_y</p:attrName>
                                        </p:attrNameLst>
                                      </p:cBhvr>
                                      <p:tavLst>
                                        <p:tav tm="0">
                                          <p:val>
                                            <p:strVal val="#ppt_y+#ppt_h/2"/>
                                          </p:val>
                                        </p:tav>
                                        <p:tav tm="100000">
                                          <p:val>
                                            <p:strVal val="#ppt_y"/>
                                          </p:val>
                                        </p:tav>
                                      </p:tavLst>
                                    </p:anim>
                                    <p:anim calcmode="lin" valueType="num">
                                      <p:cBhvr>
                                        <p:cTn id="39" dur="500" fill="hold"/>
                                        <p:tgtEl>
                                          <p:spTgt spid="1197067"/>
                                        </p:tgtEl>
                                        <p:attrNameLst>
                                          <p:attrName>ppt_w</p:attrName>
                                        </p:attrNameLst>
                                      </p:cBhvr>
                                      <p:tavLst>
                                        <p:tav tm="0">
                                          <p:val>
                                            <p:strVal val="#ppt_w"/>
                                          </p:val>
                                        </p:tav>
                                        <p:tav tm="100000">
                                          <p:val>
                                            <p:strVal val="#ppt_w"/>
                                          </p:val>
                                        </p:tav>
                                      </p:tavLst>
                                    </p:anim>
                                    <p:anim calcmode="lin" valueType="num">
                                      <p:cBhvr>
                                        <p:cTn id="40" dur="500" fill="hold"/>
                                        <p:tgtEl>
                                          <p:spTgt spid="1197067"/>
                                        </p:tgtEl>
                                        <p:attrNameLst>
                                          <p:attrName>ppt_h</p:attrName>
                                        </p:attrNameLst>
                                      </p:cBhvr>
                                      <p:tavLst>
                                        <p:tav tm="0">
                                          <p:val>
                                            <p:fltVal val="0"/>
                                          </p:val>
                                        </p:tav>
                                        <p:tav tm="100000">
                                          <p:val>
                                            <p:strVal val="#ppt_h"/>
                                          </p:val>
                                        </p:tav>
                                      </p:tavLst>
                                    </p:anim>
                                  </p:childTnLst>
                                  <p:subTnLst>
                                    <p:set>
                                      <p:cBhvr override="childStyle">
                                        <p:cTn dur="1" fill="hold" display="0" masterRel="nextClick" afterEffect="1"/>
                                        <p:tgtEl>
                                          <p:spTgt spid="1197067"/>
                                        </p:tgtEl>
                                        <p:attrNameLst>
                                          <p:attrName>style.visibility</p:attrName>
                                        </p:attrNameLst>
                                      </p:cBhvr>
                                      <p:to>
                                        <p:strVal val="hidden"/>
                                      </p:to>
                                    </p:set>
                                  </p:subTnLst>
                                </p:cTn>
                              </p:par>
                            </p:childTnLst>
                          </p:cTn>
                        </p:par>
                        <p:par>
                          <p:cTn id="41" fill="hold">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1197075"/>
                                        </p:tgtEl>
                                        <p:attrNameLst>
                                          <p:attrName>style.visibility</p:attrName>
                                        </p:attrNameLst>
                                      </p:cBhvr>
                                      <p:to>
                                        <p:strVal val="visible"/>
                                      </p:to>
                                    </p:set>
                                    <p:animEffect transition="in" filter="wipe(left)">
                                      <p:cBhvr>
                                        <p:cTn id="44" dur="500"/>
                                        <p:tgtEl>
                                          <p:spTgt spid="1197075"/>
                                        </p:tgtEl>
                                      </p:cBhvr>
                                    </p:animEffect>
                                  </p:childTnLst>
                                  <p:subTnLst>
                                    <p:set>
                                      <p:cBhvr override="childStyle">
                                        <p:cTn dur="1" fill="hold" display="0" masterRel="nextClick" afterEffect="1"/>
                                        <p:tgtEl>
                                          <p:spTgt spid="1197075"/>
                                        </p:tgtEl>
                                        <p:attrNameLst>
                                          <p:attrName>style.visibility</p:attrName>
                                        </p:attrNameLst>
                                      </p:cBhvr>
                                      <p:to>
                                        <p:strVal val="hidden"/>
                                      </p:to>
                                    </p:set>
                                  </p:subTnLst>
                                </p:cTn>
                              </p:par>
                            </p:childTnLst>
                          </p:cTn>
                        </p:par>
                      </p:childTnLst>
                    </p:cTn>
                  </p:par>
                  <p:par>
                    <p:cTn id="45" fill="hold">
                      <p:stCondLst>
                        <p:cond delay="indefinite"/>
                      </p:stCondLst>
                      <p:childTnLst>
                        <p:par>
                          <p:cTn id="46" fill="hold">
                            <p:stCondLst>
                              <p:cond delay="0"/>
                            </p:stCondLst>
                            <p:childTnLst>
                              <p:par>
                                <p:cTn id="47" presetID="17" presetClass="entr" presetSubtype="4" fill="hold" nodeType="clickEffect">
                                  <p:stCondLst>
                                    <p:cond delay="0"/>
                                  </p:stCondLst>
                                  <p:childTnLst>
                                    <p:set>
                                      <p:cBhvr>
                                        <p:cTn id="48" dur="1" fill="hold">
                                          <p:stCondLst>
                                            <p:cond delay="0"/>
                                          </p:stCondLst>
                                        </p:cTn>
                                        <p:tgtEl>
                                          <p:spTgt spid="1197068"/>
                                        </p:tgtEl>
                                        <p:attrNameLst>
                                          <p:attrName>style.visibility</p:attrName>
                                        </p:attrNameLst>
                                      </p:cBhvr>
                                      <p:to>
                                        <p:strVal val="visible"/>
                                      </p:to>
                                    </p:set>
                                    <p:anim calcmode="lin" valueType="num">
                                      <p:cBhvr>
                                        <p:cTn id="49" dur="500" fill="hold"/>
                                        <p:tgtEl>
                                          <p:spTgt spid="1197068"/>
                                        </p:tgtEl>
                                        <p:attrNameLst>
                                          <p:attrName>ppt_x</p:attrName>
                                        </p:attrNameLst>
                                      </p:cBhvr>
                                      <p:tavLst>
                                        <p:tav tm="0">
                                          <p:val>
                                            <p:strVal val="#ppt_x"/>
                                          </p:val>
                                        </p:tav>
                                        <p:tav tm="100000">
                                          <p:val>
                                            <p:strVal val="#ppt_x"/>
                                          </p:val>
                                        </p:tav>
                                      </p:tavLst>
                                    </p:anim>
                                    <p:anim calcmode="lin" valueType="num">
                                      <p:cBhvr>
                                        <p:cTn id="50" dur="500" fill="hold"/>
                                        <p:tgtEl>
                                          <p:spTgt spid="1197068"/>
                                        </p:tgtEl>
                                        <p:attrNameLst>
                                          <p:attrName>ppt_y</p:attrName>
                                        </p:attrNameLst>
                                      </p:cBhvr>
                                      <p:tavLst>
                                        <p:tav tm="0">
                                          <p:val>
                                            <p:strVal val="#ppt_y+#ppt_h/2"/>
                                          </p:val>
                                        </p:tav>
                                        <p:tav tm="100000">
                                          <p:val>
                                            <p:strVal val="#ppt_y"/>
                                          </p:val>
                                        </p:tav>
                                      </p:tavLst>
                                    </p:anim>
                                    <p:anim calcmode="lin" valueType="num">
                                      <p:cBhvr>
                                        <p:cTn id="51" dur="500" fill="hold"/>
                                        <p:tgtEl>
                                          <p:spTgt spid="1197068"/>
                                        </p:tgtEl>
                                        <p:attrNameLst>
                                          <p:attrName>ppt_w</p:attrName>
                                        </p:attrNameLst>
                                      </p:cBhvr>
                                      <p:tavLst>
                                        <p:tav tm="0">
                                          <p:val>
                                            <p:strVal val="#ppt_w"/>
                                          </p:val>
                                        </p:tav>
                                        <p:tav tm="100000">
                                          <p:val>
                                            <p:strVal val="#ppt_w"/>
                                          </p:val>
                                        </p:tav>
                                      </p:tavLst>
                                    </p:anim>
                                    <p:anim calcmode="lin" valueType="num">
                                      <p:cBhvr>
                                        <p:cTn id="52" dur="500" fill="hold"/>
                                        <p:tgtEl>
                                          <p:spTgt spid="1197068"/>
                                        </p:tgtEl>
                                        <p:attrNameLst>
                                          <p:attrName>ppt_h</p:attrName>
                                        </p:attrNameLst>
                                      </p:cBhvr>
                                      <p:tavLst>
                                        <p:tav tm="0">
                                          <p:val>
                                            <p:fltVal val="0"/>
                                          </p:val>
                                        </p:tav>
                                        <p:tav tm="100000">
                                          <p:val>
                                            <p:strVal val="#ppt_h"/>
                                          </p:val>
                                        </p:tav>
                                      </p:tavLst>
                                    </p:anim>
                                  </p:childTnLst>
                                </p:cTn>
                              </p:par>
                            </p:childTnLst>
                          </p:cTn>
                        </p:par>
                        <p:par>
                          <p:cTn id="53" fill="hold">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197069"/>
                                        </p:tgtEl>
                                        <p:attrNameLst>
                                          <p:attrName>style.visibility</p:attrName>
                                        </p:attrNameLst>
                                      </p:cBhvr>
                                      <p:to>
                                        <p:strVal val="visible"/>
                                      </p:to>
                                    </p:set>
                                    <p:animEffect transition="in" filter="dissolve">
                                      <p:cBhvr>
                                        <p:cTn id="56" dur="500"/>
                                        <p:tgtEl>
                                          <p:spTgt spid="1197069"/>
                                        </p:tgtEl>
                                      </p:cBhvr>
                                    </p:animEffect>
                                  </p:childTnLst>
                                </p:cTn>
                              </p:par>
                            </p:childTnLst>
                          </p:cTn>
                        </p:par>
                        <p:par>
                          <p:cTn id="57" fill="hold">
                            <p:stCondLst>
                              <p:cond delay="1000"/>
                            </p:stCondLst>
                            <p:childTnLst>
                              <p:par>
                                <p:cTn id="58" presetID="22" presetClass="entr" presetSubtype="2" fill="hold" grpId="0" nodeType="afterEffect">
                                  <p:stCondLst>
                                    <p:cond delay="0"/>
                                  </p:stCondLst>
                                  <p:childTnLst>
                                    <p:set>
                                      <p:cBhvr>
                                        <p:cTn id="59" dur="1" fill="hold">
                                          <p:stCondLst>
                                            <p:cond delay="0"/>
                                          </p:stCondLst>
                                        </p:cTn>
                                        <p:tgtEl>
                                          <p:spTgt spid="1197070"/>
                                        </p:tgtEl>
                                        <p:attrNameLst>
                                          <p:attrName>style.visibility</p:attrName>
                                        </p:attrNameLst>
                                      </p:cBhvr>
                                      <p:to>
                                        <p:strVal val="visible"/>
                                      </p:to>
                                    </p:set>
                                    <p:animEffect transition="in" filter="wipe(right)">
                                      <p:cBhvr>
                                        <p:cTn id="60" dur="500"/>
                                        <p:tgtEl>
                                          <p:spTgt spid="1197070"/>
                                        </p:tgtEl>
                                      </p:cBhvr>
                                    </p:animEffect>
                                  </p:childTnLst>
                                </p:cTn>
                              </p:par>
                            </p:childTnLst>
                          </p:cTn>
                        </p:par>
                        <p:par>
                          <p:cTn id="61" fill="hold">
                            <p:stCondLst>
                              <p:cond delay="1500"/>
                            </p:stCondLst>
                            <p:childTnLst>
                              <p:par>
                                <p:cTn id="62" presetID="12" presetClass="entr" presetSubtype="2" fill="hold" grpId="0" nodeType="afterEffect">
                                  <p:stCondLst>
                                    <p:cond delay="0"/>
                                  </p:stCondLst>
                                  <p:childTnLst>
                                    <p:set>
                                      <p:cBhvr>
                                        <p:cTn id="63" dur="1" fill="hold">
                                          <p:stCondLst>
                                            <p:cond delay="0"/>
                                          </p:stCondLst>
                                        </p:cTn>
                                        <p:tgtEl>
                                          <p:spTgt spid="1197076"/>
                                        </p:tgtEl>
                                        <p:attrNameLst>
                                          <p:attrName>style.visibility</p:attrName>
                                        </p:attrNameLst>
                                      </p:cBhvr>
                                      <p:to>
                                        <p:strVal val="visible"/>
                                      </p:to>
                                    </p:set>
                                    <p:animEffect transition="in" filter="slide(fromRight)">
                                      <p:cBhvr>
                                        <p:cTn id="64" dur="500"/>
                                        <p:tgtEl>
                                          <p:spTgt spid="1197076"/>
                                        </p:tgtEl>
                                      </p:cBhvr>
                                    </p:animEffect>
                                  </p:childTnLst>
                                </p:cTn>
                              </p:par>
                            </p:childTnLst>
                          </p:cTn>
                        </p:par>
                        <p:par>
                          <p:cTn id="65" fill="hold">
                            <p:stCondLst>
                              <p:cond delay="2000"/>
                            </p:stCondLst>
                            <p:childTnLst>
                              <p:par>
                                <p:cTn id="66" presetID="18" presetClass="entr" presetSubtype="6" fill="hold" grpId="0" nodeType="afterEffect">
                                  <p:stCondLst>
                                    <p:cond delay="0"/>
                                  </p:stCondLst>
                                  <p:childTnLst>
                                    <p:set>
                                      <p:cBhvr>
                                        <p:cTn id="67" dur="1" fill="hold">
                                          <p:stCondLst>
                                            <p:cond delay="0"/>
                                          </p:stCondLst>
                                        </p:cTn>
                                        <p:tgtEl>
                                          <p:spTgt spid="1197079"/>
                                        </p:tgtEl>
                                        <p:attrNameLst>
                                          <p:attrName>style.visibility</p:attrName>
                                        </p:attrNameLst>
                                      </p:cBhvr>
                                      <p:to>
                                        <p:strVal val="visible"/>
                                      </p:to>
                                    </p:set>
                                    <p:animEffect transition="in" filter="strips(downRight)">
                                      <p:cBhvr>
                                        <p:cTn id="68" dur="500"/>
                                        <p:tgtEl>
                                          <p:spTgt spid="1197079"/>
                                        </p:tgtEl>
                                      </p:cBhvr>
                                    </p:animEffect>
                                  </p:childTnLst>
                                </p:cTn>
                              </p:par>
                            </p:childTnLst>
                          </p:cTn>
                        </p:par>
                        <p:par>
                          <p:cTn id="69" fill="hold">
                            <p:stCondLst>
                              <p:cond delay="2500"/>
                            </p:stCondLst>
                            <p:childTnLst>
                              <p:par>
                                <p:cTn id="70" presetID="1" presetClass="entr" presetSubtype="0" fill="hold" nodeType="afterEffect">
                                  <p:stCondLst>
                                    <p:cond delay="0"/>
                                  </p:stCondLst>
                                  <p:childTnLst>
                                    <p:set>
                                      <p:cBhvr>
                                        <p:cTn id="71" dur="1" fill="hold">
                                          <p:stCondLst>
                                            <p:cond delay="499"/>
                                          </p:stCondLst>
                                        </p:cTn>
                                        <p:tgtEl>
                                          <p:spTgt spid="1197080"/>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8" presetClass="entr" presetSubtype="6" fill="hold" grpId="0" nodeType="clickEffect">
                                  <p:stCondLst>
                                    <p:cond delay="0"/>
                                  </p:stCondLst>
                                  <p:childTnLst>
                                    <p:set>
                                      <p:cBhvr>
                                        <p:cTn id="75" dur="1" fill="hold">
                                          <p:stCondLst>
                                            <p:cond delay="0"/>
                                          </p:stCondLst>
                                        </p:cTn>
                                        <p:tgtEl>
                                          <p:spTgt spid="1197062"/>
                                        </p:tgtEl>
                                        <p:attrNameLst>
                                          <p:attrName>style.visibility</p:attrName>
                                        </p:attrNameLst>
                                      </p:cBhvr>
                                      <p:to>
                                        <p:strVal val="visible"/>
                                      </p:to>
                                    </p:set>
                                    <p:animEffect transition="in" filter="strips(downRight)">
                                      <p:cBhvr>
                                        <p:cTn id="76" dur="500"/>
                                        <p:tgtEl>
                                          <p:spTgt spid="1197062"/>
                                        </p:tgtEl>
                                      </p:cBhvr>
                                    </p:animEffect>
                                  </p:childTnLst>
                                </p:cTn>
                              </p:par>
                            </p:childTnLst>
                          </p:cTn>
                        </p:par>
                      </p:childTnLst>
                    </p:cTn>
                  </p:par>
                  <p:par>
                    <p:cTn id="77" fill="hold">
                      <p:stCondLst>
                        <p:cond delay="indefinite"/>
                      </p:stCondLst>
                      <p:childTnLst>
                        <p:par>
                          <p:cTn id="78" fill="hold">
                            <p:stCondLst>
                              <p:cond delay="0"/>
                            </p:stCondLst>
                            <p:childTnLst>
                              <p:par>
                                <p:cTn id="79" presetID="5" presetClass="entr" presetSubtype="10" fill="hold" grpId="0" nodeType="clickEffect">
                                  <p:stCondLst>
                                    <p:cond delay="0"/>
                                  </p:stCondLst>
                                  <p:childTnLst>
                                    <p:set>
                                      <p:cBhvr>
                                        <p:cTn id="80" dur="1" fill="hold">
                                          <p:stCondLst>
                                            <p:cond delay="0"/>
                                          </p:stCondLst>
                                        </p:cTn>
                                        <p:tgtEl>
                                          <p:spTgt spid="1197081"/>
                                        </p:tgtEl>
                                        <p:attrNameLst>
                                          <p:attrName>style.visibility</p:attrName>
                                        </p:attrNameLst>
                                      </p:cBhvr>
                                      <p:to>
                                        <p:strVal val="visible"/>
                                      </p:to>
                                    </p:set>
                                    <p:animEffect transition="in" filter="checkerboard(across)">
                                      <p:cBhvr>
                                        <p:cTn id="81" dur="500"/>
                                        <p:tgtEl>
                                          <p:spTgt spid="1197081"/>
                                        </p:tgtEl>
                                      </p:cBhvr>
                                    </p:animEffect>
                                  </p:childTnLst>
                                </p:cTn>
                              </p:par>
                            </p:childTnLst>
                          </p:cTn>
                        </p:par>
                        <p:par>
                          <p:cTn id="82" fill="hold">
                            <p:stCondLst>
                              <p:cond delay="500"/>
                            </p:stCondLst>
                            <p:childTnLst>
                              <p:par>
                                <p:cTn id="83" presetID="1" presetClass="entr" presetSubtype="0" fill="hold" nodeType="afterEffect">
                                  <p:stCondLst>
                                    <p:cond delay="0"/>
                                  </p:stCondLst>
                                  <p:childTnLst>
                                    <p:set>
                                      <p:cBhvr>
                                        <p:cTn id="84" dur="1" fill="hold">
                                          <p:stCondLst>
                                            <p:cond delay="499"/>
                                          </p:stCondLst>
                                        </p:cTn>
                                        <p:tgtEl>
                                          <p:spTgt spid="11970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7060" grpId="0"/>
      <p:bldP spid="1197062" grpId="0"/>
      <p:bldP spid="1197064" grpId="0" animBg="1"/>
      <p:bldP spid="1197065" grpId="0" animBg="1"/>
      <p:bldP spid="1197069" grpId="0"/>
      <p:bldP spid="1197070" grpId="0" animBg="1"/>
      <p:bldP spid="1197071" grpId="0" animBg="1"/>
      <p:bldP spid="1197072" grpId="0" animBg="1"/>
      <p:bldP spid="1197073" grpId="0"/>
      <p:bldP spid="1197075" grpId="0"/>
      <p:bldP spid="1197076" grpId="0" animBg="1"/>
      <p:bldP spid="1197079" grpId="0"/>
      <p:bldP spid="119708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4"/>
          <p:cNvSpPr>
            <a:spLocks noChangeArrowheads="1"/>
          </p:cNvSpPr>
          <p:nvPr/>
        </p:nvSpPr>
        <p:spPr bwMode="auto">
          <a:xfrm>
            <a:off x="755650" y="193675"/>
            <a:ext cx="6837363"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直接插入排序</a:t>
            </a:r>
          </a:p>
        </p:txBody>
      </p:sp>
      <p:sp>
        <p:nvSpPr>
          <p:cNvPr id="1035269" name="Rectangle 5"/>
          <p:cNvSpPr>
            <a:spLocks noChangeArrowheads="1"/>
          </p:cNvSpPr>
          <p:nvPr/>
        </p:nvSpPr>
        <p:spPr bwMode="auto">
          <a:xfrm>
            <a:off x="0" y="1125538"/>
            <a:ext cx="9144000" cy="4895850"/>
          </a:xfrm>
          <a:prstGeom prst="rect">
            <a:avLst/>
          </a:prstGeom>
          <a:solidFill>
            <a:schemeClr val="bg2">
              <a:lumMod val="20000"/>
              <a:lumOff val="80000"/>
            </a:schemeClr>
          </a:solidFill>
          <a:ln>
            <a:noFill/>
          </a:ln>
        </p:spPr>
        <p:txBody>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InsertSort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SqList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{int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i,j</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for(</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=2;i&lt;=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L.length</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     if( </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].key&lt;</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[i-1].key)</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将</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插入有序子表</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[0]=</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 </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复制为哨兵</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[i-1];</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for(j=i-2;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[0].key&lt;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[j].key;--j)</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[j+1]=</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[j]; // </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记录后移 </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[j+1]=</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[0]; //</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插入到正确位置</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p>
          <a:p>
            <a:pPr marL="1143000" marR="0" lvl="2" indent="-2286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6" name="Shape 26"/>
          <p:cNvSpPr/>
          <p:nvPr/>
        </p:nvSpPr>
        <p:spPr>
          <a:xfrm flipH="1">
            <a:off x="0" y="6381750"/>
            <a:ext cx="9140825" cy="4762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35269">
                                            <p:bg/>
                                          </p:spTgt>
                                        </p:tgtEl>
                                        <p:attrNameLst>
                                          <p:attrName>style.visibility</p:attrName>
                                        </p:attrNameLst>
                                      </p:cBhvr>
                                      <p:to>
                                        <p:strVal val="visible"/>
                                      </p:to>
                                    </p:set>
                                    <p:anim calcmode="lin" valueType="num">
                                      <p:cBhvr additive="base">
                                        <p:cTn id="7" dur="500" fill="hold"/>
                                        <p:tgtEl>
                                          <p:spTgt spid="1035269">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035269">
                                            <p:bg/>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par>
                          <p:cTn id="9" fill="hold">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1035269">
                                            <p:txEl>
                                              <p:pRg st="0" end="0"/>
                                            </p:txEl>
                                          </p:spTgt>
                                        </p:tgtEl>
                                        <p:attrNameLst>
                                          <p:attrName>style.visibility</p:attrName>
                                        </p:attrNameLst>
                                      </p:cBhvr>
                                      <p:to>
                                        <p:strVal val="visible"/>
                                      </p:to>
                                    </p:set>
                                    <p:anim calcmode="lin" valueType="num">
                                      <p:cBhvr additive="base">
                                        <p:cTn id="12" dur="500" fill="hold"/>
                                        <p:tgtEl>
                                          <p:spTgt spid="1035269">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1035269">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0"/>
                                            </p:cond>
                                          </p:stCondLst>
                                          <p:endCondLst>
                                            <p:cond evt="onStopAudio" delay="0">
                                              <p:tgtEl>
                                                <p:sldTgt/>
                                              </p:tgtEl>
                                            </p:cond>
                                          </p:endCondLst>
                                        </p:cTn>
                                        <p:tgtEl>
                                          <p:sndTgt r:embed="rId2" name="WHOOSH.WAV"/>
                                        </p:tgtEl>
                                      </p:cMediaNode>
                                    </p:audio>
                                  </p:sub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1035269">
                                            <p:txEl>
                                              <p:pRg st="1" end="1"/>
                                            </p:txEl>
                                          </p:spTgt>
                                        </p:tgtEl>
                                        <p:attrNameLst>
                                          <p:attrName>style.visibility</p:attrName>
                                        </p:attrNameLst>
                                      </p:cBhvr>
                                      <p:to>
                                        <p:strVal val="visible"/>
                                      </p:to>
                                    </p:set>
                                    <p:anim calcmode="lin" valueType="num">
                                      <p:cBhvr additive="base">
                                        <p:cTn id="17" dur="500" fill="hold"/>
                                        <p:tgtEl>
                                          <p:spTgt spid="103526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35269">
                                            <p:txEl>
                                              <p:pRg st="1" end="1"/>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5"/>
                                            </p:cond>
                                          </p:stCondLst>
                                          <p:endCondLst>
                                            <p:cond evt="onStopAudio" delay="0">
                                              <p:tgtEl>
                                                <p:sldTgt/>
                                              </p:tgtEl>
                                            </p:cond>
                                          </p:endCondLst>
                                        </p:cTn>
                                        <p:tgtEl>
                                          <p:sndTgt r:embed="rId2" name="WHOOSH.WAV"/>
                                        </p:tgtEl>
                                      </p:cMediaNode>
                                    </p:audio>
                                  </p:subTnLst>
                                </p:cTn>
                              </p:par>
                            </p:childTnLst>
                          </p:cTn>
                        </p:par>
                        <p:par>
                          <p:cTn id="19" fill="hold">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1035269">
                                            <p:txEl>
                                              <p:pRg st="2" end="2"/>
                                            </p:txEl>
                                          </p:spTgt>
                                        </p:tgtEl>
                                        <p:attrNameLst>
                                          <p:attrName>style.visibility</p:attrName>
                                        </p:attrNameLst>
                                      </p:cBhvr>
                                      <p:to>
                                        <p:strVal val="visible"/>
                                      </p:to>
                                    </p:set>
                                    <p:anim calcmode="lin" valueType="num">
                                      <p:cBhvr additive="base">
                                        <p:cTn id="22" dur="500" fill="hold"/>
                                        <p:tgtEl>
                                          <p:spTgt spid="1035269">
                                            <p:txEl>
                                              <p:pRg st="2" end="2"/>
                                            </p:txEl>
                                          </p:spTgt>
                                        </p:tgtEl>
                                        <p:attrNameLst>
                                          <p:attrName>ppt_x</p:attrName>
                                        </p:attrNameLst>
                                      </p:cBhvr>
                                      <p:tavLst>
                                        <p:tav tm="0">
                                          <p:val>
                                            <p:strVal val="0-#ppt_w/2"/>
                                          </p:val>
                                        </p:tav>
                                        <p:tav tm="100000">
                                          <p:val>
                                            <p:strVal val="#ppt_x"/>
                                          </p:val>
                                        </p:tav>
                                      </p:tavLst>
                                    </p:anim>
                                    <p:anim calcmode="lin" valueType="num">
                                      <p:cBhvr additive="base">
                                        <p:cTn id="23" dur="500" fill="hold"/>
                                        <p:tgtEl>
                                          <p:spTgt spid="1035269">
                                            <p:txEl>
                                              <p:pRg st="2" end="2"/>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0"/>
                                            </p:cond>
                                          </p:stCondLst>
                                          <p:endCondLst>
                                            <p:cond evt="onStopAudio" delay="0">
                                              <p:tgtEl>
                                                <p:sldTgt/>
                                              </p:tgtEl>
                                            </p:cond>
                                          </p:endCondLst>
                                        </p:cTn>
                                        <p:tgtEl>
                                          <p:sndTgt r:embed="rId2" name="WHOOSH.WAV"/>
                                        </p:tgtEl>
                                      </p:cMediaNode>
                                    </p:audio>
                                  </p:subTnLst>
                                </p:cTn>
                              </p:par>
                            </p:childTnLst>
                          </p:cTn>
                        </p:par>
                        <p:par>
                          <p:cTn id="24" fill="hold">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1035269">
                                            <p:txEl>
                                              <p:pRg st="3" end="3"/>
                                            </p:txEl>
                                          </p:spTgt>
                                        </p:tgtEl>
                                        <p:attrNameLst>
                                          <p:attrName>style.visibility</p:attrName>
                                        </p:attrNameLst>
                                      </p:cBhvr>
                                      <p:to>
                                        <p:strVal val="visible"/>
                                      </p:to>
                                    </p:set>
                                    <p:anim calcmode="lin" valueType="num">
                                      <p:cBhvr additive="base">
                                        <p:cTn id="27" dur="500" fill="hold"/>
                                        <p:tgtEl>
                                          <p:spTgt spid="1035269">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035269">
                                            <p:txEl>
                                              <p:pRg st="3" end="3"/>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5"/>
                                            </p:cond>
                                          </p:stCondLst>
                                          <p:endCondLst>
                                            <p:cond evt="onStopAudio" delay="0">
                                              <p:tgtEl>
                                                <p:sldTgt/>
                                              </p:tgtEl>
                                            </p:cond>
                                          </p:endCondLst>
                                        </p:cTn>
                                        <p:tgtEl>
                                          <p:sndTgt r:embed="rId2" name="WHOOSH.WAV"/>
                                        </p:tgtEl>
                                      </p:cMediaNode>
                                    </p:audio>
                                  </p:subTnLst>
                                </p:cTn>
                              </p:par>
                            </p:childTnLst>
                          </p:cTn>
                        </p:par>
                        <p:par>
                          <p:cTn id="29" fill="hold">
                            <p:stCondLst>
                              <p:cond delay="2500"/>
                            </p:stCondLst>
                            <p:childTnLst>
                              <p:par>
                                <p:cTn id="30" presetID="2" presetClass="entr" presetSubtype="8" fill="hold" grpId="0" nodeType="afterEffect">
                                  <p:stCondLst>
                                    <p:cond delay="0"/>
                                  </p:stCondLst>
                                  <p:childTnLst>
                                    <p:set>
                                      <p:cBhvr>
                                        <p:cTn id="31" dur="1" fill="hold">
                                          <p:stCondLst>
                                            <p:cond delay="0"/>
                                          </p:stCondLst>
                                        </p:cTn>
                                        <p:tgtEl>
                                          <p:spTgt spid="1035269">
                                            <p:txEl>
                                              <p:pRg st="4" end="4"/>
                                            </p:txEl>
                                          </p:spTgt>
                                        </p:tgtEl>
                                        <p:attrNameLst>
                                          <p:attrName>style.visibility</p:attrName>
                                        </p:attrNameLst>
                                      </p:cBhvr>
                                      <p:to>
                                        <p:strVal val="visible"/>
                                      </p:to>
                                    </p:set>
                                    <p:anim calcmode="lin" valueType="num">
                                      <p:cBhvr additive="base">
                                        <p:cTn id="32" dur="500" fill="hold"/>
                                        <p:tgtEl>
                                          <p:spTgt spid="1035269">
                                            <p:txEl>
                                              <p:pRg st="4" end="4"/>
                                            </p:txEl>
                                          </p:spTgt>
                                        </p:tgtEl>
                                        <p:attrNameLst>
                                          <p:attrName>ppt_x</p:attrName>
                                        </p:attrNameLst>
                                      </p:cBhvr>
                                      <p:tavLst>
                                        <p:tav tm="0">
                                          <p:val>
                                            <p:strVal val="0-#ppt_w/2"/>
                                          </p:val>
                                        </p:tav>
                                        <p:tav tm="100000">
                                          <p:val>
                                            <p:strVal val="#ppt_x"/>
                                          </p:val>
                                        </p:tav>
                                      </p:tavLst>
                                    </p:anim>
                                    <p:anim calcmode="lin" valueType="num">
                                      <p:cBhvr additive="base">
                                        <p:cTn id="33" dur="500" fill="hold"/>
                                        <p:tgtEl>
                                          <p:spTgt spid="1035269">
                                            <p:txEl>
                                              <p:pRg st="4" end="4"/>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0"/>
                                            </p:cond>
                                          </p:stCondLst>
                                          <p:endCondLst>
                                            <p:cond evt="onStopAudio" delay="0">
                                              <p:tgtEl>
                                                <p:sldTgt/>
                                              </p:tgtEl>
                                            </p:cond>
                                          </p:endCondLst>
                                        </p:cTn>
                                        <p:tgtEl>
                                          <p:sndTgt r:embed="rId2" name="WHOOSH.WAV"/>
                                        </p:tgtEl>
                                      </p:cMediaNode>
                                    </p:audio>
                                  </p:subTnLst>
                                </p:cTn>
                              </p:par>
                            </p:childTnLst>
                          </p:cTn>
                        </p:par>
                        <p:par>
                          <p:cTn id="34" fill="hold">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1035269">
                                            <p:txEl>
                                              <p:pRg st="5" end="5"/>
                                            </p:txEl>
                                          </p:spTgt>
                                        </p:tgtEl>
                                        <p:attrNameLst>
                                          <p:attrName>style.visibility</p:attrName>
                                        </p:attrNameLst>
                                      </p:cBhvr>
                                      <p:to>
                                        <p:strVal val="visible"/>
                                      </p:to>
                                    </p:set>
                                    <p:anim calcmode="lin" valueType="num">
                                      <p:cBhvr additive="base">
                                        <p:cTn id="37" dur="500" fill="hold"/>
                                        <p:tgtEl>
                                          <p:spTgt spid="1035269">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1035269">
                                            <p:txEl>
                                              <p:pRg st="5" end="5"/>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5"/>
                                            </p:cond>
                                          </p:stCondLst>
                                          <p:endCondLst>
                                            <p:cond evt="onStopAudio" delay="0">
                                              <p:tgtEl>
                                                <p:sldTgt/>
                                              </p:tgtEl>
                                            </p:cond>
                                          </p:endCondLst>
                                        </p:cTn>
                                        <p:tgtEl>
                                          <p:sndTgt r:embed="rId2" name="WHOOSH.WAV"/>
                                        </p:tgtEl>
                                      </p:cMediaNode>
                                    </p:audio>
                                  </p:subTnLst>
                                </p:cTn>
                              </p:par>
                            </p:childTnLst>
                          </p:cTn>
                        </p:par>
                        <p:par>
                          <p:cTn id="39" fill="hold">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1035269">
                                            <p:txEl>
                                              <p:pRg st="6" end="6"/>
                                            </p:txEl>
                                          </p:spTgt>
                                        </p:tgtEl>
                                        <p:attrNameLst>
                                          <p:attrName>style.visibility</p:attrName>
                                        </p:attrNameLst>
                                      </p:cBhvr>
                                      <p:to>
                                        <p:strVal val="visible"/>
                                      </p:to>
                                    </p:set>
                                    <p:anim calcmode="lin" valueType="num">
                                      <p:cBhvr additive="base">
                                        <p:cTn id="42" dur="500" fill="hold"/>
                                        <p:tgtEl>
                                          <p:spTgt spid="1035269">
                                            <p:txEl>
                                              <p:pRg st="6" end="6"/>
                                            </p:txEl>
                                          </p:spTgt>
                                        </p:tgtEl>
                                        <p:attrNameLst>
                                          <p:attrName>ppt_x</p:attrName>
                                        </p:attrNameLst>
                                      </p:cBhvr>
                                      <p:tavLst>
                                        <p:tav tm="0">
                                          <p:val>
                                            <p:strVal val="0-#ppt_w/2"/>
                                          </p:val>
                                        </p:tav>
                                        <p:tav tm="100000">
                                          <p:val>
                                            <p:strVal val="#ppt_x"/>
                                          </p:val>
                                        </p:tav>
                                      </p:tavLst>
                                    </p:anim>
                                    <p:anim calcmode="lin" valueType="num">
                                      <p:cBhvr additive="base">
                                        <p:cTn id="43" dur="500" fill="hold"/>
                                        <p:tgtEl>
                                          <p:spTgt spid="1035269">
                                            <p:txEl>
                                              <p:pRg st="6" end="6"/>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0"/>
                                            </p:cond>
                                          </p:stCondLst>
                                          <p:endCondLst>
                                            <p:cond evt="onStopAudio" delay="0">
                                              <p:tgtEl>
                                                <p:sldTgt/>
                                              </p:tgtEl>
                                            </p:cond>
                                          </p:endCondLst>
                                        </p:cTn>
                                        <p:tgtEl>
                                          <p:sndTgt r:embed="rId2" name="WHOOSH.WAV"/>
                                        </p:tgtEl>
                                      </p:cMediaNode>
                                    </p:audio>
                                  </p:subTnLst>
                                </p:cTn>
                              </p:par>
                            </p:childTnLst>
                          </p:cTn>
                        </p:par>
                        <p:par>
                          <p:cTn id="44" fill="hold">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1035269">
                                            <p:txEl>
                                              <p:pRg st="7" end="7"/>
                                            </p:txEl>
                                          </p:spTgt>
                                        </p:tgtEl>
                                        <p:attrNameLst>
                                          <p:attrName>style.visibility</p:attrName>
                                        </p:attrNameLst>
                                      </p:cBhvr>
                                      <p:to>
                                        <p:strVal val="visible"/>
                                      </p:to>
                                    </p:set>
                                    <p:anim calcmode="lin" valueType="num">
                                      <p:cBhvr additive="base">
                                        <p:cTn id="47" dur="500" fill="hold"/>
                                        <p:tgtEl>
                                          <p:spTgt spid="1035269">
                                            <p:txEl>
                                              <p:pRg st="7" end="7"/>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035269">
                                            <p:txEl>
                                              <p:pRg st="7" end="7"/>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5"/>
                                            </p:cond>
                                          </p:stCondLst>
                                          <p:endCondLst>
                                            <p:cond evt="onStopAudio" delay="0">
                                              <p:tgtEl>
                                                <p:sldTgt/>
                                              </p:tgtEl>
                                            </p:cond>
                                          </p:endCondLst>
                                        </p:cTn>
                                        <p:tgtEl>
                                          <p:sndTgt r:embed="rId2" name="WHOOSH.WAV"/>
                                        </p:tgtEl>
                                      </p:cMediaNode>
                                    </p:audio>
                                  </p:subTnLst>
                                </p:cTn>
                              </p:par>
                            </p:childTnLst>
                          </p:cTn>
                        </p:par>
                        <p:par>
                          <p:cTn id="49" fill="hold">
                            <p:stCondLst>
                              <p:cond delay="4500"/>
                            </p:stCondLst>
                            <p:childTnLst>
                              <p:par>
                                <p:cTn id="50" presetID="2" presetClass="entr" presetSubtype="8" fill="hold" grpId="0" nodeType="afterEffect">
                                  <p:stCondLst>
                                    <p:cond delay="0"/>
                                  </p:stCondLst>
                                  <p:childTnLst>
                                    <p:set>
                                      <p:cBhvr>
                                        <p:cTn id="51" dur="1" fill="hold">
                                          <p:stCondLst>
                                            <p:cond delay="0"/>
                                          </p:stCondLst>
                                        </p:cTn>
                                        <p:tgtEl>
                                          <p:spTgt spid="1035269">
                                            <p:txEl>
                                              <p:pRg st="8" end="8"/>
                                            </p:txEl>
                                          </p:spTgt>
                                        </p:tgtEl>
                                        <p:attrNameLst>
                                          <p:attrName>style.visibility</p:attrName>
                                        </p:attrNameLst>
                                      </p:cBhvr>
                                      <p:to>
                                        <p:strVal val="visible"/>
                                      </p:to>
                                    </p:set>
                                    <p:anim calcmode="lin" valueType="num">
                                      <p:cBhvr additive="base">
                                        <p:cTn id="52" dur="500" fill="hold"/>
                                        <p:tgtEl>
                                          <p:spTgt spid="1035269">
                                            <p:txEl>
                                              <p:pRg st="8" end="8"/>
                                            </p:txEl>
                                          </p:spTgt>
                                        </p:tgtEl>
                                        <p:attrNameLst>
                                          <p:attrName>ppt_x</p:attrName>
                                        </p:attrNameLst>
                                      </p:cBhvr>
                                      <p:tavLst>
                                        <p:tav tm="0">
                                          <p:val>
                                            <p:strVal val="0-#ppt_w/2"/>
                                          </p:val>
                                        </p:tav>
                                        <p:tav tm="100000">
                                          <p:val>
                                            <p:strVal val="#ppt_x"/>
                                          </p:val>
                                        </p:tav>
                                      </p:tavLst>
                                    </p:anim>
                                    <p:anim calcmode="lin" valueType="num">
                                      <p:cBhvr additive="base">
                                        <p:cTn id="53" dur="500" fill="hold"/>
                                        <p:tgtEl>
                                          <p:spTgt spid="1035269">
                                            <p:txEl>
                                              <p:pRg st="8" end="8"/>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0"/>
                                            </p:cond>
                                          </p:stCondLst>
                                          <p:endCondLst>
                                            <p:cond evt="onStopAudio" delay="0">
                                              <p:tgtEl>
                                                <p:sldTgt/>
                                              </p:tgtEl>
                                            </p:cond>
                                          </p:endCondLst>
                                        </p:cTn>
                                        <p:tgtEl>
                                          <p:sndTgt r:embed="rId2" name="WHOOSH.WAV"/>
                                        </p:tgtEl>
                                      </p:cMediaNode>
                                    </p:audio>
                                  </p:subTnLst>
                                </p:cTn>
                              </p:par>
                            </p:childTnLst>
                          </p:cTn>
                        </p:par>
                        <p:par>
                          <p:cTn id="54" fill="hold">
                            <p:stCondLst>
                              <p:cond delay="5000"/>
                            </p:stCondLst>
                            <p:childTnLst>
                              <p:par>
                                <p:cTn id="55" presetID="2" presetClass="entr" presetSubtype="8" fill="hold" grpId="0" nodeType="afterEffect">
                                  <p:stCondLst>
                                    <p:cond delay="0"/>
                                  </p:stCondLst>
                                  <p:childTnLst>
                                    <p:set>
                                      <p:cBhvr>
                                        <p:cTn id="56" dur="1" fill="hold">
                                          <p:stCondLst>
                                            <p:cond delay="0"/>
                                          </p:stCondLst>
                                        </p:cTn>
                                        <p:tgtEl>
                                          <p:spTgt spid="1035269">
                                            <p:txEl>
                                              <p:pRg st="9" end="9"/>
                                            </p:txEl>
                                          </p:spTgt>
                                        </p:tgtEl>
                                        <p:attrNameLst>
                                          <p:attrName>style.visibility</p:attrName>
                                        </p:attrNameLst>
                                      </p:cBhvr>
                                      <p:to>
                                        <p:strVal val="visible"/>
                                      </p:to>
                                    </p:set>
                                    <p:anim calcmode="lin" valueType="num">
                                      <p:cBhvr additive="base">
                                        <p:cTn id="57" dur="500" fill="hold"/>
                                        <p:tgtEl>
                                          <p:spTgt spid="1035269">
                                            <p:txEl>
                                              <p:pRg st="9" end="9"/>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1035269">
                                            <p:txEl>
                                              <p:pRg st="9" end="9"/>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5"/>
                                            </p:cond>
                                          </p:stCondLst>
                                          <p:endCondLst>
                                            <p:cond evt="onStopAudio" delay="0">
                                              <p:tgtEl>
                                                <p:sldTgt/>
                                              </p:tgtEl>
                                            </p:cond>
                                          </p:endCondLst>
                                        </p:cTn>
                                        <p:tgtEl>
                                          <p:sndTgt r:embed="rId2" name="WHOOSH.WAV"/>
                                        </p:tgtEl>
                                      </p:cMediaNode>
                                    </p:audio>
                                  </p:subTnLst>
                                </p:cTn>
                              </p:par>
                            </p:childTnLst>
                          </p:cTn>
                        </p:par>
                        <p:par>
                          <p:cTn id="59" fill="hold">
                            <p:stCondLst>
                              <p:cond delay="5500"/>
                            </p:stCondLst>
                            <p:childTnLst>
                              <p:par>
                                <p:cTn id="60" presetID="2" presetClass="entr" presetSubtype="8" fill="hold" grpId="0" nodeType="afterEffect">
                                  <p:stCondLst>
                                    <p:cond delay="0"/>
                                  </p:stCondLst>
                                  <p:childTnLst>
                                    <p:set>
                                      <p:cBhvr>
                                        <p:cTn id="61" dur="1" fill="hold">
                                          <p:stCondLst>
                                            <p:cond delay="0"/>
                                          </p:stCondLst>
                                        </p:cTn>
                                        <p:tgtEl>
                                          <p:spTgt spid="1035269">
                                            <p:txEl>
                                              <p:pRg st="10" end="10"/>
                                            </p:txEl>
                                          </p:spTgt>
                                        </p:tgtEl>
                                        <p:attrNameLst>
                                          <p:attrName>style.visibility</p:attrName>
                                        </p:attrNameLst>
                                      </p:cBhvr>
                                      <p:to>
                                        <p:strVal val="visible"/>
                                      </p:to>
                                    </p:set>
                                    <p:anim calcmode="lin" valueType="num">
                                      <p:cBhvr additive="base">
                                        <p:cTn id="62" dur="500" fill="hold"/>
                                        <p:tgtEl>
                                          <p:spTgt spid="1035269">
                                            <p:txEl>
                                              <p:pRg st="10" end="10"/>
                                            </p:txEl>
                                          </p:spTgt>
                                        </p:tgtEl>
                                        <p:attrNameLst>
                                          <p:attrName>ppt_x</p:attrName>
                                        </p:attrNameLst>
                                      </p:cBhvr>
                                      <p:tavLst>
                                        <p:tav tm="0">
                                          <p:val>
                                            <p:strVal val="0-#ppt_w/2"/>
                                          </p:val>
                                        </p:tav>
                                        <p:tav tm="100000">
                                          <p:val>
                                            <p:strVal val="#ppt_x"/>
                                          </p:val>
                                        </p:tav>
                                      </p:tavLst>
                                    </p:anim>
                                    <p:anim calcmode="lin" valueType="num">
                                      <p:cBhvr additive="base">
                                        <p:cTn id="63" dur="500" fill="hold"/>
                                        <p:tgtEl>
                                          <p:spTgt spid="1035269">
                                            <p:txEl>
                                              <p:pRg st="10" end="1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60"/>
                                            </p:cond>
                                          </p:stCondLst>
                                          <p:endCondLst>
                                            <p:cond evt="onStopAudio" delay="0">
                                              <p:tgtEl>
                                                <p:sldTgt/>
                                              </p:tgtEl>
                                            </p:cond>
                                          </p:endCondLst>
                                        </p:cTn>
                                        <p:tgtEl>
                                          <p:sndTgt r:embed="rId2" name="WHOOSH.WAV"/>
                                        </p:tgtEl>
                                      </p:cMediaNode>
                                    </p:audio>
                                  </p:subTnLst>
                                </p:cTn>
                              </p:par>
                              <p:par>
                                <p:cTn id="64" presetID="42" presetClass="entr" presetSubtype="0" fill="hold" nodeType="withEffect">
                                  <p:stCondLst>
                                    <p:cond delay="0"/>
                                  </p:stCondLst>
                                  <p:childTnLst>
                                    <p:set>
                                      <p:cBhvr>
                                        <p:cTn id="65" dur="1" fill="hold">
                                          <p:stCondLst>
                                            <p:cond delay="0"/>
                                          </p:stCondLst>
                                        </p:cTn>
                                        <p:tgtEl>
                                          <p:spTgt spid="6"/>
                                        </p:tgtEl>
                                        <p:attrNameLst>
                                          <p:attrName>style.visibility</p:attrName>
                                        </p:attrNameLst>
                                      </p:cBhvr>
                                      <p:to>
                                        <p:strVal val="visible"/>
                                      </p:to>
                                    </p:set>
                                    <p:animEffect transition="in" filter="fade">
                                      <p:cBhvr>
                                        <p:cTn id="66" dur="1000"/>
                                        <p:tgtEl>
                                          <p:spTgt spid="6"/>
                                        </p:tgtEl>
                                      </p:cBhvr>
                                    </p:animEffect>
                                    <p:anim calcmode="lin" valueType="num">
                                      <p:cBhvr>
                                        <p:cTn id="67" dur="1000" fill="hold"/>
                                        <p:tgtEl>
                                          <p:spTgt spid="6"/>
                                        </p:tgtEl>
                                        <p:attrNameLst>
                                          <p:attrName>ppt_x</p:attrName>
                                        </p:attrNameLst>
                                      </p:cBhvr>
                                      <p:tavLst>
                                        <p:tav tm="0">
                                          <p:val>
                                            <p:strVal val="#ppt_x"/>
                                          </p:val>
                                        </p:tav>
                                        <p:tav tm="100000">
                                          <p:val>
                                            <p:strVal val="#ppt_x"/>
                                          </p:val>
                                        </p:tav>
                                      </p:tavLst>
                                    </p:anim>
                                    <p:anim calcmode="lin" valueType="num">
                                      <p:cBhvr>
                                        <p:cTn id="6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5269" grpId="0" build="p" bldLvl="5"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4659" name="Rectangle 115"/>
          <p:cNvSpPr>
            <a:spLocks noChangeArrowheads="1"/>
          </p:cNvSpPr>
          <p:nvPr/>
        </p:nvSpPr>
        <p:spPr bwMode="auto">
          <a:xfrm>
            <a:off x="833438" y="24923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1004660" name="Rectangle 116"/>
          <p:cNvSpPr>
            <a:spLocks noChangeArrowheads="1"/>
          </p:cNvSpPr>
          <p:nvPr/>
        </p:nvSpPr>
        <p:spPr bwMode="auto">
          <a:xfrm>
            <a:off x="611188" y="996950"/>
            <a:ext cx="7986713" cy="1279525"/>
          </a:xfrm>
          <a:prstGeom prst="rect">
            <a:avLst/>
          </a:prstGeom>
          <a:solidFill>
            <a:schemeClr val="bg2">
              <a:lumMod val="20000"/>
              <a:lumOff val="80000"/>
            </a:schemeClr>
          </a:solidFill>
          <a:ln w="9525">
            <a:noFill/>
            <a:miter lim="800000"/>
          </a:ln>
        </p:spPr>
        <p:txBody>
          <a:bodyPr anchor="ctr"/>
          <a:lstStyle/>
          <a:p>
            <a:pPr marL="342900" marR="0" lvl="0" indent="-342900" algn="l" defTabSz="914400" rtl="0" eaLnBrk="0" fontAlgn="base" latinLnBrk="0" hangingPunct="0">
              <a:lnSpc>
                <a:spcPct val="105000"/>
              </a:lnSpc>
              <a:spcBef>
                <a:spcPct val="20000"/>
              </a:spcBef>
              <a:spcAft>
                <a:spcPct val="0"/>
              </a:spcAft>
              <a:buClrTx/>
              <a:buSzTx/>
              <a:buFontTx/>
              <a:buChar char="•"/>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设对象个数为</a:t>
            </a:r>
            <a:r>
              <a:rPr kumimoji="1" lang="en-US" altLang="zh-CN" sz="2800" b="0" i="1" u="none" strike="noStrike" kern="1200" cap="none" spc="0" normalizeH="0" baseline="0" noProof="0" dirty="0">
                <a:ln>
                  <a:noFill/>
                </a:ln>
                <a:solidFill>
                  <a:schemeClr val="tx1"/>
                </a:solidFill>
                <a:effectLst/>
                <a:uLnTx/>
                <a:uFillTx/>
                <a:latin typeface="+mn-lt"/>
                <a:ea typeface="+mn-ea"/>
                <a:cs typeface="+mn-ea"/>
                <a:sym typeface="+mn-lt"/>
              </a:rPr>
              <a:t>n</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，则执行</a:t>
            </a:r>
            <a:r>
              <a:rPr kumimoji="1" lang="en-US" altLang="zh-CN" sz="2800" b="0" i="0" u="none" strike="noStrike" kern="1200" cap="none" spc="0" normalizeH="0" baseline="0" noProof="0" dirty="0">
                <a:ln>
                  <a:noFill/>
                </a:ln>
                <a:solidFill>
                  <a:srgbClr val="FF3300"/>
                </a:solidFill>
                <a:effectLst/>
                <a:uLnTx/>
                <a:uFillTx/>
                <a:latin typeface="+mn-lt"/>
                <a:ea typeface="+mn-ea"/>
                <a:cs typeface="+mn-ea"/>
                <a:sym typeface="+mn-lt"/>
              </a:rPr>
              <a:t>n-1</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趟</a:t>
            </a:r>
          </a:p>
          <a:p>
            <a:pPr marL="342900" marR="0" lvl="0" indent="-342900" algn="l" defTabSz="914400" rtl="0" eaLnBrk="0" fontAlgn="base" latinLnBrk="0" hangingPunct="0">
              <a:lnSpc>
                <a:spcPct val="105000"/>
              </a:lnSpc>
              <a:spcBef>
                <a:spcPct val="20000"/>
              </a:spcBef>
              <a:spcAft>
                <a:spcPct val="0"/>
              </a:spcAft>
              <a:buClrTx/>
              <a:buSzTx/>
              <a:buFontTx/>
              <a:buChar char="•"/>
              <a:defRPr/>
            </a:pP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比较次数</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和</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移动次数</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与初始排列有关</a:t>
            </a:r>
          </a:p>
        </p:txBody>
      </p:sp>
      <p:grpSp>
        <p:nvGrpSpPr>
          <p:cNvPr id="2" name="Group 117"/>
          <p:cNvGrpSpPr/>
          <p:nvPr/>
        </p:nvGrpSpPr>
        <p:grpSpPr>
          <a:xfrm>
            <a:off x="611188" y="2465388"/>
            <a:ext cx="7986712" cy="2540000"/>
            <a:chOff x="295" y="1240"/>
            <a:chExt cx="5031" cy="1600"/>
          </a:xfrm>
        </p:grpSpPr>
        <p:sp>
          <p:nvSpPr>
            <p:cNvPr id="21509" name="Rectangle 118"/>
            <p:cNvSpPr>
              <a:spLocks noChangeArrowheads="1"/>
            </p:cNvSpPr>
            <p:nvPr/>
          </p:nvSpPr>
          <p:spPr bwMode="auto">
            <a:xfrm>
              <a:off x="295" y="1240"/>
              <a:ext cx="5031" cy="896"/>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最好情况下：</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　每趟只需比较 </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 </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次，不移动 </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　总比较次数为</a:t>
              </a:r>
              <a:r>
                <a:rPr kumimoji="0" lang="zh-CN" altLang="en-US" sz="2800" b="0"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2800" b="0" i="0" u="none" strike="noStrike" kern="1200" cap="none" spc="0" normalizeH="0" baseline="0" noProof="0">
                  <a:ln>
                    <a:noFill/>
                  </a:ln>
                  <a:solidFill>
                    <a:srgbClr val="FF3300"/>
                  </a:solidFill>
                  <a:effectLst/>
                  <a:uLnTx/>
                  <a:uFillTx/>
                  <a:latin typeface="+mn-lt"/>
                  <a:ea typeface="+mn-ea"/>
                  <a:cs typeface="+mn-ea"/>
                  <a:sym typeface="+mn-lt"/>
                </a:rPr>
                <a:t>n-1</a:t>
              </a:r>
              <a:endParaRPr kumimoji="0" lang="en-US" altLang="zh-CN" sz="2400" b="0" i="1" u="none" strike="noStrike" kern="1200" cap="none" spc="0" normalizeH="0" baseline="0" noProof="0">
                <a:ln>
                  <a:noFill/>
                </a:ln>
                <a:solidFill>
                  <a:srgbClr val="FF3399"/>
                </a:solidFill>
                <a:effectLst/>
                <a:uLnTx/>
                <a:uFillTx/>
                <a:latin typeface="+mn-lt"/>
                <a:ea typeface="+mn-ea"/>
                <a:cs typeface="+mn-ea"/>
                <a:sym typeface="+mn-lt"/>
              </a:endParaRPr>
            </a:p>
          </p:txBody>
        </p:sp>
        <p:grpSp>
          <p:nvGrpSpPr>
            <p:cNvPr id="34823" name="Group 119"/>
            <p:cNvGrpSpPr/>
            <p:nvPr/>
          </p:nvGrpSpPr>
          <p:grpSpPr>
            <a:xfrm>
              <a:off x="450" y="2295"/>
              <a:ext cx="4144" cy="545"/>
              <a:chOff x="384" y="223"/>
              <a:chExt cx="4944" cy="768"/>
            </a:xfrm>
          </p:grpSpPr>
          <p:sp>
            <p:nvSpPr>
              <p:cNvPr id="1004664" name="AutoShape 120" descr="白色大理石"/>
              <p:cNvSpPr>
                <a:spLocks noChangeArrowheads="1"/>
              </p:cNvSpPr>
              <p:nvPr/>
            </p:nvSpPr>
            <p:spPr bwMode="auto">
              <a:xfrm>
                <a:off x="384" y="704"/>
                <a:ext cx="4944" cy="287"/>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ctr" defTabSz="914400" rtl="0" eaLnBrk="0" fontAlgn="base" latinLnBrk="0" hangingPunct="0">
                  <a:lnSpc>
                    <a:spcPct val="100000"/>
                  </a:lnSpc>
                  <a:spcBef>
                    <a:spcPct val="20000"/>
                  </a:spcBef>
                  <a:spcAft>
                    <a:spcPct val="0"/>
                  </a:spcAft>
                  <a:buClrTx/>
                  <a:buSzTx/>
                  <a:buFontTx/>
                  <a:buNone/>
                  <a:defRPr/>
                </a:pPr>
                <a:endParaRPr kumimoji="0" lang="zh-CN" altLang="zh-CN" sz="3200" b="0" i="0" u="none" strike="noStrike" kern="1200" cap="none" spc="0" normalizeH="0" baseline="0" noProof="0">
                  <a:ln>
                    <a:noFill/>
                  </a:ln>
                  <a:solidFill>
                    <a:schemeClr val="hlink"/>
                  </a:solidFill>
                  <a:effectLst/>
                  <a:uLnTx/>
                  <a:uFillTx/>
                  <a:latin typeface="+mn-lt"/>
                  <a:ea typeface="+mn-ea"/>
                  <a:cs typeface="+mn-ea"/>
                  <a:sym typeface="+mn-lt"/>
                </a:endParaRPr>
              </a:p>
            </p:txBody>
          </p:sp>
          <p:sp>
            <p:nvSpPr>
              <p:cNvPr id="1004665" name="AutoShape 121"/>
              <p:cNvSpPr>
                <a:spLocks noChangeArrowheads="1"/>
              </p:cNvSpPr>
              <p:nvPr/>
            </p:nvSpPr>
            <p:spPr bwMode="auto">
              <a:xfrm>
                <a:off x="2160" y="463"/>
                <a:ext cx="334" cy="482"/>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4666" name="AutoShape 122"/>
              <p:cNvSpPr>
                <a:spLocks noChangeArrowheads="1"/>
              </p:cNvSpPr>
              <p:nvPr/>
            </p:nvSpPr>
            <p:spPr bwMode="auto">
              <a:xfrm>
                <a:off x="2640" y="415"/>
                <a:ext cx="336" cy="528"/>
              </a:xfrm>
              <a:prstGeom prst="can">
                <a:avLst>
                  <a:gd name="adj" fmla="val 39286"/>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4667" name="AutoShape 123"/>
              <p:cNvSpPr>
                <a:spLocks noChangeArrowheads="1"/>
              </p:cNvSpPr>
              <p:nvPr/>
            </p:nvSpPr>
            <p:spPr bwMode="auto">
              <a:xfrm>
                <a:off x="3600" y="223"/>
                <a:ext cx="334" cy="72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4668" name="AutoShape 124"/>
              <p:cNvSpPr>
                <a:spLocks noChangeArrowheads="1"/>
              </p:cNvSpPr>
              <p:nvPr/>
            </p:nvSpPr>
            <p:spPr bwMode="auto">
              <a:xfrm>
                <a:off x="3120" y="415"/>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4669" name="AutoShape 125"/>
              <p:cNvSpPr>
                <a:spLocks noChangeArrowheads="1"/>
              </p:cNvSpPr>
              <p:nvPr/>
            </p:nvSpPr>
            <p:spPr bwMode="auto">
              <a:xfrm>
                <a:off x="1680" y="510"/>
                <a:ext cx="336" cy="433"/>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4670" name="AutoShape 126"/>
              <p:cNvSpPr>
                <a:spLocks noChangeArrowheads="1"/>
              </p:cNvSpPr>
              <p:nvPr/>
            </p:nvSpPr>
            <p:spPr bwMode="auto">
              <a:xfrm>
                <a:off x="1200" y="704"/>
                <a:ext cx="336" cy="241"/>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grpSp>
      <p:sp>
        <p:nvSpPr>
          <p:cNvPr id="1004671" name="Rectangle 127"/>
          <p:cNvSpPr>
            <a:spLocks noChangeArrowheads="1"/>
          </p:cNvSpPr>
          <p:nvPr/>
        </p:nvSpPr>
        <p:spPr bwMode="auto">
          <a:xfrm>
            <a:off x="611188" y="5413375"/>
            <a:ext cx="7986713" cy="10318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914400" marR="0" lvl="2"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chemeClr val="tx1"/>
                </a:solidFill>
                <a:effectLst/>
                <a:uLnTx/>
                <a:uFillTx/>
                <a:latin typeface="+mn-lt"/>
                <a:ea typeface="+mn-ea"/>
                <a:cs typeface="+mn-ea"/>
                <a:sym typeface="+mn-lt"/>
              </a:rPr>
              <a:t>for(i=2;i&lt;=L.length;++i)</a:t>
            </a:r>
          </a:p>
          <a:p>
            <a:pPr marL="914400" marR="0" lvl="2"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3300"/>
                </a:solidFill>
                <a:effectLst/>
                <a:uLnTx/>
                <a:uFillTx/>
                <a:latin typeface="+mn-lt"/>
                <a:ea typeface="+mn-ea"/>
                <a:cs typeface="+mn-ea"/>
                <a:sym typeface="+mn-lt"/>
              </a:rPr>
              <a:t>     if( L.r[i].key&lt;L.r[i-1].key)</a:t>
            </a: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1004671"/>
                                        </p:tgtEl>
                                        <p:attrNameLst>
                                          <p:attrName>style.visibility</p:attrName>
                                        </p:attrNameLst>
                                      </p:cBhvr>
                                      <p:to>
                                        <p:strVal val="visible"/>
                                      </p:to>
                                    </p:set>
                                    <p:animEffect transition="in" filter="box(in)">
                                      <p:cBhvr>
                                        <p:cTn id="13" dur="500"/>
                                        <p:tgtEl>
                                          <p:spTgt spid="1004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4671"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bwMode="auto">
          <a:xfrm>
            <a:off x="2484438" y="2420938"/>
            <a:ext cx="6462713" cy="1547813"/>
          </a:xfrm>
          <a:prstGeom prst="rect">
            <a:avLst/>
          </a:prstGeom>
          <a:noFill/>
          <a:ln w="9525" cap="flat" cmpd="sng" algn="ctr">
            <a:solidFill>
              <a:schemeClr val="bg2">
                <a:lumMod val="40000"/>
                <a:lumOff val="60000"/>
              </a:schemeClr>
            </a:solid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22531" name="Rectangle 75"/>
          <p:cNvSpPr>
            <a:spLocks noChangeArrowheads="1"/>
          </p:cNvSpPr>
          <p:nvPr/>
        </p:nvSpPr>
        <p:spPr bwMode="auto">
          <a:xfrm>
            <a:off x="204788" y="2420938"/>
            <a:ext cx="2393950" cy="1547813"/>
          </a:xfrm>
          <a:prstGeom prst="rect">
            <a:avLst/>
          </a:prstGeom>
          <a:solidFill>
            <a:schemeClr val="accent1">
              <a:lumMod val="40000"/>
              <a:lumOff val="60000"/>
            </a:schemeClr>
          </a:solidFill>
          <a:ln>
            <a:noFill/>
          </a:ln>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just"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最坏情况下：第 </a:t>
            </a:r>
            <a:r>
              <a:rPr kumimoji="0" lang="en-US" altLang="zh-CN" sz="2400" b="0" i="1" u="none" strike="noStrike" kern="1200" cap="none" spc="0" normalizeH="0" baseline="0" noProof="0" dirty="0" err="1">
                <a:ln>
                  <a:noFill/>
                </a:ln>
                <a:solidFill>
                  <a:schemeClr val="bg1"/>
                </a:solidFill>
                <a:effectLst/>
                <a:uLnTx/>
                <a:uFillTx/>
                <a:latin typeface="+mn-lt"/>
                <a:ea typeface="+mn-ea"/>
                <a:cs typeface="+mn-ea"/>
                <a:sym typeface="+mn-lt"/>
              </a:rPr>
              <a:t>i</a:t>
            </a:r>
            <a:r>
              <a:rPr kumimoji="0" lang="en-US" altLang="zh-CN" sz="2400" b="0" i="1" u="none" strike="noStrike" kern="1200" cap="none" spc="0" normalizeH="0" baseline="0" noProof="0" dirty="0">
                <a:ln>
                  <a:noFill/>
                </a:ln>
                <a:solidFill>
                  <a:schemeClr val="bg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趟比较</a:t>
            </a:r>
            <a:r>
              <a:rPr kumimoji="0" lang="en-US" altLang="zh-CN" sz="2400" b="0" i="1" u="none" strike="noStrike" kern="1200" cap="none" spc="0" normalizeH="0" baseline="0" noProof="0" dirty="0" err="1">
                <a:ln>
                  <a:noFill/>
                </a:ln>
                <a:solidFill>
                  <a:schemeClr val="bg1"/>
                </a:solidFill>
                <a:effectLst/>
                <a:uLnTx/>
                <a:uFillTx/>
                <a:latin typeface="+mn-lt"/>
                <a:ea typeface="+mn-ea"/>
                <a:cs typeface="+mn-ea"/>
                <a:sym typeface="+mn-lt"/>
              </a:rPr>
              <a:t>i</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次，移动</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i+1</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次</a:t>
            </a:r>
          </a:p>
        </p:txBody>
      </p:sp>
      <p:grpSp>
        <p:nvGrpSpPr>
          <p:cNvPr id="35844" name="Group 76"/>
          <p:cNvGrpSpPr/>
          <p:nvPr/>
        </p:nvGrpSpPr>
        <p:grpSpPr>
          <a:xfrm>
            <a:off x="2174875" y="1031875"/>
            <a:ext cx="6578600" cy="839788"/>
            <a:chOff x="540" y="315"/>
            <a:chExt cx="4144" cy="529"/>
          </a:xfrm>
        </p:grpSpPr>
        <p:sp>
          <p:nvSpPr>
            <p:cNvPr id="1037389" name="AutoShape 77" descr="白色大理石"/>
            <p:cNvSpPr>
              <a:spLocks noChangeArrowheads="1"/>
            </p:cNvSpPr>
            <p:nvPr/>
          </p:nvSpPr>
          <p:spPr bwMode="auto">
            <a:xfrm>
              <a:off x="540" y="640"/>
              <a:ext cx="4144" cy="204"/>
            </a:xfrm>
            <a:prstGeom prst="parallelogram">
              <a:avLst>
                <a:gd name="adj" fmla="val 293985"/>
              </a:avLst>
            </a:prstGeom>
            <a:blipFill dpi="0" rotWithShape="0">
              <a:blip r:embed="rId3"/>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ctr" defTabSz="914400" rtl="0" eaLnBrk="0" fontAlgn="base" latinLnBrk="0" hangingPunct="0">
                <a:lnSpc>
                  <a:spcPct val="100000"/>
                </a:lnSpc>
                <a:spcBef>
                  <a:spcPct val="20000"/>
                </a:spcBef>
                <a:spcAft>
                  <a:spcPct val="0"/>
                </a:spcAft>
                <a:buClrTx/>
                <a:buSzTx/>
                <a:buFontTx/>
                <a:buNone/>
                <a:defRPr/>
              </a:pPr>
              <a:endParaRPr kumimoji="0" lang="zh-CN" altLang="zh-CN" sz="3200" b="1" i="0" u="none" strike="noStrike" kern="1200" cap="none" spc="0" normalizeH="0" baseline="0" noProof="0">
                <a:ln>
                  <a:noFill/>
                </a:ln>
                <a:solidFill>
                  <a:schemeClr val="hlink"/>
                </a:solidFill>
                <a:effectLst/>
                <a:uLnTx/>
                <a:uFillTx/>
                <a:latin typeface="+mn-lt"/>
                <a:ea typeface="+mn-ea"/>
                <a:cs typeface="+mn-ea"/>
                <a:sym typeface="+mn-lt"/>
              </a:endParaRPr>
            </a:p>
          </p:txBody>
        </p:sp>
        <p:sp>
          <p:nvSpPr>
            <p:cNvPr id="1037390" name="AutoShape 78"/>
            <p:cNvSpPr>
              <a:spLocks noChangeArrowheads="1"/>
            </p:cNvSpPr>
            <p:nvPr/>
          </p:nvSpPr>
          <p:spPr bwMode="auto">
            <a:xfrm>
              <a:off x="2608" y="485"/>
              <a:ext cx="281" cy="341"/>
            </a:xfrm>
            <a:prstGeom prst="can">
              <a:avLst>
                <a:gd name="adj" fmla="val 30338"/>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37391" name="AutoShape 79"/>
            <p:cNvSpPr>
              <a:spLocks noChangeArrowheads="1"/>
            </p:cNvSpPr>
            <p:nvPr/>
          </p:nvSpPr>
          <p:spPr bwMode="auto">
            <a:xfrm>
              <a:off x="2149" y="435"/>
              <a:ext cx="282" cy="375"/>
            </a:xfrm>
            <a:prstGeom prst="can">
              <a:avLst>
                <a:gd name="adj" fmla="val 33245"/>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37392" name="AutoShape 80"/>
            <p:cNvSpPr>
              <a:spLocks noChangeArrowheads="1"/>
            </p:cNvSpPr>
            <p:nvPr/>
          </p:nvSpPr>
          <p:spPr bwMode="auto">
            <a:xfrm>
              <a:off x="1247" y="315"/>
              <a:ext cx="281" cy="511"/>
            </a:xfrm>
            <a:prstGeom prst="can">
              <a:avLst>
                <a:gd name="adj" fmla="val 4546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37393" name="AutoShape 81"/>
            <p:cNvSpPr>
              <a:spLocks noChangeArrowheads="1"/>
            </p:cNvSpPr>
            <p:nvPr/>
          </p:nvSpPr>
          <p:spPr bwMode="auto">
            <a:xfrm>
              <a:off x="1720" y="418"/>
              <a:ext cx="282" cy="375"/>
            </a:xfrm>
            <a:prstGeom prst="can">
              <a:avLst>
                <a:gd name="adj" fmla="val 33245"/>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37394" name="AutoShape 82"/>
            <p:cNvSpPr>
              <a:spLocks noChangeArrowheads="1"/>
            </p:cNvSpPr>
            <p:nvPr/>
          </p:nvSpPr>
          <p:spPr bwMode="auto">
            <a:xfrm>
              <a:off x="3061" y="520"/>
              <a:ext cx="282" cy="307"/>
            </a:xfrm>
            <a:prstGeom prst="can">
              <a:avLst>
                <a:gd name="adj" fmla="val 2721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37395" name="AutoShape 83"/>
            <p:cNvSpPr>
              <a:spLocks noChangeArrowheads="1"/>
            </p:cNvSpPr>
            <p:nvPr/>
          </p:nvSpPr>
          <p:spPr bwMode="auto">
            <a:xfrm>
              <a:off x="3515" y="640"/>
              <a:ext cx="282" cy="17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sp>
        <p:nvSpPr>
          <p:cNvPr id="1037396" name="Rectangle 84"/>
          <p:cNvSpPr>
            <a:spLocks noChangeArrowheads="1"/>
          </p:cNvSpPr>
          <p:nvPr/>
        </p:nvSpPr>
        <p:spPr bwMode="auto">
          <a:xfrm>
            <a:off x="784225" y="214313"/>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grpSp>
        <p:nvGrpSpPr>
          <p:cNvPr id="3" name="Group 92"/>
          <p:cNvGrpSpPr/>
          <p:nvPr/>
        </p:nvGrpSpPr>
        <p:grpSpPr>
          <a:xfrm>
            <a:off x="2755900" y="2551113"/>
            <a:ext cx="6016625" cy="644525"/>
            <a:chOff x="520" y="1637"/>
            <a:chExt cx="3790" cy="406"/>
          </a:xfrm>
        </p:grpSpPr>
        <p:graphicFrame>
          <p:nvGraphicFramePr>
            <p:cNvPr id="35851" name="Object 85"/>
            <p:cNvGraphicFramePr/>
            <p:nvPr/>
          </p:nvGraphicFramePr>
          <p:xfrm>
            <a:off x="1605" y="1670"/>
            <a:ext cx="2705" cy="373"/>
          </p:xfrm>
          <a:graphic>
            <a:graphicData uri="http://schemas.openxmlformats.org/presentationml/2006/ole">
              <mc:AlternateContent xmlns:mc="http://schemas.openxmlformats.org/markup-compatibility/2006">
                <mc:Choice xmlns:v="urn:schemas-microsoft-com:vml" Requires="v">
                  <p:oleObj spid="_x0000_s1034" r:id="rId4" imgW="1243965" imgH="431800" progId="Equation.3">
                    <p:embed/>
                  </p:oleObj>
                </mc:Choice>
                <mc:Fallback>
                  <p:oleObj r:id="rId4" imgW="1243965" imgH="431800" progId="Equation.3">
                    <p:embed/>
                    <p:pic>
                      <p:nvPicPr>
                        <p:cNvPr id="0" name="图片 3083"/>
                        <p:cNvPicPr/>
                        <p:nvPr/>
                      </p:nvPicPr>
                      <p:blipFill>
                        <a:blip r:embed="rId5"/>
                        <a:stretch>
                          <a:fillRect/>
                        </a:stretch>
                      </p:blipFill>
                      <p:spPr>
                        <a:xfrm>
                          <a:off x="1605" y="1670"/>
                          <a:ext cx="2705" cy="373"/>
                        </a:xfrm>
                        <a:prstGeom prst="rect">
                          <a:avLst/>
                        </a:prstGeom>
                        <a:noFill/>
                        <a:ln w="38100">
                          <a:noFill/>
                          <a:miter/>
                        </a:ln>
                      </p:spPr>
                    </p:pic>
                  </p:oleObj>
                </mc:Fallback>
              </mc:AlternateContent>
            </a:graphicData>
          </a:graphic>
        </p:graphicFrame>
        <p:sp>
          <p:nvSpPr>
            <p:cNvPr id="22543" name="Rectangle 90"/>
            <p:cNvSpPr>
              <a:spLocks noChangeArrowheads="1"/>
            </p:cNvSpPr>
            <p:nvPr/>
          </p:nvSpPr>
          <p:spPr bwMode="auto">
            <a:xfrm>
              <a:off x="520" y="1637"/>
              <a:ext cx="945" cy="291"/>
            </a:xfrm>
            <a:prstGeom prst="rect">
              <a:avLst/>
            </a:prstGeom>
            <a:noFill/>
            <a:ln>
              <a:noFill/>
            </a:ln>
          </p:spPr>
          <p:txBody>
            <a:bodyPr wrap="non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比较次数</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endPar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endParaRPr>
            </a:p>
          </p:txBody>
        </p:sp>
      </p:grpSp>
      <p:grpSp>
        <p:nvGrpSpPr>
          <p:cNvPr id="4" name="Group 93"/>
          <p:cNvGrpSpPr/>
          <p:nvPr/>
        </p:nvGrpSpPr>
        <p:grpSpPr>
          <a:xfrm>
            <a:off x="2755900" y="3316288"/>
            <a:ext cx="6191250" cy="584200"/>
            <a:chOff x="521" y="2603"/>
            <a:chExt cx="3900" cy="368"/>
          </a:xfrm>
        </p:grpSpPr>
        <p:graphicFrame>
          <p:nvGraphicFramePr>
            <p:cNvPr id="35849" name="Object 87"/>
            <p:cNvGraphicFramePr/>
            <p:nvPr/>
          </p:nvGraphicFramePr>
          <p:xfrm>
            <a:off x="1588" y="2603"/>
            <a:ext cx="2833" cy="357"/>
          </p:xfrm>
          <a:graphic>
            <a:graphicData uri="http://schemas.openxmlformats.org/presentationml/2006/ole">
              <mc:AlternateContent xmlns:mc="http://schemas.openxmlformats.org/markup-compatibility/2006">
                <mc:Choice xmlns:v="urn:schemas-microsoft-com:vml" Requires="v">
                  <p:oleObj spid="_x0000_s1035" r:id="rId6" imgW="1536065" imgH="431800" progId="Equation.3">
                    <p:embed/>
                  </p:oleObj>
                </mc:Choice>
                <mc:Fallback>
                  <p:oleObj r:id="rId6" imgW="1536065" imgH="431800" progId="Equation.3">
                    <p:embed/>
                    <p:pic>
                      <p:nvPicPr>
                        <p:cNvPr id="0" name="图片 3084"/>
                        <p:cNvPicPr/>
                        <p:nvPr/>
                      </p:nvPicPr>
                      <p:blipFill>
                        <a:blip r:embed="rId7"/>
                        <a:stretch>
                          <a:fillRect/>
                        </a:stretch>
                      </p:blipFill>
                      <p:spPr>
                        <a:xfrm>
                          <a:off x="1588" y="2603"/>
                          <a:ext cx="2833" cy="357"/>
                        </a:xfrm>
                        <a:prstGeom prst="rect">
                          <a:avLst/>
                        </a:prstGeom>
                        <a:noFill/>
                        <a:ln w="38100">
                          <a:noFill/>
                          <a:miter/>
                        </a:ln>
                      </p:spPr>
                    </p:pic>
                  </p:oleObj>
                </mc:Fallback>
              </mc:AlternateContent>
            </a:graphicData>
          </a:graphic>
        </p:graphicFrame>
        <p:sp>
          <p:nvSpPr>
            <p:cNvPr id="22546" name="Rectangle 91"/>
            <p:cNvSpPr>
              <a:spLocks noChangeArrowheads="1"/>
            </p:cNvSpPr>
            <p:nvPr/>
          </p:nvSpPr>
          <p:spPr bwMode="auto">
            <a:xfrm>
              <a:off x="521" y="2680"/>
              <a:ext cx="945" cy="291"/>
            </a:xfrm>
            <a:prstGeom prst="rect">
              <a:avLst/>
            </a:prstGeom>
            <a:noFill/>
            <a:ln>
              <a:noFill/>
            </a:ln>
          </p:spPr>
          <p:txBody>
            <a:bodyPr wrap="non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移动次数</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endPar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endParaRPr>
            </a:p>
          </p:txBody>
        </p:sp>
      </p:grpSp>
      <p:sp>
        <p:nvSpPr>
          <p:cNvPr id="1037406" name="Rectangle 94"/>
          <p:cNvSpPr>
            <a:spLocks noChangeArrowheads="1"/>
          </p:cNvSpPr>
          <p:nvPr/>
        </p:nvSpPr>
        <p:spPr bwMode="auto">
          <a:xfrm>
            <a:off x="204788" y="4151313"/>
            <a:ext cx="8742363" cy="2235200"/>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914400" marR="0" lvl="2"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if(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].key&lt;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[i-1].key)</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p>
          <a:p>
            <a:pPr marL="914400" marR="0" lvl="2"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[0]=</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 </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复制为哨兵</a:t>
            </a:r>
            <a:endPar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endParaRPr>
          </a:p>
          <a:p>
            <a:pPr marL="914400" marR="0" lvl="2"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[i-1];</a:t>
            </a:r>
            <a:endPar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endParaRPr>
          </a:p>
          <a:p>
            <a:pPr marL="914400" marR="0" lvl="2"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p>
          <a:p>
            <a:pPr marL="914400" marR="0" lvl="2"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[j+1]=</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[0];</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插入到正确位置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037406"/>
                                        </p:tgtEl>
                                        <p:attrNameLst>
                                          <p:attrName>style.visibility</p:attrName>
                                        </p:attrNameLst>
                                      </p:cBhvr>
                                      <p:to>
                                        <p:strVal val="visible"/>
                                      </p:to>
                                    </p:set>
                                    <p:anim calcmode="lin" valueType="num">
                                      <p:cBhvr additive="base">
                                        <p:cTn id="17" dur="500" fill="hold"/>
                                        <p:tgtEl>
                                          <p:spTgt spid="1037406"/>
                                        </p:tgtEl>
                                        <p:attrNameLst>
                                          <p:attrName>ppt_x</p:attrName>
                                        </p:attrNameLst>
                                      </p:cBhvr>
                                      <p:tavLst>
                                        <p:tav tm="0">
                                          <p:val>
                                            <p:strVal val="#ppt_x"/>
                                          </p:val>
                                        </p:tav>
                                        <p:tav tm="100000">
                                          <p:val>
                                            <p:strVal val="#ppt_x"/>
                                          </p:val>
                                        </p:tav>
                                      </p:tavLst>
                                    </p:anim>
                                    <p:anim calcmode="lin" valueType="num">
                                      <p:cBhvr additive="base">
                                        <p:cTn id="18" dur="500" fill="hold"/>
                                        <p:tgtEl>
                                          <p:spTgt spid="1037406"/>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1037406"/>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740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88"/>
          <p:cNvSpPr>
            <a:spLocks noChangeArrowheads="1"/>
          </p:cNvSpPr>
          <p:nvPr/>
        </p:nvSpPr>
        <p:spPr bwMode="auto">
          <a:xfrm>
            <a:off x="290513" y="981075"/>
            <a:ext cx="8485188" cy="1411288"/>
          </a:xfrm>
          <a:prstGeom prst="rect">
            <a:avLst/>
          </a:prstGeom>
          <a:solidFill>
            <a:schemeClr val="bg2">
              <a:lumMod val="20000"/>
              <a:lumOff val="80000"/>
            </a:schemeClr>
          </a:solidFill>
          <a:ln>
            <a:noFill/>
          </a:ln>
        </p:spPr>
        <p:txBody>
          <a:bodyPr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5000"/>
              </a:lnSpc>
              <a:spcBef>
                <a:spcPct val="2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若出现各种可能排列的概率相同，则可取最好情况和最坏情况的平均情况</a:t>
            </a:r>
          </a:p>
          <a:p>
            <a:pPr marL="342900" marR="0" lvl="0" indent="-342900" algn="l" defTabSz="914400" rtl="0" eaLnBrk="0" fontAlgn="base" latinLnBrk="0" hangingPunct="0">
              <a:lnSpc>
                <a:spcPct val="105000"/>
              </a:lnSpc>
              <a:spcBef>
                <a:spcPct val="2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平均情况</a:t>
            </a:r>
            <a:r>
              <a:rPr kumimoji="0" lang="zh-CN" altLang="en-US" sz="2400" b="0" i="0" u="none" strike="noStrike" kern="1200" cap="none" spc="0" normalizeH="0" baseline="0" noProof="0" dirty="0">
                <a:ln>
                  <a:noFill/>
                </a:ln>
                <a:solidFill>
                  <a:srgbClr val="FF3399"/>
                </a:solidFill>
                <a:effectLst/>
                <a:uLnTx/>
                <a:uFillTx/>
                <a:latin typeface="+mn-lt"/>
                <a:ea typeface="+mn-ea"/>
                <a:cs typeface="+mn-ea"/>
                <a:sym typeface="+mn-lt"/>
              </a:rPr>
              <a:t>比较次数</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zh-CN" altLang="en-US" sz="2400" b="0" i="0" u="none" strike="noStrike" kern="1200" cap="none" spc="0" normalizeH="0" baseline="0" noProof="0" dirty="0">
                <a:ln>
                  <a:noFill/>
                </a:ln>
                <a:solidFill>
                  <a:srgbClr val="FF3399"/>
                </a:solidFill>
                <a:effectLst/>
                <a:uLnTx/>
                <a:uFillTx/>
                <a:latin typeface="+mn-lt"/>
                <a:ea typeface="+mn-ea"/>
                <a:cs typeface="+mn-ea"/>
                <a:sym typeface="+mn-lt"/>
              </a:rPr>
              <a:t>移动次数</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a:t>
            </a:r>
            <a:r>
              <a:rPr kumimoji="0" lang="en-US" altLang="zh-CN" sz="2400" b="0" i="1" u="none" strike="noStrike" kern="1200" cap="none" spc="0" normalizeH="0" baseline="0" noProof="0" dirty="0">
                <a:ln>
                  <a:noFill/>
                </a:ln>
                <a:solidFill>
                  <a:srgbClr val="FF3300"/>
                </a:solidFill>
                <a:effectLst/>
                <a:uLnTx/>
                <a:uFillTx/>
                <a:latin typeface="+mn-lt"/>
                <a:ea typeface="+mn-ea"/>
                <a:cs typeface="+mn-ea"/>
                <a:sym typeface="+mn-lt"/>
              </a:rPr>
              <a:t>n</a:t>
            </a:r>
            <a:r>
              <a:rPr kumimoji="0" lang="en-US" altLang="zh-CN" sz="2400" b="0" i="0" u="none" strike="noStrike" kern="1200" cap="none" spc="0" normalizeH="0" baseline="30000" noProof="0" dirty="0">
                <a:ln>
                  <a:noFill/>
                </a:ln>
                <a:solidFill>
                  <a:srgbClr val="FF3300"/>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/4</a:t>
            </a:r>
          </a:p>
        </p:txBody>
      </p:sp>
      <p:sp>
        <p:nvSpPr>
          <p:cNvPr id="1006681" name="Rectangle 89"/>
          <p:cNvSpPr>
            <a:spLocks noChangeArrowheads="1"/>
          </p:cNvSpPr>
          <p:nvPr/>
        </p:nvSpPr>
        <p:spPr bwMode="auto">
          <a:xfrm>
            <a:off x="295275" y="2606675"/>
            <a:ext cx="8480425" cy="1600200"/>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5000"/>
              </a:lnSpc>
              <a:spcBef>
                <a:spcPct val="5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时间复杂度为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o(</a:t>
            </a:r>
            <a:r>
              <a:rPr kumimoji="0" lang="en-US" altLang="zh-CN" sz="2400" b="0" i="1" u="none" strike="noStrike" kern="1200" cap="none" spc="0" normalizeH="0" baseline="0" noProof="0" dirty="0">
                <a:ln>
                  <a:noFill/>
                </a:ln>
                <a:solidFill>
                  <a:srgbClr val="FF3300"/>
                </a:solidFill>
                <a:effectLst/>
                <a:uLnTx/>
                <a:uFillTx/>
                <a:latin typeface="+mn-lt"/>
                <a:ea typeface="+mn-ea"/>
                <a:cs typeface="+mn-ea"/>
                <a:sym typeface="+mn-lt"/>
              </a:rPr>
              <a:t>n</a:t>
            </a:r>
            <a:r>
              <a:rPr kumimoji="0" lang="en-US" altLang="zh-CN" sz="2400" b="0" i="0" u="none" strike="noStrike" kern="1200" cap="none" spc="0" normalizeH="0" baseline="30000" noProof="0" dirty="0">
                <a:ln>
                  <a:noFill/>
                </a:ln>
                <a:solidFill>
                  <a:srgbClr val="FF3300"/>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p>
          <a:p>
            <a:pPr marL="0" marR="0" lvl="0" indent="0" algn="l" defTabSz="914400" rtl="0" eaLnBrk="0" fontAlgn="base" latinLnBrk="0" hangingPunct="0">
              <a:lnSpc>
                <a:spcPct val="105000"/>
              </a:lnSpc>
              <a:spcBef>
                <a:spcPct val="5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空间复杂度为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o(</a:t>
            </a:r>
            <a:r>
              <a:rPr kumimoji="0" lang="en-US" altLang="zh-CN" sz="2400" b="0" i="1" u="none" strike="noStrike" kern="1200" cap="none" spc="0" normalizeH="0" baseline="0" noProof="0" dirty="0">
                <a:ln>
                  <a:noFill/>
                </a:ln>
                <a:solidFill>
                  <a:srgbClr val="FF3300"/>
                </a:solidFill>
                <a:effectLst/>
                <a:uLnTx/>
                <a:uFillTx/>
                <a:latin typeface="+mn-lt"/>
                <a:ea typeface="+mn-ea"/>
                <a:cs typeface="+mn-ea"/>
                <a:sym typeface="+mn-lt"/>
              </a:rPr>
              <a:t>1</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p>
          <a:p>
            <a:pPr marL="0" marR="0" lvl="0" indent="0" algn="l" defTabSz="914400" rtl="0" eaLnBrk="0" fontAlgn="base" latinLnBrk="0" hangingPunct="0">
              <a:lnSpc>
                <a:spcPct val="105000"/>
              </a:lnSpc>
              <a:spcBef>
                <a:spcPct val="5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是一种</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稳定</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的排序方法</a:t>
            </a:r>
          </a:p>
        </p:txBody>
      </p:sp>
      <p:grpSp>
        <p:nvGrpSpPr>
          <p:cNvPr id="2" name="Group 90"/>
          <p:cNvGrpSpPr/>
          <p:nvPr/>
        </p:nvGrpSpPr>
        <p:grpSpPr>
          <a:xfrm>
            <a:off x="1395413" y="4832350"/>
            <a:ext cx="6578600" cy="865188"/>
            <a:chOff x="384" y="223"/>
            <a:chExt cx="4944" cy="768"/>
          </a:xfrm>
        </p:grpSpPr>
        <p:sp>
          <p:nvSpPr>
            <p:cNvPr id="1006683" name="AutoShape 91" descr="白色大理石"/>
            <p:cNvSpPr>
              <a:spLocks noChangeArrowheads="1"/>
            </p:cNvSpPr>
            <p:nvPr/>
          </p:nvSpPr>
          <p:spPr bwMode="auto">
            <a:xfrm>
              <a:off x="384" y="704"/>
              <a:ext cx="4944" cy="287"/>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ctr" defTabSz="914400" rtl="0" eaLnBrk="0" fontAlgn="base" latinLnBrk="0" hangingPunct="0">
                <a:lnSpc>
                  <a:spcPct val="100000"/>
                </a:lnSpc>
                <a:spcBef>
                  <a:spcPct val="20000"/>
                </a:spcBef>
                <a:spcAft>
                  <a:spcPct val="0"/>
                </a:spcAft>
                <a:buClrTx/>
                <a:buSzTx/>
                <a:buFontTx/>
                <a:buNone/>
                <a:defRPr/>
              </a:pPr>
              <a:endParaRPr kumimoji="0" lang="zh-CN" altLang="zh-CN" sz="3200" b="0" i="0" u="none" strike="noStrike" kern="1200" cap="none" spc="0" normalizeH="0" baseline="0" noProof="0">
                <a:ln>
                  <a:noFill/>
                </a:ln>
                <a:solidFill>
                  <a:schemeClr val="hlink"/>
                </a:solidFill>
                <a:effectLst/>
                <a:uLnTx/>
                <a:uFillTx/>
                <a:latin typeface="+mn-lt"/>
                <a:ea typeface="+mn-ea"/>
                <a:cs typeface="+mn-ea"/>
                <a:sym typeface="+mn-lt"/>
              </a:endParaRPr>
            </a:p>
          </p:txBody>
        </p:sp>
        <p:sp>
          <p:nvSpPr>
            <p:cNvPr id="1006684" name="AutoShape 92"/>
            <p:cNvSpPr>
              <a:spLocks noChangeArrowheads="1"/>
            </p:cNvSpPr>
            <p:nvPr/>
          </p:nvSpPr>
          <p:spPr bwMode="auto">
            <a:xfrm>
              <a:off x="2160" y="463"/>
              <a:ext cx="334" cy="482"/>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85" name="AutoShape 93"/>
            <p:cNvSpPr>
              <a:spLocks noChangeArrowheads="1"/>
            </p:cNvSpPr>
            <p:nvPr/>
          </p:nvSpPr>
          <p:spPr bwMode="auto">
            <a:xfrm>
              <a:off x="2640" y="415"/>
              <a:ext cx="336" cy="528"/>
            </a:xfrm>
            <a:prstGeom prst="can">
              <a:avLst>
                <a:gd name="adj" fmla="val 39286"/>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86" name="AutoShape 94"/>
            <p:cNvSpPr>
              <a:spLocks noChangeArrowheads="1"/>
            </p:cNvSpPr>
            <p:nvPr/>
          </p:nvSpPr>
          <p:spPr bwMode="auto">
            <a:xfrm>
              <a:off x="3600" y="223"/>
              <a:ext cx="334" cy="72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87" name="AutoShape 95"/>
            <p:cNvSpPr>
              <a:spLocks noChangeArrowheads="1"/>
            </p:cNvSpPr>
            <p:nvPr/>
          </p:nvSpPr>
          <p:spPr bwMode="auto">
            <a:xfrm>
              <a:off x="3120" y="415"/>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88" name="AutoShape 96"/>
            <p:cNvSpPr>
              <a:spLocks noChangeArrowheads="1"/>
            </p:cNvSpPr>
            <p:nvPr/>
          </p:nvSpPr>
          <p:spPr bwMode="auto">
            <a:xfrm>
              <a:off x="1680" y="510"/>
              <a:ext cx="336" cy="433"/>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89" name="AutoShape 97"/>
            <p:cNvSpPr>
              <a:spLocks noChangeArrowheads="1"/>
            </p:cNvSpPr>
            <p:nvPr/>
          </p:nvSpPr>
          <p:spPr bwMode="auto">
            <a:xfrm>
              <a:off x="1200" y="704"/>
              <a:ext cx="336" cy="241"/>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grpSp>
        <p:nvGrpSpPr>
          <p:cNvPr id="3" name="Group 98"/>
          <p:cNvGrpSpPr/>
          <p:nvPr/>
        </p:nvGrpSpPr>
        <p:grpSpPr>
          <a:xfrm>
            <a:off x="514350" y="4802188"/>
            <a:ext cx="7848600" cy="1676400"/>
            <a:chOff x="480" y="288"/>
            <a:chExt cx="4944" cy="1056"/>
          </a:xfrm>
        </p:grpSpPr>
        <p:sp>
          <p:nvSpPr>
            <p:cNvPr id="1006691" name="AutoShape 99" descr="白色大理石"/>
            <p:cNvSpPr>
              <a:spLocks noChangeArrowheads="1"/>
            </p:cNvSpPr>
            <p:nvPr/>
          </p:nvSpPr>
          <p:spPr bwMode="auto">
            <a:xfrm>
              <a:off x="480" y="768"/>
              <a:ext cx="4944" cy="288"/>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06692" name="AutoShape 100"/>
            <p:cNvSpPr>
              <a:spLocks noChangeArrowheads="1"/>
            </p:cNvSpPr>
            <p:nvPr/>
          </p:nvSpPr>
          <p:spPr bwMode="auto">
            <a:xfrm>
              <a:off x="1296" y="528"/>
              <a:ext cx="336" cy="480"/>
            </a:xfrm>
            <a:prstGeom prst="can">
              <a:avLst>
                <a:gd name="adj" fmla="val 35714"/>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93" name="AutoShape 101"/>
            <p:cNvSpPr>
              <a:spLocks noChangeArrowheads="1"/>
            </p:cNvSpPr>
            <p:nvPr/>
          </p:nvSpPr>
          <p:spPr bwMode="auto">
            <a:xfrm>
              <a:off x="1776" y="480"/>
              <a:ext cx="336" cy="528"/>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94" name="AutoShape 102"/>
            <p:cNvSpPr>
              <a:spLocks noChangeArrowheads="1"/>
            </p:cNvSpPr>
            <p:nvPr/>
          </p:nvSpPr>
          <p:spPr bwMode="auto">
            <a:xfrm>
              <a:off x="2256" y="288"/>
              <a:ext cx="336" cy="72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95" name="AutoShape 103"/>
            <p:cNvSpPr>
              <a:spLocks noChangeArrowheads="1"/>
            </p:cNvSpPr>
            <p:nvPr/>
          </p:nvSpPr>
          <p:spPr bwMode="auto">
            <a:xfrm>
              <a:off x="2736" y="480"/>
              <a:ext cx="336" cy="528"/>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96" name="AutoShape 104"/>
            <p:cNvSpPr>
              <a:spLocks noChangeArrowheads="1"/>
            </p:cNvSpPr>
            <p:nvPr/>
          </p:nvSpPr>
          <p:spPr bwMode="auto">
            <a:xfrm>
              <a:off x="3216" y="576"/>
              <a:ext cx="336" cy="432"/>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06697" name="AutoShape 105"/>
            <p:cNvSpPr>
              <a:spLocks noChangeArrowheads="1"/>
            </p:cNvSpPr>
            <p:nvPr/>
          </p:nvSpPr>
          <p:spPr bwMode="auto">
            <a:xfrm>
              <a:off x="3696" y="768"/>
              <a:ext cx="336" cy="240"/>
            </a:xfrm>
            <a:prstGeom prst="can">
              <a:avLst>
                <a:gd name="adj" fmla="val 25000"/>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23572" name="Text Box 106"/>
            <p:cNvSpPr txBox="1">
              <a:spLocks noChangeArrowheads="1"/>
            </p:cNvSpPr>
            <p:nvPr/>
          </p:nvSpPr>
          <p:spPr bwMode="auto">
            <a:xfrm>
              <a:off x="1372" y="1056"/>
              <a:ext cx="2612" cy="28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0        1        2        3        4        5</a:t>
              </a:r>
            </a:p>
          </p:txBody>
        </p:sp>
      </p:grpSp>
      <p:sp>
        <p:nvSpPr>
          <p:cNvPr id="23" name="Rectangle 84"/>
          <p:cNvSpPr>
            <a:spLocks noChangeArrowheads="1"/>
          </p:cNvSpPr>
          <p:nvPr/>
        </p:nvSpPr>
        <p:spPr bwMode="auto">
          <a:xfrm>
            <a:off x="784225" y="214313"/>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06681"/>
                                        </p:tgtEl>
                                        <p:attrNameLst>
                                          <p:attrName>style.visibility</p:attrName>
                                        </p:attrNameLst>
                                      </p:cBhvr>
                                      <p:to>
                                        <p:strVal val="visible"/>
                                      </p:to>
                                    </p:set>
                                    <p:anim calcmode="lin" valueType="num">
                                      <p:cBhvr additive="base">
                                        <p:cTn id="7" dur="500" fill="hold"/>
                                        <p:tgtEl>
                                          <p:spTgt spid="1006681"/>
                                        </p:tgtEl>
                                        <p:attrNameLst>
                                          <p:attrName>ppt_x</p:attrName>
                                        </p:attrNameLst>
                                      </p:cBhvr>
                                      <p:tavLst>
                                        <p:tav tm="0">
                                          <p:val>
                                            <p:strVal val="0-#ppt_w/2"/>
                                          </p:val>
                                        </p:tav>
                                        <p:tav tm="100000">
                                          <p:val>
                                            <p:strVal val="#ppt_x"/>
                                          </p:val>
                                        </p:tav>
                                      </p:tavLst>
                                    </p:anim>
                                    <p:anim calcmode="lin" valueType="num">
                                      <p:cBhvr additive="base">
                                        <p:cTn id="8" dur="500" fill="hold"/>
                                        <p:tgtEl>
                                          <p:spTgt spid="100668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ox(in)">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xit" presetSubtype="4" fill="hold" nodeType="clickEffect">
                                  <p:stCondLst>
                                    <p:cond delay="0"/>
                                  </p:stCondLst>
                                  <p:childTnLst>
                                    <p:anim calcmode="lin" valueType="num">
                                      <p:cBhvr additive="base">
                                        <p:cTn id="17" dur="500"/>
                                        <p:tgtEl>
                                          <p:spTgt spid="3"/>
                                        </p:tgtEl>
                                        <p:attrNameLst>
                                          <p:attrName>ppt_x</p:attrName>
                                        </p:attrNameLst>
                                      </p:cBhvr>
                                      <p:tavLst>
                                        <p:tav tm="0">
                                          <p:val>
                                            <p:strVal val="ppt_x"/>
                                          </p:val>
                                        </p:tav>
                                        <p:tav tm="100000">
                                          <p:val>
                                            <p:strVal val="ppt_x"/>
                                          </p:val>
                                        </p:tav>
                                      </p:tavLst>
                                    </p:anim>
                                    <p:anim calcmode="lin" valueType="num">
                                      <p:cBhvr additive="base">
                                        <p:cTn id="18" dur="500"/>
                                        <p:tgtEl>
                                          <p:spTgt spid="3"/>
                                        </p:tgtEl>
                                        <p:attrNameLst>
                                          <p:attrName>ppt_y</p:attrName>
                                        </p:attrNameLst>
                                      </p:cBhvr>
                                      <p:tavLst>
                                        <p:tav tm="0">
                                          <p:val>
                                            <p:strVal val="ppt_y"/>
                                          </p:val>
                                        </p:tav>
                                        <p:tav tm="100000">
                                          <p:val>
                                            <p:strVal val="1+ppt_h/2"/>
                                          </p:val>
                                        </p:tav>
                                      </p:tavLst>
                                    </p:anim>
                                    <p:set>
                                      <p:cBhvr>
                                        <p:cTn id="19" dur="1" fill="hold">
                                          <p:stCondLst>
                                            <p:cond delay="499"/>
                                          </p:stCondLst>
                                        </p:cTn>
                                        <p:tgtEl>
                                          <p:spTgt spid="3"/>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4" presetClass="entr" presetSubtype="16" fill="hold" nodeType="click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box(in)">
                                      <p:cBhvr>
                                        <p:cTn id="2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6681"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0806" name="Rectangle 6"/>
          <p:cNvSpPr>
            <a:spLocks noChangeArrowheads="1"/>
          </p:cNvSpPr>
          <p:nvPr/>
        </p:nvSpPr>
        <p:spPr bwMode="auto">
          <a:xfrm>
            <a:off x="6480175" y="3141663"/>
            <a:ext cx="2052638" cy="515938"/>
          </a:xfrm>
          <a:prstGeom prst="rect">
            <a:avLst/>
          </a:prstGeom>
          <a:noFill/>
          <a:ln>
            <a:noFill/>
          </a:ln>
        </p:spPr>
        <p:txBody>
          <a:bodyPr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折半插入排序</a:t>
            </a:r>
          </a:p>
        </p:txBody>
      </p:sp>
      <p:grpSp>
        <p:nvGrpSpPr>
          <p:cNvPr id="37891" name="Group 20"/>
          <p:cNvGrpSpPr/>
          <p:nvPr/>
        </p:nvGrpSpPr>
        <p:grpSpPr>
          <a:xfrm>
            <a:off x="1187450" y="1557338"/>
            <a:ext cx="6261100" cy="1584325"/>
            <a:chOff x="204" y="482"/>
            <a:chExt cx="3944" cy="998"/>
          </a:xfrm>
        </p:grpSpPr>
        <p:sp>
          <p:nvSpPr>
            <p:cNvPr id="24580" name="Rectangle 17"/>
            <p:cNvSpPr>
              <a:spLocks noChangeArrowheads="1"/>
            </p:cNvSpPr>
            <p:nvPr/>
          </p:nvSpPr>
          <p:spPr bwMode="auto">
            <a:xfrm>
              <a:off x="204" y="482"/>
              <a:ext cx="1292" cy="325"/>
            </a:xfrm>
            <a:prstGeom prst="rect">
              <a:avLst/>
            </a:prstGeom>
            <a:noFill/>
            <a:ln>
              <a:noFill/>
            </a:ln>
          </p:spPr>
          <p:txBody>
            <a:bodyPr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直接插入排序</a:t>
              </a:r>
            </a:p>
          </p:txBody>
        </p:sp>
        <p:sp>
          <p:nvSpPr>
            <p:cNvPr id="24581" name="AutoShape 18"/>
            <p:cNvSpPr>
              <a:spLocks noChangeArrowheads="1"/>
            </p:cNvSpPr>
            <p:nvPr/>
          </p:nvSpPr>
          <p:spPr bwMode="auto">
            <a:xfrm>
              <a:off x="225" y="807"/>
              <a:ext cx="3923" cy="673"/>
            </a:xfrm>
            <a:prstGeom prst="curvedDownArrow">
              <a:avLst/>
            </a:prstGeom>
            <a:solidFill>
              <a:schemeClr val="accent1">
                <a:lumMod val="60000"/>
                <a:lumOff val="40000"/>
              </a:schemeClr>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6600"/>
                  </a:solidFill>
                  <a:effectLst/>
                  <a:uLnTx/>
                  <a:uFillTx/>
                  <a:latin typeface="+mn-lt"/>
                  <a:ea typeface="+mn-ea"/>
                  <a:cs typeface="+mn-ea"/>
                  <a:sym typeface="+mn-lt"/>
                </a:rPr>
                <a:t>                 减少关键字间的比较次数</a:t>
              </a:r>
            </a:p>
          </p:txBody>
        </p:sp>
      </p:grpSp>
      <p:sp>
        <p:nvSpPr>
          <p:cNvPr id="1100819" name="AutoShape 19"/>
          <p:cNvSpPr>
            <a:spLocks noChangeArrowheads="1"/>
          </p:cNvSpPr>
          <p:nvPr/>
        </p:nvSpPr>
        <p:spPr bwMode="auto">
          <a:xfrm>
            <a:off x="1187450" y="4581525"/>
            <a:ext cx="6261100" cy="830263"/>
          </a:xfrm>
          <a:prstGeom prst="borderCallout2">
            <a:avLst>
              <a:gd name="adj1" fmla="val 43225"/>
              <a:gd name="adj2" fmla="val 100410"/>
              <a:gd name="adj3" fmla="val 43225"/>
              <a:gd name="adj4" fmla="val 104583"/>
              <a:gd name="adj5" fmla="val -106245"/>
              <a:gd name="adj6" fmla="val 104276"/>
            </a:avLst>
          </a:prstGeom>
          <a:solidFill>
            <a:schemeClr val="accent1">
              <a:lumMod val="40000"/>
              <a:lumOff val="60000"/>
            </a:schemeClr>
          </a:solidFill>
          <a:ln>
            <a:solidFill>
              <a:srgbClr val="FF0000"/>
            </a:solidFill>
          </a:ln>
        </p:spPr>
        <p:txBody>
          <a:bodyPr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在插入 </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1"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时，利用</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折半查找法</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寻找 </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1"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的插入位置</a:t>
            </a:r>
          </a:p>
        </p:txBody>
      </p:sp>
      <p:sp>
        <p:nvSpPr>
          <p:cNvPr id="8" name="Rectangle 84"/>
          <p:cNvSpPr>
            <a:spLocks noChangeArrowheads="1"/>
          </p:cNvSpPr>
          <p:nvPr/>
        </p:nvSpPr>
        <p:spPr bwMode="auto">
          <a:xfrm>
            <a:off x="784225" y="214313"/>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100806"/>
                                        </p:tgtEl>
                                        <p:attrNameLst>
                                          <p:attrName>style.visibility</p:attrName>
                                        </p:attrNameLst>
                                      </p:cBhvr>
                                      <p:to>
                                        <p:strVal val="visible"/>
                                      </p:to>
                                    </p:set>
                                    <p:animEffect transition="in" filter="wheel(4)">
                                      <p:cBhvr>
                                        <p:cTn id="7" dur="2000"/>
                                        <p:tgtEl>
                                          <p:spTgt spid="1100806"/>
                                        </p:tgtEl>
                                      </p:cBhvr>
                                    </p:animEffect>
                                  </p:childTnLst>
                                </p:cTn>
                              </p:par>
                            </p:childTnLst>
                          </p:cTn>
                        </p:par>
                      </p:childTnLst>
                    </p:cTn>
                  </p:par>
                  <p:par>
                    <p:cTn id="8" fill="hold">
                      <p:stCondLst>
                        <p:cond delay="indefinite"/>
                      </p:stCondLst>
                      <p:childTnLst>
                        <p:par>
                          <p:cTn id="9" fill="hold">
                            <p:stCondLst>
                              <p:cond delay="0"/>
                            </p:stCondLst>
                            <p:childTnLst>
                              <p:par>
                                <p:cTn id="10" presetID="55" presetClass="entr" presetSubtype="0" fill="hold" grpId="0" nodeType="clickEffect">
                                  <p:stCondLst>
                                    <p:cond delay="0"/>
                                  </p:stCondLst>
                                  <p:childTnLst>
                                    <p:set>
                                      <p:cBhvr>
                                        <p:cTn id="11" dur="1" fill="hold">
                                          <p:stCondLst>
                                            <p:cond delay="0"/>
                                          </p:stCondLst>
                                        </p:cTn>
                                        <p:tgtEl>
                                          <p:spTgt spid="1100819"/>
                                        </p:tgtEl>
                                        <p:attrNameLst>
                                          <p:attrName>style.visibility</p:attrName>
                                        </p:attrNameLst>
                                      </p:cBhvr>
                                      <p:to>
                                        <p:strVal val="visible"/>
                                      </p:to>
                                    </p:set>
                                    <p:anim calcmode="lin" valueType="num">
                                      <p:cBhvr>
                                        <p:cTn id="12" dur="1000" fill="hold"/>
                                        <p:tgtEl>
                                          <p:spTgt spid="1100819"/>
                                        </p:tgtEl>
                                        <p:attrNameLst>
                                          <p:attrName>ppt_w</p:attrName>
                                        </p:attrNameLst>
                                      </p:cBhvr>
                                      <p:tavLst>
                                        <p:tav tm="0">
                                          <p:val>
                                            <p:strVal val="#ppt_w*0.70"/>
                                          </p:val>
                                        </p:tav>
                                        <p:tav tm="100000">
                                          <p:val>
                                            <p:strVal val="#ppt_w"/>
                                          </p:val>
                                        </p:tav>
                                      </p:tavLst>
                                    </p:anim>
                                    <p:anim calcmode="lin" valueType="num">
                                      <p:cBhvr>
                                        <p:cTn id="13" dur="1000" fill="hold"/>
                                        <p:tgtEl>
                                          <p:spTgt spid="1100819"/>
                                        </p:tgtEl>
                                        <p:attrNameLst>
                                          <p:attrName>ppt_h</p:attrName>
                                        </p:attrNameLst>
                                      </p:cBhvr>
                                      <p:tavLst>
                                        <p:tav tm="0">
                                          <p:val>
                                            <p:strVal val="#ppt_h"/>
                                          </p:val>
                                        </p:tav>
                                        <p:tav tm="100000">
                                          <p:val>
                                            <p:strVal val="#ppt_h"/>
                                          </p:val>
                                        </p:tav>
                                      </p:tavLst>
                                    </p:anim>
                                    <p:animEffect transition="in" filter="fade">
                                      <p:cBhvr>
                                        <p:cTn id="14" dur="1000"/>
                                        <p:tgtEl>
                                          <p:spTgt spid="11008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0806" grpId="0"/>
      <p:bldP spid="11008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1412875"/>
            <a:ext cx="9144000" cy="46799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38915" name="Group 4"/>
          <p:cNvGrpSpPr/>
          <p:nvPr/>
        </p:nvGrpSpPr>
        <p:grpSpPr>
          <a:xfrm>
            <a:off x="395288" y="1689100"/>
            <a:ext cx="8447087" cy="4176713"/>
            <a:chOff x="144" y="1434"/>
            <a:chExt cx="5321" cy="2178"/>
          </a:xfrm>
        </p:grpSpPr>
        <p:graphicFrame>
          <p:nvGraphicFramePr>
            <p:cNvPr id="38919" name="Object 5"/>
            <p:cNvGraphicFramePr/>
            <p:nvPr/>
          </p:nvGraphicFramePr>
          <p:xfrm>
            <a:off x="912" y="1434"/>
            <a:ext cx="4553" cy="2178"/>
          </p:xfrm>
          <a:graphic>
            <a:graphicData uri="http://schemas.openxmlformats.org/presentationml/2006/ole">
              <mc:AlternateContent xmlns:mc="http://schemas.openxmlformats.org/markup-compatibility/2006">
                <mc:Choice xmlns:v="urn:schemas-microsoft-com:vml" Requires="v">
                  <p:oleObj spid="_x0000_s2054" r:id="rId3" imgW="2670175" imgH="1344295" progId="SmartDraw.2">
                    <p:embed/>
                  </p:oleObj>
                </mc:Choice>
                <mc:Fallback>
                  <p:oleObj r:id="rId3" imgW="2670175" imgH="1344295" progId="SmartDraw.2">
                    <p:embed/>
                    <p:pic>
                      <p:nvPicPr>
                        <p:cNvPr id="0" name="图片 3075"/>
                        <p:cNvPicPr/>
                        <p:nvPr/>
                      </p:nvPicPr>
                      <p:blipFill>
                        <a:blip r:embed="rId4"/>
                        <a:stretch>
                          <a:fillRect/>
                        </a:stretch>
                      </p:blipFill>
                      <p:spPr>
                        <a:xfrm>
                          <a:off x="912" y="1434"/>
                          <a:ext cx="4553" cy="2178"/>
                        </a:xfrm>
                        <a:prstGeom prst="rect">
                          <a:avLst/>
                        </a:prstGeom>
                        <a:noFill/>
                        <a:ln w="38100">
                          <a:noFill/>
                          <a:miter/>
                        </a:ln>
                      </p:spPr>
                    </p:pic>
                  </p:oleObj>
                </mc:Fallback>
              </mc:AlternateContent>
            </a:graphicData>
          </a:graphic>
        </p:graphicFrame>
        <p:sp>
          <p:nvSpPr>
            <p:cNvPr id="25604" name="Text Box 6"/>
            <p:cNvSpPr txBox="1">
              <a:spLocks noChangeArrowheads="1"/>
            </p:cNvSpPr>
            <p:nvPr/>
          </p:nvSpPr>
          <p:spPr bwMode="auto">
            <a:xfrm>
              <a:off x="144" y="1590"/>
              <a:ext cx="649" cy="30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6600"/>
                  </a:solidFill>
                  <a:effectLst/>
                  <a:uLnTx/>
                  <a:uFillTx/>
                  <a:latin typeface="+mn-lt"/>
                  <a:ea typeface="+mn-ea"/>
                  <a:cs typeface="+mn-ea"/>
                  <a:sym typeface="+mn-lt"/>
                </a:rPr>
                <a:t>i=2</a:t>
              </a:r>
            </a:p>
          </p:txBody>
        </p:sp>
      </p:grpSp>
      <p:sp>
        <p:nvSpPr>
          <p:cNvPr id="25605" name="Rectangle 7"/>
          <p:cNvSpPr>
            <a:spLocks noChangeArrowheads="1"/>
          </p:cNvSpPr>
          <p:nvPr/>
        </p:nvSpPr>
        <p:spPr bwMode="auto">
          <a:xfrm>
            <a:off x="815975" y="207963"/>
            <a:ext cx="3092450"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折半插入排序</a:t>
            </a:r>
          </a:p>
        </p:txBody>
      </p:sp>
      <p:sp>
        <p:nvSpPr>
          <p:cNvPr id="1107976" name="Oval 8"/>
          <p:cNvSpPr>
            <a:spLocks noChangeArrowheads="1"/>
          </p:cNvSpPr>
          <p:nvPr/>
        </p:nvSpPr>
        <p:spPr bwMode="auto">
          <a:xfrm>
            <a:off x="2901950" y="1844675"/>
            <a:ext cx="877888" cy="863600"/>
          </a:xfrm>
          <a:prstGeom prst="ellipse">
            <a:avLst/>
          </a:prstGeom>
          <a:noFill/>
          <a:ln w="762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7977" name="Line 9"/>
          <p:cNvSpPr>
            <a:spLocks noChangeShapeType="1"/>
          </p:cNvSpPr>
          <p:nvPr/>
        </p:nvSpPr>
        <p:spPr bwMode="auto">
          <a:xfrm>
            <a:off x="2182813" y="3392488"/>
            <a:ext cx="719138" cy="0"/>
          </a:xfrm>
          <a:prstGeom prst="line">
            <a:avLst/>
          </a:prstGeom>
          <a:noFill/>
          <a:ln w="762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7976"/>
                                        </p:tgtEl>
                                        <p:attrNameLst>
                                          <p:attrName>style.visibility</p:attrName>
                                        </p:attrNameLst>
                                      </p:cBhvr>
                                      <p:to>
                                        <p:strVal val="visible"/>
                                      </p:to>
                                    </p:set>
                                    <p:anim calcmode="lin" valueType="num">
                                      <p:cBhvr>
                                        <p:cTn id="7" dur="3000" fill="hold"/>
                                        <p:tgtEl>
                                          <p:spTgt spid="1107976"/>
                                        </p:tgtEl>
                                        <p:attrNameLst>
                                          <p:attrName>ppt_w</p:attrName>
                                        </p:attrNameLst>
                                      </p:cBhvr>
                                      <p:tavLst>
                                        <p:tav tm="0" fmla="#ppt_w*sin(2.5*pi*$)">
                                          <p:val>
                                            <p:fltVal val="0"/>
                                          </p:val>
                                        </p:tav>
                                        <p:tav tm="100000">
                                          <p:val>
                                            <p:fltVal val="1"/>
                                          </p:val>
                                        </p:tav>
                                      </p:tavLst>
                                    </p:anim>
                                    <p:anim calcmode="lin" valueType="num">
                                      <p:cBhvr>
                                        <p:cTn id="8" dur="3000" fill="hold"/>
                                        <p:tgtEl>
                                          <p:spTgt spid="1107976"/>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07977"/>
                                        </p:tgtEl>
                                        <p:attrNameLst>
                                          <p:attrName>style.visibility</p:attrName>
                                        </p:attrNameLst>
                                      </p:cBhvr>
                                      <p:to>
                                        <p:strVal val="visible"/>
                                      </p:to>
                                    </p:set>
                                    <p:anim calcmode="lin" valueType="num">
                                      <p:cBhvr additive="base">
                                        <p:cTn id="13" dur="500" fill="hold"/>
                                        <p:tgtEl>
                                          <p:spTgt spid="1107977"/>
                                        </p:tgtEl>
                                        <p:attrNameLst>
                                          <p:attrName>ppt_x</p:attrName>
                                        </p:attrNameLst>
                                      </p:cBhvr>
                                      <p:tavLst>
                                        <p:tav tm="0">
                                          <p:val>
                                            <p:strVal val="0-#ppt_w/2"/>
                                          </p:val>
                                        </p:tav>
                                        <p:tav tm="100000">
                                          <p:val>
                                            <p:strVal val="#ppt_x"/>
                                          </p:val>
                                        </p:tav>
                                      </p:tavLst>
                                    </p:anim>
                                    <p:anim calcmode="lin" valueType="num">
                                      <p:cBhvr additive="base">
                                        <p:cTn id="14" dur="500" fill="hold"/>
                                        <p:tgtEl>
                                          <p:spTgt spid="110797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7976"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bwMode="auto">
          <a:xfrm>
            <a:off x="0" y="1412875"/>
            <a:ext cx="9144000" cy="46799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39939" name="Group 8"/>
          <p:cNvGrpSpPr/>
          <p:nvPr/>
        </p:nvGrpSpPr>
        <p:grpSpPr>
          <a:xfrm>
            <a:off x="323850" y="1666875"/>
            <a:ext cx="8569325" cy="3887788"/>
            <a:chOff x="113" y="482"/>
            <a:chExt cx="5398" cy="2449"/>
          </a:xfrm>
        </p:grpSpPr>
        <p:graphicFrame>
          <p:nvGraphicFramePr>
            <p:cNvPr id="39943" name="Object 4"/>
            <p:cNvGraphicFramePr/>
            <p:nvPr/>
          </p:nvGraphicFramePr>
          <p:xfrm>
            <a:off x="748" y="482"/>
            <a:ext cx="4763" cy="2449"/>
          </p:xfrm>
          <a:graphic>
            <a:graphicData uri="http://schemas.openxmlformats.org/presentationml/2006/ole">
              <mc:AlternateContent xmlns:mc="http://schemas.openxmlformats.org/markup-compatibility/2006">
                <mc:Choice xmlns:v="urn:schemas-microsoft-com:vml" Requires="v">
                  <p:oleObj spid="_x0000_s3078" r:id="rId3" imgW="2696210" imgH="1271270" progId="SmartDraw.2">
                    <p:embed/>
                  </p:oleObj>
                </mc:Choice>
                <mc:Fallback>
                  <p:oleObj r:id="rId3" imgW="2696210" imgH="1271270" progId="SmartDraw.2">
                    <p:embed/>
                    <p:pic>
                      <p:nvPicPr>
                        <p:cNvPr id="0" name="图片 3077"/>
                        <p:cNvPicPr/>
                        <p:nvPr/>
                      </p:nvPicPr>
                      <p:blipFill>
                        <a:blip r:embed="rId4"/>
                        <a:stretch>
                          <a:fillRect/>
                        </a:stretch>
                      </p:blipFill>
                      <p:spPr>
                        <a:xfrm>
                          <a:off x="748" y="482"/>
                          <a:ext cx="4763" cy="2449"/>
                        </a:xfrm>
                        <a:prstGeom prst="rect">
                          <a:avLst/>
                        </a:prstGeom>
                        <a:noFill/>
                        <a:ln w="38100">
                          <a:noFill/>
                          <a:miter/>
                        </a:ln>
                      </p:spPr>
                    </p:pic>
                  </p:oleObj>
                </mc:Fallback>
              </mc:AlternateContent>
            </a:graphicData>
          </a:graphic>
        </p:graphicFrame>
        <p:sp>
          <p:nvSpPr>
            <p:cNvPr id="26628" name="Text Box 6"/>
            <p:cNvSpPr txBox="1">
              <a:spLocks noChangeArrowheads="1"/>
            </p:cNvSpPr>
            <p:nvPr/>
          </p:nvSpPr>
          <p:spPr bwMode="auto">
            <a:xfrm>
              <a:off x="113" y="663"/>
              <a:ext cx="635" cy="36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6600"/>
                  </a:solidFill>
                  <a:effectLst/>
                  <a:uLnTx/>
                  <a:uFillTx/>
                  <a:latin typeface="+mn-lt"/>
                  <a:ea typeface="+mn-ea"/>
                  <a:cs typeface="+mn-ea"/>
                  <a:sym typeface="+mn-lt"/>
                </a:rPr>
                <a:t>i=3</a:t>
              </a:r>
            </a:p>
          </p:txBody>
        </p:sp>
      </p:grpSp>
      <p:sp>
        <p:nvSpPr>
          <p:cNvPr id="26629" name="Rectangle 7"/>
          <p:cNvSpPr>
            <a:spLocks noChangeArrowheads="1"/>
          </p:cNvSpPr>
          <p:nvPr/>
        </p:nvSpPr>
        <p:spPr bwMode="auto">
          <a:xfrm>
            <a:off x="865188" y="207963"/>
            <a:ext cx="3092450"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折半插入排序</a:t>
            </a:r>
          </a:p>
        </p:txBody>
      </p:sp>
      <p:sp>
        <p:nvSpPr>
          <p:cNvPr id="1101833" name="Oval 9"/>
          <p:cNvSpPr>
            <a:spLocks noChangeArrowheads="1"/>
          </p:cNvSpPr>
          <p:nvPr/>
        </p:nvSpPr>
        <p:spPr bwMode="auto">
          <a:xfrm>
            <a:off x="4140200" y="1844675"/>
            <a:ext cx="792163" cy="863600"/>
          </a:xfrm>
          <a:prstGeom prst="ellipse">
            <a:avLst/>
          </a:prstGeom>
          <a:noFill/>
          <a:ln w="762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1834" name="Line 10"/>
          <p:cNvSpPr>
            <a:spLocks noChangeShapeType="1"/>
          </p:cNvSpPr>
          <p:nvPr/>
        </p:nvSpPr>
        <p:spPr bwMode="auto">
          <a:xfrm>
            <a:off x="2455863" y="3351213"/>
            <a:ext cx="719138" cy="0"/>
          </a:xfrm>
          <a:prstGeom prst="line">
            <a:avLst/>
          </a:prstGeom>
          <a:noFill/>
          <a:ln w="762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1833"/>
                                        </p:tgtEl>
                                        <p:attrNameLst>
                                          <p:attrName>style.visibility</p:attrName>
                                        </p:attrNameLst>
                                      </p:cBhvr>
                                      <p:to>
                                        <p:strVal val="visible"/>
                                      </p:to>
                                    </p:set>
                                    <p:anim calcmode="lin" valueType="num">
                                      <p:cBhvr>
                                        <p:cTn id="7" dur="3000" fill="hold"/>
                                        <p:tgtEl>
                                          <p:spTgt spid="1101833"/>
                                        </p:tgtEl>
                                        <p:attrNameLst>
                                          <p:attrName>ppt_w</p:attrName>
                                        </p:attrNameLst>
                                      </p:cBhvr>
                                      <p:tavLst>
                                        <p:tav tm="0" fmla="#ppt_w*sin(2.5*pi*$)">
                                          <p:val>
                                            <p:fltVal val="0"/>
                                          </p:val>
                                        </p:tav>
                                        <p:tav tm="100000">
                                          <p:val>
                                            <p:fltVal val="1"/>
                                          </p:val>
                                        </p:tav>
                                      </p:tavLst>
                                    </p:anim>
                                    <p:anim calcmode="lin" valueType="num">
                                      <p:cBhvr>
                                        <p:cTn id="8" dur="3000" fill="hold"/>
                                        <p:tgtEl>
                                          <p:spTgt spid="1101833"/>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01834"/>
                                        </p:tgtEl>
                                        <p:attrNameLst>
                                          <p:attrName>style.visibility</p:attrName>
                                        </p:attrNameLst>
                                      </p:cBhvr>
                                      <p:to>
                                        <p:strVal val="visible"/>
                                      </p:to>
                                    </p:set>
                                    <p:anim calcmode="lin" valueType="num">
                                      <p:cBhvr additive="base">
                                        <p:cTn id="13" dur="500" fill="hold"/>
                                        <p:tgtEl>
                                          <p:spTgt spid="1101834"/>
                                        </p:tgtEl>
                                        <p:attrNameLst>
                                          <p:attrName>ppt_x</p:attrName>
                                        </p:attrNameLst>
                                      </p:cBhvr>
                                      <p:tavLst>
                                        <p:tav tm="0">
                                          <p:val>
                                            <p:strVal val="0-#ppt_w/2"/>
                                          </p:val>
                                        </p:tav>
                                        <p:tav tm="100000">
                                          <p:val>
                                            <p:strVal val="#ppt_x"/>
                                          </p:val>
                                        </p:tav>
                                      </p:tavLst>
                                    </p:anim>
                                    <p:anim calcmode="lin" valueType="num">
                                      <p:cBhvr additive="base">
                                        <p:cTn id="14" dur="500" fill="hold"/>
                                        <p:tgtEl>
                                          <p:spTgt spid="11018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1833"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p:cNvSpPr/>
          <p:nvPr/>
        </p:nvSpPr>
        <p:spPr bwMode="auto">
          <a:xfrm>
            <a:off x="0" y="981075"/>
            <a:ext cx="9144000" cy="568801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aphicFrame>
        <p:nvGraphicFramePr>
          <p:cNvPr id="40963" name="Object 3"/>
          <p:cNvGraphicFramePr/>
          <p:nvPr/>
        </p:nvGraphicFramePr>
        <p:xfrm>
          <a:off x="1835150" y="1268413"/>
          <a:ext cx="6048375" cy="2498725"/>
        </p:xfrm>
        <a:graphic>
          <a:graphicData uri="http://schemas.openxmlformats.org/presentationml/2006/ole">
            <mc:AlternateContent xmlns:mc="http://schemas.openxmlformats.org/markup-compatibility/2006">
              <mc:Choice xmlns:v="urn:schemas-microsoft-com:vml" Requires="v">
                <p:oleObj spid="_x0000_s4106" r:id="rId3" imgW="2696210" imgH="1298575" progId="SmartDraw.2">
                  <p:embed/>
                </p:oleObj>
              </mc:Choice>
              <mc:Fallback>
                <p:oleObj r:id="rId3" imgW="2696210" imgH="1298575" progId="SmartDraw.2">
                  <p:embed/>
                  <p:pic>
                    <p:nvPicPr>
                      <p:cNvPr id="0" name="图片 3079"/>
                      <p:cNvPicPr/>
                      <p:nvPr/>
                    </p:nvPicPr>
                    <p:blipFill>
                      <a:blip r:embed="rId4"/>
                      <a:stretch>
                        <a:fillRect/>
                      </a:stretch>
                    </p:blipFill>
                    <p:spPr>
                      <a:xfrm>
                        <a:off x="1835150" y="1268413"/>
                        <a:ext cx="6048375" cy="2498725"/>
                      </a:xfrm>
                      <a:prstGeom prst="rect">
                        <a:avLst/>
                      </a:prstGeom>
                      <a:noFill/>
                      <a:ln w="38100">
                        <a:noFill/>
                        <a:miter/>
                      </a:ln>
                    </p:spPr>
                  </p:pic>
                </p:oleObj>
              </mc:Fallback>
            </mc:AlternateContent>
          </a:graphicData>
        </a:graphic>
      </p:graphicFrame>
      <p:graphicFrame>
        <p:nvGraphicFramePr>
          <p:cNvPr id="1102852" name="Object 4"/>
          <p:cNvGraphicFramePr/>
          <p:nvPr/>
        </p:nvGraphicFramePr>
        <p:xfrm>
          <a:off x="1979613" y="3767138"/>
          <a:ext cx="5903912" cy="2613025"/>
        </p:xfrm>
        <a:graphic>
          <a:graphicData uri="http://schemas.openxmlformats.org/presentationml/2006/ole">
            <mc:AlternateContent xmlns:mc="http://schemas.openxmlformats.org/markup-compatibility/2006">
              <mc:Choice xmlns:v="urn:schemas-microsoft-com:vml" Requires="v">
                <p:oleObj spid="_x0000_s4107" r:id="rId5" imgW="2670175" imgH="1271270" progId="SmartDraw.2">
                  <p:embed/>
                </p:oleObj>
              </mc:Choice>
              <mc:Fallback>
                <p:oleObj r:id="rId5" imgW="2670175" imgH="1271270" progId="SmartDraw.2">
                  <p:embed/>
                  <p:pic>
                    <p:nvPicPr>
                      <p:cNvPr id="0" name="图片 3078"/>
                      <p:cNvPicPr/>
                      <p:nvPr/>
                    </p:nvPicPr>
                    <p:blipFill>
                      <a:blip r:embed="rId6"/>
                      <a:stretch>
                        <a:fillRect/>
                      </a:stretch>
                    </p:blipFill>
                    <p:spPr>
                      <a:xfrm>
                        <a:off x="1979613" y="3767138"/>
                        <a:ext cx="5903912" cy="2613025"/>
                      </a:xfrm>
                      <a:prstGeom prst="rect">
                        <a:avLst/>
                      </a:prstGeom>
                      <a:noFill/>
                      <a:ln w="38100">
                        <a:noFill/>
                        <a:miter/>
                      </a:ln>
                    </p:spPr>
                  </p:pic>
                </p:oleObj>
              </mc:Fallback>
            </mc:AlternateContent>
          </a:graphicData>
        </a:graphic>
      </p:graphicFrame>
      <p:sp>
        <p:nvSpPr>
          <p:cNvPr id="27652" name="Text Box 5"/>
          <p:cNvSpPr txBox="1">
            <a:spLocks noChangeArrowheads="1"/>
          </p:cNvSpPr>
          <p:nvPr/>
        </p:nvSpPr>
        <p:spPr bwMode="auto">
          <a:xfrm>
            <a:off x="538163" y="1268413"/>
            <a:ext cx="1008063" cy="5794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6600"/>
                </a:solidFill>
                <a:effectLst/>
                <a:uLnTx/>
                <a:uFillTx/>
                <a:latin typeface="+mn-lt"/>
                <a:ea typeface="+mn-ea"/>
                <a:cs typeface="+mn-ea"/>
                <a:sym typeface="+mn-lt"/>
              </a:rPr>
              <a:t>i=4</a:t>
            </a:r>
          </a:p>
        </p:txBody>
      </p:sp>
      <p:sp>
        <p:nvSpPr>
          <p:cNvPr id="27653" name="Rectangle 6"/>
          <p:cNvSpPr>
            <a:spLocks noChangeArrowheads="1"/>
          </p:cNvSpPr>
          <p:nvPr/>
        </p:nvSpPr>
        <p:spPr bwMode="auto">
          <a:xfrm>
            <a:off x="754063" y="217488"/>
            <a:ext cx="3092450"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折半插入排序</a:t>
            </a:r>
          </a:p>
        </p:txBody>
      </p:sp>
      <p:sp>
        <p:nvSpPr>
          <p:cNvPr id="1102855" name="Oval 7"/>
          <p:cNvSpPr>
            <a:spLocks noChangeArrowheads="1"/>
          </p:cNvSpPr>
          <p:nvPr/>
        </p:nvSpPr>
        <p:spPr bwMode="auto">
          <a:xfrm>
            <a:off x="5075238" y="1412875"/>
            <a:ext cx="649288" cy="503238"/>
          </a:xfrm>
          <a:prstGeom prst="ellipse">
            <a:avLst/>
          </a:prstGeom>
          <a:noFill/>
          <a:ln w="762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2857" name="Line 9"/>
          <p:cNvSpPr>
            <a:spLocks noChangeShapeType="1"/>
          </p:cNvSpPr>
          <p:nvPr/>
        </p:nvSpPr>
        <p:spPr bwMode="auto">
          <a:xfrm>
            <a:off x="3276600" y="5788025"/>
            <a:ext cx="935038" cy="0"/>
          </a:xfrm>
          <a:prstGeom prst="line">
            <a:avLst/>
          </a:prstGeom>
          <a:noFill/>
          <a:ln w="76200">
            <a:solidFill>
              <a:srgbClr val="FF0000"/>
            </a:solidFill>
            <a:round/>
            <a:head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2858" name="Line 10"/>
          <p:cNvSpPr>
            <a:spLocks noChangeShapeType="1"/>
          </p:cNvSpPr>
          <p:nvPr/>
        </p:nvSpPr>
        <p:spPr bwMode="auto">
          <a:xfrm>
            <a:off x="2914650" y="2325688"/>
            <a:ext cx="935038" cy="0"/>
          </a:xfrm>
          <a:prstGeom prst="line">
            <a:avLst/>
          </a:prstGeom>
          <a:noFill/>
          <a:ln w="762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2855"/>
                                        </p:tgtEl>
                                        <p:attrNameLst>
                                          <p:attrName>style.visibility</p:attrName>
                                        </p:attrNameLst>
                                      </p:cBhvr>
                                      <p:to>
                                        <p:strVal val="visible"/>
                                      </p:to>
                                    </p:set>
                                    <p:anim calcmode="lin" valueType="num">
                                      <p:cBhvr>
                                        <p:cTn id="7" dur="3000" fill="hold"/>
                                        <p:tgtEl>
                                          <p:spTgt spid="1102855"/>
                                        </p:tgtEl>
                                        <p:attrNameLst>
                                          <p:attrName>ppt_w</p:attrName>
                                        </p:attrNameLst>
                                      </p:cBhvr>
                                      <p:tavLst>
                                        <p:tav tm="0" fmla="#ppt_w*sin(2.5*pi*$)">
                                          <p:val>
                                            <p:fltVal val="0"/>
                                          </p:val>
                                        </p:tav>
                                        <p:tav tm="100000">
                                          <p:val>
                                            <p:fltVal val="1"/>
                                          </p:val>
                                        </p:tav>
                                      </p:tavLst>
                                    </p:anim>
                                    <p:anim calcmode="lin" valueType="num">
                                      <p:cBhvr>
                                        <p:cTn id="8" dur="3000" fill="hold"/>
                                        <p:tgtEl>
                                          <p:spTgt spid="1102855"/>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02858"/>
                                        </p:tgtEl>
                                        <p:attrNameLst>
                                          <p:attrName>style.visibility</p:attrName>
                                        </p:attrNameLst>
                                      </p:cBhvr>
                                      <p:to>
                                        <p:strVal val="visible"/>
                                      </p:to>
                                    </p:set>
                                    <p:anim calcmode="lin" valueType="num">
                                      <p:cBhvr additive="base">
                                        <p:cTn id="13" dur="1000" fill="hold"/>
                                        <p:tgtEl>
                                          <p:spTgt spid="1102858"/>
                                        </p:tgtEl>
                                        <p:attrNameLst>
                                          <p:attrName>ppt_x</p:attrName>
                                        </p:attrNameLst>
                                      </p:cBhvr>
                                      <p:tavLst>
                                        <p:tav tm="0">
                                          <p:val>
                                            <p:strVal val="0-#ppt_w/2"/>
                                          </p:val>
                                        </p:tav>
                                        <p:tav tm="100000">
                                          <p:val>
                                            <p:strVal val="#ppt_x"/>
                                          </p:val>
                                        </p:tav>
                                      </p:tavLst>
                                    </p:anim>
                                    <p:anim calcmode="lin" valueType="num">
                                      <p:cBhvr additive="base">
                                        <p:cTn id="14" dur="1000" fill="hold"/>
                                        <p:tgtEl>
                                          <p:spTgt spid="1102858"/>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55" presetClass="entr" presetSubtype="0" fill="hold" nodeType="clickEffect">
                                  <p:stCondLst>
                                    <p:cond delay="0"/>
                                  </p:stCondLst>
                                  <p:childTnLst>
                                    <p:set>
                                      <p:cBhvr>
                                        <p:cTn id="18" dur="1" fill="hold">
                                          <p:stCondLst>
                                            <p:cond delay="0"/>
                                          </p:stCondLst>
                                        </p:cTn>
                                        <p:tgtEl>
                                          <p:spTgt spid="1102852"/>
                                        </p:tgtEl>
                                        <p:attrNameLst>
                                          <p:attrName>style.visibility</p:attrName>
                                        </p:attrNameLst>
                                      </p:cBhvr>
                                      <p:to>
                                        <p:strVal val="visible"/>
                                      </p:to>
                                    </p:set>
                                    <p:anim calcmode="lin" valueType="num">
                                      <p:cBhvr>
                                        <p:cTn id="19" dur="1000" fill="hold"/>
                                        <p:tgtEl>
                                          <p:spTgt spid="1102852"/>
                                        </p:tgtEl>
                                        <p:attrNameLst>
                                          <p:attrName>ppt_w</p:attrName>
                                        </p:attrNameLst>
                                      </p:cBhvr>
                                      <p:tavLst>
                                        <p:tav tm="0">
                                          <p:val>
                                            <p:strVal val="#ppt_w*0.70"/>
                                          </p:val>
                                        </p:tav>
                                        <p:tav tm="100000">
                                          <p:val>
                                            <p:strVal val="#ppt_w"/>
                                          </p:val>
                                        </p:tav>
                                      </p:tavLst>
                                    </p:anim>
                                    <p:anim calcmode="lin" valueType="num">
                                      <p:cBhvr>
                                        <p:cTn id="20" dur="1000" fill="hold"/>
                                        <p:tgtEl>
                                          <p:spTgt spid="1102852"/>
                                        </p:tgtEl>
                                        <p:attrNameLst>
                                          <p:attrName>ppt_h</p:attrName>
                                        </p:attrNameLst>
                                      </p:cBhvr>
                                      <p:tavLst>
                                        <p:tav tm="0">
                                          <p:val>
                                            <p:strVal val="#ppt_h"/>
                                          </p:val>
                                        </p:tav>
                                        <p:tav tm="100000">
                                          <p:val>
                                            <p:strVal val="#ppt_h"/>
                                          </p:val>
                                        </p:tav>
                                      </p:tavLst>
                                    </p:anim>
                                    <p:animEffect transition="in" filter="fade">
                                      <p:cBhvr>
                                        <p:cTn id="21" dur="1000"/>
                                        <p:tgtEl>
                                          <p:spTgt spid="110285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2" fill="hold" nodeType="clickEffect">
                                  <p:stCondLst>
                                    <p:cond delay="0"/>
                                  </p:stCondLst>
                                  <p:childTnLst>
                                    <p:set>
                                      <p:cBhvr>
                                        <p:cTn id="25" dur="1" fill="hold">
                                          <p:stCondLst>
                                            <p:cond delay="0"/>
                                          </p:stCondLst>
                                        </p:cTn>
                                        <p:tgtEl>
                                          <p:spTgt spid="1102857"/>
                                        </p:tgtEl>
                                        <p:attrNameLst>
                                          <p:attrName>style.visibility</p:attrName>
                                        </p:attrNameLst>
                                      </p:cBhvr>
                                      <p:to>
                                        <p:strVal val="visible"/>
                                      </p:to>
                                    </p:set>
                                    <p:anim calcmode="lin" valueType="num">
                                      <p:cBhvr additive="base">
                                        <p:cTn id="26" dur="1000" fill="hold"/>
                                        <p:tgtEl>
                                          <p:spTgt spid="1102857"/>
                                        </p:tgtEl>
                                        <p:attrNameLst>
                                          <p:attrName>ppt_x</p:attrName>
                                        </p:attrNameLst>
                                      </p:cBhvr>
                                      <p:tavLst>
                                        <p:tav tm="0">
                                          <p:val>
                                            <p:strVal val="1+#ppt_w/2"/>
                                          </p:val>
                                        </p:tav>
                                        <p:tav tm="100000">
                                          <p:val>
                                            <p:strVal val="#ppt_x"/>
                                          </p:val>
                                        </p:tav>
                                      </p:tavLst>
                                    </p:anim>
                                    <p:anim calcmode="lin" valueType="num">
                                      <p:cBhvr additive="base">
                                        <p:cTn id="27" dur="1000" fill="hold"/>
                                        <p:tgtEl>
                                          <p:spTgt spid="11028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285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p:cNvSpPr/>
          <p:nvPr/>
        </p:nvSpPr>
        <p:spPr bwMode="auto">
          <a:xfrm>
            <a:off x="0" y="981075"/>
            <a:ext cx="9144000" cy="568801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aphicFrame>
        <p:nvGraphicFramePr>
          <p:cNvPr id="41987" name="Object 2"/>
          <p:cNvGraphicFramePr/>
          <p:nvPr/>
        </p:nvGraphicFramePr>
        <p:xfrm>
          <a:off x="2122488" y="1031875"/>
          <a:ext cx="5838825" cy="2057400"/>
        </p:xfrm>
        <a:graphic>
          <a:graphicData uri="http://schemas.openxmlformats.org/presentationml/2006/ole">
            <mc:AlternateContent xmlns:mc="http://schemas.openxmlformats.org/markup-compatibility/2006">
              <mc:Choice xmlns:v="urn:schemas-microsoft-com:vml" Requires="v">
                <p:oleObj spid="_x0000_s5130" r:id="rId3" imgW="2696210" imgH="859790" progId="SmartDraw.2">
                  <p:embed/>
                </p:oleObj>
              </mc:Choice>
              <mc:Fallback>
                <p:oleObj r:id="rId3" imgW="2696210" imgH="859790" progId="SmartDraw.2">
                  <p:embed/>
                  <p:pic>
                    <p:nvPicPr>
                      <p:cNvPr id="0" name="图片 3080"/>
                      <p:cNvPicPr/>
                      <p:nvPr/>
                    </p:nvPicPr>
                    <p:blipFill>
                      <a:blip r:embed="rId4"/>
                      <a:stretch>
                        <a:fillRect/>
                      </a:stretch>
                    </p:blipFill>
                    <p:spPr>
                      <a:xfrm>
                        <a:off x="2122488" y="1031875"/>
                        <a:ext cx="5838825" cy="2057400"/>
                      </a:xfrm>
                      <a:prstGeom prst="rect">
                        <a:avLst/>
                      </a:prstGeom>
                      <a:solidFill>
                        <a:srgbClr val="EAEAEA"/>
                      </a:solidFill>
                      <a:ln w="38100">
                        <a:noFill/>
                        <a:miter/>
                      </a:ln>
                    </p:spPr>
                  </p:pic>
                </p:oleObj>
              </mc:Fallback>
            </mc:AlternateContent>
          </a:graphicData>
        </a:graphic>
      </p:graphicFrame>
      <p:graphicFrame>
        <p:nvGraphicFramePr>
          <p:cNvPr id="1103875" name="Object 3"/>
          <p:cNvGraphicFramePr/>
          <p:nvPr/>
        </p:nvGraphicFramePr>
        <p:xfrm>
          <a:off x="1481138" y="3305175"/>
          <a:ext cx="6264275" cy="2808288"/>
        </p:xfrm>
        <a:graphic>
          <a:graphicData uri="http://schemas.openxmlformats.org/presentationml/2006/ole">
            <mc:AlternateContent xmlns:mc="http://schemas.openxmlformats.org/markup-compatibility/2006">
              <mc:Choice xmlns:v="urn:schemas-microsoft-com:vml" Requires="v">
                <p:oleObj spid="_x0000_s5131" r:id="rId5" imgW="3026410" imgH="1271270" progId="SmartDraw.2">
                  <p:embed/>
                </p:oleObj>
              </mc:Choice>
              <mc:Fallback>
                <p:oleObj r:id="rId5" imgW="3026410" imgH="1271270" progId="SmartDraw.2">
                  <p:embed/>
                  <p:pic>
                    <p:nvPicPr>
                      <p:cNvPr id="0" name="图片 3081"/>
                      <p:cNvPicPr/>
                      <p:nvPr/>
                    </p:nvPicPr>
                    <p:blipFill>
                      <a:blip r:embed="rId6"/>
                      <a:stretch>
                        <a:fillRect/>
                      </a:stretch>
                    </p:blipFill>
                    <p:spPr>
                      <a:xfrm>
                        <a:off x="1481138" y="3305175"/>
                        <a:ext cx="6264275" cy="2808288"/>
                      </a:xfrm>
                      <a:prstGeom prst="rect">
                        <a:avLst/>
                      </a:prstGeom>
                      <a:noFill/>
                      <a:ln w="38100">
                        <a:noFill/>
                        <a:miter/>
                      </a:ln>
                    </p:spPr>
                  </p:pic>
                </p:oleObj>
              </mc:Fallback>
            </mc:AlternateContent>
          </a:graphicData>
        </a:graphic>
      </p:graphicFrame>
      <p:sp>
        <p:nvSpPr>
          <p:cNvPr id="1103877" name="Text Box 5"/>
          <p:cNvSpPr txBox="1">
            <a:spLocks noChangeArrowheads="1"/>
          </p:cNvSpPr>
          <p:nvPr/>
        </p:nvSpPr>
        <p:spPr bwMode="auto">
          <a:xfrm>
            <a:off x="750888" y="1074738"/>
            <a:ext cx="1166813" cy="5794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err="1">
                <a:ln>
                  <a:noFill/>
                </a:ln>
                <a:solidFill>
                  <a:srgbClr val="FF6600"/>
                </a:solidFill>
                <a:effectLst/>
                <a:uLnTx/>
                <a:uFillTx/>
                <a:latin typeface="+mn-lt"/>
                <a:ea typeface="+mn-ea"/>
                <a:cs typeface="+mn-ea"/>
                <a:sym typeface="+mn-lt"/>
              </a:rPr>
              <a:t>i</a:t>
            </a: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=5</a:t>
            </a:r>
          </a:p>
        </p:txBody>
      </p:sp>
      <p:sp>
        <p:nvSpPr>
          <p:cNvPr id="1103880" name="Oval 8"/>
          <p:cNvSpPr>
            <a:spLocks noChangeArrowheads="1"/>
          </p:cNvSpPr>
          <p:nvPr/>
        </p:nvSpPr>
        <p:spPr bwMode="auto">
          <a:xfrm>
            <a:off x="6207125" y="1168400"/>
            <a:ext cx="620713" cy="660400"/>
          </a:xfrm>
          <a:prstGeom prst="ellipse">
            <a:avLst/>
          </a:prstGeom>
          <a:noFill/>
          <a:ln w="762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3881" name="Line 9"/>
          <p:cNvSpPr>
            <a:spLocks noChangeShapeType="1"/>
          </p:cNvSpPr>
          <p:nvPr/>
        </p:nvSpPr>
        <p:spPr bwMode="auto">
          <a:xfrm>
            <a:off x="4383088" y="2368550"/>
            <a:ext cx="935038" cy="0"/>
          </a:xfrm>
          <a:prstGeom prst="line">
            <a:avLst/>
          </a:prstGeom>
          <a:noFill/>
          <a:ln w="76200">
            <a:solidFill>
              <a:srgbClr val="FF0000"/>
            </a:solidFill>
            <a:round/>
            <a:head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3882" name="Line 10"/>
          <p:cNvSpPr>
            <a:spLocks noChangeShapeType="1"/>
          </p:cNvSpPr>
          <p:nvPr/>
        </p:nvSpPr>
        <p:spPr bwMode="auto">
          <a:xfrm>
            <a:off x="1481138" y="5465763"/>
            <a:ext cx="935038" cy="0"/>
          </a:xfrm>
          <a:prstGeom prst="line">
            <a:avLst/>
          </a:prstGeom>
          <a:noFill/>
          <a:ln w="76200">
            <a:solidFill>
              <a:srgbClr val="FF0000"/>
            </a:solidFill>
            <a:round/>
            <a:head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 name="Rectangle 6"/>
          <p:cNvSpPr>
            <a:spLocks noChangeArrowheads="1"/>
          </p:cNvSpPr>
          <p:nvPr/>
        </p:nvSpPr>
        <p:spPr bwMode="auto">
          <a:xfrm>
            <a:off x="754063" y="217488"/>
            <a:ext cx="3092450"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折半插入排序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3880"/>
                                        </p:tgtEl>
                                        <p:attrNameLst>
                                          <p:attrName>style.visibility</p:attrName>
                                        </p:attrNameLst>
                                      </p:cBhvr>
                                      <p:to>
                                        <p:strVal val="visible"/>
                                      </p:to>
                                    </p:set>
                                    <p:anim calcmode="lin" valueType="num">
                                      <p:cBhvr>
                                        <p:cTn id="7" dur="3000" fill="hold"/>
                                        <p:tgtEl>
                                          <p:spTgt spid="1103880"/>
                                        </p:tgtEl>
                                        <p:attrNameLst>
                                          <p:attrName>ppt_w</p:attrName>
                                        </p:attrNameLst>
                                      </p:cBhvr>
                                      <p:tavLst>
                                        <p:tav tm="0" fmla="#ppt_w*sin(2.5*pi*$)">
                                          <p:val>
                                            <p:fltVal val="0"/>
                                          </p:val>
                                        </p:tav>
                                        <p:tav tm="100000">
                                          <p:val>
                                            <p:fltVal val="1"/>
                                          </p:val>
                                        </p:tav>
                                      </p:tavLst>
                                    </p:anim>
                                    <p:anim calcmode="lin" valueType="num">
                                      <p:cBhvr>
                                        <p:cTn id="8" dur="3000" fill="hold"/>
                                        <p:tgtEl>
                                          <p:spTgt spid="1103880"/>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51" presetClass="entr" presetSubtype="0" fill="hold" grpId="0" nodeType="clickEffect">
                                  <p:stCondLst>
                                    <p:cond delay="0"/>
                                  </p:stCondLst>
                                  <p:childTnLst>
                                    <p:set>
                                      <p:cBhvr>
                                        <p:cTn id="12" dur="1" fill="hold">
                                          <p:stCondLst>
                                            <p:cond delay="0"/>
                                          </p:stCondLst>
                                        </p:cTn>
                                        <p:tgtEl>
                                          <p:spTgt spid="1103877"/>
                                        </p:tgtEl>
                                        <p:attrNameLst>
                                          <p:attrName>style.visibility</p:attrName>
                                        </p:attrNameLst>
                                      </p:cBhvr>
                                      <p:to>
                                        <p:strVal val="visible"/>
                                      </p:to>
                                    </p:set>
                                    <p:animEffect transition="in" filter="fade">
                                      <p:cBhvr>
                                        <p:cTn id="13" dur="770" decel="100000"/>
                                        <p:tgtEl>
                                          <p:spTgt spid="1103877"/>
                                        </p:tgtEl>
                                      </p:cBhvr>
                                    </p:animEffect>
                                    <p:animScale>
                                      <p:cBhvr>
                                        <p:cTn id="14" dur="770" decel="100000"/>
                                        <p:tgtEl>
                                          <p:spTgt spid="1103877"/>
                                        </p:tgtEl>
                                      </p:cBhvr>
                                      <p:from x="10000" y="10000"/>
                                      <p:to x="200000" y="450000"/>
                                    </p:animScale>
                                    <p:animScale>
                                      <p:cBhvr>
                                        <p:cTn id="15" dur="1230" accel="100000" fill="hold">
                                          <p:stCondLst>
                                            <p:cond delay="770"/>
                                          </p:stCondLst>
                                        </p:cTn>
                                        <p:tgtEl>
                                          <p:spTgt spid="1103877"/>
                                        </p:tgtEl>
                                      </p:cBhvr>
                                      <p:from x="200000" y="450000"/>
                                      <p:to x="100000" y="100000"/>
                                    </p:animScale>
                                    <p:set>
                                      <p:cBhvr>
                                        <p:cTn id="16" dur="770" fill="hold"/>
                                        <p:tgtEl>
                                          <p:spTgt spid="1103877"/>
                                        </p:tgtEl>
                                        <p:attrNameLst>
                                          <p:attrName>ppt_x</p:attrName>
                                        </p:attrNameLst>
                                      </p:cBhvr>
                                      <p:to>
                                        <p:strVal val="(0.5)"/>
                                      </p:to>
                                    </p:set>
                                    <p:anim from="(0.5)" to="(#ppt_x)" calcmode="lin" valueType="num">
                                      <p:cBhvr>
                                        <p:cTn id="17" dur="1230" accel="100000" fill="hold">
                                          <p:stCondLst>
                                            <p:cond delay="770"/>
                                          </p:stCondLst>
                                        </p:cTn>
                                        <p:tgtEl>
                                          <p:spTgt spid="1103877"/>
                                        </p:tgtEl>
                                        <p:attrNameLst>
                                          <p:attrName>ppt_x</p:attrName>
                                        </p:attrNameLst>
                                      </p:cBhvr>
                                    </p:anim>
                                    <p:set>
                                      <p:cBhvr>
                                        <p:cTn id="18" dur="770" fill="hold"/>
                                        <p:tgtEl>
                                          <p:spTgt spid="1103877"/>
                                        </p:tgtEl>
                                        <p:attrNameLst>
                                          <p:attrName>ppt_y</p:attrName>
                                        </p:attrNameLst>
                                      </p:cBhvr>
                                      <p:to>
                                        <p:strVal val="(#ppt_y+0.4)"/>
                                      </p:to>
                                    </p:set>
                                    <p:anim from="(#ppt_y+0.4)" to="(#ppt_y)" calcmode="lin" valueType="num">
                                      <p:cBhvr>
                                        <p:cTn id="19" dur="1230" accel="100000" fill="hold">
                                          <p:stCondLst>
                                            <p:cond delay="770"/>
                                          </p:stCondLst>
                                        </p:cTn>
                                        <p:tgtEl>
                                          <p:spTgt spid="1103877"/>
                                        </p:tgtEl>
                                        <p:attrNameLst>
                                          <p:attrName>ppt_y</p:attrName>
                                        </p:attrNameLst>
                                      </p:cBhvr>
                                    </p:anim>
                                  </p:childTnLst>
                                </p:cTn>
                              </p:par>
                            </p:childTnLst>
                          </p:cTn>
                        </p:par>
                      </p:childTnLst>
                    </p:cTn>
                  </p:par>
                  <p:par>
                    <p:cTn id="20" fill="hold">
                      <p:stCondLst>
                        <p:cond delay="indefinite"/>
                      </p:stCondLst>
                      <p:childTnLst>
                        <p:par>
                          <p:cTn id="21" fill="hold">
                            <p:stCondLst>
                              <p:cond delay="0"/>
                            </p:stCondLst>
                            <p:childTnLst>
                              <p:par>
                                <p:cTn id="22" presetID="2" presetClass="entr" presetSubtype="2" fill="hold" nodeType="clickEffect">
                                  <p:stCondLst>
                                    <p:cond delay="0"/>
                                  </p:stCondLst>
                                  <p:childTnLst>
                                    <p:set>
                                      <p:cBhvr>
                                        <p:cTn id="23" dur="1" fill="hold">
                                          <p:stCondLst>
                                            <p:cond delay="0"/>
                                          </p:stCondLst>
                                        </p:cTn>
                                        <p:tgtEl>
                                          <p:spTgt spid="1103881"/>
                                        </p:tgtEl>
                                        <p:attrNameLst>
                                          <p:attrName>style.visibility</p:attrName>
                                        </p:attrNameLst>
                                      </p:cBhvr>
                                      <p:to>
                                        <p:strVal val="visible"/>
                                      </p:to>
                                    </p:set>
                                    <p:anim calcmode="lin" valueType="num">
                                      <p:cBhvr additive="base">
                                        <p:cTn id="24" dur="1000" fill="hold"/>
                                        <p:tgtEl>
                                          <p:spTgt spid="1103881"/>
                                        </p:tgtEl>
                                        <p:attrNameLst>
                                          <p:attrName>ppt_x</p:attrName>
                                        </p:attrNameLst>
                                      </p:cBhvr>
                                      <p:tavLst>
                                        <p:tav tm="0">
                                          <p:val>
                                            <p:strVal val="1+#ppt_w/2"/>
                                          </p:val>
                                        </p:tav>
                                        <p:tav tm="100000">
                                          <p:val>
                                            <p:strVal val="#ppt_x"/>
                                          </p:val>
                                        </p:tav>
                                      </p:tavLst>
                                    </p:anim>
                                    <p:anim calcmode="lin" valueType="num">
                                      <p:cBhvr additive="base">
                                        <p:cTn id="25" dur="1000" fill="hold"/>
                                        <p:tgtEl>
                                          <p:spTgt spid="1103881"/>
                                        </p:tgtEl>
                                        <p:attrNameLst>
                                          <p:attrName>ppt_y</p:attrName>
                                        </p:attrNameLst>
                                      </p:cBhvr>
                                      <p:tavLst>
                                        <p:tav tm="0">
                                          <p:val>
                                            <p:strVal val="#ppt_y"/>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15" presetClass="entr" presetSubtype="0" fill="hold" nodeType="clickEffect">
                                  <p:stCondLst>
                                    <p:cond delay="0"/>
                                  </p:stCondLst>
                                  <p:childTnLst>
                                    <p:set>
                                      <p:cBhvr>
                                        <p:cTn id="29" dur="1" fill="hold">
                                          <p:stCondLst>
                                            <p:cond delay="0"/>
                                          </p:stCondLst>
                                        </p:cTn>
                                        <p:tgtEl>
                                          <p:spTgt spid="1103875"/>
                                        </p:tgtEl>
                                        <p:attrNameLst>
                                          <p:attrName>style.visibility</p:attrName>
                                        </p:attrNameLst>
                                      </p:cBhvr>
                                      <p:to>
                                        <p:strVal val="visible"/>
                                      </p:to>
                                    </p:set>
                                    <p:anim calcmode="lin" valueType="num">
                                      <p:cBhvr>
                                        <p:cTn id="30" dur="1000" fill="hold"/>
                                        <p:tgtEl>
                                          <p:spTgt spid="1103875"/>
                                        </p:tgtEl>
                                        <p:attrNameLst>
                                          <p:attrName>ppt_w</p:attrName>
                                        </p:attrNameLst>
                                      </p:cBhvr>
                                      <p:tavLst>
                                        <p:tav tm="0">
                                          <p:val>
                                            <p:fltVal val="0"/>
                                          </p:val>
                                        </p:tav>
                                        <p:tav tm="100000">
                                          <p:val>
                                            <p:strVal val="#ppt_w"/>
                                          </p:val>
                                        </p:tav>
                                      </p:tavLst>
                                    </p:anim>
                                    <p:anim calcmode="lin" valueType="num">
                                      <p:cBhvr>
                                        <p:cTn id="31" dur="1000" fill="hold"/>
                                        <p:tgtEl>
                                          <p:spTgt spid="1103875"/>
                                        </p:tgtEl>
                                        <p:attrNameLst>
                                          <p:attrName>ppt_h</p:attrName>
                                        </p:attrNameLst>
                                      </p:cBhvr>
                                      <p:tavLst>
                                        <p:tav tm="0">
                                          <p:val>
                                            <p:fltVal val="0"/>
                                          </p:val>
                                        </p:tav>
                                        <p:tav tm="100000">
                                          <p:val>
                                            <p:strVal val="#ppt_h"/>
                                          </p:val>
                                        </p:tav>
                                      </p:tavLst>
                                    </p:anim>
                                    <p:anim calcmode="lin" valueType="num">
                                      <p:cBhvr>
                                        <p:cTn id="32" dur="1000" fill="hold"/>
                                        <p:tgtEl>
                                          <p:spTgt spid="1103875"/>
                                        </p:tgtEl>
                                        <p:attrNameLst>
                                          <p:attrName>ppt_x</p:attrName>
                                        </p:attrNameLst>
                                      </p:cBhvr>
                                      <p:tavLst>
                                        <p:tav tm="0" fmla="#ppt_x+(cos(-2*pi*(1-$))*-#ppt_x-sin(-2*pi*(1-$))*(1-#ppt_y))*(1-$)">
                                          <p:val>
                                            <p:fltVal val="0"/>
                                          </p:val>
                                        </p:tav>
                                        <p:tav tm="100000">
                                          <p:val>
                                            <p:fltVal val="1"/>
                                          </p:val>
                                        </p:tav>
                                      </p:tavLst>
                                    </p:anim>
                                    <p:anim calcmode="lin" valueType="num">
                                      <p:cBhvr>
                                        <p:cTn id="33" dur="1000" fill="hold"/>
                                        <p:tgtEl>
                                          <p:spTgt spid="1103875"/>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2" fill="hold" nodeType="clickEffect">
                                  <p:stCondLst>
                                    <p:cond delay="0"/>
                                  </p:stCondLst>
                                  <p:childTnLst>
                                    <p:set>
                                      <p:cBhvr>
                                        <p:cTn id="37" dur="1" fill="hold">
                                          <p:stCondLst>
                                            <p:cond delay="0"/>
                                          </p:stCondLst>
                                        </p:cTn>
                                        <p:tgtEl>
                                          <p:spTgt spid="1103882"/>
                                        </p:tgtEl>
                                        <p:attrNameLst>
                                          <p:attrName>style.visibility</p:attrName>
                                        </p:attrNameLst>
                                      </p:cBhvr>
                                      <p:to>
                                        <p:strVal val="visible"/>
                                      </p:to>
                                    </p:set>
                                    <p:anim calcmode="lin" valueType="num">
                                      <p:cBhvr additive="base">
                                        <p:cTn id="38" dur="1000" fill="hold"/>
                                        <p:tgtEl>
                                          <p:spTgt spid="1103882"/>
                                        </p:tgtEl>
                                        <p:attrNameLst>
                                          <p:attrName>ppt_x</p:attrName>
                                        </p:attrNameLst>
                                      </p:cBhvr>
                                      <p:tavLst>
                                        <p:tav tm="0">
                                          <p:val>
                                            <p:strVal val="1+#ppt_w/2"/>
                                          </p:val>
                                        </p:tav>
                                        <p:tav tm="100000">
                                          <p:val>
                                            <p:strVal val="#ppt_x"/>
                                          </p:val>
                                        </p:tav>
                                      </p:tavLst>
                                    </p:anim>
                                    <p:anim calcmode="lin" valueType="num">
                                      <p:cBhvr additive="base">
                                        <p:cTn id="39" dur="1000" fill="hold"/>
                                        <p:tgtEl>
                                          <p:spTgt spid="110388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3877" grpId="0"/>
      <p:bldP spid="110388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4898" name="Object 2"/>
          <p:cNvGraphicFramePr/>
          <p:nvPr/>
        </p:nvGraphicFramePr>
        <p:xfrm>
          <a:off x="1582738" y="3317875"/>
          <a:ext cx="6264275" cy="2863850"/>
        </p:xfrm>
        <a:graphic>
          <a:graphicData uri="http://schemas.openxmlformats.org/presentationml/2006/ole">
            <mc:AlternateContent xmlns:mc="http://schemas.openxmlformats.org/markup-compatibility/2006">
              <mc:Choice xmlns:v="urn:schemas-microsoft-com:vml" Requires="v">
                <p:oleObj spid="_x0000_s6158" r:id="rId3" imgW="2752090" imgH="1225550" progId="SmartDraw.2">
                  <p:embed/>
                </p:oleObj>
              </mc:Choice>
              <mc:Fallback>
                <p:oleObj r:id="rId3" imgW="2752090" imgH="1225550" progId="SmartDraw.2">
                  <p:embed/>
                  <p:pic>
                    <p:nvPicPr>
                      <p:cNvPr id="0" name="图片 3076"/>
                      <p:cNvPicPr/>
                      <p:nvPr/>
                    </p:nvPicPr>
                    <p:blipFill>
                      <a:blip r:embed="rId4"/>
                      <a:stretch>
                        <a:fillRect/>
                      </a:stretch>
                    </p:blipFill>
                    <p:spPr>
                      <a:xfrm>
                        <a:off x="1582738" y="3317875"/>
                        <a:ext cx="6264275" cy="2863850"/>
                      </a:xfrm>
                      <a:prstGeom prst="rect">
                        <a:avLst/>
                      </a:prstGeom>
                      <a:noFill/>
                      <a:ln w="38100">
                        <a:noFill/>
                        <a:miter/>
                      </a:ln>
                    </p:spPr>
                  </p:pic>
                </p:oleObj>
              </mc:Fallback>
            </mc:AlternateContent>
          </a:graphicData>
        </a:graphic>
      </p:graphicFrame>
      <p:graphicFrame>
        <p:nvGraphicFramePr>
          <p:cNvPr id="43011" name="Object 4"/>
          <p:cNvGraphicFramePr/>
          <p:nvPr/>
        </p:nvGraphicFramePr>
        <p:xfrm>
          <a:off x="1582738" y="1271588"/>
          <a:ext cx="6408737" cy="2046287"/>
        </p:xfrm>
        <a:graphic>
          <a:graphicData uri="http://schemas.openxmlformats.org/presentationml/2006/ole">
            <mc:AlternateContent xmlns:mc="http://schemas.openxmlformats.org/markup-compatibility/2006">
              <mc:Choice xmlns:v="urn:schemas-microsoft-com:vml" Requires="v">
                <p:oleObj spid="_x0000_s6159" r:id="rId5" imgW="2752090" imgH="841375" progId="SmartDraw.2">
                  <p:embed/>
                </p:oleObj>
              </mc:Choice>
              <mc:Fallback>
                <p:oleObj r:id="rId5" imgW="2752090" imgH="841375" progId="SmartDraw.2">
                  <p:embed/>
                  <p:pic>
                    <p:nvPicPr>
                      <p:cNvPr id="0" name="图片 3082"/>
                      <p:cNvPicPr/>
                      <p:nvPr/>
                    </p:nvPicPr>
                    <p:blipFill>
                      <a:blip r:embed="rId6"/>
                      <a:stretch>
                        <a:fillRect/>
                      </a:stretch>
                    </p:blipFill>
                    <p:spPr>
                      <a:xfrm>
                        <a:off x="1582738" y="1271588"/>
                        <a:ext cx="6408737" cy="2046287"/>
                      </a:xfrm>
                      <a:prstGeom prst="rect">
                        <a:avLst/>
                      </a:prstGeom>
                      <a:noFill/>
                      <a:ln w="38100">
                        <a:noFill/>
                        <a:miter/>
                      </a:ln>
                    </p:spPr>
                  </p:pic>
                </p:oleObj>
              </mc:Fallback>
            </mc:AlternateContent>
          </a:graphicData>
        </a:graphic>
      </p:graphicFrame>
      <p:sp>
        <p:nvSpPr>
          <p:cNvPr id="1104902" name="Text Box 6"/>
          <p:cNvSpPr txBox="1">
            <a:spLocks noChangeArrowheads="1"/>
          </p:cNvSpPr>
          <p:nvPr/>
        </p:nvSpPr>
        <p:spPr bwMode="auto">
          <a:xfrm>
            <a:off x="415925" y="1271588"/>
            <a:ext cx="1166813" cy="5794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6600"/>
                </a:solidFill>
                <a:effectLst/>
                <a:uLnTx/>
                <a:uFillTx/>
                <a:latin typeface="+mn-lt"/>
                <a:ea typeface="+mn-ea"/>
                <a:cs typeface="+mn-ea"/>
                <a:sym typeface="+mn-lt"/>
              </a:rPr>
              <a:t>i=6</a:t>
            </a:r>
          </a:p>
        </p:txBody>
      </p:sp>
      <p:sp>
        <p:nvSpPr>
          <p:cNvPr id="29701" name="Rectangle 7"/>
          <p:cNvSpPr>
            <a:spLocks noChangeArrowheads="1"/>
          </p:cNvSpPr>
          <p:nvPr/>
        </p:nvSpPr>
        <p:spPr bwMode="auto">
          <a:xfrm>
            <a:off x="830263" y="223838"/>
            <a:ext cx="3092450"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折半插入排序</a:t>
            </a:r>
          </a:p>
        </p:txBody>
      </p:sp>
      <p:sp>
        <p:nvSpPr>
          <p:cNvPr id="1104904" name="Oval 8"/>
          <p:cNvSpPr>
            <a:spLocks noChangeArrowheads="1"/>
          </p:cNvSpPr>
          <p:nvPr/>
        </p:nvSpPr>
        <p:spPr bwMode="auto">
          <a:xfrm>
            <a:off x="7199313" y="1416050"/>
            <a:ext cx="695325" cy="660400"/>
          </a:xfrm>
          <a:prstGeom prst="ellipse">
            <a:avLst/>
          </a:prstGeom>
          <a:noFill/>
          <a:ln w="762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4905" name="Line 9"/>
          <p:cNvSpPr>
            <a:spLocks noChangeShapeType="1"/>
          </p:cNvSpPr>
          <p:nvPr/>
        </p:nvSpPr>
        <p:spPr bwMode="auto">
          <a:xfrm>
            <a:off x="5327650" y="2436813"/>
            <a:ext cx="935038" cy="0"/>
          </a:xfrm>
          <a:prstGeom prst="line">
            <a:avLst/>
          </a:prstGeom>
          <a:noFill/>
          <a:ln w="76200">
            <a:solidFill>
              <a:srgbClr val="FF0000"/>
            </a:solidFill>
            <a:round/>
            <a:head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4906" name="Line 10"/>
          <p:cNvSpPr>
            <a:spLocks noChangeShapeType="1"/>
          </p:cNvSpPr>
          <p:nvPr/>
        </p:nvSpPr>
        <p:spPr bwMode="auto">
          <a:xfrm>
            <a:off x="2087563" y="4452938"/>
            <a:ext cx="935038" cy="0"/>
          </a:xfrm>
          <a:prstGeom prst="line">
            <a:avLst/>
          </a:prstGeom>
          <a:noFill/>
          <a:ln w="76200">
            <a:solidFill>
              <a:srgbClr val="FF0000"/>
            </a:solidFill>
            <a:round/>
            <a:head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aphicFrame>
        <p:nvGraphicFramePr>
          <p:cNvPr id="1104907" name="Object 11"/>
          <p:cNvGraphicFramePr/>
          <p:nvPr/>
        </p:nvGraphicFramePr>
        <p:xfrm>
          <a:off x="1582738" y="2525713"/>
          <a:ext cx="6192837" cy="1584325"/>
        </p:xfrm>
        <a:graphic>
          <a:graphicData uri="http://schemas.openxmlformats.org/presentationml/2006/ole">
            <mc:AlternateContent xmlns:mc="http://schemas.openxmlformats.org/markup-compatibility/2006">
              <mc:Choice xmlns:v="urn:schemas-microsoft-com:vml" Requires="v">
                <p:oleObj spid="_x0000_s6160" r:id="rId7" imgW="2614930" imgH="384175" progId="SmartDraw.2">
                  <p:embed/>
                </p:oleObj>
              </mc:Choice>
              <mc:Fallback>
                <p:oleObj r:id="rId7" imgW="2614930" imgH="384175" progId="SmartDraw.2">
                  <p:embed/>
                  <p:pic>
                    <p:nvPicPr>
                      <p:cNvPr id="0" name="图片 3085"/>
                      <p:cNvPicPr/>
                      <p:nvPr/>
                    </p:nvPicPr>
                    <p:blipFill>
                      <a:blip r:embed="rId8"/>
                      <a:stretch>
                        <a:fillRect/>
                      </a:stretch>
                    </p:blipFill>
                    <p:spPr>
                      <a:xfrm>
                        <a:off x="1582738" y="2525713"/>
                        <a:ext cx="6192837" cy="1584325"/>
                      </a:xfrm>
                      <a:prstGeom prst="rect">
                        <a:avLst/>
                      </a:prstGeom>
                      <a:solidFill>
                        <a:srgbClr val="E2D9EB"/>
                      </a:solidFill>
                      <a:ln w="38100">
                        <a:noFill/>
                        <a:miter/>
                      </a:ln>
                    </p:spPr>
                  </p:pic>
                </p:oleObj>
              </mc:Fallback>
            </mc:AlternateContent>
          </a:graphicData>
        </a:graphic>
      </p:graphicFrame>
      <p:sp>
        <p:nvSpPr>
          <p:cNvPr id="43018" name="矩形 1"/>
          <p:cNvSpPr/>
          <p:nvPr/>
        </p:nvSpPr>
        <p:spPr>
          <a:xfrm flipV="1">
            <a:off x="-36512" y="6313488"/>
            <a:ext cx="9144000" cy="44450"/>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3019" name="矩形 11"/>
          <p:cNvSpPr/>
          <p:nvPr/>
        </p:nvSpPr>
        <p:spPr>
          <a:xfrm>
            <a:off x="-36512" y="6394450"/>
            <a:ext cx="9144000" cy="130175"/>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4904"/>
                                        </p:tgtEl>
                                        <p:attrNameLst>
                                          <p:attrName>style.visibility</p:attrName>
                                        </p:attrNameLst>
                                      </p:cBhvr>
                                      <p:to>
                                        <p:strVal val="visible"/>
                                      </p:to>
                                    </p:set>
                                    <p:anim calcmode="lin" valueType="num">
                                      <p:cBhvr>
                                        <p:cTn id="7" dur="3000" fill="hold"/>
                                        <p:tgtEl>
                                          <p:spTgt spid="1104904"/>
                                        </p:tgtEl>
                                        <p:attrNameLst>
                                          <p:attrName>ppt_w</p:attrName>
                                        </p:attrNameLst>
                                      </p:cBhvr>
                                      <p:tavLst>
                                        <p:tav tm="0" fmla="#ppt_w*sin(2.5*pi*$)">
                                          <p:val>
                                            <p:fltVal val="0"/>
                                          </p:val>
                                        </p:tav>
                                        <p:tav tm="100000">
                                          <p:val>
                                            <p:fltVal val="1"/>
                                          </p:val>
                                        </p:tav>
                                      </p:tavLst>
                                    </p:anim>
                                    <p:anim calcmode="lin" valueType="num">
                                      <p:cBhvr>
                                        <p:cTn id="8" dur="3000" fill="hold"/>
                                        <p:tgtEl>
                                          <p:spTgt spid="1104904"/>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51" presetClass="entr" presetSubtype="0" fill="hold" grpId="0" nodeType="clickEffect">
                                  <p:stCondLst>
                                    <p:cond delay="0"/>
                                  </p:stCondLst>
                                  <p:childTnLst>
                                    <p:set>
                                      <p:cBhvr>
                                        <p:cTn id="12" dur="1" fill="hold">
                                          <p:stCondLst>
                                            <p:cond delay="0"/>
                                          </p:stCondLst>
                                        </p:cTn>
                                        <p:tgtEl>
                                          <p:spTgt spid="1104902"/>
                                        </p:tgtEl>
                                        <p:attrNameLst>
                                          <p:attrName>style.visibility</p:attrName>
                                        </p:attrNameLst>
                                      </p:cBhvr>
                                      <p:to>
                                        <p:strVal val="visible"/>
                                      </p:to>
                                    </p:set>
                                    <p:animEffect transition="in" filter="fade">
                                      <p:cBhvr>
                                        <p:cTn id="13" dur="770" decel="100000"/>
                                        <p:tgtEl>
                                          <p:spTgt spid="1104902"/>
                                        </p:tgtEl>
                                      </p:cBhvr>
                                    </p:animEffect>
                                    <p:animScale>
                                      <p:cBhvr>
                                        <p:cTn id="14" dur="770" decel="100000"/>
                                        <p:tgtEl>
                                          <p:spTgt spid="1104902"/>
                                        </p:tgtEl>
                                      </p:cBhvr>
                                      <p:from x="10000" y="10000"/>
                                      <p:to x="200000" y="450000"/>
                                    </p:animScale>
                                    <p:animScale>
                                      <p:cBhvr>
                                        <p:cTn id="15" dur="1230" accel="100000" fill="hold">
                                          <p:stCondLst>
                                            <p:cond delay="770"/>
                                          </p:stCondLst>
                                        </p:cTn>
                                        <p:tgtEl>
                                          <p:spTgt spid="1104902"/>
                                        </p:tgtEl>
                                      </p:cBhvr>
                                      <p:from x="200000" y="450000"/>
                                      <p:to x="100000" y="100000"/>
                                    </p:animScale>
                                    <p:set>
                                      <p:cBhvr>
                                        <p:cTn id="16" dur="770" fill="hold"/>
                                        <p:tgtEl>
                                          <p:spTgt spid="1104902"/>
                                        </p:tgtEl>
                                        <p:attrNameLst>
                                          <p:attrName>ppt_x</p:attrName>
                                        </p:attrNameLst>
                                      </p:cBhvr>
                                      <p:to>
                                        <p:strVal val="(0.5)"/>
                                      </p:to>
                                    </p:set>
                                    <p:anim from="(0.5)" to="(#ppt_x)" calcmode="lin" valueType="num">
                                      <p:cBhvr>
                                        <p:cTn id="17" dur="1230" accel="100000" fill="hold">
                                          <p:stCondLst>
                                            <p:cond delay="770"/>
                                          </p:stCondLst>
                                        </p:cTn>
                                        <p:tgtEl>
                                          <p:spTgt spid="1104902"/>
                                        </p:tgtEl>
                                        <p:attrNameLst>
                                          <p:attrName>ppt_x</p:attrName>
                                        </p:attrNameLst>
                                      </p:cBhvr>
                                    </p:anim>
                                    <p:set>
                                      <p:cBhvr>
                                        <p:cTn id="18" dur="770" fill="hold"/>
                                        <p:tgtEl>
                                          <p:spTgt spid="1104902"/>
                                        </p:tgtEl>
                                        <p:attrNameLst>
                                          <p:attrName>ppt_y</p:attrName>
                                        </p:attrNameLst>
                                      </p:cBhvr>
                                      <p:to>
                                        <p:strVal val="(#ppt_y+0.4)"/>
                                      </p:to>
                                    </p:set>
                                    <p:anim from="(#ppt_y+0.4)" to="(#ppt_y)" calcmode="lin" valueType="num">
                                      <p:cBhvr>
                                        <p:cTn id="19" dur="1230" accel="100000" fill="hold">
                                          <p:stCondLst>
                                            <p:cond delay="770"/>
                                          </p:stCondLst>
                                        </p:cTn>
                                        <p:tgtEl>
                                          <p:spTgt spid="1104902"/>
                                        </p:tgtEl>
                                        <p:attrNameLst>
                                          <p:attrName>ppt_y</p:attrName>
                                        </p:attrNameLst>
                                      </p:cBhvr>
                                    </p:anim>
                                  </p:childTnLst>
                                </p:cTn>
                              </p:par>
                            </p:childTnLst>
                          </p:cTn>
                        </p:par>
                      </p:childTnLst>
                    </p:cTn>
                  </p:par>
                  <p:par>
                    <p:cTn id="20" fill="hold">
                      <p:stCondLst>
                        <p:cond delay="indefinite"/>
                      </p:stCondLst>
                      <p:childTnLst>
                        <p:par>
                          <p:cTn id="21" fill="hold">
                            <p:stCondLst>
                              <p:cond delay="0"/>
                            </p:stCondLst>
                            <p:childTnLst>
                              <p:par>
                                <p:cTn id="22" presetID="15" presetClass="entr" presetSubtype="0" fill="hold" nodeType="clickEffect">
                                  <p:stCondLst>
                                    <p:cond delay="0"/>
                                  </p:stCondLst>
                                  <p:childTnLst>
                                    <p:set>
                                      <p:cBhvr>
                                        <p:cTn id="23" dur="1" fill="hold">
                                          <p:stCondLst>
                                            <p:cond delay="0"/>
                                          </p:stCondLst>
                                        </p:cTn>
                                        <p:tgtEl>
                                          <p:spTgt spid="1104898"/>
                                        </p:tgtEl>
                                        <p:attrNameLst>
                                          <p:attrName>style.visibility</p:attrName>
                                        </p:attrNameLst>
                                      </p:cBhvr>
                                      <p:to>
                                        <p:strVal val="visible"/>
                                      </p:to>
                                    </p:set>
                                    <p:anim calcmode="lin" valueType="num">
                                      <p:cBhvr>
                                        <p:cTn id="24" dur="1000" fill="hold"/>
                                        <p:tgtEl>
                                          <p:spTgt spid="1104898"/>
                                        </p:tgtEl>
                                        <p:attrNameLst>
                                          <p:attrName>ppt_w</p:attrName>
                                        </p:attrNameLst>
                                      </p:cBhvr>
                                      <p:tavLst>
                                        <p:tav tm="0">
                                          <p:val>
                                            <p:fltVal val="0"/>
                                          </p:val>
                                        </p:tav>
                                        <p:tav tm="100000">
                                          <p:val>
                                            <p:strVal val="#ppt_w"/>
                                          </p:val>
                                        </p:tav>
                                      </p:tavLst>
                                    </p:anim>
                                    <p:anim calcmode="lin" valueType="num">
                                      <p:cBhvr>
                                        <p:cTn id="25" dur="1000" fill="hold"/>
                                        <p:tgtEl>
                                          <p:spTgt spid="1104898"/>
                                        </p:tgtEl>
                                        <p:attrNameLst>
                                          <p:attrName>ppt_h</p:attrName>
                                        </p:attrNameLst>
                                      </p:cBhvr>
                                      <p:tavLst>
                                        <p:tav tm="0">
                                          <p:val>
                                            <p:fltVal val="0"/>
                                          </p:val>
                                        </p:tav>
                                        <p:tav tm="100000">
                                          <p:val>
                                            <p:strVal val="#ppt_h"/>
                                          </p:val>
                                        </p:tav>
                                      </p:tavLst>
                                    </p:anim>
                                    <p:anim calcmode="lin" valueType="num">
                                      <p:cBhvr>
                                        <p:cTn id="26" dur="1000" fill="hold"/>
                                        <p:tgtEl>
                                          <p:spTgt spid="1104898"/>
                                        </p:tgtEl>
                                        <p:attrNameLst>
                                          <p:attrName>ppt_x</p:attrName>
                                        </p:attrNameLst>
                                      </p:cBhvr>
                                      <p:tavLst>
                                        <p:tav tm="0" fmla="#ppt_x+(cos(-2*pi*(1-$))*-#ppt_x-sin(-2*pi*(1-$))*(1-#ppt_y))*(1-$)">
                                          <p:val>
                                            <p:fltVal val="0"/>
                                          </p:val>
                                        </p:tav>
                                        <p:tav tm="100000">
                                          <p:val>
                                            <p:fltVal val="1"/>
                                          </p:val>
                                        </p:tav>
                                      </p:tavLst>
                                    </p:anim>
                                    <p:anim calcmode="lin" valueType="num">
                                      <p:cBhvr>
                                        <p:cTn id="27" dur="1000" fill="hold"/>
                                        <p:tgtEl>
                                          <p:spTgt spid="110489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2" fill="hold" nodeType="clickEffect">
                                  <p:stCondLst>
                                    <p:cond delay="0"/>
                                  </p:stCondLst>
                                  <p:childTnLst>
                                    <p:set>
                                      <p:cBhvr>
                                        <p:cTn id="31" dur="1" fill="hold">
                                          <p:stCondLst>
                                            <p:cond delay="0"/>
                                          </p:stCondLst>
                                        </p:cTn>
                                        <p:tgtEl>
                                          <p:spTgt spid="1104905"/>
                                        </p:tgtEl>
                                        <p:attrNameLst>
                                          <p:attrName>style.visibility</p:attrName>
                                        </p:attrNameLst>
                                      </p:cBhvr>
                                      <p:to>
                                        <p:strVal val="visible"/>
                                      </p:to>
                                    </p:set>
                                    <p:anim calcmode="lin" valueType="num">
                                      <p:cBhvr additive="base">
                                        <p:cTn id="32" dur="1000" fill="hold"/>
                                        <p:tgtEl>
                                          <p:spTgt spid="1104905"/>
                                        </p:tgtEl>
                                        <p:attrNameLst>
                                          <p:attrName>ppt_x</p:attrName>
                                        </p:attrNameLst>
                                      </p:cBhvr>
                                      <p:tavLst>
                                        <p:tav tm="0">
                                          <p:val>
                                            <p:strVal val="1+#ppt_w/2"/>
                                          </p:val>
                                        </p:tav>
                                        <p:tav tm="100000">
                                          <p:val>
                                            <p:strVal val="#ppt_x"/>
                                          </p:val>
                                        </p:tav>
                                      </p:tavLst>
                                    </p:anim>
                                    <p:anim calcmode="lin" valueType="num">
                                      <p:cBhvr additive="base">
                                        <p:cTn id="33" dur="1000" fill="hold"/>
                                        <p:tgtEl>
                                          <p:spTgt spid="1104905"/>
                                        </p:tgtEl>
                                        <p:attrNameLst>
                                          <p:attrName>ppt_y</p:attrName>
                                        </p:attrNameLst>
                                      </p:cBhvr>
                                      <p:tavLst>
                                        <p:tav tm="0">
                                          <p:val>
                                            <p:strVal val="#ppt_y"/>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2" fill="hold" nodeType="clickEffect">
                                  <p:stCondLst>
                                    <p:cond delay="0"/>
                                  </p:stCondLst>
                                  <p:childTnLst>
                                    <p:set>
                                      <p:cBhvr>
                                        <p:cTn id="37" dur="1" fill="hold">
                                          <p:stCondLst>
                                            <p:cond delay="0"/>
                                          </p:stCondLst>
                                        </p:cTn>
                                        <p:tgtEl>
                                          <p:spTgt spid="1104906"/>
                                        </p:tgtEl>
                                        <p:attrNameLst>
                                          <p:attrName>style.visibility</p:attrName>
                                        </p:attrNameLst>
                                      </p:cBhvr>
                                      <p:to>
                                        <p:strVal val="visible"/>
                                      </p:to>
                                    </p:set>
                                    <p:anim calcmode="lin" valueType="num">
                                      <p:cBhvr additive="base">
                                        <p:cTn id="38" dur="1000" fill="hold"/>
                                        <p:tgtEl>
                                          <p:spTgt spid="1104906"/>
                                        </p:tgtEl>
                                        <p:attrNameLst>
                                          <p:attrName>ppt_x</p:attrName>
                                        </p:attrNameLst>
                                      </p:cBhvr>
                                      <p:tavLst>
                                        <p:tav tm="0">
                                          <p:val>
                                            <p:strVal val="1+#ppt_w/2"/>
                                          </p:val>
                                        </p:tav>
                                        <p:tav tm="100000">
                                          <p:val>
                                            <p:strVal val="#ppt_x"/>
                                          </p:val>
                                        </p:tav>
                                      </p:tavLst>
                                    </p:anim>
                                    <p:anim calcmode="lin" valueType="num">
                                      <p:cBhvr additive="base">
                                        <p:cTn id="39" dur="1000" fill="hold"/>
                                        <p:tgtEl>
                                          <p:spTgt spid="1104906"/>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54" presetClass="entr" presetSubtype="0" accel="100000" fill="hold" nodeType="clickEffect">
                                  <p:stCondLst>
                                    <p:cond delay="0"/>
                                  </p:stCondLst>
                                  <p:childTnLst>
                                    <p:set>
                                      <p:cBhvr>
                                        <p:cTn id="43" dur="1" fill="hold">
                                          <p:stCondLst>
                                            <p:cond delay="0"/>
                                          </p:stCondLst>
                                        </p:cTn>
                                        <p:tgtEl>
                                          <p:spTgt spid="1104907"/>
                                        </p:tgtEl>
                                        <p:attrNameLst>
                                          <p:attrName>style.visibility</p:attrName>
                                        </p:attrNameLst>
                                      </p:cBhvr>
                                      <p:to>
                                        <p:strVal val="visible"/>
                                      </p:to>
                                    </p:set>
                                    <p:anim calcmode="lin" valueType="num">
                                      <p:cBhvr>
                                        <p:cTn id="44" dur="500" fill="hold"/>
                                        <p:tgtEl>
                                          <p:spTgt spid="1104907"/>
                                        </p:tgtEl>
                                        <p:attrNameLst>
                                          <p:attrName>ppt_w</p:attrName>
                                        </p:attrNameLst>
                                      </p:cBhvr>
                                      <p:tavLst>
                                        <p:tav tm="0">
                                          <p:val>
                                            <p:strVal val="#ppt_w*0.05"/>
                                          </p:val>
                                        </p:tav>
                                        <p:tav tm="100000">
                                          <p:val>
                                            <p:strVal val="#ppt_w"/>
                                          </p:val>
                                        </p:tav>
                                      </p:tavLst>
                                    </p:anim>
                                    <p:anim calcmode="lin" valueType="num">
                                      <p:cBhvr>
                                        <p:cTn id="45" dur="500" fill="hold"/>
                                        <p:tgtEl>
                                          <p:spTgt spid="1104907"/>
                                        </p:tgtEl>
                                        <p:attrNameLst>
                                          <p:attrName>ppt_h</p:attrName>
                                        </p:attrNameLst>
                                      </p:cBhvr>
                                      <p:tavLst>
                                        <p:tav tm="0">
                                          <p:val>
                                            <p:strVal val="#ppt_h"/>
                                          </p:val>
                                        </p:tav>
                                        <p:tav tm="100000">
                                          <p:val>
                                            <p:strVal val="#ppt_h"/>
                                          </p:val>
                                        </p:tav>
                                      </p:tavLst>
                                    </p:anim>
                                    <p:anim calcmode="lin" valueType="num">
                                      <p:cBhvr>
                                        <p:cTn id="46" dur="500" fill="hold"/>
                                        <p:tgtEl>
                                          <p:spTgt spid="1104907"/>
                                        </p:tgtEl>
                                        <p:attrNameLst>
                                          <p:attrName>ppt_x</p:attrName>
                                        </p:attrNameLst>
                                      </p:cBhvr>
                                      <p:tavLst>
                                        <p:tav tm="0">
                                          <p:val>
                                            <p:strVal val="#ppt_x-.2"/>
                                          </p:val>
                                        </p:tav>
                                        <p:tav tm="100000">
                                          <p:val>
                                            <p:strVal val="#ppt_x"/>
                                          </p:val>
                                        </p:tav>
                                      </p:tavLst>
                                    </p:anim>
                                    <p:anim calcmode="lin" valueType="num">
                                      <p:cBhvr>
                                        <p:cTn id="47" dur="500" fill="hold"/>
                                        <p:tgtEl>
                                          <p:spTgt spid="1104907"/>
                                        </p:tgtEl>
                                        <p:attrNameLst>
                                          <p:attrName>ppt_y</p:attrName>
                                        </p:attrNameLst>
                                      </p:cBhvr>
                                      <p:tavLst>
                                        <p:tav tm="0">
                                          <p:val>
                                            <p:strVal val="#ppt_y"/>
                                          </p:val>
                                        </p:tav>
                                        <p:tav tm="100000">
                                          <p:val>
                                            <p:strVal val="#ppt_y"/>
                                          </p:val>
                                        </p:tav>
                                      </p:tavLst>
                                    </p:anim>
                                    <p:animEffect transition="in" filter="fade">
                                      <p:cBhvr>
                                        <p:cTn id="48" dur="500"/>
                                        <p:tgtEl>
                                          <p:spTgt spid="1104907"/>
                                        </p:tgtEl>
                                      </p:cBhvr>
                                    </p:animEffect>
                                  </p:childTnLst>
                                </p:cTn>
                              </p:par>
                            </p:childTnLst>
                          </p:cTn>
                        </p:par>
                      </p:childTnLst>
                    </p:cTn>
                  </p:par>
                  <p:par>
                    <p:cTn id="49" fill="hold">
                      <p:stCondLst>
                        <p:cond delay="indefinite"/>
                      </p:stCondLst>
                      <p:childTnLst>
                        <p:par>
                          <p:cTn id="50" fill="hold">
                            <p:stCondLst>
                              <p:cond delay="0"/>
                            </p:stCondLst>
                            <p:childTnLst>
                              <p:par>
                                <p:cTn id="51" presetID="6" presetClass="emph" presetSubtype="0" fill="hold" nodeType="clickEffect">
                                  <p:stCondLst>
                                    <p:cond delay="0"/>
                                  </p:stCondLst>
                                  <p:childTnLst>
                                    <p:animScale>
                                      <p:cBhvr>
                                        <p:cTn id="52" dur="2000" fill="hold"/>
                                        <p:tgtEl>
                                          <p:spTgt spid="1104907"/>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4902" grpId="0"/>
      <p:bldP spid="110490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 Box 7"/>
          <p:cNvSpPr txBox="1">
            <a:spLocks noChangeArrowheads="1"/>
          </p:cNvSpPr>
          <p:nvPr/>
        </p:nvSpPr>
        <p:spPr bwMode="auto">
          <a:xfrm>
            <a:off x="0" y="1052513"/>
            <a:ext cx="9144000" cy="5435600"/>
          </a:xfrm>
          <a:prstGeom prst="rect">
            <a:avLst/>
          </a:prstGeom>
          <a:solidFill>
            <a:srgbClr val="E2D9EB"/>
          </a:solid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BInsertSort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SqList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&amp;L )</a:t>
            </a:r>
            <a:endParaRPr kumimoji="0" lang="en-US" altLang="zh-CN" sz="3200" b="0" i="0" u="none" strike="noStrike" kern="1200" cap="none" spc="0" normalizeH="0" baseline="0" noProof="0" dirty="0">
              <a:ln>
                <a:noFill/>
              </a:ln>
              <a:solidFill>
                <a:srgbClr val="FF3300"/>
              </a:solidFill>
              <a:effectLst/>
              <a:uLnTx/>
              <a:uFillTx/>
              <a:latin typeface="+mn-lt"/>
              <a:ea typeface="+mn-ea"/>
              <a:cs typeface="+mn-ea"/>
              <a:sym typeface="+mn-lt"/>
            </a:endParaRP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 for (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 2;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&lt;=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L.length</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L.r</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[0] = </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L.r</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 low = 1 ; high = i-1 ;</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       while ( low &lt;= high )       </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          {  m = ( low + high ) / 2 ; </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             if  (  </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L.r</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[0].key &lt; </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L.r</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[m]. key  )  high = m -1 ;</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            else  low = m + 1; </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for ( j=i-1; j&gt;=high+1; - - j )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[j+1] =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[j];</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[high+1] =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[0];</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360045"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  //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BInsertSort</a:t>
            </a:r>
            <a:endPar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44035" name="矩形 1"/>
          <p:cNvSpPr/>
          <p:nvPr/>
        </p:nvSpPr>
        <p:spPr>
          <a:xfrm>
            <a:off x="7885113" y="5084763"/>
            <a:ext cx="1258887" cy="46037"/>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4036" name="矩形 4"/>
          <p:cNvSpPr/>
          <p:nvPr/>
        </p:nvSpPr>
        <p:spPr>
          <a:xfrm>
            <a:off x="7885113" y="5300663"/>
            <a:ext cx="1258887" cy="46037"/>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4037" name="矩形 5"/>
          <p:cNvSpPr/>
          <p:nvPr/>
        </p:nvSpPr>
        <p:spPr>
          <a:xfrm>
            <a:off x="7885113" y="5535613"/>
            <a:ext cx="1258887" cy="46037"/>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4038" name="矩形 6"/>
          <p:cNvSpPr/>
          <p:nvPr/>
        </p:nvSpPr>
        <p:spPr>
          <a:xfrm>
            <a:off x="7885113" y="5751513"/>
            <a:ext cx="1258887" cy="46037"/>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4039" name="矩形 7"/>
          <p:cNvSpPr/>
          <p:nvPr/>
        </p:nvSpPr>
        <p:spPr>
          <a:xfrm>
            <a:off x="7885113" y="5962650"/>
            <a:ext cx="1258887" cy="46038"/>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4040" name="矩形 8"/>
          <p:cNvSpPr/>
          <p:nvPr/>
        </p:nvSpPr>
        <p:spPr>
          <a:xfrm>
            <a:off x="7885113" y="6202363"/>
            <a:ext cx="1258887" cy="46037"/>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0" name="Rectangle 7"/>
          <p:cNvSpPr>
            <a:spLocks noChangeArrowheads="1"/>
          </p:cNvSpPr>
          <p:nvPr/>
        </p:nvSpPr>
        <p:spPr bwMode="auto">
          <a:xfrm>
            <a:off x="830263" y="223838"/>
            <a:ext cx="3092450"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折半插入排序</a:t>
            </a:r>
          </a:p>
        </p:txBody>
      </p:sp>
    </p:spTree>
  </p:cSld>
  <p:clrMapOvr>
    <a:masterClrMapping/>
  </p:clrMapOvr>
  <p:transition spd="slow"/>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2724" name="Rectangle 4"/>
          <p:cNvSpPr>
            <a:spLocks noChangeArrowheads="1"/>
          </p:cNvSpPr>
          <p:nvPr/>
        </p:nvSpPr>
        <p:spPr bwMode="auto">
          <a:xfrm>
            <a:off x="493713" y="1844675"/>
            <a:ext cx="3627438" cy="3419475"/>
          </a:xfrm>
          <a:prstGeom prst="roundRect">
            <a:avLst>
              <a:gd name="adj" fmla="val 4784"/>
            </a:avLst>
          </a:prstGeom>
          <a:solidFill>
            <a:srgbClr val="CCCCFF"/>
          </a:solidFill>
          <a:ln w="9525">
            <a:noFill/>
            <a:miter lim="800000"/>
          </a:ln>
        </p:spPr>
        <p:txBody>
          <a:bodyPr/>
          <a:lstStyle/>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折半查找比顺序查找快，所以折半插入排序就平均性能来说比直接插入排序要快。</a:t>
            </a:r>
          </a:p>
        </p:txBody>
      </p:sp>
      <p:sp>
        <p:nvSpPr>
          <p:cNvPr id="1182725" name="Rectangle 5"/>
          <p:cNvSpPr>
            <a:spLocks noChangeArrowheads="1"/>
          </p:cNvSpPr>
          <p:nvPr/>
        </p:nvSpPr>
        <p:spPr bwMode="auto">
          <a:xfrm>
            <a:off x="900113" y="22383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8" name="Rectangle 4"/>
          <p:cNvSpPr>
            <a:spLocks noChangeArrowheads="1"/>
          </p:cNvSpPr>
          <p:nvPr/>
        </p:nvSpPr>
        <p:spPr bwMode="auto">
          <a:xfrm>
            <a:off x="4787900" y="1844675"/>
            <a:ext cx="3960813" cy="3419475"/>
          </a:xfrm>
          <a:prstGeom prst="roundRect">
            <a:avLst>
              <a:gd name="adj" fmla="val 4041"/>
            </a:avLst>
          </a:prstGeom>
          <a:solidFill>
            <a:srgbClr val="EBEBEB"/>
          </a:solidFill>
          <a:ln w="9525">
            <a:noFill/>
            <a:miter lim="800000"/>
          </a:ln>
        </p:spPr>
        <p:txBody>
          <a:bodyPr/>
          <a:lstStyle/>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它所需要的关键码比较次数与待排序对象序列的初始排列无关，仅依赖于对象个数。</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在插入第 </a:t>
            </a:r>
            <a:r>
              <a:rPr kumimoji="1" lang="en-US" altLang="zh-CN" sz="2400" b="0" i="1" u="none" strike="noStrike" kern="1200" cap="none" spc="0" normalizeH="0" baseline="0" noProof="0" dirty="0" err="1">
                <a:ln>
                  <a:noFill/>
                </a:ln>
                <a:solidFill>
                  <a:srgbClr val="FF3300"/>
                </a:solidFill>
                <a:effectLst/>
                <a:uLnTx/>
                <a:uFillTx/>
                <a:latin typeface="+mn-lt"/>
                <a:ea typeface="+mn-ea"/>
                <a:cs typeface="+mn-ea"/>
                <a:sym typeface="+mn-lt"/>
              </a:rPr>
              <a:t>i</a:t>
            </a:r>
            <a:r>
              <a:rPr kumimoji="1" lang="en-US" altLang="zh-CN" sz="2400" b="0" i="1" u="none" strike="noStrike" kern="1200" cap="none" spc="0" normalizeH="0" baseline="0" noProof="0" dirty="0">
                <a:ln>
                  <a:noFill/>
                </a:ln>
                <a:solidFill>
                  <a:srgbClr val="FF3300"/>
                </a:solidFill>
                <a:effectLst/>
                <a:uLnTx/>
                <a:uFillTx/>
                <a:latin typeface="+mn-lt"/>
                <a:ea typeface="+mn-ea"/>
                <a:cs typeface="+mn-ea"/>
                <a:sym typeface="+mn-lt"/>
              </a:rPr>
              <a:t> </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个对象时，需要经过 </a:t>
            </a:r>
            <a:r>
              <a:rPr kumimoji="1" lang="zh-CN" altLang="en-US" sz="2400" b="1" i="0" u="none" strike="noStrike" kern="1200" cap="none" spc="0" normalizeH="0" baseline="0" noProof="0" dirty="0">
                <a:ln>
                  <a:noFill/>
                </a:ln>
                <a:solidFill>
                  <a:srgbClr val="FF3300"/>
                </a:solidFill>
                <a:effectLst/>
                <a:uLnTx/>
                <a:uFillTx/>
                <a:latin typeface="楷体_GB2312" pitchFamily="49" charset="-122"/>
                <a:ea typeface="楷体_GB2312" pitchFamily="49" charset="-122"/>
                <a:cs typeface="+mn-cs"/>
                <a:sym typeface="Symbol" panose="05050102010706020507" pitchFamily="18" charset="2"/>
              </a:rPr>
              <a:t> </a:t>
            </a:r>
            <a:r>
              <a:rPr kumimoji="1" lang="en-US" altLang="zh-CN" sz="2400" b="0" i="0" u="none" strike="noStrike" kern="1200" cap="none" spc="0" normalizeH="0" baseline="0" noProof="0" dirty="0">
                <a:ln>
                  <a:noFill/>
                </a:ln>
                <a:solidFill>
                  <a:srgbClr val="FF3300"/>
                </a:solidFill>
                <a:effectLst/>
                <a:uLnTx/>
                <a:uFillTx/>
                <a:latin typeface="+mn-lt"/>
                <a:ea typeface="+mn-ea"/>
                <a:cs typeface="+mn-ea"/>
                <a:sym typeface="+mn-lt"/>
              </a:rPr>
              <a:t>log</a:t>
            </a:r>
            <a:r>
              <a:rPr kumimoji="1" lang="en-US" altLang="zh-CN" sz="2400" b="0" i="0" u="none" strike="noStrike" kern="1200" cap="none" spc="0" normalizeH="0" baseline="-25000" noProof="0" dirty="0">
                <a:ln>
                  <a:noFill/>
                </a:ln>
                <a:solidFill>
                  <a:srgbClr val="FF3300"/>
                </a:solidFill>
                <a:effectLst/>
                <a:uLnTx/>
                <a:uFillTx/>
                <a:latin typeface="+mn-lt"/>
                <a:ea typeface="+mn-ea"/>
                <a:cs typeface="+mn-ea"/>
                <a:sym typeface="+mn-lt"/>
              </a:rPr>
              <a:t>2</a:t>
            </a:r>
            <a:r>
              <a:rPr kumimoji="1" lang="en-US" altLang="zh-CN" sz="2400" b="0" i="1" u="none" strike="noStrike" kern="1200" cap="none" spc="0" normalizeH="0" baseline="0" noProof="0" dirty="0">
                <a:ln>
                  <a:noFill/>
                </a:ln>
                <a:solidFill>
                  <a:srgbClr val="FF3300"/>
                </a:solidFill>
                <a:effectLst/>
                <a:uLnTx/>
                <a:uFillTx/>
                <a:latin typeface="+mn-lt"/>
                <a:ea typeface="+mn-ea"/>
                <a:cs typeface="+mn-ea"/>
                <a:sym typeface="+mn-lt"/>
              </a:rPr>
              <a:t>i</a:t>
            </a:r>
            <a:r>
              <a:rPr kumimoji="1" lang="en-US" altLang="zh-CN" sz="2400" b="1" i="0" u="none" strike="noStrike" kern="1200" cap="none" spc="0" normalizeH="0" baseline="0" noProof="0" dirty="0">
                <a:ln>
                  <a:noFill/>
                </a:ln>
                <a:solidFill>
                  <a:srgbClr val="FF3300"/>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 </a:t>
            </a:r>
            <a:r>
              <a:rPr kumimoji="1" lang="en-US" altLang="zh-CN" sz="2400" b="1" i="0" u="none" strike="noStrike" kern="1200" cap="none" spc="0" normalizeH="0" baseline="0" noProof="0" dirty="0">
                <a:ln>
                  <a:noFill/>
                </a:ln>
                <a:solidFill>
                  <a:srgbClr val="FF3300"/>
                </a:solidFill>
                <a:effectLst/>
                <a:uLnTx/>
                <a:uFillTx/>
                <a:latin typeface="楷体_GB2312" pitchFamily="49" charset="-122"/>
                <a:ea typeface="楷体_GB2312" pitchFamily="49" charset="-122"/>
                <a:cs typeface="+mn-cs"/>
                <a:sym typeface="Symbol" panose="05050102010706020507" pitchFamily="18" charset="2"/>
              </a:rPr>
              <a:t></a:t>
            </a:r>
            <a:r>
              <a:rPr kumimoji="1" lang="en-US" altLang="zh-CN" sz="2400" b="0" i="0" u="none" strike="noStrike" kern="1200" cap="none" spc="0" normalizeH="0" baseline="0" noProof="0" dirty="0">
                <a:ln>
                  <a:noFill/>
                </a:ln>
                <a:solidFill>
                  <a:srgbClr val="FF3300"/>
                </a:solidFill>
                <a:effectLst/>
                <a:uLnTx/>
                <a:uFillTx/>
                <a:latin typeface="+mn-lt"/>
                <a:ea typeface="+mn-ea"/>
                <a:cs typeface="+mn-ea"/>
                <a:sym typeface="+mn-lt"/>
              </a:rPr>
              <a:t> +1  </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次关键码比较，才能确定它应插入的位置</a:t>
            </a:r>
            <a:r>
              <a:rPr kumimoji="1" lang="en-US" altLang="zh-CN" sz="2400" b="0" i="0" u="none" strike="noStrike" kern="1200" cap="none" spc="0" normalizeH="0" baseline="0" noProof="0" dirty="0">
                <a:ln>
                  <a:noFill/>
                </a:ln>
                <a:solidFill>
                  <a:srgbClr val="FF3300"/>
                </a:solidFill>
                <a:effectLst/>
                <a:uLnTx/>
                <a:uFillTx/>
                <a:latin typeface="+mn-lt"/>
                <a:ea typeface="+mn-ea"/>
                <a:cs typeface="+mn-ea"/>
                <a:sym typeface="+mn-lt"/>
              </a:rPr>
              <a:t> </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a:t>
            </a:r>
          </a:p>
        </p:txBody>
      </p:sp>
      <p:sp>
        <p:nvSpPr>
          <p:cNvPr id="45061" name="矩形 1"/>
          <p:cNvSpPr/>
          <p:nvPr/>
        </p:nvSpPr>
        <p:spPr>
          <a:xfrm>
            <a:off x="493713" y="4005263"/>
            <a:ext cx="3627437" cy="46037"/>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5062" name="矩形 9"/>
          <p:cNvSpPr/>
          <p:nvPr/>
        </p:nvSpPr>
        <p:spPr>
          <a:xfrm>
            <a:off x="493713" y="4221163"/>
            <a:ext cx="3627437" cy="46037"/>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5063" name="矩形 10"/>
          <p:cNvSpPr/>
          <p:nvPr/>
        </p:nvSpPr>
        <p:spPr>
          <a:xfrm>
            <a:off x="493713" y="4473575"/>
            <a:ext cx="3627437" cy="46038"/>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5064" name="矩形 11"/>
          <p:cNvSpPr/>
          <p:nvPr/>
        </p:nvSpPr>
        <p:spPr>
          <a:xfrm>
            <a:off x="493713" y="4725988"/>
            <a:ext cx="3627437" cy="44450"/>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182724">
                                            <p:bg/>
                                          </p:spTgt>
                                        </p:tgtEl>
                                        <p:attrNameLst>
                                          <p:attrName>style.visibility</p:attrName>
                                        </p:attrNameLst>
                                      </p:cBhvr>
                                      <p:to>
                                        <p:strVal val="visible"/>
                                      </p:to>
                                    </p:set>
                                    <p:anim calcmode="lin" valueType="num">
                                      <p:cBhvr additive="base">
                                        <p:cTn id="7" dur="500" fill="hold"/>
                                        <p:tgtEl>
                                          <p:spTgt spid="1182724">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182724">
                                            <p:bg/>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182724">
                                            <p:txEl>
                                              <p:pRg st="0" end="0"/>
                                            </p:txEl>
                                          </p:spTgt>
                                        </p:tgtEl>
                                        <p:attrNameLst>
                                          <p:attrName>style.visibility</p:attrName>
                                        </p:attrNameLst>
                                      </p:cBhvr>
                                      <p:to>
                                        <p:strVal val="visible"/>
                                      </p:to>
                                    </p:set>
                                    <p:anim calcmode="lin" valueType="num">
                                      <p:cBhvr additive="base">
                                        <p:cTn id="13" dur="500" fill="hold"/>
                                        <p:tgtEl>
                                          <p:spTgt spid="118272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827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8">
                                            <p:bg/>
                                          </p:spTgt>
                                        </p:tgtEl>
                                        <p:attrNameLst>
                                          <p:attrName>style.visibility</p:attrName>
                                        </p:attrNameLst>
                                      </p:cBhvr>
                                      <p:to>
                                        <p:strVal val="visible"/>
                                      </p:to>
                                    </p:set>
                                    <p:anim calcmode="lin" valueType="num">
                                      <p:cBhvr additive="base">
                                        <p:cTn id="19" dur="500" fill="hold"/>
                                        <p:tgtEl>
                                          <p:spTgt spid="8">
                                            <p:bg/>
                                          </p:spTgt>
                                        </p:tgtEl>
                                        <p:attrNameLst>
                                          <p:attrName>ppt_x</p:attrName>
                                        </p:attrNameLst>
                                      </p:cBhvr>
                                      <p:tavLst>
                                        <p:tav tm="0">
                                          <p:val>
                                            <p:strVal val="0-#ppt_w/2"/>
                                          </p:val>
                                        </p:tav>
                                        <p:tav tm="100000">
                                          <p:val>
                                            <p:strVal val="#ppt_x"/>
                                          </p:val>
                                        </p:tav>
                                      </p:tavLst>
                                    </p:anim>
                                    <p:anim calcmode="lin" valueType="num">
                                      <p:cBhvr additive="base">
                                        <p:cTn id="20" dur="500" fill="hold"/>
                                        <p:tgtEl>
                                          <p:spTgt spid="8">
                                            <p:bg/>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8">
                                            <p:txEl>
                                              <p:pRg st="0" end="0"/>
                                            </p:txEl>
                                          </p:spTgt>
                                        </p:tgtEl>
                                        <p:attrNameLst>
                                          <p:attrName>style.visibility</p:attrName>
                                        </p:attrNameLst>
                                      </p:cBhvr>
                                      <p:to>
                                        <p:strVal val="visible"/>
                                      </p:to>
                                    </p:set>
                                    <p:anim calcmode="lin" valueType="num">
                                      <p:cBhvr additive="base">
                                        <p:cTn id="25" dur="5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2724" grpId="0" build="p" bldLvl="2" animBg="1"/>
      <p:bldP spid="8" grpId="0" build="p" bldLvl="2"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9" name="Rectangle 5"/>
          <p:cNvSpPr>
            <a:spLocks noChangeArrowheads="1"/>
          </p:cNvSpPr>
          <p:nvPr/>
        </p:nvSpPr>
        <p:spPr bwMode="auto">
          <a:xfrm>
            <a:off x="900113" y="1905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6" name="Rectangle 6"/>
          <p:cNvSpPr>
            <a:spLocks noChangeArrowheads="1"/>
          </p:cNvSpPr>
          <p:nvPr/>
        </p:nvSpPr>
        <p:spPr bwMode="auto">
          <a:xfrm>
            <a:off x="331788" y="3644900"/>
            <a:ext cx="2163763" cy="2495550"/>
          </a:xfrm>
          <a:prstGeom prst="rect">
            <a:avLst/>
          </a:prstGeom>
          <a:noFill/>
          <a:ln>
            <a:noFill/>
          </a:ln>
        </p:spPr>
        <p:txBody>
          <a:bodyPr>
            <a:spAutoFit/>
          </a:bodyPr>
          <a:lstStyle>
            <a:lvl1pPr marL="381000" indent="-3810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0000"/>
              </a:lnSpc>
              <a:spcBef>
                <a:spcPct val="3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当 </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n </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较大时，总关键码比较次数比直接插入排序的最坏情况要好得多，但比其最好情况要差</a:t>
            </a:r>
          </a:p>
        </p:txBody>
      </p:sp>
      <p:grpSp>
        <p:nvGrpSpPr>
          <p:cNvPr id="7" name="组合 6"/>
          <p:cNvGrpSpPr/>
          <p:nvPr/>
        </p:nvGrpSpPr>
        <p:grpSpPr>
          <a:xfrm>
            <a:off x="488950" y="1268413"/>
            <a:ext cx="1900238" cy="2141537"/>
            <a:chOff x="1168053" y="2217316"/>
            <a:chExt cx="1901372" cy="2140857"/>
          </a:xfrm>
        </p:grpSpPr>
        <p:sp>
          <p:nvSpPr>
            <p:cNvPr id="18" name="íṡľíḍè-Rectangle 22"/>
            <p:cNvSpPr/>
            <p:nvPr/>
          </p:nvSpPr>
          <p:spPr>
            <a:xfrm>
              <a:off x="1168053" y="2217316"/>
              <a:ext cx="1901372" cy="1901221"/>
            </a:xfrm>
            <a:prstGeom prst="rect">
              <a:avLst/>
            </a:pr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9" name="íṡľíḍè-Freeform: Shape 23"/>
            <p:cNvSpPr/>
            <p:nvPr/>
          </p:nvSpPr>
          <p:spPr>
            <a:xfrm rot="10800000">
              <a:off x="1168053" y="3988403"/>
              <a:ext cx="1901372" cy="369770"/>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4F81BD">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20" name="îŝḷîḓé-Freeform: Shape 42"/>
            <p:cNvSpPr/>
            <p:nvPr/>
          </p:nvSpPr>
          <p:spPr bwMode="auto">
            <a:xfrm>
              <a:off x="1689064" y="2469648"/>
              <a:ext cx="945127" cy="944263"/>
            </a:xfrm>
            <a:custGeom>
              <a:avLst/>
              <a:gdLst>
                <a:gd name="T0" fmla="*/ 184 w 260"/>
                <a:gd name="T1" fmla="*/ 106 h 260"/>
                <a:gd name="T2" fmla="*/ 193 w 260"/>
                <a:gd name="T3" fmla="*/ 143 h 260"/>
                <a:gd name="T4" fmla="*/ 117 w 260"/>
                <a:gd name="T5" fmla="*/ 219 h 260"/>
                <a:gd name="T6" fmla="*/ 42 w 260"/>
                <a:gd name="T7" fmla="*/ 143 h 260"/>
                <a:gd name="T8" fmla="*/ 117 w 260"/>
                <a:gd name="T9" fmla="*/ 66 h 260"/>
                <a:gd name="T10" fmla="*/ 154 w 260"/>
                <a:gd name="T11" fmla="*/ 76 h 260"/>
                <a:gd name="T12" fmla="*/ 183 w 260"/>
                <a:gd name="T13" fmla="*/ 46 h 260"/>
                <a:gd name="T14" fmla="*/ 117 w 260"/>
                <a:gd name="T15" fmla="*/ 25 h 260"/>
                <a:gd name="T16" fmla="*/ 0 w 260"/>
                <a:gd name="T17" fmla="*/ 143 h 260"/>
                <a:gd name="T18" fmla="*/ 117 w 260"/>
                <a:gd name="T19" fmla="*/ 260 h 260"/>
                <a:gd name="T20" fmla="*/ 233 w 260"/>
                <a:gd name="T21" fmla="*/ 143 h 260"/>
                <a:gd name="T22" fmla="*/ 213 w 260"/>
                <a:gd name="T23" fmla="*/ 77 h 260"/>
                <a:gd name="T24" fmla="*/ 184 w 260"/>
                <a:gd name="T25" fmla="*/ 106 h 260"/>
                <a:gd name="T26" fmla="*/ 225 w 260"/>
                <a:gd name="T27" fmla="*/ 35 h 260"/>
                <a:gd name="T28" fmla="*/ 225 w 260"/>
                <a:gd name="T29" fmla="*/ 35 h 260"/>
                <a:gd name="T30" fmla="*/ 225 w 260"/>
                <a:gd name="T31" fmla="*/ 0 h 260"/>
                <a:gd name="T32" fmla="*/ 203 w 260"/>
                <a:gd name="T33" fmla="*/ 23 h 260"/>
                <a:gd name="T34" fmla="*/ 203 w 260"/>
                <a:gd name="T35" fmla="*/ 46 h 260"/>
                <a:gd name="T36" fmla="*/ 139 w 260"/>
                <a:gd name="T37" fmla="*/ 111 h 260"/>
                <a:gd name="T38" fmla="*/ 117 w 260"/>
                <a:gd name="T39" fmla="*/ 104 h 260"/>
                <a:gd name="T40" fmla="*/ 79 w 260"/>
                <a:gd name="T41" fmla="*/ 143 h 260"/>
                <a:gd name="T42" fmla="*/ 117 w 260"/>
                <a:gd name="T43" fmla="*/ 181 h 260"/>
                <a:gd name="T44" fmla="*/ 155 w 260"/>
                <a:gd name="T45" fmla="*/ 143 h 260"/>
                <a:gd name="T46" fmla="*/ 150 w 260"/>
                <a:gd name="T47" fmla="*/ 123 h 260"/>
                <a:gd name="T48" fmla="*/ 215 w 260"/>
                <a:gd name="T49" fmla="*/ 58 h 260"/>
                <a:gd name="T50" fmla="*/ 237 w 260"/>
                <a:gd name="T51" fmla="*/ 58 h 260"/>
                <a:gd name="T52" fmla="*/ 260 w 260"/>
                <a:gd name="T53" fmla="*/ 35 h 260"/>
                <a:gd name="T54" fmla="*/ 225 w 260"/>
                <a:gd name="T55" fmla="*/ 3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0" h="260">
                  <a:moveTo>
                    <a:pt x="184" y="106"/>
                  </a:moveTo>
                  <a:cubicBezTo>
                    <a:pt x="190" y="117"/>
                    <a:pt x="193" y="129"/>
                    <a:pt x="193" y="143"/>
                  </a:cubicBezTo>
                  <a:cubicBezTo>
                    <a:pt x="193" y="185"/>
                    <a:pt x="159" y="219"/>
                    <a:pt x="117" y="219"/>
                  </a:cubicBezTo>
                  <a:cubicBezTo>
                    <a:pt x="76" y="219"/>
                    <a:pt x="42" y="185"/>
                    <a:pt x="42" y="143"/>
                  </a:cubicBezTo>
                  <a:cubicBezTo>
                    <a:pt x="42" y="100"/>
                    <a:pt x="76" y="66"/>
                    <a:pt x="117" y="66"/>
                  </a:cubicBezTo>
                  <a:cubicBezTo>
                    <a:pt x="131" y="66"/>
                    <a:pt x="143" y="70"/>
                    <a:pt x="154" y="76"/>
                  </a:cubicBezTo>
                  <a:cubicBezTo>
                    <a:pt x="183" y="46"/>
                    <a:pt x="183" y="46"/>
                    <a:pt x="183" y="46"/>
                  </a:cubicBezTo>
                  <a:cubicBezTo>
                    <a:pt x="165" y="33"/>
                    <a:pt x="141" y="25"/>
                    <a:pt x="117" y="25"/>
                  </a:cubicBezTo>
                  <a:cubicBezTo>
                    <a:pt x="52" y="25"/>
                    <a:pt x="0" y="78"/>
                    <a:pt x="0" y="143"/>
                  </a:cubicBezTo>
                  <a:cubicBezTo>
                    <a:pt x="0" y="207"/>
                    <a:pt x="52" y="260"/>
                    <a:pt x="117" y="260"/>
                  </a:cubicBezTo>
                  <a:cubicBezTo>
                    <a:pt x="181" y="260"/>
                    <a:pt x="233" y="207"/>
                    <a:pt x="233" y="143"/>
                  </a:cubicBezTo>
                  <a:cubicBezTo>
                    <a:pt x="233" y="118"/>
                    <a:pt x="226" y="96"/>
                    <a:pt x="213" y="77"/>
                  </a:cubicBezTo>
                  <a:cubicBezTo>
                    <a:pt x="184" y="106"/>
                    <a:pt x="184" y="106"/>
                    <a:pt x="184" y="106"/>
                  </a:cubicBezTo>
                  <a:close/>
                  <a:moveTo>
                    <a:pt x="225" y="35"/>
                  </a:moveTo>
                  <a:cubicBezTo>
                    <a:pt x="225" y="35"/>
                    <a:pt x="225" y="35"/>
                    <a:pt x="225" y="35"/>
                  </a:cubicBezTo>
                  <a:cubicBezTo>
                    <a:pt x="225" y="0"/>
                    <a:pt x="225" y="0"/>
                    <a:pt x="225" y="0"/>
                  </a:cubicBezTo>
                  <a:cubicBezTo>
                    <a:pt x="203" y="23"/>
                    <a:pt x="203" y="23"/>
                    <a:pt x="203" y="23"/>
                  </a:cubicBezTo>
                  <a:cubicBezTo>
                    <a:pt x="203" y="46"/>
                    <a:pt x="203" y="46"/>
                    <a:pt x="203" y="46"/>
                  </a:cubicBezTo>
                  <a:cubicBezTo>
                    <a:pt x="139" y="111"/>
                    <a:pt x="139" y="111"/>
                    <a:pt x="139" y="111"/>
                  </a:cubicBezTo>
                  <a:cubicBezTo>
                    <a:pt x="133" y="106"/>
                    <a:pt x="125" y="104"/>
                    <a:pt x="117" y="104"/>
                  </a:cubicBezTo>
                  <a:cubicBezTo>
                    <a:pt x="96" y="104"/>
                    <a:pt x="79" y="121"/>
                    <a:pt x="79" y="143"/>
                  </a:cubicBezTo>
                  <a:cubicBezTo>
                    <a:pt x="79" y="164"/>
                    <a:pt x="96" y="181"/>
                    <a:pt x="117" y="181"/>
                  </a:cubicBezTo>
                  <a:cubicBezTo>
                    <a:pt x="138" y="181"/>
                    <a:pt x="155" y="164"/>
                    <a:pt x="155" y="143"/>
                  </a:cubicBezTo>
                  <a:cubicBezTo>
                    <a:pt x="155" y="136"/>
                    <a:pt x="154" y="129"/>
                    <a:pt x="150" y="123"/>
                  </a:cubicBezTo>
                  <a:cubicBezTo>
                    <a:pt x="215" y="58"/>
                    <a:pt x="215" y="58"/>
                    <a:pt x="215" y="58"/>
                  </a:cubicBezTo>
                  <a:cubicBezTo>
                    <a:pt x="237" y="58"/>
                    <a:pt x="237" y="58"/>
                    <a:pt x="237" y="58"/>
                  </a:cubicBezTo>
                  <a:cubicBezTo>
                    <a:pt x="260" y="35"/>
                    <a:pt x="260" y="35"/>
                    <a:pt x="260" y="35"/>
                  </a:cubicBezTo>
                  <a:cubicBezTo>
                    <a:pt x="225" y="35"/>
                    <a:pt x="225" y="35"/>
                    <a:pt x="225" y="35"/>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8" name="组合 7"/>
          <p:cNvGrpSpPr/>
          <p:nvPr/>
        </p:nvGrpSpPr>
        <p:grpSpPr>
          <a:xfrm>
            <a:off x="6581775" y="1268413"/>
            <a:ext cx="1901825" cy="2181225"/>
            <a:chOff x="9271092" y="2217316"/>
            <a:chExt cx="1901375" cy="2180771"/>
          </a:xfrm>
        </p:grpSpPr>
        <p:sp>
          <p:nvSpPr>
            <p:cNvPr id="15" name="íṡľíḍè-Rectangle 30"/>
            <p:cNvSpPr/>
            <p:nvPr/>
          </p:nvSpPr>
          <p:spPr>
            <a:xfrm>
              <a:off x="9271092" y="2217316"/>
              <a:ext cx="1901375" cy="1901429"/>
            </a:xfrm>
            <a:prstGeom prst="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6" name="íṡľíḍè-Freeform: Shape 31"/>
            <p:cNvSpPr/>
            <p:nvPr/>
          </p:nvSpPr>
          <p:spPr>
            <a:xfrm rot="10800000">
              <a:off x="9271092" y="4028276"/>
              <a:ext cx="1901375" cy="369811"/>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8064A2">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7" name="îŝḷîḓé-Freeform: Shape 43"/>
            <p:cNvSpPr/>
            <p:nvPr/>
          </p:nvSpPr>
          <p:spPr bwMode="auto">
            <a:xfrm>
              <a:off x="9763101" y="2560145"/>
              <a:ext cx="838002" cy="839612"/>
            </a:xfrm>
            <a:custGeom>
              <a:avLst/>
              <a:gdLst>
                <a:gd name="T0" fmla="*/ 116 w 232"/>
                <a:gd name="T1" fmla="*/ 0 h 232"/>
                <a:gd name="T2" fmla="*/ 0 w 232"/>
                <a:gd name="T3" fmla="*/ 116 h 232"/>
                <a:gd name="T4" fmla="*/ 116 w 232"/>
                <a:gd name="T5" fmla="*/ 232 h 232"/>
                <a:gd name="T6" fmla="*/ 232 w 232"/>
                <a:gd name="T7" fmla="*/ 116 h 232"/>
                <a:gd name="T8" fmla="*/ 116 w 232"/>
                <a:gd name="T9" fmla="*/ 0 h 232"/>
                <a:gd name="T10" fmla="*/ 129 w 232"/>
                <a:gd name="T11" fmla="*/ 208 h 232"/>
                <a:gd name="T12" fmla="*/ 129 w 232"/>
                <a:gd name="T13" fmla="*/ 190 h 232"/>
                <a:gd name="T14" fmla="*/ 117 w 232"/>
                <a:gd name="T15" fmla="*/ 178 h 232"/>
                <a:gd name="T16" fmla="*/ 105 w 232"/>
                <a:gd name="T17" fmla="*/ 190 h 232"/>
                <a:gd name="T18" fmla="*/ 105 w 232"/>
                <a:gd name="T19" fmla="*/ 208 h 232"/>
                <a:gd name="T20" fmla="*/ 25 w 232"/>
                <a:gd name="T21" fmla="*/ 129 h 232"/>
                <a:gd name="T22" fmla="*/ 42 w 232"/>
                <a:gd name="T23" fmla="*/ 129 h 232"/>
                <a:gd name="T24" fmla="*/ 53 w 232"/>
                <a:gd name="T25" fmla="*/ 117 h 232"/>
                <a:gd name="T26" fmla="*/ 42 w 232"/>
                <a:gd name="T27" fmla="*/ 105 h 232"/>
                <a:gd name="T28" fmla="*/ 24 w 232"/>
                <a:gd name="T29" fmla="*/ 105 h 232"/>
                <a:gd name="T30" fmla="*/ 104 w 232"/>
                <a:gd name="T31" fmla="*/ 25 h 232"/>
                <a:gd name="T32" fmla="*/ 104 w 232"/>
                <a:gd name="T33" fmla="*/ 41 h 232"/>
                <a:gd name="T34" fmla="*/ 116 w 232"/>
                <a:gd name="T35" fmla="*/ 53 h 232"/>
                <a:gd name="T36" fmla="*/ 128 w 232"/>
                <a:gd name="T37" fmla="*/ 41 h 232"/>
                <a:gd name="T38" fmla="*/ 128 w 232"/>
                <a:gd name="T39" fmla="*/ 25 h 232"/>
                <a:gd name="T40" fmla="*/ 208 w 232"/>
                <a:gd name="T41" fmla="*/ 104 h 232"/>
                <a:gd name="T42" fmla="*/ 190 w 232"/>
                <a:gd name="T43" fmla="*/ 104 h 232"/>
                <a:gd name="T44" fmla="*/ 179 w 232"/>
                <a:gd name="T45" fmla="*/ 116 h 232"/>
                <a:gd name="T46" fmla="*/ 190 w 232"/>
                <a:gd name="T47" fmla="*/ 128 h 232"/>
                <a:gd name="T48" fmla="*/ 208 w 232"/>
                <a:gd name="T49" fmla="*/ 128 h 232"/>
                <a:gd name="T50" fmla="*/ 129 w 232"/>
                <a:gd name="T51" fmla="*/ 208 h 232"/>
                <a:gd name="T52" fmla="*/ 124 w 232"/>
                <a:gd name="T53" fmla="*/ 94 h 232"/>
                <a:gd name="T54" fmla="*/ 70 w 232"/>
                <a:gd name="T55" fmla="*/ 69 h 232"/>
                <a:gd name="T56" fmla="*/ 94 w 232"/>
                <a:gd name="T57" fmla="*/ 124 h 232"/>
                <a:gd name="T58" fmla="*/ 109 w 232"/>
                <a:gd name="T59" fmla="*/ 138 h 232"/>
                <a:gd name="T60" fmla="*/ 163 w 232"/>
                <a:gd name="T61" fmla="*/ 163 h 232"/>
                <a:gd name="T62" fmla="*/ 138 w 232"/>
                <a:gd name="T63" fmla="*/ 108 h 232"/>
                <a:gd name="T64" fmla="*/ 124 w 232"/>
                <a:gd name="T65" fmla="*/ 94 h 232"/>
                <a:gd name="T66" fmla="*/ 123 w 232"/>
                <a:gd name="T67" fmla="*/ 123 h 232"/>
                <a:gd name="T68" fmla="*/ 110 w 232"/>
                <a:gd name="T69" fmla="*/ 123 h 232"/>
                <a:gd name="T70" fmla="*/ 110 w 232"/>
                <a:gd name="T71" fmla="*/ 109 h 232"/>
                <a:gd name="T72" fmla="*/ 123 w 232"/>
                <a:gd name="T73" fmla="*/ 109 h 232"/>
                <a:gd name="T74" fmla="*/ 123 w 232"/>
                <a:gd name="T75" fmla="*/ 12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 h="232">
                  <a:moveTo>
                    <a:pt x="116" y="0"/>
                  </a:moveTo>
                  <a:cubicBezTo>
                    <a:pt x="52" y="0"/>
                    <a:pt x="0" y="52"/>
                    <a:pt x="0" y="116"/>
                  </a:cubicBezTo>
                  <a:cubicBezTo>
                    <a:pt x="0" y="180"/>
                    <a:pt x="52" y="232"/>
                    <a:pt x="116" y="232"/>
                  </a:cubicBezTo>
                  <a:cubicBezTo>
                    <a:pt x="180" y="232"/>
                    <a:pt x="232" y="180"/>
                    <a:pt x="232" y="116"/>
                  </a:cubicBezTo>
                  <a:cubicBezTo>
                    <a:pt x="232" y="52"/>
                    <a:pt x="180" y="0"/>
                    <a:pt x="116" y="0"/>
                  </a:cubicBezTo>
                  <a:close/>
                  <a:moveTo>
                    <a:pt x="129" y="208"/>
                  </a:moveTo>
                  <a:cubicBezTo>
                    <a:pt x="129" y="190"/>
                    <a:pt x="129" y="190"/>
                    <a:pt x="129" y="190"/>
                  </a:cubicBezTo>
                  <a:cubicBezTo>
                    <a:pt x="129" y="183"/>
                    <a:pt x="123" y="178"/>
                    <a:pt x="117" y="178"/>
                  </a:cubicBezTo>
                  <a:cubicBezTo>
                    <a:pt x="110" y="178"/>
                    <a:pt x="105" y="183"/>
                    <a:pt x="105" y="190"/>
                  </a:cubicBezTo>
                  <a:cubicBezTo>
                    <a:pt x="105" y="208"/>
                    <a:pt x="105" y="208"/>
                    <a:pt x="105" y="208"/>
                  </a:cubicBezTo>
                  <a:cubicBezTo>
                    <a:pt x="63" y="203"/>
                    <a:pt x="30" y="170"/>
                    <a:pt x="25" y="129"/>
                  </a:cubicBezTo>
                  <a:cubicBezTo>
                    <a:pt x="42" y="129"/>
                    <a:pt x="42" y="129"/>
                    <a:pt x="42" y="129"/>
                  </a:cubicBezTo>
                  <a:cubicBezTo>
                    <a:pt x="48" y="129"/>
                    <a:pt x="53" y="123"/>
                    <a:pt x="53" y="117"/>
                  </a:cubicBezTo>
                  <a:cubicBezTo>
                    <a:pt x="53" y="110"/>
                    <a:pt x="48" y="105"/>
                    <a:pt x="42" y="105"/>
                  </a:cubicBezTo>
                  <a:cubicBezTo>
                    <a:pt x="24" y="105"/>
                    <a:pt x="24" y="105"/>
                    <a:pt x="24" y="105"/>
                  </a:cubicBezTo>
                  <a:cubicBezTo>
                    <a:pt x="29" y="63"/>
                    <a:pt x="63" y="30"/>
                    <a:pt x="104" y="25"/>
                  </a:cubicBezTo>
                  <a:cubicBezTo>
                    <a:pt x="104" y="41"/>
                    <a:pt x="104" y="41"/>
                    <a:pt x="104" y="41"/>
                  </a:cubicBezTo>
                  <a:cubicBezTo>
                    <a:pt x="104" y="47"/>
                    <a:pt x="109" y="53"/>
                    <a:pt x="116" y="53"/>
                  </a:cubicBezTo>
                  <a:cubicBezTo>
                    <a:pt x="122" y="53"/>
                    <a:pt x="128" y="47"/>
                    <a:pt x="128" y="41"/>
                  </a:cubicBezTo>
                  <a:cubicBezTo>
                    <a:pt x="128" y="25"/>
                    <a:pt x="128" y="25"/>
                    <a:pt x="128" y="25"/>
                  </a:cubicBezTo>
                  <a:cubicBezTo>
                    <a:pt x="169" y="30"/>
                    <a:pt x="202" y="63"/>
                    <a:pt x="208" y="104"/>
                  </a:cubicBezTo>
                  <a:cubicBezTo>
                    <a:pt x="190" y="104"/>
                    <a:pt x="190" y="104"/>
                    <a:pt x="190" y="104"/>
                  </a:cubicBezTo>
                  <a:cubicBezTo>
                    <a:pt x="184" y="104"/>
                    <a:pt x="179" y="109"/>
                    <a:pt x="179" y="116"/>
                  </a:cubicBezTo>
                  <a:cubicBezTo>
                    <a:pt x="179" y="122"/>
                    <a:pt x="184" y="128"/>
                    <a:pt x="190" y="128"/>
                  </a:cubicBezTo>
                  <a:cubicBezTo>
                    <a:pt x="208" y="128"/>
                    <a:pt x="208" y="128"/>
                    <a:pt x="208" y="128"/>
                  </a:cubicBezTo>
                  <a:cubicBezTo>
                    <a:pt x="203" y="169"/>
                    <a:pt x="170" y="202"/>
                    <a:pt x="129" y="208"/>
                  </a:cubicBezTo>
                  <a:close/>
                  <a:moveTo>
                    <a:pt x="124" y="94"/>
                  </a:moveTo>
                  <a:cubicBezTo>
                    <a:pt x="70" y="69"/>
                    <a:pt x="70" y="69"/>
                    <a:pt x="70" y="69"/>
                  </a:cubicBezTo>
                  <a:cubicBezTo>
                    <a:pt x="94" y="124"/>
                    <a:pt x="94" y="124"/>
                    <a:pt x="94" y="124"/>
                  </a:cubicBezTo>
                  <a:cubicBezTo>
                    <a:pt x="97" y="129"/>
                    <a:pt x="103" y="136"/>
                    <a:pt x="109" y="138"/>
                  </a:cubicBezTo>
                  <a:cubicBezTo>
                    <a:pt x="163" y="163"/>
                    <a:pt x="163" y="163"/>
                    <a:pt x="163" y="163"/>
                  </a:cubicBezTo>
                  <a:cubicBezTo>
                    <a:pt x="138" y="108"/>
                    <a:pt x="138" y="108"/>
                    <a:pt x="138" y="108"/>
                  </a:cubicBezTo>
                  <a:cubicBezTo>
                    <a:pt x="136" y="103"/>
                    <a:pt x="130" y="96"/>
                    <a:pt x="124" y="94"/>
                  </a:cubicBezTo>
                  <a:close/>
                  <a:moveTo>
                    <a:pt x="123" y="123"/>
                  </a:moveTo>
                  <a:cubicBezTo>
                    <a:pt x="119" y="126"/>
                    <a:pt x="113" y="126"/>
                    <a:pt x="110" y="123"/>
                  </a:cubicBezTo>
                  <a:cubicBezTo>
                    <a:pt x="106" y="119"/>
                    <a:pt x="106" y="113"/>
                    <a:pt x="110" y="109"/>
                  </a:cubicBezTo>
                  <a:cubicBezTo>
                    <a:pt x="113" y="106"/>
                    <a:pt x="119" y="106"/>
                    <a:pt x="123" y="109"/>
                  </a:cubicBezTo>
                  <a:cubicBezTo>
                    <a:pt x="127" y="113"/>
                    <a:pt x="127" y="119"/>
                    <a:pt x="123" y="123"/>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9" name="组合 8"/>
          <p:cNvGrpSpPr/>
          <p:nvPr/>
        </p:nvGrpSpPr>
        <p:grpSpPr>
          <a:xfrm>
            <a:off x="3557588" y="1268413"/>
            <a:ext cx="1901825" cy="2144712"/>
            <a:chOff x="3869067" y="2217316"/>
            <a:chExt cx="1901372" cy="2144485"/>
          </a:xfrm>
        </p:grpSpPr>
        <p:sp>
          <p:nvSpPr>
            <p:cNvPr id="12" name="íṡľíḍè-Rectangle 18"/>
            <p:cNvSpPr/>
            <p:nvPr/>
          </p:nvSpPr>
          <p:spPr>
            <a:xfrm>
              <a:off x="3869067" y="2217316"/>
              <a:ext cx="1901372" cy="1901624"/>
            </a:xfrm>
            <a:prstGeom prst="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3" name="íṡľíḍè-Freeform: Shape 19"/>
            <p:cNvSpPr/>
            <p:nvPr/>
          </p:nvSpPr>
          <p:spPr>
            <a:xfrm rot="10800000">
              <a:off x="3869067" y="3991953"/>
              <a:ext cx="1901372" cy="369848"/>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C0504D">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4" name="îŝḷîḓé-Freeform: Shape 44"/>
            <p:cNvSpPr/>
            <p:nvPr/>
          </p:nvSpPr>
          <p:spPr bwMode="auto">
            <a:xfrm>
              <a:off x="4388055" y="2568116"/>
              <a:ext cx="852285" cy="850810"/>
            </a:xfrm>
            <a:custGeom>
              <a:avLst/>
              <a:gdLst>
                <a:gd name="T0" fmla="*/ 187 w 228"/>
                <a:gd name="T1" fmla="*/ 114 h 240"/>
                <a:gd name="T2" fmla="*/ 114 w 228"/>
                <a:gd name="T3" fmla="*/ 40 h 240"/>
                <a:gd name="T4" fmla="*/ 40 w 228"/>
                <a:gd name="T5" fmla="*/ 114 h 240"/>
                <a:gd name="T6" fmla="*/ 68 w 228"/>
                <a:gd name="T7" fmla="*/ 171 h 240"/>
                <a:gd name="T8" fmla="*/ 74 w 228"/>
                <a:gd name="T9" fmla="*/ 173 h 240"/>
                <a:gd name="T10" fmla="*/ 81 w 228"/>
                <a:gd name="T11" fmla="*/ 169 h 240"/>
                <a:gd name="T12" fmla="*/ 79 w 228"/>
                <a:gd name="T13" fmla="*/ 156 h 240"/>
                <a:gd name="T14" fmla="*/ 59 w 228"/>
                <a:gd name="T15" fmla="*/ 114 h 240"/>
                <a:gd name="T16" fmla="*/ 114 w 228"/>
                <a:gd name="T17" fmla="*/ 59 h 240"/>
                <a:gd name="T18" fmla="*/ 169 w 228"/>
                <a:gd name="T19" fmla="*/ 114 h 240"/>
                <a:gd name="T20" fmla="*/ 152 w 228"/>
                <a:gd name="T21" fmla="*/ 153 h 240"/>
                <a:gd name="T22" fmla="*/ 151 w 228"/>
                <a:gd name="T23" fmla="*/ 166 h 240"/>
                <a:gd name="T24" fmla="*/ 165 w 228"/>
                <a:gd name="T25" fmla="*/ 167 h 240"/>
                <a:gd name="T26" fmla="*/ 187 w 228"/>
                <a:gd name="T27" fmla="*/ 114 h 240"/>
                <a:gd name="T28" fmla="*/ 116 w 228"/>
                <a:gd name="T29" fmla="*/ 79 h 240"/>
                <a:gd name="T30" fmla="*/ 81 w 228"/>
                <a:gd name="T31" fmla="*/ 114 h 240"/>
                <a:gd name="T32" fmla="*/ 101 w 228"/>
                <a:gd name="T33" fmla="*/ 144 h 240"/>
                <a:gd name="T34" fmla="*/ 101 w 228"/>
                <a:gd name="T35" fmla="*/ 226 h 240"/>
                <a:gd name="T36" fmla="*/ 115 w 228"/>
                <a:gd name="T37" fmla="*/ 240 h 240"/>
                <a:gd name="T38" fmla="*/ 129 w 228"/>
                <a:gd name="T39" fmla="*/ 226 h 240"/>
                <a:gd name="T40" fmla="*/ 129 w 228"/>
                <a:gd name="T41" fmla="*/ 145 h 240"/>
                <a:gd name="T42" fmla="*/ 150 w 228"/>
                <a:gd name="T43" fmla="*/ 114 h 240"/>
                <a:gd name="T44" fmla="*/ 116 w 228"/>
                <a:gd name="T45" fmla="*/ 79 h 240"/>
                <a:gd name="T46" fmla="*/ 114 w 228"/>
                <a:gd name="T47" fmla="*/ 0 h 240"/>
                <a:gd name="T48" fmla="*/ 0 w 228"/>
                <a:gd name="T49" fmla="*/ 114 h 240"/>
                <a:gd name="T50" fmla="*/ 52 w 228"/>
                <a:gd name="T51" fmla="*/ 209 h 240"/>
                <a:gd name="T52" fmla="*/ 57 w 228"/>
                <a:gd name="T53" fmla="*/ 211 h 240"/>
                <a:gd name="T54" fmla="*/ 65 w 228"/>
                <a:gd name="T55" fmla="*/ 206 h 240"/>
                <a:gd name="T56" fmla="*/ 62 w 228"/>
                <a:gd name="T57" fmla="*/ 193 h 240"/>
                <a:gd name="T58" fmla="*/ 19 w 228"/>
                <a:gd name="T59" fmla="*/ 114 h 240"/>
                <a:gd name="T60" fmla="*/ 114 w 228"/>
                <a:gd name="T61" fmla="*/ 18 h 240"/>
                <a:gd name="T62" fmla="*/ 209 w 228"/>
                <a:gd name="T63" fmla="*/ 114 h 240"/>
                <a:gd name="T64" fmla="*/ 168 w 228"/>
                <a:gd name="T65" fmla="*/ 192 h 240"/>
                <a:gd name="T66" fmla="*/ 165 w 228"/>
                <a:gd name="T67" fmla="*/ 205 h 240"/>
                <a:gd name="T68" fmla="*/ 178 w 228"/>
                <a:gd name="T69" fmla="*/ 208 h 240"/>
                <a:gd name="T70" fmla="*/ 228 w 228"/>
                <a:gd name="T71" fmla="*/ 114 h 240"/>
                <a:gd name="T72" fmla="*/ 114 w 228"/>
                <a:gd name="T7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8" h="240">
                  <a:moveTo>
                    <a:pt x="187" y="114"/>
                  </a:moveTo>
                  <a:cubicBezTo>
                    <a:pt x="187" y="73"/>
                    <a:pt x="154" y="40"/>
                    <a:pt x="114" y="40"/>
                  </a:cubicBezTo>
                  <a:cubicBezTo>
                    <a:pt x="73" y="40"/>
                    <a:pt x="40" y="73"/>
                    <a:pt x="40" y="114"/>
                  </a:cubicBezTo>
                  <a:cubicBezTo>
                    <a:pt x="40" y="136"/>
                    <a:pt x="50" y="157"/>
                    <a:pt x="68" y="171"/>
                  </a:cubicBezTo>
                  <a:cubicBezTo>
                    <a:pt x="69" y="172"/>
                    <a:pt x="71" y="173"/>
                    <a:pt x="74" y="173"/>
                  </a:cubicBezTo>
                  <a:cubicBezTo>
                    <a:pt x="76" y="173"/>
                    <a:pt x="79" y="171"/>
                    <a:pt x="81" y="169"/>
                  </a:cubicBezTo>
                  <a:cubicBezTo>
                    <a:pt x="84" y="165"/>
                    <a:pt x="83" y="159"/>
                    <a:pt x="79" y="156"/>
                  </a:cubicBezTo>
                  <a:cubicBezTo>
                    <a:pt x="67" y="146"/>
                    <a:pt x="59" y="130"/>
                    <a:pt x="59" y="114"/>
                  </a:cubicBezTo>
                  <a:cubicBezTo>
                    <a:pt x="59" y="83"/>
                    <a:pt x="84" y="59"/>
                    <a:pt x="114" y="59"/>
                  </a:cubicBezTo>
                  <a:cubicBezTo>
                    <a:pt x="144" y="59"/>
                    <a:pt x="169" y="83"/>
                    <a:pt x="169" y="114"/>
                  </a:cubicBezTo>
                  <a:cubicBezTo>
                    <a:pt x="169" y="129"/>
                    <a:pt x="163" y="143"/>
                    <a:pt x="152" y="153"/>
                  </a:cubicBezTo>
                  <a:cubicBezTo>
                    <a:pt x="148" y="157"/>
                    <a:pt x="148" y="163"/>
                    <a:pt x="151" y="166"/>
                  </a:cubicBezTo>
                  <a:cubicBezTo>
                    <a:pt x="155" y="170"/>
                    <a:pt x="161" y="170"/>
                    <a:pt x="165" y="167"/>
                  </a:cubicBezTo>
                  <a:cubicBezTo>
                    <a:pt x="179" y="153"/>
                    <a:pt x="187" y="134"/>
                    <a:pt x="187" y="114"/>
                  </a:cubicBezTo>
                  <a:close/>
                  <a:moveTo>
                    <a:pt x="116" y="79"/>
                  </a:moveTo>
                  <a:cubicBezTo>
                    <a:pt x="97" y="79"/>
                    <a:pt x="81" y="95"/>
                    <a:pt x="81" y="114"/>
                  </a:cubicBezTo>
                  <a:cubicBezTo>
                    <a:pt x="81" y="127"/>
                    <a:pt x="89" y="139"/>
                    <a:pt x="101" y="144"/>
                  </a:cubicBezTo>
                  <a:cubicBezTo>
                    <a:pt x="101" y="226"/>
                    <a:pt x="101" y="226"/>
                    <a:pt x="101" y="226"/>
                  </a:cubicBezTo>
                  <a:cubicBezTo>
                    <a:pt x="101" y="233"/>
                    <a:pt x="107" y="240"/>
                    <a:pt x="115" y="240"/>
                  </a:cubicBezTo>
                  <a:cubicBezTo>
                    <a:pt x="123" y="240"/>
                    <a:pt x="129" y="233"/>
                    <a:pt x="129" y="226"/>
                  </a:cubicBezTo>
                  <a:cubicBezTo>
                    <a:pt x="129" y="145"/>
                    <a:pt x="129" y="145"/>
                    <a:pt x="129" y="145"/>
                  </a:cubicBezTo>
                  <a:cubicBezTo>
                    <a:pt x="141" y="140"/>
                    <a:pt x="150" y="128"/>
                    <a:pt x="150" y="114"/>
                  </a:cubicBezTo>
                  <a:cubicBezTo>
                    <a:pt x="150" y="95"/>
                    <a:pt x="134" y="79"/>
                    <a:pt x="116" y="79"/>
                  </a:cubicBezTo>
                  <a:close/>
                  <a:moveTo>
                    <a:pt x="114" y="0"/>
                  </a:moveTo>
                  <a:cubicBezTo>
                    <a:pt x="51" y="0"/>
                    <a:pt x="0" y="51"/>
                    <a:pt x="0" y="114"/>
                  </a:cubicBezTo>
                  <a:cubicBezTo>
                    <a:pt x="0" y="152"/>
                    <a:pt x="19" y="188"/>
                    <a:pt x="52" y="209"/>
                  </a:cubicBezTo>
                  <a:cubicBezTo>
                    <a:pt x="54" y="210"/>
                    <a:pt x="55" y="211"/>
                    <a:pt x="57" y="211"/>
                  </a:cubicBezTo>
                  <a:cubicBezTo>
                    <a:pt x="60" y="211"/>
                    <a:pt x="63" y="209"/>
                    <a:pt x="65" y="206"/>
                  </a:cubicBezTo>
                  <a:cubicBezTo>
                    <a:pt x="68" y="202"/>
                    <a:pt x="67" y="196"/>
                    <a:pt x="62" y="193"/>
                  </a:cubicBezTo>
                  <a:cubicBezTo>
                    <a:pt x="35" y="176"/>
                    <a:pt x="19" y="146"/>
                    <a:pt x="19" y="114"/>
                  </a:cubicBezTo>
                  <a:cubicBezTo>
                    <a:pt x="19" y="61"/>
                    <a:pt x="61" y="18"/>
                    <a:pt x="114" y="18"/>
                  </a:cubicBezTo>
                  <a:cubicBezTo>
                    <a:pt x="166" y="18"/>
                    <a:pt x="209" y="61"/>
                    <a:pt x="209" y="114"/>
                  </a:cubicBezTo>
                  <a:cubicBezTo>
                    <a:pt x="209" y="145"/>
                    <a:pt x="194" y="174"/>
                    <a:pt x="168" y="192"/>
                  </a:cubicBezTo>
                  <a:cubicBezTo>
                    <a:pt x="163" y="195"/>
                    <a:pt x="162" y="201"/>
                    <a:pt x="165" y="205"/>
                  </a:cubicBezTo>
                  <a:cubicBezTo>
                    <a:pt x="168" y="209"/>
                    <a:pt x="174" y="211"/>
                    <a:pt x="178" y="208"/>
                  </a:cubicBezTo>
                  <a:cubicBezTo>
                    <a:pt x="209" y="186"/>
                    <a:pt x="228" y="151"/>
                    <a:pt x="228" y="114"/>
                  </a:cubicBezTo>
                  <a:cubicBezTo>
                    <a:pt x="228" y="51"/>
                    <a:pt x="177" y="0"/>
                    <a:pt x="114" y="0"/>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black"/>
                </a:solidFill>
                <a:effectLst/>
                <a:uLnTx/>
                <a:uFillTx/>
                <a:latin typeface="+mn-lt"/>
                <a:ea typeface="+mn-ea"/>
                <a:cs typeface="+mn-ea"/>
                <a:sym typeface="+mn-lt"/>
              </a:endParaRPr>
            </a:p>
          </p:txBody>
        </p:sp>
      </p:grpSp>
      <p:sp>
        <p:nvSpPr>
          <p:cNvPr id="10" name="Rectangle 6"/>
          <p:cNvSpPr>
            <a:spLocks noChangeArrowheads="1"/>
          </p:cNvSpPr>
          <p:nvPr/>
        </p:nvSpPr>
        <p:spPr bwMode="auto">
          <a:xfrm>
            <a:off x="3203575" y="3644900"/>
            <a:ext cx="2820988" cy="2530475"/>
          </a:xfrm>
          <a:prstGeom prst="rect">
            <a:avLst/>
          </a:prstGeom>
          <a:noFill/>
          <a:ln>
            <a:noFill/>
          </a:ln>
        </p:spPr>
        <p:txBody>
          <a:bodyPr>
            <a:spAutoFit/>
          </a:bodyPr>
          <a:lstStyle>
            <a:lvl1pPr marL="381000" indent="-3810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0000"/>
              </a:lnSpc>
              <a:spcBef>
                <a:spcPct val="3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在对象的初始排列已经按关键码排好序或接近有序时</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，直接插入排序比折半插入排序执行的关键码比较次数要少</a:t>
            </a:r>
          </a:p>
        </p:txBody>
      </p:sp>
      <p:sp>
        <p:nvSpPr>
          <p:cNvPr id="11" name="Rectangle 6"/>
          <p:cNvSpPr>
            <a:spLocks noChangeArrowheads="1"/>
          </p:cNvSpPr>
          <p:nvPr/>
        </p:nvSpPr>
        <p:spPr bwMode="auto">
          <a:xfrm>
            <a:off x="6437313" y="3644900"/>
            <a:ext cx="2190750" cy="2089150"/>
          </a:xfrm>
          <a:prstGeom prst="rect">
            <a:avLst/>
          </a:prstGeom>
          <a:noFill/>
          <a:ln>
            <a:noFill/>
          </a:ln>
        </p:spPr>
        <p:txBody>
          <a:bodyPr>
            <a:spAutoFit/>
          </a:bodyPr>
          <a:lstStyle>
            <a:lvl1pPr marL="381000" indent="-3810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0000"/>
              </a:lnSpc>
              <a:spcBef>
                <a:spcPct val="3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折半插入排序的对象移动次数与直接插入排序相同，依赖于对象的初始排列</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 calcmode="lin" valueType="num">
                                      <p:cBhvr additive="base">
                                        <p:cTn id="12" dur="5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nodeType="click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0-#ppt_w/2"/>
                                          </p:val>
                                        </p:tav>
                                        <p:tav tm="100000">
                                          <p:val>
                                            <p:strVal val="#ppt_x"/>
                                          </p:val>
                                        </p:tav>
                                      </p:tavLst>
                                    </p:anim>
                                    <p:anim calcmode="lin" valueType="num">
                                      <p:cBhvr additive="base">
                                        <p:cTn id="19" dur="500" fill="hold"/>
                                        <p:tgtEl>
                                          <p:spTgt spid="9"/>
                                        </p:tgtEl>
                                        <p:attrNameLst>
                                          <p:attrName>ppt_y</p:attrName>
                                        </p:attrNameLst>
                                      </p:cBhvr>
                                      <p:tavLst>
                                        <p:tav tm="0">
                                          <p:val>
                                            <p:strVal val="#ppt_y"/>
                                          </p:val>
                                        </p:tav>
                                        <p:tav tm="100000">
                                          <p:val>
                                            <p:strVal val="#ppt_y"/>
                                          </p:val>
                                        </p:tav>
                                      </p:tavLst>
                                    </p:anim>
                                  </p:childTnLst>
                                </p:cTn>
                              </p:par>
                            </p:childTnLst>
                          </p:cTn>
                        </p:par>
                        <p:par>
                          <p:cTn id="20" fill="hold">
                            <p:stCondLst>
                              <p:cond delay="500"/>
                            </p:stCondLst>
                            <p:childTnLst>
                              <p:par>
                                <p:cTn id="21" presetID="2" presetClass="entr" presetSubtype="8" fill="hold" grpId="0" nodeType="afterEffect">
                                  <p:stCondLst>
                                    <p:cond delay="0"/>
                                  </p:stCondLst>
                                  <p:childTnLst>
                                    <p:set>
                                      <p:cBhvr>
                                        <p:cTn id="22" dur="1" fill="hold">
                                          <p:stCondLst>
                                            <p:cond delay="0"/>
                                          </p:stCondLst>
                                        </p:cTn>
                                        <p:tgtEl>
                                          <p:spTgt spid="10">
                                            <p:txEl>
                                              <p:pRg st="0" end="0"/>
                                            </p:txEl>
                                          </p:spTgt>
                                        </p:tgtEl>
                                        <p:attrNameLst>
                                          <p:attrName>style.visibility</p:attrName>
                                        </p:attrNameLst>
                                      </p:cBhvr>
                                      <p:to>
                                        <p:strVal val="visible"/>
                                      </p:to>
                                    </p:set>
                                    <p:anim calcmode="lin" valueType="num">
                                      <p:cBhvr additive="base">
                                        <p:cTn id="23"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0-#ppt_w/2"/>
                                          </p:val>
                                        </p:tav>
                                        <p:tav tm="100000">
                                          <p:val>
                                            <p:strVal val="#ppt_x"/>
                                          </p:val>
                                        </p:tav>
                                      </p:tavLst>
                                    </p:anim>
                                    <p:anim calcmode="lin" valueType="num">
                                      <p:cBhvr additive="base">
                                        <p:cTn id="30" dur="500" fill="hold"/>
                                        <p:tgtEl>
                                          <p:spTgt spid="8"/>
                                        </p:tgtEl>
                                        <p:attrNameLst>
                                          <p:attrName>ppt_y</p:attrName>
                                        </p:attrNameLst>
                                      </p:cBhvr>
                                      <p:tavLst>
                                        <p:tav tm="0">
                                          <p:val>
                                            <p:strVal val="#ppt_y"/>
                                          </p:val>
                                        </p:tav>
                                        <p:tav tm="100000">
                                          <p:val>
                                            <p:strVal val="#ppt_y"/>
                                          </p:val>
                                        </p:tav>
                                      </p:tavLst>
                                    </p:anim>
                                  </p:childTnLst>
                                </p:cTn>
                              </p:par>
                            </p:childTnLst>
                          </p:cTn>
                        </p:par>
                        <p:par>
                          <p:cTn id="31" fill="hold">
                            <p:stCondLst>
                              <p:cond delay="500"/>
                            </p:stCondLst>
                            <p:childTnLst>
                              <p:par>
                                <p:cTn id="32" presetID="2" presetClass="entr" presetSubtype="8" fill="hold" grpId="0" nodeType="afterEffect">
                                  <p:stCondLst>
                                    <p:cond delay="0"/>
                                  </p:stCondLst>
                                  <p:childTnLst>
                                    <p:set>
                                      <p:cBhvr>
                                        <p:cTn id="33" dur="1" fill="hold">
                                          <p:stCondLst>
                                            <p:cond delay="0"/>
                                          </p:stCondLst>
                                        </p:cTn>
                                        <p:tgtEl>
                                          <p:spTgt spid="11">
                                            <p:txEl>
                                              <p:pRg st="0" end="0"/>
                                            </p:txEl>
                                          </p:spTgt>
                                        </p:tgtEl>
                                        <p:attrNameLst>
                                          <p:attrName>style.visibility</p:attrName>
                                        </p:attrNameLst>
                                      </p:cBhvr>
                                      <p:to>
                                        <p:strVal val="visible"/>
                                      </p:to>
                                    </p:set>
                                    <p:anim calcmode="lin" valueType="num">
                                      <p:cBhvr additive="base">
                                        <p:cTn id="34" dur="500" fill="hold"/>
                                        <p:tgtEl>
                                          <p:spTgt spid="11">
                                            <p:txEl>
                                              <p:pRg st="0" end="0"/>
                                            </p:txEl>
                                          </p:spTgt>
                                        </p:tgtEl>
                                        <p:attrNameLst>
                                          <p:attrName>ppt_x</p:attrName>
                                        </p:attrNameLst>
                                      </p:cBhvr>
                                      <p:tavLst>
                                        <p:tav tm="0">
                                          <p:val>
                                            <p:strVal val="0-#ppt_w/2"/>
                                          </p:val>
                                        </p:tav>
                                        <p:tav tm="100000">
                                          <p:val>
                                            <p:strVal val="#ppt_x"/>
                                          </p:val>
                                        </p:tav>
                                      </p:tavLst>
                                    </p:anim>
                                    <p:anim calcmode="lin" valueType="num">
                                      <p:cBhvr additive="base">
                                        <p:cTn id="35" dur="500" fill="hold"/>
                                        <p:tgtEl>
                                          <p:spTgt spid="11">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P spid="10" grpId="0" build="p"/>
      <p:bldP spid="11" grpId="0" build="p"/>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4772" name="Rectangle 4"/>
          <p:cNvSpPr>
            <a:spLocks noChangeArrowheads="1"/>
          </p:cNvSpPr>
          <p:nvPr/>
        </p:nvSpPr>
        <p:spPr bwMode="auto">
          <a:xfrm>
            <a:off x="314325" y="1422400"/>
            <a:ext cx="8650288" cy="1295400"/>
          </a:xfrm>
          <a:prstGeom prst="roundRect">
            <a:avLst>
              <a:gd name="adj" fmla="val 10788"/>
            </a:avLst>
          </a:prstGeom>
          <a:solidFill>
            <a:srgbClr val="E2D9EB"/>
          </a:solidFill>
          <a:ln w="9525">
            <a:noFill/>
            <a:miter lim="800000"/>
          </a:ln>
        </p:spPr>
        <p:txBody>
          <a:bodyPr/>
          <a:lstStyle/>
          <a:p>
            <a:pPr marL="342900" marR="0" lvl="0" indent="-342900" algn="l" defTabSz="914400" rtl="0" eaLnBrk="0" fontAlgn="base" latinLnBrk="0" hangingPunct="0">
              <a:lnSpc>
                <a:spcPct val="105000"/>
              </a:lnSpc>
              <a:spcBef>
                <a:spcPct val="20000"/>
              </a:spcBef>
              <a:spcAft>
                <a:spcPct val="0"/>
              </a:spcAft>
              <a:buClrTx/>
              <a:buSzTx/>
              <a:buFontTx/>
              <a:buChar char="•"/>
              <a:defRPr/>
            </a:pPr>
            <a:r>
              <a:rPr kumimoji="1" lang="zh-CN" altLang="en-US" sz="3200" b="0" i="0" u="none" strike="noStrike" kern="1200" cap="none" spc="0" normalizeH="0" baseline="0" noProof="0" dirty="0">
                <a:ln>
                  <a:noFill/>
                </a:ln>
                <a:solidFill>
                  <a:schemeClr val="tx1"/>
                </a:solidFill>
                <a:effectLst/>
                <a:uLnTx/>
                <a:uFillTx/>
                <a:latin typeface="+mn-lt"/>
                <a:ea typeface="+mn-ea"/>
                <a:cs typeface="+mn-ea"/>
                <a:sym typeface="+mn-lt"/>
              </a:rPr>
              <a:t>减少了</a:t>
            </a:r>
            <a:r>
              <a:rPr kumimoji="1" lang="zh-CN" altLang="en-US" sz="3200" b="0" i="0" u="none" strike="noStrike" kern="1200" cap="none" spc="0" normalizeH="0" baseline="0" noProof="0" dirty="0">
                <a:ln>
                  <a:noFill/>
                </a:ln>
                <a:solidFill>
                  <a:srgbClr val="FF0000"/>
                </a:solidFill>
                <a:effectLst/>
                <a:uLnTx/>
                <a:uFillTx/>
                <a:latin typeface="+mn-lt"/>
                <a:ea typeface="+mn-ea"/>
                <a:cs typeface="+mn-ea"/>
                <a:sym typeface="+mn-lt"/>
              </a:rPr>
              <a:t>比较次数</a:t>
            </a:r>
            <a:r>
              <a:rPr kumimoji="1" lang="zh-CN" altLang="en-US" sz="3200" b="0" i="0" u="none" strike="noStrike" kern="1200" cap="none" spc="0" normalizeH="0" baseline="0" noProof="0" dirty="0">
                <a:ln>
                  <a:noFill/>
                </a:ln>
                <a:solidFill>
                  <a:schemeClr val="tx1"/>
                </a:solidFill>
                <a:effectLst/>
                <a:uLnTx/>
                <a:uFillTx/>
                <a:latin typeface="+mn-lt"/>
                <a:ea typeface="+mn-ea"/>
                <a:cs typeface="+mn-ea"/>
                <a:sym typeface="+mn-lt"/>
              </a:rPr>
              <a:t>，但没有减少</a:t>
            </a:r>
            <a:r>
              <a:rPr kumimoji="1" lang="zh-CN" altLang="en-US" sz="3200" b="0" i="0" u="none" strike="noStrike" kern="1200" cap="none" spc="0" normalizeH="0" baseline="0" noProof="0" dirty="0">
                <a:ln>
                  <a:noFill/>
                </a:ln>
                <a:solidFill>
                  <a:srgbClr val="FF0000"/>
                </a:solidFill>
                <a:effectLst/>
                <a:uLnTx/>
                <a:uFillTx/>
                <a:latin typeface="+mn-lt"/>
                <a:ea typeface="+mn-ea"/>
                <a:cs typeface="+mn-ea"/>
                <a:sym typeface="+mn-lt"/>
              </a:rPr>
              <a:t>移动次数</a:t>
            </a:r>
            <a:endParaRPr kumimoji="1" lang="zh-CN" altLang="en-US" sz="2800" b="0" i="0" u="none" strike="noStrike" kern="1200" cap="none" spc="0" normalizeH="0" baseline="0" noProof="0" dirty="0">
              <a:ln>
                <a:noFill/>
              </a:ln>
              <a:solidFill>
                <a:srgbClr val="FF0000"/>
              </a:solidFill>
              <a:effectLst/>
              <a:uLnTx/>
              <a:uFillTx/>
              <a:latin typeface="+mn-lt"/>
              <a:ea typeface="+mn-ea"/>
              <a:cs typeface="+mn-ea"/>
              <a:sym typeface="+mn-lt"/>
            </a:endParaRPr>
          </a:p>
          <a:p>
            <a:pPr marL="342900" marR="0" lvl="0" indent="-342900" algn="l" defTabSz="914400" rtl="0" eaLnBrk="0" fontAlgn="base" latinLnBrk="0" hangingPunct="0">
              <a:lnSpc>
                <a:spcPct val="105000"/>
              </a:lnSpc>
              <a:spcBef>
                <a:spcPct val="20000"/>
              </a:spcBef>
              <a:spcAft>
                <a:spcPct val="0"/>
              </a:spcAft>
              <a:buClrTx/>
              <a:buSzTx/>
              <a:buFontTx/>
              <a:buChar char="•"/>
              <a:defRPr/>
            </a:pPr>
            <a:r>
              <a:rPr kumimoji="1" lang="zh-CN" altLang="en-US" sz="3200" b="0" i="0" u="none" strike="noStrike" kern="1200" cap="none" spc="0" normalizeH="0" baseline="0" noProof="0" dirty="0">
                <a:ln>
                  <a:noFill/>
                </a:ln>
                <a:solidFill>
                  <a:schemeClr val="tx1"/>
                </a:solidFill>
                <a:effectLst/>
                <a:uLnTx/>
                <a:uFillTx/>
                <a:latin typeface="+mn-lt"/>
                <a:ea typeface="+mn-ea"/>
                <a:cs typeface="+mn-ea"/>
                <a:sym typeface="+mn-lt"/>
              </a:rPr>
              <a:t>平均性能优于直接插入排序</a:t>
            </a:r>
          </a:p>
        </p:txBody>
      </p:sp>
      <p:sp>
        <p:nvSpPr>
          <p:cNvPr id="1184774" name="Rectangle 6"/>
          <p:cNvSpPr>
            <a:spLocks noChangeArrowheads="1"/>
          </p:cNvSpPr>
          <p:nvPr/>
        </p:nvSpPr>
        <p:spPr bwMode="auto">
          <a:xfrm>
            <a:off x="804863" y="207963"/>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grpSp>
        <p:nvGrpSpPr>
          <p:cNvPr id="6" name="组合 5"/>
          <p:cNvGrpSpPr/>
          <p:nvPr/>
        </p:nvGrpSpPr>
        <p:grpSpPr>
          <a:xfrm>
            <a:off x="3459163" y="3586163"/>
            <a:ext cx="2360612" cy="1978025"/>
            <a:chOff x="4561682" y="2200808"/>
            <a:chExt cx="3219450" cy="2697163"/>
          </a:xfrm>
        </p:grpSpPr>
        <p:sp>
          <p:nvSpPr>
            <p:cNvPr id="7" name="i$liḋe-Oval 12"/>
            <p:cNvSpPr/>
            <p:nvPr/>
          </p:nvSpPr>
          <p:spPr bwMode="auto">
            <a:xfrm>
              <a:off x="4996859" y="2200808"/>
              <a:ext cx="2284144" cy="2283713"/>
            </a:xfrm>
            <a:prstGeom prst="ellipse">
              <a:avLst/>
            </a:prstGeom>
            <a:solidFill>
              <a:srgbClr val="4F81BD"/>
            </a:solidFill>
            <a:ln w="50800">
              <a:solidFill>
                <a:sysClr val="windowText" lastClr="000000">
                  <a:alpha val="0"/>
                </a:sysClr>
              </a:solidFill>
              <a:miter lim="800000"/>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空间复杂</a:t>
              </a:r>
              <a:endParaRPr kumimoji="0" lang="en-US" altLang="zh-CN"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度为 </a:t>
              </a:r>
              <a:r>
                <a:rPr kumimoji="0" lang="en-US" altLang="zh-CN" sz="2400" b="0" i="0" u="none" strike="noStrike" kern="0" cap="none" spc="0" normalizeH="0" baseline="0" noProof="0" dirty="0">
                  <a:ln>
                    <a:noFill/>
                  </a:ln>
                  <a:solidFill>
                    <a:srgbClr val="FF0000"/>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o(1)</a:t>
              </a:r>
            </a:p>
          </p:txBody>
        </p:sp>
        <p:sp>
          <p:nvSpPr>
            <p:cNvPr id="8" name="i$liḋe-Oval 14"/>
            <p:cNvSpPr/>
            <p:nvPr/>
          </p:nvSpPr>
          <p:spPr bwMode="auto">
            <a:xfrm>
              <a:off x="4561682" y="3049354"/>
              <a:ext cx="326924" cy="324699"/>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 name="i$liḋe-Oval 15"/>
            <p:cNvSpPr/>
            <p:nvPr/>
          </p:nvSpPr>
          <p:spPr bwMode="auto">
            <a:xfrm>
              <a:off x="5878041" y="4354641"/>
              <a:ext cx="543430" cy="543330"/>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0" name="i$liḋe-Oval 16"/>
            <p:cNvSpPr/>
            <p:nvPr/>
          </p:nvSpPr>
          <p:spPr bwMode="auto">
            <a:xfrm>
              <a:off x="6856650" y="2222455"/>
              <a:ext cx="173205" cy="173173"/>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1" name="i$liḋe-Oval 17"/>
            <p:cNvSpPr/>
            <p:nvPr/>
          </p:nvSpPr>
          <p:spPr bwMode="auto">
            <a:xfrm>
              <a:off x="7118622" y="3908722"/>
              <a:ext cx="402702" cy="402626"/>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2" name="i$liḋe-Oval 18"/>
            <p:cNvSpPr/>
            <p:nvPr/>
          </p:nvSpPr>
          <p:spPr bwMode="auto">
            <a:xfrm>
              <a:off x="7291827" y="2938955"/>
              <a:ext cx="489305" cy="491378"/>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14" name="组合 13"/>
          <p:cNvGrpSpPr/>
          <p:nvPr/>
        </p:nvGrpSpPr>
        <p:grpSpPr>
          <a:xfrm>
            <a:off x="6316663" y="3222625"/>
            <a:ext cx="2603500" cy="2211388"/>
            <a:chOff x="7981950" y="1522152"/>
            <a:chExt cx="3551238" cy="3016250"/>
          </a:xfrm>
        </p:grpSpPr>
        <p:sp>
          <p:nvSpPr>
            <p:cNvPr id="15" name="i$liḋe-Oval 20"/>
            <p:cNvSpPr/>
            <p:nvPr/>
          </p:nvSpPr>
          <p:spPr bwMode="auto">
            <a:xfrm>
              <a:off x="8527628" y="2202053"/>
              <a:ext cx="2295312" cy="2295208"/>
            </a:xfrm>
            <a:prstGeom prst="ellipse">
              <a:avLst/>
            </a:prstGeom>
            <a:solidFill>
              <a:srgbClr val="C0504D"/>
            </a:solidFill>
            <a:ln w="50800">
              <a:solidFill>
                <a:sysClr val="windowText" lastClr="000000">
                  <a:alpha val="0"/>
                </a:sysClr>
              </a:solidFill>
              <a:miter lim="800000"/>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2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是一种</a:t>
              </a:r>
              <a:r>
                <a:rPr kumimoji="0" lang="zh-CN" altLang="en-US" sz="2200" b="0" i="0" u="none" strike="noStrike" kern="0" cap="none" spc="0" normalizeH="0" baseline="0" noProof="0" dirty="0">
                  <a:ln>
                    <a:noFill/>
                  </a:ln>
                  <a:solidFill>
                    <a:srgbClr val="FFFF00"/>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稳定</a:t>
              </a:r>
              <a:endParaRPr kumimoji="0" lang="en-US" altLang="zh-CN" sz="2200" b="0" i="0" u="none" strike="noStrike" kern="0" cap="none" spc="0" normalizeH="0" baseline="0" noProof="0" dirty="0">
                <a:ln>
                  <a:noFill/>
                </a:ln>
                <a:solidFill>
                  <a:srgbClr val="FFFF00"/>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2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的排序方法</a:t>
              </a:r>
            </a:p>
          </p:txBody>
        </p:sp>
        <p:sp>
          <p:nvSpPr>
            <p:cNvPr id="16" name="i$liḋe-Oval 22"/>
            <p:cNvSpPr/>
            <p:nvPr/>
          </p:nvSpPr>
          <p:spPr bwMode="auto">
            <a:xfrm>
              <a:off x="7981950" y="3161277"/>
              <a:ext cx="491543" cy="491520"/>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7" name="i$liḋe-Oval 23"/>
            <p:cNvSpPr/>
            <p:nvPr/>
          </p:nvSpPr>
          <p:spPr bwMode="auto">
            <a:xfrm>
              <a:off x="9205394" y="1522152"/>
              <a:ext cx="251185" cy="251174"/>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8" name="îṣļîḑé-Oval 24"/>
            <p:cNvSpPr/>
            <p:nvPr/>
          </p:nvSpPr>
          <p:spPr bwMode="auto">
            <a:xfrm>
              <a:off x="10166827" y="3914798"/>
              <a:ext cx="623632" cy="623604"/>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9" name="îṣļîḑé-Oval 25"/>
            <p:cNvSpPr/>
            <p:nvPr/>
          </p:nvSpPr>
          <p:spPr bwMode="auto">
            <a:xfrm>
              <a:off x="11357791" y="3477410"/>
              <a:ext cx="175397" cy="175388"/>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0" name="îṣļîḑé-Oval 26"/>
            <p:cNvSpPr/>
            <p:nvPr/>
          </p:nvSpPr>
          <p:spPr bwMode="auto">
            <a:xfrm>
              <a:off x="9751072" y="2035326"/>
              <a:ext cx="415755" cy="415736"/>
            </a:xfrm>
            <a:prstGeom prst="ellipse">
              <a:avLst/>
            </a:prstGeom>
            <a:solidFill>
              <a:sysClr val="window" lastClr="FFFFFF">
                <a:lumMod val="75000"/>
                <a:alpha val="29803"/>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22" name="组合 21"/>
          <p:cNvGrpSpPr/>
          <p:nvPr/>
        </p:nvGrpSpPr>
        <p:grpSpPr>
          <a:xfrm>
            <a:off x="500063" y="3389313"/>
            <a:ext cx="2613025" cy="2227262"/>
            <a:chOff x="755650" y="1929345"/>
            <a:chExt cx="3562350" cy="3037682"/>
          </a:xfrm>
        </p:grpSpPr>
        <p:sp>
          <p:nvSpPr>
            <p:cNvPr id="23" name="i$liḋe-Oval 4"/>
            <p:cNvSpPr/>
            <p:nvPr/>
          </p:nvSpPr>
          <p:spPr bwMode="auto">
            <a:xfrm>
              <a:off x="1560750" y="2262776"/>
              <a:ext cx="2222681" cy="2223592"/>
            </a:xfrm>
            <a:prstGeom prst="ellipse">
              <a:avLst/>
            </a:prstGeom>
            <a:solidFill>
              <a:srgbClr val="8064A2"/>
            </a:solidFill>
            <a:ln w="50800" cap="flat">
              <a:solidFill>
                <a:sysClr val="windowText" lastClr="000000">
                  <a:alpha val="0"/>
                </a:sysClr>
              </a:solidFill>
              <a:prstDash val="solid"/>
              <a:miter lim="800000"/>
              <a:headEnd type="none" w="med" len="med"/>
              <a:tailEnd type="none" w="med" len="med"/>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时间复杂</a:t>
              </a:r>
              <a:endParaRPr kumimoji="0" lang="en-US" altLang="zh-CN"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度为 </a:t>
              </a:r>
              <a:r>
                <a:rPr kumimoji="0" lang="en-US" altLang="zh-CN" sz="2400" b="0" i="0" u="none" strike="noStrike" kern="0" cap="none" spc="0" normalizeH="0" baseline="0" noProof="0" dirty="0">
                  <a:ln>
                    <a:noFill/>
                  </a:ln>
                  <a:solidFill>
                    <a:srgbClr val="FF0000"/>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o(n</a:t>
              </a:r>
              <a:r>
                <a:rPr kumimoji="0" lang="en-US" altLang="zh-CN" sz="2400" b="0" i="0" u="none" strike="noStrike" kern="0" cap="none" spc="0" normalizeH="0" baseline="30000" noProof="0" dirty="0">
                  <a:ln>
                    <a:noFill/>
                  </a:ln>
                  <a:solidFill>
                    <a:srgbClr val="FF0000"/>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2</a:t>
              </a:r>
              <a:r>
                <a:rPr kumimoji="0" lang="en-US" altLang="zh-CN" sz="2400" b="0" i="0" u="none" strike="noStrike" kern="0" cap="none" spc="0" normalizeH="0" baseline="0" noProof="0" dirty="0">
                  <a:ln>
                    <a:noFill/>
                  </a:ln>
                  <a:solidFill>
                    <a:srgbClr val="FF0000"/>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a:t>
              </a:r>
            </a:p>
          </p:txBody>
        </p:sp>
        <p:sp>
          <p:nvSpPr>
            <p:cNvPr id="24" name="i$liḋe-Oval 6"/>
            <p:cNvSpPr/>
            <p:nvPr/>
          </p:nvSpPr>
          <p:spPr bwMode="auto">
            <a:xfrm>
              <a:off x="3967392" y="3600828"/>
              <a:ext cx="350608" cy="350752"/>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5" name="i$liḋe-Oval 7"/>
            <p:cNvSpPr/>
            <p:nvPr/>
          </p:nvSpPr>
          <p:spPr bwMode="auto">
            <a:xfrm>
              <a:off x="1523957" y="3834663"/>
              <a:ext cx="348444" cy="34858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6" name="i$liḋe-Oval 8"/>
            <p:cNvSpPr/>
            <p:nvPr/>
          </p:nvSpPr>
          <p:spPr bwMode="auto">
            <a:xfrm>
              <a:off x="2010913" y="4362955"/>
              <a:ext cx="603824" cy="604072"/>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7" name="i$liḋe-Oval 9"/>
            <p:cNvSpPr/>
            <p:nvPr/>
          </p:nvSpPr>
          <p:spPr bwMode="auto">
            <a:xfrm>
              <a:off x="2487047" y="1929345"/>
              <a:ext cx="201274" cy="201357"/>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8" name="i$liḋe-Oval 10"/>
            <p:cNvSpPr/>
            <p:nvPr/>
          </p:nvSpPr>
          <p:spPr bwMode="auto">
            <a:xfrm>
              <a:off x="755650" y="3109342"/>
              <a:ext cx="432849" cy="435193"/>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up)">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up)">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up)">
                                      <p:cBhvr>
                                        <p:cTn id="1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en-US" altLang="zh-CN" sz="2600" dirty="0">
                <a:solidFill>
                  <a:srgbClr val="000000"/>
                </a:solidFill>
                <a:latin typeface="Microsoft Yahei"/>
                <a:ea typeface="Microsoft Yahei"/>
                <a:sym typeface="Microsoft Yahei"/>
              </a:rPr>
              <a:t>During sorting n integers with Insertion Sort</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it is possible that no element be placed in its final position before the last run.</a:t>
            </a:r>
            <a:endParaRPr lang="zh-CN" altLang="en-US" sz="2600" dirty="0">
              <a:solidFill>
                <a:srgbClr val="000000"/>
              </a:solidFill>
              <a:latin typeface="Microsoft Yahei"/>
              <a:ea typeface="Microsoft Yahei"/>
              <a:sym typeface="Microsoft Yahei"/>
            </a:endParaRP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True</a:t>
            </a:r>
            <a:endParaRPr lang="zh-CN" altLang="en-US" sz="2600" dirty="0">
              <a:solidFill>
                <a:srgbClr val="000000"/>
              </a:solidFill>
              <a:latin typeface="Microsoft Yahei"/>
              <a:ea typeface="Microsoft Yahei"/>
              <a:sym typeface="Microsoft Yahei"/>
            </a:endParaRP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False</a:t>
            </a:r>
            <a:endParaRPr lang="zh-CN" altLang="en-US" sz="2600" dirty="0">
              <a:solidFill>
                <a:srgbClr val="000000"/>
              </a:solidFill>
              <a:latin typeface="Microsoft Yahei"/>
              <a:ea typeface="Microsoft Yahei"/>
              <a:sym typeface="Microsoft Yahei"/>
            </a:endParaRPr>
          </a:p>
        </p:txBody>
      </p:sp>
      <p:sp>
        <p:nvSpPr>
          <p:cNvPr id="8" name="椭圆 7"/>
          <p:cNvSpPr>
            <a:spLocks noChangeAspect="1"/>
          </p:cNvSpPr>
          <p:nvPr>
            <p:custDataLst>
              <p:tags r:id="rId5"/>
            </p:custDataLst>
          </p:nvPr>
        </p:nvSpPr>
        <p:spPr bwMode="auto">
          <a:xfrm>
            <a:off x="1114425" y="285035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6"/>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7"/>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8"/>
            </p:custDataLst>
          </p:nvPr>
        </p:nvGrpSpPr>
        <p:grpSpPr>
          <a:xfrm>
            <a:off x="0" y="0"/>
            <a:ext cx="9144000" cy="635000"/>
            <a:chOff x="0" y="0"/>
            <a:chExt cx="9144000" cy="635000"/>
          </a:xfrm>
        </p:grpSpPr>
        <p:sp>
          <p:nvSpPr>
            <p:cNvPr id="13" name="TitleBackground"/>
            <p:cNvSpPr/>
            <p:nvPr>
              <p:custDataLst>
                <p:tags r:id="rId10"/>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1"/>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2"/>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3"/>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9"/>
            </p:custDataLst>
          </p:nvPr>
        </p:nvPicPr>
        <p:blipFill>
          <a:blip r:embed="rId15">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239871537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a:ea typeface="Microsoft Yahei"/>
                <a:sym typeface="Microsoft Yahei"/>
              </a:rPr>
              <a:t>从未排序序列中依次取出元素与已排序序列中的元素进行比较</a:t>
            </a:r>
            <a:r>
              <a:rPr lang="en-US" altLang="zh-CN" sz="2600" dirty="0">
                <a:solidFill>
                  <a:srgbClr val="000000"/>
                </a:solidFill>
                <a:latin typeface="Microsoft Yahei"/>
                <a:ea typeface="Microsoft Yahei"/>
                <a:sym typeface="Microsoft Yahei"/>
              </a:rPr>
              <a:t>,</a:t>
            </a:r>
            <a:r>
              <a:rPr lang="zh-CN" altLang="en-US" sz="2600" dirty="0">
                <a:solidFill>
                  <a:srgbClr val="000000"/>
                </a:solidFill>
                <a:latin typeface="Microsoft Yahei"/>
                <a:ea typeface="Microsoft Yahei"/>
                <a:sym typeface="Microsoft Yahei"/>
              </a:rPr>
              <a:t>将其放入已排序序列的正确位置上的方法</a:t>
            </a:r>
            <a:r>
              <a:rPr lang="en-US" altLang="zh-CN" sz="2600" dirty="0">
                <a:solidFill>
                  <a:srgbClr val="000000"/>
                </a:solidFill>
                <a:latin typeface="Microsoft Yahei"/>
                <a:ea typeface="Microsoft Yahei"/>
                <a:sym typeface="Microsoft Yahei"/>
              </a:rPr>
              <a:t>,</a:t>
            </a:r>
            <a:r>
              <a:rPr lang="zh-CN" altLang="en-US" sz="2600" dirty="0">
                <a:solidFill>
                  <a:srgbClr val="000000"/>
                </a:solidFill>
                <a:latin typeface="Microsoft Yahei"/>
                <a:ea typeface="Microsoft Yahei"/>
                <a:sym typeface="Microsoft Yahei"/>
              </a:rPr>
              <a:t>这种排序方法称为</a:t>
            </a:r>
            <a:r>
              <a:rPr lang="en-US" altLang="zh-CN" sz="2600" dirty="0">
                <a:solidFill>
                  <a:srgbClr val="000000"/>
                </a:solidFill>
                <a:latin typeface="Microsoft Yahei"/>
                <a:ea typeface="Microsoft Yahei"/>
                <a:sym typeface="Microsoft Yahei"/>
              </a:rPr>
              <a:t>(    )</a:t>
            </a:r>
            <a:r>
              <a:rPr lang="zh-CN" altLang="en-US" sz="2600" dirty="0">
                <a:solidFill>
                  <a:srgbClr val="000000"/>
                </a:solidFill>
                <a:latin typeface="Microsoft Yahei"/>
                <a:ea typeface="Microsoft Yahei"/>
                <a:sym typeface="Microsoft Yahei"/>
              </a:rPr>
              <a:t>。</a:t>
            </a: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冒泡排序</a:t>
            </a: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zh-CN" altLang="en-US" sz="2600" dirty="0" smtClean="0">
                <a:solidFill>
                  <a:srgbClr val="000000"/>
                </a:solidFill>
                <a:latin typeface="Microsoft Yahei"/>
                <a:ea typeface="Microsoft Yahei"/>
                <a:sym typeface="Microsoft Yahei"/>
              </a:rPr>
              <a:t>插入排序</a:t>
            </a:r>
            <a:endParaRPr lang="zh-CN" altLang="en-US" sz="2600" dirty="0">
              <a:solidFill>
                <a:srgbClr val="000000"/>
              </a:solidFill>
              <a:latin typeface="Microsoft Yahei"/>
              <a:ea typeface="Microsoft Yahei"/>
              <a:sym typeface="Microsoft Yahei"/>
            </a:endParaRPr>
          </a:p>
        </p:txBody>
      </p:sp>
      <p:sp>
        <p:nvSpPr>
          <p:cNvPr id="6" name="TextBox 5"/>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zh-CN" altLang="en-US" sz="2600" dirty="0" smtClean="0">
                <a:solidFill>
                  <a:srgbClr val="000000"/>
                </a:solidFill>
                <a:latin typeface="Microsoft Yahei"/>
                <a:ea typeface="Microsoft Yahei"/>
                <a:sym typeface="Microsoft Yahei"/>
              </a:rPr>
              <a:t>选择排序</a:t>
            </a:r>
            <a:endParaRPr lang="zh-CN" altLang="en-US" sz="2600" dirty="0">
              <a:solidFill>
                <a:srgbClr val="000000"/>
              </a:solidFill>
              <a:latin typeface="Microsoft Yahei"/>
              <a:ea typeface="Microsoft Yahei"/>
              <a:sym typeface="Microsoft Yahei"/>
            </a:endParaRPr>
          </a:p>
        </p:txBody>
      </p:sp>
      <p:sp>
        <p:nvSpPr>
          <p:cNvPr id="7" name="TextBox 6"/>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堆</a:t>
            </a:r>
            <a:r>
              <a:rPr lang="zh-CN" altLang="en-US" sz="2600" dirty="0" smtClean="0">
                <a:solidFill>
                  <a:srgbClr val="000000"/>
                </a:solidFill>
                <a:latin typeface="Microsoft Yahei"/>
                <a:ea typeface="Microsoft Yahei"/>
                <a:sym typeface="Microsoft Yahei"/>
              </a:rPr>
              <a:t>排序</a:t>
            </a:r>
            <a:endParaRPr lang="zh-CN" altLang="en-US" sz="2600" dirty="0">
              <a:solidFill>
                <a:srgbClr val="000000"/>
              </a:solidFill>
              <a:latin typeface="Microsoft Yahei"/>
              <a:ea typeface="Microsoft Yahei"/>
              <a:sym typeface="Microsoft Yahei"/>
            </a:endParaRPr>
          </a:p>
        </p:txBody>
      </p:sp>
      <p:sp>
        <p:nvSpPr>
          <p:cNvPr id="8" name="椭圆 7"/>
          <p:cNvSpPr>
            <a:spLocks noChangeAspect="1"/>
          </p:cNvSpPr>
          <p:nvPr>
            <p:custDataLst>
              <p:tags r:id="rId7"/>
            </p:custDataLst>
          </p:nvPr>
        </p:nvSpPr>
        <p:spPr bwMode="auto">
          <a:xfrm>
            <a:off x="1114425" y="28503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8"/>
            </p:custDataLst>
          </p:nvPr>
        </p:nvSpPr>
        <p:spPr bwMode="auto">
          <a:xfrm>
            <a:off x="1114425" y="370760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9"/>
            </p:custDataLst>
          </p:nvPr>
        </p:nvSpPr>
        <p:spPr bwMode="auto">
          <a:xfrm>
            <a:off x="1114425" y="45648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10"/>
            </p:custDataLst>
          </p:nvPr>
        </p:nvSpPr>
        <p:spPr bwMode="auto">
          <a:xfrm>
            <a:off x="1114425" y="54221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12"/>
            </p:custDataLst>
          </p:nvPr>
        </p:nvGrpSpPr>
        <p:grpSpPr>
          <a:xfrm>
            <a:off x="0" y="0"/>
            <a:ext cx="9144000" cy="635000"/>
            <a:chOff x="0" y="0"/>
            <a:chExt cx="9144000" cy="635000"/>
          </a:xfrm>
        </p:grpSpPr>
        <p:sp>
          <p:nvSpPr>
            <p:cNvPr id="13"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395809758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a:ea typeface="Microsoft Yahei"/>
                <a:sym typeface="Microsoft Yahei"/>
              </a:rPr>
              <a:t>对同一待排序序列分别进行折半插入排序和直接插入排序，两者之间可能的不同之处是（    ）。</a:t>
            </a: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排序的总趟数</a:t>
            </a: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元素的移动次数</a:t>
            </a:r>
          </a:p>
        </p:txBody>
      </p:sp>
      <p:sp>
        <p:nvSpPr>
          <p:cNvPr id="6" name="TextBox 5"/>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使用辅助空间的数量</a:t>
            </a:r>
          </a:p>
        </p:txBody>
      </p:sp>
      <p:sp>
        <p:nvSpPr>
          <p:cNvPr id="7" name="TextBox 6"/>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元素之间的比较次数</a:t>
            </a:r>
          </a:p>
        </p:txBody>
      </p:sp>
      <p:sp>
        <p:nvSpPr>
          <p:cNvPr id="8" name="椭圆 7"/>
          <p:cNvSpPr>
            <a:spLocks noChangeAspect="1"/>
          </p:cNvSpPr>
          <p:nvPr>
            <p:custDataLst>
              <p:tags r:id="rId7"/>
            </p:custDataLst>
          </p:nvPr>
        </p:nvSpPr>
        <p:spPr bwMode="auto">
          <a:xfrm>
            <a:off x="1114425" y="28503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8"/>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9"/>
            </p:custDataLst>
          </p:nvPr>
        </p:nvSpPr>
        <p:spPr bwMode="auto">
          <a:xfrm>
            <a:off x="1114425" y="45648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10"/>
            </p:custDataLst>
          </p:nvPr>
        </p:nvSpPr>
        <p:spPr bwMode="auto">
          <a:xfrm>
            <a:off x="1114425" y="542210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12"/>
            </p:custDataLst>
          </p:nvPr>
        </p:nvGrpSpPr>
        <p:grpSpPr>
          <a:xfrm>
            <a:off x="0" y="0"/>
            <a:ext cx="9144000" cy="635000"/>
            <a:chOff x="0" y="0"/>
            <a:chExt cx="9144000" cy="635000"/>
          </a:xfrm>
        </p:grpSpPr>
        <p:sp>
          <p:nvSpPr>
            <p:cNvPr id="13"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117097293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5"/>
          <p:cNvSpPr>
            <a:spLocks noChangeArrowheads="1"/>
          </p:cNvSpPr>
          <p:nvPr/>
        </p:nvSpPr>
        <p:spPr bwMode="auto">
          <a:xfrm>
            <a:off x="815975" y="227013"/>
            <a:ext cx="3092450" cy="515938"/>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希尔排序</a:t>
            </a:r>
          </a:p>
        </p:txBody>
      </p:sp>
      <p:sp>
        <p:nvSpPr>
          <p:cNvPr id="1117190" name="Rectangle 6"/>
          <p:cNvSpPr>
            <a:spLocks noChangeArrowheads="1"/>
          </p:cNvSpPr>
          <p:nvPr/>
        </p:nvSpPr>
        <p:spPr bwMode="auto">
          <a:xfrm>
            <a:off x="427038" y="1211263"/>
            <a:ext cx="8259763" cy="519113"/>
          </a:xfrm>
          <a:prstGeom prst="rect">
            <a:avLst/>
          </a:prstGeom>
          <a:solidFill>
            <a:schemeClr val="accent1">
              <a:lumMod val="60000"/>
              <a:lumOff val="40000"/>
            </a:schemeClr>
          </a:solidFill>
          <a:ln w="9525">
            <a:noFill/>
            <a:miter lim="800000"/>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算法思想的出发点：</a:t>
            </a:r>
          </a:p>
        </p:txBody>
      </p:sp>
      <p:sp>
        <p:nvSpPr>
          <p:cNvPr id="34820" name="Rectangle 7"/>
          <p:cNvSpPr>
            <a:spLocks noChangeArrowheads="1"/>
          </p:cNvSpPr>
          <p:nvPr/>
        </p:nvSpPr>
        <p:spPr bwMode="auto">
          <a:xfrm>
            <a:off x="423863" y="1816100"/>
            <a:ext cx="8262938" cy="10318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直接插入排序在</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基本有序</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时，效率较高</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在待排序的记录</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个数较少</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时，效率较高</a:t>
            </a:r>
          </a:p>
        </p:txBody>
      </p:sp>
      <p:grpSp>
        <p:nvGrpSpPr>
          <p:cNvPr id="2" name="Group 11"/>
          <p:cNvGrpSpPr/>
          <p:nvPr/>
        </p:nvGrpSpPr>
        <p:grpSpPr>
          <a:xfrm>
            <a:off x="423863" y="3136900"/>
            <a:ext cx="8262937" cy="2843213"/>
            <a:chOff x="144" y="1331"/>
            <a:chExt cx="5205" cy="1791"/>
          </a:xfrm>
        </p:grpSpPr>
        <p:sp>
          <p:nvSpPr>
            <p:cNvPr id="1117192" name="Rectangle 8"/>
            <p:cNvSpPr>
              <a:spLocks noChangeArrowheads="1"/>
            </p:cNvSpPr>
            <p:nvPr/>
          </p:nvSpPr>
          <p:spPr bwMode="auto">
            <a:xfrm>
              <a:off x="144" y="1661"/>
              <a:ext cx="1511" cy="327"/>
            </a:xfrm>
            <a:prstGeom prst="rect">
              <a:avLst/>
            </a:prstGeom>
            <a:noFill/>
            <a:ln w="9525">
              <a:noFill/>
              <a:miter lim="800000"/>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基本思想：</a:t>
              </a:r>
            </a:p>
          </p:txBody>
        </p:sp>
        <p:sp>
          <p:nvSpPr>
            <p:cNvPr id="1117193" name="Rectangle 9"/>
            <p:cNvSpPr>
              <a:spLocks noChangeArrowheads="1"/>
            </p:cNvSpPr>
            <p:nvPr/>
          </p:nvSpPr>
          <p:spPr bwMode="auto">
            <a:xfrm>
              <a:off x="153" y="2046"/>
              <a:ext cx="5196" cy="1076"/>
            </a:xfrm>
            <a:prstGeom prst="rect">
              <a:avLst/>
            </a:prstGeom>
            <a:solidFill>
              <a:schemeClr val="bg2">
                <a:lumMod val="20000"/>
                <a:lumOff val="80000"/>
              </a:schemeClr>
            </a:solidFill>
            <a:ln w="9525">
              <a:noFill/>
              <a:miter lim="800000"/>
            </a:ln>
            <a:effectLst/>
          </p:spPr>
          <p:txBody>
            <a:bodyPr>
              <a:spAutoFit/>
            </a:bodyPr>
            <a:lstStyle/>
            <a:p>
              <a:pPr marL="0" marR="0" lvl="0" indent="0" algn="l" defTabSz="914400" rtl="0" eaLnBrk="1" fontAlgn="base" latinLnBrk="0" hangingPunct="1">
                <a:lnSpc>
                  <a:spcPct val="125000"/>
                </a:lnSpc>
                <a:spcBef>
                  <a:spcPct val="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先将整个待排记录序列分割成</a:t>
              </a:r>
              <a:r>
                <a:rPr kumimoji="1" lang="zh-CN" altLang="en-US" sz="2800" b="0" i="0" u="none" strike="noStrike" kern="1200" cap="none" spc="0" normalizeH="0" baseline="0" noProof="0" dirty="0">
                  <a:ln>
                    <a:noFill/>
                  </a:ln>
                  <a:solidFill>
                    <a:srgbClr val="FF0000"/>
                  </a:solidFill>
                  <a:effectLst/>
                  <a:uLnTx/>
                  <a:uFillTx/>
                  <a:latin typeface="+mn-lt"/>
                  <a:ea typeface="+mn-ea"/>
                  <a:cs typeface="+mn-ea"/>
                  <a:sym typeface="+mn-lt"/>
                </a:rPr>
                <a:t>若干子序列</a:t>
              </a:r>
              <a:r>
                <a:rPr kumimoji="1" lang="en-US" altLang="zh-CN" sz="2800" b="0" i="0" u="none" strike="noStrike" kern="1200" cap="none" spc="0" normalizeH="0" baseline="0" noProof="0" dirty="0">
                  <a:ln>
                    <a:noFill/>
                  </a:ln>
                  <a:solidFill>
                    <a:srgbClr val="FF0000"/>
                  </a:solidFill>
                  <a:effectLst/>
                  <a:uLnTx/>
                  <a:uFillTx/>
                  <a:latin typeface="+mn-lt"/>
                  <a:ea typeface="+mn-ea"/>
                  <a:cs typeface="+mn-ea"/>
                  <a:sym typeface="+mn-lt"/>
                </a:rPr>
                <a:t>,</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分别进行</a:t>
              </a:r>
              <a:r>
                <a:rPr kumimoji="1" lang="zh-CN" altLang="en-US" sz="2800" b="0" i="0" u="none" strike="noStrike" kern="1200" cap="none" spc="0" normalizeH="0" baseline="0" noProof="0" dirty="0">
                  <a:ln>
                    <a:noFill/>
                  </a:ln>
                  <a:solidFill>
                    <a:srgbClr val="FF0000"/>
                  </a:solidFill>
                  <a:effectLst/>
                  <a:uLnTx/>
                  <a:uFillTx/>
                  <a:latin typeface="+mn-lt"/>
                  <a:ea typeface="+mn-ea"/>
                  <a:cs typeface="+mn-ea"/>
                  <a:sym typeface="+mn-lt"/>
                </a:rPr>
                <a:t>直接插入排序</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，待整个序列中的记录“</a:t>
              </a:r>
              <a:r>
                <a:rPr kumimoji="1" lang="zh-CN" altLang="en-US" sz="2800" b="0" i="0" u="none" strike="noStrike" kern="1200" cap="none" spc="0" normalizeH="0" baseline="0" noProof="0" dirty="0">
                  <a:ln>
                    <a:noFill/>
                  </a:ln>
                  <a:solidFill>
                    <a:srgbClr val="FF0000"/>
                  </a:solidFill>
                  <a:effectLst/>
                  <a:uLnTx/>
                  <a:uFillTx/>
                  <a:latin typeface="+mn-lt"/>
                  <a:ea typeface="+mn-ea"/>
                  <a:cs typeface="+mn-ea"/>
                  <a:sym typeface="+mn-lt"/>
                </a:rPr>
                <a:t>基本有序</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”时，再对全体记录进行一次直接插入排序。</a:t>
              </a:r>
            </a:p>
          </p:txBody>
        </p:sp>
        <p:sp>
          <p:nvSpPr>
            <p:cNvPr id="34824" name="AutoShape 10"/>
            <p:cNvSpPr>
              <a:spLocks noChangeArrowheads="1"/>
            </p:cNvSpPr>
            <p:nvPr/>
          </p:nvSpPr>
          <p:spPr bwMode="auto">
            <a:xfrm>
              <a:off x="2653" y="1331"/>
              <a:ext cx="227" cy="599"/>
            </a:xfrm>
            <a:prstGeom prst="downArrow">
              <a:avLst>
                <a:gd name="adj1" fmla="val 50000"/>
                <a:gd name="adj2" fmla="val 65945"/>
              </a:avLst>
            </a:prstGeom>
            <a:solidFill>
              <a:schemeClr val="accent1"/>
            </a:solidFill>
            <a:ln>
              <a:noFill/>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5"/>
          <p:cNvSpPr>
            <a:spLocks noChangeArrowheads="1"/>
          </p:cNvSpPr>
          <p:nvPr/>
        </p:nvSpPr>
        <p:spPr bwMode="auto">
          <a:xfrm>
            <a:off x="827088" y="211138"/>
            <a:ext cx="3092450" cy="517525"/>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希尔排序</a:t>
            </a:r>
          </a:p>
        </p:txBody>
      </p:sp>
      <p:sp>
        <p:nvSpPr>
          <p:cNvPr id="8" name="Rectangle 5"/>
          <p:cNvSpPr>
            <a:spLocks noChangeArrowheads="1"/>
          </p:cNvSpPr>
          <p:nvPr/>
        </p:nvSpPr>
        <p:spPr bwMode="auto">
          <a:xfrm>
            <a:off x="803275" y="3279275"/>
            <a:ext cx="4035425" cy="2506007"/>
          </a:xfrm>
          <a:prstGeom prst="rect">
            <a:avLst/>
          </a:prstGeom>
          <a:solidFill>
            <a:srgbClr val="336699"/>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子序列不是简单“逐段分割”</a:t>
            </a: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将相隔</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增量</a:t>
            </a:r>
            <a:r>
              <a:rPr kumimoji="0" lang="en-US" altLang="zh-CN" sz="2400" b="0" i="0" u="none" strike="noStrike" kern="1200" cap="none" spc="0" normalizeH="0" baseline="0" noProof="0" dirty="0" err="1">
                <a:ln>
                  <a:noFill/>
                </a:ln>
                <a:solidFill>
                  <a:srgbClr val="FF0000"/>
                </a:solidFill>
                <a:effectLst/>
                <a:uLnTx/>
                <a:uFillTx/>
                <a:latin typeface="+mn-lt"/>
                <a:ea typeface="+mn-ea"/>
                <a:cs typeface="+mn-ea"/>
                <a:sym typeface="+mn-lt"/>
              </a:rPr>
              <a:t>dk</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的记录组成一个子序列</a:t>
            </a: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dk</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逐趟缩短（如依次取</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5,3,1</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），直到</a:t>
            </a:r>
            <a:r>
              <a:rPr kumimoji="0" lang="en-US" altLang="zh-CN" sz="2400" b="0" i="0" u="none" strike="noStrike" kern="1200" cap="none" spc="0" normalizeH="0" baseline="0" noProof="0" dirty="0" err="1">
                <a:ln>
                  <a:noFill/>
                </a:ln>
                <a:solidFill>
                  <a:srgbClr val="FF0000"/>
                </a:solidFill>
                <a:effectLst/>
                <a:uLnTx/>
                <a:uFillTx/>
                <a:latin typeface="+mn-lt"/>
                <a:ea typeface="+mn-ea"/>
                <a:cs typeface="+mn-ea"/>
                <a:sym typeface="+mn-lt"/>
              </a:rPr>
              <a:t>dk</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为止</a:t>
            </a:r>
          </a:p>
        </p:txBody>
      </p:sp>
      <p:sp>
        <p:nvSpPr>
          <p:cNvPr id="9" name="Rectangle 6"/>
          <p:cNvSpPr>
            <a:spLocks noChangeArrowheads="1"/>
          </p:cNvSpPr>
          <p:nvPr/>
        </p:nvSpPr>
        <p:spPr bwMode="auto">
          <a:xfrm>
            <a:off x="5127624" y="3305835"/>
            <a:ext cx="3404815" cy="2506007"/>
          </a:xfrm>
          <a:prstGeom prst="rect">
            <a:avLst/>
          </a:prstGeom>
          <a:solidFill>
            <a:schemeClr val="accent1">
              <a:lumMod val="75000"/>
            </a:schemeClr>
          </a:solidFill>
          <a:ln>
            <a:noFill/>
          </a:ln>
        </p:spPr>
        <p:txBody>
          <a:bodyPr wrap="squar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小元素</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跳跃式前移</a:t>
            </a:r>
            <a:endPar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最后一趟</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增量为</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时基本有序</a:t>
            </a: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平均性能优于直接插入排序</a:t>
            </a:r>
          </a:p>
        </p:txBody>
      </p:sp>
      <p:grpSp>
        <p:nvGrpSpPr>
          <p:cNvPr id="10" name="组合 9"/>
          <p:cNvGrpSpPr/>
          <p:nvPr/>
        </p:nvGrpSpPr>
        <p:grpSpPr>
          <a:xfrm>
            <a:off x="5248275" y="984796"/>
            <a:ext cx="2711450" cy="2270125"/>
            <a:chOff x="4561682" y="2200808"/>
            <a:chExt cx="3219450" cy="2697163"/>
          </a:xfrm>
        </p:grpSpPr>
        <p:sp>
          <p:nvSpPr>
            <p:cNvPr id="49165" name="i$liḋe-Oval 12"/>
            <p:cNvSpPr/>
            <p:nvPr/>
          </p:nvSpPr>
          <p:spPr>
            <a:xfrm>
              <a:off x="4997100" y="2200808"/>
              <a:ext cx="2284528" cy="2284100"/>
            </a:xfrm>
            <a:prstGeom prst="ellipse">
              <a:avLst/>
            </a:prstGeom>
            <a:solidFill>
              <a:schemeClr val="accent1"/>
            </a:solidFill>
            <a:ln w="50800" cap="flat" cmpd="sng">
              <a:solidFill>
                <a:schemeClr val="tx1">
                  <a:alpha val="0"/>
                </a:schemeClr>
              </a:solidFill>
              <a:prstDash val="solid"/>
              <a:miter/>
              <a:headEnd type="none" w="med" len="med"/>
              <a:tailEnd type="none" w="med" len="med"/>
            </a:ln>
          </p:spPr>
          <p:txBody>
            <a:bodyPr wrap="none" lIns="0" tIns="0" rIns="0" bIns="0"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r>
                <a:rPr lang="zh-CN" altLang="en-US" sz="2800" b="1" dirty="0">
                  <a:solidFill>
                    <a:schemeClr val="bg1"/>
                  </a:solidFill>
                  <a:sym typeface="+mn-lt"/>
                </a:rPr>
                <a:t>优点</a:t>
              </a:r>
            </a:p>
          </p:txBody>
        </p:sp>
        <p:sp>
          <p:nvSpPr>
            <p:cNvPr id="12" name="i$liḋe-Oval 14"/>
            <p:cNvSpPr/>
            <p:nvPr/>
          </p:nvSpPr>
          <p:spPr bwMode="auto">
            <a:xfrm>
              <a:off x="4561682" y="3047679"/>
              <a:ext cx="326092" cy="326301"/>
            </a:xfrm>
            <a:prstGeom prst="ellipse">
              <a:avLst/>
            </a:prstGeom>
            <a:solidFill>
              <a:schemeClr val="accent1">
                <a:lumMod val="40000"/>
                <a:lumOff val="60000"/>
                <a:alpha val="20000"/>
              </a:schemeClr>
            </a:solidFill>
            <a:ln w="50800">
              <a:solidFill>
                <a:schemeClr val="tx1">
                  <a:alpha val="0"/>
                </a:schemeClr>
              </a:solidFill>
              <a:miter lim="800000"/>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 name="i$liḋe-Oval 15"/>
            <p:cNvSpPr/>
            <p:nvPr/>
          </p:nvSpPr>
          <p:spPr bwMode="auto">
            <a:xfrm>
              <a:off x="5877359" y="4354766"/>
              <a:ext cx="544744" cy="543205"/>
            </a:xfrm>
            <a:prstGeom prst="ellipse">
              <a:avLst/>
            </a:prstGeom>
            <a:solidFill>
              <a:schemeClr val="accent1">
                <a:lumMod val="40000"/>
                <a:lumOff val="60000"/>
                <a:alpha val="20000"/>
              </a:schemeClr>
            </a:solidFill>
            <a:ln w="50800">
              <a:solidFill>
                <a:schemeClr val="tx1">
                  <a:alpha val="0"/>
                </a:schemeClr>
              </a:solidFill>
              <a:miter lim="800000"/>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4" name="i$liḋe-Oval 16"/>
            <p:cNvSpPr/>
            <p:nvPr/>
          </p:nvSpPr>
          <p:spPr bwMode="auto">
            <a:xfrm>
              <a:off x="6857519" y="2221555"/>
              <a:ext cx="173413" cy="175410"/>
            </a:xfrm>
            <a:prstGeom prst="ellipse">
              <a:avLst/>
            </a:prstGeom>
            <a:solidFill>
              <a:schemeClr val="accent1">
                <a:lumMod val="40000"/>
                <a:lumOff val="60000"/>
                <a:alpha val="20000"/>
              </a:schemeClr>
            </a:solidFill>
            <a:ln w="50800">
              <a:noFill/>
              <a:miter lim="800000"/>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 name="i$liḋe-Oval 17"/>
            <p:cNvSpPr/>
            <p:nvPr/>
          </p:nvSpPr>
          <p:spPr bwMode="auto">
            <a:xfrm>
              <a:off x="7117639" y="3907753"/>
              <a:ext cx="403374" cy="403631"/>
            </a:xfrm>
            <a:prstGeom prst="ellipse">
              <a:avLst/>
            </a:prstGeom>
            <a:solidFill>
              <a:schemeClr val="accent1">
                <a:lumMod val="40000"/>
                <a:lumOff val="60000"/>
                <a:alpha val="20000"/>
              </a:schemeClr>
            </a:solidFill>
            <a:ln w="50800">
              <a:solidFill>
                <a:schemeClr val="tx1">
                  <a:alpha val="0"/>
                </a:schemeClr>
              </a:solidFill>
              <a:miter lim="800000"/>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 name="i$liḋe-Oval 18"/>
            <p:cNvSpPr/>
            <p:nvPr/>
          </p:nvSpPr>
          <p:spPr bwMode="auto">
            <a:xfrm>
              <a:off x="7292937" y="2940170"/>
              <a:ext cx="488195" cy="488507"/>
            </a:xfrm>
            <a:prstGeom prst="ellipse">
              <a:avLst/>
            </a:prstGeom>
            <a:solidFill>
              <a:schemeClr val="accent1">
                <a:lumMod val="40000"/>
                <a:lumOff val="60000"/>
                <a:alpha val="20000"/>
              </a:schemeClr>
            </a:solidFill>
            <a:ln w="50800">
              <a:solidFill>
                <a:schemeClr val="tx1">
                  <a:alpha val="0"/>
                </a:schemeClr>
              </a:solidFill>
              <a:miter lim="800000"/>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 name="组合 16"/>
          <p:cNvGrpSpPr/>
          <p:nvPr/>
        </p:nvGrpSpPr>
        <p:grpSpPr>
          <a:xfrm>
            <a:off x="954088" y="692696"/>
            <a:ext cx="3000375" cy="2557462"/>
            <a:chOff x="755650" y="1929345"/>
            <a:chExt cx="3562350" cy="3037682"/>
          </a:xfrm>
        </p:grpSpPr>
        <p:sp>
          <p:nvSpPr>
            <p:cNvPr id="18" name="i$liḋe-Oval 4"/>
            <p:cNvSpPr/>
            <p:nvPr/>
          </p:nvSpPr>
          <p:spPr bwMode="auto">
            <a:xfrm>
              <a:off x="1560477" y="2263094"/>
              <a:ext cx="2222228" cy="2223109"/>
            </a:xfrm>
            <a:prstGeom prst="ellipse">
              <a:avLst/>
            </a:prstGeom>
            <a:solidFill>
              <a:schemeClr val="tx1">
                <a:lumMod val="65000"/>
                <a:lumOff val="35000"/>
              </a:schemeClr>
            </a:solidFill>
            <a:ln w="50800" cap="flat">
              <a:solidFill>
                <a:schemeClr val="tx1">
                  <a:alpha val="0"/>
                </a:schemeClr>
              </a:solidFill>
              <a:prstDash val="solid"/>
              <a:miter lim="800000"/>
              <a:headEnd type="none" w="med" len="med"/>
              <a:tailEnd type="none" w="med" len="med"/>
            </a:ln>
          </p:spPr>
          <p:txBody>
            <a:bodyPr wrap="none" lIns="0" tIns="0" rIns="0" bIns="0" anchor="ctr">
              <a:normAutofit/>
            </a:body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800" b="1" i="0" u="none" strike="noStrike" kern="1200" cap="none" spc="0" normalizeH="0" baseline="0" noProof="0" dirty="0">
                  <a:ln>
                    <a:noFill/>
                  </a:ln>
                  <a:solidFill>
                    <a:schemeClr val="bg1"/>
                  </a:solidFill>
                  <a:effectLst/>
                  <a:uLnTx/>
                  <a:uFillTx/>
                  <a:latin typeface="+mn-lt"/>
                  <a:ea typeface="+mn-ea"/>
                  <a:cs typeface="+mn-ea"/>
                  <a:sym typeface="+mn-lt"/>
                </a:rPr>
                <a:t>技巧</a:t>
              </a:r>
              <a:endParaRPr kumimoji="0" lang="en-US" altLang="zh-CN" sz="28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19" name="i$liḋe-Oval 6"/>
            <p:cNvSpPr/>
            <p:nvPr/>
          </p:nvSpPr>
          <p:spPr bwMode="auto">
            <a:xfrm>
              <a:off x="3967420" y="3601861"/>
              <a:ext cx="350580" cy="348834"/>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0" name="i$liḋe-Oval 7"/>
            <p:cNvSpPr/>
            <p:nvPr/>
          </p:nvSpPr>
          <p:spPr bwMode="auto">
            <a:xfrm>
              <a:off x="1524665" y="3835674"/>
              <a:ext cx="348695" cy="348834"/>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1" name="i$liḋe-Oval 8"/>
            <p:cNvSpPr/>
            <p:nvPr/>
          </p:nvSpPr>
          <p:spPr bwMode="auto">
            <a:xfrm>
              <a:off x="2010954" y="4363639"/>
              <a:ext cx="603149" cy="603388"/>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 name="i$liḋe-Oval 9"/>
            <p:cNvSpPr/>
            <p:nvPr/>
          </p:nvSpPr>
          <p:spPr bwMode="auto">
            <a:xfrm>
              <a:off x="2485934" y="1929345"/>
              <a:ext cx="201677" cy="201757"/>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 name="i$liḋe-Oval 10"/>
            <p:cNvSpPr/>
            <p:nvPr/>
          </p:nvSpPr>
          <p:spPr bwMode="auto">
            <a:xfrm>
              <a:off x="755650" y="3109723"/>
              <a:ext cx="433513" cy="435570"/>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up)">
                                      <p:cBhvr>
                                        <p:cTn id="7" dur="500"/>
                                        <p:tgtEl>
                                          <p:spTgt spid="17"/>
                                        </p:tgtEl>
                                      </p:cBhvr>
                                    </p:animEffect>
                                  </p:childTnLst>
                                </p:cTn>
                              </p:par>
                            </p:childTnLst>
                          </p:cTn>
                        </p:par>
                        <p:par>
                          <p:cTn id="8" fill="hold">
                            <p:stCondLst>
                              <p:cond delay="500"/>
                            </p:stCondLst>
                            <p:childTnLst>
                              <p:par>
                                <p:cTn id="9" presetID="2" presetClass="entr" presetSubtype="8"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0-#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ipe(up)">
                                      <p:cBhvr>
                                        <p:cTn id="17" dur="500"/>
                                        <p:tgtEl>
                                          <p:spTgt spid="10"/>
                                        </p:tgtEl>
                                      </p:cBhvr>
                                    </p:animEffect>
                                  </p:childTnLst>
                                </p:cTn>
                              </p:par>
                            </p:childTnLst>
                          </p:cTn>
                        </p:par>
                        <p:par>
                          <p:cTn id="18" fill="hold">
                            <p:stCondLst>
                              <p:cond delay="500"/>
                            </p:stCondLst>
                            <p:childTnLst>
                              <p:par>
                                <p:cTn id="19" presetID="2" presetClass="entr" presetSubtype="4"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additive="base">
                                        <p:cTn id="21" dur="500" fill="hold"/>
                                        <p:tgtEl>
                                          <p:spTgt spid="9"/>
                                        </p:tgtEl>
                                        <p:attrNameLst>
                                          <p:attrName>ppt_x</p:attrName>
                                        </p:attrNameLst>
                                      </p:cBhvr>
                                      <p:tavLst>
                                        <p:tav tm="0">
                                          <p:val>
                                            <p:strVal val="#ppt_x"/>
                                          </p:val>
                                        </p:tav>
                                        <p:tav tm="100000">
                                          <p:val>
                                            <p:strVal val="#ppt_x"/>
                                          </p:val>
                                        </p:tav>
                                      </p:tavLst>
                                    </p:anim>
                                    <p:anim calcmode="lin" valueType="num">
                                      <p:cBhvr additive="base">
                                        <p:cTn id="2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bwMode="auto">
          <a:xfrm>
            <a:off x="0" y="1682750"/>
            <a:ext cx="9144000" cy="3330575"/>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113092" name="Rectangle 4"/>
          <p:cNvSpPr>
            <a:spLocks noChangeArrowheads="1"/>
          </p:cNvSpPr>
          <p:nvPr/>
        </p:nvSpPr>
        <p:spPr bwMode="auto">
          <a:xfrm>
            <a:off x="64674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38</a:t>
            </a:r>
          </a:p>
        </p:txBody>
      </p:sp>
      <p:sp>
        <p:nvSpPr>
          <p:cNvPr id="1113093" name="Rectangle 5"/>
          <p:cNvSpPr>
            <a:spLocks noChangeArrowheads="1"/>
          </p:cNvSpPr>
          <p:nvPr/>
        </p:nvSpPr>
        <p:spPr bwMode="auto">
          <a:xfrm>
            <a:off x="290513" y="950913"/>
            <a:ext cx="8686800" cy="546100"/>
          </a:xfrm>
          <a:prstGeom prst="rect">
            <a:avLst/>
          </a:prstGeom>
          <a:noFill/>
          <a:ln w="9525">
            <a:noFill/>
            <a:miter lim="800000"/>
          </a:ln>
          <a:effectLst/>
        </p:spPr>
        <p:txBody>
          <a:bodyPr anchor="ctr"/>
          <a:lstStyle/>
          <a:p>
            <a:pPr marL="762000" marR="0" lvl="0" indent="-762000" algn="l" defTabSz="914400" rtl="0" eaLnBrk="0" fontAlgn="base" latinLnBrk="0" hangingPunct="0">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例：</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关键字序列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T=(49</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65</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97, 76, 13, 27, 49</a:t>
            </a:r>
            <a:r>
              <a:rPr kumimoji="1" lang="en-US" altLang="zh-CN" sz="2400" b="0" i="0" u="none" strike="noStrike" kern="1200" cap="none" spc="0" normalizeH="0" baseline="0" noProof="0" dirty="0">
                <a:ln>
                  <a:noFill/>
                </a:ln>
                <a:solidFill>
                  <a:schemeClr val="accent1"/>
                </a:solidFill>
                <a:effectLst/>
                <a:uLnTx/>
                <a:uFillTx/>
                <a:latin typeface="+mn-lt"/>
                <a:ea typeface="+mn-ea"/>
                <a:cs typeface="+mn-ea"/>
                <a:sym typeface="+mn-lt"/>
              </a:rPr>
              <a:t>*</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55,  04</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p:txBody>
      </p:sp>
      <p:graphicFrame>
        <p:nvGraphicFramePr>
          <p:cNvPr id="41989" name="表格 41988"/>
          <p:cNvGraphicFramePr/>
          <p:nvPr/>
        </p:nvGraphicFramePr>
        <p:xfrm>
          <a:off x="1743075" y="1765300"/>
          <a:ext cx="7162800" cy="3019423"/>
        </p:xfrm>
        <a:graphic>
          <a:graphicData uri="http://schemas.openxmlformats.org/drawingml/2006/table">
            <a:tbl>
              <a:tblPr/>
              <a:tblGrid>
                <a:gridCol w="650875">
                  <a:extLst>
                    <a:ext uri="{9D8B030D-6E8A-4147-A177-3AD203B41FA5}">
                      <a16:colId xmlns="" xmlns:a16="http://schemas.microsoft.com/office/drawing/2014/main" val="20000"/>
                    </a:ext>
                  </a:extLst>
                </a:gridCol>
                <a:gridCol w="649288">
                  <a:extLst>
                    <a:ext uri="{9D8B030D-6E8A-4147-A177-3AD203B41FA5}">
                      <a16:colId xmlns="" xmlns:a16="http://schemas.microsoft.com/office/drawing/2014/main" val="20001"/>
                    </a:ext>
                  </a:extLst>
                </a:gridCol>
                <a:gridCol w="652462">
                  <a:extLst>
                    <a:ext uri="{9D8B030D-6E8A-4147-A177-3AD203B41FA5}">
                      <a16:colId xmlns="" xmlns:a16="http://schemas.microsoft.com/office/drawing/2014/main" val="20002"/>
                    </a:ext>
                  </a:extLst>
                </a:gridCol>
                <a:gridCol w="650875">
                  <a:extLst>
                    <a:ext uri="{9D8B030D-6E8A-4147-A177-3AD203B41FA5}">
                      <a16:colId xmlns="" xmlns:a16="http://schemas.microsoft.com/office/drawing/2014/main" val="20003"/>
                    </a:ext>
                  </a:extLst>
                </a:gridCol>
                <a:gridCol w="650875">
                  <a:extLst>
                    <a:ext uri="{9D8B030D-6E8A-4147-A177-3AD203B41FA5}">
                      <a16:colId xmlns="" xmlns:a16="http://schemas.microsoft.com/office/drawing/2014/main" val="20004"/>
                    </a:ext>
                  </a:extLst>
                </a:gridCol>
                <a:gridCol w="644525">
                  <a:extLst>
                    <a:ext uri="{9D8B030D-6E8A-4147-A177-3AD203B41FA5}">
                      <a16:colId xmlns="" xmlns:a16="http://schemas.microsoft.com/office/drawing/2014/main" val="20005"/>
                    </a:ext>
                  </a:extLst>
                </a:gridCol>
                <a:gridCol w="182563">
                  <a:extLst>
                    <a:ext uri="{9D8B030D-6E8A-4147-A177-3AD203B41FA5}">
                      <a16:colId xmlns="" xmlns:a16="http://schemas.microsoft.com/office/drawing/2014/main" val="20006"/>
                    </a:ext>
                  </a:extLst>
                </a:gridCol>
                <a:gridCol w="474662">
                  <a:extLst>
                    <a:ext uri="{9D8B030D-6E8A-4147-A177-3AD203B41FA5}">
                      <a16:colId xmlns="" xmlns:a16="http://schemas.microsoft.com/office/drawing/2014/main" val="20007"/>
                    </a:ext>
                  </a:extLst>
                </a:gridCol>
                <a:gridCol w="650875">
                  <a:extLst>
                    <a:ext uri="{9D8B030D-6E8A-4147-A177-3AD203B41FA5}">
                      <a16:colId xmlns="" xmlns:a16="http://schemas.microsoft.com/office/drawing/2014/main" val="20008"/>
                    </a:ext>
                  </a:extLst>
                </a:gridCol>
                <a:gridCol w="650875">
                  <a:extLst>
                    <a:ext uri="{9D8B030D-6E8A-4147-A177-3AD203B41FA5}">
                      <a16:colId xmlns="" xmlns:a16="http://schemas.microsoft.com/office/drawing/2014/main" val="20009"/>
                    </a:ext>
                  </a:extLst>
                </a:gridCol>
                <a:gridCol w="654050">
                  <a:extLst>
                    <a:ext uri="{9D8B030D-6E8A-4147-A177-3AD203B41FA5}">
                      <a16:colId xmlns="" xmlns:a16="http://schemas.microsoft.com/office/drawing/2014/main" val="20010"/>
                    </a:ext>
                  </a:extLst>
                </a:gridCol>
                <a:gridCol w="650875">
                  <a:extLst>
                    <a:ext uri="{9D8B030D-6E8A-4147-A177-3AD203B41FA5}">
                      <a16:colId xmlns="" xmlns:a16="http://schemas.microsoft.com/office/drawing/2014/main" val="20011"/>
                    </a:ext>
                  </a:extLst>
                </a:gridCol>
              </a:tblGrid>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0</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1</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2</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3</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4</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5</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6</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B w="12700"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7</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8</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9</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b="0" dirty="0">
                          <a:solidFill>
                            <a:srgbClr val="008000"/>
                          </a:solidFill>
                          <a:latin typeface="+mn-lt"/>
                          <a:ea typeface="+mn-ea"/>
                          <a:cs typeface="+mn-ea"/>
                          <a:sym typeface="+mn-lt"/>
                        </a:rPr>
                        <a:t>10</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49</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38</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65</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97</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76</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13</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27</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49</a:t>
                      </a:r>
                      <a:r>
                        <a:rPr lang="en-US" altLang="zh-CN" sz="2400" dirty="0">
                          <a:solidFill>
                            <a:schemeClr val="tx2"/>
                          </a:solidFill>
                          <a:latin typeface="+mn-lt"/>
                          <a:ea typeface="+mn-ea"/>
                          <a:cs typeface="+mn-ea"/>
                          <a:sym typeface="+mn-lt"/>
                        </a:rPr>
                        <a:t>*</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55</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r>
                        <a:rPr lang="en-US" altLang="zh-CN" sz="2400" dirty="0">
                          <a:latin typeface="+mn-lt"/>
                          <a:ea typeface="+mn-ea"/>
                          <a:cs typeface="+mn-ea"/>
                          <a:sym typeface="+mn-lt"/>
                        </a:rPr>
                        <a:t>04</a:t>
                      </a:r>
                    </a:p>
                  </a:txBody>
                  <a:tcPr marT="45730" marB="4573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244526">
                <a:tc gridSpan="1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1000" b="0" dirty="0">
                        <a:latin typeface="+mn-lt"/>
                        <a:ea typeface="+mn-ea"/>
                        <a:cs typeface="+mn-ea"/>
                        <a:sym typeface="+mn-lt"/>
                      </a:endParaRPr>
                    </a:p>
                  </a:txBody>
                  <a:tcPr marT="45730" marB="45730">
                    <a:lnL>
                      <a:noFill/>
                    </a:lnL>
                    <a:lnR>
                      <a:noFill/>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extLst>
                  <a:ext uri="{0D108BD9-81ED-4DB2-BD59-A6C34878D82A}">
                    <a16:rowId xmlns="" xmlns:a16="http://schemas.microsoft.com/office/drawing/2014/main" val="10002"/>
                  </a:ext>
                </a:extLst>
              </a:tr>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243891">
                <a:tc gridSpan="1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10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extLst>
                  <a:ext uri="{0D108BD9-81ED-4DB2-BD59-A6C34878D82A}">
                    <a16:rowId xmlns="" xmlns:a16="http://schemas.microsoft.com/office/drawing/2014/main" val="10004"/>
                  </a:ext>
                </a:extLst>
              </a:tr>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r h="244526">
                <a:tc gridSpan="1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10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extLst>
                  <a:ext uri="{0D108BD9-81ED-4DB2-BD59-A6C34878D82A}">
                    <a16:rowId xmlns="" xmlns:a16="http://schemas.microsoft.com/office/drawing/2014/main" val="10006"/>
                  </a:ext>
                </a:extLst>
              </a:tr>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itchFamily="49"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 xmlns:a16="http://schemas.microsoft.com/office/drawing/2014/main" val="10007"/>
                  </a:ext>
                </a:extLst>
              </a:tr>
            </a:tbl>
          </a:graphicData>
        </a:graphic>
      </p:graphicFrame>
      <p:sp>
        <p:nvSpPr>
          <p:cNvPr id="1113217" name="Rectangle 129"/>
          <p:cNvSpPr>
            <a:spLocks noChangeArrowheads="1"/>
          </p:cNvSpPr>
          <p:nvPr/>
        </p:nvSpPr>
        <p:spPr bwMode="auto">
          <a:xfrm>
            <a:off x="142875" y="2222500"/>
            <a:ext cx="1371600" cy="457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初态：</a:t>
            </a:r>
          </a:p>
        </p:txBody>
      </p:sp>
      <p:sp>
        <p:nvSpPr>
          <p:cNvPr id="1113218" name="Rectangle 130"/>
          <p:cNvSpPr>
            <a:spLocks noChangeArrowheads="1"/>
          </p:cNvSpPr>
          <p:nvPr/>
        </p:nvSpPr>
        <p:spPr bwMode="auto">
          <a:xfrm>
            <a:off x="142875" y="2908300"/>
            <a:ext cx="16002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第</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1</a:t>
            </a: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趟 </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dk</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=5)</a:t>
            </a:r>
          </a:p>
        </p:txBody>
      </p:sp>
      <p:sp>
        <p:nvSpPr>
          <p:cNvPr id="1113219" name="Rectangle 131"/>
          <p:cNvSpPr>
            <a:spLocks noChangeArrowheads="1"/>
          </p:cNvSpPr>
          <p:nvPr/>
        </p:nvSpPr>
        <p:spPr bwMode="auto">
          <a:xfrm>
            <a:off x="142875" y="3670300"/>
            <a:ext cx="16002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第</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2</a:t>
            </a: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趟 </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dk</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=3)</a:t>
            </a:r>
          </a:p>
        </p:txBody>
      </p:sp>
      <p:sp>
        <p:nvSpPr>
          <p:cNvPr id="1113220" name="Rectangle 132"/>
          <p:cNvSpPr>
            <a:spLocks noChangeArrowheads="1"/>
          </p:cNvSpPr>
          <p:nvPr/>
        </p:nvSpPr>
        <p:spPr bwMode="auto">
          <a:xfrm>
            <a:off x="142875" y="4356100"/>
            <a:ext cx="16002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第</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3</a:t>
            </a: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趟 </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dk</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=1)</a:t>
            </a:r>
          </a:p>
        </p:txBody>
      </p:sp>
      <p:sp>
        <p:nvSpPr>
          <p:cNvPr id="1113221" name="Rectangle 133"/>
          <p:cNvSpPr>
            <a:spLocks noChangeArrowheads="1"/>
          </p:cNvSpPr>
          <p:nvPr/>
        </p:nvSpPr>
        <p:spPr bwMode="auto">
          <a:xfrm>
            <a:off x="25812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49</a:t>
            </a:r>
          </a:p>
        </p:txBody>
      </p:sp>
      <p:sp>
        <p:nvSpPr>
          <p:cNvPr id="1113222" name="Rectangle 134"/>
          <p:cNvSpPr>
            <a:spLocks noChangeArrowheads="1"/>
          </p:cNvSpPr>
          <p:nvPr/>
        </p:nvSpPr>
        <p:spPr bwMode="auto">
          <a:xfrm>
            <a:off x="5888038"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13</a:t>
            </a:r>
          </a:p>
        </p:txBody>
      </p:sp>
      <p:sp>
        <p:nvSpPr>
          <p:cNvPr id="1113223" name="Rectangle 135"/>
          <p:cNvSpPr>
            <a:spLocks noChangeArrowheads="1"/>
          </p:cNvSpPr>
          <p:nvPr/>
        </p:nvSpPr>
        <p:spPr bwMode="auto">
          <a:xfrm>
            <a:off x="25812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13</a:t>
            </a:r>
          </a:p>
        </p:txBody>
      </p:sp>
      <p:sp>
        <p:nvSpPr>
          <p:cNvPr id="1113224" name="Rectangle 136"/>
          <p:cNvSpPr>
            <a:spLocks noChangeArrowheads="1"/>
          </p:cNvSpPr>
          <p:nvPr/>
        </p:nvSpPr>
        <p:spPr bwMode="auto">
          <a:xfrm>
            <a:off x="5910263"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49</a:t>
            </a:r>
          </a:p>
        </p:txBody>
      </p:sp>
      <p:sp>
        <p:nvSpPr>
          <p:cNvPr id="1113225" name="Rectangle 137"/>
          <p:cNvSpPr>
            <a:spLocks noChangeArrowheads="1"/>
          </p:cNvSpPr>
          <p:nvPr/>
        </p:nvSpPr>
        <p:spPr bwMode="auto">
          <a:xfrm>
            <a:off x="31908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38</a:t>
            </a:r>
          </a:p>
        </p:txBody>
      </p:sp>
      <p:sp>
        <p:nvSpPr>
          <p:cNvPr id="1113226" name="Rectangle 138"/>
          <p:cNvSpPr>
            <a:spLocks noChangeArrowheads="1"/>
          </p:cNvSpPr>
          <p:nvPr/>
        </p:nvSpPr>
        <p:spPr bwMode="auto">
          <a:xfrm>
            <a:off x="64674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27</a:t>
            </a:r>
          </a:p>
        </p:txBody>
      </p:sp>
      <p:sp>
        <p:nvSpPr>
          <p:cNvPr id="1113227" name="Rectangle 139"/>
          <p:cNvSpPr>
            <a:spLocks noChangeArrowheads="1"/>
          </p:cNvSpPr>
          <p:nvPr/>
        </p:nvSpPr>
        <p:spPr bwMode="auto">
          <a:xfrm>
            <a:off x="38766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65</a:t>
            </a:r>
          </a:p>
        </p:txBody>
      </p:sp>
      <p:sp>
        <p:nvSpPr>
          <p:cNvPr id="1113228" name="Rectangle 140"/>
          <p:cNvSpPr>
            <a:spLocks noChangeArrowheads="1"/>
          </p:cNvSpPr>
          <p:nvPr/>
        </p:nvSpPr>
        <p:spPr bwMode="auto">
          <a:xfrm>
            <a:off x="7077075" y="29845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49*</a:t>
            </a:r>
          </a:p>
        </p:txBody>
      </p:sp>
      <p:sp>
        <p:nvSpPr>
          <p:cNvPr id="1113229" name="Rectangle 141"/>
          <p:cNvSpPr>
            <a:spLocks noChangeArrowheads="1"/>
          </p:cNvSpPr>
          <p:nvPr/>
        </p:nvSpPr>
        <p:spPr bwMode="auto">
          <a:xfrm>
            <a:off x="44862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97</a:t>
            </a:r>
          </a:p>
        </p:txBody>
      </p:sp>
      <p:sp>
        <p:nvSpPr>
          <p:cNvPr id="1113230" name="Rectangle 142"/>
          <p:cNvSpPr>
            <a:spLocks noChangeArrowheads="1"/>
          </p:cNvSpPr>
          <p:nvPr/>
        </p:nvSpPr>
        <p:spPr bwMode="auto">
          <a:xfrm>
            <a:off x="77628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55</a:t>
            </a:r>
          </a:p>
        </p:txBody>
      </p:sp>
      <p:sp>
        <p:nvSpPr>
          <p:cNvPr id="1113231" name="Rectangle 143"/>
          <p:cNvSpPr>
            <a:spLocks noChangeArrowheads="1"/>
          </p:cNvSpPr>
          <p:nvPr/>
        </p:nvSpPr>
        <p:spPr bwMode="auto">
          <a:xfrm>
            <a:off x="51720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76</a:t>
            </a:r>
          </a:p>
        </p:txBody>
      </p:sp>
      <p:sp>
        <p:nvSpPr>
          <p:cNvPr id="1113232" name="Rectangle 144"/>
          <p:cNvSpPr>
            <a:spLocks noChangeArrowheads="1"/>
          </p:cNvSpPr>
          <p:nvPr/>
        </p:nvSpPr>
        <p:spPr bwMode="auto">
          <a:xfrm>
            <a:off x="83724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04</a:t>
            </a:r>
          </a:p>
        </p:txBody>
      </p:sp>
      <p:sp>
        <p:nvSpPr>
          <p:cNvPr id="1113233" name="Rectangle 145"/>
          <p:cNvSpPr>
            <a:spLocks noChangeArrowheads="1"/>
          </p:cNvSpPr>
          <p:nvPr/>
        </p:nvSpPr>
        <p:spPr bwMode="auto">
          <a:xfrm>
            <a:off x="31908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27</a:t>
            </a:r>
          </a:p>
        </p:txBody>
      </p:sp>
      <p:sp>
        <p:nvSpPr>
          <p:cNvPr id="1113234" name="Rectangle 146"/>
          <p:cNvSpPr>
            <a:spLocks noChangeArrowheads="1"/>
          </p:cNvSpPr>
          <p:nvPr/>
        </p:nvSpPr>
        <p:spPr bwMode="auto">
          <a:xfrm>
            <a:off x="64674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38</a:t>
            </a:r>
          </a:p>
        </p:txBody>
      </p:sp>
      <p:sp>
        <p:nvSpPr>
          <p:cNvPr id="1113235" name="Rectangle 147"/>
          <p:cNvSpPr>
            <a:spLocks noChangeArrowheads="1"/>
          </p:cNvSpPr>
          <p:nvPr/>
        </p:nvSpPr>
        <p:spPr bwMode="auto">
          <a:xfrm>
            <a:off x="7077075" y="29845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 65  </a:t>
            </a:r>
          </a:p>
        </p:txBody>
      </p:sp>
      <p:sp>
        <p:nvSpPr>
          <p:cNvPr id="1113236" name="Rectangle 148"/>
          <p:cNvSpPr>
            <a:spLocks noChangeArrowheads="1"/>
          </p:cNvSpPr>
          <p:nvPr/>
        </p:nvSpPr>
        <p:spPr bwMode="auto">
          <a:xfrm>
            <a:off x="3800475" y="29845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49*</a:t>
            </a:r>
          </a:p>
        </p:txBody>
      </p:sp>
      <p:sp>
        <p:nvSpPr>
          <p:cNvPr id="1113237" name="Rectangle 149"/>
          <p:cNvSpPr>
            <a:spLocks noChangeArrowheads="1"/>
          </p:cNvSpPr>
          <p:nvPr/>
        </p:nvSpPr>
        <p:spPr bwMode="auto">
          <a:xfrm>
            <a:off x="77628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97</a:t>
            </a:r>
          </a:p>
        </p:txBody>
      </p:sp>
      <p:sp>
        <p:nvSpPr>
          <p:cNvPr id="1113238" name="Rectangle 150"/>
          <p:cNvSpPr>
            <a:spLocks noChangeArrowheads="1"/>
          </p:cNvSpPr>
          <p:nvPr/>
        </p:nvSpPr>
        <p:spPr bwMode="auto">
          <a:xfrm>
            <a:off x="44862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55</a:t>
            </a:r>
          </a:p>
        </p:txBody>
      </p:sp>
      <p:sp>
        <p:nvSpPr>
          <p:cNvPr id="1113239" name="Rectangle 151"/>
          <p:cNvSpPr>
            <a:spLocks noChangeArrowheads="1"/>
          </p:cNvSpPr>
          <p:nvPr/>
        </p:nvSpPr>
        <p:spPr bwMode="auto">
          <a:xfrm>
            <a:off x="25812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13</a:t>
            </a:r>
          </a:p>
        </p:txBody>
      </p:sp>
      <p:sp>
        <p:nvSpPr>
          <p:cNvPr id="1113240" name="Rectangle 152"/>
          <p:cNvSpPr>
            <a:spLocks noChangeArrowheads="1"/>
          </p:cNvSpPr>
          <p:nvPr/>
        </p:nvSpPr>
        <p:spPr bwMode="auto">
          <a:xfrm>
            <a:off x="44862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55</a:t>
            </a:r>
          </a:p>
        </p:txBody>
      </p:sp>
      <p:sp>
        <p:nvSpPr>
          <p:cNvPr id="1113241" name="Rectangle 153"/>
          <p:cNvSpPr>
            <a:spLocks noChangeArrowheads="1"/>
          </p:cNvSpPr>
          <p:nvPr/>
        </p:nvSpPr>
        <p:spPr bwMode="auto">
          <a:xfrm>
            <a:off x="83724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76</a:t>
            </a:r>
          </a:p>
        </p:txBody>
      </p:sp>
      <p:sp>
        <p:nvSpPr>
          <p:cNvPr id="1113242" name="Rectangle 154"/>
          <p:cNvSpPr>
            <a:spLocks noChangeArrowheads="1"/>
          </p:cNvSpPr>
          <p:nvPr/>
        </p:nvSpPr>
        <p:spPr bwMode="auto">
          <a:xfrm>
            <a:off x="51720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00"/>
                </a:solidFill>
                <a:effectLst/>
                <a:uLnTx/>
                <a:uFillTx/>
                <a:latin typeface="+mn-lt"/>
                <a:ea typeface="+mn-ea"/>
                <a:cs typeface="+mn-ea"/>
                <a:sym typeface="+mn-lt"/>
              </a:rPr>
              <a:t>04</a:t>
            </a:r>
          </a:p>
        </p:txBody>
      </p:sp>
      <p:sp>
        <p:nvSpPr>
          <p:cNvPr id="1113243" name="Rectangle 155"/>
          <p:cNvSpPr>
            <a:spLocks noChangeArrowheads="1"/>
          </p:cNvSpPr>
          <p:nvPr/>
        </p:nvSpPr>
        <p:spPr bwMode="auto">
          <a:xfrm>
            <a:off x="64674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55</a:t>
            </a:r>
          </a:p>
        </p:txBody>
      </p:sp>
      <p:sp>
        <p:nvSpPr>
          <p:cNvPr id="1113244" name="Rectangle 156"/>
          <p:cNvSpPr>
            <a:spLocks noChangeArrowheads="1"/>
          </p:cNvSpPr>
          <p:nvPr/>
        </p:nvSpPr>
        <p:spPr bwMode="auto">
          <a:xfrm>
            <a:off x="25812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a:t>
            </a:r>
          </a:p>
        </p:txBody>
      </p:sp>
      <p:sp>
        <p:nvSpPr>
          <p:cNvPr id="1113245" name="Rectangle 157"/>
          <p:cNvSpPr>
            <a:spLocks noChangeArrowheads="1"/>
          </p:cNvSpPr>
          <p:nvPr/>
        </p:nvSpPr>
        <p:spPr bwMode="auto">
          <a:xfrm>
            <a:off x="32670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27</a:t>
            </a:r>
          </a:p>
        </p:txBody>
      </p:sp>
      <p:sp>
        <p:nvSpPr>
          <p:cNvPr id="1113246" name="Rectangle 158"/>
          <p:cNvSpPr>
            <a:spLocks noChangeArrowheads="1"/>
          </p:cNvSpPr>
          <p:nvPr/>
        </p:nvSpPr>
        <p:spPr bwMode="auto">
          <a:xfrm>
            <a:off x="51720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04</a:t>
            </a:r>
          </a:p>
        </p:txBody>
      </p:sp>
      <p:sp>
        <p:nvSpPr>
          <p:cNvPr id="1113247" name="Rectangle 159"/>
          <p:cNvSpPr>
            <a:spLocks noChangeArrowheads="1"/>
          </p:cNvSpPr>
          <p:nvPr/>
        </p:nvSpPr>
        <p:spPr bwMode="auto">
          <a:xfrm>
            <a:off x="51720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a:t>
            </a:r>
          </a:p>
        </p:txBody>
      </p:sp>
      <p:sp>
        <p:nvSpPr>
          <p:cNvPr id="1113248" name="Rectangle 160"/>
          <p:cNvSpPr>
            <a:spLocks noChangeArrowheads="1"/>
          </p:cNvSpPr>
          <p:nvPr/>
        </p:nvSpPr>
        <p:spPr bwMode="auto">
          <a:xfrm>
            <a:off x="32670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04</a:t>
            </a:r>
          </a:p>
        </p:txBody>
      </p:sp>
      <p:sp>
        <p:nvSpPr>
          <p:cNvPr id="1113249" name="Rectangle 161"/>
          <p:cNvSpPr>
            <a:spLocks noChangeArrowheads="1"/>
          </p:cNvSpPr>
          <p:nvPr/>
        </p:nvSpPr>
        <p:spPr bwMode="auto">
          <a:xfrm>
            <a:off x="58578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49</a:t>
            </a:r>
          </a:p>
        </p:txBody>
      </p:sp>
      <p:sp>
        <p:nvSpPr>
          <p:cNvPr id="1113250" name="Rectangle 162"/>
          <p:cNvSpPr>
            <a:spLocks noChangeArrowheads="1"/>
          </p:cNvSpPr>
          <p:nvPr/>
        </p:nvSpPr>
        <p:spPr bwMode="auto">
          <a:xfrm>
            <a:off x="3800475" y="3670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49*</a:t>
            </a:r>
          </a:p>
        </p:txBody>
      </p:sp>
      <p:sp>
        <p:nvSpPr>
          <p:cNvPr id="1113251" name="Rectangle 163"/>
          <p:cNvSpPr>
            <a:spLocks noChangeArrowheads="1"/>
          </p:cNvSpPr>
          <p:nvPr/>
        </p:nvSpPr>
        <p:spPr bwMode="auto">
          <a:xfrm>
            <a:off x="58578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p>
        </p:txBody>
      </p:sp>
      <p:sp>
        <p:nvSpPr>
          <p:cNvPr id="1113252" name="Rectangle 164"/>
          <p:cNvSpPr>
            <a:spLocks noChangeArrowheads="1"/>
          </p:cNvSpPr>
          <p:nvPr/>
        </p:nvSpPr>
        <p:spPr bwMode="auto">
          <a:xfrm>
            <a:off x="3800475" y="3670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p>
        </p:txBody>
      </p:sp>
      <p:sp>
        <p:nvSpPr>
          <p:cNvPr id="1113253" name="Rectangle 165"/>
          <p:cNvSpPr>
            <a:spLocks noChangeArrowheads="1"/>
          </p:cNvSpPr>
          <p:nvPr/>
        </p:nvSpPr>
        <p:spPr bwMode="auto">
          <a:xfrm>
            <a:off x="83724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76</a:t>
            </a:r>
          </a:p>
        </p:txBody>
      </p:sp>
      <p:sp>
        <p:nvSpPr>
          <p:cNvPr id="1113254" name="Rectangle 166"/>
          <p:cNvSpPr>
            <a:spLocks noChangeArrowheads="1"/>
          </p:cNvSpPr>
          <p:nvPr/>
        </p:nvSpPr>
        <p:spPr bwMode="auto">
          <a:xfrm>
            <a:off x="44862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38</a:t>
            </a:r>
          </a:p>
        </p:txBody>
      </p:sp>
      <p:sp>
        <p:nvSpPr>
          <p:cNvPr id="1113255" name="Rectangle 167"/>
          <p:cNvSpPr>
            <a:spLocks noChangeArrowheads="1"/>
          </p:cNvSpPr>
          <p:nvPr/>
        </p:nvSpPr>
        <p:spPr bwMode="auto">
          <a:xfrm>
            <a:off x="83724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p>
        </p:txBody>
      </p:sp>
      <p:sp>
        <p:nvSpPr>
          <p:cNvPr id="1113256" name="Rectangle 168"/>
          <p:cNvSpPr>
            <a:spLocks noChangeArrowheads="1"/>
          </p:cNvSpPr>
          <p:nvPr/>
        </p:nvSpPr>
        <p:spPr bwMode="auto">
          <a:xfrm>
            <a:off x="7077075" y="3670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 65  </a:t>
            </a:r>
          </a:p>
        </p:txBody>
      </p:sp>
      <p:sp>
        <p:nvSpPr>
          <p:cNvPr id="1113257" name="Rectangle 169"/>
          <p:cNvSpPr>
            <a:spLocks noChangeArrowheads="1"/>
          </p:cNvSpPr>
          <p:nvPr/>
        </p:nvSpPr>
        <p:spPr bwMode="auto">
          <a:xfrm>
            <a:off x="7077075" y="3670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 65  </a:t>
            </a:r>
          </a:p>
        </p:txBody>
      </p:sp>
      <p:sp>
        <p:nvSpPr>
          <p:cNvPr id="1113258" name="Rectangle 170"/>
          <p:cNvSpPr>
            <a:spLocks noChangeArrowheads="1"/>
          </p:cNvSpPr>
          <p:nvPr/>
        </p:nvSpPr>
        <p:spPr bwMode="auto">
          <a:xfrm>
            <a:off x="77628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00FF"/>
                </a:solidFill>
                <a:effectLst/>
                <a:uLnTx/>
                <a:uFillTx/>
                <a:latin typeface="+mn-lt"/>
                <a:ea typeface="+mn-ea"/>
                <a:cs typeface="+mn-ea"/>
                <a:sym typeface="+mn-lt"/>
              </a:rPr>
              <a:t>97</a:t>
            </a:r>
          </a:p>
        </p:txBody>
      </p:sp>
      <p:sp>
        <p:nvSpPr>
          <p:cNvPr id="1113259" name="Rectangle 171"/>
          <p:cNvSpPr>
            <a:spLocks noChangeArrowheads="1"/>
          </p:cNvSpPr>
          <p:nvPr/>
        </p:nvSpPr>
        <p:spPr bwMode="auto">
          <a:xfrm>
            <a:off x="77628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p>
        </p:txBody>
      </p:sp>
      <p:grpSp>
        <p:nvGrpSpPr>
          <p:cNvPr id="2" name="Group 172"/>
          <p:cNvGrpSpPr/>
          <p:nvPr/>
        </p:nvGrpSpPr>
        <p:grpSpPr bwMode="auto">
          <a:xfrm>
            <a:off x="2580928" y="4432153"/>
            <a:ext cx="6096000" cy="304800"/>
            <a:chOff x="1728" y="3072"/>
            <a:chExt cx="3840" cy="192"/>
          </a:xfrm>
          <a:solidFill>
            <a:srgbClr val="EAEAEA"/>
          </a:solidFill>
        </p:grpSpPr>
        <p:sp>
          <p:nvSpPr>
            <p:cNvPr id="37038" name="Rectangle 173"/>
            <p:cNvSpPr>
              <a:spLocks noChangeArrowheads="1"/>
            </p:cNvSpPr>
            <p:nvPr/>
          </p:nvSpPr>
          <p:spPr bwMode="auto">
            <a:xfrm>
              <a:off x="4176" y="3072"/>
              <a:ext cx="192"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55</a:t>
              </a:r>
            </a:p>
          </p:txBody>
        </p:sp>
        <p:sp>
          <p:nvSpPr>
            <p:cNvPr id="37039" name="Rectangle 174"/>
            <p:cNvSpPr>
              <a:spLocks noChangeArrowheads="1"/>
            </p:cNvSpPr>
            <p:nvPr/>
          </p:nvSpPr>
          <p:spPr bwMode="auto">
            <a:xfrm>
              <a:off x="1728" y="3072"/>
              <a:ext cx="192"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a:t>
              </a:r>
            </a:p>
          </p:txBody>
        </p:sp>
        <p:sp>
          <p:nvSpPr>
            <p:cNvPr id="37040" name="Rectangle 175"/>
            <p:cNvSpPr>
              <a:spLocks noChangeArrowheads="1"/>
            </p:cNvSpPr>
            <p:nvPr/>
          </p:nvSpPr>
          <p:spPr bwMode="auto">
            <a:xfrm>
              <a:off x="3360" y="3072"/>
              <a:ext cx="192"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a:t>
              </a:r>
            </a:p>
          </p:txBody>
        </p:sp>
        <p:sp>
          <p:nvSpPr>
            <p:cNvPr id="37041" name="Rectangle 176"/>
            <p:cNvSpPr>
              <a:spLocks noChangeArrowheads="1"/>
            </p:cNvSpPr>
            <p:nvPr/>
          </p:nvSpPr>
          <p:spPr bwMode="auto">
            <a:xfrm>
              <a:off x="2160" y="3072"/>
              <a:ext cx="192"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04</a:t>
              </a:r>
            </a:p>
          </p:txBody>
        </p:sp>
        <p:sp>
          <p:nvSpPr>
            <p:cNvPr id="37042" name="Rectangle 177"/>
            <p:cNvSpPr>
              <a:spLocks noChangeArrowheads="1"/>
            </p:cNvSpPr>
            <p:nvPr/>
          </p:nvSpPr>
          <p:spPr bwMode="auto">
            <a:xfrm>
              <a:off x="3792" y="3072"/>
              <a:ext cx="192"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p>
          </p:txBody>
        </p:sp>
        <p:sp>
          <p:nvSpPr>
            <p:cNvPr id="37043" name="Rectangle 178"/>
            <p:cNvSpPr>
              <a:spLocks noChangeArrowheads="1"/>
            </p:cNvSpPr>
            <p:nvPr/>
          </p:nvSpPr>
          <p:spPr bwMode="auto">
            <a:xfrm>
              <a:off x="2496" y="3072"/>
              <a:ext cx="288"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p>
          </p:txBody>
        </p:sp>
        <p:sp>
          <p:nvSpPr>
            <p:cNvPr id="37044" name="Rectangle 179"/>
            <p:cNvSpPr>
              <a:spLocks noChangeArrowheads="1"/>
            </p:cNvSpPr>
            <p:nvPr/>
          </p:nvSpPr>
          <p:spPr bwMode="auto">
            <a:xfrm>
              <a:off x="2928" y="3072"/>
              <a:ext cx="192"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38</a:t>
              </a:r>
            </a:p>
          </p:txBody>
        </p:sp>
        <p:sp>
          <p:nvSpPr>
            <p:cNvPr id="37045" name="Rectangle 180"/>
            <p:cNvSpPr>
              <a:spLocks noChangeArrowheads="1"/>
            </p:cNvSpPr>
            <p:nvPr/>
          </p:nvSpPr>
          <p:spPr bwMode="auto">
            <a:xfrm>
              <a:off x="5376" y="3072"/>
              <a:ext cx="192"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p>
          </p:txBody>
        </p:sp>
        <p:sp>
          <p:nvSpPr>
            <p:cNvPr id="37046" name="Rectangle 181"/>
            <p:cNvSpPr>
              <a:spLocks noChangeArrowheads="1"/>
            </p:cNvSpPr>
            <p:nvPr/>
          </p:nvSpPr>
          <p:spPr bwMode="auto">
            <a:xfrm>
              <a:off x="4560" y="3072"/>
              <a:ext cx="288"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 65  </a:t>
              </a:r>
            </a:p>
          </p:txBody>
        </p:sp>
        <p:sp>
          <p:nvSpPr>
            <p:cNvPr id="37047" name="Rectangle 182"/>
            <p:cNvSpPr>
              <a:spLocks noChangeArrowheads="1"/>
            </p:cNvSpPr>
            <p:nvPr/>
          </p:nvSpPr>
          <p:spPr bwMode="auto">
            <a:xfrm>
              <a:off x="4992" y="3072"/>
              <a:ext cx="192" cy="192"/>
            </a:xfrm>
            <a:prstGeom prst="rect">
              <a:avLst/>
            </a:prstGeom>
            <a:grp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p>
          </p:txBody>
        </p:sp>
      </p:grpSp>
      <p:sp>
        <p:nvSpPr>
          <p:cNvPr id="1113271" name="Rectangle 183"/>
          <p:cNvSpPr>
            <a:spLocks noChangeArrowheads="1"/>
          </p:cNvSpPr>
          <p:nvPr/>
        </p:nvSpPr>
        <p:spPr bwMode="auto">
          <a:xfrm>
            <a:off x="3267075" y="4432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2"/>
                </a:solidFill>
                <a:effectLst/>
                <a:uLnTx/>
                <a:uFillTx/>
                <a:latin typeface="+mn-lt"/>
                <a:ea typeface="+mn-ea"/>
                <a:cs typeface="+mn-ea"/>
                <a:sym typeface="+mn-lt"/>
              </a:rPr>
              <a:t>13</a:t>
            </a:r>
          </a:p>
        </p:txBody>
      </p:sp>
      <p:sp>
        <p:nvSpPr>
          <p:cNvPr id="1113272" name="Rectangle 184"/>
          <p:cNvSpPr>
            <a:spLocks noChangeArrowheads="1"/>
          </p:cNvSpPr>
          <p:nvPr/>
        </p:nvSpPr>
        <p:spPr bwMode="auto">
          <a:xfrm>
            <a:off x="3800475" y="4432300"/>
            <a:ext cx="3810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2"/>
                </a:solidFill>
                <a:effectLst/>
                <a:uLnTx/>
                <a:uFillTx/>
                <a:latin typeface="+mn-lt"/>
                <a:ea typeface="+mn-ea"/>
                <a:cs typeface="+mn-ea"/>
                <a:sym typeface="+mn-lt"/>
              </a:rPr>
              <a:t> 27  </a:t>
            </a:r>
          </a:p>
        </p:txBody>
      </p:sp>
      <p:sp>
        <p:nvSpPr>
          <p:cNvPr id="1113273" name="Rectangle 185"/>
          <p:cNvSpPr>
            <a:spLocks noChangeArrowheads="1"/>
          </p:cNvSpPr>
          <p:nvPr/>
        </p:nvSpPr>
        <p:spPr bwMode="auto">
          <a:xfrm>
            <a:off x="2581275" y="4432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2"/>
                </a:solidFill>
                <a:effectLst/>
                <a:uLnTx/>
                <a:uFillTx/>
                <a:latin typeface="+mn-lt"/>
                <a:ea typeface="+mn-ea"/>
                <a:cs typeface="+mn-ea"/>
                <a:sym typeface="+mn-lt"/>
              </a:rPr>
              <a:t>04</a:t>
            </a:r>
          </a:p>
        </p:txBody>
      </p:sp>
      <p:sp>
        <p:nvSpPr>
          <p:cNvPr id="1113274" name="Rectangle 186"/>
          <p:cNvSpPr>
            <a:spLocks noChangeArrowheads="1"/>
          </p:cNvSpPr>
          <p:nvPr/>
        </p:nvSpPr>
        <p:spPr bwMode="auto">
          <a:xfrm>
            <a:off x="5095875" y="4432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2"/>
                </a:solidFill>
                <a:effectLst/>
                <a:uLnTx/>
                <a:uFillTx/>
                <a:latin typeface="+mn-lt"/>
                <a:ea typeface="+mn-ea"/>
                <a:cs typeface="+mn-ea"/>
                <a:sym typeface="+mn-lt"/>
              </a:rPr>
              <a:t>49*</a:t>
            </a:r>
          </a:p>
        </p:txBody>
      </p:sp>
      <p:sp>
        <p:nvSpPr>
          <p:cNvPr id="1113275" name="Rectangle 187"/>
          <p:cNvSpPr>
            <a:spLocks noChangeArrowheads="1"/>
          </p:cNvSpPr>
          <p:nvPr/>
        </p:nvSpPr>
        <p:spPr bwMode="auto">
          <a:xfrm>
            <a:off x="7762875" y="4432300"/>
            <a:ext cx="3810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2"/>
                </a:solidFill>
                <a:effectLst/>
                <a:uLnTx/>
                <a:uFillTx/>
                <a:latin typeface="+mn-lt"/>
                <a:ea typeface="+mn-ea"/>
                <a:cs typeface="+mn-ea"/>
                <a:sym typeface="+mn-lt"/>
              </a:rPr>
              <a:t> 76  </a:t>
            </a:r>
          </a:p>
        </p:txBody>
      </p:sp>
      <p:sp>
        <p:nvSpPr>
          <p:cNvPr id="1113276" name="Rectangle 188"/>
          <p:cNvSpPr>
            <a:spLocks noChangeArrowheads="1"/>
          </p:cNvSpPr>
          <p:nvPr/>
        </p:nvSpPr>
        <p:spPr bwMode="auto">
          <a:xfrm>
            <a:off x="8372475" y="4432300"/>
            <a:ext cx="3810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2"/>
                </a:solidFill>
                <a:effectLst/>
                <a:uLnTx/>
                <a:uFillTx/>
                <a:latin typeface="+mn-lt"/>
                <a:ea typeface="+mn-ea"/>
                <a:cs typeface="+mn-ea"/>
                <a:sym typeface="+mn-lt"/>
              </a:rPr>
              <a:t> 97  </a:t>
            </a:r>
          </a:p>
        </p:txBody>
      </p:sp>
      <p:sp>
        <p:nvSpPr>
          <p:cNvPr id="1113278" name="Text Box 190"/>
          <p:cNvSpPr txBox="1">
            <a:spLocks noChangeArrowheads="1"/>
          </p:cNvSpPr>
          <p:nvPr/>
        </p:nvSpPr>
        <p:spPr bwMode="auto">
          <a:xfrm>
            <a:off x="676275" y="1765300"/>
            <a:ext cx="685800" cy="457200"/>
          </a:xfrm>
          <a:prstGeom prst="rect">
            <a:avLst/>
          </a:prstGeom>
          <a:noFill/>
          <a:ln w="9525">
            <a:noFill/>
            <a:miter lim="800000"/>
          </a:ln>
          <a:effectLst/>
        </p:spPr>
        <p:txBody>
          <a:bodyPr>
            <a:spAutoFit/>
          </a:bodyPr>
          <a:lstStyle/>
          <a:p>
            <a:pPr marR="0" defTabSz="914400" eaLnBrk="1" hangingPunct="1">
              <a:spcBef>
                <a:spcPct val="50000"/>
              </a:spcBef>
              <a:buClrTx/>
              <a:buSzTx/>
              <a:buFontTx/>
              <a:buNone/>
              <a:defRPr/>
            </a:pPr>
            <a:r>
              <a:rPr kumimoji="1" lang="en-US" altLang="zh-CN" sz="2400" kern="1200" cap="none" spc="0" normalizeH="0" baseline="0" noProof="0">
                <a:solidFill>
                  <a:srgbClr val="008000"/>
                </a:solidFill>
                <a:latin typeface="+mn-lt"/>
                <a:ea typeface="+mn-ea"/>
                <a:cs typeface="+mn-ea"/>
                <a:sym typeface="+mn-lt"/>
              </a:rPr>
              <a:t>r[i]</a:t>
            </a:r>
          </a:p>
        </p:txBody>
      </p:sp>
      <p:sp>
        <p:nvSpPr>
          <p:cNvPr id="1113280" name="Rectangle 192"/>
          <p:cNvSpPr>
            <a:spLocks noChangeArrowheads="1"/>
          </p:cNvSpPr>
          <p:nvPr/>
        </p:nvSpPr>
        <p:spPr bwMode="auto">
          <a:xfrm>
            <a:off x="228600" y="5151438"/>
            <a:ext cx="8763000" cy="1550988"/>
          </a:xfrm>
          <a:prstGeom prst="rect">
            <a:avLst/>
          </a:prstGeom>
          <a:noFill/>
          <a:ln w="57150">
            <a:noFill/>
            <a:miter lim="800000"/>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ü"/>
              <a:defRPr/>
            </a:pP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dk</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值较大</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，子序列中</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对象较少</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，速度</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较快</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ü"/>
              <a:defRPr/>
            </a:pP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dk</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值</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逐渐</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变小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，子序列中</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对象变多</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，但大多数</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对象已基本有序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，所以排序速度仍然很快。</a:t>
            </a:r>
          </a:p>
        </p:txBody>
      </p:sp>
      <p:sp>
        <p:nvSpPr>
          <p:cNvPr id="68" name="Rectangle 5"/>
          <p:cNvSpPr>
            <a:spLocks noChangeArrowheads="1"/>
          </p:cNvSpPr>
          <p:nvPr/>
        </p:nvSpPr>
        <p:spPr bwMode="auto">
          <a:xfrm>
            <a:off x="827088" y="211138"/>
            <a:ext cx="3092450" cy="517525"/>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希尔排序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113217"/>
                                        </p:tgtEl>
                                        <p:attrNameLst>
                                          <p:attrName>style.visibility</p:attrName>
                                        </p:attrNameLst>
                                      </p:cBhvr>
                                      <p:to>
                                        <p:strVal val="visible"/>
                                      </p:to>
                                    </p:set>
                                    <p:anim calcmode="lin" valueType="num">
                                      <p:cBhvr additive="base">
                                        <p:cTn id="7" dur="500" fill="hold"/>
                                        <p:tgtEl>
                                          <p:spTgt spid="1113217"/>
                                        </p:tgtEl>
                                        <p:attrNameLst>
                                          <p:attrName>ppt_x</p:attrName>
                                        </p:attrNameLst>
                                      </p:cBhvr>
                                      <p:tavLst>
                                        <p:tav tm="0">
                                          <p:val>
                                            <p:strVal val="0-#ppt_w/2"/>
                                          </p:val>
                                        </p:tav>
                                        <p:tav tm="100000">
                                          <p:val>
                                            <p:strVal val="#ppt_x"/>
                                          </p:val>
                                        </p:tav>
                                      </p:tavLst>
                                    </p:anim>
                                    <p:anim calcmode="lin" valueType="num">
                                      <p:cBhvr additive="base">
                                        <p:cTn id="8" dur="500" fill="hold"/>
                                        <p:tgtEl>
                                          <p:spTgt spid="111321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41989"/>
                                        </p:tgtEl>
                                        <p:attrNameLst>
                                          <p:attrName>style.visibility</p:attrName>
                                        </p:attrNameLst>
                                      </p:cBhvr>
                                      <p:to>
                                        <p:strVal val="visible"/>
                                      </p:to>
                                    </p:set>
                                    <p:animEffect transition="in" filter="wipe(left)">
                                      <p:cBhvr>
                                        <p:cTn id="13" dur="500"/>
                                        <p:tgtEl>
                                          <p:spTgt spid="41989"/>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1113278"/>
                                        </p:tgtEl>
                                        <p:attrNameLst>
                                          <p:attrName>style.visibility</p:attrName>
                                        </p:attrNameLst>
                                      </p:cBhvr>
                                      <p:to>
                                        <p:strVal val="visible"/>
                                      </p:to>
                                    </p:set>
                                    <p:anim calcmode="lin" valueType="num">
                                      <p:cBhvr additive="base">
                                        <p:cTn id="18" dur="500" fill="hold"/>
                                        <p:tgtEl>
                                          <p:spTgt spid="1113278"/>
                                        </p:tgtEl>
                                        <p:attrNameLst>
                                          <p:attrName>ppt_x</p:attrName>
                                        </p:attrNameLst>
                                      </p:cBhvr>
                                      <p:tavLst>
                                        <p:tav tm="0">
                                          <p:val>
                                            <p:strVal val="0-#ppt_w/2"/>
                                          </p:val>
                                        </p:tav>
                                        <p:tav tm="100000">
                                          <p:val>
                                            <p:strVal val="#ppt_x"/>
                                          </p:val>
                                        </p:tav>
                                      </p:tavLst>
                                    </p:anim>
                                    <p:anim calcmode="lin" valueType="num">
                                      <p:cBhvr additive="base">
                                        <p:cTn id="19" dur="500" fill="hold"/>
                                        <p:tgtEl>
                                          <p:spTgt spid="1113278"/>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8" fill="hold" grpId="0" nodeType="clickEffect">
                                  <p:stCondLst>
                                    <p:cond delay="0"/>
                                  </p:stCondLst>
                                  <p:childTnLst>
                                    <p:set>
                                      <p:cBhvr>
                                        <p:cTn id="23" dur="1" fill="hold">
                                          <p:stCondLst>
                                            <p:cond delay="0"/>
                                          </p:stCondLst>
                                        </p:cTn>
                                        <p:tgtEl>
                                          <p:spTgt spid="1113218"/>
                                        </p:tgtEl>
                                        <p:attrNameLst>
                                          <p:attrName>style.visibility</p:attrName>
                                        </p:attrNameLst>
                                      </p:cBhvr>
                                      <p:to>
                                        <p:strVal val="visible"/>
                                      </p:to>
                                    </p:set>
                                    <p:anim calcmode="lin" valueType="num">
                                      <p:cBhvr additive="base">
                                        <p:cTn id="24" dur="500" fill="hold"/>
                                        <p:tgtEl>
                                          <p:spTgt spid="1113218"/>
                                        </p:tgtEl>
                                        <p:attrNameLst>
                                          <p:attrName>ppt_x</p:attrName>
                                        </p:attrNameLst>
                                      </p:cBhvr>
                                      <p:tavLst>
                                        <p:tav tm="0">
                                          <p:val>
                                            <p:strVal val="0-#ppt_w/2"/>
                                          </p:val>
                                        </p:tav>
                                        <p:tav tm="100000">
                                          <p:val>
                                            <p:strVal val="#ppt_x"/>
                                          </p:val>
                                        </p:tav>
                                      </p:tavLst>
                                    </p:anim>
                                    <p:anim calcmode="lin" valueType="num">
                                      <p:cBhvr additive="base">
                                        <p:cTn id="25" dur="500" fill="hold"/>
                                        <p:tgtEl>
                                          <p:spTgt spid="1113218"/>
                                        </p:tgtEl>
                                        <p:attrNameLst>
                                          <p:attrName>ppt_y</p:attrName>
                                        </p:attrNameLst>
                                      </p:cBhvr>
                                      <p:tavLst>
                                        <p:tav tm="0">
                                          <p:val>
                                            <p:strVal val="#ppt_y"/>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12" presetClass="entr" presetSubtype="1" fill="hold" grpId="0" nodeType="clickEffect">
                                  <p:stCondLst>
                                    <p:cond delay="0"/>
                                  </p:stCondLst>
                                  <p:childTnLst>
                                    <p:set>
                                      <p:cBhvr>
                                        <p:cTn id="29" dur="1" fill="hold">
                                          <p:stCondLst>
                                            <p:cond delay="0"/>
                                          </p:stCondLst>
                                        </p:cTn>
                                        <p:tgtEl>
                                          <p:spTgt spid="1113221"/>
                                        </p:tgtEl>
                                        <p:attrNameLst>
                                          <p:attrName>style.visibility</p:attrName>
                                        </p:attrNameLst>
                                      </p:cBhvr>
                                      <p:to>
                                        <p:strVal val="visible"/>
                                      </p:to>
                                    </p:set>
                                    <p:animEffect transition="in" filter="slide(fromTop)">
                                      <p:cBhvr>
                                        <p:cTn id="30" dur="500"/>
                                        <p:tgtEl>
                                          <p:spTgt spid="1113221"/>
                                        </p:tgtEl>
                                      </p:cBhvr>
                                    </p:animEffect>
                                  </p:childTnLst>
                                </p:cTn>
                              </p:par>
                            </p:childTnLst>
                          </p:cTn>
                        </p:par>
                        <p:par>
                          <p:cTn id="31" fill="hold">
                            <p:stCondLst>
                              <p:cond delay="500"/>
                            </p:stCondLst>
                            <p:childTnLst>
                              <p:par>
                                <p:cTn id="32" presetID="12" presetClass="entr" presetSubtype="1" fill="hold" grpId="0" nodeType="afterEffect">
                                  <p:stCondLst>
                                    <p:cond delay="0"/>
                                  </p:stCondLst>
                                  <p:childTnLst>
                                    <p:set>
                                      <p:cBhvr>
                                        <p:cTn id="33" dur="1" fill="hold">
                                          <p:stCondLst>
                                            <p:cond delay="0"/>
                                          </p:stCondLst>
                                        </p:cTn>
                                        <p:tgtEl>
                                          <p:spTgt spid="1113222"/>
                                        </p:tgtEl>
                                        <p:attrNameLst>
                                          <p:attrName>style.visibility</p:attrName>
                                        </p:attrNameLst>
                                      </p:cBhvr>
                                      <p:to>
                                        <p:strVal val="visible"/>
                                      </p:to>
                                    </p:set>
                                    <p:animEffect transition="in" filter="slide(fromTop)">
                                      <p:cBhvr>
                                        <p:cTn id="34" dur="500"/>
                                        <p:tgtEl>
                                          <p:spTgt spid="1113222"/>
                                        </p:tgtEl>
                                      </p:cBhvr>
                                    </p:animEffect>
                                  </p:childTnLst>
                                </p:cTn>
                              </p:par>
                            </p:childTnLst>
                          </p:cTn>
                        </p:par>
                      </p:childTnLst>
                    </p:cTn>
                  </p:par>
                  <p:par>
                    <p:cTn id="35" fill="hold">
                      <p:stCondLst>
                        <p:cond delay="indefinite"/>
                      </p:stCondLst>
                      <p:childTnLst>
                        <p:par>
                          <p:cTn id="36" fill="hold">
                            <p:stCondLst>
                              <p:cond delay="0"/>
                            </p:stCondLst>
                            <p:childTnLst>
                              <p:par>
                                <p:cTn id="37" presetID="12" presetClass="entr" presetSubtype="2" fill="hold" grpId="0" nodeType="clickEffect">
                                  <p:stCondLst>
                                    <p:cond delay="0"/>
                                  </p:stCondLst>
                                  <p:childTnLst>
                                    <p:set>
                                      <p:cBhvr>
                                        <p:cTn id="38" dur="1" fill="hold">
                                          <p:stCondLst>
                                            <p:cond delay="0"/>
                                          </p:stCondLst>
                                        </p:cTn>
                                        <p:tgtEl>
                                          <p:spTgt spid="1113223"/>
                                        </p:tgtEl>
                                        <p:attrNameLst>
                                          <p:attrName>style.visibility</p:attrName>
                                        </p:attrNameLst>
                                      </p:cBhvr>
                                      <p:to>
                                        <p:strVal val="visible"/>
                                      </p:to>
                                    </p:set>
                                    <p:animEffect transition="in" filter="slide(fromRight)">
                                      <p:cBhvr>
                                        <p:cTn id="39" dur="500"/>
                                        <p:tgtEl>
                                          <p:spTgt spid="1113223"/>
                                        </p:tgtEl>
                                      </p:cBhvr>
                                    </p:animEffect>
                                  </p:childTnLst>
                                </p:cTn>
                              </p:par>
                            </p:childTnLst>
                          </p:cTn>
                        </p:par>
                        <p:par>
                          <p:cTn id="40" fill="hold">
                            <p:stCondLst>
                              <p:cond delay="500"/>
                            </p:stCondLst>
                            <p:childTnLst>
                              <p:par>
                                <p:cTn id="41" presetID="12" presetClass="entr" presetSubtype="8" fill="hold" grpId="0" nodeType="afterEffect">
                                  <p:stCondLst>
                                    <p:cond delay="0"/>
                                  </p:stCondLst>
                                  <p:childTnLst>
                                    <p:set>
                                      <p:cBhvr>
                                        <p:cTn id="42" dur="1" fill="hold">
                                          <p:stCondLst>
                                            <p:cond delay="0"/>
                                          </p:stCondLst>
                                        </p:cTn>
                                        <p:tgtEl>
                                          <p:spTgt spid="1113224"/>
                                        </p:tgtEl>
                                        <p:attrNameLst>
                                          <p:attrName>style.visibility</p:attrName>
                                        </p:attrNameLst>
                                      </p:cBhvr>
                                      <p:to>
                                        <p:strVal val="visible"/>
                                      </p:to>
                                    </p:set>
                                    <p:animEffect transition="in" filter="slide(fromLeft)">
                                      <p:cBhvr>
                                        <p:cTn id="43" dur="500"/>
                                        <p:tgtEl>
                                          <p:spTgt spid="1113224"/>
                                        </p:tgtEl>
                                      </p:cBhvr>
                                    </p:animEffect>
                                  </p:childTnLst>
                                </p:cTn>
                              </p:par>
                            </p:childTnLst>
                          </p:cTn>
                        </p:par>
                      </p:childTnLst>
                    </p:cTn>
                  </p:par>
                  <p:par>
                    <p:cTn id="44" fill="hold">
                      <p:stCondLst>
                        <p:cond delay="indefinite"/>
                      </p:stCondLst>
                      <p:childTnLst>
                        <p:par>
                          <p:cTn id="45" fill="hold">
                            <p:stCondLst>
                              <p:cond delay="0"/>
                            </p:stCondLst>
                            <p:childTnLst>
                              <p:par>
                                <p:cTn id="46" presetID="12" presetClass="entr" presetSubtype="1" fill="hold" grpId="0" nodeType="clickEffect">
                                  <p:stCondLst>
                                    <p:cond delay="0"/>
                                  </p:stCondLst>
                                  <p:childTnLst>
                                    <p:set>
                                      <p:cBhvr>
                                        <p:cTn id="47" dur="1" fill="hold">
                                          <p:stCondLst>
                                            <p:cond delay="0"/>
                                          </p:stCondLst>
                                        </p:cTn>
                                        <p:tgtEl>
                                          <p:spTgt spid="1113225"/>
                                        </p:tgtEl>
                                        <p:attrNameLst>
                                          <p:attrName>style.visibility</p:attrName>
                                        </p:attrNameLst>
                                      </p:cBhvr>
                                      <p:to>
                                        <p:strVal val="visible"/>
                                      </p:to>
                                    </p:set>
                                    <p:animEffect transition="in" filter="slide(fromTop)">
                                      <p:cBhvr>
                                        <p:cTn id="48" dur="500"/>
                                        <p:tgtEl>
                                          <p:spTgt spid="1113225"/>
                                        </p:tgtEl>
                                      </p:cBhvr>
                                    </p:animEffect>
                                  </p:childTnLst>
                                </p:cTn>
                              </p:par>
                            </p:childTnLst>
                          </p:cTn>
                        </p:par>
                        <p:par>
                          <p:cTn id="49" fill="hold">
                            <p:stCondLst>
                              <p:cond delay="500"/>
                            </p:stCondLst>
                            <p:childTnLst>
                              <p:par>
                                <p:cTn id="50" presetID="12" presetClass="entr" presetSubtype="1" fill="hold" grpId="0" nodeType="afterEffect">
                                  <p:stCondLst>
                                    <p:cond delay="0"/>
                                  </p:stCondLst>
                                  <p:childTnLst>
                                    <p:set>
                                      <p:cBhvr>
                                        <p:cTn id="51" dur="1" fill="hold">
                                          <p:stCondLst>
                                            <p:cond delay="0"/>
                                          </p:stCondLst>
                                        </p:cTn>
                                        <p:tgtEl>
                                          <p:spTgt spid="1113226"/>
                                        </p:tgtEl>
                                        <p:attrNameLst>
                                          <p:attrName>style.visibility</p:attrName>
                                        </p:attrNameLst>
                                      </p:cBhvr>
                                      <p:to>
                                        <p:strVal val="visible"/>
                                      </p:to>
                                    </p:set>
                                    <p:animEffect transition="in" filter="slide(fromTop)">
                                      <p:cBhvr>
                                        <p:cTn id="52" dur="500"/>
                                        <p:tgtEl>
                                          <p:spTgt spid="1113226"/>
                                        </p:tgtEl>
                                      </p:cBhvr>
                                    </p:animEffect>
                                  </p:childTnLst>
                                </p:cTn>
                              </p:par>
                            </p:childTnLst>
                          </p:cTn>
                        </p:par>
                      </p:childTnLst>
                    </p:cTn>
                  </p:par>
                  <p:par>
                    <p:cTn id="53" fill="hold">
                      <p:stCondLst>
                        <p:cond delay="indefinite"/>
                      </p:stCondLst>
                      <p:childTnLst>
                        <p:par>
                          <p:cTn id="54" fill="hold">
                            <p:stCondLst>
                              <p:cond delay="0"/>
                            </p:stCondLst>
                            <p:childTnLst>
                              <p:par>
                                <p:cTn id="55" presetID="12" presetClass="entr" presetSubtype="2" fill="hold" grpId="0" nodeType="clickEffect">
                                  <p:stCondLst>
                                    <p:cond delay="0"/>
                                  </p:stCondLst>
                                  <p:childTnLst>
                                    <p:set>
                                      <p:cBhvr>
                                        <p:cTn id="56" dur="1" fill="hold">
                                          <p:stCondLst>
                                            <p:cond delay="0"/>
                                          </p:stCondLst>
                                        </p:cTn>
                                        <p:tgtEl>
                                          <p:spTgt spid="1113233"/>
                                        </p:tgtEl>
                                        <p:attrNameLst>
                                          <p:attrName>style.visibility</p:attrName>
                                        </p:attrNameLst>
                                      </p:cBhvr>
                                      <p:to>
                                        <p:strVal val="visible"/>
                                      </p:to>
                                    </p:set>
                                    <p:animEffect transition="in" filter="slide(fromRight)">
                                      <p:cBhvr>
                                        <p:cTn id="57" dur="500"/>
                                        <p:tgtEl>
                                          <p:spTgt spid="1113233"/>
                                        </p:tgtEl>
                                      </p:cBhvr>
                                    </p:animEffect>
                                  </p:childTnLst>
                                </p:cTn>
                              </p:par>
                            </p:childTnLst>
                          </p:cTn>
                        </p:par>
                        <p:par>
                          <p:cTn id="58" fill="hold">
                            <p:stCondLst>
                              <p:cond delay="500"/>
                            </p:stCondLst>
                            <p:childTnLst>
                              <p:par>
                                <p:cTn id="59" presetID="12" presetClass="entr" presetSubtype="8" fill="hold" grpId="0" nodeType="afterEffect">
                                  <p:stCondLst>
                                    <p:cond delay="0"/>
                                  </p:stCondLst>
                                  <p:childTnLst>
                                    <p:set>
                                      <p:cBhvr>
                                        <p:cTn id="60" dur="1" fill="hold">
                                          <p:stCondLst>
                                            <p:cond delay="0"/>
                                          </p:stCondLst>
                                        </p:cTn>
                                        <p:tgtEl>
                                          <p:spTgt spid="1113234"/>
                                        </p:tgtEl>
                                        <p:attrNameLst>
                                          <p:attrName>style.visibility</p:attrName>
                                        </p:attrNameLst>
                                      </p:cBhvr>
                                      <p:to>
                                        <p:strVal val="visible"/>
                                      </p:to>
                                    </p:set>
                                    <p:animEffect transition="in" filter="slide(fromLeft)">
                                      <p:cBhvr>
                                        <p:cTn id="61" dur="500"/>
                                        <p:tgtEl>
                                          <p:spTgt spid="1113234"/>
                                        </p:tgtEl>
                                      </p:cBhvr>
                                    </p:animEffect>
                                  </p:childTnLst>
                                </p:cTn>
                              </p:par>
                            </p:childTnLst>
                          </p:cTn>
                        </p:par>
                      </p:childTnLst>
                    </p:cTn>
                  </p:par>
                  <p:par>
                    <p:cTn id="62" fill="hold">
                      <p:stCondLst>
                        <p:cond delay="indefinite"/>
                      </p:stCondLst>
                      <p:childTnLst>
                        <p:par>
                          <p:cTn id="63" fill="hold">
                            <p:stCondLst>
                              <p:cond delay="0"/>
                            </p:stCondLst>
                            <p:childTnLst>
                              <p:par>
                                <p:cTn id="64" presetID="12" presetClass="entr" presetSubtype="1" fill="hold" grpId="0" nodeType="clickEffect">
                                  <p:stCondLst>
                                    <p:cond delay="0"/>
                                  </p:stCondLst>
                                  <p:childTnLst>
                                    <p:set>
                                      <p:cBhvr>
                                        <p:cTn id="65" dur="1" fill="hold">
                                          <p:stCondLst>
                                            <p:cond delay="0"/>
                                          </p:stCondLst>
                                        </p:cTn>
                                        <p:tgtEl>
                                          <p:spTgt spid="1113227"/>
                                        </p:tgtEl>
                                        <p:attrNameLst>
                                          <p:attrName>style.visibility</p:attrName>
                                        </p:attrNameLst>
                                      </p:cBhvr>
                                      <p:to>
                                        <p:strVal val="visible"/>
                                      </p:to>
                                    </p:set>
                                    <p:animEffect transition="in" filter="slide(fromTop)">
                                      <p:cBhvr>
                                        <p:cTn id="66" dur="500"/>
                                        <p:tgtEl>
                                          <p:spTgt spid="1113227"/>
                                        </p:tgtEl>
                                      </p:cBhvr>
                                    </p:animEffect>
                                  </p:childTnLst>
                                </p:cTn>
                              </p:par>
                            </p:childTnLst>
                          </p:cTn>
                        </p:par>
                        <p:par>
                          <p:cTn id="67" fill="hold">
                            <p:stCondLst>
                              <p:cond delay="500"/>
                            </p:stCondLst>
                            <p:childTnLst>
                              <p:par>
                                <p:cTn id="68" presetID="12" presetClass="entr" presetSubtype="1" fill="hold" grpId="0" nodeType="afterEffect">
                                  <p:stCondLst>
                                    <p:cond delay="0"/>
                                  </p:stCondLst>
                                  <p:childTnLst>
                                    <p:set>
                                      <p:cBhvr>
                                        <p:cTn id="69" dur="1" fill="hold">
                                          <p:stCondLst>
                                            <p:cond delay="0"/>
                                          </p:stCondLst>
                                        </p:cTn>
                                        <p:tgtEl>
                                          <p:spTgt spid="1113228"/>
                                        </p:tgtEl>
                                        <p:attrNameLst>
                                          <p:attrName>style.visibility</p:attrName>
                                        </p:attrNameLst>
                                      </p:cBhvr>
                                      <p:to>
                                        <p:strVal val="visible"/>
                                      </p:to>
                                    </p:set>
                                    <p:animEffect transition="in" filter="slide(fromTop)">
                                      <p:cBhvr>
                                        <p:cTn id="70" dur="500"/>
                                        <p:tgtEl>
                                          <p:spTgt spid="1113228"/>
                                        </p:tgtEl>
                                      </p:cBhvr>
                                    </p:animEffect>
                                  </p:childTnLst>
                                </p:cTn>
                              </p:par>
                            </p:childTnLst>
                          </p:cTn>
                        </p:par>
                      </p:childTnLst>
                    </p:cTn>
                  </p:par>
                  <p:par>
                    <p:cTn id="71" fill="hold">
                      <p:stCondLst>
                        <p:cond delay="indefinite"/>
                      </p:stCondLst>
                      <p:childTnLst>
                        <p:par>
                          <p:cTn id="72" fill="hold">
                            <p:stCondLst>
                              <p:cond delay="0"/>
                            </p:stCondLst>
                            <p:childTnLst>
                              <p:par>
                                <p:cTn id="73" presetID="12" presetClass="entr" presetSubtype="2" fill="hold" grpId="0" nodeType="clickEffect">
                                  <p:stCondLst>
                                    <p:cond delay="0"/>
                                  </p:stCondLst>
                                  <p:childTnLst>
                                    <p:set>
                                      <p:cBhvr>
                                        <p:cTn id="74" dur="1" fill="hold">
                                          <p:stCondLst>
                                            <p:cond delay="0"/>
                                          </p:stCondLst>
                                        </p:cTn>
                                        <p:tgtEl>
                                          <p:spTgt spid="1113236"/>
                                        </p:tgtEl>
                                        <p:attrNameLst>
                                          <p:attrName>style.visibility</p:attrName>
                                        </p:attrNameLst>
                                      </p:cBhvr>
                                      <p:to>
                                        <p:strVal val="visible"/>
                                      </p:to>
                                    </p:set>
                                    <p:animEffect transition="in" filter="slide(fromRight)">
                                      <p:cBhvr>
                                        <p:cTn id="75" dur="500"/>
                                        <p:tgtEl>
                                          <p:spTgt spid="1113236"/>
                                        </p:tgtEl>
                                      </p:cBhvr>
                                    </p:animEffect>
                                  </p:childTnLst>
                                </p:cTn>
                              </p:par>
                            </p:childTnLst>
                          </p:cTn>
                        </p:par>
                        <p:par>
                          <p:cTn id="76" fill="hold">
                            <p:stCondLst>
                              <p:cond delay="500"/>
                            </p:stCondLst>
                            <p:childTnLst>
                              <p:par>
                                <p:cTn id="77" presetID="12" presetClass="entr" presetSubtype="8" fill="hold" grpId="0" nodeType="afterEffect">
                                  <p:stCondLst>
                                    <p:cond delay="0"/>
                                  </p:stCondLst>
                                  <p:childTnLst>
                                    <p:set>
                                      <p:cBhvr>
                                        <p:cTn id="78" dur="1" fill="hold">
                                          <p:stCondLst>
                                            <p:cond delay="0"/>
                                          </p:stCondLst>
                                        </p:cTn>
                                        <p:tgtEl>
                                          <p:spTgt spid="1113235"/>
                                        </p:tgtEl>
                                        <p:attrNameLst>
                                          <p:attrName>style.visibility</p:attrName>
                                        </p:attrNameLst>
                                      </p:cBhvr>
                                      <p:to>
                                        <p:strVal val="visible"/>
                                      </p:to>
                                    </p:set>
                                    <p:animEffect transition="in" filter="slide(fromLeft)">
                                      <p:cBhvr>
                                        <p:cTn id="79" dur="500"/>
                                        <p:tgtEl>
                                          <p:spTgt spid="1113235"/>
                                        </p:tgtEl>
                                      </p:cBhvr>
                                    </p:animEffect>
                                  </p:childTnLst>
                                </p:cTn>
                              </p:par>
                            </p:childTnLst>
                          </p:cTn>
                        </p:par>
                      </p:childTnLst>
                    </p:cTn>
                  </p:par>
                  <p:par>
                    <p:cTn id="80" fill="hold">
                      <p:stCondLst>
                        <p:cond delay="indefinite"/>
                      </p:stCondLst>
                      <p:childTnLst>
                        <p:par>
                          <p:cTn id="81" fill="hold">
                            <p:stCondLst>
                              <p:cond delay="0"/>
                            </p:stCondLst>
                            <p:childTnLst>
                              <p:par>
                                <p:cTn id="82" presetID="12" presetClass="entr" presetSubtype="1" fill="hold" grpId="0" nodeType="clickEffect">
                                  <p:stCondLst>
                                    <p:cond delay="0"/>
                                  </p:stCondLst>
                                  <p:childTnLst>
                                    <p:set>
                                      <p:cBhvr>
                                        <p:cTn id="83" dur="1" fill="hold">
                                          <p:stCondLst>
                                            <p:cond delay="0"/>
                                          </p:stCondLst>
                                        </p:cTn>
                                        <p:tgtEl>
                                          <p:spTgt spid="1113229"/>
                                        </p:tgtEl>
                                        <p:attrNameLst>
                                          <p:attrName>style.visibility</p:attrName>
                                        </p:attrNameLst>
                                      </p:cBhvr>
                                      <p:to>
                                        <p:strVal val="visible"/>
                                      </p:to>
                                    </p:set>
                                    <p:animEffect transition="in" filter="slide(fromTop)">
                                      <p:cBhvr>
                                        <p:cTn id="84" dur="500"/>
                                        <p:tgtEl>
                                          <p:spTgt spid="1113229"/>
                                        </p:tgtEl>
                                      </p:cBhvr>
                                    </p:animEffect>
                                  </p:childTnLst>
                                </p:cTn>
                              </p:par>
                            </p:childTnLst>
                          </p:cTn>
                        </p:par>
                        <p:par>
                          <p:cTn id="85" fill="hold">
                            <p:stCondLst>
                              <p:cond delay="500"/>
                            </p:stCondLst>
                            <p:childTnLst>
                              <p:par>
                                <p:cTn id="86" presetID="12" presetClass="entr" presetSubtype="1" fill="hold" grpId="0" nodeType="afterEffect">
                                  <p:stCondLst>
                                    <p:cond delay="0"/>
                                  </p:stCondLst>
                                  <p:childTnLst>
                                    <p:set>
                                      <p:cBhvr>
                                        <p:cTn id="87" dur="1" fill="hold">
                                          <p:stCondLst>
                                            <p:cond delay="0"/>
                                          </p:stCondLst>
                                        </p:cTn>
                                        <p:tgtEl>
                                          <p:spTgt spid="1113230"/>
                                        </p:tgtEl>
                                        <p:attrNameLst>
                                          <p:attrName>style.visibility</p:attrName>
                                        </p:attrNameLst>
                                      </p:cBhvr>
                                      <p:to>
                                        <p:strVal val="visible"/>
                                      </p:to>
                                    </p:set>
                                    <p:animEffect transition="in" filter="slide(fromTop)">
                                      <p:cBhvr>
                                        <p:cTn id="88" dur="500"/>
                                        <p:tgtEl>
                                          <p:spTgt spid="1113230"/>
                                        </p:tgtEl>
                                      </p:cBhvr>
                                    </p:animEffect>
                                  </p:childTnLst>
                                </p:cTn>
                              </p:par>
                            </p:childTnLst>
                          </p:cTn>
                        </p:par>
                      </p:childTnLst>
                    </p:cTn>
                  </p:par>
                  <p:par>
                    <p:cTn id="89" fill="hold">
                      <p:stCondLst>
                        <p:cond delay="indefinite"/>
                      </p:stCondLst>
                      <p:childTnLst>
                        <p:par>
                          <p:cTn id="90" fill="hold">
                            <p:stCondLst>
                              <p:cond delay="0"/>
                            </p:stCondLst>
                            <p:childTnLst>
                              <p:par>
                                <p:cTn id="91" presetID="12" presetClass="entr" presetSubtype="2" fill="hold" grpId="0" nodeType="clickEffect">
                                  <p:stCondLst>
                                    <p:cond delay="0"/>
                                  </p:stCondLst>
                                  <p:childTnLst>
                                    <p:set>
                                      <p:cBhvr>
                                        <p:cTn id="92" dur="1" fill="hold">
                                          <p:stCondLst>
                                            <p:cond delay="0"/>
                                          </p:stCondLst>
                                        </p:cTn>
                                        <p:tgtEl>
                                          <p:spTgt spid="1113238"/>
                                        </p:tgtEl>
                                        <p:attrNameLst>
                                          <p:attrName>style.visibility</p:attrName>
                                        </p:attrNameLst>
                                      </p:cBhvr>
                                      <p:to>
                                        <p:strVal val="visible"/>
                                      </p:to>
                                    </p:set>
                                    <p:animEffect transition="in" filter="slide(fromRight)">
                                      <p:cBhvr>
                                        <p:cTn id="93" dur="500"/>
                                        <p:tgtEl>
                                          <p:spTgt spid="1113238"/>
                                        </p:tgtEl>
                                      </p:cBhvr>
                                    </p:animEffect>
                                  </p:childTnLst>
                                </p:cTn>
                              </p:par>
                            </p:childTnLst>
                          </p:cTn>
                        </p:par>
                        <p:par>
                          <p:cTn id="94" fill="hold">
                            <p:stCondLst>
                              <p:cond delay="500"/>
                            </p:stCondLst>
                            <p:childTnLst>
                              <p:par>
                                <p:cTn id="95" presetID="12" presetClass="entr" presetSubtype="8" fill="hold" grpId="0" nodeType="afterEffect">
                                  <p:stCondLst>
                                    <p:cond delay="0"/>
                                  </p:stCondLst>
                                  <p:childTnLst>
                                    <p:set>
                                      <p:cBhvr>
                                        <p:cTn id="96" dur="1" fill="hold">
                                          <p:stCondLst>
                                            <p:cond delay="0"/>
                                          </p:stCondLst>
                                        </p:cTn>
                                        <p:tgtEl>
                                          <p:spTgt spid="1113237"/>
                                        </p:tgtEl>
                                        <p:attrNameLst>
                                          <p:attrName>style.visibility</p:attrName>
                                        </p:attrNameLst>
                                      </p:cBhvr>
                                      <p:to>
                                        <p:strVal val="visible"/>
                                      </p:to>
                                    </p:set>
                                    <p:animEffect transition="in" filter="slide(fromLeft)">
                                      <p:cBhvr>
                                        <p:cTn id="97" dur="500"/>
                                        <p:tgtEl>
                                          <p:spTgt spid="1113237"/>
                                        </p:tgtEl>
                                      </p:cBhvr>
                                    </p:animEffect>
                                  </p:childTnLst>
                                </p:cTn>
                              </p:par>
                            </p:childTnLst>
                          </p:cTn>
                        </p:par>
                      </p:childTnLst>
                    </p:cTn>
                  </p:par>
                  <p:par>
                    <p:cTn id="98" fill="hold">
                      <p:stCondLst>
                        <p:cond delay="indefinite"/>
                      </p:stCondLst>
                      <p:childTnLst>
                        <p:par>
                          <p:cTn id="99" fill="hold">
                            <p:stCondLst>
                              <p:cond delay="0"/>
                            </p:stCondLst>
                            <p:childTnLst>
                              <p:par>
                                <p:cTn id="100" presetID="12" presetClass="entr" presetSubtype="1" fill="hold" grpId="0" nodeType="clickEffect">
                                  <p:stCondLst>
                                    <p:cond delay="0"/>
                                  </p:stCondLst>
                                  <p:childTnLst>
                                    <p:set>
                                      <p:cBhvr>
                                        <p:cTn id="101" dur="1" fill="hold">
                                          <p:stCondLst>
                                            <p:cond delay="0"/>
                                          </p:stCondLst>
                                        </p:cTn>
                                        <p:tgtEl>
                                          <p:spTgt spid="1113231"/>
                                        </p:tgtEl>
                                        <p:attrNameLst>
                                          <p:attrName>style.visibility</p:attrName>
                                        </p:attrNameLst>
                                      </p:cBhvr>
                                      <p:to>
                                        <p:strVal val="visible"/>
                                      </p:to>
                                    </p:set>
                                    <p:animEffect transition="in" filter="slide(fromTop)">
                                      <p:cBhvr>
                                        <p:cTn id="102" dur="500"/>
                                        <p:tgtEl>
                                          <p:spTgt spid="1113231"/>
                                        </p:tgtEl>
                                      </p:cBhvr>
                                    </p:animEffect>
                                  </p:childTnLst>
                                </p:cTn>
                              </p:par>
                            </p:childTnLst>
                          </p:cTn>
                        </p:par>
                        <p:par>
                          <p:cTn id="103" fill="hold">
                            <p:stCondLst>
                              <p:cond delay="500"/>
                            </p:stCondLst>
                            <p:childTnLst>
                              <p:par>
                                <p:cTn id="104" presetID="12" presetClass="entr" presetSubtype="1" fill="hold" grpId="0" nodeType="afterEffect">
                                  <p:stCondLst>
                                    <p:cond delay="0"/>
                                  </p:stCondLst>
                                  <p:childTnLst>
                                    <p:set>
                                      <p:cBhvr>
                                        <p:cTn id="105" dur="1" fill="hold">
                                          <p:stCondLst>
                                            <p:cond delay="0"/>
                                          </p:stCondLst>
                                        </p:cTn>
                                        <p:tgtEl>
                                          <p:spTgt spid="1113232"/>
                                        </p:tgtEl>
                                        <p:attrNameLst>
                                          <p:attrName>style.visibility</p:attrName>
                                        </p:attrNameLst>
                                      </p:cBhvr>
                                      <p:to>
                                        <p:strVal val="visible"/>
                                      </p:to>
                                    </p:set>
                                    <p:animEffect transition="in" filter="slide(fromTop)">
                                      <p:cBhvr>
                                        <p:cTn id="106" dur="500"/>
                                        <p:tgtEl>
                                          <p:spTgt spid="1113232"/>
                                        </p:tgtEl>
                                      </p:cBhvr>
                                    </p:animEffect>
                                  </p:childTnLst>
                                </p:cTn>
                              </p:par>
                            </p:childTnLst>
                          </p:cTn>
                        </p:par>
                      </p:childTnLst>
                    </p:cTn>
                  </p:par>
                  <p:par>
                    <p:cTn id="107" fill="hold">
                      <p:stCondLst>
                        <p:cond delay="indefinite"/>
                      </p:stCondLst>
                      <p:childTnLst>
                        <p:par>
                          <p:cTn id="108" fill="hold">
                            <p:stCondLst>
                              <p:cond delay="0"/>
                            </p:stCondLst>
                            <p:childTnLst>
                              <p:par>
                                <p:cTn id="109" presetID="12" presetClass="entr" presetSubtype="2" fill="hold" grpId="0" nodeType="clickEffect">
                                  <p:stCondLst>
                                    <p:cond delay="0"/>
                                  </p:stCondLst>
                                  <p:childTnLst>
                                    <p:set>
                                      <p:cBhvr>
                                        <p:cTn id="110" dur="1" fill="hold">
                                          <p:stCondLst>
                                            <p:cond delay="0"/>
                                          </p:stCondLst>
                                        </p:cTn>
                                        <p:tgtEl>
                                          <p:spTgt spid="1113242"/>
                                        </p:tgtEl>
                                        <p:attrNameLst>
                                          <p:attrName>style.visibility</p:attrName>
                                        </p:attrNameLst>
                                      </p:cBhvr>
                                      <p:to>
                                        <p:strVal val="visible"/>
                                      </p:to>
                                    </p:set>
                                    <p:animEffect transition="in" filter="slide(fromRight)">
                                      <p:cBhvr>
                                        <p:cTn id="111" dur="500"/>
                                        <p:tgtEl>
                                          <p:spTgt spid="1113242"/>
                                        </p:tgtEl>
                                      </p:cBhvr>
                                    </p:animEffect>
                                  </p:childTnLst>
                                </p:cTn>
                              </p:par>
                            </p:childTnLst>
                          </p:cTn>
                        </p:par>
                        <p:par>
                          <p:cTn id="112" fill="hold">
                            <p:stCondLst>
                              <p:cond delay="500"/>
                            </p:stCondLst>
                            <p:childTnLst>
                              <p:par>
                                <p:cTn id="113" presetID="12" presetClass="entr" presetSubtype="8" fill="hold" grpId="0" nodeType="afterEffect">
                                  <p:stCondLst>
                                    <p:cond delay="0"/>
                                  </p:stCondLst>
                                  <p:childTnLst>
                                    <p:set>
                                      <p:cBhvr>
                                        <p:cTn id="114" dur="1" fill="hold">
                                          <p:stCondLst>
                                            <p:cond delay="0"/>
                                          </p:stCondLst>
                                        </p:cTn>
                                        <p:tgtEl>
                                          <p:spTgt spid="1113241"/>
                                        </p:tgtEl>
                                        <p:attrNameLst>
                                          <p:attrName>style.visibility</p:attrName>
                                        </p:attrNameLst>
                                      </p:cBhvr>
                                      <p:to>
                                        <p:strVal val="visible"/>
                                      </p:to>
                                    </p:set>
                                    <p:animEffect transition="in" filter="slide(fromLeft)">
                                      <p:cBhvr>
                                        <p:cTn id="115" dur="500"/>
                                        <p:tgtEl>
                                          <p:spTgt spid="1113241"/>
                                        </p:tgtEl>
                                      </p:cBhvr>
                                    </p:animEffect>
                                  </p:childTnLst>
                                </p:cTn>
                              </p:par>
                            </p:childTnLst>
                          </p:cTn>
                        </p:par>
                      </p:childTnLst>
                    </p:cTn>
                  </p:par>
                  <p:par>
                    <p:cTn id="116" fill="hold">
                      <p:stCondLst>
                        <p:cond delay="indefinite"/>
                      </p:stCondLst>
                      <p:childTnLst>
                        <p:par>
                          <p:cTn id="117" fill="hold">
                            <p:stCondLst>
                              <p:cond delay="0"/>
                            </p:stCondLst>
                            <p:childTnLst>
                              <p:par>
                                <p:cTn id="118" presetID="2" presetClass="entr" presetSubtype="8" fill="hold" grpId="0" nodeType="clickEffect">
                                  <p:stCondLst>
                                    <p:cond delay="0"/>
                                  </p:stCondLst>
                                  <p:childTnLst>
                                    <p:set>
                                      <p:cBhvr>
                                        <p:cTn id="119" dur="1" fill="hold">
                                          <p:stCondLst>
                                            <p:cond delay="0"/>
                                          </p:stCondLst>
                                        </p:cTn>
                                        <p:tgtEl>
                                          <p:spTgt spid="1113219"/>
                                        </p:tgtEl>
                                        <p:attrNameLst>
                                          <p:attrName>style.visibility</p:attrName>
                                        </p:attrNameLst>
                                      </p:cBhvr>
                                      <p:to>
                                        <p:strVal val="visible"/>
                                      </p:to>
                                    </p:set>
                                    <p:anim calcmode="lin" valueType="num">
                                      <p:cBhvr additive="base">
                                        <p:cTn id="120" dur="500" fill="hold"/>
                                        <p:tgtEl>
                                          <p:spTgt spid="1113219"/>
                                        </p:tgtEl>
                                        <p:attrNameLst>
                                          <p:attrName>ppt_x</p:attrName>
                                        </p:attrNameLst>
                                      </p:cBhvr>
                                      <p:tavLst>
                                        <p:tav tm="0">
                                          <p:val>
                                            <p:strVal val="0-#ppt_w/2"/>
                                          </p:val>
                                        </p:tav>
                                        <p:tav tm="100000">
                                          <p:val>
                                            <p:strVal val="#ppt_x"/>
                                          </p:val>
                                        </p:tav>
                                      </p:tavLst>
                                    </p:anim>
                                    <p:anim calcmode="lin" valueType="num">
                                      <p:cBhvr additive="base">
                                        <p:cTn id="121" dur="500" fill="hold"/>
                                        <p:tgtEl>
                                          <p:spTgt spid="1113219"/>
                                        </p:tgtEl>
                                        <p:attrNameLst>
                                          <p:attrName>ppt_y</p:attrName>
                                        </p:attrNameLst>
                                      </p:cBhvr>
                                      <p:tavLst>
                                        <p:tav tm="0">
                                          <p:val>
                                            <p:strVal val="#ppt_y"/>
                                          </p:val>
                                        </p:tav>
                                        <p:tav tm="100000">
                                          <p:val>
                                            <p:strVal val="#ppt_y"/>
                                          </p:val>
                                        </p:tav>
                                      </p:tavLst>
                                    </p:anim>
                                  </p:childTnLst>
                                </p:cTn>
                              </p:par>
                            </p:childTnLst>
                          </p:cTn>
                        </p:par>
                      </p:childTnLst>
                    </p:cTn>
                  </p:par>
                  <p:par>
                    <p:cTn id="122" fill="hold">
                      <p:stCondLst>
                        <p:cond delay="indefinite"/>
                      </p:stCondLst>
                      <p:childTnLst>
                        <p:par>
                          <p:cTn id="123" fill="hold">
                            <p:stCondLst>
                              <p:cond delay="0"/>
                            </p:stCondLst>
                            <p:childTnLst>
                              <p:par>
                                <p:cTn id="124" presetID="12" presetClass="entr" presetSubtype="1" fill="hold" grpId="0" nodeType="clickEffect">
                                  <p:stCondLst>
                                    <p:cond delay="0"/>
                                  </p:stCondLst>
                                  <p:childTnLst>
                                    <p:set>
                                      <p:cBhvr>
                                        <p:cTn id="125" dur="1" fill="hold">
                                          <p:stCondLst>
                                            <p:cond delay="0"/>
                                          </p:stCondLst>
                                        </p:cTn>
                                        <p:tgtEl>
                                          <p:spTgt spid="1113239"/>
                                        </p:tgtEl>
                                        <p:attrNameLst>
                                          <p:attrName>style.visibility</p:attrName>
                                        </p:attrNameLst>
                                      </p:cBhvr>
                                      <p:to>
                                        <p:strVal val="visible"/>
                                      </p:to>
                                    </p:set>
                                    <p:animEffect transition="in" filter="slide(fromTop)">
                                      <p:cBhvr>
                                        <p:cTn id="126" dur="500"/>
                                        <p:tgtEl>
                                          <p:spTgt spid="1113239"/>
                                        </p:tgtEl>
                                      </p:cBhvr>
                                    </p:animEffect>
                                  </p:childTnLst>
                                </p:cTn>
                              </p:par>
                            </p:childTnLst>
                          </p:cTn>
                        </p:par>
                        <p:par>
                          <p:cTn id="127" fill="hold">
                            <p:stCondLst>
                              <p:cond delay="500"/>
                            </p:stCondLst>
                            <p:childTnLst>
                              <p:par>
                                <p:cTn id="128" presetID="12" presetClass="entr" presetSubtype="1" fill="hold" grpId="0" nodeType="afterEffect">
                                  <p:stCondLst>
                                    <p:cond delay="0"/>
                                  </p:stCondLst>
                                  <p:childTnLst>
                                    <p:set>
                                      <p:cBhvr>
                                        <p:cTn id="129" dur="1" fill="hold">
                                          <p:stCondLst>
                                            <p:cond delay="0"/>
                                          </p:stCondLst>
                                        </p:cTn>
                                        <p:tgtEl>
                                          <p:spTgt spid="1113240"/>
                                        </p:tgtEl>
                                        <p:attrNameLst>
                                          <p:attrName>style.visibility</p:attrName>
                                        </p:attrNameLst>
                                      </p:cBhvr>
                                      <p:to>
                                        <p:strVal val="visible"/>
                                      </p:to>
                                    </p:set>
                                    <p:animEffect transition="in" filter="slide(fromTop)">
                                      <p:cBhvr>
                                        <p:cTn id="130" dur="500"/>
                                        <p:tgtEl>
                                          <p:spTgt spid="1113240"/>
                                        </p:tgtEl>
                                      </p:cBhvr>
                                    </p:animEffect>
                                  </p:childTnLst>
                                </p:cTn>
                              </p:par>
                            </p:childTnLst>
                          </p:cTn>
                        </p:par>
                        <p:par>
                          <p:cTn id="131" fill="hold">
                            <p:stCondLst>
                              <p:cond delay="1000"/>
                            </p:stCondLst>
                            <p:childTnLst>
                              <p:par>
                                <p:cTn id="132" presetID="12" presetClass="entr" presetSubtype="1" fill="hold" grpId="0" nodeType="afterEffect">
                                  <p:stCondLst>
                                    <p:cond delay="0"/>
                                  </p:stCondLst>
                                  <p:childTnLst>
                                    <p:set>
                                      <p:cBhvr>
                                        <p:cTn id="133" dur="1" fill="hold">
                                          <p:stCondLst>
                                            <p:cond delay="0"/>
                                          </p:stCondLst>
                                        </p:cTn>
                                        <p:tgtEl>
                                          <p:spTgt spid="1113092"/>
                                        </p:tgtEl>
                                        <p:attrNameLst>
                                          <p:attrName>style.visibility</p:attrName>
                                        </p:attrNameLst>
                                      </p:cBhvr>
                                      <p:to>
                                        <p:strVal val="visible"/>
                                      </p:to>
                                    </p:set>
                                    <p:animEffect transition="in" filter="slide(fromTop)">
                                      <p:cBhvr>
                                        <p:cTn id="134" dur="500"/>
                                        <p:tgtEl>
                                          <p:spTgt spid="1113092"/>
                                        </p:tgtEl>
                                      </p:cBhvr>
                                    </p:animEffect>
                                  </p:childTnLst>
                                </p:cTn>
                              </p:par>
                            </p:childTnLst>
                          </p:cTn>
                        </p:par>
                        <p:par>
                          <p:cTn id="135" fill="hold">
                            <p:stCondLst>
                              <p:cond delay="1500"/>
                            </p:stCondLst>
                            <p:childTnLst>
                              <p:par>
                                <p:cTn id="136" presetID="12" presetClass="entr" presetSubtype="1" fill="hold" grpId="0" nodeType="afterEffect">
                                  <p:stCondLst>
                                    <p:cond delay="0"/>
                                  </p:stCondLst>
                                  <p:childTnLst>
                                    <p:set>
                                      <p:cBhvr>
                                        <p:cTn id="137" dur="1" fill="hold">
                                          <p:stCondLst>
                                            <p:cond delay="0"/>
                                          </p:stCondLst>
                                        </p:cTn>
                                        <p:tgtEl>
                                          <p:spTgt spid="1113253"/>
                                        </p:tgtEl>
                                        <p:attrNameLst>
                                          <p:attrName>style.visibility</p:attrName>
                                        </p:attrNameLst>
                                      </p:cBhvr>
                                      <p:to>
                                        <p:strVal val="visible"/>
                                      </p:to>
                                    </p:set>
                                    <p:animEffect transition="in" filter="slide(fromTop)">
                                      <p:cBhvr>
                                        <p:cTn id="138" dur="500"/>
                                        <p:tgtEl>
                                          <p:spTgt spid="1113253"/>
                                        </p:tgtEl>
                                      </p:cBhvr>
                                    </p:animEffect>
                                  </p:childTnLst>
                                </p:cTn>
                              </p:par>
                            </p:childTnLst>
                          </p:cTn>
                        </p:par>
                      </p:childTnLst>
                    </p:cTn>
                  </p:par>
                  <p:par>
                    <p:cTn id="139" fill="hold">
                      <p:stCondLst>
                        <p:cond delay="indefinite"/>
                      </p:stCondLst>
                      <p:childTnLst>
                        <p:par>
                          <p:cTn id="140" fill="hold">
                            <p:stCondLst>
                              <p:cond delay="0"/>
                            </p:stCondLst>
                            <p:childTnLst>
                              <p:par>
                                <p:cTn id="141" presetID="12" presetClass="entr" presetSubtype="2" fill="hold" grpId="0" nodeType="clickEffect">
                                  <p:stCondLst>
                                    <p:cond delay="0"/>
                                  </p:stCondLst>
                                  <p:childTnLst>
                                    <p:set>
                                      <p:cBhvr>
                                        <p:cTn id="142" dur="1" fill="hold">
                                          <p:stCondLst>
                                            <p:cond delay="0"/>
                                          </p:stCondLst>
                                        </p:cTn>
                                        <p:tgtEl>
                                          <p:spTgt spid="1113254"/>
                                        </p:tgtEl>
                                        <p:attrNameLst>
                                          <p:attrName>style.visibility</p:attrName>
                                        </p:attrNameLst>
                                      </p:cBhvr>
                                      <p:to>
                                        <p:strVal val="visible"/>
                                      </p:to>
                                    </p:set>
                                    <p:animEffect transition="in" filter="slide(fromRight)">
                                      <p:cBhvr>
                                        <p:cTn id="143" dur="500"/>
                                        <p:tgtEl>
                                          <p:spTgt spid="1113254"/>
                                        </p:tgtEl>
                                      </p:cBhvr>
                                    </p:animEffect>
                                  </p:childTnLst>
                                </p:cTn>
                              </p:par>
                            </p:childTnLst>
                          </p:cTn>
                        </p:par>
                        <p:par>
                          <p:cTn id="144" fill="hold">
                            <p:stCondLst>
                              <p:cond delay="500"/>
                            </p:stCondLst>
                            <p:childTnLst>
                              <p:par>
                                <p:cTn id="145" presetID="12" presetClass="entr" presetSubtype="8" fill="hold" grpId="0" nodeType="afterEffect">
                                  <p:stCondLst>
                                    <p:cond delay="0"/>
                                  </p:stCondLst>
                                  <p:childTnLst>
                                    <p:set>
                                      <p:cBhvr>
                                        <p:cTn id="146" dur="1" fill="hold">
                                          <p:stCondLst>
                                            <p:cond delay="0"/>
                                          </p:stCondLst>
                                        </p:cTn>
                                        <p:tgtEl>
                                          <p:spTgt spid="1113243"/>
                                        </p:tgtEl>
                                        <p:attrNameLst>
                                          <p:attrName>style.visibility</p:attrName>
                                        </p:attrNameLst>
                                      </p:cBhvr>
                                      <p:to>
                                        <p:strVal val="visible"/>
                                      </p:to>
                                    </p:set>
                                    <p:animEffect transition="in" filter="slide(fromLeft)">
                                      <p:cBhvr>
                                        <p:cTn id="147" dur="500"/>
                                        <p:tgtEl>
                                          <p:spTgt spid="1113243"/>
                                        </p:tgtEl>
                                      </p:cBhvr>
                                    </p:animEffect>
                                  </p:childTnLst>
                                </p:cTn>
                              </p:par>
                            </p:childTnLst>
                          </p:cTn>
                        </p:par>
                      </p:childTnLst>
                    </p:cTn>
                  </p:par>
                  <p:par>
                    <p:cTn id="148" fill="hold">
                      <p:stCondLst>
                        <p:cond delay="indefinite"/>
                      </p:stCondLst>
                      <p:childTnLst>
                        <p:par>
                          <p:cTn id="149" fill="hold">
                            <p:stCondLst>
                              <p:cond delay="0"/>
                            </p:stCondLst>
                            <p:childTnLst>
                              <p:par>
                                <p:cTn id="150" presetID="1" presetClass="entr" presetSubtype="0" fill="hold" grpId="0" nodeType="clickEffect">
                                  <p:stCondLst>
                                    <p:cond delay="0"/>
                                  </p:stCondLst>
                                  <p:childTnLst>
                                    <p:set>
                                      <p:cBhvr>
                                        <p:cTn id="151" dur="1" fill="hold">
                                          <p:stCondLst>
                                            <p:cond delay="499"/>
                                          </p:stCondLst>
                                        </p:cTn>
                                        <p:tgtEl>
                                          <p:spTgt spid="1113244"/>
                                        </p:tgtEl>
                                        <p:attrNameLst>
                                          <p:attrName>style.visibility</p:attrName>
                                        </p:attrNameLst>
                                      </p:cBhvr>
                                      <p:to>
                                        <p:strVal val="visible"/>
                                      </p:to>
                                    </p:set>
                                  </p:childTnLst>
                                </p:cTn>
                              </p:par>
                            </p:childTnLst>
                          </p:cTn>
                        </p:par>
                        <p:par>
                          <p:cTn id="152" fill="hold">
                            <p:stCondLst>
                              <p:cond delay="500"/>
                            </p:stCondLst>
                            <p:childTnLst>
                              <p:par>
                                <p:cTn id="153" presetID="1" presetClass="entr" presetSubtype="0" fill="hold" grpId="0" nodeType="afterEffect">
                                  <p:stCondLst>
                                    <p:cond delay="0"/>
                                  </p:stCondLst>
                                  <p:childTnLst>
                                    <p:set>
                                      <p:cBhvr>
                                        <p:cTn id="154" dur="1" fill="hold">
                                          <p:stCondLst>
                                            <p:cond delay="499"/>
                                          </p:stCondLst>
                                        </p:cTn>
                                        <p:tgtEl>
                                          <p:spTgt spid="1113255"/>
                                        </p:tgtEl>
                                        <p:attrNameLst>
                                          <p:attrName>style.visibility</p:attrName>
                                        </p:attrNameLst>
                                      </p:cBhvr>
                                      <p:to>
                                        <p:strVal val="visible"/>
                                      </p:to>
                                    </p:set>
                                  </p:childTnLst>
                                </p:cTn>
                              </p:par>
                            </p:childTnLst>
                          </p:cTn>
                        </p:par>
                      </p:childTnLst>
                    </p:cTn>
                  </p:par>
                  <p:par>
                    <p:cTn id="155" fill="hold">
                      <p:stCondLst>
                        <p:cond delay="indefinite"/>
                      </p:stCondLst>
                      <p:childTnLst>
                        <p:par>
                          <p:cTn id="156" fill="hold">
                            <p:stCondLst>
                              <p:cond delay="0"/>
                            </p:stCondLst>
                            <p:childTnLst>
                              <p:par>
                                <p:cTn id="157" presetID="12" presetClass="entr" presetSubtype="1" fill="hold" grpId="0" nodeType="clickEffect">
                                  <p:stCondLst>
                                    <p:cond delay="0"/>
                                  </p:stCondLst>
                                  <p:childTnLst>
                                    <p:set>
                                      <p:cBhvr>
                                        <p:cTn id="158" dur="1" fill="hold">
                                          <p:stCondLst>
                                            <p:cond delay="0"/>
                                          </p:stCondLst>
                                        </p:cTn>
                                        <p:tgtEl>
                                          <p:spTgt spid="1113245"/>
                                        </p:tgtEl>
                                        <p:attrNameLst>
                                          <p:attrName>style.visibility</p:attrName>
                                        </p:attrNameLst>
                                      </p:cBhvr>
                                      <p:to>
                                        <p:strVal val="visible"/>
                                      </p:to>
                                    </p:set>
                                    <p:animEffect transition="in" filter="slide(fromTop)">
                                      <p:cBhvr>
                                        <p:cTn id="159" dur="500"/>
                                        <p:tgtEl>
                                          <p:spTgt spid="1113245"/>
                                        </p:tgtEl>
                                      </p:cBhvr>
                                    </p:animEffect>
                                  </p:childTnLst>
                                </p:cTn>
                              </p:par>
                            </p:childTnLst>
                          </p:cTn>
                        </p:par>
                        <p:par>
                          <p:cTn id="160" fill="hold">
                            <p:stCondLst>
                              <p:cond delay="500"/>
                            </p:stCondLst>
                            <p:childTnLst>
                              <p:par>
                                <p:cTn id="161" presetID="12" presetClass="entr" presetSubtype="1" fill="hold" grpId="0" nodeType="afterEffect">
                                  <p:stCondLst>
                                    <p:cond delay="0"/>
                                  </p:stCondLst>
                                  <p:childTnLst>
                                    <p:set>
                                      <p:cBhvr>
                                        <p:cTn id="162" dur="1" fill="hold">
                                          <p:stCondLst>
                                            <p:cond delay="0"/>
                                          </p:stCondLst>
                                        </p:cTn>
                                        <p:tgtEl>
                                          <p:spTgt spid="1113246"/>
                                        </p:tgtEl>
                                        <p:attrNameLst>
                                          <p:attrName>style.visibility</p:attrName>
                                        </p:attrNameLst>
                                      </p:cBhvr>
                                      <p:to>
                                        <p:strVal val="visible"/>
                                      </p:to>
                                    </p:set>
                                    <p:animEffect transition="in" filter="slide(fromTop)">
                                      <p:cBhvr>
                                        <p:cTn id="163" dur="500"/>
                                        <p:tgtEl>
                                          <p:spTgt spid="1113246"/>
                                        </p:tgtEl>
                                      </p:cBhvr>
                                    </p:animEffect>
                                  </p:childTnLst>
                                </p:cTn>
                              </p:par>
                            </p:childTnLst>
                          </p:cTn>
                        </p:par>
                        <p:par>
                          <p:cTn id="164" fill="hold">
                            <p:stCondLst>
                              <p:cond delay="1000"/>
                            </p:stCondLst>
                            <p:childTnLst>
                              <p:par>
                                <p:cTn id="165" presetID="12" presetClass="entr" presetSubtype="1" fill="hold" grpId="0" nodeType="afterEffect">
                                  <p:stCondLst>
                                    <p:cond delay="0"/>
                                  </p:stCondLst>
                                  <p:childTnLst>
                                    <p:set>
                                      <p:cBhvr>
                                        <p:cTn id="166" dur="1" fill="hold">
                                          <p:stCondLst>
                                            <p:cond delay="0"/>
                                          </p:stCondLst>
                                        </p:cTn>
                                        <p:tgtEl>
                                          <p:spTgt spid="1113256"/>
                                        </p:tgtEl>
                                        <p:attrNameLst>
                                          <p:attrName>style.visibility</p:attrName>
                                        </p:attrNameLst>
                                      </p:cBhvr>
                                      <p:to>
                                        <p:strVal val="visible"/>
                                      </p:to>
                                    </p:set>
                                    <p:animEffect transition="in" filter="slide(fromTop)">
                                      <p:cBhvr>
                                        <p:cTn id="167" dur="500"/>
                                        <p:tgtEl>
                                          <p:spTgt spid="1113256"/>
                                        </p:tgtEl>
                                      </p:cBhvr>
                                    </p:animEffect>
                                  </p:childTnLst>
                                </p:cTn>
                              </p:par>
                            </p:childTnLst>
                          </p:cTn>
                        </p:par>
                      </p:childTnLst>
                    </p:cTn>
                  </p:par>
                  <p:par>
                    <p:cTn id="168" fill="hold">
                      <p:stCondLst>
                        <p:cond delay="indefinite"/>
                      </p:stCondLst>
                      <p:childTnLst>
                        <p:par>
                          <p:cTn id="169" fill="hold">
                            <p:stCondLst>
                              <p:cond delay="0"/>
                            </p:stCondLst>
                            <p:childTnLst>
                              <p:par>
                                <p:cTn id="170" presetID="12" presetClass="entr" presetSubtype="2" fill="hold" grpId="0" nodeType="clickEffect">
                                  <p:stCondLst>
                                    <p:cond delay="0"/>
                                  </p:stCondLst>
                                  <p:childTnLst>
                                    <p:set>
                                      <p:cBhvr>
                                        <p:cTn id="171" dur="1" fill="hold">
                                          <p:stCondLst>
                                            <p:cond delay="0"/>
                                          </p:stCondLst>
                                        </p:cTn>
                                        <p:tgtEl>
                                          <p:spTgt spid="1113248"/>
                                        </p:tgtEl>
                                        <p:attrNameLst>
                                          <p:attrName>style.visibility</p:attrName>
                                        </p:attrNameLst>
                                      </p:cBhvr>
                                      <p:to>
                                        <p:strVal val="visible"/>
                                      </p:to>
                                    </p:set>
                                    <p:animEffect transition="in" filter="slide(fromRight)">
                                      <p:cBhvr>
                                        <p:cTn id="172" dur="500"/>
                                        <p:tgtEl>
                                          <p:spTgt spid="1113248"/>
                                        </p:tgtEl>
                                      </p:cBhvr>
                                    </p:animEffect>
                                  </p:childTnLst>
                                </p:cTn>
                              </p:par>
                            </p:childTnLst>
                          </p:cTn>
                        </p:par>
                        <p:par>
                          <p:cTn id="173" fill="hold">
                            <p:stCondLst>
                              <p:cond delay="500"/>
                            </p:stCondLst>
                            <p:childTnLst>
                              <p:par>
                                <p:cTn id="174" presetID="12" presetClass="entr" presetSubtype="8" fill="hold" grpId="0" nodeType="afterEffect">
                                  <p:stCondLst>
                                    <p:cond delay="0"/>
                                  </p:stCondLst>
                                  <p:childTnLst>
                                    <p:set>
                                      <p:cBhvr>
                                        <p:cTn id="175" dur="1" fill="hold">
                                          <p:stCondLst>
                                            <p:cond delay="0"/>
                                          </p:stCondLst>
                                        </p:cTn>
                                        <p:tgtEl>
                                          <p:spTgt spid="1113247"/>
                                        </p:tgtEl>
                                        <p:attrNameLst>
                                          <p:attrName>style.visibility</p:attrName>
                                        </p:attrNameLst>
                                      </p:cBhvr>
                                      <p:to>
                                        <p:strVal val="visible"/>
                                      </p:to>
                                    </p:set>
                                    <p:animEffect transition="in" filter="slide(fromLeft)">
                                      <p:cBhvr>
                                        <p:cTn id="176" dur="500"/>
                                        <p:tgtEl>
                                          <p:spTgt spid="1113247"/>
                                        </p:tgtEl>
                                      </p:cBhvr>
                                    </p:animEffect>
                                  </p:childTnLst>
                                </p:cTn>
                              </p:par>
                            </p:childTnLst>
                          </p:cTn>
                        </p:par>
                        <p:par>
                          <p:cTn id="177" fill="hold">
                            <p:stCondLst>
                              <p:cond delay="1000"/>
                            </p:stCondLst>
                            <p:childTnLst>
                              <p:par>
                                <p:cTn id="178" presetID="1" presetClass="entr" presetSubtype="0" fill="hold" grpId="0" nodeType="afterEffect">
                                  <p:stCondLst>
                                    <p:cond delay="0"/>
                                  </p:stCondLst>
                                  <p:childTnLst>
                                    <p:set>
                                      <p:cBhvr>
                                        <p:cTn id="179" dur="1" fill="hold">
                                          <p:stCondLst>
                                            <p:cond delay="499"/>
                                          </p:stCondLst>
                                        </p:cTn>
                                        <p:tgtEl>
                                          <p:spTgt spid="1113257"/>
                                        </p:tgtEl>
                                        <p:attrNameLst>
                                          <p:attrName>style.visibility</p:attrName>
                                        </p:attrNameLst>
                                      </p:cBhvr>
                                      <p:to>
                                        <p:strVal val="visible"/>
                                      </p:to>
                                    </p:set>
                                  </p:childTnLst>
                                </p:cTn>
                              </p:par>
                            </p:childTnLst>
                          </p:cTn>
                        </p:par>
                      </p:childTnLst>
                    </p:cTn>
                  </p:par>
                  <p:par>
                    <p:cTn id="180" fill="hold">
                      <p:stCondLst>
                        <p:cond delay="indefinite"/>
                      </p:stCondLst>
                      <p:childTnLst>
                        <p:par>
                          <p:cTn id="181" fill="hold">
                            <p:stCondLst>
                              <p:cond delay="0"/>
                            </p:stCondLst>
                            <p:childTnLst>
                              <p:par>
                                <p:cTn id="182" presetID="12" presetClass="entr" presetSubtype="1" fill="hold" grpId="0" nodeType="clickEffect">
                                  <p:stCondLst>
                                    <p:cond delay="0"/>
                                  </p:stCondLst>
                                  <p:childTnLst>
                                    <p:set>
                                      <p:cBhvr>
                                        <p:cTn id="183" dur="1" fill="hold">
                                          <p:stCondLst>
                                            <p:cond delay="0"/>
                                          </p:stCondLst>
                                        </p:cTn>
                                        <p:tgtEl>
                                          <p:spTgt spid="1113250"/>
                                        </p:tgtEl>
                                        <p:attrNameLst>
                                          <p:attrName>style.visibility</p:attrName>
                                        </p:attrNameLst>
                                      </p:cBhvr>
                                      <p:to>
                                        <p:strVal val="visible"/>
                                      </p:to>
                                    </p:set>
                                    <p:animEffect transition="in" filter="slide(fromTop)">
                                      <p:cBhvr>
                                        <p:cTn id="184" dur="500"/>
                                        <p:tgtEl>
                                          <p:spTgt spid="1113250"/>
                                        </p:tgtEl>
                                      </p:cBhvr>
                                    </p:animEffect>
                                  </p:childTnLst>
                                </p:cTn>
                              </p:par>
                            </p:childTnLst>
                          </p:cTn>
                        </p:par>
                        <p:par>
                          <p:cTn id="185" fill="hold">
                            <p:stCondLst>
                              <p:cond delay="500"/>
                            </p:stCondLst>
                            <p:childTnLst>
                              <p:par>
                                <p:cTn id="186" presetID="12" presetClass="entr" presetSubtype="1" fill="hold" grpId="0" nodeType="afterEffect">
                                  <p:stCondLst>
                                    <p:cond delay="0"/>
                                  </p:stCondLst>
                                  <p:childTnLst>
                                    <p:set>
                                      <p:cBhvr>
                                        <p:cTn id="187" dur="1" fill="hold">
                                          <p:stCondLst>
                                            <p:cond delay="0"/>
                                          </p:stCondLst>
                                        </p:cTn>
                                        <p:tgtEl>
                                          <p:spTgt spid="1113249"/>
                                        </p:tgtEl>
                                        <p:attrNameLst>
                                          <p:attrName>style.visibility</p:attrName>
                                        </p:attrNameLst>
                                      </p:cBhvr>
                                      <p:to>
                                        <p:strVal val="visible"/>
                                      </p:to>
                                    </p:set>
                                    <p:animEffect transition="in" filter="slide(fromTop)">
                                      <p:cBhvr>
                                        <p:cTn id="188" dur="500"/>
                                        <p:tgtEl>
                                          <p:spTgt spid="1113249"/>
                                        </p:tgtEl>
                                      </p:cBhvr>
                                    </p:animEffect>
                                  </p:childTnLst>
                                </p:cTn>
                              </p:par>
                            </p:childTnLst>
                          </p:cTn>
                        </p:par>
                        <p:par>
                          <p:cTn id="189" fill="hold">
                            <p:stCondLst>
                              <p:cond delay="1000"/>
                            </p:stCondLst>
                            <p:childTnLst>
                              <p:par>
                                <p:cTn id="190" presetID="12" presetClass="entr" presetSubtype="1" fill="hold" grpId="0" nodeType="afterEffect">
                                  <p:stCondLst>
                                    <p:cond delay="0"/>
                                  </p:stCondLst>
                                  <p:childTnLst>
                                    <p:set>
                                      <p:cBhvr>
                                        <p:cTn id="191" dur="1" fill="hold">
                                          <p:stCondLst>
                                            <p:cond delay="0"/>
                                          </p:stCondLst>
                                        </p:cTn>
                                        <p:tgtEl>
                                          <p:spTgt spid="1113258"/>
                                        </p:tgtEl>
                                        <p:attrNameLst>
                                          <p:attrName>style.visibility</p:attrName>
                                        </p:attrNameLst>
                                      </p:cBhvr>
                                      <p:to>
                                        <p:strVal val="visible"/>
                                      </p:to>
                                    </p:set>
                                    <p:animEffect transition="in" filter="slide(fromTop)">
                                      <p:cBhvr>
                                        <p:cTn id="192" dur="500"/>
                                        <p:tgtEl>
                                          <p:spTgt spid="1113258"/>
                                        </p:tgtEl>
                                      </p:cBhvr>
                                    </p:animEffect>
                                  </p:childTnLst>
                                </p:cTn>
                              </p:par>
                            </p:childTnLst>
                          </p:cTn>
                        </p:par>
                      </p:childTnLst>
                    </p:cTn>
                  </p:par>
                  <p:par>
                    <p:cTn id="193" fill="hold">
                      <p:stCondLst>
                        <p:cond delay="indefinite"/>
                      </p:stCondLst>
                      <p:childTnLst>
                        <p:par>
                          <p:cTn id="194" fill="hold">
                            <p:stCondLst>
                              <p:cond delay="0"/>
                            </p:stCondLst>
                            <p:childTnLst>
                              <p:par>
                                <p:cTn id="195" presetID="1" presetClass="entr" presetSubtype="0" fill="hold" grpId="0" nodeType="clickEffect">
                                  <p:stCondLst>
                                    <p:cond delay="0"/>
                                  </p:stCondLst>
                                  <p:childTnLst>
                                    <p:set>
                                      <p:cBhvr>
                                        <p:cTn id="196" dur="1" fill="hold">
                                          <p:stCondLst>
                                            <p:cond delay="499"/>
                                          </p:stCondLst>
                                        </p:cTn>
                                        <p:tgtEl>
                                          <p:spTgt spid="1113252"/>
                                        </p:tgtEl>
                                        <p:attrNameLst>
                                          <p:attrName>style.visibility</p:attrName>
                                        </p:attrNameLst>
                                      </p:cBhvr>
                                      <p:to>
                                        <p:strVal val="visible"/>
                                      </p:to>
                                    </p:set>
                                  </p:childTnLst>
                                </p:cTn>
                              </p:par>
                            </p:childTnLst>
                          </p:cTn>
                        </p:par>
                        <p:par>
                          <p:cTn id="197" fill="hold">
                            <p:stCondLst>
                              <p:cond delay="500"/>
                            </p:stCondLst>
                            <p:childTnLst>
                              <p:par>
                                <p:cTn id="198" presetID="1" presetClass="entr" presetSubtype="0" fill="hold" grpId="0" nodeType="afterEffect">
                                  <p:stCondLst>
                                    <p:cond delay="0"/>
                                  </p:stCondLst>
                                  <p:childTnLst>
                                    <p:set>
                                      <p:cBhvr>
                                        <p:cTn id="199" dur="1" fill="hold">
                                          <p:stCondLst>
                                            <p:cond delay="499"/>
                                          </p:stCondLst>
                                        </p:cTn>
                                        <p:tgtEl>
                                          <p:spTgt spid="1113251"/>
                                        </p:tgtEl>
                                        <p:attrNameLst>
                                          <p:attrName>style.visibility</p:attrName>
                                        </p:attrNameLst>
                                      </p:cBhvr>
                                      <p:to>
                                        <p:strVal val="visible"/>
                                      </p:to>
                                    </p:set>
                                  </p:childTnLst>
                                </p:cTn>
                              </p:par>
                            </p:childTnLst>
                          </p:cTn>
                        </p:par>
                        <p:par>
                          <p:cTn id="200" fill="hold">
                            <p:stCondLst>
                              <p:cond delay="1000"/>
                            </p:stCondLst>
                            <p:childTnLst>
                              <p:par>
                                <p:cTn id="201" presetID="1" presetClass="entr" presetSubtype="0" fill="hold" grpId="0" nodeType="afterEffect">
                                  <p:stCondLst>
                                    <p:cond delay="0"/>
                                  </p:stCondLst>
                                  <p:childTnLst>
                                    <p:set>
                                      <p:cBhvr>
                                        <p:cTn id="202" dur="1" fill="hold">
                                          <p:stCondLst>
                                            <p:cond delay="499"/>
                                          </p:stCondLst>
                                        </p:cTn>
                                        <p:tgtEl>
                                          <p:spTgt spid="1113259"/>
                                        </p:tgtEl>
                                        <p:attrNameLst>
                                          <p:attrName>style.visibility</p:attrName>
                                        </p:attrNameLst>
                                      </p:cBhvr>
                                      <p:to>
                                        <p:strVal val="visible"/>
                                      </p:to>
                                    </p:set>
                                  </p:childTnLst>
                                </p:cTn>
                              </p:par>
                            </p:childTnLst>
                          </p:cTn>
                        </p:par>
                      </p:childTnLst>
                    </p:cTn>
                  </p:par>
                  <p:par>
                    <p:cTn id="203" fill="hold">
                      <p:stCondLst>
                        <p:cond delay="indefinite"/>
                      </p:stCondLst>
                      <p:childTnLst>
                        <p:par>
                          <p:cTn id="204" fill="hold">
                            <p:stCondLst>
                              <p:cond delay="0"/>
                            </p:stCondLst>
                            <p:childTnLst>
                              <p:par>
                                <p:cTn id="205" presetID="2" presetClass="entr" presetSubtype="8" fill="hold" grpId="0" nodeType="clickEffect">
                                  <p:stCondLst>
                                    <p:cond delay="0"/>
                                  </p:stCondLst>
                                  <p:childTnLst>
                                    <p:set>
                                      <p:cBhvr>
                                        <p:cTn id="206" dur="1" fill="hold">
                                          <p:stCondLst>
                                            <p:cond delay="0"/>
                                          </p:stCondLst>
                                        </p:cTn>
                                        <p:tgtEl>
                                          <p:spTgt spid="1113220"/>
                                        </p:tgtEl>
                                        <p:attrNameLst>
                                          <p:attrName>style.visibility</p:attrName>
                                        </p:attrNameLst>
                                      </p:cBhvr>
                                      <p:to>
                                        <p:strVal val="visible"/>
                                      </p:to>
                                    </p:set>
                                    <p:anim calcmode="lin" valueType="num">
                                      <p:cBhvr additive="base">
                                        <p:cTn id="207" dur="500" fill="hold"/>
                                        <p:tgtEl>
                                          <p:spTgt spid="1113220"/>
                                        </p:tgtEl>
                                        <p:attrNameLst>
                                          <p:attrName>ppt_x</p:attrName>
                                        </p:attrNameLst>
                                      </p:cBhvr>
                                      <p:tavLst>
                                        <p:tav tm="0">
                                          <p:val>
                                            <p:strVal val="0-#ppt_w/2"/>
                                          </p:val>
                                        </p:tav>
                                        <p:tav tm="100000">
                                          <p:val>
                                            <p:strVal val="#ppt_x"/>
                                          </p:val>
                                        </p:tav>
                                      </p:tavLst>
                                    </p:anim>
                                    <p:anim calcmode="lin" valueType="num">
                                      <p:cBhvr additive="base">
                                        <p:cTn id="208" dur="500" fill="hold"/>
                                        <p:tgtEl>
                                          <p:spTgt spid="1113220"/>
                                        </p:tgtEl>
                                        <p:attrNameLst>
                                          <p:attrName>ppt_y</p:attrName>
                                        </p:attrNameLst>
                                      </p:cBhvr>
                                      <p:tavLst>
                                        <p:tav tm="0">
                                          <p:val>
                                            <p:strVal val="#ppt_y"/>
                                          </p:val>
                                        </p:tav>
                                        <p:tav tm="100000">
                                          <p:val>
                                            <p:strVal val="#ppt_y"/>
                                          </p:val>
                                        </p:tav>
                                      </p:tavLst>
                                    </p:anim>
                                  </p:childTnLst>
                                </p:cTn>
                              </p:par>
                            </p:childTnLst>
                          </p:cTn>
                        </p:par>
                      </p:childTnLst>
                    </p:cTn>
                  </p:par>
                  <p:par>
                    <p:cTn id="209" fill="hold">
                      <p:stCondLst>
                        <p:cond delay="indefinite"/>
                      </p:stCondLst>
                      <p:childTnLst>
                        <p:par>
                          <p:cTn id="210" fill="hold">
                            <p:stCondLst>
                              <p:cond delay="0"/>
                            </p:stCondLst>
                            <p:childTnLst>
                              <p:par>
                                <p:cTn id="211" presetID="12" presetClass="entr" presetSubtype="1" fill="hold" nodeType="clickEffect">
                                  <p:stCondLst>
                                    <p:cond delay="0"/>
                                  </p:stCondLst>
                                  <p:childTnLst>
                                    <p:set>
                                      <p:cBhvr>
                                        <p:cTn id="212" dur="1" fill="hold">
                                          <p:stCondLst>
                                            <p:cond delay="0"/>
                                          </p:stCondLst>
                                        </p:cTn>
                                        <p:tgtEl>
                                          <p:spTgt spid="2"/>
                                        </p:tgtEl>
                                        <p:attrNameLst>
                                          <p:attrName>style.visibility</p:attrName>
                                        </p:attrNameLst>
                                      </p:cBhvr>
                                      <p:to>
                                        <p:strVal val="visible"/>
                                      </p:to>
                                    </p:set>
                                    <p:animEffect transition="in" filter="slide(fromTop)">
                                      <p:cBhvr>
                                        <p:cTn id="213" dur="500"/>
                                        <p:tgtEl>
                                          <p:spTgt spid="2"/>
                                        </p:tgtEl>
                                      </p:cBhvr>
                                    </p:animEffect>
                                  </p:childTnLst>
                                </p:cTn>
                              </p:par>
                            </p:childTnLst>
                          </p:cTn>
                        </p:par>
                      </p:childTnLst>
                    </p:cTn>
                  </p:par>
                  <p:par>
                    <p:cTn id="214" fill="hold">
                      <p:stCondLst>
                        <p:cond delay="indefinite"/>
                      </p:stCondLst>
                      <p:childTnLst>
                        <p:par>
                          <p:cTn id="215" fill="hold">
                            <p:stCondLst>
                              <p:cond delay="0"/>
                            </p:stCondLst>
                            <p:childTnLst>
                              <p:par>
                                <p:cTn id="216" presetID="12" presetClass="entr" presetSubtype="8" fill="hold" grpId="0" nodeType="clickEffect">
                                  <p:stCondLst>
                                    <p:cond delay="0"/>
                                  </p:stCondLst>
                                  <p:childTnLst>
                                    <p:set>
                                      <p:cBhvr>
                                        <p:cTn id="217" dur="1" fill="hold">
                                          <p:stCondLst>
                                            <p:cond delay="0"/>
                                          </p:stCondLst>
                                        </p:cTn>
                                        <p:tgtEl>
                                          <p:spTgt spid="1113273"/>
                                        </p:tgtEl>
                                        <p:attrNameLst>
                                          <p:attrName>style.visibility</p:attrName>
                                        </p:attrNameLst>
                                      </p:cBhvr>
                                      <p:to>
                                        <p:strVal val="visible"/>
                                      </p:to>
                                    </p:set>
                                    <p:animEffect transition="in" filter="slide(fromLeft)">
                                      <p:cBhvr>
                                        <p:cTn id="218" dur="500"/>
                                        <p:tgtEl>
                                          <p:spTgt spid="1113273"/>
                                        </p:tgtEl>
                                      </p:cBhvr>
                                    </p:animEffect>
                                  </p:childTnLst>
                                </p:cTn>
                              </p:par>
                            </p:childTnLst>
                          </p:cTn>
                        </p:par>
                        <p:par>
                          <p:cTn id="219" fill="hold">
                            <p:stCondLst>
                              <p:cond delay="500"/>
                            </p:stCondLst>
                            <p:childTnLst>
                              <p:par>
                                <p:cTn id="220" presetID="12" presetClass="entr" presetSubtype="8" fill="hold" grpId="0" nodeType="afterEffect">
                                  <p:stCondLst>
                                    <p:cond delay="0"/>
                                  </p:stCondLst>
                                  <p:childTnLst>
                                    <p:set>
                                      <p:cBhvr>
                                        <p:cTn id="221" dur="1" fill="hold">
                                          <p:stCondLst>
                                            <p:cond delay="0"/>
                                          </p:stCondLst>
                                        </p:cTn>
                                        <p:tgtEl>
                                          <p:spTgt spid="1113271"/>
                                        </p:tgtEl>
                                        <p:attrNameLst>
                                          <p:attrName>style.visibility</p:attrName>
                                        </p:attrNameLst>
                                      </p:cBhvr>
                                      <p:to>
                                        <p:strVal val="visible"/>
                                      </p:to>
                                    </p:set>
                                    <p:animEffect transition="in" filter="slide(fromLeft)">
                                      <p:cBhvr>
                                        <p:cTn id="222" dur="500"/>
                                        <p:tgtEl>
                                          <p:spTgt spid="1113271"/>
                                        </p:tgtEl>
                                      </p:cBhvr>
                                    </p:animEffect>
                                  </p:childTnLst>
                                </p:cTn>
                              </p:par>
                            </p:childTnLst>
                          </p:cTn>
                        </p:par>
                        <p:par>
                          <p:cTn id="223" fill="hold">
                            <p:stCondLst>
                              <p:cond delay="1000"/>
                            </p:stCondLst>
                            <p:childTnLst>
                              <p:par>
                                <p:cTn id="224" presetID="12" presetClass="entr" presetSubtype="8" fill="hold" grpId="0" nodeType="afterEffect">
                                  <p:stCondLst>
                                    <p:cond delay="0"/>
                                  </p:stCondLst>
                                  <p:childTnLst>
                                    <p:set>
                                      <p:cBhvr>
                                        <p:cTn id="225" dur="1" fill="hold">
                                          <p:stCondLst>
                                            <p:cond delay="0"/>
                                          </p:stCondLst>
                                        </p:cTn>
                                        <p:tgtEl>
                                          <p:spTgt spid="1113272"/>
                                        </p:tgtEl>
                                        <p:attrNameLst>
                                          <p:attrName>style.visibility</p:attrName>
                                        </p:attrNameLst>
                                      </p:cBhvr>
                                      <p:to>
                                        <p:strVal val="visible"/>
                                      </p:to>
                                    </p:set>
                                    <p:animEffect transition="in" filter="slide(fromLeft)">
                                      <p:cBhvr>
                                        <p:cTn id="226" dur="500"/>
                                        <p:tgtEl>
                                          <p:spTgt spid="1113272"/>
                                        </p:tgtEl>
                                      </p:cBhvr>
                                    </p:animEffect>
                                  </p:childTnLst>
                                </p:cTn>
                              </p:par>
                            </p:childTnLst>
                          </p:cTn>
                        </p:par>
                        <p:par>
                          <p:cTn id="227" fill="hold">
                            <p:stCondLst>
                              <p:cond delay="1500"/>
                            </p:stCondLst>
                            <p:childTnLst>
                              <p:par>
                                <p:cTn id="228" presetID="12" presetClass="entr" presetSubtype="8" fill="hold" grpId="0" nodeType="afterEffect">
                                  <p:stCondLst>
                                    <p:cond delay="0"/>
                                  </p:stCondLst>
                                  <p:childTnLst>
                                    <p:set>
                                      <p:cBhvr>
                                        <p:cTn id="229" dur="1" fill="hold">
                                          <p:stCondLst>
                                            <p:cond delay="0"/>
                                          </p:stCondLst>
                                        </p:cTn>
                                        <p:tgtEl>
                                          <p:spTgt spid="1113274"/>
                                        </p:tgtEl>
                                        <p:attrNameLst>
                                          <p:attrName>style.visibility</p:attrName>
                                        </p:attrNameLst>
                                      </p:cBhvr>
                                      <p:to>
                                        <p:strVal val="visible"/>
                                      </p:to>
                                    </p:set>
                                    <p:animEffect transition="in" filter="slide(fromLeft)">
                                      <p:cBhvr>
                                        <p:cTn id="230" dur="500"/>
                                        <p:tgtEl>
                                          <p:spTgt spid="1113274"/>
                                        </p:tgtEl>
                                      </p:cBhvr>
                                    </p:animEffect>
                                  </p:childTnLst>
                                </p:cTn>
                              </p:par>
                            </p:childTnLst>
                          </p:cTn>
                        </p:par>
                        <p:par>
                          <p:cTn id="231" fill="hold">
                            <p:stCondLst>
                              <p:cond delay="2000"/>
                            </p:stCondLst>
                            <p:childTnLst>
                              <p:par>
                                <p:cTn id="232" presetID="12" presetClass="entr" presetSubtype="8" fill="hold" grpId="0" nodeType="afterEffect">
                                  <p:stCondLst>
                                    <p:cond delay="0"/>
                                  </p:stCondLst>
                                  <p:childTnLst>
                                    <p:set>
                                      <p:cBhvr>
                                        <p:cTn id="233" dur="1" fill="hold">
                                          <p:stCondLst>
                                            <p:cond delay="0"/>
                                          </p:stCondLst>
                                        </p:cTn>
                                        <p:tgtEl>
                                          <p:spTgt spid="1113275"/>
                                        </p:tgtEl>
                                        <p:attrNameLst>
                                          <p:attrName>style.visibility</p:attrName>
                                        </p:attrNameLst>
                                      </p:cBhvr>
                                      <p:to>
                                        <p:strVal val="visible"/>
                                      </p:to>
                                    </p:set>
                                    <p:animEffect transition="in" filter="slide(fromLeft)">
                                      <p:cBhvr>
                                        <p:cTn id="234" dur="500"/>
                                        <p:tgtEl>
                                          <p:spTgt spid="1113275"/>
                                        </p:tgtEl>
                                      </p:cBhvr>
                                    </p:animEffect>
                                  </p:childTnLst>
                                </p:cTn>
                              </p:par>
                            </p:childTnLst>
                          </p:cTn>
                        </p:par>
                        <p:par>
                          <p:cTn id="235" fill="hold">
                            <p:stCondLst>
                              <p:cond delay="2500"/>
                            </p:stCondLst>
                            <p:childTnLst>
                              <p:par>
                                <p:cTn id="236" presetID="12" presetClass="entr" presetSubtype="8" fill="hold" grpId="0" nodeType="afterEffect">
                                  <p:stCondLst>
                                    <p:cond delay="0"/>
                                  </p:stCondLst>
                                  <p:childTnLst>
                                    <p:set>
                                      <p:cBhvr>
                                        <p:cTn id="237" dur="1" fill="hold">
                                          <p:stCondLst>
                                            <p:cond delay="0"/>
                                          </p:stCondLst>
                                        </p:cTn>
                                        <p:tgtEl>
                                          <p:spTgt spid="1113276"/>
                                        </p:tgtEl>
                                        <p:attrNameLst>
                                          <p:attrName>style.visibility</p:attrName>
                                        </p:attrNameLst>
                                      </p:cBhvr>
                                      <p:to>
                                        <p:strVal val="visible"/>
                                      </p:to>
                                    </p:set>
                                    <p:animEffect transition="in" filter="slide(fromLeft)">
                                      <p:cBhvr>
                                        <p:cTn id="238" dur="500"/>
                                        <p:tgtEl>
                                          <p:spTgt spid="1113276"/>
                                        </p:tgtEl>
                                      </p:cBhvr>
                                    </p:animEffect>
                                  </p:childTnLst>
                                </p:cTn>
                              </p:par>
                            </p:childTnLst>
                          </p:cTn>
                        </p:par>
                      </p:childTnLst>
                    </p:cTn>
                  </p:par>
                  <p:par>
                    <p:cTn id="239" fill="hold">
                      <p:stCondLst>
                        <p:cond delay="indefinite"/>
                      </p:stCondLst>
                      <p:childTnLst>
                        <p:par>
                          <p:cTn id="240" fill="hold">
                            <p:stCondLst>
                              <p:cond delay="0"/>
                            </p:stCondLst>
                            <p:childTnLst>
                              <p:par>
                                <p:cTn id="241" presetID="15" presetClass="entr" presetSubtype="0" fill="hold" grpId="0" nodeType="clickEffect">
                                  <p:stCondLst>
                                    <p:cond delay="0"/>
                                  </p:stCondLst>
                                  <p:childTnLst>
                                    <p:set>
                                      <p:cBhvr>
                                        <p:cTn id="242" dur="1" fill="hold">
                                          <p:stCondLst>
                                            <p:cond delay="0"/>
                                          </p:stCondLst>
                                        </p:cTn>
                                        <p:tgtEl>
                                          <p:spTgt spid="1113280"/>
                                        </p:tgtEl>
                                        <p:attrNameLst>
                                          <p:attrName>style.visibility</p:attrName>
                                        </p:attrNameLst>
                                      </p:cBhvr>
                                      <p:to>
                                        <p:strVal val="visible"/>
                                      </p:to>
                                    </p:set>
                                    <p:anim calcmode="lin" valueType="num">
                                      <p:cBhvr>
                                        <p:cTn id="243" dur="1000" fill="hold"/>
                                        <p:tgtEl>
                                          <p:spTgt spid="1113280"/>
                                        </p:tgtEl>
                                        <p:attrNameLst>
                                          <p:attrName>ppt_w</p:attrName>
                                        </p:attrNameLst>
                                      </p:cBhvr>
                                      <p:tavLst>
                                        <p:tav tm="0">
                                          <p:val>
                                            <p:fltVal val="0"/>
                                          </p:val>
                                        </p:tav>
                                        <p:tav tm="100000">
                                          <p:val>
                                            <p:strVal val="#ppt_w"/>
                                          </p:val>
                                        </p:tav>
                                      </p:tavLst>
                                    </p:anim>
                                    <p:anim calcmode="lin" valueType="num">
                                      <p:cBhvr>
                                        <p:cTn id="244" dur="1000" fill="hold"/>
                                        <p:tgtEl>
                                          <p:spTgt spid="1113280"/>
                                        </p:tgtEl>
                                        <p:attrNameLst>
                                          <p:attrName>ppt_h</p:attrName>
                                        </p:attrNameLst>
                                      </p:cBhvr>
                                      <p:tavLst>
                                        <p:tav tm="0">
                                          <p:val>
                                            <p:fltVal val="0"/>
                                          </p:val>
                                        </p:tav>
                                        <p:tav tm="100000">
                                          <p:val>
                                            <p:strVal val="#ppt_h"/>
                                          </p:val>
                                        </p:tav>
                                      </p:tavLst>
                                    </p:anim>
                                    <p:anim calcmode="lin" valueType="num">
                                      <p:cBhvr>
                                        <p:cTn id="245" dur="1000" fill="hold"/>
                                        <p:tgtEl>
                                          <p:spTgt spid="1113280"/>
                                        </p:tgtEl>
                                        <p:attrNameLst>
                                          <p:attrName>ppt_x</p:attrName>
                                        </p:attrNameLst>
                                      </p:cBhvr>
                                      <p:tavLst>
                                        <p:tav tm="0" fmla="#ppt_x+(cos(-2*pi*(1-$))*-#ppt_x-sin(-2*pi*(1-$))*(1-#ppt_y))*(1-$)">
                                          <p:val>
                                            <p:fltVal val="0"/>
                                          </p:val>
                                        </p:tav>
                                        <p:tav tm="100000">
                                          <p:val>
                                            <p:fltVal val="1"/>
                                          </p:val>
                                        </p:tav>
                                      </p:tavLst>
                                    </p:anim>
                                    <p:anim calcmode="lin" valueType="num">
                                      <p:cBhvr>
                                        <p:cTn id="246" dur="1000" fill="hold"/>
                                        <p:tgtEl>
                                          <p:spTgt spid="111328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3092" grpId="0" animBg="1"/>
      <p:bldP spid="1113217" grpId="0"/>
      <p:bldP spid="1113218" grpId="0"/>
      <p:bldP spid="1113219" grpId="0"/>
      <p:bldP spid="1113220" grpId="0"/>
      <p:bldP spid="1113221" grpId="0" animBg="1"/>
      <p:bldP spid="1113222" grpId="0" animBg="1"/>
      <p:bldP spid="1113223" grpId="0" animBg="1"/>
      <p:bldP spid="1113224" grpId="0" animBg="1"/>
      <p:bldP spid="1113225" grpId="0" animBg="1"/>
      <p:bldP spid="1113226" grpId="0" animBg="1"/>
      <p:bldP spid="1113227" grpId="0" animBg="1"/>
      <p:bldP spid="1113228" grpId="0" animBg="1"/>
      <p:bldP spid="1113229" grpId="0" animBg="1"/>
      <p:bldP spid="1113230" grpId="0" animBg="1"/>
      <p:bldP spid="1113231" grpId="0" animBg="1"/>
      <p:bldP spid="1113232" grpId="0" animBg="1"/>
      <p:bldP spid="1113233" grpId="0" animBg="1"/>
      <p:bldP spid="1113234" grpId="0" animBg="1"/>
      <p:bldP spid="1113235" grpId="0" animBg="1"/>
      <p:bldP spid="1113236" grpId="0" animBg="1"/>
      <p:bldP spid="1113237" grpId="0" animBg="1"/>
      <p:bldP spid="1113238" grpId="0" animBg="1"/>
      <p:bldP spid="1113239" grpId="0" animBg="1"/>
      <p:bldP spid="1113240" grpId="0" animBg="1"/>
      <p:bldP spid="1113241" grpId="0" animBg="1"/>
      <p:bldP spid="1113242" grpId="0" animBg="1"/>
      <p:bldP spid="1113243" grpId="0" animBg="1"/>
      <p:bldP spid="1113244" grpId="0" animBg="1"/>
      <p:bldP spid="1113245" grpId="0" animBg="1"/>
      <p:bldP spid="1113246" grpId="0" animBg="1"/>
      <p:bldP spid="1113247" grpId="0" animBg="1"/>
      <p:bldP spid="1113248" grpId="0" animBg="1"/>
      <p:bldP spid="1113249" grpId="0" animBg="1"/>
      <p:bldP spid="1113250" grpId="0" animBg="1"/>
      <p:bldP spid="1113251" grpId="0" animBg="1"/>
      <p:bldP spid="1113252" grpId="0" animBg="1"/>
      <p:bldP spid="1113253" grpId="0" animBg="1"/>
      <p:bldP spid="1113254" grpId="0" animBg="1"/>
      <p:bldP spid="1113255" grpId="0" animBg="1"/>
      <p:bldP spid="1113256" grpId="0" animBg="1"/>
      <p:bldP spid="1113257" grpId="0" animBg="1"/>
      <p:bldP spid="1113258" grpId="0" animBg="1"/>
      <p:bldP spid="1113259" grpId="0" animBg="1"/>
      <p:bldP spid="1113271" grpId="0" animBg="1"/>
      <p:bldP spid="1113272" grpId="0" animBg="1"/>
      <p:bldP spid="1113273" grpId="0" animBg="1"/>
      <p:bldP spid="1113274" grpId="0" animBg="1"/>
      <p:bldP spid="1113275" grpId="0" animBg="1"/>
      <p:bldP spid="1113276" grpId="0" animBg="1"/>
      <p:bldP spid="1113278" grpId="0"/>
      <p:bldP spid="1113280"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2093913"/>
            <a:ext cx="9144000" cy="3998912"/>
          </a:xfrm>
          <a:prstGeom prst="rect">
            <a:avLst/>
          </a:prstGeom>
          <a:solidFill>
            <a:srgbClr val="CCCCFF"/>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119236" name="Rectangle 4"/>
          <p:cNvSpPr>
            <a:spLocks noChangeArrowheads="1"/>
          </p:cNvSpPr>
          <p:nvPr/>
        </p:nvSpPr>
        <p:spPr bwMode="auto">
          <a:xfrm>
            <a:off x="254000" y="2093913"/>
            <a:ext cx="8153400" cy="37258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ShellSort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SqList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&amp;L</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int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dlta</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int </a:t>
            </a:r>
            <a:r>
              <a:rPr kumimoji="0" lang="en-US" altLang="zh-CN" sz="2800" b="0" i="0" u="none" strike="noStrike" kern="1200" cap="none" spc="0" normalizeH="0" baseline="0" noProof="0" dirty="0">
                <a:ln>
                  <a:noFill/>
                </a:ln>
                <a:solidFill>
                  <a:schemeClr val="tx2"/>
                </a:solidFill>
                <a:effectLst/>
                <a:uLnTx/>
                <a:uFillTx/>
                <a:latin typeface="+mn-lt"/>
                <a:ea typeface="+mn-ea"/>
                <a:cs typeface="+mn-ea"/>
                <a:sym typeface="+mn-lt"/>
              </a:rPr>
              <a:t>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按增量序列</a:t>
            </a:r>
            <a:r>
              <a:rPr kumimoji="0" lang="en-US" altLang="zh-CN" sz="2800" b="0" i="0" u="none" strike="noStrike" kern="1200" cap="none" spc="0" normalizeH="0" baseline="0" noProof="0" dirty="0" err="1">
                <a:ln>
                  <a:noFill/>
                </a:ln>
                <a:solidFill>
                  <a:srgbClr val="FF0000"/>
                </a:solidFill>
                <a:effectLst/>
                <a:uLnTx/>
                <a:uFillTx/>
                <a:latin typeface="+mn-lt"/>
                <a:ea typeface="+mn-ea"/>
                <a:cs typeface="+mn-ea"/>
                <a:sym typeface="+mn-lt"/>
              </a:rPr>
              <a:t>dlta</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[0…t-1]</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对顺序表</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L</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作</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Shell</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排序</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for(k=0</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k&lt;</a:t>
            </a:r>
            <a:r>
              <a:rPr kumimoji="0" lang="en-US" altLang="zh-CN" sz="2800" b="0" i="0" u="none" strike="noStrike" kern="1200" cap="none" spc="0" normalizeH="0" baseline="0" noProof="0" dirty="0">
                <a:ln>
                  <a:noFill/>
                </a:ln>
                <a:solidFill>
                  <a:schemeClr val="tx2"/>
                </a:solidFill>
                <a:effectLst/>
                <a:uLnTx/>
                <a:uFillTx/>
                <a:latin typeface="+mn-lt"/>
                <a:ea typeface="+mn-ea"/>
                <a:cs typeface="+mn-ea"/>
                <a:sym typeface="+mn-lt"/>
              </a:rPr>
              <a:t>t</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++k)</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ShellInsert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(L</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dlta</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[k])</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增量为</a:t>
            </a:r>
            <a:r>
              <a:rPr kumimoji="0" lang="en-US" altLang="zh-CN" sz="2800" b="0" i="0" u="none" strike="noStrike" kern="1200" cap="none" spc="0" normalizeH="0" baseline="0" noProof="0" dirty="0" err="1">
                <a:ln>
                  <a:noFill/>
                </a:ln>
                <a:solidFill>
                  <a:srgbClr val="FF0000"/>
                </a:solidFill>
                <a:effectLst/>
                <a:uLnTx/>
                <a:uFillTx/>
                <a:latin typeface="+mn-lt"/>
                <a:ea typeface="+mn-ea"/>
                <a:cs typeface="+mn-ea"/>
                <a:sym typeface="+mn-lt"/>
              </a:rPr>
              <a:t>dlta</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[k]</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的一趟插入排序</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800" b="0" i="0" u="none" strike="noStrike" kern="1200" cap="none" spc="0" normalizeH="0" baseline="0" noProof="0" dirty="0" err="1">
                <a:ln>
                  <a:noFill/>
                </a:ln>
                <a:solidFill>
                  <a:srgbClr val="FF0000"/>
                </a:solidFill>
                <a:effectLst/>
                <a:uLnTx/>
                <a:uFillTx/>
                <a:latin typeface="+mn-lt"/>
                <a:ea typeface="+mn-ea"/>
                <a:cs typeface="+mn-ea"/>
                <a:sym typeface="+mn-lt"/>
              </a:rPr>
              <a:t>ShellSort</a:t>
            </a:r>
            <a:endPar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1119240" name="Rectangle 8"/>
          <p:cNvSpPr>
            <a:spLocks noChangeArrowheads="1"/>
          </p:cNvSpPr>
          <p:nvPr/>
        </p:nvSpPr>
        <p:spPr bwMode="auto">
          <a:xfrm>
            <a:off x="900113" y="203200"/>
            <a:ext cx="6443663" cy="519113"/>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希尔排序算法（主程序）</a:t>
            </a:r>
          </a:p>
        </p:txBody>
      </p:sp>
      <p:sp>
        <p:nvSpPr>
          <p:cNvPr id="1119244" name="AutoShape 12"/>
          <p:cNvSpPr>
            <a:spLocks noChangeArrowheads="1"/>
          </p:cNvSpPr>
          <p:nvPr/>
        </p:nvSpPr>
        <p:spPr bwMode="auto">
          <a:xfrm>
            <a:off x="5461000" y="1255713"/>
            <a:ext cx="3533775" cy="558800"/>
          </a:xfrm>
          <a:prstGeom prst="wedgeRoundRectCallout">
            <a:avLst>
              <a:gd name="adj1" fmla="val -61681"/>
              <a:gd name="adj2" fmla="val 134657"/>
              <a:gd name="adj3" fmla="val 16667"/>
            </a:avLst>
          </a:prstGeom>
          <a:solidFill>
            <a:schemeClr val="accent1">
              <a:lumMod val="60000"/>
              <a:lumOff val="40000"/>
            </a:schemeClr>
          </a:solidFill>
          <a:ln w="9525">
            <a:noFill/>
            <a:miter lim="800000"/>
          </a:ln>
        </p:spPr>
        <p:txBody>
          <a:bodyPr lIns="0" rIns="0"/>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dk</a:t>
            </a:r>
            <a:r>
              <a:rPr kumimoji="0" lang="zh-CN" altLang="en-US" sz="2400" b="0" i="0" u="none" strike="noStrike" kern="1200" cap="none" spc="0" normalizeH="0" baseline="0" noProof="0">
                <a:ln>
                  <a:noFill/>
                </a:ln>
                <a:solidFill>
                  <a:schemeClr val="bg1"/>
                </a:solidFill>
                <a:effectLst/>
                <a:uLnTx/>
                <a:uFillTx/>
                <a:latin typeface="+mn-lt"/>
                <a:ea typeface="+mn-ea"/>
                <a:cs typeface="+mn-ea"/>
                <a:sym typeface="+mn-lt"/>
              </a:rPr>
              <a:t>值依次装在</a:t>
            </a: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dlta[t]</a:t>
            </a:r>
            <a:r>
              <a:rPr kumimoji="0" lang="zh-CN" altLang="en-US" sz="2400" b="0" i="0" u="none" strike="noStrike" kern="1200" cap="none" spc="0" normalizeH="0" baseline="0" noProof="0">
                <a:ln>
                  <a:noFill/>
                </a:ln>
                <a:solidFill>
                  <a:schemeClr val="bg1"/>
                </a:solidFill>
                <a:effectLst/>
                <a:uLnTx/>
                <a:uFillTx/>
                <a:latin typeface="+mn-lt"/>
                <a:ea typeface="+mn-ea"/>
                <a:cs typeface="+mn-ea"/>
                <a:sym typeface="+mn-lt"/>
              </a:rPr>
              <a:t>中</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11924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119236"/>
                                        </p:tgtEl>
                                        <p:attrNameLst>
                                          <p:attrName>style.visibility</p:attrName>
                                        </p:attrNameLst>
                                      </p:cBhvr>
                                      <p:to>
                                        <p:strVal val="visible"/>
                                      </p:to>
                                    </p:set>
                                    <p:animEffect transition="in" filter="wipe(up)">
                                      <p:cBhvr>
                                        <p:cTn id="17" dur="500"/>
                                        <p:tgtEl>
                                          <p:spTgt spid="1119236"/>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2" fill="hold" grpId="0" nodeType="clickEffect">
                                  <p:stCondLst>
                                    <p:cond delay="0"/>
                                  </p:stCondLst>
                                  <p:childTnLst>
                                    <p:set>
                                      <p:cBhvr>
                                        <p:cTn id="21" dur="1" fill="hold">
                                          <p:stCondLst>
                                            <p:cond delay="0"/>
                                          </p:stCondLst>
                                        </p:cTn>
                                        <p:tgtEl>
                                          <p:spTgt spid="1119244"/>
                                        </p:tgtEl>
                                        <p:attrNameLst>
                                          <p:attrName>style.visibility</p:attrName>
                                        </p:attrNameLst>
                                      </p:cBhvr>
                                      <p:to>
                                        <p:strVal val="visible"/>
                                      </p:to>
                                    </p:set>
                                    <p:anim calcmode="lin" valueType="num">
                                      <p:cBhvr additive="base">
                                        <p:cTn id="22" dur="500" fill="hold"/>
                                        <p:tgtEl>
                                          <p:spTgt spid="1119244"/>
                                        </p:tgtEl>
                                        <p:attrNameLst>
                                          <p:attrName>ppt_x</p:attrName>
                                        </p:attrNameLst>
                                      </p:cBhvr>
                                      <p:tavLst>
                                        <p:tav tm="0">
                                          <p:val>
                                            <p:strVal val="1+#ppt_w/2"/>
                                          </p:val>
                                        </p:tav>
                                        <p:tav tm="100000">
                                          <p:val>
                                            <p:strVal val="#ppt_x"/>
                                          </p:val>
                                        </p:tav>
                                      </p:tavLst>
                                    </p:anim>
                                    <p:anim calcmode="lin" valueType="num">
                                      <p:cBhvr additive="base">
                                        <p:cTn id="23" dur="500" fill="hold"/>
                                        <p:tgtEl>
                                          <p:spTgt spid="11192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19236" grpId="0"/>
      <p:bldP spid="1119240" grpId="0" animBg="1"/>
      <p:bldP spid="1119244"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68" name="Rectangle 8"/>
          <p:cNvSpPr>
            <a:spLocks noChangeArrowheads="1"/>
          </p:cNvSpPr>
          <p:nvPr/>
        </p:nvSpPr>
        <p:spPr bwMode="auto">
          <a:xfrm>
            <a:off x="0" y="1125538"/>
            <a:ext cx="9144000" cy="5446713"/>
          </a:xfrm>
          <a:prstGeom prst="rect">
            <a:avLst/>
          </a:prstGeom>
          <a:solidFill>
            <a:srgbClr val="CCCCFF"/>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ShellInsert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SqList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&amp;L</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int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2"/>
                </a:solidFill>
                <a:effectLst/>
                <a:uLnTx/>
                <a:uFillTx/>
                <a:latin typeface="+mn-lt"/>
                <a:ea typeface="+mn-ea"/>
                <a:cs typeface="+mn-ea"/>
                <a:sym typeface="+mn-lt"/>
              </a:rPr>
              <a:t>dk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p>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FF"/>
                </a:solidFill>
                <a:effectLst/>
                <a:uLnTx/>
                <a:uFillTx/>
                <a:latin typeface="+mn-lt"/>
                <a:ea typeface="+mn-ea"/>
                <a:cs typeface="+mn-ea"/>
                <a:sym typeface="+mn-lt"/>
              </a:rPr>
              <a:t>      </a:t>
            </a:r>
            <a:endParaRPr kumimoji="0" lang="en-US" altLang="zh-CN" sz="2400" b="0" i="0" u="none" strike="noStrike" kern="1200" cap="none" spc="0" normalizeH="0" baseline="0" noProof="0" dirty="0">
              <a:ln>
                <a:noFill/>
              </a:ln>
              <a:solidFill>
                <a:srgbClr val="008000"/>
              </a:solidFill>
              <a:effectLst/>
              <a:uLnTx/>
              <a:uFillTx/>
              <a:latin typeface="+mn-lt"/>
              <a:ea typeface="+mn-ea"/>
              <a:cs typeface="+mn-ea"/>
              <a:sym typeface="+mn-lt"/>
            </a:endParaRPr>
          </a:p>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for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=dk+1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L.length</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if(r[</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].key </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&lt;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i-dk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].key) </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endParaRPr kumimoji="0" lang="en-US" altLang="zh-CN" sz="2400" b="0" i="0" u="none" strike="noStrike" kern="1200" cap="none" spc="0" normalizeH="0" baseline="0" noProof="0" dirty="0">
              <a:ln>
                <a:noFill/>
              </a:ln>
              <a:solidFill>
                <a:srgbClr val="008000"/>
              </a:solidFill>
              <a:effectLst/>
              <a:uLnTx/>
              <a:uFillTx/>
              <a:latin typeface="+mn-lt"/>
              <a:ea typeface="+mn-ea"/>
              <a:cs typeface="+mn-ea"/>
              <a:sym typeface="+mn-lt"/>
            </a:endParaRPr>
          </a:p>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r[0]=r[</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endParaRPr kumimoji="0" lang="zh-CN" altLang="en-US" sz="2400" b="0" i="0" u="none" strike="noStrike" kern="1200" cap="none" spc="0" normalizeH="0" baseline="0" noProof="0" dirty="0">
              <a:ln>
                <a:noFill/>
              </a:ln>
              <a:solidFill>
                <a:srgbClr val="0000FF"/>
              </a:solidFill>
              <a:effectLst/>
              <a:uLnTx/>
              <a:uFillTx/>
              <a:latin typeface="+mn-lt"/>
              <a:ea typeface="+mn-ea"/>
              <a:cs typeface="+mn-ea"/>
              <a:sym typeface="+mn-lt"/>
            </a:endParaRPr>
          </a:p>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0000FF"/>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for(j=</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i-dk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j&gt;0 &amp;&amp;(r[0].key</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&lt;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r[j].key); j=j-</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dk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lang="en-US" altLang="zh-CN" sz="2400" b="0" dirty="0">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r[</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j+dk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]=r[j]</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endParaRPr kumimoji="0" lang="zh-CN" altLang="en-US" sz="2400" b="0" i="0" u="none" strike="noStrike" kern="1200" cap="none" spc="0" normalizeH="0" baseline="0" noProof="0" dirty="0">
              <a:ln>
                <a:noFill/>
              </a:ln>
              <a:solidFill>
                <a:srgbClr val="008000"/>
              </a:solidFill>
              <a:effectLst/>
              <a:uLnTx/>
              <a:uFillTx/>
              <a:latin typeface="+mn-lt"/>
              <a:ea typeface="+mn-ea"/>
              <a:cs typeface="+mn-ea"/>
              <a:sym typeface="+mn-lt"/>
            </a:endParaRPr>
          </a:p>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j+dk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endParaRPr kumimoji="0" lang="zh-CN" altLang="en-US" sz="2400" b="0" i="0" u="none" strike="noStrike" kern="1200" cap="none" spc="0" normalizeH="0" baseline="0" noProof="0" dirty="0">
              <a:ln>
                <a:noFill/>
              </a:ln>
              <a:solidFill>
                <a:srgbClr val="008000"/>
              </a:solidFill>
              <a:effectLst/>
              <a:uLnTx/>
              <a:uFillTx/>
              <a:latin typeface="+mn-lt"/>
              <a:ea typeface="+mn-ea"/>
              <a:cs typeface="+mn-ea"/>
              <a:sym typeface="+mn-lt"/>
            </a:endParaRPr>
          </a:p>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FF"/>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a:t>
            </a:r>
          </a:p>
          <a:p>
            <a:pPr marL="720090" marR="0" lvl="0" indent="0" algn="just"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p>
        </p:txBody>
      </p:sp>
      <p:sp>
        <p:nvSpPr>
          <p:cNvPr id="1116172" name="Rectangle 12"/>
          <p:cNvSpPr>
            <a:spLocks noChangeArrowheads="1"/>
          </p:cNvSpPr>
          <p:nvPr/>
        </p:nvSpPr>
        <p:spPr bwMode="auto">
          <a:xfrm>
            <a:off x="838200" y="1735138"/>
            <a:ext cx="8005763"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对顺序表</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进行一趟增量为</a:t>
            </a:r>
            <a:r>
              <a:rPr kumimoji="0" lang="en-US" altLang="zh-CN" sz="2400" b="0" i="0" u="none" strike="noStrike" kern="1200" cap="none" spc="0" normalizeH="0" baseline="0" noProof="0" dirty="0" err="1">
                <a:ln>
                  <a:noFill/>
                </a:ln>
                <a:solidFill>
                  <a:srgbClr val="FF0000"/>
                </a:solidFill>
                <a:effectLst/>
                <a:uLnTx/>
                <a:uFillTx/>
                <a:latin typeface="+mn-lt"/>
                <a:ea typeface="+mn-ea"/>
                <a:cs typeface="+mn-ea"/>
                <a:sym typeface="+mn-lt"/>
              </a:rPr>
              <a:t>dk</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Shell</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排序，</a:t>
            </a:r>
            <a:r>
              <a:rPr kumimoji="0" lang="en-US" altLang="zh-CN" sz="2400" b="0" i="0" u="none" strike="noStrike" kern="1200" cap="none" spc="0" normalizeH="0" baseline="0" noProof="0" dirty="0" err="1">
                <a:ln>
                  <a:noFill/>
                </a:ln>
                <a:solidFill>
                  <a:srgbClr val="FF0000"/>
                </a:solidFill>
                <a:effectLst/>
                <a:uLnTx/>
                <a:uFillTx/>
                <a:latin typeface="+mn-lt"/>
                <a:ea typeface="+mn-ea"/>
                <a:cs typeface="+mn-ea"/>
                <a:sym typeface="+mn-lt"/>
              </a:rPr>
              <a:t>dk</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为步长因子</a:t>
            </a:r>
          </a:p>
        </p:txBody>
      </p:sp>
      <p:sp>
        <p:nvSpPr>
          <p:cNvPr id="1116173" name="Rectangle 13"/>
          <p:cNvSpPr>
            <a:spLocks noChangeArrowheads="1"/>
          </p:cNvSpPr>
          <p:nvPr/>
        </p:nvSpPr>
        <p:spPr bwMode="auto">
          <a:xfrm>
            <a:off x="4914900" y="2232025"/>
            <a:ext cx="4221163"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开始将</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插入有序增量子表</a:t>
            </a:r>
          </a:p>
        </p:txBody>
      </p:sp>
      <p:sp>
        <p:nvSpPr>
          <p:cNvPr id="1116174" name="Rectangle 14"/>
          <p:cNvSpPr>
            <a:spLocks noChangeArrowheads="1"/>
          </p:cNvSpPr>
          <p:nvPr/>
        </p:nvSpPr>
        <p:spPr bwMode="auto">
          <a:xfrm>
            <a:off x="3505200" y="3335338"/>
            <a:ext cx="1762125"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暂存在</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r[0]</a:t>
            </a:r>
          </a:p>
        </p:txBody>
      </p:sp>
      <p:sp>
        <p:nvSpPr>
          <p:cNvPr id="1116175" name="Rectangle 15"/>
          <p:cNvSpPr>
            <a:spLocks noChangeArrowheads="1"/>
          </p:cNvSpPr>
          <p:nvPr/>
        </p:nvSpPr>
        <p:spPr bwMode="auto">
          <a:xfrm>
            <a:off x="3276600" y="4402138"/>
            <a:ext cx="4641850"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关键字较大的记录在子表中后移</a:t>
            </a:r>
          </a:p>
        </p:txBody>
      </p:sp>
      <p:sp>
        <p:nvSpPr>
          <p:cNvPr id="1116176" name="Rectangle 16"/>
          <p:cNvSpPr>
            <a:spLocks noChangeArrowheads="1"/>
          </p:cNvSpPr>
          <p:nvPr/>
        </p:nvSpPr>
        <p:spPr bwMode="auto">
          <a:xfrm>
            <a:off x="3276600" y="4935538"/>
            <a:ext cx="5064125"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在本趟结束时将</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r[i]</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插入到正确位置</a:t>
            </a:r>
          </a:p>
        </p:txBody>
      </p:sp>
      <p:sp>
        <p:nvSpPr>
          <p:cNvPr id="1116177" name="Rectangle 17"/>
          <p:cNvSpPr>
            <a:spLocks noChangeArrowheads="1"/>
          </p:cNvSpPr>
          <p:nvPr/>
        </p:nvSpPr>
        <p:spPr bwMode="auto">
          <a:xfrm>
            <a:off x="838200" y="192088"/>
            <a:ext cx="8843963" cy="519113"/>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希尔排序算法（其中某一趟的排序操作）</a:t>
            </a:r>
          </a:p>
        </p:txBody>
      </p:sp>
      <p:sp>
        <p:nvSpPr>
          <p:cNvPr id="52233" name="矩形 1"/>
          <p:cNvSpPr/>
          <p:nvPr/>
        </p:nvSpPr>
        <p:spPr>
          <a:xfrm>
            <a:off x="5435600" y="5818188"/>
            <a:ext cx="3708400" cy="46037"/>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52234" name="矩形 10"/>
          <p:cNvSpPr/>
          <p:nvPr/>
        </p:nvSpPr>
        <p:spPr>
          <a:xfrm>
            <a:off x="3995738" y="6227763"/>
            <a:ext cx="5148262" cy="49212"/>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116168"/>
                                        </p:tgtEl>
                                        <p:attrNameLst>
                                          <p:attrName>style.visibility</p:attrName>
                                        </p:attrNameLst>
                                      </p:cBhvr>
                                      <p:to>
                                        <p:strVal val="visible"/>
                                      </p:to>
                                    </p:set>
                                    <p:animEffect transition="in" filter="wipe(up)">
                                      <p:cBhvr>
                                        <p:cTn id="7" dur="500"/>
                                        <p:tgtEl>
                                          <p:spTgt spid="1116168"/>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1116172"/>
                                        </p:tgtEl>
                                        <p:attrNameLst>
                                          <p:attrName>style.visibility</p:attrName>
                                        </p:attrNameLst>
                                      </p:cBhvr>
                                      <p:to>
                                        <p:strVal val="visible"/>
                                      </p:to>
                                    </p:set>
                                    <p:animEffect transition="in" filter="strips(downRight)">
                                      <p:cBhvr>
                                        <p:cTn id="12" dur="500"/>
                                        <p:tgtEl>
                                          <p:spTgt spid="1116172"/>
                                        </p:tgtEl>
                                      </p:cBhvr>
                                    </p:animEffect>
                                  </p:childTnLst>
                                </p:cTn>
                              </p:par>
                            </p:childTnLst>
                          </p:cTn>
                        </p:par>
                      </p:childTnLst>
                    </p:cTn>
                  </p:par>
                  <p:par>
                    <p:cTn id="13" fill="hold">
                      <p:stCondLst>
                        <p:cond delay="indefinite"/>
                      </p:stCondLst>
                      <p:childTnLst>
                        <p:par>
                          <p:cTn id="14" fill="hold">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1116173"/>
                                        </p:tgtEl>
                                        <p:attrNameLst>
                                          <p:attrName>style.visibility</p:attrName>
                                        </p:attrNameLst>
                                      </p:cBhvr>
                                      <p:to>
                                        <p:strVal val="visible"/>
                                      </p:to>
                                    </p:set>
                                    <p:animEffect transition="in" filter="strips(downRight)">
                                      <p:cBhvr>
                                        <p:cTn id="17" dur="500"/>
                                        <p:tgtEl>
                                          <p:spTgt spid="1116173"/>
                                        </p:tgtEl>
                                      </p:cBhvr>
                                    </p:animEffect>
                                  </p:childTnLst>
                                </p:cTn>
                              </p:par>
                            </p:childTnLst>
                          </p:cTn>
                        </p:par>
                      </p:childTnLst>
                    </p:cTn>
                  </p:par>
                  <p:par>
                    <p:cTn id="18" fill="hold">
                      <p:stCondLst>
                        <p:cond delay="indefinite"/>
                      </p:stCondLst>
                      <p:childTnLst>
                        <p:par>
                          <p:cTn id="19" fill="hold">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1116174"/>
                                        </p:tgtEl>
                                        <p:attrNameLst>
                                          <p:attrName>style.visibility</p:attrName>
                                        </p:attrNameLst>
                                      </p:cBhvr>
                                      <p:to>
                                        <p:strVal val="visible"/>
                                      </p:to>
                                    </p:set>
                                    <p:animEffect transition="in" filter="strips(downRight)">
                                      <p:cBhvr>
                                        <p:cTn id="22" dur="500"/>
                                        <p:tgtEl>
                                          <p:spTgt spid="1116174"/>
                                        </p:tgtEl>
                                      </p:cBhvr>
                                    </p:animEffect>
                                  </p:childTnLst>
                                </p:cTn>
                              </p:par>
                            </p:childTnLst>
                          </p:cTn>
                        </p:par>
                      </p:childTnLst>
                    </p:cTn>
                  </p:par>
                  <p:par>
                    <p:cTn id="23" fill="hold">
                      <p:stCondLst>
                        <p:cond delay="indefinite"/>
                      </p:stCondLst>
                      <p:childTnLst>
                        <p:par>
                          <p:cTn id="24" fill="hold">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1116175"/>
                                        </p:tgtEl>
                                        <p:attrNameLst>
                                          <p:attrName>style.visibility</p:attrName>
                                        </p:attrNameLst>
                                      </p:cBhvr>
                                      <p:to>
                                        <p:strVal val="visible"/>
                                      </p:to>
                                    </p:set>
                                    <p:animEffect transition="in" filter="strips(downRight)">
                                      <p:cBhvr>
                                        <p:cTn id="27" dur="500"/>
                                        <p:tgtEl>
                                          <p:spTgt spid="1116175"/>
                                        </p:tgtEl>
                                      </p:cBhvr>
                                    </p:animEffect>
                                  </p:childTnLst>
                                </p:cTn>
                              </p:par>
                            </p:childTnLst>
                          </p:cTn>
                        </p:par>
                      </p:childTnLst>
                    </p:cTn>
                  </p:par>
                  <p:par>
                    <p:cTn id="28" fill="hold">
                      <p:stCondLst>
                        <p:cond delay="indefinite"/>
                      </p:stCondLst>
                      <p:childTnLst>
                        <p:par>
                          <p:cTn id="29" fill="hold">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1116176"/>
                                        </p:tgtEl>
                                        <p:attrNameLst>
                                          <p:attrName>style.visibility</p:attrName>
                                        </p:attrNameLst>
                                      </p:cBhvr>
                                      <p:to>
                                        <p:strVal val="visible"/>
                                      </p:to>
                                    </p:set>
                                    <p:animEffect transition="in" filter="strips(downRight)">
                                      <p:cBhvr>
                                        <p:cTn id="32" dur="500"/>
                                        <p:tgtEl>
                                          <p:spTgt spid="1116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6168" grpId="0" animBg="1"/>
      <p:bldP spid="1116172" grpId="0"/>
      <p:bldP spid="1116173" grpId="0"/>
      <p:bldP spid="1116174" grpId="0"/>
      <p:bldP spid="1116175" grpId="0"/>
      <p:bldP spid="1116176"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p:cNvSpPr>
            <a:spLocks noChangeArrowheads="1"/>
          </p:cNvSpPr>
          <p:nvPr/>
        </p:nvSpPr>
        <p:spPr bwMode="auto">
          <a:xfrm>
            <a:off x="395288" y="1628775"/>
            <a:ext cx="8223250" cy="2173288"/>
          </a:xfrm>
          <a:prstGeom prst="rect">
            <a:avLst/>
          </a:prstGeom>
          <a:solidFill>
            <a:srgbClr val="E2D9EB"/>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5000"/>
              </a:lnSpc>
              <a:spcBef>
                <a:spcPct val="5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时间复杂度是</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的函数：</a:t>
            </a:r>
          </a:p>
          <a:p>
            <a:pPr marL="0" marR="0" lvl="0" indent="0" algn="l" defTabSz="914400" rtl="0" eaLnBrk="0" fontAlgn="base" latinLnBrk="0" hangingPunct="0">
              <a:lnSpc>
                <a:spcPct val="105000"/>
              </a:lnSpc>
              <a:spcBef>
                <a:spcPct val="50000"/>
              </a:spcBef>
              <a:spcAft>
                <a:spcPct val="0"/>
              </a:spcAft>
              <a:buClrTx/>
              <a:buSzTx/>
              <a:buFont typeface="Arial" panose="020B0604020202020204" pitchFamily="34" charset="0"/>
              <a:buChar char="•"/>
              <a:defRPr/>
            </a:pP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5000"/>
              </a:lnSpc>
              <a:spcBef>
                <a:spcPct val="5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空间复杂度为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o(</a:t>
            </a:r>
            <a:r>
              <a:rPr kumimoji="0" lang="en-US" altLang="zh-CN" sz="2400" b="0" i="1" u="none" strike="noStrike" kern="1200" cap="none" spc="0" normalizeH="0" baseline="0" noProof="0" dirty="0">
                <a:ln>
                  <a:noFill/>
                </a:ln>
                <a:solidFill>
                  <a:srgbClr val="FF3300"/>
                </a:solidFill>
                <a:effectLst/>
                <a:uLnTx/>
                <a:uFillTx/>
                <a:latin typeface="+mn-lt"/>
                <a:ea typeface="+mn-ea"/>
                <a:cs typeface="+mn-ea"/>
                <a:sym typeface="+mn-lt"/>
              </a:rPr>
              <a:t>1</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p>
          <a:p>
            <a:pPr marL="0" marR="0" lvl="0" indent="0" algn="l" defTabSz="914400" rtl="0" eaLnBrk="0" fontAlgn="base" latinLnBrk="0" hangingPunct="0">
              <a:lnSpc>
                <a:spcPct val="105000"/>
              </a:lnSpc>
              <a:spcBef>
                <a:spcPct val="5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是一种</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不稳定</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的排序方法</a:t>
            </a:r>
          </a:p>
        </p:txBody>
      </p:sp>
      <p:sp>
        <p:nvSpPr>
          <p:cNvPr id="1115144" name="Rectangle 8"/>
          <p:cNvSpPr>
            <a:spLocks noChangeArrowheads="1"/>
          </p:cNvSpPr>
          <p:nvPr/>
        </p:nvSpPr>
        <p:spPr bwMode="auto">
          <a:xfrm>
            <a:off x="900113" y="219075"/>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1115141" name="Rectangle 5"/>
          <p:cNvSpPr>
            <a:spLocks noChangeArrowheads="1"/>
          </p:cNvSpPr>
          <p:nvPr/>
        </p:nvSpPr>
        <p:spPr bwMode="auto">
          <a:xfrm>
            <a:off x="1763713" y="2179638"/>
            <a:ext cx="5832475" cy="523875"/>
          </a:xfrm>
          <a:prstGeom prst="rect">
            <a:avLst/>
          </a:prstGeom>
          <a:noFill/>
          <a:ln w="9525">
            <a:noFill/>
            <a:miter lim="800000"/>
          </a:ln>
          <a:effec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defRPr/>
            </a:pPr>
            <a:r>
              <a:rPr kumimoji="1" lang="en-US" altLang="zh-CN" sz="2800" b="0" i="0" u="none" strike="noStrike" kern="1200" cap="none" spc="0" normalizeH="0" baseline="0" noProof="0" dirty="0">
                <a:ln>
                  <a:noFill/>
                </a:ln>
                <a:solidFill>
                  <a:srgbClr val="FF3300"/>
                </a:solidFill>
                <a:effectLst/>
                <a:uLnTx/>
                <a:uFillTx/>
                <a:latin typeface="+mn-lt"/>
                <a:ea typeface="+mn-ea"/>
                <a:cs typeface="+mn-ea"/>
                <a:sym typeface="+mn-lt"/>
              </a:rPr>
              <a:t>O(</a:t>
            </a:r>
            <a:r>
              <a:rPr kumimoji="1" lang="en-US" altLang="zh-CN" sz="2800" b="0" i="1" u="none" strike="noStrike" kern="1200" cap="none" spc="0" normalizeH="0" baseline="0" noProof="0" dirty="0">
                <a:ln>
                  <a:noFill/>
                </a:ln>
                <a:solidFill>
                  <a:srgbClr val="FF3300"/>
                </a:solidFill>
                <a:effectLst/>
                <a:uLnTx/>
                <a:uFillTx/>
                <a:latin typeface="+mn-lt"/>
                <a:ea typeface="+mn-ea"/>
                <a:cs typeface="+mn-ea"/>
                <a:sym typeface="+mn-lt"/>
              </a:rPr>
              <a:t>n</a:t>
            </a:r>
            <a:r>
              <a:rPr kumimoji="1" lang="en-US" altLang="zh-CN" sz="2800" b="0" i="0" u="none" strike="noStrike" kern="1200" cap="none" spc="0" normalizeH="0" baseline="30000" noProof="0" dirty="0">
                <a:ln>
                  <a:noFill/>
                </a:ln>
                <a:solidFill>
                  <a:srgbClr val="FF3300"/>
                </a:solidFill>
                <a:effectLst/>
                <a:uLnTx/>
                <a:uFillTx/>
                <a:latin typeface="+mn-lt"/>
                <a:ea typeface="+mn-ea"/>
                <a:cs typeface="+mn-ea"/>
                <a:sym typeface="+mn-lt"/>
              </a:rPr>
              <a:t>1.25</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1" lang="en-US" altLang="zh-CN" sz="2800" b="0" i="0" u="none" strike="noStrike" kern="1200" cap="none" spc="0" normalizeH="0" baseline="0" noProof="0" dirty="0">
                <a:ln>
                  <a:noFill/>
                </a:ln>
                <a:solidFill>
                  <a:srgbClr val="FF3300"/>
                </a:solidFill>
                <a:effectLst/>
                <a:uLnTx/>
                <a:uFillTx/>
                <a:latin typeface="+mn-lt"/>
                <a:ea typeface="+mn-ea"/>
                <a:cs typeface="+mn-ea"/>
                <a:sym typeface="+mn-lt"/>
              </a:rPr>
              <a:t>O</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1" lang="en-US" altLang="zh-CN" sz="2800" b="0" i="0" u="none" strike="noStrike" kern="1200" cap="none" spc="0" normalizeH="0" baseline="0" noProof="0" dirty="0">
                <a:ln>
                  <a:noFill/>
                </a:ln>
                <a:solidFill>
                  <a:srgbClr val="FF3300"/>
                </a:solidFill>
                <a:effectLst/>
                <a:uLnTx/>
                <a:uFillTx/>
                <a:latin typeface="+mn-lt"/>
                <a:ea typeface="+mn-ea"/>
                <a:cs typeface="+mn-ea"/>
                <a:sym typeface="+mn-lt"/>
              </a:rPr>
              <a:t>1.6</a:t>
            </a:r>
            <a:r>
              <a:rPr kumimoji="1" lang="en-US" altLang="zh-CN" sz="2800" b="0" i="1" u="none" strike="noStrike" kern="1200" cap="none" spc="0" normalizeH="0" baseline="0" noProof="0" dirty="0">
                <a:ln>
                  <a:noFill/>
                </a:ln>
                <a:solidFill>
                  <a:srgbClr val="FF3300"/>
                </a:solidFill>
                <a:effectLst/>
                <a:uLnTx/>
                <a:uFillTx/>
                <a:latin typeface="+mn-lt"/>
                <a:ea typeface="+mn-ea"/>
                <a:cs typeface="+mn-ea"/>
                <a:sym typeface="+mn-lt"/>
              </a:rPr>
              <a:t>n</a:t>
            </a:r>
            <a:r>
              <a:rPr kumimoji="1" lang="en-US" altLang="zh-CN" sz="2800" b="0" i="0" u="none" strike="noStrike" kern="1200" cap="none" spc="0" normalizeH="0" baseline="30000" noProof="0" dirty="0">
                <a:ln>
                  <a:noFill/>
                </a:ln>
                <a:solidFill>
                  <a:srgbClr val="FF3300"/>
                </a:solidFill>
                <a:effectLst/>
                <a:uLnTx/>
                <a:uFillTx/>
                <a:latin typeface="+mn-lt"/>
                <a:ea typeface="+mn-ea"/>
                <a:cs typeface="+mn-ea"/>
                <a:sym typeface="+mn-lt"/>
              </a:rPr>
              <a:t>1.25</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经验公式</a:t>
            </a:r>
          </a:p>
        </p:txBody>
      </p:sp>
      <p:sp>
        <p:nvSpPr>
          <p:cNvPr id="1115145" name="Rectangle 9"/>
          <p:cNvSpPr>
            <a:spLocks noChangeArrowheads="1"/>
          </p:cNvSpPr>
          <p:nvPr/>
        </p:nvSpPr>
        <p:spPr bwMode="auto">
          <a:xfrm>
            <a:off x="395288" y="3978275"/>
            <a:ext cx="8223250" cy="1349375"/>
          </a:xfrm>
          <a:prstGeom prst="rect">
            <a:avLst/>
          </a:prstGeom>
          <a:solidFill>
            <a:srgbClr val="CCCCFF"/>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457200" marR="0" lvl="1" indent="0" algn="l" defTabSz="914400" rtl="0" eaLnBrk="0" fontAlgn="base" latinLnBrk="0" hangingPunct="0">
              <a:lnSpc>
                <a:spcPct val="100000"/>
              </a:lnSpc>
              <a:spcBef>
                <a:spcPct val="20000"/>
              </a:spcBef>
              <a:spcAft>
                <a:spcPct val="0"/>
              </a:spcAft>
              <a:buClr>
                <a:srgbClr val="CC00CC"/>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如何选择最佳</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序列，目前</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尚未解决</a:t>
            </a:r>
          </a:p>
          <a:p>
            <a:pPr marL="457200" marR="0" lvl="1" indent="0" algn="l" defTabSz="914400" rtl="0" eaLnBrk="0" fontAlgn="base" latinLnBrk="0" hangingPunct="0">
              <a:lnSpc>
                <a:spcPct val="100000"/>
              </a:lnSpc>
              <a:spcBef>
                <a:spcPct val="20000"/>
              </a:spcBef>
              <a:spcAft>
                <a:spcPct val="0"/>
              </a:spcAft>
              <a:buClr>
                <a:srgbClr val="CC00CC"/>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最后一个增量值</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必须为</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无除</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以外的公因子</a:t>
            </a:r>
            <a:endPar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endParaRPr>
          </a:p>
          <a:p>
            <a:pPr marL="457200" marR="0" lvl="1" indent="0" algn="l" defTabSz="914400" rtl="0" eaLnBrk="0" fontAlgn="base" latinLnBrk="0" hangingPunct="0">
              <a:lnSpc>
                <a:spcPct val="100000"/>
              </a:lnSpc>
              <a:spcBef>
                <a:spcPct val="20000"/>
              </a:spcBef>
              <a:spcAft>
                <a:spcPct val="0"/>
              </a:spcAft>
              <a:buClr>
                <a:srgbClr val="CC00CC"/>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不宜在链式存储结构</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上实现</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1115145">
                                            <p:bg/>
                                          </p:spTgt>
                                        </p:tgtEl>
                                        <p:attrNameLst>
                                          <p:attrName>style.visibility</p:attrName>
                                        </p:attrNameLst>
                                      </p:cBhvr>
                                      <p:to>
                                        <p:strVal val="visible"/>
                                      </p:to>
                                    </p:set>
                                    <p:anim calcmode="lin" valueType="num">
                                      <p:cBhvr>
                                        <p:cTn id="7" dur="500" fill="hold"/>
                                        <p:tgtEl>
                                          <p:spTgt spid="1115145">
                                            <p:bg/>
                                          </p:spTgt>
                                        </p:tgtEl>
                                        <p:attrNameLst>
                                          <p:attrName>ppt_w</p:attrName>
                                        </p:attrNameLst>
                                      </p:cBhvr>
                                      <p:tavLst>
                                        <p:tav tm="0">
                                          <p:val>
                                            <p:strVal val="#ppt_w*0.05"/>
                                          </p:val>
                                        </p:tav>
                                        <p:tav tm="100000">
                                          <p:val>
                                            <p:strVal val="#ppt_w"/>
                                          </p:val>
                                        </p:tav>
                                      </p:tavLst>
                                    </p:anim>
                                    <p:anim calcmode="lin" valueType="num">
                                      <p:cBhvr>
                                        <p:cTn id="8" dur="500" fill="hold"/>
                                        <p:tgtEl>
                                          <p:spTgt spid="1115145">
                                            <p:bg/>
                                          </p:spTgt>
                                        </p:tgtEl>
                                        <p:attrNameLst>
                                          <p:attrName>ppt_h</p:attrName>
                                        </p:attrNameLst>
                                      </p:cBhvr>
                                      <p:tavLst>
                                        <p:tav tm="0">
                                          <p:val>
                                            <p:strVal val="#ppt_h"/>
                                          </p:val>
                                        </p:tav>
                                        <p:tav tm="100000">
                                          <p:val>
                                            <p:strVal val="#ppt_h"/>
                                          </p:val>
                                        </p:tav>
                                      </p:tavLst>
                                    </p:anim>
                                    <p:anim calcmode="lin" valueType="num">
                                      <p:cBhvr>
                                        <p:cTn id="9" dur="500" fill="hold"/>
                                        <p:tgtEl>
                                          <p:spTgt spid="1115145">
                                            <p:bg/>
                                          </p:spTgt>
                                        </p:tgtEl>
                                        <p:attrNameLst>
                                          <p:attrName>ppt_x</p:attrName>
                                        </p:attrNameLst>
                                      </p:cBhvr>
                                      <p:tavLst>
                                        <p:tav tm="0">
                                          <p:val>
                                            <p:strVal val="#ppt_x-.2"/>
                                          </p:val>
                                        </p:tav>
                                        <p:tav tm="100000">
                                          <p:val>
                                            <p:strVal val="#ppt_x"/>
                                          </p:val>
                                        </p:tav>
                                      </p:tavLst>
                                    </p:anim>
                                    <p:anim calcmode="lin" valueType="num">
                                      <p:cBhvr>
                                        <p:cTn id="10" dur="500" fill="hold"/>
                                        <p:tgtEl>
                                          <p:spTgt spid="1115145">
                                            <p:bg/>
                                          </p:spTgt>
                                        </p:tgtEl>
                                        <p:attrNameLst>
                                          <p:attrName>ppt_y</p:attrName>
                                        </p:attrNameLst>
                                      </p:cBhvr>
                                      <p:tavLst>
                                        <p:tav tm="0">
                                          <p:val>
                                            <p:strVal val="#ppt_y"/>
                                          </p:val>
                                        </p:tav>
                                        <p:tav tm="100000">
                                          <p:val>
                                            <p:strVal val="#ppt_y"/>
                                          </p:val>
                                        </p:tav>
                                      </p:tavLst>
                                    </p:anim>
                                    <p:animEffect transition="in" filter="fade">
                                      <p:cBhvr>
                                        <p:cTn id="11" dur="500"/>
                                        <p:tgtEl>
                                          <p:spTgt spid="1115145">
                                            <p:bg/>
                                          </p:spTgt>
                                        </p:tgtEl>
                                      </p:cBhvr>
                                    </p:animEffect>
                                  </p:childTnLst>
                                </p:cTn>
                              </p:par>
                            </p:childTnLst>
                          </p:cTn>
                        </p:par>
                      </p:childTnLst>
                    </p:cTn>
                  </p:par>
                  <p:par>
                    <p:cTn id="12" fill="hold">
                      <p:stCondLst>
                        <p:cond delay="indefinite"/>
                      </p:stCondLst>
                      <p:childTnLst>
                        <p:par>
                          <p:cTn id="13" fill="hold">
                            <p:stCondLst>
                              <p:cond delay="0"/>
                            </p:stCondLst>
                            <p:childTnLst>
                              <p:par>
                                <p:cTn id="14" presetID="54" presetClass="entr" presetSubtype="0" accel="100000" fill="hold" grpId="0" nodeType="clickEffect">
                                  <p:stCondLst>
                                    <p:cond delay="0"/>
                                  </p:stCondLst>
                                  <p:childTnLst>
                                    <p:set>
                                      <p:cBhvr>
                                        <p:cTn id="15" dur="1" fill="hold">
                                          <p:stCondLst>
                                            <p:cond delay="0"/>
                                          </p:stCondLst>
                                        </p:cTn>
                                        <p:tgtEl>
                                          <p:spTgt spid="1115145">
                                            <p:txEl>
                                              <p:pRg st="0" end="0"/>
                                            </p:txEl>
                                          </p:spTgt>
                                        </p:tgtEl>
                                        <p:attrNameLst>
                                          <p:attrName>style.visibility</p:attrName>
                                        </p:attrNameLst>
                                      </p:cBhvr>
                                      <p:to>
                                        <p:strVal val="visible"/>
                                      </p:to>
                                    </p:set>
                                    <p:anim calcmode="lin" valueType="num">
                                      <p:cBhvr>
                                        <p:cTn id="16" dur="500" fill="hold"/>
                                        <p:tgtEl>
                                          <p:spTgt spid="1115145">
                                            <p:txEl>
                                              <p:pRg st="0" end="0"/>
                                            </p:txEl>
                                          </p:spTgt>
                                        </p:tgtEl>
                                        <p:attrNameLst>
                                          <p:attrName>ppt_w</p:attrName>
                                        </p:attrNameLst>
                                      </p:cBhvr>
                                      <p:tavLst>
                                        <p:tav tm="0">
                                          <p:val>
                                            <p:strVal val="#ppt_w*0.05"/>
                                          </p:val>
                                        </p:tav>
                                        <p:tav tm="100000">
                                          <p:val>
                                            <p:strVal val="#ppt_w"/>
                                          </p:val>
                                        </p:tav>
                                      </p:tavLst>
                                    </p:anim>
                                    <p:anim calcmode="lin" valueType="num">
                                      <p:cBhvr>
                                        <p:cTn id="17" dur="500" fill="hold"/>
                                        <p:tgtEl>
                                          <p:spTgt spid="1115145">
                                            <p:txEl>
                                              <p:pRg st="0" end="0"/>
                                            </p:txEl>
                                          </p:spTgt>
                                        </p:tgtEl>
                                        <p:attrNameLst>
                                          <p:attrName>ppt_h</p:attrName>
                                        </p:attrNameLst>
                                      </p:cBhvr>
                                      <p:tavLst>
                                        <p:tav tm="0">
                                          <p:val>
                                            <p:strVal val="#ppt_h"/>
                                          </p:val>
                                        </p:tav>
                                        <p:tav tm="100000">
                                          <p:val>
                                            <p:strVal val="#ppt_h"/>
                                          </p:val>
                                        </p:tav>
                                      </p:tavLst>
                                    </p:anim>
                                    <p:anim calcmode="lin" valueType="num">
                                      <p:cBhvr>
                                        <p:cTn id="18" dur="500" fill="hold"/>
                                        <p:tgtEl>
                                          <p:spTgt spid="1115145">
                                            <p:txEl>
                                              <p:pRg st="0" end="0"/>
                                            </p:txEl>
                                          </p:spTgt>
                                        </p:tgtEl>
                                        <p:attrNameLst>
                                          <p:attrName>ppt_x</p:attrName>
                                        </p:attrNameLst>
                                      </p:cBhvr>
                                      <p:tavLst>
                                        <p:tav tm="0">
                                          <p:val>
                                            <p:strVal val="#ppt_x-.2"/>
                                          </p:val>
                                        </p:tav>
                                        <p:tav tm="100000">
                                          <p:val>
                                            <p:strVal val="#ppt_x"/>
                                          </p:val>
                                        </p:tav>
                                      </p:tavLst>
                                    </p:anim>
                                    <p:anim calcmode="lin" valueType="num">
                                      <p:cBhvr>
                                        <p:cTn id="19" dur="500" fill="hold"/>
                                        <p:tgtEl>
                                          <p:spTgt spid="1115145">
                                            <p:txEl>
                                              <p:pRg st="0" end="0"/>
                                            </p:txEl>
                                          </p:spTgt>
                                        </p:tgtEl>
                                        <p:attrNameLst>
                                          <p:attrName>ppt_y</p:attrName>
                                        </p:attrNameLst>
                                      </p:cBhvr>
                                      <p:tavLst>
                                        <p:tav tm="0">
                                          <p:val>
                                            <p:strVal val="#ppt_y"/>
                                          </p:val>
                                        </p:tav>
                                        <p:tav tm="100000">
                                          <p:val>
                                            <p:strVal val="#ppt_y"/>
                                          </p:val>
                                        </p:tav>
                                      </p:tavLst>
                                    </p:anim>
                                    <p:animEffect transition="in" filter="fade">
                                      <p:cBhvr>
                                        <p:cTn id="20" dur="500"/>
                                        <p:tgtEl>
                                          <p:spTgt spid="1115145">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54" presetClass="entr" presetSubtype="0" accel="100000" fill="hold" grpId="0" nodeType="clickEffect">
                                  <p:stCondLst>
                                    <p:cond delay="0"/>
                                  </p:stCondLst>
                                  <p:childTnLst>
                                    <p:set>
                                      <p:cBhvr>
                                        <p:cTn id="24" dur="1" fill="hold">
                                          <p:stCondLst>
                                            <p:cond delay="0"/>
                                          </p:stCondLst>
                                        </p:cTn>
                                        <p:tgtEl>
                                          <p:spTgt spid="1115145">
                                            <p:txEl>
                                              <p:pRg st="1" end="1"/>
                                            </p:txEl>
                                          </p:spTgt>
                                        </p:tgtEl>
                                        <p:attrNameLst>
                                          <p:attrName>style.visibility</p:attrName>
                                        </p:attrNameLst>
                                      </p:cBhvr>
                                      <p:to>
                                        <p:strVal val="visible"/>
                                      </p:to>
                                    </p:set>
                                    <p:anim calcmode="lin" valueType="num">
                                      <p:cBhvr>
                                        <p:cTn id="25" dur="500" fill="hold"/>
                                        <p:tgtEl>
                                          <p:spTgt spid="1115145">
                                            <p:txEl>
                                              <p:pRg st="1" end="1"/>
                                            </p:txEl>
                                          </p:spTgt>
                                        </p:tgtEl>
                                        <p:attrNameLst>
                                          <p:attrName>ppt_w</p:attrName>
                                        </p:attrNameLst>
                                      </p:cBhvr>
                                      <p:tavLst>
                                        <p:tav tm="0">
                                          <p:val>
                                            <p:strVal val="#ppt_w*0.05"/>
                                          </p:val>
                                        </p:tav>
                                        <p:tav tm="100000">
                                          <p:val>
                                            <p:strVal val="#ppt_w"/>
                                          </p:val>
                                        </p:tav>
                                      </p:tavLst>
                                    </p:anim>
                                    <p:anim calcmode="lin" valueType="num">
                                      <p:cBhvr>
                                        <p:cTn id="26" dur="500" fill="hold"/>
                                        <p:tgtEl>
                                          <p:spTgt spid="1115145">
                                            <p:txEl>
                                              <p:pRg st="1" end="1"/>
                                            </p:txEl>
                                          </p:spTgt>
                                        </p:tgtEl>
                                        <p:attrNameLst>
                                          <p:attrName>ppt_h</p:attrName>
                                        </p:attrNameLst>
                                      </p:cBhvr>
                                      <p:tavLst>
                                        <p:tav tm="0">
                                          <p:val>
                                            <p:strVal val="#ppt_h"/>
                                          </p:val>
                                        </p:tav>
                                        <p:tav tm="100000">
                                          <p:val>
                                            <p:strVal val="#ppt_h"/>
                                          </p:val>
                                        </p:tav>
                                      </p:tavLst>
                                    </p:anim>
                                    <p:anim calcmode="lin" valueType="num">
                                      <p:cBhvr>
                                        <p:cTn id="27" dur="500" fill="hold"/>
                                        <p:tgtEl>
                                          <p:spTgt spid="1115145">
                                            <p:txEl>
                                              <p:pRg st="1" end="1"/>
                                            </p:txEl>
                                          </p:spTgt>
                                        </p:tgtEl>
                                        <p:attrNameLst>
                                          <p:attrName>ppt_x</p:attrName>
                                        </p:attrNameLst>
                                      </p:cBhvr>
                                      <p:tavLst>
                                        <p:tav tm="0">
                                          <p:val>
                                            <p:strVal val="#ppt_x-.2"/>
                                          </p:val>
                                        </p:tav>
                                        <p:tav tm="100000">
                                          <p:val>
                                            <p:strVal val="#ppt_x"/>
                                          </p:val>
                                        </p:tav>
                                      </p:tavLst>
                                    </p:anim>
                                    <p:anim calcmode="lin" valueType="num">
                                      <p:cBhvr>
                                        <p:cTn id="28" dur="500" fill="hold"/>
                                        <p:tgtEl>
                                          <p:spTgt spid="1115145">
                                            <p:txEl>
                                              <p:pRg st="1" end="1"/>
                                            </p:txEl>
                                          </p:spTgt>
                                        </p:tgtEl>
                                        <p:attrNameLst>
                                          <p:attrName>ppt_y</p:attrName>
                                        </p:attrNameLst>
                                      </p:cBhvr>
                                      <p:tavLst>
                                        <p:tav tm="0">
                                          <p:val>
                                            <p:strVal val="#ppt_y"/>
                                          </p:val>
                                        </p:tav>
                                        <p:tav tm="100000">
                                          <p:val>
                                            <p:strVal val="#ppt_y"/>
                                          </p:val>
                                        </p:tav>
                                      </p:tavLst>
                                    </p:anim>
                                    <p:animEffect transition="in" filter="fade">
                                      <p:cBhvr>
                                        <p:cTn id="29" dur="500"/>
                                        <p:tgtEl>
                                          <p:spTgt spid="1115145">
                                            <p:txEl>
                                              <p:pRg st="1" end="1"/>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54" presetClass="entr" presetSubtype="0" accel="100000" fill="hold" grpId="0" nodeType="clickEffect">
                                  <p:stCondLst>
                                    <p:cond delay="0"/>
                                  </p:stCondLst>
                                  <p:childTnLst>
                                    <p:set>
                                      <p:cBhvr>
                                        <p:cTn id="33" dur="1" fill="hold">
                                          <p:stCondLst>
                                            <p:cond delay="0"/>
                                          </p:stCondLst>
                                        </p:cTn>
                                        <p:tgtEl>
                                          <p:spTgt spid="1115145">
                                            <p:txEl>
                                              <p:pRg st="2" end="2"/>
                                            </p:txEl>
                                          </p:spTgt>
                                        </p:tgtEl>
                                        <p:attrNameLst>
                                          <p:attrName>style.visibility</p:attrName>
                                        </p:attrNameLst>
                                      </p:cBhvr>
                                      <p:to>
                                        <p:strVal val="visible"/>
                                      </p:to>
                                    </p:set>
                                    <p:anim calcmode="lin" valueType="num">
                                      <p:cBhvr>
                                        <p:cTn id="34" dur="500" fill="hold"/>
                                        <p:tgtEl>
                                          <p:spTgt spid="1115145">
                                            <p:txEl>
                                              <p:pRg st="2" end="2"/>
                                            </p:txEl>
                                          </p:spTgt>
                                        </p:tgtEl>
                                        <p:attrNameLst>
                                          <p:attrName>ppt_w</p:attrName>
                                        </p:attrNameLst>
                                      </p:cBhvr>
                                      <p:tavLst>
                                        <p:tav tm="0">
                                          <p:val>
                                            <p:strVal val="#ppt_w*0.05"/>
                                          </p:val>
                                        </p:tav>
                                        <p:tav tm="100000">
                                          <p:val>
                                            <p:strVal val="#ppt_w"/>
                                          </p:val>
                                        </p:tav>
                                      </p:tavLst>
                                    </p:anim>
                                    <p:anim calcmode="lin" valueType="num">
                                      <p:cBhvr>
                                        <p:cTn id="35" dur="500" fill="hold"/>
                                        <p:tgtEl>
                                          <p:spTgt spid="1115145">
                                            <p:txEl>
                                              <p:pRg st="2" end="2"/>
                                            </p:txEl>
                                          </p:spTgt>
                                        </p:tgtEl>
                                        <p:attrNameLst>
                                          <p:attrName>ppt_h</p:attrName>
                                        </p:attrNameLst>
                                      </p:cBhvr>
                                      <p:tavLst>
                                        <p:tav tm="0">
                                          <p:val>
                                            <p:strVal val="#ppt_h"/>
                                          </p:val>
                                        </p:tav>
                                        <p:tav tm="100000">
                                          <p:val>
                                            <p:strVal val="#ppt_h"/>
                                          </p:val>
                                        </p:tav>
                                      </p:tavLst>
                                    </p:anim>
                                    <p:anim calcmode="lin" valueType="num">
                                      <p:cBhvr>
                                        <p:cTn id="36" dur="500" fill="hold"/>
                                        <p:tgtEl>
                                          <p:spTgt spid="1115145">
                                            <p:txEl>
                                              <p:pRg st="2" end="2"/>
                                            </p:txEl>
                                          </p:spTgt>
                                        </p:tgtEl>
                                        <p:attrNameLst>
                                          <p:attrName>ppt_x</p:attrName>
                                        </p:attrNameLst>
                                      </p:cBhvr>
                                      <p:tavLst>
                                        <p:tav tm="0">
                                          <p:val>
                                            <p:strVal val="#ppt_x-.2"/>
                                          </p:val>
                                        </p:tav>
                                        <p:tav tm="100000">
                                          <p:val>
                                            <p:strVal val="#ppt_x"/>
                                          </p:val>
                                        </p:tav>
                                      </p:tavLst>
                                    </p:anim>
                                    <p:anim calcmode="lin" valueType="num">
                                      <p:cBhvr>
                                        <p:cTn id="37" dur="500" fill="hold"/>
                                        <p:tgtEl>
                                          <p:spTgt spid="1115145">
                                            <p:txEl>
                                              <p:pRg st="2" end="2"/>
                                            </p:txEl>
                                          </p:spTgt>
                                        </p:tgtEl>
                                        <p:attrNameLst>
                                          <p:attrName>ppt_y</p:attrName>
                                        </p:attrNameLst>
                                      </p:cBhvr>
                                      <p:tavLst>
                                        <p:tav tm="0">
                                          <p:val>
                                            <p:strVal val="#ppt_y"/>
                                          </p:val>
                                        </p:tav>
                                        <p:tav tm="100000">
                                          <p:val>
                                            <p:strVal val="#ppt_y"/>
                                          </p:val>
                                        </p:tav>
                                      </p:tavLst>
                                    </p:anim>
                                    <p:animEffect transition="in" filter="fade">
                                      <p:cBhvr>
                                        <p:cTn id="38" dur="500"/>
                                        <p:tgtEl>
                                          <p:spTgt spid="111514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5145" grpId="0" build="p" bldLvl="2"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a:ea typeface="Microsoft Yahei"/>
                <a:sym typeface="Microsoft Yahei"/>
              </a:rPr>
              <a:t>对序列</a:t>
            </a:r>
            <a:r>
              <a:rPr lang="en-US" altLang="zh-CN" sz="2600" dirty="0">
                <a:solidFill>
                  <a:srgbClr val="000000"/>
                </a:solidFill>
                <a:latin typeface="Microsoft Yahei"/>
                <a:ea typeface="Microsoft Yahei"/>
                <a:sym typeface="Microsoft Yahei"/>
              </a:rPr>
              <a:t>{15</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9</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7</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8</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20</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-1</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4</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 </a:t>
            </a:r>
            <a:r>
              <a:rPr lang="zh-CN" altLang="en-US" sz="2600" dirty="0">
                <a:solidFill>
                  <a:srgbClr val="000000"/>
                </a:solidFill>
                <a:latin typeface="Microsoft Yahei"/>
                <a:ea typeface="Microsoft Yahei"/>
                <a:sym typeface="Microsoft Yahei"/>
              </a:rPr>
              <a:t>用希尔排序方法排序，经一趟后序列变为</a:t>
            </a:r>
            <a:r>
              <a:rPr lang="en-US" altLang="zh-CN" sz="2600" dirty="0">
                <a:solidFill>
                  <a:srgbClr val="000000"/>
                </a:solidFill>
                <a:latin typeface="Microsoft Yahei"/>
                <a:ea typeface="Microsoft Yahei"/>
                <a:sym typeface="Microsoft Yahei"/>
              </a:rPr>
              <a:t>{15</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-l</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4</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8</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20</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9</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7}</a:t>
            </a:r>
            <a:r>
              <a:rPr lang="zh-CN" altLang="en-US" sz="2600" dirty="0">
                <a:solidFill>
                  <a:srgbClr val="000000"/>
                </a:solidFill>
                <a:latin typeface="Microsoft Yahei"/>
                <a:ea typeface="Microsoft Yahei"/>
                <a:sym typeface="Microsoft Yahei"/>
              </a:rPr>
              <a:t>则该次采用的增量是（）。</a:t>
            </a: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2</a:t>
            </a:r>
            <a:endParaRPr lang="zh-CN" altLang="en-US" sz="2600" dirty="0">
              <a:solidFill>
                <a:srgbClr val="000000"/>
              </a:solidFill>
              <a:latin typeface="Microsoft Yahei"/>
              <a:ea typeface="Microsoft Yahei"/>
              <a:sym typeface="Microsoft Yahei"/>
            </a:endParaRP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1</a:t>
            </a:r>
            <a:endParaRPr lang="zh-CN" altLang="en-US" sz="2600" dirty="0">
              <a:solidFill>
                <a:srgbClr val="000000"/>
              </a:solidFill>
              <a:latin typeface="Microsoft Yahei"/>
              <a:ea typeface="Microsoft Yahei"/>
              <a:sym typeface="Microsoft Yahei"/>
            </a:endParaRPr>
          </a:p>
        </p:txBody>
      </p:sp>
      <p:sp>
        <p:nvSpPr>
          <p:cNvPr id="6" name="TextBox 5"/>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4</a:t>
            </a:r>
            <a:endParaRPr lang="zh-CN" altLang="en-US" sz="2600" dirty="0">
              <a:solidFill>
                <a:srgbClr val="000000"/>
              </a:solidFill>
              <a:latin typeface="Microsoft Yahei"/>
              <a:ea typeface="Microsoft Yahei"/>
              <a:sym typeface="Microsoft Yahei"/>
            </a:endParaRPr>
          </a:p>
        </p:txBody>
      </p:sp>
      <p:sp>
        <p:nvSpPr>
          <p:cNvPr id="7" name="TextBox 6"/>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3</a:t>
            </a:r>
            <a:endParaRPr lang="zh-CN" altLang="en-US" sz="2600" dirty="0">
              <a:solidFill>
                <a:srgbClr val="000000"/>
              </a:solidFill>
              <a:latin typeface="Microsoft Yahei"/>
              <a:ea typeface="Microsoft Yahei"/>
              <a:sym typeface="Microsoft Yahei"/>
            </a:endParaRPr>
          </a:p>
        </p:txBody>
      </p:sp>
      <p:sp>
        <p:nvSpPr>
          <p:cNvPr id="8" name="椭圆 7"/>
          <p:cNvSpPr>
            <a:spLocks noChangeAspect="1"/>
          </p:cNvSpPr>
          <p:nvPr>
            <p:custDataLst>
              <p:tags r:id="rId7"/>
            </p:custDataLst>
          </p:nvPr>
        </p:nvSpPr>
        <p:spPr bwMode="auto">
          <a:xfrm>
            <a:off x="1114425" y="28503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8"/>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9"/>
            </p:custDataLst>
          </p:nvPr>
        </p:nvSpPr>
        <p:spPr bwMode="auto">
          <a:xfrm>
            <a:off x="1114425" y="456485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10"/>
            </p:custDataLst>
          </p:nvPr>
        </p:nvSpPr>
        <p:spPr bwMode="auto">
          <a:xfrm>
            <a:off x="1114425" y="54221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12"/>
            </p:custDataLst>
          </p:nvPr>
        </p:nvGrpSpPr>
        <p:grpSpPr>
          <a:xfrm>
            <a:off x="0" y="0"/>
            <a:ext cx="9144000" cy="635000"/>
            <a:chOff x="0" y="0"/>
            <a:chExt cx="9144000" cy="635000"/>
          </a:xfrm>
        </p:grpSpPr>
        <p:sp>
          <p:nvSpPr>
            <p:cNvPr id="13"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350645039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11266" name="矩形: 圆角 16"/>
          <p:cNvSpPr>
            <a:spLocks noChangeArrowheads="1"/>
          </p:cNvSpPr>
          <p:nvPr/>
        </p:nvSpPr>
        <p:spPr bwMode="auto">
          <a:xfrm>
            <a:off x="2830513" y="3425508"/>
            <a:ext cx="4432300" cy="504825"/>
          </a:xfrm>
          <a:prstGeom prst="roundRect">
            <a:avLst>
              <a:gd name="adj" fmla="val 16667"/>
            </a:avLst>
          </a:prstGeom>
          <a:solidFill>
            <a:srgbClr val="9476B6"/>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1885950" y="3425508"/>
            <a:ext cx="839788" cy="504825"/>
          </a:xfrm>
          <a:prstGeom prst="roundRect">
            <a:avLst>
              <a:gd name="adj" fmla="val 16667"/>
            </a:avLst>
          </a:prstGeom>
          <a:solidFill>
            <a:schemeClr val="accent1"/>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sp>
        <p:nvSpPr>
          <p:cNvPr id="14" name="文本框 13"/>
          <p:cNvSpPr txBox="1"/>
          <p:nvPr/>
        </p:nvSpPr>
        <p:spPr>
          <a:xfrm>
            <a:off x="2005013" y="2205990"/>
            <a:ext cx="720725" cy="2308324"/>
          </a:xfrm>
          <a:prstGeom prst="rect">
            <a:avLst/>
          </a:prstGeom>
          <a:noFill/>
        </p:spPr>
        <p:txBody>
          <a:bodyPr>
            <a:spAutoFit/>
          </a:bodyPr>
          <a:lstStyle/>
          <a:p>
            <a:pPr marR="0" defTabSz="914400">
              <a:lnSpc>
                <a:spcPct val="150000"/>
              </a:lnSpc>
              <a:buClrTx/>
              <a:buSzTx/>
              <a:buFontTx/>
              <a:buNone/>
              <a:defRPr/>
            </a:pPr>
            <a:r>
              <a:rPr kumimoji="0" lang="en-US" altLang="zh-CN" sz="2400" b="0" kern="1200" cap="none" spc="0" normalizeH="0" baseline="0" noProof="0" dirty="0">
                <a:solidFill>
                  <a:schemeClr val="tx1"/>
                </a:solidFill>
                <a:latin typeface="+mn-lt"/>
                <a:ea typeface="+mn-ea"/>
                <a:cs typeface="+mn-ea"/>
                <a:sym typeface="+mn-lt"/>
              </a:rPr>
              <a:t>8.1</a:t>
            </a:r>
            <a:endParaRPr kumimoji="0" lang="zh-CN" altLang="en-US" sz="24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8.2</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chemeClr val="bg1"/>
                </a:solidFill>
                <a:latin typeface="+mn-lt"/>
                <a:ea typeface="+mn-ea"/>
                <a:cs typeface="+mn-ea"/>
                <a:sym typeface="+mn-lt"/>
              </a:rPr>
              <a:t>8.3</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smtClean="0">
                <a:solidFill>
                  <a:srgbClr val="000000">
                    <a:lumMod val="95000"/>
                    <a:lumOff val="5000"/>
                  </a:srgbClr>
                </a:solidFill>
                <a:latin typeface="+mn-lt"/>
                <a:ea typeface="+mn-ea"/>
                <a:cs typeface="+mn-ea"/>
                <a:sym typeface="+mn-lt"/>
              </a:rPr>
              <a:t>8.4</a:t>
            </a:r>
            <a:endParaRPr kumimoji="0" lang="en-US" altLang="zh-CN" sz="24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2843530" y="2205990"/>
            <a:ext cx="4177665" cy="2308324"/>
          </a:xfrm>
          <a:prstGeom prst="rect">
            <a:avLst/>
          </a:prstGeom>
          <a:noFill/>
        </p:spPr>
        <p:txBody>
          <a:bodyPr wrap="square">
            <a:spAutoFit/>
          </a:bodyPr>
          <a:lstStyle/>
          <a:p>
            <a:pPr marR="0" defTabSz="914400">
              <a:lnSpc>
                <a:spcPct val="150000"/>
              </a:lnSpc>
              <a:buClrTx/>
              <a:buSzTx/>
              <a:buFontTx/>
              <a:buNone/>
              <a:defRPr/>
            </a:pPr>
            <a:r>
              <a:rPr kumimoji="0" lang="zh-CN" altLang="en-US" sz="2400" b="0" kern="1200" cap="none" spc="0" normalizeH="0" baseline="0" noProof="0" dirty="0">
                <a:solidFill>
                  <a:schemeClr val="bg1"/>
                </a:solidFill>
                <a:latin typeface="+mn-lt"/>
                <a:ea typeface="+mn-ea"/>
                <a:cs typeface="+mn-ea"/>
                <a:sym typeface="+mn-lt"/>
              </a:rPr>
              <a:t>　</a:t>
            </a:r>
            <a:r>
              <a:rPr kumimoji="0" lang="zh-CN" altLang="en-US" sz="2400" b="0" kern="1200" cap="none" spc="0" normalizeH="0" baseline="0" noProof="0" dirty="0">
                <a:solidFill>
                  <a:schemeClr val="tx1"/>
                </a:solidFill>
                <a:latin typeface="+mn-lt"/>
                <a:ea typeface="+mn-ea"/>
                <a:cs typeface="+mn-ea"/>
                <a:sym typeface="+mn-lt"/>
              </a:rPr>
              <a:t>概述</a:t>
            </a:r>
            <a:endParaRPr kumimoji="0" lang="zh-CN" altLang="en-US" sz="24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插入排序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a:t>
            </a:r>
            <a:r>
              <a:rPr kumimoji="0" lang="zh-CN" altLang="en-US" sz="2400" b="0" kern="1200" cap="none" spc="0" normalizeH="0" baseline="0" noProof="0" dirty="0">
                <a:solidFill>
                  <a:schemeClr val="bg1"/>
                </a:solidFill>
                <a:latin typeface="+mn-lt"/>
                <a:ea typeface="+mn-ea"/>
                <a:cs typeface="+mn-ea"/>
                <a:sym typeface="+mn-lt"/>
              </a:rPr>
              <a:t>交换排序</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选择</a:t>
            </a:r>
            <a:r>
              <a:rPr kumimoji="0" lang="zh-CN" altLang="en-US" sz="2400" b="0" kern="1200" cap="none" spc="0" normalizeH="0" baseline="0" noProof="0" dirty="0" smtClean="0">
                <a:solidFill>
                  <a:srgbClr val="000000">
                    <a:lumMod val="95000"/>
                    <a:lumOff val="5000"/>
                  </a:srgbClr>
                </a:solidFill>
                <a:latin typeface="+mn-lt"/>
                <a:ea typeface="+mn-ea"/>
                <a:cs typeface="+mn-ea"/>
                <a:sym typeface="+mn-lt"/>
              </a:rPr>
              <a:t>排序</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p:txBody>
      </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transition spd="slow"/>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bwMode="auto">
          <a:xfrm>
            <a:off x="0" y="1960563"/>
            <a:ext cx="9144000" cy="370046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40962" name="Rectangle 6"/>
          <p:cNvSpPr>
            <a:spLocks noChangeArrowheads="1"/>
          </p:cNvSpPr>
          <p:nvPr/>
        </p:nvSpPr>
        <p:spPr bwMode="auto">
          <a:xfrm>
            <a:off x="827088" y="228600"/>
            <a:ext cx="6156325" cy="6858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交换排序</a:t>
            </a:r>
          </a:p>
        </p:txBody>
      </p:sp>
      <p:sp>
        <p:nvSpPr>
          <p:cNvPr id="998409" name="Rectangle 9"/>
          <p:cNvSpPr>
            <a:spLocks noChangeArrowheads="1"/>
          </p:cNvSpPr>
          <p:nvPr/>
        </p:nvSpPr>
        <p:spPr bwMode="auto">
          <a:xfrm>
            <a:off x="827088" y="1243013"/>
            <a:ext cx="7935913" cy="519113"/>
          </a:xfrm>
          <a:prstGeom prst="rect">
            <a:avLst/>
          </a:prstGeom>
          <a:noFill/>
          <a:ln w="9525">
            <a:noFill/>
            <a:miter lim="800000"/>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基本思想：</a:t>
            </a:r>
          </a:p>
        </p:txBody>
      </p:sp>
      <p:sp>
        <p:nvSpPr>
          <p:cNvPr id="40966" name="Rectangle 10"/>
          <p:cNvSpPr>
            <a:spLocks noChangeArrowheads="1"/>
          </p:cNvSpPr>
          <p:nvPr/>
        </p:nvSpPr>
        <p:spPr bwMode="auto">
          <a:xfrm>
            <a:off x="827088" y="2057400"/>
            <a:ext cx="7935913" cy="11207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两两比较</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，如果发生</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逆序</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则交换，直到所有记录都排好序为止。</a:t>
            </a:r>
          </a:p>
        </p:txBody>
      </p:sp>
      <p:grpSp>
        <p:nvGrpSpPr>
          <p:cNvPr id="2" name="Group 11"/>
          <p:cNvGrpSpPr/>
          <p:nvPr/>
        </p:nvGrpSpPr>
        <p:grpSpPr>
          <a:xfrm>
            <a:off x="2484438" y="3182938"/>
            <a:ext cx="3600450" cy="2020887"/>
            <a:chOff x="2790" y="947"/>
            <a:chExt cx="2268" cy="1570"/>
          </a:xfrm>
        </p:grpSpPr>
        <p:sp>
          <p:nvSpPr>
            <p:cNvPr id="998412" name="Rectangle 12"/>
            <p:cNvSpPr>
              <a:spLocks noChangeArrowheads="1"/>
            </p:cNvSpPr>
            <p:nvPr/>
          </p:nvSpPr>
          <p:spPr bwMode="auto">
            <a:xfrm>
              <a:off x="2790" y="1729"/>
              <a:ext cx="2268" cy="788"/>
            </a:xfrm>
            <a:prstGeom prst="rect">
              <a:avLst/>
            </a:prstGeom>
            <a:noFill/>
            <a:ln w="9525">
              <a:solidFill>
                <a:srgbClr val="6C4C8F"/>
              </a:solidFill>
              <a:miter lim="800000"/>
            </a:ln>
            <a:effectLst/>
          </p:spPr>
          <p:txBody>
            <a:bodyPr/>
            <a:lstStyle/>
            <a:p>
              <a:pPr marL="342900" marR="0" lvl="0" indent="-342900" algn="l" defTabSz="914400" rtl="0" eaLnBrk="1" fontAlgn="base" latinLnBrk="0" hangingPunct="1">
                <a:lnSpc>
                  <a:spcPct val="100000"/>
                </a:lnSpc>
                <a:spcBef>
                  <a:spcPct val="50000"/>
                </a:spcBef>
                <a:spcAft>
                  <a:spcPct val="0"/>
                </a:spcAft>
                <a:buClrTx/>
                <a:buSzTx/>
                <a:buFontTx/>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冒泡排序</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O(n</a:t>
              </a:r>
              <a:r>
                <a:rPr kumimoji="1" lang="en-US" altLang="zh-CN" sz="2400" b="0" i="0" u="none" strike="noStrike" kern="1200" cap="none" spc="0" normalizeH="0" baseline="30000" noProof="0" dirty="0">
                  <a:ln>
                    <a:noFill/>
                  </a:ln>
                  <a:solidFill>
                    <a:schemeClr val="tx1"/>
                  </a:solidFill>
                  <a:effectLst/>
                  <a:uLnTx/>
                  <a:uFillTx/>
                  <a:latin typeface="+mn-lt"/>
                  <a:ea typeface="+mn-ea"/>
                  <a:cs typeface="+mn-ea"/>
                  <a:sym typeface="+mn-lt"/>
                </a:rPr>
                <a:t>2</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endPar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endParaRPr>
            </a:p>
            <a:p>
              <a:pPr marL="342900" marR="0" lvl="0" indent="-342900" algn="l" defTabSz="914400" rtl="0" eaLnBrk="1" fontAlgn="base" latinLnBrk="0" hangingPunct="1">
                <a:lnSpc>
                  <a:spcPct val="100000"/>
                </a:lnSpc>
                <a:spcBef>
                  <a:spcPct val="20000"/>
                </a:spcBef>
                <a:spcAft>
                  <a:spcPct val="0"/>
                </a:spcAft>
                <a:buClr>
                  <a:schemeClr val="hlink"/>
                </a:buClr>
                <a:buSzTx/>
                <a:buFont typeface="Monotype Sorts" pitchFamily="2" charset="2"/>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快速排序</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O( nlog</a:t>
              </a:r>
              <a:r>
                <a:rPr kumimoji="1" lang="en-US" altLang="zh-CN" sz="2400" b="0" i="0" u="none" strike="noStrike" kern="1200" cap="none" spc="0" normalizeH="0" baseline="-25000" noProof="0" dirty="0">
                  <a:ln>
                    <a:noFill/>
                  </a:ln>
                  <a:solidFill>
                    <a:schemeClr val="tx1"/>
                  </a:solidFill>
                  <a:effectLst/>
                  <a:uLnTx/>
                  <a:uFillTx/>
                  <a:latin typeface="+mn-lt"/>
                  <a:ea typeface="+mn-ea"/>
                  <a:cs typeface="+mn-ea"/>
                  <a:sym typeface="+mn-lt"/>
                </a:rPr>
                <a:t>2</a:t>
              </a:r>
              <a:r>
                <a:rPr kumimoji="1" lang="en-US" altLang="zh-CN" sz="2400" b="0" i="0" u="none" strike="noStrike" kern="1200" cap="none" spc="0" normalizeH="0" baseline="30000" noProof="0" dirty="0">
                  <a:ln>
                    <a:noFill/>
                  </a:ln>
                  <a:solidFill>
                    <a:schemeClr val="tx1"/>
                  </a:solidFill>
                  <a:effectLst/>
                  <a:uLnTx/>
                  <a:uFillTx/>
                  <a:latin typeface="+mn-lt"/>
                  <a:ea typeface="+mn-ea"/>
                  <a:cs typeface="+mn-ea"/>
                  <a:sym typeface="+mn-lt"/>
                </a:rPr>
                <a:t>n</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endPar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endParaRPr>
            </a:p>
          </p:txBody>
        </p:sp>
        <p:sp>
          <p:nvSpPr>
            <p:cNvPr id="40969" name="AutoShape 13"/>
            <p:cNvSpPr>
              <a:spLocks noChangeArrowheads="1"/>
            </p:cNvSpPr>
            <p:nvPr/>
          </p:nvSpPr>
          <p:spPr bwMode="auto">
            <a:xfrm>
              <a:off x="3833" y="947"/>
              <a:ext cx="182" cy="499"/>
            </a:xfrm>
            <a:prstGeom prst="downArrow">
              <a:avLst>
                <a:gd name="adj1" fmla="val 50000"/>
                <a:gd name="adj2" fmla="val 68519"/>
              </a:avLst>
            </a:prstGeom>
            <a:solidFill>
              <a:schemeClr val="accent1"/>
            </a:solidFill>
            <a:ln>
              <a:noFill/>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108"/>
          <p:cNvSpPr>
            <a:spLocks noChangeArrowheads="1"/>
          </p:cNvSpPr>
          <p:nvPr/>
        </p:nvSpPr>
        <p:spPr bwMode="auto">
          <a:xfrm>
            <a:off x="395288" y="1557338"/>
            <a:ext cx="8402638" cy="1092200"/>
          </a:xfrm>
          <a:prstGeom prst="rect">
            <a:avLst/>
          </a:prstGeom>
          <a:noFill/>
          <a:ln w="38100">
            <a:noFill/>
            <a:miter lim="800000"/>
          </a:ln>
        </p:spPr>
        <p:txBody>
          <a:bodyPr>
            <a:spAutoFit/>
          </a:bodyPr>
          <a:lstStyle>
            <a:lvl1pPr marL="952500" indent="-9525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952500" marR="0" lvl="0" indent="-95250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rgbClr val="FF0000"/>
                </a:solidFill>
                <a:effectLst/>
                <a:uLnTx/>
                <a:uFillTx/>
                <a:latin typeface="+mn-lt"/>
                <a:ea typeface="+mn-ea"/>
                <a:cs typeface="+mn-ea"/>
                <a:sym typeface="+mn-lt"/>
              </a:rPr>
              <a:t>基本思想：</a:t>
            </a:r>
            <a:endParaRPr kumimoji="0" lang="en-US" altLang="zh-CN" sz="2600" b="0" i="0" u="none" strike="noStrike" kern="1200" cap="none" spc="0" normalizeH="0" baseline="0" noProof="0" dirty="0">
              <a:ln>
                <a:noFill/>
              </a:ln>
              <a:solidFill>
                <a:srgbClr val="FF0000"/>
              </a:solidFill>
              <a:effectLst/>
              <a:uLnTx/>
              <a:uFillTx/>
              <a:latin typeface="+mn-lt"/>
              <a:ea typeface="+mn-ea"/>
              <a:cs typeface="+mn-ea"/>
              <a:sym typeface="+mn-lt"/>
            </a:endParaRPr>
          </a:p>
          <a:p>
            <a:pPr marL="952500" marR="0" lvl="0" indent="-95250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每趟不断将记录两两比较，并按</a:t>
            </a:r>
            <a:r>
              <a:rPr kumimoji="0" lang="zh-CN" altLang="en-US" sz="2600" b="0" i="0" u="none" strike="noStrike" kern="1200" cap="none" spc="0" normalizeH="0" baseline="0" noProof="0" dirty="0">
                <a:ln>
                  <a:noFill/>
                </a:ln>
                <a:solidFill>
                  <a:srgbClr val="FF3300"/>
                </a:solidFill>
                <a:effectLst/>
                <a:uLnTx/>
                <a:uFillTx/>
                <a:latin typeface="+mn-lt"/>
                <a:ea typeface="+mn-ea"/>
                <a:cs typeface="+mn-ea"/>
                <a:sym typeface="+mn-lt"/>
              </a:rPr>
              <a:t>“前小后大” 规则</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交换</a:t>
            </a:r>
          </a:p>
        </p:txBody>
      </p:sp>
      <p:sp>
        <p:nvSpPr>
          <p:cNvPr id="1007725" name="Rectangle 109"/>
          <p:cNvSpPr>
            <a:spLocks noChangeArrowheads="1"/>
          </p:cNvSpPr>
          <p:nvPr/>
        </p:nvSpPr>
        <p:spPr bwMode="auto">
          <a:xfrm>
            <a:off x="900113" y="219075"/>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冒泡排序</a:t>
            </a:r>
          </a:p>
        </p:txBody>
      </p:sp>
      <p:sp>
        <p:nvSpPr>
          <p:cNvPr id="1007728" name="Rectangle 112"/>
          <p:cNvSpPr>
            <a:spLocks noChangeArrowheads="1"/>
          </p:cNvSpPr>
          <p:nvPr/>
        </p:nvSpPr>
        <p:spPr bwMode="auto">
          <a:xfrm>
            <a:off x="395288" y="2862263"/>
            <a:ext cx="8402638" cy="2963863"/>
          </a:xfrm>
          <a:prstGeom prst="roundRect">
            <a:avLst>
              <a:gd name="adj" fmla="val 5521"/>
            </a:avLst>
          </a:prstGeom>
          <a:solidFill>
            <a:srgbClr val="E2D9EB"/>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21</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49</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25</a:t>
            </a:r>
            <a:r>
              <a:rPr kumimoji="0" lang="en-US" altLang="zh-CN" sz="2800" b="1" i="0" u="none" strike="noStrike" kern="1200" cap="none" spc="0" normalizeH="0" baseline="0" noProof="0">
                <a:ln>
                  <a:noFill/>
                </a:ln>
                <a:solidFill>
                  <a:schemeClr val="tx2"/>
                </a:solidFill>
                <a:effectLst/>
                <a:uLnTx/>
                <a:uFillTx/>
                <a:latin typeface="+mn-lt"/>
                <a:ea typeface="+mn-ea"/>
                <a:cs typeface="+mn-ea"/>
                <a:sym typeface="+mn-lt"/>
              </a:rPr>
              <a:t>*</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16</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08</a:t>
            </a:r>
          </a:p>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21</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16</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08 </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zh-CN" altLang="en-US" sz="2800" b="1" i="0" u="none" strike="noStrike" kern="1200" cap="none" spc="0" normalizeH="0" baseline="0" noProof="0">
                <a:ln>
                  <a:noFill/>
                </a:ln>
                <a:solidFill>
                  <a:srgbClr val="FF00FF"/>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49</a:t>
            </a:r>
          </a:p>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21</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16</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08 </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49</a:t>
            </a:r>
          </a:p>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21</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16</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08 </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49</a:t>
            </a:r>
          </a:p>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16</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08 </a:t>
            </a:r>
            <a:r>
              <a:rPr kumimoji="0" lang="zh-CN" altLang="en-US" sz="2800" b="1"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21</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49</a:t>
            </a:r>
          </a:p>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rgbClr val="9900FF"/>
                </a:solidFill>
                <a:effectLst/>
                <a:uLnTx/>
                <a:uFillTx/>
                <a:latin typeface="+mn-lt"/>
                <a:ea typeface="+mn-ea"/>
                <a:cs typeface="+mn-ea"/>
                <a:sym typeface="+mn-lt"/>
              </a:rPr>
              <a:t>08</a:t>
            </a:r>
            <a:r>
              <a:rPr kumimoji="0" lang="zh-CN" altLang="en-US" sz="2800" b="1" i="0" u="none" strike="noStrike" kern="1200" cap="none" spc="0" normalizeH="0" baseline="0" noProof="0">
                <a:ln>
                  <a:noFill/>
                </a:ln>
                <a:solidFill>
                  <a:srgbClr val="9900FF"/>
                </a:solidFill>
                <a:effectLst/>
                <a:uLnTx/>
                <a:uFillTx/>
                <a:latin typeface="+mn-lt"/>
                <a:ea typeface="+mn-ea"/>
                <a:cs typeface="+mn-ea"/>
                <a:sym typeface="+mn-lt"/>
              </a:rPr>
              <a:t>，</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16</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21</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25*</a:t>
            </a:r>
            <a:r>
              <a:rPr kumimoji="0" lang="zh-CN" altLang="en-US" sz="2800" b="1" i="0" u="none" strike="noStrike" kern="1200" cap="none" spc="0" normalizeH="0" baseline="0" noProof="0">
                <a:ln>
                  <a:noFill/>
                </a:ln>
                <a:solidFill>
                  <a:srgbClr val="FF3300"/>
                </a:solidFill>
                <a:effectLst/>
                <a:uLnTx/>
                <a:uFillTx/>
                <a:latin typeface="+mn-lt"/>
                <a:ea typeface="+mn-ea"/>
                <a:cs typeface="+mn-ea"/>
                <a:sym typeface="+mn-lt"/>
              </a:rPr>
              <a:t>，</a:t>
            </a:r>
            <a:r>
              <a:rPr kumimoji="0" lang="en-US" altLang="zh-CN" sz="2800" b="1" i="0" u="none" strike="noStrike" kern="1200" cap="none" spc="0" normalizeH="0" baseline="0" noProof="0">
                <a:ln>
                  <a:noFill/>
                </a:ln>
                <a:solidFill>
                  <a:srgbClr val="FF3300"/>
                </a:solidFill>
                <a:effectLst/>
                <a:uLnTx/>
                <a:uFillTx/>
                <a:latin typeface="+mn-lt"/>
                <a:ea typeface="+mn-ea"/>
                <a:cs typeface="+mn-ea"/>
                <a:sym typeface="+mn-lt"/>
              </a:rPr>
              <a:t>49</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lt">
                                    <p:tmAbs val="75"/>
                                  </p:iterate>
                                  <p:childTnLst>
                                    <p:set>
                                      <p:cBhvr>
                                        <p:cTn id="6" dur="1" fill="hold">
                                          <p:stCondLst>
                                            <p:cond delay="74"/>
                                          </p:stCondLst>
                                        </p:cTn>
                                        <p:tgtEl>
                                          <p:spTgt spid="1007728">
                                            <p:bg/>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type="lt">
                                    <p:tmAbs val="75"/>
                                  </p:iterate>
                                  <p:childTnLst>
                                    <p:set>
                                      <p:cBhvr>
                                        <p:cTn id="10" dur="1" fill="hold">
                                          <p:stCondLst>
                                            <p:cond delay="74"/>
                                          </p:stCondLst>
                                        </p:cTn>
                                        <p:tgtEl>
                                          <p:spTgt spid="1007728">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iterate type="lt">
                                    <p:tmAbs val="75"/>
                                  </p:iterate>
                                  <p:childTnLst>
                                    <p:set>
                                      <p:cBhvr>
                                        <p:cTn id="14" dur="1" fill="hold">
                                          <p:stCondLst>
                                            <p:cond delay="74"/>
                                          </p:stCondLst>
                                        </p:cTn>
                                        <p:tgtEl>
                                          <p:spTgt spid="1007728">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iterate type="lt">
                                    <p:tmAbs val="75"/>
                                  </p:iterate>
                                  <p:childTnLst>
                                    <p:set>
                                      <p:cBhvr>
                                        <p:cTn id="18" dur="1" fill="hold">
                                          <p:stCondLst>
                                            <p:cond delay="74"/>
                                          </p:stCondLst>
                                        </p:cTn>
                                        <p:tgtEl>
                                          <p:spTgt spid="1007728">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iterate type="lt">
                                    <p:tmAbs val="75"/>
                                  </p:iterate>
                                  <p:childTnLst>
                                    <p:set>
                                      <p:cBhvr>
                                        <p:cTn id="22" dur="1" fill="hold">
                                          <p:stCondLst>
                                            <p:cond delay="74"/>
                                          </p:stCondLst>
                                        </p:cTn>
                                        <p:tgtEl>
                                          <p:spTgt spid="1007728">
                                            <p:txEl>
                                              <p:pRg st="3" end="3"/>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iterate type="lt">
                                    <p:tmAbs val="75"/>
                                  </p:iterate>
                                  <p:childTnLst>
                                    <p:set>
                                      <p:cBhvr>
                                        <p:cTn id="26" dur="1" fill="hold">
                                          <p:stCondLst>
                                            <p:cond delay="74"/>
                                          </p:stCondLst>
                                        </p:cTn>
                                        <p:tgtEl>
                                          <p:spTgt spid="1007728">
                                            <p:txEl>
                                              <p:pRg st="4" end="4"/>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iterate type="lt">
                                    <p:tmAbs val="75"/>
                                  </p:iterate>
                                  <p:childTnLst>
                                    <p:set>
                                      <p:cBhvr>
                                        <p:cTn id="30" dur="1" fill="hold">
                                          <p:stCondLst>
                                            <p:cond delay="74"/>
                                          </p:stCondLst>
                                        </p:cTn>
                                        <p:tgtEl>
                                          <p:spTgt spid="1007728">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7728" grpId="0" build="p"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9693" name="Rectangle 29"/>
          <p:cNvSpPr>
            <a:spLocks noChangeArrowheads="1"/>
          </p:cNvSpPr>
          <p:nvPr/>
        </p:nvSpPr>
        <p:spPr bwMode="auto">
          <a:xfrm>
            <a:off x="827088" y="2159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冒泡排序</a:t>
            </a:r>
          </a:p>
        </p:txBody>
      </p:sp>
      <p:sp>
        <p:nvSpPr>
          <p:cNvPr id="57347" name="椭圆 4"/>
          <p:cNvSpPr/>
          <p:nvPr/>
        </p:nvSpPr>
        <p:spPr>
          <a:xfrm>
            <a:off x="990600" y="4595813"/>
            <a:ext cx="95250"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57348" name="椭圆 5"/>
          <p:cNvSpPr/>
          <p:nvPr/>
        </p:nvSpPr>
        <p:spPr>
          <a:xfrm>
            <a:off x="320675" y="4605338"/>
            <a:ext cx="95250"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57349" name="椭圆 11"/>
          <p:cNvSpPr/>
          <p:nvPr/>
        </p:nvSpPr>
        <p:spPr>
          <a:xfrm>
            <a:off x="315913" y="2238375"/>
            <a:ext cx="96837"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8" name="矩形 7"/>
          <p:cNvSpPr>
            <a:spLocks noChangeArrowheads="1"/>
          </p:cNvSpPr>
          <p:nvPr/>
        </p:nvSpPr>
        <p:spPr bwMode="auto">
          <a:xfrm>
            <a:off x="14288" y="2349500"/>
            <a:ext cx="9140825" cy="2339975"/>
          </a:xfrm>
          <a:prstGeom prst="rect">
            <a:avLst/>
          </a:prstGeom>
          <a:solidFill>
            <a:srgbClr val="F2F2F2"/>
          </a:solidFill>
          <a:ln>
            <a:noFill/>
          </a:ln>
        </p:spPr>
        <p:txBody>
          <a:bodyPr lIns="4248000" rIns="252000" anchor="ctr"/>
          <a:lstStyle/>
          <a:p>
            <a:pPr marL="0" marR="0" lvl="0" indent="0" algn="just" defTabSz="914400" rtl="0" eaLnBrk="1" fontAlgn="base" latinLnBrk="0" hangingPunct="1">
              <a:lnSpc>
                <a:spcPct val="130000"/>
              </a:lnSpc>
              <a:spcBef>
                <a:spcPts val="600"/>
              </a:spcBef>
              <a:spcAft>
                <a:spcPts val="600"/>
              </a:spcAft>
              <a:buClrTx/>
              <a:buSzTx/>
              <a:buFont typeface="Arial" panose="020B0604020202020204" pitchFamily="34" charset="0"/>
              <a:buNone/>
              <a:defRPr/>
            </a:pPr>
            <a:endParaRPr kumimoji="0" lang="zh-CN" altLang="en-US" sz="2800" b="1"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9" name="圆角矩形 15"/>
          <p:cNvSpPr>
            <a:spLocks noChangeArrowheads="1"/>
          </p:cNvSpPr>
          <p:nvPr/>
        </p:nvSpPr>
        <p:spPr bwMode="auto">
          <a:xfrm>
            <a:off x="346075" y="2235200"/>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352" name="椭圆 9"/>
          <p:cNvSpPr/>
          <p:nvPr/>
        </p:nvSpPr>
        <p:spPr>
          <a:xfrm>
            <a:off x="985838" y="2228850"/>
            <a:ext cx="96837"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1" name="圆角矩形 15"/>
          <p:cNvSpPr>
            <a:spLocks noChangeArrowheads="1"/>
          </p:cNvSpPr>
          <p:nvPr/>
        </p:nvSpPr>
        <p:spPr bwMode="auto">
          <a:xfrm>
            <a:off x="1016000" y="2225675"/>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09695" name="Rectangle 31"/>
          <p:cNvSpPr>
            <a:spLocks noChangeArrowheads="1"/>
          </p:cNvSpPr>
          <p:nvPr/>
        </p:nvSpPr>
        <p:spPr bwMode="auto">
          <a:xfrm>
            <a:off x="1641475" y="2540000"/>
            <a:ext cx="7097713" cy="1933575"/>
          </a:xfrm>
          <a:prstGeom prst="rect">
            <a:avLst/>
          </a:prstGeom>
          <a:noFill/>
          <a:ln w="38100">
            <a:noFill/>
            <a:miter lim="800000"/>
          </a:ln>
        </p:spPr>
        <p:txBody>
          <a:bodyPr>
            <a:spAutoFit/>
          </a:bodyPr>
          <a:lstStyle>
            <a:lvl1pPr marL="952500" indent="-9525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60045" marR="0" lvl="0" indent="-95250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rgbClr val="FF0000"/>
                </a:solidFill>
                <a:effectLst/>
                <a:uLnTx/>
                <a:uFillTx/>
                <a:latin typeface="+mn-lt"/>
                <a:ea typeface="+mn-ea"/>
                <a:cs typeface="+mn-ea"/>
                <a:sym typeface="+mn-lt"/>
              </a:rPr>
              <a:t>    优点：</a:t>
            </a:r>
            <a:endParaRPr kumimoji="0" lang="en-US" altLang="zh-CN" sz="2600" b="0" i="0" u="none" strike="noStrike" kern="1200" cap="none" spc="0" normalizeH="0" baseline="0" noProof="0" dirty="0">
              <a:ln>
                <a:noFill/>
              </a:ln>
              <a:solidFill>
                <a:srgbClr val="FF0000"/>
              </a:solidFill>
              <a:effectLst/>
              <a:uLnTx/>
              <a:uFillTx/>
              <a:latin typeface="+mn-lt"/>
              <a:ea typeface="+mn-ea"/>
              <a:cs typeface="+mn-ea"/>
              <a:sym typeface="+mn-lt"/>
            </a:endParaRPr>
          </a:p>
          <a:p>
            <a:pPr marL="360045" marR="0" lvl="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每趟结束时，不仅能挤出一个最大值到最后面位置，还能同时部分理顺其他元素；</a:t>
            </a:r>
          </a:p>
          <a:p>
            <a:pPr marL="360045" marR="0" lvl="0" indent="-95250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rgbClr val="FF3300"/>
                </a:solidFill>
                <a:effectLst/>
                <a:uLnTx/>
                <a:uFillTx/>
                <a:latin typeface="+mn-lt"/>
                <a:ea typeface="+mn-ea"/>
                <a:cs typeface="+mn-ea"/>
                <a:sym typeface="+mn-lt"/>
              </a:rPr>
              <a:t>    一旦下趟没有交换，还可提前结束排序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009695"/>
                                        </p:tgtEl>
                                        <p:attrNameLst>
                                          <p:attrName>style.visibility</p:attrName>
                                        </p:attrNameLst>
                                      </p:cBhvr>
                                      <p:to>
                                        <p:strVal val="visible"/>
                                      </p:to>
                                    </p:set>
                                    <p:animEffect transition="in" filter="box(in)">
                                      <p:cBhvr>
                                        <p:cTn id="7" dur="500"/>
                                        <p:tgtEl>
                                          <p:spTgt spid="10096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9695"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2436" name="Rectangle 4"/>
          <p:cNvSpPr>
            <a:spLocks noGrp="1" noChangeArrowheads="1"/>
          </p:cNvSpPr>
          <p:nvPr>
            <p:ph idx="1"/>
          </p:nvPr>
        </p:nvSpPr>
        <p:spPr>
          <a:xfrm>
            <a:off x="0" y="1268413"/>
            <a:ext cx="9144000" cy="4862513"/>
          </a:xfrm>
          <a:solidFill>
            <a:schemeClr val="accent1">
              <a:lumMod val="20000"/>
              <a:lumOff val="80000"/>
            </a:schemeClr>
          </a:solidFill>
        </p:spPr>
        <p:txBody>
          <a:bodyPr vert="horz" wrap="square" lIns="91440" tIns="45720" rIns="91440" bIns="45720" numCol="1" anchor="t" anchorCtr="0" compatLnSpc="1"/>
          <a:lstStyle/>
          <a:p>
            <a:pPr marL="0" marR="0" lvl="0" indent="538480" algn="l" defTabSz="914400" rtl="0" eaLnBrk="0" fontAlgn="base" latinLnBrk="0" hangingPunct="0">
              <a:lnSpc>
                <a:spcPct val="130000"/>
              </a:lnSpc>
              <a:spcBef>
                <a:spcPct val="0"/>
              </a:spcBef>
              <a:spcAft>
                <a:spcPct val="0"/>
              </a:spcAft>
              <a:buClrTx/>
              <a:buSzTx/>
              <a:buFontTx/>
              <a:buNone/>
              <a:defRPr/>
            </a:pP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void main() 			 </a:t>
            </a:r>
          </a:p>
          <a:p>
            <a:pPr marL="0" marR="0" lvl="0" indent="538480" algn="l" defTabSz="914400" rtl="0" eaLnBrk="0" fontAlgn="base" latinLnBrk="0" hangingPunct="0">
              <a:lnSpc>
                <a:spcPct val="130000"/>
              </a:lnSpc>
              <a:spcBef>
                <a:spcPct val="0"/>
              </a:spcBef>
              <a:spcAft>
                <a:spcPct val="0"/>
              </a:spcAft>
              <a:buClrTx/>
              <a:buSzTx/>
              <a:buFontTx/>
              <a:buNone/>
              <a:defRPr/>
            </a:pP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	int a[11];		/*a[0]</a:t>
            </a:r>
            <a:r>
              <a:rPr kumimoji="0" lang="zh-CN" altLang="en-US" sz="2400" b="0" i="0" u="none" strike="noStrike" kern="0" cap="none" spc="0" normalizeH="0" baseline="0" noProof="0" dirty="0">
                <a:ln>
                  <a:noFill/>
                </a:ln>
                <a:solidFill>
                  <a:schemeClr val="tx1"/>
                </a:solidFill>
                <a:effectLst/>
                <a:uLnTx/>
                <a:uFillTx/>
                <a:latin typeface="+mn-lt"/>
                <a:ea typeface="+mn-ea"/>
                <a:cs typeface="+mn-ea"/>
                <a:sym typeface="+mn-lt"/>
              </a:rPr>
              <a:t>不用，之用</a:t>
            </a: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a[1]~a[10]*/</a:t>
            </a:r>
          </a:p>
          <a:p>
            <a:pPr marL="0" marR="0" lvl="0" indent="538480" algn="l" defTabSz="914400" rtl="0" eaLnBrk="0" fontAlgn="base" latinLnBrk="0" hangingPunct="0">
              <a:lnSpc>
                <a:spcPct val="130000"/>
              </a:lnSpc>
              <a:spcBef>
                <a:spcPct val="0"/>
              </a:spcBef>
              <a:spcAft>
                <a:spcPct val="0"/>
              </a:spcAft>
              <a:buClrTx/>
              <a:buSzTx/>
              <a:buFontTx/>
              <a:buNone/>
              <a:defRPr/>
            </a:pP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	int </a:t>
            </a:r>
            <a:r>
              <a:rPr kumimoji="0" lang="en-US" altLang="zh-CN" sz="2400" b="0" i="0" u="none" strike="noStrike" kern="0" cap="none" spc="0" normalizeH="0" baseline="0" noProof="0" dirty="0" err="1">
                <a:ln>
                  <a:noFill/>
                </a:ln>
                <a:solidFill>
                  <a:schemeClr val="tx1"/>
                </a:solidFill>
                <a:effectLst/>
                <a:uLnTx/>
                <a:uFillTx/>
                <a:latin typeface="+mn-lt"/>
                <a:ea typeface="+mn-ea"/>
                <a:cs typeface="+mn-ea"/>
                <a:sym typeface="+mn-lt"/>
              </a:rPr>
              <a:t>i,j,t</a:t>
            </a: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a:t>
            </a:r>
          </a:p>
          <a:p>
            <a:pPr marL="0" marR="0" lvl="0" indent="538480" algn="l" defTabSz="914400" rtl="0" eaLnBrk="0" fontAlgn="base" latinLnBrk="0" hangingPunct="0">
              <a:lnSpc>
                <a:spcPct val="130000"/>
              </a:lnSpc>
              <a:spcBef>
                <a:spcPct val="0"/>
              </a:spcBef>
              <a:spcAft>
                <a:spcPct val="0"/>
              </a:spcAft>
              <a:buClrTx/>
              <a:buSzTx/>
              <a:buFontTx/>
              <a:buNone/>
              <a:defRPr/>
            </a:pP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	printf("\</a:t>
            </a:r>
            <a:r>
              <a:rPr kumimoji="0" lang="en-US" altLang="zh-CN" sz="2400" b="0" i="0" u="none" strike="noStrike" kern="0" cap="none" spc="0" normalizeH="0" baseline="0" noProof="0" dirty="0" err="1">
                <a:ln>
                  <a:noFill/>
                </a:ln>
                <a:solidFill>
                  <a:schemeClr val="tx1"/>
                </a:solidFill>
                <a:effectLst/>
                <a:uLnTx/>
                <a:uFillTx/>
                <a:latin typeface="+mn-lt"/>
                <a:ea typeface="+mn-ea"/>
                <a:cs typeface="+mn-ea"/>
                <a:sym typeface="+mn-lt"/>
              </a:rPr>
              <a:t>nInput</a:t>
            </a: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 10 numbers: \n");</a:t>
            </a:r>
          </a:p>
          <a:p>
            <a:pPr marL="0" marR="0" lvl="0" indent="538480" algn="l" defTabSz="914400" rtl="0" eaLnBrk="0" fontAlgn="base" latinLnBrk="0" hangingPunct="0">
              <a:lnSpc>
                <a:spcPct val="130000"/>
              </a:lnSpc>
              <a:spcBef>
                <a:spcPct val="0"/>
              </a:spcBef>
              <a:spcAft>
                <a:spcPct val="0"/>
              </a:spcAft>
              <a:buClrTx/>
              <a:buSzTx/>
              <a:buFontTx/>
              <a:buNone/>
              <a:defRPr/>
            </a:pP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	for(</a:t>
            </a:r>
            <a:r>
              <a:rPr kumimoji="0" lang="en-US" altLang="zh-CN" sz="2400" b="0" i="0" u="none" strike="noStrike" kern="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=1;i&lt;=10;i++)	scanf("%</a:t>
            </a:r>
            <a:r>
              <a:rPr kumimoji="0" lang="en-US" altLang="zh-CN" sz="2400" b="0" i="0" u="none" strike="noStrike" kern="0" cap="none" spc="0" normalizeH="0" baseline="0" noProof="0" dirty="0" err="1">
                <a:ln>
                  <a:noFill/>
                </a:ln>
                <a:solidFill>
                  <a:schemeClr val="tx1"/>
                </a:solidFill>
                <a:effectLst/>
                <a:uLnTx/>
                <a:uFillTx/>
                <a:latin typeface="+mn-lt"/>
                <a:ea typeface="+mn-ea"/>
                <a:cs typeface="+mn-ea"/>
                <a:sym typeface="+mn-lt"/>
              </a:rPr>
              <a:t>d",&amp;a</a:t>
            </a: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	printf("\n");</a:t>
            </a:r>
          </a:p>
          <a:p>
            <a:pPr marL="0" marR="0" lvl="0" indent="538480" algn="l" defTabSz="914400" rtl="0" eaLnBrk="0" fontAlgn="base" latinLnBrk="0" hangingPunct="0">
              <a:lnSpc>
                <a:spcPct val="130000"/>
              </a:lnSpc>
              <a:spcBef>
                <a:spcPct val="0"/>
              </a:spcBef>
              <a:spcAft>
                <a:spcPct val="0"/>
              </a:spcAft>
              <a:buClrTx/>
              <a:buSzTx/>
              <a:buFontTx/>
              <a:buNone/>
              <a:defRPr/>
            </a:pP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0" cap="none" spc="0" normalizeH="0" baseline="0" noProof="0" dirty="0">
                <a:ln>
                  <a:noFill/>
                </a:ln>
                <a:solidFill>
                  <a:srgbClr val="FF3300"/>
                </a:solidFill>
                <a:effectLst/>
                <a:uLnTx/>
                <a:uFillTx/>
                <a:latin typeface="+mn-lt"/>
                <a:ea typeface="+mn-ea"/>
                <a:cs typeface="+mn-ea"/>
                <a:sym typeface="+mn-lt"/>
              </a:rPr>
              <a:t>for(j=1;j&lt;=9;j++)</a:t>
            </a:r>
          </a:p>
          <a:p>
            <a:pPr marL="0" marR="0" lvl="0" indent="538480" algn="l" defTabSz="914400" rtl="0" eaLnBrk="0" fontAlgn="base" latinLnBrk="0" hangingPunct="0">
              <a:lnSpc>
                <a:spcPct val="130000"/>
              </a:lnSpc>
              <a:spcBef>
                <a:spcPct val="0"/>
              </a:spcBef>
              <a:spcAft>
                <a:spcPct val="0"/>
              </a:spcAft>
              <a:buClrTx/>
              <a:buSzTx/>
              <a:buFontTx/>
              <a:buNone/>
              <a:defRPr/>
            </a:pPr>
            <a:r>
              <a:rPr kumimoji="0" lang="en-US" altLang="zh-CN" sz="2400" b="0" i="0" u="none" strike="noStrike" kern="0" cap="none" spc="0" normalizeH="0" baseline="0" noProof="0" dirty="0">
                <a:ln>
                  <a:noFill/>
                </a:ln>
                <a:solidFill>
                  <a:srgbClr val="FF3300"/>
                </a:solidFill>
                <a:effectLst/>
                <a:uLnTx/>
                <a:uFillTx/>
                <a:latin typeface="+mn-lt"/>
                <a:ea typeface="+mn-ea"/>
                <a:cs typeface="+mn-ea"/>
                <a:sym typeface="+mn-lt"/>
              </a:rPr>
              <a:t>	    for(</a:t>
            </a:r>
            <a:r>
              <a:rPr kumimoji="0" lang="en-US" altLang="zh-CN" sz="2400" b="0" i="0" u="none" strike="noStrike" kern="0" cap="none" spc="0" normalizeH="0" baseline="0" noProof="0" dirty="0" err="1">
                <a:ln>
                  <a:noFill/>
                </a:ln>
                <a:solidFill>
                  <a:srgbClr val="FF3300"/>
                </a:solidFill>
                <a:effectLst/>
                <a:uLnTx/>
                <a:uFillTx/>
                <a:latin typeface="+mn-lt"/>
                <a:ea typeface="+mn-ea"/>
                <a:cs typeface="+mn-ea"/>
                <a:sym typeface="+mn-lt"/>
              </a:rPr>
              <a:t>i</a:t>
            </a:r>
            <a:r>
              <a:rPr kumimoji="0" lang="en-US" altLang="zh-CN" sz="2400" b="0" i="0" u="none" strike="noStrike" kern="0" cap="none" spc="0" normalizeH="0" baseline="0" noProof="0" dirty="0">
                <a:ln>
                  <a:noFill/>
                </a:ln>
                <a:solidFill>
                  <a:srgbClr val="FF3300"/>
                </a:solidFill>
                <a:effectLst/>
                <a:uLnTx/>
                <a:uFillTx/>
                <a:latin typeface="+mn-lt"/>
                <a:ea typeface="+mn-ea"/>
                <a:cs typeface="+mn-ea"/>
                <a:sym typeface="+mn-lt"/>
              </a:rPr>
              <a:t>=1;i&lt;=10-j;i++)</a:t>
            </a:r>
          </a:p>
          <a:p>
            <a:pPr marL="0" marR="0" lvl="0" indent="538480" algn="l" defTabSz="914400" rtl="0" eaLnBrk="0" fontAlgn="base" latinLnBrk="0" hangingPunct="0">
              <a:lnSpc>
                <a:spcPct val="130000"/>
              </a:lnSpc>
              <a:spcBef>
                <a:spcPct val="0"/>
              </a:spcBef>
              <a:spcAft>
                <a:spcPct val="0"/>
              </a:spcAft>
              <a:buClrTx/>
              <a:buSzTx/>
              <a:buFontTx/>
              <a:buNone/>
              <a:defRPr/>
            </a:pP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0" cap="none" spc="0" normalizeH="0" baseline="0" noProof="0" dirty="0">
                <a:ln>
                  <a:noFill/>
                </a:ln>
                <a:solidFill>
                  <a:srgbClr val="FF3300"/>
                </a:solidFill>
                <a:effectLst/>
                <a:uLnTx/>
                <a:uFillTx/>
                <a:latin typeface="+mn-lt"/>
                <a:ea typeface="+mn-ea"/>
                <a:cs typeface="+mn-ea"/>
                <a:sym typeface="+mn-lt"/>
              </a:rPr>
              <a:t>if(a[</a:t>
            </a:r>
            <a:r>
              <a:rPr kumimoji="0" lang="en-US" altLang="zh-CN" sz="2400" b="0" i="0" u="none" strike="noStrike" kern="0" cap="none" spc="0" normalizeH="0" baseline="0" noProof="0" dirty="0" err="1">
                <a:ln>
                  <a:noFill/>
                </a:ln>
                <a:solidFill>
                  <a:srgbClr val="FF3300"/>
                </a:solidFill>
                <a:effectLst/>
                <a:uLnTx/>
                <a:uFillTx/>
                <a:latin typeface="+mn-lt"/>
                <a:ea typeface="+mn-ea"/>
                <a:cs typeface="+mn-ea"/>
                <a:sym typeface="+mn-lt"/>
              </a:rPr>
              <a:t>i</a:t>
            </a:r>
            <a:r>
              <a:rPr kumimoji="0" lang="en-US" altLang="zh-CN" sz="2400" b="0" i="0" u="none" strike="noStrike" kern="0" cap="none" spc="0" normalizeH="0" baseline="0" noProof="0" dirty="0">
                <a:ln>
                  <a:noFill/>
                </a:ln>
                <a:solidFill>
                  <a:srgbClr val="FF3300"/>
                </a:solidFill>
                <a:effectLst/>
                <a:uLnTx/>
                <a:uFillTx/>
                <a:latin typeface="+mn-lt"/>
                <a:ea typeface="+mn-ea"/>
                <a:cs typeface="+mn-ea"/>
                <a:sym typeface="+mn-lt"/>
              </a:rPr>
              <a:t>]&gt;a[i+1])	{t=a[</a:t>
            </a:r>
            <a:r>
              <a:rPr kumimoji="0" lang="en-US" altLang="zh-CN" sz="2400" b="0" i="0" u="none" strike="noStrike" kern="0" cap="none" spc="0" normalizeH="0" baseline="0" noProof="0" dirty="0" err="1">
                <a:ln>
                  <a:noFill/>
                </a:ln>
                <a:solidFill>
                  <a:srgbClr val="FF3300"/>
                </a:solidFill>
                <a:effectLst/>
                <a:uLnTx/>
                <a:uFillTx/>
                <a:latin typeface="+mn-lt"/>
                <a:ea typeface="+mn-ea"/>
                <a:cs typeface="+mn-ea"/>
                <a:sym typeface="+mn-lt"/>
              </a:rPr>
              <a:t>i</a:t>
            </a:r>
            <a:r>
              <a:rPr kumimoji="0" lang="en-US" altLang="zh-CN" sz="2400" b="0" i="0" u="none" strike="noStrike" kern="0" cap="none" spc="0" normalizeH="0" baseline="0" noProof="0" dirty="0">
                <a:ln>
                  <a:noFill/>
                </a:ln>
                <a:solidFill>
                  <a:srgbClr val="FF3300"/>
                </a:solidFill>
                <a:effectLst/>
                <a:uLnTx/>
                <a:uFillTx/>
                <a:latin typeface="+mn-lt"/>
                <a:ea typeface="+mn-ea"/>
                <a:cs typeface="+mn-ea"/>
                <a:sym typeface="+mn-lt"/>
              </a:rPr>
              <a:t>];a[</a:t>
            </a:r>
            <a:r>
              <a:rPr kumimoji="0" lang="en-US" altLang="zh-CN" sz="2400" b="0" i="0" u="none" strike="noStrike" kern="0" cap="none" spc="0" normalizeH="0" baseline="0" noProof="0" dirty="0" err="1">
                <a:ln>
                  <a:noFill/>
                </a:ln>
                <a:solidFill>
                  <a:srgbClr val="FF3300"/>
                </a:solidFill>
                <a:effectLst/>
                <a:uLnTx/>
                <a:uFillTx/>
                <a:latin typeface="+mn-lt"/>
                <a:ea typeface="+mn-ea"/>
                <a:cs typeface="+mn-ea"/>
                <a:sym typeface="+mn-lt"/>
              </a:rPr>
              <a:t>i</a:t>
            </a:r>
            <a:r>
              <a:rPr kumimoji="0" lang="en-US" altLang="zh-CN" sz="2400" b="0" i="0" u="none" strike="noStrike" kern="0" cap="none" spc="0" normalizeH="0" baseline="0" noProof="0" dirty="0">
                <a:ln>
                  <a:noFill/>
                </a:ln>
                <a:solidFill>
                  <a:srgbClr val="FF3300"/>
                </a:solidFill>
                <a:effectLst/>
                <a:uLnTx/>
                <a:uFillTx/>
                <a:latin typeface="+mn-lt"/>
                <a:ea typeface="+mn-ea"/>
                <a:cs typeface="+mn-ea"/>
                <a:sym typeface="+mn-lt"/>
              </a:rPr>
              <a:t>]=a[i+1];a[i+1]=t;}</a:t>
            </a:r>
            <a:r>
              <a:rPr kumimoji="0" lang="en-US" altLang="zh-CN" sz="2400" b="1" i="0" u="none" strike="noStrike" kern="0" cap="none" spc="0" normalizeH="0" baseline="0" noProof="0" dirty="0">
                <a:ln>
                  <a:noFill/>
                </a:ln>
                <a:solidFill>
                  <a:schemeClr val="accent2"/>
                </a:solidFill>
                <a:effectLst/>
                <a:uLnTx/>
                <a:uFillTx/>
                <a:latin typeface="+mn-lt"/>
                <a:ea typeface="+mn-ea"/>
                <a:cs typeface="+mn-ea"/>
                <a:sym typeface="+mn-lt"/>
              </a:rPr>
              <a:t>//</a:t>
            </a:r>
            <a:r>
              <a:rPr kumimoji="0" lang="zh-CN" altLang="en-US" sz="2400" b="1" i="0" u="none" strike="noStrike" kern="0" cap="none" spc="0" normalizeH="0" baseline="0" noProof="0" dirty="0">
                <a:ln>
                  <a:noFill/>
                </a:ln>
                <a:solidFill>
                  <a:schemeClr val="accent2"/>
                </a:solidFill>
                <a:effectLst/>
                <a:uLnTx/>
                <a:uFillTx/>
                <a:latin typeface="+mn-lt"/>
                <a:ea typeface="+mn-ea"/>
                <a:cs typeface="+mn-ea"/>
                <a:sym typeface="+mn-lt"/>
              </a:rPr>
              <a:t>交换</a:t>
            </a:r>
          </a:p>
          <a:p>
            <a:pPr marL="0" marR="0" lvl="0" indent="538480" algn="l" defTabSz="914400" rtl="0" eaLnBrk="0" fontAlgn="base" latinLnBrk="0" hangingPunct="0">
              <a:lnSpc>
                <a:spcPct val="130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for(</a:t>
            </a:r>
            <a:r>
              <a:rPr kumimoji="0" lang="en-US" altLang="zh-CN" sz="2400" b="0" i="0" u="none" strike="noStrike" kern="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=1;i&lt;=10;i++)	printf("%d ",a[</a:t>
            </a:r>
            <a:r>
              <a:rPr kumimoji="0" lang="en-US" altLang="zh-CN" sz="2400" b="0" i="0" u="none" strike="noStrike" kern="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   </a:t>
            </a:r>
          </a:p>
          <a:p>
            <a:pPr marL="0" marR="0" lvl="0" indent="538480" algn="l" defTabSz="914400" rtl="0" eaLnBrk="0" fontAlgn="base" latinLnBrk="0" hangingPunct="0">
              <a:lnSpc>
                <a:spcPct val="130000"/>
              </a:lnSpc>
              <a:spcBef>
                <a:spcPct val="0"/>
              </a:spcBef>
              <a:spcAft>
                <a:spcPct val="0"/>
              </a:spcAft>
              <a:buClrTx/>
              <a:buSzTx/>
              <a:buFontTx/>
              <a:buNone/>
              <a:defRPr/>
            </a:pPr>
            <a:r>
              <a:rPr kumimoji="0" lang="en-US" altLang="zh-CN" sz="2400" b="0" i="0" u="none" strike="noStrike" kern="0" cap="none" spc="0" normalizeH="0" baseline="0" noProof="0" dirty="0">
                <a:ln>
                  <a:noFill/>
                </a:ln>
                <a:solidFill>
                  <a:schemeClr val="tx1"/>
                </a:solidFill>
                <a:effectLst/>
                <a:uLnTx/>
                <a:uFillTx/>
                <a:latin typeface="+mn-lt"/>
                <a:ea typeface="+mn-ea"/>
                <a:cs typeface="+mn-ea"/>
                <a:sym typeface="+mn-lt"/>
              </a:rPr>
              <a:t>}</a:t>
            </a:r>
          </a:p>
        </p:txBody>
      </p:sp>
      <p:sp>
        <p:nvSpPr>
          <p:cNvPr id="4" name="Rectangle 29"/>
          <p:cNvSpPr>
            <a:spLocks noChangeArrowheads="1"/>
          </p:cNvSpPr>
          <p:nvPr/>
        </p:nvSpPr>
        <p:spPr bwMode="auto">
          <a:xfrm>
            <a:off x="827088" y="2159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冒泡排序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42436"/>
                                        </p:tgtEl>
                                        <p:attrNameLst>
                                          <p:attrName>style.visibility</p:attrName>
                                        </p:attrNameLst>
                                      </p:cBhvr>
                                      <p:to>
                                        <p:strVal val="visible"/>
                                      </p:to>
                                    </p:set>
                                    <p:anim calcmode="lin" valueType="num">
                                      <p:cBhvr additive="base">
                                        <p:cTn id="7" dur="500" fill="hold"/>
                                        <p:tgtEl>
                                          <p:spTgt spid="1042436"/>
                                        </p:tgtEl>
                                        <p:attrNameLst>
                                          <p:attrName>ppt_x</p:attrName>
                                        </p:attrNameLst>
                                      </p:cBhvr>
                                      <p:tavLst>
                                        <p:tav tm="0">
                                          <p:val>
                                            <p:strVal val="0-#ppt_w/2"/>
                                          </p:val>
                                        </p:tav>
                                        <p:tav tm="100000">
                                          <p:val>
                                            <p:strVal val="#ppt_x"/>
                                          </p:val>
                                        </p:tav>
                                      </p:tavLst>
                                    </p:anim>
                                    <p:anim calcmode="lin" valueType="num">
                                      <p:cBhvr additive="base">
                                        <p:cTn id="8" dur="500" fill="hold"/>
                                        <p:tgtEl>
                                          <p:spTgt spid="10424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243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1787525" y="1052513"/>
            <a:ext cx="509588" cy="4838700"/>
            <a:chOff x="1572" y="473"/>
            <a:chExt cx="321" cy="3048"/>
          </a:xfrm>
        </p:grpSpPr>
        <p:sp>
          <p:nvSpPr>
            <p:cNvPr id="45060" name="Text Box 9"/>
            <p:cNvSpPr txBox="1">
              <a:spLocks noChangeArrowheads="1"/>
            </p:cNvSpPr>
            <p:nvPr/>
          </p:nvSpPr>
          <p:spPr bwMode="auto">
            <a:xfrm>
              <a:off x="1583" y="473"/>
              <a:ext cx="310" cy="2441"/>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38    49    65    76    13    27    30   97</a:t>
              </a:r>
            </a:p>
          </p:txBody>
        </p:sp>
        <p:sp>
          <p:nvSpPr>
            <p:cNvPr id="45061" name="Text Box 10"/>
            <p:cNvSpPr txBox="1">
              <a:spLocks noChangeArrowheads="1"/>
            </p:cNvSpPr>
            <p:nvPr/>
          </p:nvSpPr>
          <p:spPr bwMode="auto">
            <a:xfrm>
              <a:off x="1572" y="2817"/>
              <a:ext cx="310" cy="704"/>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第一趟</a:t>
              </a:r>
            </a:p>
          </p:txBody>
        </p:sp>
      </p:grpSp>
      <p:grpSp>
        <p:nvGrpSpPr>
          <p:cNvPr id="3" name="Group 11"/>
          <p:cNvGrpSpPr/>
          <p:nvPr/>
        </p:nvGrpSpPr>
        <p:grpSpPr>
          <a:xfrm>
            <a:off x="2430463" y="1052513"/>
            <a:ext cx="492125" cy="4838700"/>
            <a:chOff x="1976" y="473"/>
            <a:chExt cx="311" cy="3048"/>
          </a:xfrm>
        </p:grpSpPr>
        <p:sp>
          <p:nvSpPr>
            <p:cNvPr id="45063" name="Text Box 12"/>
            <p:cNvSpPr txBox="1">
              <a:spLocks noChangeArrowheads="1"/>
            </p:cNvSpPr>
            <p:nvPr/>
          </p:nvSpPr>
          <p:spPr bwMode="auto">
            <a:xfrm>
              <a:off x="1976" y="473"/>
              <a:ext cx="311" cy="2158"/>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38    49    65    13    27    30    76</a:t>
              </a:r>
            </a:p>
          </p:txBody>
        </p:sp>
        <p:sp>
          <p:nvSpPr>
            <p:cNvPr id="45064" name="Text Box 13"/>
            <p:cNvSpPr txBox="1">
              <a:spLocks noChangeArrowheads="1"/>
            </p:cNvSpPr>
            <p:nvPr/>
          </p:nvSpPr>
          <p:spPr bwMode="auto">
            <a:xfrm>
              <a:off x="1976" y="2817"/>
              <a:ext cx="311" cy="704"/>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第二趟</a:t>
              </a:r>
            </a:p>
          </p:txBody>
        </p:sp>
      </p:grpSp>
      <p:grpSp>
        <p:nvGrpSpPr>
          <p:cNvPr id="4" name="Group 14"/>
          <p:cNvGrpSpPr/>
          <p:nvPr/>
        </p:nvGrpSpPr>
        <p:grpSpPr>
          <a:xfrm>
            <a:off x="3054350" y="1052513"/>
            <a:ext cx="492125" cy="4838700"/>
            <a:chOff x="2370" y="473"/>
            <a:chExt cx="310" cy="3048"/>
          </a:xfrm>
        </p:grpSpPr>
        <p:sp>
          <p:nvSpPr>
            <p:cNvPr id="45066" name="Text Box 15"/>
            <p:cNvSpPr txBox="1">
              <a:spLocks noChangeArrowheads="1"/>
            </p:cNvSpPr>
            <p:nvPr/>
          </p:nvSpPr>
          <p:spPr bwMode="auto">
            <a:xfrm>
              <a:off x="2370" y="473"/>
              <a:ext cx="310" cy="1795"/>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38    49    13    27    30   65</a:t>
              </a:r>
            </a:p>
          </p:txBody>
        </p:sp>
        <p:sp>
          <p:nvSpPr>
            <p:cNvPr id="45067" name="Text Box 16"/>
            <p:cNvSpPr txBox="1">
              <a:spLocks noChangeArrowheads="1"/>
            </p:cNvSpPr>
            <p:nvPr/>
          </p:nvSpPr>
          <p:spPr bwMode="auto">
            <a:xfrm>
              <a:off x="2370" y="2817"/>
              <a:ext cx="310" cy="704"/>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第三趟</a:t>
              </a:r>
            </a:p>
          </p:txBody>
        </p:sp>
      </p:grpSp>
      <p:grpSp>
        <p:nvGrpSpPr>
          <p:cNvPr id="5" name="Group 17"/>
          <p:cNvGrpSpPr/>
          <p:nvPr/>
        </p:nvGrpSpPr>
        <p:grpSpPr>
          <a:xfrm>
            <a:off x="3679825" y="1052513"/>
            <a:ext cx="509588" cy="4838700"/>
            <a:chOff x="2764" y="473"/>
            <a:chExt cx="321" cy="3048"/>
          </a:xfrm>
        </p:grpSpPr>
        <p:sp>
          <p:nvSpPr>
            <p:cNvPr id="45069" name="Text Box 18"/>
            <p:cNvSpPr txBox="1">
              <a:spLocks noChangeArrowheads="1"/>
            </p:cNvSpPr>
            <p:nvPr/>
          </p:nvSpPr>
          <p:spPr bwMode="auto">
            <a:xfrm>
              <a:off x="2775" y="473"/>
              <a:ext cx="310" cy="1431"/>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38    13    27   30   49</a:t>
              </a:r>
            </a:p>
          </p:txBody>
        </p:sp>
        <p:sp>
          <p:nvSpPr>
            <p:cNvPr id="45070" name="Text Box 19"/>
            <p:cNvSpPr txBox="1">
              <a:spLocks noChangeArrowheads="1"/>
            </p:cNvSpPr>
            <p:nvPr/>
          </p:nvSpPr>
          <p:spPr bwMode="auto">
            <a:xfrm>
              <a:off x="2764" y="2817"/>
              <a:ext cx="310" cy="704"/>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第四趟</a:t>
              </a:r>
            </a:p>
          </p:txBody>
        </p:sp>
      </p:grpSp>
      <p:grpSp>
        <p:nvGrpSpPr>
          <p:cNvPr id="6" name="Group 20"/>
          <p:cNvGrpSpPr/>
          <p:nvPr/>
        </p:nvGrpSpPr>
        <p:grpSpPr>
          <a:xfrm>
            <a:off x="4321175" y="1052513"/>
            <a:ext cx="492125" cy="4838700"/>
            <a:chOff x="3168" y="473"/>
            <a:chExt cx="310" cy="3048"/>
          </a:xfrm>
        </p:grpSpPr>
        <p:sp>
          <p:nvSpPr>
            <p:cNvPr id="45072" name="Text Box 21"/>
            <p:cNvSpPr txBox="1">
              <a:spLocks noChangeArrowheads="1"/>
            </p:cNvSpPr>
            <p:nvPr/>
          </p:nvSpPr>
          <p:spPr bwMode="auto">
            <a:xfrm>
              <a:off x="3168" y="473"/>
              <a:ext cx="310" cy="1149"/>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13    27    30   38</a:t>
              </a:r>
            </a:p>
          </p:txBody>
        </p:sp>
        <p:sp>
          <p:nvSpPr>
            <p:cNvPr id="45073" name="Text Box 22"/>
            <p:cNvSpPr txBox="1">
              <a:spLocks noChangeArrowheads="1"/>
            </p:cNvSpPr>
            <p:nvPr/>
          </p:nvSpPr>
          <p:spPr bwMode="auto">
            <a:xfrm>
              <a:off x="3168" y="2817"/>
              <a:ext cx="310" cy="704"/>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第五趟</a:t>
              </a:r>
            </a:p>
          </p:txBody>
        </p:sp>
      </p:grpSp>
      <p:grpSp>
        <p:nvGrpSpPr>
          <p:cNvPr id="7" name="Group 23"/>
          <p:cNvGrpSpPr/>
          <p:nvPr/>
        </p:nvGrpSpPr>
        <p:grpSpPr>
          <a:xfrm>
            <a:off x="4946650" y="1052513"/>
            <a:ext cx="509588" cy="4838700"/>
            <a:chOff x="3562" y="473"/>
            <a:chExt cx="321" cy="3048"/>
          </a:xfrm>
        </p:grpSpPr>
        <p:sp>
          <p:nvSpPr>
            <p:cNvPr id="45075" name="Text Box 24"/>
            <p:cNvSpPr txBox="1">
              <a:spLocks noChangeArrowheads="1"/>
            </p:cNvSpPr>
            <p:nvPr/>
          </p:nvSpPr>
          <p:spPr bwMode="auto">
            <a:xfrm>
              <a:off x="3573" y="473"/>
              <a:ext cx="310" cy="866"/>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13    27    30</a:t>
              </a:r>
            </a:p>
          </p:txBody>
        </p:sp>
        <p:sp>
          <p:nvSpPr>
            <p:cNvPr id="45076" name="Text Box 25"/>
            <p:cNvSpPr txBox="1">
              <a:spLocks noChangeArrowheads="1"/>
            </p:cNvSpPr>
            <p:nvPr/>
          </p:nvSpPr>
          <p:spPr bwMode="auto">
            <a:xfrm>
              <a:off x="3562" y="2817"/>
              <a:ext cx="310" cy="704"/>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第六趟</a:t>
              </a:r>
            </a:p>
          </p:txBody>
        </p:sp>
      </p:grpSp>
      <p:grpSp>
        <p:nvGrpSpPr>
          <p:cNvPr id="8" name="Group 26"/>
          <p:cNvGrpSpPr/>
          <p:nvPr/>
        </p:nvGrpSpPr>
        <p:grpSpPr>
          <a:xfrm>
            <a:off x="1127125" y="1084263"/>
            <a:ext cx="598488" cy="5649912"/>
            <a:chOff x="1138" y="473"/>
            <a:chExt cx="376" cy="3559"/>
          </a:xfrm>
        </p:grpSpPr>
        <p:grpSp>
          <p:nvGrpSpPr>
            <p:cNvPr id="59441" name="Group 27"/>
            <p:cNvGrpSpPr/>
            <p:nvPr/>
          </p:nvGrpSpPr>
          <p:grpSpPr>
            <a:xfrm>
              <a:off x="1180" y="473"/>
              <a:ext cx="320" cy="3372"/>
              <a:chOff x="1180" y="473"/>
              <a:chExt cx="320" cy="3372"/>
            </a:xfrm>
          </p:grpSpPr>
          <p:sp>
            <p:nvSpPr>
              <p:cNvPr id="45079" name="Text Box 28"/>
              <p:cNvSpPr txBox="1">
                <a:spLocks noChangeArrowheads="1"/>
              </p:cNvSpPr>
              <p:nvPr/>
            </p:nvSpPr>
            <p:spPr bwMode="auto">
              <a:xfrm>
                <a:off x="1191" y="473"/>
                <a:ext cx="309" cy="2482"/>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49    38    65    97    76    13    27    30</a:t>
                </a:r>
              </a:p>
            </p:txBody>
          </p:sp>
          <p:sp>
            <p:nvSpPr>
              <p:cNvPr id="45080" name="Text Box 29"/>
              <p:cNvSpPr txBox="1">
                <a:spLocks noChangeArrowheads="1"/>
              </p:cNvSpPr>
              <p:nvPr/>
            </p:nvSpPr>
            <p:spPr bwMode="auto">
              <a:xfrm>
                <a:off x="1180" y="2817"/>
                <a:ext cx="309" cy="1028"/>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初始关键字</a:t>
                </a:r>
              </a:p>
            </p:txBody>
          </p:sp>
        </p:grpSp>
        <p:sp>
          <p:nvSpPr>
            <p:cNvPr id="45081" name="Rectangle 30"/>
            <p:cNvSpPr>
              <a:spLocks noChangeArrowheads="1"/>
            </p:cNvSpPr>
            <p:nvPr/>
          </p:nvSpPr>
          <p:spPr bwMode="auto">
            <a:xfrm>
              <a:off x="1138" y="3779"/>
              <a:ext cx="376" cy="253"/>
            </a:xfrm>
            <a:prstGeom prst="rect">
              <a:avLst/>
            </a:prstGeom>
            <a:noFill/>
            <a:ln>
              <a:noFill/>
            </a:ln>
          </p:spPr>
          <p:txBody>
            <a:bodyPr wrap="none" lIns="89990" tIns="46794" rIns="89990" bIns="46794"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n=8</a:t>
              </a:r>
            </a:p>
          </p:txBody>
        </p:sp>
      </p:grpSp>
      <p:sp>
        <p:nvSpPr>
          <p:cNvPr id="1014815" name="Text Box 31"/>
          <p:cNvSpPr txBox="1">
            <a:spLocks noChangeArrowheads="1"/>
          </p:cNvSpPr>
          <p:nvPr/>
        </p:nvSpPr>
        <p:spPr bwMode="auto">
          <a:xfrm>
            <a:off x="1284288" y="10366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38</a:t>
            </a:r>
          </a:p>
        </p:txBody>
      </p:sp>
      <p:sp>
        <p:nvSpPr>
          <p:cNvPr id="1014816" name="Text Box 32"/>
          <p:cNvSpPr txBox="1">
            <a:spLocks noChangeArrowheads="1"/>
          </p:cNvSpPr>
          <p:nvPr/>
        </p:nvSpPr>
        <p:spPr bwMode="auto">
          <a:xfrm>
            <a:off x="1257300" y="15700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a:t>
            </a:r>
          </a:p>
        </p:txBody>
      </p:sp>
      <p:sp>
        <p:nvSpPr>
          <p:cNvPr id="1014817" name="Text Box 33"/>
          <p:cNvSpPr txBox="1">
            <a:spLocks noChangeArrowheads="1"/>
          </p:cNvSpPr>
          <p:nvPr/>
        </p:nvSpPr>
        <p:spPr bwMode="auto">
          <a:xfrm>
            <a:off x="1257300" y="25511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p>
        </p:txBody>
      </p:sp>
      <p:sp>
        <p:nvSpPr>
          <p:cNvPr id="1014818" name="Text Box 34"/>
          <p:cNvSpPr txBox="1">
            <a:spLocks noChangeArrowheads="1"/>
          </p:cNvSpPr>
          <p:nvPr/>
        </p:nvSpPr>
        <p:spPr bwMode="auto">
          <a:xfrm>
            <a:off x="1257300" y="305276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p>
        </p:txBody>
      </p:sp>
      <p:sp>
        <p:nvSpPr>
          <p:cNvPr id="1014819" name="Text Box 35"/>
          <p:cNvSpPr txBox="1">
            <a:spLocks noChangeArrowheads="1"/>
          </p:cNvSpPr>
          <p:nvPr/>
        </p:nvSpPr>
        <p:spPr bwMode="auto">
          <a:xfrm>
            <a:off x="1254125" y="3040063"/>
            <a:ext cx="441325" cy="396875"/>
          </a:xfrm>
          <a:prstGeom prst="rect">
            <a:avLst/>
          </a:prstGeom>
          <a:solidFill>
            <a:schemeClr val="accent1">
              <a:lumMod val="20000"/>
              <a:lumOff val="80000"/>
            </a:schemeClr>
          </a:solidFill>
          <a:ln>
            <a:noFill/>
          </a:ln>
        </p:spPr>
        <p:txBody>
          <a:bodyPr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p>
        </p:txBody>
      </p:sp>
      <p:sp>
        <p:nvSpPr>
          <p:cNvPr id="1014820" name="Text Box 36"/>
          <p:cNvSpPr txBox="1">
            <a:spLocks noChangeArrowheads="1"/>
          </p:cNvSpPr>
          <p:nvPr/>
        </p:nvSpPr>
        <p:spPr bwMode="auto">
          <a:xfrm>
            <a:off x="1257300" y="356076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p>
        </p:txBody>
      </p:sp>
      <p:sp>
        <p:nvSpPr>
          <p:cNvPr id="1014821" name="Text Box 37"/>
          <p:cNvSpPr txBox="1">
            <a:spLocks noChangeArrowheads="1"/>
          </p:cNvSpPr>
          <p:nvPr/>
        </p:nvSpPr>
        <p:spPr bwMode="auto">
          <a:xfrm>
            <a:off x="1257300" y="35496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a:t>
            </a:r>
          </a:p>
        </p:txBody>
      </p:sp>
      <p:sp>
        <p:nvSpPr>
          <p:cNvPr id="1014822" name="Text Box 38"/>
          <p:cNvSpPr txBox="1">
            <a:spLocks noChangeArrowheads="1"/>
          </p:cNvSpPr>
          <p:nvPr/>
        </p:nvSpPr>
        <p:spPr bwMode="auto">
          <a:xfrm>
            <a:off x="1257300" y="40608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p>
        </p:txBody>
      </p:sp>
      <p:sp>
        <p:nvSpPr>
          <p:cNvPr id="1014823" name="Text Box 39"/>
          <p:cNvSpPr txBox="1">
            <a:spLocks noChangeArrowheads="1"/>
          </p:cNvSpPr>
          <p:nvPr/>
        </p:nvSpPr>
        <p:spPr bwMode="auto">
          <a:xfrm>
            <a:off x="1257300" y="40592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014824" name="Text Box 40"/>
          <p:cNvSpPr txBox="1">
            <a:spLocks noChangeArrowheads="1"/>
          </p:cNvSpPr>
          <p:nvPr/>
        </p:nvSpPr>
        <p:spPr bwMode="auto">
          <a:xfrm>
            <a:off x="1257300" y="45577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p>
        </p:txBody>
      </p:sp>
      <p:sp>
        <p:nvSpPr>
          <p:cNvPr id="1014825" name="Text Box 41"/>
          <p:cNvSpPr txBox="1">
            <a:spLocks noChangeArrowheads="1"/>
          </p:cNvSpPr>
          <p:nvPr/>
        </p:nvSpPr>
        <p:spPr bwMode="auto">
          <a:xfrm>
            <a:off x="1833563" y="255587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a:t>
            </a:r>
          </a:p>
        </p:txBody>
      </p:sp>
      <p:sp>
        <p:nvSpPr>
          <p:cNvPr id="1014826" name="Text Box 42"/>
          <p:cNvSpPr txBox="1">
            <a:spLocks noChangeArrowheads="1"/>
          </p:cNvSpPr>
          <p:nvPr/>
        </p:nvSpPr>
        <p:spPr bwMode="auto">
          <a:xfrm>
            <a:off x="1851025" y="40608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76</a:t>
            </a:r>
          </a:p>
        </p:txBody>
      </p:sp>
      <p:sp>
        <p:nvSpPr>
          <p:cNvPr id="1014827" name="Text Box 43"/>
          <p:cNvSpPr txBox="1">
            <a:spLocks noChangeArrowheads="1"/>
          </p:cNvSpPr>
          <p:nvPr/>
        </p:nvSpPr>
        <p:spPr bwMode="auto">
          <a:xfrm>
            <a:off x="1851025" y="359410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p>
        </p:txBody>
      </p:sp>
      <p:sp>
        <p:nvSpPr>
          <p:cNvPr id="1014828" name="Text Box 44"/>
          <p:cNvSpPr txBox="1">
            <a:spLocks noChangeArrowheads="1"/>
          </p:cNvSpPr>
          <p:nvPr/>
        </p:nvSpPr>
        <p:spPr bwMode="auto">
          <a:xfrm>
            <a:off x="1835150" y="30575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p>
        </p:txBody>
      </p:sp>
      <p:sp>
        <p:nvSpPr>
          <p:cNvPr id="1014829" name="Text Box 45"/>
          <p:cNvSpPr txBox="1">
            <a:spLocks noChangeArrowheads="1"/>
          </p:cNvSpPr>
          <p:nvPr/>
        </p:nvSpPr>
        <p:spPr bwMode="auto">
          <a:xfrm>
            <a:off x="1835150" y="304958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a:t>
            </a:r>
          </a:p>
        </p:txBody>
      </p:sp>
      <p:sp>
        <p:nvSpPr>
          <p:cNvPr id="1014830" name="Text Box 46"/>
          <p:cNvSpPr txBox="1">
            <a:spLocks noChangeArrowheads="1"/>
          </p:cNvSpPr>
          <p:nvPr/>
        </p:nvSpPr>
        <p:spPr bwMode="auto">
          <a:xfrm>
            <a:off x="1857375" y="35909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014831" name="Text Box 47"/>
          <p:cNvSpPr txBox="1">
            <a:spLocks noChangeArrowheads="1"/>
          </p:cNvSpPr>
          <p:nvPr/>
        </p:nvSpPr>
        <p:spPr bwMode="auto">
          <a:xfrm>
            <a:off x="2476500" y="21066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a:t>
            </a:r>
          </a:p>
        </p:txBody>
      </p:sp>
      <p:sp>
        <p:nvSpPr>
          <p:cNvPr id="1014832" name="Text Box 48"/>
          <p:cNvSpPr txBox="1">
            <a:spLocks noChangeArrowheads="1"/>
          </p:cNvSpPr>
          <p:nvPr/>
        </p:nvSpPr>
        <p:spPr bwMode="auto">
          <a:xfrm>
            <a:off x="2476500" y="25590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65</a:t>
            </a:r>
          </a:p>
        </p:txBody>
      </p:sp>
      <p:sp>
        <p:nvSpPr>
          <p:cNvPr id="1014833" name="Text Box 49"/>
          <p:cNvSpPr txBox="1">
            <a:spLocks noChangeArrowheads="1"/>
          </p:cNvSpPr>
          <p:nvPr/>
        </p:nvSpPr>
        <p:spPr bwMode="auto">
          <a:xfrm>
            <a:off x="2476500" y="25717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a:t>
            </a:r>
          </a:p>
        </p:txBody>
      </p:sp>
      <p:sp>
        <p:nvSpPr>
          <p:cNvPr id="1014834" name="Text Box 50"/>
          <p:cNvSpPr txBox="1">
            <a:spLocks noChangeArrowheads="1"/>
          </p:cNvSpPr>
          <p:nvPr/>
        </p:nvSpPr>
        <p:spPr bwMode="auto">
          <a:xfrm>
            <a:off x="2476500" y="30686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65</a:t>
            </a:r>
          </a:p>
        </p:txBody>
      </p:sp>
      <p:sp>
        <p:nvSpPr>
          <p:cNvPr id="1014835" name="Text Box 51"/>
          <p:cNvSpPr txBox="1">
            <a:spLocks noChangeArrowheads="1"/>
          </p:cNvSpPr>
          <p:nvPr/>
        </p:nvSpPr>
        <p:spPr bwMode="auto">
          <a:xfrm>
            <a:off x="2476500" y="301307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014836" name="Text Box 52"/>
          <p:cNvSpPr txBox="1">
            <a:spLocks noChangeArrowheads="1"/>
          </p:cNvSpPr>
          <p:nvPr/>
        </p:nvSpPr>
        <p:spPr bwMode="auto">
          <a:xfrm>
            <a:off x="2476500" y="357187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65</a:t>
            </a:r>
          </a:p>
        </p:txBody>
      </p:sp>
      <p:sp>
        <p:nvSpPr>
          <p:cNvPr id="1014837" name="Text Box 53"/>
          <p:cNvSpPr txBox="1">
            <a:spLocks noChangeArrowheads="1"/>
          </p:cNvSpPr>
          <p:nvPr/>
        </p:nvSpPr>
        <p:spPr bwMode="auto">
          <a:xfrm>
            <a:off x="3125788" y="154940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a:t>
            </a:r>
          </a:p>
        </p:txBody>
      </p:sp>
      <p:sp>
        <p:nvSpPr>
          <p:cNvPr id="1014838" name="Text Box 54"/>
          <p:cNvSpPr txBox="1">
            <a:spLocks noChangeArrowheads="1"/>
          </p:cNvSpPr>
          <p:nvPr/>
        </p:nvSpPr>
        <p:spPr bwMode="auto">
          <a:xfrm>
            <a:off x="3754438" y="10366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a:t>
            </a:r>
          </a:p>
        </p:txBody>
      </p:sp>
      <p:sp>
        <p:nvSpPr>
          <p:cNvPr id="1014839" name="Text Box 55"/>
          <p:cNvSpPr txBox="1">
            <a:spLocks noChangeArrowheads="1"/>
          </p:cNvSpPr>
          <p:nvPr/>
        </p:nvSpPr>
        <p:spPr bwMode="auto">
          <a:xfrm>
            <a:off x="3125788" y="300196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p>
        </p:txBody>
      </p:sp>
      <p:sp>
        <p:nvSpPr>
          <p:cNvPr id="1014840" name="Text Box 56"/>
          <p:cNvSpPr txBox="1">
            <a:spLocks noChangeArrowheads="1"/>
          </p:cNvSpPr>
          <p:nvPr/>
        </p:nvSpPr>
        <p:spPr bwMode="auto">
          <a:xfrm>
            <a:off x="3125788" y="256540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p>
        </p:txBody>
      </p:sp>
      <p:sp>
        <p:nvSpPr>
          <p:cNvPr id="1014841" name="Text Box 57"/>
          <p:cNvSpPr txBox="1">
            <a:spLocks noChangeArrowheads="1"/>
          </p:cNvSpPr>
          <p:nvPr/>
        </p:nvSpPr>
        <p:spPr bwMode="auto">
          <a:xfrm>
            <a:off x="3125788" y="25495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014842" name="Text Box 58"/>
          <p:cNvSpPr txBox="1">
            <a:spLocks noChangeArrowheads="1"/>
          </p:cNvSpPr>
          <p:nvPr/>
        </p:nvSpPr>
        <p:spPr bwMode="auto">
          <a:xfrm>
            <a:off x="3125788" y="211137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p>
        </p:txBody>
      </p:sp>
      <p:sp>
        <p:nvSpPr>
          <p:cNvPr id="1014843" name="Text Box 59"/>
          <p:cNvSpPr txBox="1">
            <a:spLocks noChangeArrowheads="1"/>
          </p:cNvSpPr>
          <p:nvPr/>
        </p:nvSpPr>
        <p:spPr bwMode="auto">
          <a:xfrm>
            <a:off x="3125788" y="21193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a:t>
            </a:r>
          </a:p>
        </p:txBody>
      </p:sp>
      <p:sp>
        <p:nvSpPr>
          <p:cNvPr id="1014844" name="Text Box 60"/>
          <p:cNvSpPr txBox="1">
            <a:spLocks noChangeArrowheads="1"/>
          </p:cNvSpPr>
          <p:nvPr/>
        </p:nvSpPr>
        <p:spPr bwMode="auto">
          <a:xfrm>
            <a:off x="3754438" y="15430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38</a:t>
            </a:r>
          </a:p>
        </p:txBody>
      </p:sp>
      <p:sp>
        <p:nvSpPr>
          <p:cNvPr id="1014845" name="Text Box 61"/>
          <p:cNvSpPr txBox="1">
            <a:spLocks noChangeArrowheads="1"/>
          </p:cNvSpPr>
          <p:nvPr/>
        </p:nvSpPr>
        <p:spPr bwMode="auto">
          <a:xfrm>
            <a:off x="3754438" y="15557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a:t>
            </a:r>
          </a:p>
        </p:txBody>
      </p:sp>
      <p:sp>
        <p:nvSpPr>
          <p:cNvPr id="1014846" name="Text Box 62"/>
          <p:cNvSpPr txBox="1">
            <a:spLocks noChangeArrowheads="1"/>
          </p:cNvSpPr>
          <p:nvPr/>
        </p:nvSpPr>
        <p:spPr bwMode="auto">
          <a:xfrm>
            <a:off x="3754438" y="20780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38</a:t>
            </a:r>
          </a:p>
        </p:txBody>
      </p:sp>
      <p:sp>
        <p:nvSpPr>
          <p:cNvPr id="1014847" name="Text Box 63"/>
          <p:cNvSpPr txBox="1">
            <a:spLocks noChangeArrowheads="1"/>
          </p:cNvSpPr>
          <p:nvPr/>
        </p:nvSpPr>
        <p:spPr bwMode="auto">
          <a:xfrm>
            <a:off x="3754438" y="210820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014848" name="Text Box 64"/>
          <p:cNvSpPr txBox="1">
            <a:spLocks noChangeArrowheads="1"/>
          </p:cNvSpPr>
          <p:nvPr/>
        </p:nvSpPr>
        <p:spPr bwMode="auto">
          <a:xfrm>
            <a:off x="3754438" y="25511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38</a:t>
            </a:r>
          </a:p>
        </p:txBody>
      </p:sp>
      <p:grpSp>
        <p:nvGrpSpPr>
          <p:cNvPr id="10" name="Group 65"/>
          <p:cNvGrpSpPr/>
          <p:nvPr/>
        </p:nvGrpSpPr>
        <p:grpSpPr>
          <a:xfrm>
            <a:off x="5503863" y="1046163"/>
            <a:ext cx="509587" cy="4838700"/>
            <a:chOff x="3562" y="473"/>
            <a:chExt cx="321" cy="3049"/>
          </a:xfrm>
        </p:grpSpPr>
        <p:sp>
          <p:nvSpPr>
            <p:cNvPr id="45117" name="Text Box 66"/>
            <p:cNvSpPr txBox="1">
              <a:spLocks noChangeArrowheads="1"/>
            </p:cNvSpPr>
            <p:nvPr/>
          </p:nvSpPr>
          <p:spPr bwMode="auto">
            <a:xfrm>
              <a:off x="3573" y="473"/>
              <a:ext cx="310" cy="543"/>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13    27</a:t>
              </a:r>
            </a:p>
          </p:txBody>
        </p:sp>
        <p:sp>
          <p:nvSpPr>
            <p:cNvPr id="45118" name="Text Box 67"/>
            <p:cNvSpPr txBox="1">
              <a:spLocks noChangeArrowheads="1"/>
            </p:cNvSpPr>
            <p:nvPr/>
          </p:nvSpPr>
          <p:spPr bwMode="auto">
            <a:xfrm>
              <a:off x="3562" y="2817"/>
              <a:ext cx="310" cy="705"/>
            </a:xfrm>
            <a:prstGeom prst="rect">
              <a:avLst/>
            </a:prstGeom>
            <a:noFill/>
            <a:ln>
              <a:noFill/>
            </a:ln>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第七趟</a:t>
              </a:r>
            </a:p>
          </p:txBody>
        </p:sp>
      </p:grpSp>
      <p:sp>
        <p:nvSpPr>
          <p:cNvPr id="1014915" name="Text Box 131"/>
          <p:cNvSpPr txBox="1">
            <a:spLocks noChangeArrowheads="1"/>
          </p:cNvSpPr>
          <p:nvPr/>
        </p:nvSpPr>
        <p:spPr bwMode="auto">
          <a:xfrm>
            <a:off x="3336925" y="6272213"/>
            <a:ext cx="5807075" cy="461963"/>
          </a:xfrm>
          <a:prstGeom prst="rect">
            <a:avLst/>
          </a:prstGeom>
          <a:solidFill>
            <a:schemeClr val="accent1">
              <a:lumMod val="60000"/>
              <a:lumOff val="4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排序后序列为：</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13 27 30 38 49 65 76 97</a:t>
            </a:r>
          </a:p>
        </p:txBody>
      </p:sp>
      <p:sp>
        <p:nvSpPr>
          <p:cNvPr id="65" name="Rectangle 29"/>
          <p:cNvSpPr>
            <a:spLocks noChangeArrowheads="1"/>
          </p:cNvSpPr>
          <p:nvPr/>
        </p:nvSpPr>
        <p:spPr bwMode="auto">
          <a:xfrm>
            <a:off x="827088" y="2159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冒泡排序</a:t>
            </a:r>
          </a:p>
        </p:txBody>
      </p:sp>
      <p:sp>
        <p:nvSpPr>
          <p:cNvPr id="66" name="Text Box 7"/>
          <p:cNvSpPr txBox="1">
            <a:spLocks noChangeArrowheads="1"/>
          </p:cNvSpPr>
          <p:nvPr/>
        </p:nvSpPr>
        <p:spPr bwMode="auto">
          <a:xfrm>
            <a:off x="446088" y="960438"/>
            <a:ext cx="439738" cy="396875"/>
          </a:xfrm>
          <a:prstGeom prst="rect">
            <a:avLst/>
          </a:prstGeom>
          <a:no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例</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6">
                                            <p:txEl>
                                              <p:pRg st="0" end="0"/>
                                            </p:txEl>
                                          </p:spTgt>
                                        </p:tgtEl>
                                        <p:attrNameLst>
                                          <p:attrName>style.visibility</p:attrName>
                                        </p:attrNameLst>
                                      </p:cBhvr>
                                      <p:to>
                                        <p:strVal val="visible"/>
                                      </p:to>
                                    </p:set>
                                    <p:anim calcmode="lin" valueType="num">
                                      <p:cBhvr additive="base">
                                        <p:cTn id="7" dur="500" fill="hold"/>
                                        <p:tgtEl>
                                          <p:spTgt spid="6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32"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box(out)">
                                      <p:cBhvr>
                                        <p:cTn id="13" dur="500"/>
                                        <p:tgtEl>
                                          <p:spTgt spid="8"/>
                                        </p:tgtEl>
                                      </p:cBhvr>
                                    </p:animEffect>
                                  </p:childTnLst>
                                </p:cTn>
                              </p:par>
                            </p:childTnLst>
                          </p:cTn>
                        </p:par>
                      </p:childTnLst>
                    </p:cTn>
                  </p:par>
                  <p:par>
                    <p:cTn id="14" fill="hold">
                      <p:stCondLst>
                        <p:cond delay="indefinite"/>
                      </p:stCondLst>
                      <p:childTnLst>
                        <p:par>
                          <p:cTn id="15" fill="hold">
                            <p:stCondLst>
                              <p:cond delay="0"/>
                            </p:stCondLst>
                            <p:childTnLst>
                              <p:par>
                                <p:cTn id="16" presetID="4" presetClass="entr" presetSubtype="32" fill="hold" grpId="0" nodeType="clickEffect">
                                  <p:stCondLst>
                                    <p:cond delay="0"/>
                                  </p:stCondLst>
                                  <p:childTnLst>
                                    <p:set>
                                      <p:cBhvr>
                                        <p:cTn id="17" dur="1" fill="hold">
                                          <p:stCondLst>
                                            <p:cond delay="0"/>
                                          </p:stCondLst>
                                        </p:cTn>
                                        <p:tgtEl>
                                          <p:spTgt spid="1014815"/>
                                        </p:tgtEl>
                                        <p:attrNameLst>
                                          <p:attrName>style.visibility</p:attrName>
                                        </p:attrNameLst>
                                      </p:cBhvr>
                                      <p:to>
                                        <p:strVal val="visible"/>
                                      </p:to>
                                    </p:set>
                                    <p:animEffect transition="in" filter="box(out)">
                                      <p:cBhvr>
                                        <p:cTn id="18" dur="500"/>
                                        <p:tgtEl>
                                          <p:spTgt spid="1014815"/>
                                        </p:tgtEl>
                                      </p:cBhvr>
                                    </p:animEffect>
                                  </p:childTnLst>
                                </p:cTn>
                              </p:par>
                            </p:childTnLst>
                          </p:cTn>
                        </p:par>
                      </p:childTnLst>
                    </p:cTn>
                  </p:par>
                  <p:par>
                    <p:cTn id="19" fill="hold">
                      <p:stCondLst>
                        <p:cond delay="indefinite"/>
                      </p:stCondLst>
                      <p:childTnLst>
                        <p:par>
                          <p:cTn id="20" fill="hold">
                            <p:stCondLst>
                              <p:cond delay="0"/>
                            </p:stCondLst>
                            <p:childTnLst>
                              <p:par>
                                <p:cTn id="21" presetID="4" presetClass="entr" presetSubtype="32" fill="hold" grpId="0" nodeType="clickEffect">
                                  <p:stCondLst>
                                    <p:cond delay="0"/>
                                  </p:stCondLst>
                                  <p:childTnLst>
                                    <p:set>
                                      <p:cBhvr>
                                        <p:cTn id="22" dur="1" fill="hold">
                                          <p:stCondLst>
                                            <p:cond delay="0"/>
                                          </p:stCondLst>
                                        </p:cTn>
                                        <p:tgtEl>
                                          <p:spTgt spid="1014816"/>
                                        </p:tgtEl>
                                        <p:attrNameLst>
                                          <p:attrName>style.visibility</p:attrName>
                                        </p:attrNameLst>
                                      </p:cBhvr>
                                      <p:to>
                                        <p:strVal val="visible"/>
                                      </p:to>
                                    </p:set>
                                    <p:animEffect transition="in" filter="box(out)">
                                      <p:cBhvr>
                                        <p:cTn id="23" dur="500"/>
                                        <p:tgtEl>
                                          <p:spTgt spid="1014816"/>
                                        </p:tgtEl>
                                      </p:cBhvr>
                                    </p:animEffect>
                                  </p:childTnLst>
                                </p:cTn>
                              </p:par>
                            </p:childTnLst>
                          </p:cTn>
                        </p:par>
                      </p:childTnLst>
                    </p:cTn>
                  </p:par>
                  <p:par>
                    <p:cTn id="24" fill="hold">
                      <p:stCondLst>
                        <p:cond delay="indefinite"/>
                      </p:stCondLst>
                      <p:childTnLst>
                        <p:par>
                          <p:cTn id="25" fill="hold">
                            <p:stCondLst>
                              <p:cond delay="0"/>
                            </p:stCondLst>
                            <p:childTnLst>
                              <p:par>
                                <p:cTn id="26" presetID="4" presetClass="entr" presetSubtype="32" fill="hold" grpId="0" nodeType="clickEffect">
                                  <p:stCondLst>
                                    <p:cond delay="0"/>
                                  </p:stCondLst>
                                  <p:childTnLst>
                                    <p:set>
                                      <p:cBhvr>
                                        <p:cTn id="27" dur="1" fill="hold">
                                          <p:stCondLst>
                                            <p:cond delay="0"/>
                                          </p:stCondLst>
                                        </p:cTn>
                                        <p:tgtEl>
                                          <p:spTgt spid="1014817"/>
                                        </p:tgtEl>
                                        <p:attrNameLst>
                                          <p:attrName>style.visibility</p:attrName>
                                        </p:attrNameLst>
                                      </p:cBhvr>
                                      <p:to>
                                        <p:strVal val="visible"/>
                                      </p:to>
                                    </p:set>
                                    <p:animEffect transition="in" filter="box(out)">
                                      <p:cBhvr>
                                        <p:cTn id="28" dur="500"/>
                                        <p:tgtEl>
                                          <p:spTgt spid="1014817"/>
                                        </p:tgtEl>
                                      </p:cBhvr>
                                    </p:animEffect>
                                  </p:childTnLst>
                                </p:cTn>
                              </p:par>
                            </p:childTnLst>
                          </p:cTn>
                        </p:par>
                      </p:childTnLst>
                    </p:cTn>
                  </p:par>
                  <p:par>
                    <p:cTn id="29" fill="hold">
                      <p:stCondLst>
                        <p:cond delay="indefinite"/>
                      </p:stCondLst>
                      <p:childTnLst>
                        <p:par>
                          <p:cTn id="30" fill="hold">
                            <p:stCondLst>
                              <p:cond delay="0"/>
                            </p:stCondLst>
                            <p:childTnLst>
                              <p:par>
                                <p:cTn id="31" presetID="4" presetClass="entr" presetSubtype="32" fill="hold" grpId="0" nodeType="clickEffect">
                                  <p:stCondLst>
                                    <p:cond delay="0"/>
                                  </p:stCondLst>
                                  <p:childTnLst>
                                    <p:set>
                                      <p:cBhvr>
                                        <p:cTn id="32" dur="1" fill="hold">
                                          <p:stCondLst>
                                            <p:cond delay="0"/>
                                          </p:stCondLst>
                                        </p:cTn>
                                        <p:tgtEl>
                                          <p:spTgt spid="1014818"/>
                                        </p:tgtEl>
                                        <p:attrNameLst>
                                          <p:attrName>style.visibility</p:attrName>
                                        </p:attrNameLst>
                                      </p:cBhvr>
                                      <p:to>
                                        <p:strVal val="visible"/>
                                      </p:to>
                                    </p:set>
                                    <p:animEffect transition="in" filter="box(out)">
                                      <p:cBhvr>
                                        <p:cTn id="33" dur="500"/>
                                        <p:tgtEl>
                                          <p:spTgt spid="1014818"/>
                                        </p:tgtEl>
                                      </p:cBhvr>
                                    </p:animEffect>
                                  </p:childTnLst>
                                </p:cTn>
                              </p:par>
                            </p:childTnLst>
                          </p:cTn>
                        </p:par>
                      </p:childTnLst>
                    </p:cTn>
                  </p:par>
                  <p:par>
                    <p:cTn id="34" fill="hold">
                      <p:stCondLst>
                        <p:cond delay="indefinite"/>
                      </p:stCondLst>
                      <p:childTnLst>
                        <p:par>
                          <p:cTn id="35" fill="hold">
                            <p:stCondLst>
                              <p:cond delay="0"/>
                            </p:stCondLst>
                            <p:childTnLst>
                              <p:par>
                                <p:cTn id="36" presetID="4" presetClass="entr" presetSubtype="32" fill="hold" grpId="0" nodeType="clickEffect">
                                  <p:stCondLst>
                                    <p:cond delay="0"/>
                                  </p:stCondLst>
                                  <p:childTnLst>
                                    <p:set>
                                      <p:cBhvr>
                                        <p:cTn id="37" dur="1" fill="hold">
                                          <p:stCondLst>
                                            <p:cond delay="0"/>
                                          </p:stCondLst>
                                        </p:cTn>
                                        <p:tgtEl>
                                          <p:spTgt spid="1014819"/>
                                        </p:tgtEl>
                                        <p:attrNameLst>
                                          <p:attrName>style.visibility</p:attrName>
                                        </p:attrNameLst>
                                      </p:cBhvr>
                                      <p:to>
                                        <p:strVal val="visible"/>
                                      </p:to>
                                    </p:set>
                                    <p:animEffect transition="in" filter="box(out)">
                                      <p:cBhvr>
                                        <p:cTn id="38" dur="500"/>
                                        <p:tgtEl>
                                          <p:spTgt spid="1014819"/>
                                        </p:tgtEl>
                                      </p:cBhvr>
                                    </p:animEffect>
                                  </p:childTnLst>
                                </p:cTn>
                              </p:par>
                            </p:childTnLst>
                          </p:cTn>
                        </p:par>
                      </p:childTnLst>
                    </p:cTn>
                  </p:par>
                  <p:par>
                    <p:cTn id="39" fill="hold">
                      <p:stCondLst>
                        <p:cond delay="indefinite"/>
                      </p:stCondLst>
                      <p:childTnLst>
                        <p:par>
                          <p:cTn id="40" fill="hold">
                            <p:stCondLst>
                              <p:cond delay="0"/>
                            </p:stCondLst>
                            <p:childTnLst>
                              <p:par>
                                <p:cTn id="41" presetID="4" presetClass="entr" presetSubtype="32" fill="hold" grpId="0" nodeType="clickEffect">
                                  <p:stCondLst>
                                    <p:cond delay="0"/>
                                  </p:stCondLst>
                                  <p:childTnLst>
                                    <p:set>
                                      <p:cBhvr>
                                        <p:cTn id="42" dur="1" fill="hold">
                                          <p:stCondLst>
                                            <p:cond delay="0"/>
                                          </p:stCondLst>
                                        </p:cTn>
                                        <p:tgtEl>
                                          <p:spTgt spid="1014820"/>
                                        </p:tgtEl>
                                        <p:attrNameLst>
                                          <p:attrName>style.visibility</p:attrName>
                                        </p:attrNameLst>
                                      </p:cBhvr>
                                      <p:to>
                                        <p:strVal val="visible"/>
                                      </p:to>
                                    </p:set>
                                    <p:animEffect transition="in" filter="box(out)">
                                      <p:cBhvr>
                                        <p:cTn id="43" dur="500"/>
                                        <p:tgtEl>
                                          <p:spTgt spid="1014820"/>
                                        </p:tgtEl>
                                      </p:cBhvr>
                                    </p:animEffect>
                                  </p:childTnLst>
                                </p:cTn>
                              </p:par>
                            </p:childTnLst>
                          </p:cTn>
                        </p:par>
                      </p:childTnLst>
                    </p:cTn>
                  </p:par>
                  <p:par>
                    <p:cTn id="44" fill="hold">
                      <p:stCondLst>
                        <p:cond delay="indefinite"/>
                      </p:stCondLst>
                      <p:childTnLst>
                        <p:par>
                          <p:cTn id="45" fill="hold">
                            <p:stCondLst>
                              <p:cond delay="0"/>
                            </p:stCondLst>
                            <p:childTnLst>
                              <p:par>
                                <p:cTn id="46" presetID="4" presetClass="entr" presetSubtype="32" fill="hold" grpId="0" nodeType="clickEffect">
                                  <p:stCondLst>
                                    <p:cond delay="0"/>
                                  </p:stCondLst>
                                  <p:childTnLst>
                                    <p:set>
                                      <p:cBhvr>
                                        <p:cTn id="47" dur="1" fill="hold">
                                          <p:stCondLst>
                                            <p:cond delay="0"/>
                                          </p:stCondLst>
                                        </p:cTn>
                                        <p:tgtEl>
                                          <p:spTgt spid="1014821"/>
                                        </p:tgtEl>
                                        <p:attrNameLst>
                                          <p:attrName>style.visibility</p:attrName>
                                        </p:attrNameLst>
                                      </p:cBhvr>
                                      <p:to>
                                        <p:strVal val="visible"/>
                                      </p:to>
                                    </p:set>
                                    <p:animEffect transition="in" filter="box(out)">
                                      <p:cBhvr>
                                        <p:cTn id="48" dur="500"/>
                                        <p:tgtEl>
                                          <p:spTgt spid="1014821"/>
                                        </p:tgtEl>
                                      </p:cBhvr>
                                    </p:animEffect>
                                  </p:childTnLst>
                                </p:cTn>
                              </p:par>
                            </p:childTnLst>
                          </p:cTn>
                        </p:par>
                      </p:childTnLst>
                    </p:cTn>
                  </p:par>
                  <p:par>
                    <p:cTn id="49" fill="hold">
                      <p:stCondLst>
                        <p:cond delay="indefinite"/>
                      </p:stCondLst>
                      <p:childTnLst>
                        <p:par>
                          <p:cTn id="50" fill="hold">
                            <p:stCondLst>
                              <p:cond delay="0"/>
                            </p:stCondLst>
                            <p:childTnLst>
                              <p:par>
                                <p:cTn id="51" presetID="4" presetClass="entr" presetSubtype="32" fill="hold" grpId="0" nodeType="clickEffect">
                                  <p:stCondLst>
                                    <p:cond delay="0"/>
                                  </p:stCondLst>
                                  <p:childTnLst>
                                    <p:set>
                                      <p:cBhvr>
                                        <p:cTn id="52" dur="1" fill="hold">
                                          <p:stCondLst>
                                            <p:cond delay="0"/>
                                          </p:stCondLst>
                                        </p:cTn>
                                        <p:tgtEl>
                                          <p:spTgt spid="1014822"/>
                                        </p:tgtEl>
                                        <p:attrNameLst>
                                          <p:attrName>style.visibility</p:attrName>
                                        </p:attrNameLst>
                                      </p:cBhvr>
                                      <p:to>
                                        <p:strVal val="visible"/>
                                      </p:to>
                                    </p:set>
                                    <p:animEffect transition="in" filter="box(out)">
                                      <p:cBhvr>
                                        <p:cTn id="53" dur="500"/>
                                        <p:tgtEl>
                                          <p:spTgt spid="1014822"/>
                                        </p:tgtEl>
                                      </p:cBhvr>
                                    </p:animEffect>
                                  </p:childTnLst>
                                </p:cTn>
                              </p:par>
                            </p:childTnLst>
                          </p:cTn>
                        </p:par>
                      </p:childTnLst>
                    </p:cTn>
                  </p:par>
                  <p:par>
                    <p:cTn id="54" fill="hold">
                      <p:stCondLst>
                        <p:cond delay="indefinite"/>
                      </p:stCondLst>
                      <p:childTnLst>
                        <p:par>
                          <p:cTn id="55" fill="hold">
                            <p:stCondLst>
                              <p:cond delay="0"/>
                            </p:stCondLst>
                            <p:childTnLst>
                              <p:par>
                                <p:cTn id="56" presetID="4" presetClass="entr" presetSubtype="32" fill="hold" grpId="0" nodeType="clickEffect">
                                  <p:stCondLst>
                                    <p:cond delay="0"/>
                                  </p:stCondLst>
                                  <p:childTnLst>
                                    <p:set>
                                      <p:cBhvr>
                                        <p:cTn id="57" dur="1" fill="hold">
                                          <p:stCondLst>
                                            <p:cond delay="0"/>
                                          </p:stCondLst>
                                        </p:cTn>
                                        <p:tgtEl>
                                          <p:spTgt spid="1014823"/>
                                        </p:tgtEl>
                                        <p:attrNameLst>
                                          <p:attrName>style.visibility</p:attrName>
                                        </p:attrNameLst>
                                      </p:cBhvr>
                                      <p:to>
                                        <p:strVal val="visible"/>
                                      </p:to>
                                    </p:set>
                                    <p:animEffect transition="in" filter="box(out)">
                                      <p:cBhvr>
                                        <p:cTn id="58" dur="500"/>
                                        <p:tgtEl>
                                          <p:spTgt spid="1014823"/>
                                        </p:tgtEl>
                                      </p:cBhvr>
                                    </p:animEffect>
                                  </p:childTnLst>
                                </p:cTn>
                              </p:par>
                            </p:childTnLst>
                          </p:cTn>
                        </p:par>
                      </p:childTnLst>
                    </p:cTn>
                  </p:par>
                  <p:par>
                    <p:cTn id="59" fill="hold">
                      <p:stCondLst>
                        <p:cond delay="indefinite"/>
                      </p:stCondLst>
                      <p:childTnLst>
                        <p:par>
                          <p:cTn id="60" fill="hold">
                            <p:stCondLst>
                              <p:cond delay="0"/>
                            </p:stCondLst>
                            <p:childTnLst>
                              <p:par>
                                <p:cTn id="61" presetID="4" presetClass="entr" presetSubtype="32" fill="hold" grpId="0" nodeType="clickEffect">
                                  <p:stCondLst>
                                    <p:cond delay="0"/>
                                  </p:stCondLst>
                                  <p:childTnLst>
                                    <p:set>
                                      <p:cBhvr>
                                        <p:cTn id="62" dur="1" fill="hold">
                                          <p:stCondLst>
                                            <p:cond delay="0"/>
                                          </p:stCondLst>
                                        </p:cTn>
                                        <p:tgtEl>
                                          <p:spTgt spid="1014824"/>
                                        </p:tgtEl>
                                        <p:attrNameLst>
                                          <p:attrName>style.visibility</p:attrName>
                                        </p:attrNameLst>
                                      </p:cBhvr>
                                      <p:to>
                                        <p:strVal val="visible"/>
                                      </p:to>
                                    </p:set>
                                    <p:animEffect transition="in" filter="box(out)">
                                      <p:cBhvr>
                                        <p:cTn id="63" dur="500"/>
                                        <p:tgtEl>
                                          <p:spTgt spid="1014824"/>
                                        </p:tgtEl>
                                      </p:cBhvr>
                                    </p:animEffect>
                                  </p:childTnLst>
                                </p:cTn>
                              </p:par>
                            </p:childTnLst>
                          </p:cTn>
                        </p:par>
                      </p:childTnLst>
                    </p:cTn>
                  </p:par>
                  <p:par>
                    <p:cTn id="64" fill="hold">
                      <p:stCondLst>
                        <p:cond delay="indefinite"/>
                      </p:stCondLst>
                      <p:childTnLst>
                        <p:par>
                          <p:cTn id="65" fill="hold">
                            <p:stCondLst>
                              <p:cond delay="0"/>
                            </p:stCondLst>
                            <p:childTnLst>
                              <p:par>
                                <p:cTn id="66" presetID="4" presetClass="entr" presetSubtype="32" fill="hold" nodeType="clickEffect">
                                  <p:stCondLst>
                                    <p:cond delay="0"/>
                                  </p:stCondLst>
                                  <p:childTnLst>
                                    <p:set>
                                      <p:cBhvr>
                                        <p:cTn id="67" dur="1" fill="hold">
                                          <p:stCondLst>
                                            <p:cond delay="0"/>
                                          </p:stCondLst>
                                        </p:cTn>
                                        <p:tgtEl>
                                          <p:spTgt spid="2"/>
                                        </p:tgtEl>
                                        <p:attrNameLst>
                                          <p:attrName>style.visibility</p:attrName>
                                        </p:attrNameLst>
                                      </p:cBhvr>
                                      <p:to>
                                        <p:strVal val="visible"/>
                                      </p:to>
                                    </p:set>
                                    <p:animEffect transition="in" filter="box(out)">
                                      <p:cBhvr>
                                        <p:cTn id="68" dur="500"/>
                                        <p:tgtEl>
                                          <p:spTgt spid="2"/>
                                        </p:tgtEl>
                                      </p:cBhvr>
                                    </p:animEffect>
                                  </p:childTnLst>
                                </p:cTn>
                              </p:par>
                            </p:childTnLst>
                          </p:cTn>
                        </p:par>
                      </p:childTnLst>
                    </p:cTn>
                  </p:par>
                  <p:par>
                    <p:cTn id="69" fill="hold">
                      <p:stCondLst>
                        <p:cond delay="indefinite"/>
                      </p:stCondLst>
                      <p:childTnLst>
                        <p:par>
                          <p:cTn id="70" fill="hold">
                            <p:stCondLst>
                              <p:cond delay="0"/>
                            </p:stCondLst>
                            <p:childTnLst>
                              <p:par>
                                <p:cTn id="71" presetID="4" presetClass="entr" presetSubtype="32" fill="hold" grpId="0" nodeType="clickEffect">
                                  <p:stCondLst>
                                    <p:cond delay="0"/>
                                  </p:stCondLst>
                                  <p:childTnLst>
                                    <p:set>
                                      <p:cBhvr>
                                        <p:cTn id="72" dur="1" fill="hold">
                                          <p:stCondLst>
                                            <p:cond delay="0"/>
                                          </p:stCondLst>
                                        </p:cTn>
                                        <p:tgtEl>
                                          <p:spTgt spid="1014825"/>
                                        </p:tgtEl>
                                        <p:attrNameLst>
                                          <p:attrName>style.visibility</p:attrName>
                                        </p:attrNameLst>
                                      </p:cBhvr>
                                      <p:to>
                                        <p:strVal val="visible"/>
                                      </p:to>
                                    </p:set>
                                    <p:animEffect transition="in" filter="box(out)">
                                      <p:cBhvr>
                                        <p:cTn id="73" dur="500"/>
                                        <p:tgtEl>
                                          <p:spTgt spid="1014825"/>
                                        </p:tgtEl>
                                      </p:cBhvr>
                                    </p:animEffect>
                                  </p:childTnLst>
                                </p:cTn>
                              </p:par>
                            </p:childTnLst>
                          </p:cTn>
                        </p:par>
                      </p:childTnLst>
                    </p:cTn>
                  </p:par>
                  <p:par>
                    <p:cTn id="74" fill="hold">
                      <p:stCondLst>
                        <p:cond delay="indefinite"/>
                      </p:stCondLst>
                      <p:childTnLst>
                        <p:par>
                          <p:cTn id="75" fill="hold">
                            <p:stCondLst>
                              <p:cond delay="0"/>
                            </p:stCondLst>
                            <p:childTnLst>
                              <p:par>
                                <p:cTn id="76" presetID="4" presetClass="entr" presetSubtype="32" fill="hold" grpId="0" nodeType="clickEffect">
                                  <p:stCondLst>
                                    <p:cond delay="0"/>
                                  </p:stCondLst>
                                  <p:childTnLst>
                                    <p:set>
                                      <p:cBhvr>
                                        <p:cTn id="77" dur="1" fill="hold">
                                          <p:stCondLst>
                                            <p:cond delay="0"/>
                                          </p:stCondLst>
                                        </p:cTn>
                                        <p:tgtEl>
                                          <p:spTgt spid="1014828"/>
                                        </p:tgtEl>
                                        <p:attrNameLst>
                                          <p:attrName>style.visibility</p:attrName>
                                        </p:attrNameLst>
                                      </p:cBhvr>
                                      <p:to>
                                        <p:strVal val="visible"/>
                                      </p:to>
                                    </p:set>
                                    <p:animEffect transition="in" filter="box(out)">
                                      <p:cBhvr>
                                        <p:cTn id="78" dur="500"/>
                                        <p:tgtEl>
                                          <p:spTgt spid="1014828"/>
                                        </p:tgtEl>
                                      </p:cBhvr>
                                    </p:animEffect>
                                  </p:childTnLst>
                                </p:cTn>
                              </p:par>
                            </p:childTnLst>
                          </p:cTn>
                        </p:par>
                      </p:childTnLst>
                    </p:cTn>
                  </p:par>
                  <p:par>
                    <p:cTn id="79" fill="hold">
                      <p:stCondLst>
                        <p:cond delay="indefinite"/>
                      </p:stCondLst>
                      <p:childTnLst>
                        <p:par>
                          <p:cTn id="80" fill="hold">
                            <p:stCondLst>
                              <p:cond delay="0"/>
                            </p:stCondLst>
                            <p:childTnLst>
                              <p:par>
                                <p:cTn id="81" presetID="4" presetClass="entr" presetSubtype="32" fill="hold" grpId="0" nodeType="clickEffect">
                                  <p:stCondLst>
                                    <p:cond delay="0"/>
                                  </p:stCondLst>
                                  <p:childTnLst>
                                    <p:set>
                                      <p:cBhvr>
                                        <p:cTn id="82" dur="1" fill="hold">
                                          <p:stCondLst>
                                            <p:cond delay="0"/>
                                          </p:stCondLst>
                                        </p:cTn>
                                        <p:tgtEl>
                                          <p:spTgt spid="1014829"/>
                                        </p:tgtEl>
                                        <p:attrNameLst>
                                          <p:attrName>style.visibility</p:attrName>
                                        </p:attrNameLst>
                                      </p:cBhvr>
                                      <p:to>
                                        <p:strVal val="visible"/>
                                      </p:to>
                                    </p:set>
                                    <p:animEffect transition="in" filter="box(out)">
                                      <p:cBhvr>
                                        <p:cTn id="83" dur="500"/>
                                        <p:tgtEl>
                                          <p:spTgt spid="1014829"/>
                                        </p:tgtEl>
                                      </p:cBhvr>
                                    </p:animEffect>
                                  </p:childTnLst>
                                </p:cTn>
                              </p:par>
                            </p:childTnLst>
                          </p:cTn>
                        </p:par>
                      </p:childTnLst>
                    </p:cTn>
                  </p:par>
                  <p:par>
                    <p:cTn id="84" fill="hold">
                      <p:stCondLst>
                        <p:cond delay="indefinite"/>
                      </p:stCondLst>
                      <p:childTnLst>
                        <p:par>
                          <p:cTn id="85" fill="hold">
                            <p:stCondLst>
                              <p:cond delay="0"/>
                            </p:stCondLst>
                            <p:childTnLst>
                              <p:par>
                                <p:cTn id="86" presetID="4" presetClass="entr" presetSubtype="32" fill="hold" grpId="0" nodeType="clickEffect">
                                  <p:stCondLst>
                                    <p:cond delay="0"/>
                                  </p:stCondLst>
                                  <p:childTnLst>
                                    <p:set>
                                      <p:cBhvr>
                                        <p:cTn id="87" dur="1" fill="hold">
                                          <p:stCondLst>
                                            <p:cond delay="0"/>
                                          </p:stCondLst>
                                        </p:cTn>
                                        <p:tgtEl>
                                          <p:spTgt spid="1014827"/>
                                        </p:tgtEl>
                                        <p:attrNameLst>
                                          <p:attrName>style.visibility</p:attrName>
                                        </p:attrNameLst>
                                      </p:cBhvr>
                                      <p:to>
                                        <p:strVal val="visible"/>
                                      </p:to>
                                    </p:set>
                                    <p:animEffect transition="in" filter="box(out)">
                                      <p:cBhvr>
                                        <p:cTn id="88" dur="500"/>
                                        <p:tgtEl>
                                          <p:spTgt spid="1014827"/>
                                        </p:tgtEl>
                                      </p:cBhvr>
                                    </p:animEffect>
                                  </p:childTnLst>
                                </p:cTn>
                              </p:par>
                            </p:childTnLst>
                          </p:cTn>
                        </p:par>
                      </p:childTnLst>
                    </p:cTn>
                  </p:par>
                  <p:par>
                    <p:cTn id="89" fill="hold">
                      <p:stCondLst>
                        <p:cond delay="indefinite"/>
                      </p:stCondLst>
                      <p:childTnLst>
                        <p:par>
                          <p:cTn id="90" fill="hold">
                            <p:stCondLst>
                              <p:cond delay="0"/>
                            </p:stCondLst>
                            <p:childTnLst>
                              <p:par>
                                <p:cTn id="91" presetID="4" presetClass="entr" presetSubtype="32" fill="hold" grpId="0" nodeType="clickEffect">
                                  <p:stCondLst>
                                    <p:cond delay="0"/>
                                  </p:stCondLst>
                                  <p:childTnLst>
                                    <p:set>
                                      <p:cBhvr>
                                        <p:cTn id="92" dur="1" fill="hold">
                                          <p:stCondLst>
                                            <p:cond delay="0"/>
                                          </p:stCondLst>
                                        </p:cTn>
                                        <p:tgtEl>
                                          <p:spTgt spid="1014830"/>
                                        </p:tgtEl>
                                        <p:attrNameLst>
                                          <p:attrName>style.visibility</p:attrName>
                                        </p:attrNameLst>
                                      </p:cBhvr>
                                      <p:to>
                                        <p:strVal val="visible"/>
                                      </p:to>
                                    </p:set>
                                    <p:animEffect transition="in" filter="box(out)">
                                      <p:cBhvr>
                                        <p:cTn id="93" dur="500"/>
                                        <p:tgtEl>
                                          <p:spTgt spid="1014830"/>
                                        </p:tgtEl>
                                      </p:cBhvr>
                                    </p:animEffect>
                                  </p:childTnLst>
                                </p:cTn>
                              </p:par>
                            </p:childTnLst>
                          </p:cTn>
                        </p:par>
                      </p:childTnLst>
                    </p:cTn>
                  </p:par>
                  <p:par>
                    <p:cTn id="94" fill="hold">
                      <p:stCondLst>
                        <p:cond delay="indefinite"/>
                      </p:stCondLst>
                      <p:childTnLst>
                        <p:par>
                          <p:cTn id="95" fill="hold">
                            <p:stCondLst>
                              <p:cond delay="0"/>
                            </p:stCondLst>
                            <p:childTnLst>
                              <p:par>
                                <p:cTn id="96" presetID="4" presetClass="entr" presetSubtype="32" fill="hold" grpId="0" nodeType="clickEffect">
                                  <p:stCondLst>
                                    <p:cond delay="0"/>
                                  </p:stCondLst>
                                  <p:childTnLst>
                                    <p:set>
                                      <p:cBhvr>
                                        <p:cTn id="97" dur="1" fill="hold">
                                          <p:stCondLst>
                                            <p:cond delay="0"/>
                                          </p:stCondLst>
                                        </p:cTn>
                                        <p:tgtEl>
                                          <p:spTgt spid="1014826"/>
                                        </p:tgtEl>
                                        <p:attrNameLst>
                                          <p:attrName>style.visibility</p:attrName>
                                        </p:attrNameLst>
                                      </p:cBhvr>
                                      <p:to>
                                        <p:strVal val="visible"/>
                                      </p:to>
                                    </p:set>
                                    <p:animEffect transition="in" filter="box(out)">
                                      <p:cBhvr>
                                        <p:cTn id="98" dur="500"/>
                                        <p:tgtEl>
                                          <p:spTgt spid="1014826"/>
                                        </p:tgtEl>
                                      </p:cBhvr>
                                    </p:animEffect>
                                  </p:childTnLst>
                                </p:cTn>
                              </p:par>
                            </p:childTnLst>
                          </p:cTn>
                        </p:par>
                      </p:childTnLst>
                    </p:cTn>
                  </p:par>
                  <p:par>
                    <p:cTn id="99" fill="hold">
                      <p:stCondLst>
                        <p:cond delay="indefinite"/>
                      </p:stCondLst>
                      <p:childTnLst>
                        <p:par>
                          <p:cTn id="100" fill="hold">
                            <p:stCondLst>
                              <p:cond delay="0"/>
                            </p:stCondLst>
                            <p:childTnLst>
                              <p:par>
                                <p:cTn id="101" presetID="4" presetClass="entr" presetSubtype="32" fill="hold" nodeType="clickEffect">
                                  <p:stCondLst>
                                    <p:cond delay="0"/>
                                  </p:stCondLst>
                                  <p:childTnLst>
                                    <p:set>
                                      <p:cBhvr>
                                        <p:cTn id="102" dur="1" fill="hold">
                                          <p:stCondLst>
                                            <p:cond delay="0"/>
                                          </p:stCondLst>
                                        </p:cTn>
                                        <p:tgtEl>
                                          <p:spTgt spid="3"/>
                                        </p:tgtEl>
                                        <p:attrNameLst>
                                          <p:attrName>style.visibility</p:attrName>
                                        </p:attrNameLst>
                                      </p:cBhvr>
                                      <p:to>
                                        <p:strVal val="visible"/>
                                      </p:to>
                                    </p:set>
                                    <p:animEffect transition="in" filter="box(out)">
                                      <p:cBhvr>
                                        <p:cTn id="103" dur="500"/>
                                        <p:tgtEl>
                                          <p:spTgt spid="3"/>
                                        </p:tgtEl>
                                      </p:cBhvr>
                                    </p:animEffect>
                                  </p:childTnLst>
                                </p:cTn>
                              </p:par>
                            </p:childTnLst>
                          </p:cTn>
                        </p:par>
                      </p:childTnLst>
                    </p:cTn>
                  </p:par>
                  <p:par>
                    <p:cTn id="104" fill="hold">
                      <p:stCondLst>
                        <p:cond delay="indefinite"/>
                      </p:stCondLst>
                      <p:childTnLst>
                        <p:par>
                          <p:cTn id="105" fill="hold">
                            <p:stCondLst>
                              <p:cond delay="0"/>
                            </p:stCondLst>
                            <p:childTnLst>
                              <p:par>
                                <p:cTn id="106" presetID="4" presetClass="entr" presetSubtype="32" fill="hold" grpId="0" nodeType="clickEffect">
                                  <p:stCondLst>
                                    <p:cond delay="0"/>
                                  </p:stCondLst>
                                  <p:childTnLst>
                                    <p:set>
                                      <p:cBhvr>
                                        <p:cTn id="107" dur="1" fill="hold">
                                          <p:stCondLst>
                                            <p:cond delay="0"/>
                                          </p:stCondLst>
                                        </p:cTn>
                                        <p:tgtEl>
                                          <p:spTgt spid="1014831"/>
                                        </p:tgtEl>
                                        <p:attrNameLst>
                                          <p:attrName>style.visibility</p:attrName>
                                        </p:attrNameLst>
                                      </p:cBhvr>
                                      <p:to>
                                        <p:strVal val="visible"/>
                                      </p:to>
                                    </p:set>
                                    <p:animEffect transition="in" filter="box(out)">
                                      <p:cBhvr>
                                        <p:cTn id="108" dur="500"/>
                                        <p:tgtEl>
                                          <p:spTgt spid="1014831"/>
                                        </p:tgtEl>
                                      </p:cBhvr>
                                    </p:animEffect>
                                  </p:childTnLst>
                                </p:cTn>
                              </p:par>
                            </p:childTnLst>
                          </p:cTn>
                        </p:par>
                      </p:childTnLst>
                    </p:cTn>
                  </p:par>
                  <p:par>
                    <p:cTn id="109" fill="hold">
                      <p:stCondLst>
                        <p:cond delay="indefinite"/>
                      </p:stCondLst>
                      <p:childTnLst>
                        <p:par>
                          <p:cTn id="110" fill="hold">
                            <p:stCondLst>
                              <p:cond delay="0"/>
                            </p:stCondLst>
                            <p:childTnLst>
                              <p:par>
                                <p:cTn id="111" presetID="4" presetClass="entr" presetSubtype="32" fill="hold" grpId="0" nodeType="clickEffect">
                                  <p:stCondLst>
                                    <p:cond delay="0"/>
                                  </p:stCondLst>
                                  <p:childTnLst>
                                    <p:set>
                                      <p:cBhvr>
                                        <p:cTn id="112" dur="1" fill="hold">
                                          <p:stCondLst>
                                            <p:cond delay="0"/>
                                          </p:stCondLst>
                                        </p:cTn>
                                        <p:tgtEl>
                                          <p:spTgt spid="1014832"/>
                                        </p:tgtEl>
                                        <p:attrNameLst>
                                          <p:attrName>style.visibility</p:attrName>
                                        </p:attrNameLst>
                                      </p:cBhvr>
                                      <p:to>
                                        <p:strVal val="visible"/>
                                      </p:to>
                                    </p:set>
                                    <p:animEffect transition="in" filter="box(out)">
                                      <p:cBhvr>
                                        <p:cTn id="113" dur="500"/>
                                        <p:tgtEl>
                                          <p:spTgt spid="1014832"/>
                                        </p:tgtEl>
                                      </p:cBhvr>
                                    </p:animEffect>
                                  </p:childTnLst>
                                </p:cTn>
                              </p:par>
                            </p:childTnLst>
                          </p:cTn>
                        </p:par>
                      </p:childTnLst>
                    </p:cTn>
                  </p:par>
                  <p:par>
                    <p:cTn id="114" fill="hold">
                      <p:stCondLst>
                        <p:cond delay="indefinite"/>
                      </p:stCondLst>
                      <p:childTnLst>
                        <p:par>
                          <p:cTn id="115" fill="hold">
                            <p:stCondLst>
                              <p:cond delay="0"/>
                            </p:stCondLst>
                            <p:childTnLst>
                              <p:par>
                                <p:cTn id="116" presetID="4" presetClass="entr" presetSubtype="32" fill="hold" grpId="0" nodeType="clickEffect">
                                  <p:stCondLst>
                                    <p:cond delay="0"/>
                                  </p:stCondLst>
                                  <p:childTnLst>
                                    <p:set>
                                      <p:cBhvr>
                                        <p:cTn id="117" dur="1" fill="hold">
                                          <p:stCondLst>
                                            <p:cond delay="0"/>
                                          </p:stCondLst>
                                        </p:cTn>
                                        <p:tgtEl>
                                          <p:spTgt spid="1014833"/>
                                        </p:tgtEl>
                                        <p:attrNameLst>
                                          <p:attrName>style.visibility</p:attrName>
                                        </p:attrNameLst>
                                      </p:cBhvr>
                                      <p:to>
                                        <p:strVal val="visible"/>
                                      </p:to>
                                    </p:set>
                                    <p:animEffect transition="in" filter="box(out)">
                                      <p:cBhvr>
                                        <p:cTn id="118" dur="500"/>
                                        <p:tgtEl>
                                          <p:spTgt spid="1014833"/>
                                        </p:tgtEl>
                                      </p:cBhvr>
                                    </p:animEffect>
                                  </p:childTnLst>
                                </p:cTn>
                              </p:par>
                            </p:childTnLst>
                          </p:cTn>
                        </p:par>
                      </p:childTnLst>
                    </p:cTn>
                  </p:par>
                  <p:par>
                    <p:cTn id="119" fill="hold">
                      <p:stCondLst>
                        <p:cond delay="indefinite"/>
                      </p:stCondLst>
                      <p:childTnLst>
                        <p:par>
                          <p:cTn id="120" fill="hold">
                            <p:stCondLst>
                              <p:cond delay="0"/>
                            </p:stCondLst>
                            <p:childTnLst>
                              <p:par>
                                <p:cTn id="121" presetID="4" presetClass="entr" presetSubtype="32" fill="hold" grpId="0" nodeType="clickEffect">
                                  <p:stCondLst>
                                    <p:cond delay="0"/>
                                  </p:stCondLst>
                                  <p:childTnLst>
                                    <p:set>
                                      <p:cBhvr>
                                        <p:cTn id="122" dur="1" fill="hold">
                                          <p:stCondLst>
                                            <p:cond delay="0"/>
                                          </p:stCondLst>
                                        </p:cTn>
                                        <p:tgtEl>
                                          <p:spTgt spid="1014834"/>
                                        </p:tgtEl>
                                        <p:attrNameLst>
                                          <p:attrName>style.visibility</p:attrName>
                                        </p:attrNameLst>
                                      </p:cBhvr>
                                      <p:to>
                                        <p:strVal val="visible"/>
                                      </p:to>
                                    </p:set>
                                    <p:animEffect transition="in" filter="box(out)">
                                      <p:cBhvr>
                                        <p:cTn id="123" dur="500"/>
                                        <p:tgtEl>
                                          <p:spTgt spid="1014834"/>
                                        </p:tgtEl>
                                      </p:cBhvr>
                                    </p:animEffect>
                                  </p:childTnLst>
                                </p:cTn>
                              </p:par>
                            </p:childTnLst>
                          </p:cTn>
                        </p:par>
                      </p:childTnLst>
                    </p:cTn>
                  </p:par>
                  <p:par>
                    <p:cTn id="124" fill="hold">
                      <p:stCondLst>
                        <p:cond delay="indefinite"/>
                      </p:stCondLst>
                      <p:childTnLst>
                        <p:par>
                          <p:cTn id="125" fill="hold">
                            <p:stCondLst>
                              <p:cond delay="0"/>
                            </p:stCondLst>
                            <p:childTnLst>
                              <p:par>
                                <p:cTn id="126" presetID="4" presetClass="entr" presetSubtype="32" fill="hold" grpId="0" nodeType="clickEffect">
                                  <p:stCondLst>
                                    <p:cond delay="0"/>
                                  </p:stCondLst>
                                  <p:childTnLst>
                                    <p:set>
                                      <p:cBhvr>
                                        <p:cTn id="127" dur="1" fill="hold">
                                          <p:stCondLst>
                                            <p:cond delay="0"/>
                                          </p:stCondLst>
                                        </p:cTn>
                                        <p:tgtEl>
                                          <p:spTgt spid="1014835"/>
                                        </p:tgtEl>
                                        <p:attrNameLst>
                                          <p:attrName>style.visibility</p:attrName>
                                        </p:attrNameLst>
                                      </p:cBhvr>
                                      <p:to>
                                        <p:strVal val="visible"/>
                                      </p:to>
                                    </p:set>
                                    <p:animEffect transition="in" filter="box(out)">
                                      <p:cBhvr>
                                        <p:cTn id="128" dur="500"/>
                                        <p:tgtEl>
                                          <p:spTgt spid="1014835"/>
                                        </p:tgtEl>
                                      </p:cBhvr>
                                    </p:animEffect>
                                  </p:childTnLst>
                                </p:cTn>
                              </p:par>
                            </p:childTnLst>
                          </p:cTn>
                        </p:par>
                      </p:childTnLst>
                    </p:cTn>
                  </p:par>
                  <p:par>
                    <p:cTn id="129" fill="hold">
                      <p:stCondLst>
                        <p:cond delay="indefinite"/>
                      </p:stCondLst>
                      <p:childTnLst>
                        <p:par>
                          <p:cTn id="130" fill="hold">
                            <p:stCondLst>
                              <p:cond delay="0"/>
                            </p:stCondLst>
                            <p:childTnLst>
                              <p:par>
                                <p:cTn id="131" presetID="4" presetClass="entr" presetSubtype="32" fill="hold" grpId="0" nodeType="clickEffect">
                                  <p:stCondLst>
                                    <p:cond delay="0"/>
                                  </p:stCondLst>
                                  <p:childTnLst>
                                    <p:set>
                                      <p:cBhvr>
                                        <p:cTn id="132" dur="1" fill="hold">
                                          <p:stCondLst>
                                            <p:cond delay="0"/>
                                          </p:stCondLst>
                                        </p:cTn>
                                        <p:tgtEl>
                                          <p:spTgt spid="1014836"/>
                                        </p:tgtEl>
                                        <p:attrNameLst>
                                          <p:attrName>style.visibility</p:attrName>
                                        </p:attrNameLst>
                                      </p:cBhvr>
                                      <p:to>
                                        <p:strVal val="visible"/>
                                      </p:to>
                                    </p:set>
                                    <p:animEffect transition="in" filter="box(out)">
                                      <p:cBhvr>
                                        <p:cTn id="133" dur="500"/>
                                        <p:tgtEl>
                                          <p:spTgt spid="1014836"/>
                                        </p:tgtEl>
                                      </p:cBhvr>
                                    </p:animEffect>
                                  </p:childTnLst>
                                </p:cTn>
                              </p:par>
                            </p:childTnLst>
                          </p:cTn>
                        </p:par>
                      </p:childTnLst>
                    </p:cTn>
                  </p:par>
                  <p:par>
                    <p:cTn id="134" fill="hold">
                      <p:stCondLst>
                        <p:cond delay="indefinite"/>
                      </p:stCondLst>
                      <p:childTnLst>
                        <p:par>
                          <p:cTn id="135" fill="hold">
                            <p:stCondLst>
                              <p:cond delay="0"/>
                            </p:stCondLst>
                            <p:childTnLst>
                              <p:par>
                                <p:cTn id="136" presetID="4" presetClass="entr" presetSubtype="32" fill="hold" nodeType="clickEffect">
                                  <p:stCondLst>
                                    <p:cond delay="0"/>
                                  </p:stCondLst>
                                  <p:childTnLst>
                                    <p:set>
                                      <p:cBhvr>
                                        <p:cTn id="137" dur="1" fill="hold">
                                          <p:stCondLst>
                                            <p:cond delay="0"/>
                                          </p:stCondLst>
                                        </p:cTn>
                                        <p:tgtEl>
                                          <p:spTgt spid="4"/>
                                        </p:tgtEl>
                                        <p:attrNameLst>
                                          <p:attrName>style.visibility</p:attrName>
                                        </p:attrNameLst>
                                      </p:cBhvr>
                                      <p:to>
                                        <p:strVal val="visible"/>
                                      </p:to>
                                    </p:set>
                                    <p:animEffect transition="in" filter="box(out)">
                                      <p:cBhvr>
                                        <p:cTn id="138" dur="500"/>
                                        <p:tgtEl>
                                          <p:spTgt spid="4"/>
                                        </p:tgtEl>
                                      </p:cBhvr>
                                    </p:animEffect>
                                  </p:childTnLst>
                                </p:cTn>
                              </p:par>
                            </p:childTnLst>
                          </p:cTn>
                        </p:par>
                      </p:childTnLst>
                    </p:cTn>
                  </p:par>
                  <p:par>
                    <p:cTn id="139" fill="hold">
                      <p:stCondLst>
                        <p:cond delay="indefinite"/>
                      </p:stCondLst>
                      <p:childTnLst>
                        <p:par>
                          <p:cTn id="140" fill="hold">
                            <p:stCondLst>
                              <p:cond delay="0"/>
                            </p:stCondLst>
                            <p:childTnLst>
                              <p:par>
                                <p:cTn id="141" presetID="4" presetClass="entr" presetSubtype="32" fill="hold" grpId="0" nodeType="clickEffect">
                                  <p:stCondLst>
                                    <p:cond delay="0"/>
                                  </p:stCondLst>
                                  <p:childTnLst>
                                    <p:set>
                                      <p:cBhvr>
                                        <p:cTn id="142" dur="1" fill="hold">
                                          <p:stCondLst>
                                            <p:cond delay="0"/>
                                          </p:stCondLst>
                                        </p:cTn>
                                        <p:tgtEl>
                                          <p:spTgt spid="1014837"/>
                                        </p:tgtEl>
                                        <p:attrNameLst>
                                          <p:attrName>style.visibility</p:attrName>
                                        </p:attrNameLst>
                                      </p:cBhvr>
                                      <p:to>
                                        <p:strVal val="visible"/>
                                      </p:to>
                                    </p:set>
                                    <p:animEffect transition="in" filter="box(out)">
                                      <p:cBhvr>
                                        <p:cTn id="143" dur="500"/>
                                        <p:tgtEl>
                                          <p:spTgt spid="1014837"/>
                                        </p:tgtEl>
                                      </p:cBhvr>
                                    </p:animEffect>
                                  </p:childTnLst>
                                </p:cTn>
                              </p:par>
                            </p:childTnLst>
                          </p:cTn>
                        </p:par>
                      </p:childTnLst>
                    </p:cTn>
                  </p:par>
                  <p:par>
                    <p:cTn id="144" fill="hold">
                      <p:stCondLst>
                        <p:cond delay="indefinite"/>
                      </p:stCondLst>
                      <p:childTnLst>
                        <p:par>
                          <p:cTn id="145" fill="hold">
                            <p:stCondLst>
                              <p:cond delay="0"/>
                            </p:stCondLst>
                            <p:childTnLst>
                              <p:par>
                                <p:cTn id="146" presetID="4" presetClass="entr" presetSubtype="32" fill="hold" grpId="0" nodeType="clickEffect">
                                  <p:stCondLst>
                                    <p:cond delay="0"/>
                                  </p:stCondLst>
                                  <p:childTnLst>
                                    <p:set>
                                      <p:cBhvr>
                                        <p:cTn id="147" dur="1" fill="hold">
                                          <p:stCondLst>
                                            <p:cond delay="0"/>
                                          </p:stCondLst>
                                        </p:cTn>
                                        <p:tgtEl>
                                          <p:spTgt spid="1014842"/>
                                        </p:tgtEl>
                                        <p:attrNameLst>
                                          <p:attrName>style.visibility</p:attrName>
                                        </p:attrNameLst>
                                      </p:cBhvr>
                                      <p:to>
                                        <p:strVal val="visible"/>
                                      </p:to>
                                    </p:set>
                                    <p:animEffect transition="in" filter="box(out)">
                                      <p:cBhvr>
                                        <p:cTn id="148" dur="500"/>
                                        <p:tgtEl>
                                          <p:spTgt spid="1014842"/>
                                        </p:tgtEl>
                                      </p:cBhvr>
                                    </p:animEffect>
                                  </p:childTnLst>
                                </p:cTn>
                              </p:par>
                            </p:childTnLst>
                          </p:cTn>
                        </p:par>
                      </p:childTnLst>
                    </p:cTn>
                  </p:par>
                  <p:par>
                    <p:cTn id="149" fill="hold">
                      <p:stCondLst>
                        <p:cond delay="indefinite"/>
                      </p:stCondLst>
                      <p:childTnLst>
                        <p:par>
                          <p:cTn id="150" fill="hold">
                            <p:stCondLst>
                              <p:cond delay="0"/>
                            </p:stCondLst>
                            <p:childTnLst>
                              <p:par>
                                <p:cTn id="151" presetID="4" presetClass="entr" presetSubtype="32" fill="hold" grpId="0" nodeType="clickEffect">
                                  <p:stCondLst>
                                    <p:cond delay="0"/>
                                  </p:stCondLst>
                                  <p:childTnLst>
                                    <p:set>
                                      <p:cBhvr>
                                        <p:cTn id="152" dur="1" fill="hold">
                                          <p:stCondLst>
                                            <p:cond delay="0"/>
                                          </p:stCondLst>
                                        </p:cTn>
                                        <p:tgtEl>
                                          <p:spTgt spid="1014843"/>
                                        </p:tgtEl>
                                        <p:attrNameLst>
                                          <p:attrName>style.visibility</p:attrName>
                                        </p:attrNameLst>
                                      </p:cBhvr>
                                      <p:to>
                                        <p:strVal val="visible"/>
                                      </p:to>
                                    </p:set>
                                    <p:animEffect transition="in" filter="box(out)">
                                      <p:cBhvr>
                                        <p:cTn id="153" dur="500"/>
                                        <p:tgtEl>
                                          <p:spTgt spid="1014843"/>
                                        </p:tgtEl>
                                      </p:cBhvr>
                                    </p:animEffect>
                                  </p:childTnLst>
                                </p:cTn>
                              </p:par>
                            </p:childTnLst>
                          </p:cTn>
                        </p:par>
                      </p:childTnLst>
                    </p:cTn>
                  </p:par>
                  <p:par>
                    <p:cTn id="154" fill="hold">
                      <p:stCondLst>
                        <p:cond delay="indefinite"/>
                      </p:stCondLst>
                      <p:childTnLst>
                        <p:par>
                          <p:cTn id="155" fill="hold">
                            <p:stCondLst>
                              <p:cond delay="0"/>
                            </p:stCondLst>
                            <p:childTnLst>
                              <p:par>
                                <p:cTn id="156" presetID="4" presetClass="entr" presetSubtype="32" fill="hold" grpId="0" nodeType="clickEffect">
                                  <p:stCondLst>
                                    <p:cond delay="0"/>
                                  </p:stCondLst>
                                  <p:childTnLst>
                                    <p:set>
                                      <p:cBhvr>
                                        <p:cTn id="157" dur="1" fill="hold">
                                          <p:stCondLst>
                                            <p:cond delay="0"/>
                                          </p:stCondLst>
                                        </p:cTn>
                                        <p:tgtEl>
                                          <p:spTgt spid="1014840"/>
                                        </p:tgtEl>
                                        <p:attrNameLst>
                                          <p:attrName>style.visibility</p:attrName>
                                        </p:attrNameLst>
                                      </p:cBhvr>
                                      <p:to>
                                        <p:strVal val="visible"/>
                                      </p:to>
                                    </p:set>
                                    <p:animEffect transition="in" filter="box(out)">
                                      <p:cBhvr>
                                        <p:cTn id="158" dur="500"/>
                                        <p:tgtEl>
                                          <p:spTgt spid="1014840"/>
                                        </p:tgtEl>
                                      </p:cBhvr>
                                    </p:animEffect>
                                  </p:childTnLst>
                                </p:cTn>
                              </p:par>
                            </p:childTnLst>
                          </p:cTn>
                        </p:par>
                      </p:childTnLst>
                    </p:cTn>
                  </p:par>
                  <p:par>
                    <p:cTn id="159" fill="hold">
                      <p:stCondLst>
                        <p:cond delay="indefinite"/>
                      </p:stCondLst>
                      <p:childTnLst>
                        <p:par>
                          <p:cTn id="160" fill="hold">
                            <p:stCondLst>
                              <p:cond delay="0"/>
                            </p:stCondLst>
                            <p:childTnLst>
                              <p:par>
                                <p:cTn id="161" presetID="4" presetClass="entr" presetSubtype="32" fill="hold" grpId="0" nodeType="clickEffect">
                                  <p:stCondLst>
                                    <p:cond delay="0"/>
                                  </p:stCondLst>
                                  <p:childTnLst>
                                    <p:set>
                                      <p:cBhvr>
                                        <p:cTn id="162" dur="1" fill="hold">
                                          <p:stCondLst>
                                            <p:cond delay="0"/>
                                          </p:stCondLst>
                                        </p:cTn>
                                        <p:tgtEl>
                                          <p:spTgt spid="1014841"/>
                                        </p:tgtEl>
                                        <p:attrNameLst>
                                          <p:attrName>style.visibility</p:attrName>
                                        </p:attrNameLst>
                                      </p:cBhvr>
                                      <p:to>
                                        <p:strVal val="visible"/>
                                      </p:to>
                                    </p:set>
                                    <p:animEffect transition="in" filter="box(out)">
                                      <p:cBhvr>
                                        <p:cTn id="163" dur="500"/>
                                        <p:tgtEl>
                                          <p:spTgt spid="1014841"/>
                                        </p:tgtEl>
                                      </p:cBhvr>
                                    </p:animEffect>
                                  </p:childTnLst>
                                </p:cTn>
                              </p:par>
                            </p:childTnLst>
                          </p:cTn>
                        </p:par>
                      </p:childTnLst>
                    </p:cTn>
                  </p:par>
                  <p:par>
                    <p:cTn id="164" fill="hold">
                      <p:stCondLst>
                        <p:cond delay="indefinite"/>
                      </p:stCondLst>
                      <p:childTnLst>
                        <p:par>
                          <p:cTn id="165" fill="hold">
                            <p:stCondLst>
                              <p:cond delay="0"/>
                            </p:stCondLst>
                            <p:childTnLst>
                              <p:par>
                                <p:cTn id="166" presetID="4" presetClass="entr" presetSubtype="32" fill="hold" grpId="0" nodeType="clickEffect">
                                  <p:stCondLst>
                                    <p:cond delay="0"/>
                                  </p:stCondLst>
                                  <p:childTnLst>
                                    <p:set>
                                      <p:cBhvr>
                                        <p:cTn id="167" dur="1" fill="hold">
                                          <p:stCondLst>
                                            <p:cond delay="0"/>
                                          </p:stCondLst>
                                        </p:cTn>
                                        <p:tgtEl>
                                          <p:spTgt spid="1014839"/>
                                        </p:tgtEl>
                                        <p:attrNameLst>
                                          <p:attrName>style.visibility</p:attrName>
                                        </p:attrNameLst>
                                      </p:cBhvr>
                                      <p:to>
                                        <p:strVal val="visible"/>
                                      </p:to>
                                    </p:set>
                                    <p:animEffect transition="in" filter="box(out)">
                                      <p:cBhvr>
                                        <p:cTn id="168" dur="500"/>
                                        <p:tgtEl>
                                          <p:spTgt spid="1014839"/>
                                        </p:tgtEl>
                                      </p:cBhvr>
                                    </p:animEffect>
                                  </p:childTnLst>
                                </p:cTn>
                              </p:par>
                            </p:childTnLst>
                          </p:cTn>
                        </p:par>
                      </p:childTnLst>
                    </p:cTn>
                  </p:par>
                  <p:par>
                    <p:cTn id="169" fill="hold">
                      <p:stCondLst>
                        <p:cond delay="indefinite"/>
                      </p:stCondLst>
                      <p:childTnLst>
                        <p:par>
                          <p:cTn id="170" fill="hold">
                            <p:stCondLst>
                              <p:cond delay="0"/>
                            </p:stCondLst>
                            <p:childTnLst>
                              <p:par>
                                <p:cTn id="171" presetID="4" presetClass="entr" presetSubtype="32" fill="hold" nodeType="clickEffect">
                                  <p:stCondLst>
                                    <p:cond delay="0"/>
                                  </p:stCondLst>
                                  <p:childTnLst>
                                    <p:set>
                                      <p:cBhvr>
                                        <p:cTn id="172" dur="1" fill="hold">
                                          <p:stCondLst>
                                            <p:cond delay="0"/>
                                          </p:stCondLst>
                                        </p:cTn>
                                        <p:tgtEl>
                                          <p:spTgt spid="5"/>
                                        </p:tgtEl>
                                        <p:attrNameLst>
                                          <p:attrName>style.visibility</p:attrName>
                                        </p:attrNameLst>
                                      </p:cBhvr>
                                      <p:to>
                                        <p:strVal val="visible"/>
                                      </p:to>
                                    </p:set>
                                    <p:animEffect transition="in" filter="box(out)">
                                      <p:cBhvr>
                                        <p:cTn id="173" dur="500"/>
                                        <p:tgtEl>
                                          <p:spTgt spid="5"/>
                                        </p:tgtEl>
                                      </p:cBhvr>
                                    </p:animEffect>
                                  </p:childTnLst>
                                </p:cTn>
                              </p:par>
                            </p:childTnLst>
                          </p:cTn>
                        </p:par>
                      </p:childTnLst>
                    </p:cTn>
                  </p:par>
                  <p:par>
                    <p:cTn id="174" fill="hold">
                      <p:stCondLst>
                        <p:cond delay="indefinite"/>
                      </p:stCondLst>
                      <p:childTnLst>
                        <p:par>
                          <p:cTn id="175" fill="hold">
                            <p:stCondLst>
                              <p:cond delay="0"/>
                            </p:stCondLst>
                            <p:childTnLst>
                              <p:par>
                                <p:cTn id="176" presetID="4" presetClass="entr" presetSubtype="32" fill="hold" grpId="0" nodeType="clickEffect">
                                  <p:stCondLst>
                                    <p:cond delay="0"/>
                                  </p:stCondLst>
                                  <p:childTnLst>
                                    <p:set>
                                      <p:cBhvr>
                                        <p:cTn id="177" dur="1" fill="hold">
                                          <p:stCondLst>
                                            <p:cond delay="0"/>
                                          </p:stCondLst>
                                        </p:cTn>
                                        <p:tgtEl>
                                          <p:spTgt spid="1014838"/>
                                        </p:tgtEl>
                                        <p:attrNameLst>
                                          <p:attrName>style.visibility</p:attrName>
                                        </p:attrNameLst>
                                      </p:cBhvr>
                                      <p:to>
                                        <p:strVal val="visible"/>
                                      </p:to>
                                    </p:set>
                                    <p:animEffect transition="in" filter="box(out)">
                                      <p:cBhvr>
                                        <p:cTn id="178" dur="500"/>
                                        <p:tgtEl>
                                          <p:spTgt spid="1014838"/>
                                        </p:tgtEl>
                                      </p:cBhvr>
                                    </p:animEffect>
                                  </p:childTnLst>
                                </p:cTn>
                              </p:par>
                            </p:childTnLst>
                          </p:cTn>
                        </p:par>
                      </p:childTnLst>
                    </p:cTn>
                  </p:par>
                  <p:par>
                    <p:cTn id="179" fill="hold">
                      <p:stCondLst>
                        <p:cond delay="indefinite"/>
                      </p:stCondLst>
                      <p:childTnLst>
                        <p:par>
                          <p:cTn id="180" fill="hold">
                            <p:stCondLst>
                              <p:cond delay="0"/>
                            </p:stCondLst>
                            <p:childTnLst>
                              <p:par>
                                <p:cTn id="181" presetID="4" presetClass="entr" presetSubtype="32" fill="hold" grpId="0" nodeType="clickEffect">
                                  <p:stCondLst>
                                    <p:cond delay="0"/>
                                  </p:stCondLst>
                                  <p:childTnLst>
                                    <p:set>
                                      <p:cBhvr>
                                        <p:cTn id="182" dur="1" fill="hold">
                                          <p:stCondLst>
                                            <p:cond delay="0"/>
                                          </p:stCondLst>
                                        </p:cTn>
                                        <p:tgtEl>
                                          <p:spTgt spid="1014844"/>
                                        </p:tgtEl>
                                        <p:attrNameLst>
                                          <p:attrName>style.visibility</p:attrName>
                                        </p:attrNameLst>
                                      </p:cBhvr>
                                      <p:to>
                                        <p:strVal val="visible"/>
                                      </p:to>
                                    </p:set>
                                    <p:animEffect transition="in" filter="box(out)">
                                      <p:cBhvr>
                                        <p:cTn id="183" dur="500"/>
                                        <p:tgtEl>
                                          <p:spTgt spid="1014844"/>
                                        </p:tgtEl>
                                      </p:cBhvr>
                                    </p:animEffect>
                                  </p:childTnLst>
                                </p:cTn>
                              </p:par>
                            </p:childTnLst>
                          </p:cTn>
                        </p:par>
                      </p:childTnLst>
                    </p:cTn>
                  </p:par>
                  <p:par>
                    <p:cTn id="184" fill="hold">
                      <p:stCondLst>
                        <p:cond delay="indefinite"/>
                      </p:stCondLst>
                      <p:childTnLst>
                        <p:par>
                          <p:cTn id="185" fill="hold">
                            <p:stCondLst>
                              <p:cond delay="0"/>
                            </p:stCondLst>
                            <p:childTnLst>
                              <p:par>
                                <p:cTn id="186" presetID="4" presetClass="entr" presetSubtype="32" fill="hold" grpId="0" nodeType="clickEffect">
                                  <p:stCondLst>
                                    <p:cond delay="0"/>
                                  </p:stCondLst>
                                  <p:childTnLst>
                                    <p:set>
                                      <p:cBhvr>
                                        <p:cTn id="187" dur="1" fill="hold">
                                          <p:stCondLst>
                                            <p:cond delay="0"/>
                                          </p:stCondLst>
                                        </p:cTn>
                                        <p:tgtEl>
                                          <p:spTgt spid="1014845"/>
                                        </p:tgtEl>
                                        <p:attrNameLst>
                                          <p:attrName>style.visibility</p:attrName>
                                        </p:attrNameLst>
                                      </p:cBhvr>
                                      <p:to>
                                        <p:strVal val="visible"/>
                                      </p:to>
                                    </p:set>
                                    <p:animEffect transition="in" filter="box(out)">
                                      <p:cBhvr>
                                        <p:cTn id="188" dur="500"/>
                                        <p:tgtEl>
                                          <p:spTgt spid="1014845"/>
                                        </p:tgtEl>
                                      </p:cBhvr>
                                    </p:animEffect>
                                  </p:childTnLst>
                                </p:cTn>
                              </p:par>
                            </p:childTnLst>
                          </p:cTn>
                        </p:par>
                      </p:childTnLst>
                    </p:cTn>
                  </p:par>
                  <p:par>
                    <p:cTn id="189" fill="hold">
                      <p:stCondLst>
                        <p:cond delay="indefinite"/>
                      </p:stCondLst>
                      <p:childTnLst>
                        <p:par>
                          <p:cTn id="190" fill="hold">
                            <p:stCondLst>
                              <p:cond delay="0"/>
                            </p:stCondLst>
                            <p:childTnLst>
                              <p:par>
                                <p:cTn id="191" presetID="4" presetClass="entr" presetSubtype="32" fill="hold" grpId="0" nodeType="clickEffect">
                                  <p:stCondLst>
                                    <p:cond delay="0"/>
                                  </p:stCondLst>
                                  <p:childTnLst>
                                    <p:set>
                                      <p:cBhvr>
                                        <p:cTn id="192" dur="1" fill="hold">
                                          <p:stCondLst>
                                            <p:cond delay="0"/>
                                          </p:stCondLst>
                                        </p:cTn>
                                        <p:tgtEl>
                                          <p:spTgt spid="1014846"/>
                                        </p:tgtEl>
                                        <p:attrNameLst>
                                          <p:attrName>style.visibility</p:attrName>
                                        </p:attrNameLst>
                                      </p:cBhvr>
                                      <p:to>
                                        <p:strVal val="visible"/>
                                      </p:to>
                                    </p:set>
                                    <p:animEffect transition="in" filter="box(out)">
                                      <p:cBhvr>
                                        <p:cTn id="193" dur="500"/>
                                        <p:tgtEl>
                                          <p:spTgt spid="1014846"/>
                                        </p:tgtEl>
                                      </p:cBhvr>
                                    </p:animEffect>
                                  </p:childTnLst>
                                </p:cTn>
                              </p:par>
                            </p:childTnLst>
                          </p:cTn>
                        </p:par>
                      </p:childTnLst>
                    </p:cTn>
                  </p:par>
                  <p:par>
                    <p:cTn id="194" fill="hold">
                      <p:stCondLst>
                        <p:cond delay="indefinite"/>
                      </p:stCondLst>
                      <p:childTnLst>
                        <p:par>
                          <p:cTn id="195" fill="hold">
                            <p:stCondLst>
                              <p:cond delay="0"/>
                            </p:stCondLst>
                            <p:childTnLst>
                              <p:par>
                                <p:cTn id="196" presetID="4" presetClass="entr" presetSubtype="32" fill="hold" grpId="0" nodeType="clickEffect">
                                  <p:stCondLst>
                                    <p:cond delay="0"/>
                                  </p:stCondLst>
                                  <p:childTnLst>
                                    <p:set>
                                      <p:cBhvr>
                                        <p:cTn id="197" dur="1" fill="hold">
                                          <p:stCondLst>
                                            <p:cond delay="0"/>
                                          </p:stCondLst>
                                        </p:cTn>
                                        <p:tgtEl>
                                          <p:spTgt spid="1014847"/>
                                        </p:tgtEl>
                                        <p:attrNameLst>
                                          <p:attrName>style.visibility</p:attrName>
                                        </p:attrNameLst>
                                      </p:cBhvr>
                                      <p:to>
                                        <p:strVal val="visible"/>
                                      </p:to>
                                    </p:set>
                                    <p:animEffect transition="in" filter="box(out)">
                                      <p:cBhvr>
                                        <p:cTn id="198" dur="500"/>
                                        <p:tgtEl>
                                          <p:spTgt spid="1014847"/>
                                        </p:tgtEl>
                                      </p:cBhvr>
                                    </p:animEffect>
                                  </p:childTnLst>
                                </p:cTn>
                              </p:par>
                            </p:childTnLst>
                          </p:cTn>
                        </p:par>
                      </p:childTnLst>
                    </p:cTn>
                  </p:par>
                  <p:par>
                    <p:cTn id="199" fill="hold">
                      <p:stCondLst>
                        <p:cond delay="indefinite"/>
                      </p:stCondLst>
                      <p:childTnLst>
                        <p:par>
                          <p:cTn id="200" fill="hold">
                            <p:stCondLst>
                              <p:cond delay="0"/>
                            </p:stCondLst>
                            <p:childTnLst>
                              <p:par>
                                <p:cTn id="201" presetID="4" presetClass="entr" presetSubtype="32" fill="hold" grpId="0" nodeType="clickEffect">
                                  <p:stCondLst>
                                    <p:cond delay="0"/>
                                  </p:stCondLst>
                                  <p:childTnLst>
                                    <p:set>
                                      <p:cBhvr>
                                        <p:cTn id="202" dur="1" fill="hold">
                                          <p:stCondLst>
                                            <p:cond delay="0"/>
                                          </p:stCondLst>
                                        </p:cTn>
                                        <p:tgtEl>
                                          <p:spTgt spid="1014848"/>
                                        </p:tgtEl>
                                        <p:attrNameLst>
                                          <p:attrName>style.visibility</p:attrName>
                                        </p:attrNameLst>
                                      </p:cBhvr>
                                      <p:to>
                                        <p:strVal val="visible"/>
                                      </p:to>
                                    </p:set>
                                    <p:animEffect transition="in" filter="box(out)">
                                      <p:cBhvr>
                                        <p:cTn id="203" dur="500"/>
                                        <p:tgtEl>
                                          <p:spTgt spid="1014848"/>
                                        </p:tgtEl>
                                      </p:cBhvr>
                                    </p:animEffect>
                                  </p:childTnLst>
                                </p:cTn>
                              </p:par>
                            </p:childTnLst>
                          </p:cTn>
                        </p:par>
                      </p:childTnLst>
                    </p:cTn>
                  </p:par>
                  <p:par>
                    <p:cTn id="204" fill="hold">
                      <p:stCondLst>
                        <p:cond delay="indefinite"/>
                      </p:stCondLst>
                      <p:childTnLst>
                        <p:par>
                          <p:cTn id="205" fill="hold">
                            <p:stCondLst>
                              <p:cond delay="0"/>
                            </p:stCondLst>
                            <p:childTnLst>
                              <p:par>
                                <p:cTn id="206" presetID="4" presetClass="entr" presetSubtype="32" fill="hold" nodeType="clickEffect">
                                  <p:stCondLst>
                                    <p:cond delay="0"/>
                                  </p:stCondLst>
                                  <p:childTnLst>
                                    <p:set>
                                      <p:cBhvr>
                                        <p:cTn id="207" dur="1" fill="hold">
                                          <p:stCondLst>
                                            <p:cond delay="0"/>
                                          </p:stCondLst>
                                        </p:cTn>
                                        <p:tgtEl>
                                          <p:spTgt spid="6"/>
                                        </p:tgtEl>
                                        <p:attrNameLst>
                                          <p:attrName>style.visibility</p:attrName>
                                        </p:attrNameLst>
                                      </p:cBhvr>
                                      <p:to>
                                        <p:strVal val="visible"/>
                                      </p:to>
                                    </p:set>
                                    <p:animEffect transition="in" filter="box(out)">
                                      <p:cBhvr>
                                        <p:cTn id="208" dur="500"/>
                                        <p:tgtEl>
                                          <p:spTgt spid="6"/>
                                        </p:tgtEl>
                                      </p:cBhvr>
                                    </p:animEffect>
                                  </p:childTnLst>
                                </p:cTn>
                              </p:par>
                            </p:childTnLst>
                          </p:cTn>
                        </p:par>
                      </p:childTnLst>
                    </p:cTn>
                  </p:par>
                  <p:par>
                    <p:cTn id="209" fill="hold">
                      <p:stCondLst>
                        <p:cond delay="indefinite"/>
                      </p:stCondLst>
                      <p:childTnLst>
                        <p:par>
                          <p:cTn id="210" fill="hold">
                            <p:stCondLst>
                              <p:cond delay="0"/>
                            </p:stCondLst>
                            <p:childTnLst>
                              <p:par>
                                <p:cTn id="211" presetID="4" presetClass="entr" presetSubtype="32" fill="hold" nodeType="clickEffect">
                                  <p:stCondLst>
                                    <p:cond delay="0"/>
                                  </p:stCondLst>
                                  <p:childTnLst>
                                    <p:set>
                                      <p:cBhvr>
                                        <p:cTn id="212" dur="1" fill="hold">
                                          <p:stCondLst>
                                            <p:cond delay="0"/>
                                          </p:stCondLst>
                                        </p:cTn>
                                        <p:tgtEl>
                                          <p:spTgt spid="7"/>
                                        </p:tgtEl>
                                        <p:attrNameLst>
                                          <p:attrName>style.visibility</p:attrName>
                                        </p:attrNameLst>
                                      </p:cBhvr>
                                      <p:to>
                                        <p:strVal val="visible"/>
                                      </p:to>
                                    </p:set>
                                    <p:animEffect transition="in" filter="box(out)">
                                      <p:cBhvr>
                                        <p:cTn id="213" dur="500"/>
                                        <p:tgtEl>
                                          <p:spTgt spid="7"/>
                                        </p:tgtEl>
                                      </p:cBhvr>
                                    </p:animEffect>
                                  </p:childTnLst>
                                </p:cTn>
                              </p:par>
                            </p:childTnLst>
                          </p:cTn>
                        </p:par>
                      </p:childTnLst>
                    </p:cTn>
                  </p:par>
                  <p:par>
                    <p:cTn id="214" fill="hold">
                      <p:stCondLst>
                        <p:cond delay="indefinite"/>
                      </p:stCondLst>
                      <p:childTnLst>
                        <p:par>
                          <p:cTn id="215" fill="hold">
                            <p:stCondLst>
                              <p:cond delay="0"/>
                            </p:stCondLst>
                            <p:childTnLst>
                              <p:par>
                                <p:cTn id="216" presetID="4" presetClass="entr" presetSubtype="32" fill="hold" nodeType="clickEffect">
                                  <p:stCondLst>
                                    <p:cond delay="0"/>
                                  </p:stCondLst>
                                  <p:childTnLst>
                                    <p:set>
                                      <p:cBhvr>
                                        <p:cTn id="217" dur="1" fill="hold">
                                          <p:stCondLst>
                                            <p:cond delay="0"/>
                                          </p:stCondLst>
                                        </p:cTn>
                                        <p:tgtEl>
                                          <p:spTgt spid="10"/>
                                        </p:tgtEl>
                                        <p:attrNameLst>
                                          <p:attrName>style.visibility</p:attrName>
                                        </p:attrNameLst>
                                      </p:cBhvr>
                                      <p:to>
                                        <p:strVal val="visible"/>
                                      </p:to>
                                    </p:set>
                                    <p:animEffect transition="in" filter="box(out)">
                                      <p:cBhvr>
                                        <p:cTn id="218" dur="500"/>
                                        <p:tgtEl>
                                          <p:spTgt spid="10"/>
                                        </p:tgtEl>
                                      </p:cBhvr>
                                    </p:animEffect>
                                  </p:childTnLst>
                                </p:cTn>
                              </p:par>
                            </p:childTnLst>
                          </p:cTn>
                        </p:par>
                      </p:childTnLst>
                    </p:cTn>
                  </p:par>
                  <p:par>
                    <p:cTn id="219" fill="hold">
                      <p:stCondLst>
                        <p:cond delay="indefinite"/>
                      </p:stCondLst>
                      <p:childTnLst>
                        <p:par>
                          <p:cTn id="220" fill="hold">
                            <p:stCondLst>
                              <p:cond delay="0"/>
                            </p:stCondLst>
                            <p:childTnLst>
                              <p:par>
                                <p:cTn id="221" presetID="2" presetClass="entr" presetSubtype="8" fill="hold" grpId="0" nodeType="clickEffect">
                                  <p:stCondLst>
                                    <p:cond delay="0"/>
                                  </p:stCondLst>
                                  <p:childTnLst>
                                    <p:set>
                                      <p:cBhvr>
                                        <p:cTn id="222" dur="1" fill="hold">
                                          <p:stCondLst>
                                            <p:cond delay="0"/>
                                          </p:stCondLst>
                                        </p:cTn>
                                        <p:tgtEl>
                                          <p:spTgt spid="1014915"/>
                                        </p:tgtEl>
                                        <p:attrNameLst>
                                          <p:attrName>style.visibility</p:attrName>
                                        </p:attrNameLst>
                                      </p:cBhvr>
                                      <p:to>
                                        <p:strVal val="visible"/>
                                      </p:to>
                                    </p:set>
                                    <p:anim calcmode="lin" valueType="num">
                                      <p:cBhvr additive="base">
                                        <p:cTn id="223" dur="500" fill="hold"/>
                                        <p:tgtEl>
                                          <p:spTgt spid="1014915"/>
                                        </p:tgtEl>
                                        <p:attrNameLst>
                                          <p:attrName>ppt_x</p:attrName>
                                        </p:attrNameLst>
                                      </p:cBhvr>
                                      <p:tavLst>
                                        <p:tav tm="0">
                                          <p:val>
                                            <p:strVal val="0-#ppt_w/2"/>
                                          </p:val>
                                        </p:tav>
                                        <p:tav tm="100000">
                                          <p:val>
                                            <p:strVal val="#ppt_x"/>
                                          </p:val>
                                        </p:tav>
                                      </p:tavLst>
                                    </p:anim>
                                    <p:anim calcmode="lin" valueType="num">
                                      <p:cBhvr additive="base">
                                        <p:cTn id="224" dur="500" fill="hold"/>
                                        <p:tgtEl>
                                          <p:spTgt spid="10149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4815" grpId="0" animBg="1"/>
      <p:bldP spid="1014816" grpId="0" animBg="1"/>
      <p:bldP spid="1014817" grpId="0" animBg="1"/>
      <p:bldP spid="1014818" grpId="0" animBg="1"/>
      <p:bldP spid="1014819" grpId="0" animBg="1"/>
      <p:bldP spid="1014820" grpId="0" animBg="1"/>
      <p:bldP spid="1014821" grpId="0" animBg="1"/>
      <p:bldP spid="1014822" grpId="0" animBg="1"/>
      <p:bldP spid="1014823" grpId="0" animBg="1"/>
      <p:bldP spid="1014824" grpId="0" animBg="1"/>
      <p:bldP spid="1014825" grpId="0" animBg="1"/>
      <p:bldP spid="1014826" grpId="0" animBg="1"/>
      <p:bldP spid="1014827" grpId="0" animBg="1"/>
      <p:bldP spid="1014828" grpId="0" animBg="1"/>
      <p:bldP spid="1014829" grpId="0" animBg="1"/>
      <p:bldP spid="1014830" grpId="0" animBg="1"/>
      <p:bldP spid="1014831" grpId="0" animBg="1"/>
      <p:bldP spid="1014832" grpId="0" animBg="1"/>
      <p:bldP spid="1014833" grpId="0" animBg="1"/>
      <p:bldP spid="1014834" grpId="0" animBg="1"/>
      <p:bldP spid="1014835" grpId="0" animBg="1"/>
      <p:bldP spid="1014836" grpId="0" animBg="1"/>
      <p:bldP spid="1014837" grpId="0" animBg="1"/>
      <p:bldP spid="1014838" grpId="0" animBg="1"/>
      <p:bldP spid="1014839" grpId="0" animBg="1"/>
      <p:bldP spid="1014840" grpId="0" animBg="1"/>
      <p:bldP spid="1014841" grpId="0" animBg="1"/>
      <p:bldP spid="1014842" grpId="0" animBg="1"/>
      <p:bldP spid="1014843" grpId="0" animBg="1"/>
      <p:bldP spid="1014844" grpId="0" animBg="1"/>
      <p:bldP spid="1014845" grpId="0" animBg="1"/>
      <p:bldP spid="1014846" grpId="0" animBg="1"/>
      <p:bldP spid="1014847" grpId="0" animBg="1"/>
      <p:bldP spid="1014848" grpId="0" animBg="1"/>
      <p:bldP spid="1014915" grpId="0" animBg="1"/>
      <p:bldP spid="66" grpId="0" build="p"/>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3"/>
          <p:cNvSpPr>
            <a:spLocks noChangeArrowheads="1"/>
          </p:cNvSpPr>
          <p:nvPr/>
        </p:nvSpPr>
        <p:spPr bwMode="auto">
          <a:xfrm>
            <a:off x="0" y="996950"/>
            <a:ext cx="9144000" cy="5483225"/>
          </a:xfrm>
          <a:prstGeom prst="rect">
            <a:avLst/>
          </a:prstGeom>
          <a:solidFill>
            <a:schemeClr val="bg2">
              <a:lumMod val="20000"/>
              <a:lumOff val="80000"/>
            </a:schemeClr>
          </a:solidFill>
          <a:ln>
            <a:noFill/>
          </a:ln>
        </p:spPr>
        <p:txBody>
          <a:bodyPr lIns="0" tIns="0" rIns="0" bIns="0">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0" indent="0" algn="l" defTabSz="914400" rtl="0" eaLnBrk="1" fontAlgn="t" latinLnBrk="0" hangingPunct="1">
              <a:lnSpc>
                <a:spcPct val="80000"/>
              </a:lnSpc>
              <a:spcBef>
                <a:spcPct val="50000"/>
              </a:spcBef>
              <a:spcAft>
                <a:spcPct val="0"/>
              </a:spcAft>
              <a:buClrTx/>
              <a:buSzTx/>
              <a:buFont typeface="Arial" panose="020B0604020202020204" pitchFamily="34" charset="0"/>
              <a:buNone/>
              <a:defRPr/>
            </a:pPr>
            <a:endParaRPr kumimoji="0" lang="en-US" altLang="zh-CN" sz="1000" b="0" i="0" u="none" strike="noStrike" kern="1200" cap="none" spc="0" normalizeH="0" baseline="0" noProof="0" dirty="0">
              <a:ln>
                <a:noFill/>
              </a:ln>
              <a:solidFill>
                <a:srgbClr val="000000"/>
              </a:solidFill>
              <a:effectLst/>
              <a:uLnTx/>
              <a:uFillTx/>
              <a:latin typeface="+mn-lt"/>
              <a:ea typeface="+mn-ea"/>
              <a:cs typeface="+mn-ea"/>
              <a:sym typeface="+mn-lt"/>
            </a:endParaRPr>
          </a:p>
          <a:p>
            <a:pPr marL="720090" marR="0" lvl="0" indent="0" algn="l" defTabSz="914400" rtl="0" eaLnBrk="1" fontAlgn="t" latinLnBrk="0" hangingPunct="1">
              <a:lnSpc>
                <a:spcPct val="8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void </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bubble_sort</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SqList</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&amp;L)</a:t>
            </a:r>
          </a:p>
          <a:p>
            <a:pPr marL="720090" marR="0" lvl="0" indent="0" algn="l" defTabSz="914400" rtl="0" eaLnBrk="1" fontAlgn="t" latinLnBrk="0" hangingPunct="1">
              <a:lnSpc>
                <a:spcPct val="8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 int </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m,i,j,</a:t>
            </a:r>
            <a:r>
              <a:rPr kumimoji="0" lang="en-US" altLang="zh-CN" sz="2200" b="0" i="0" u="none" strike="noStrike" kern="1200" cap="none" spc="0" normalizeH="0" baseline="0" noProof="0" dirty="0" err="1">
                <a:ln>
                  <a:noFill/>
                </a:ln>
                <a:solidFill>
                  <a:srgbClr val="FF6600"/>
                </a:solidFill>
                <a:effectLst/>
                <a:uLnTx/>
                <a:uFillTx/>
                <a:latin typeface="+mn-lt"/>
                <a:ea typeface="+mn-ea"/>
                <a:cs typeface="+mn-ea"/>
                <a:sym typeface="+mn-lt"/>
              </a:rPr>
              <a:t>flag</a:t>
            </a:r>
            <a:r>
              <a:rPr kumimoji="0" lang="en-US" altLang="zh-CN" sz="2200" b="0" i="0" u="none" strike="noStrike" kern="1200" cap="none" spc="0" normalizeH="0" baseline="0" noProof="0" dirty="0">
                <a:ln>
                  <a:noFill/>
                </a:ln>
                <a:solidFill>
                  <a:srgbClr val="FF6600"/>
                </a:solidFill>
                <a:effectLst/>
                <a:uLnTx/>
                <a:uFillTx/>
                <a:latin typeface="+mn-lt"/>
                <a:ea typeface="+mn-ea"/>
                <a:cs typeface="+mn-ea"/>
                <a:sym typeface="+mn-lt"/>
              </a:rPr>
              <a:t>=1</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RedType</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x;</a:t>
            </a:r>
          </a:p>
          <a:p>
            <a:pPr marL="720090" marR="0" lvl="0" indent="0" algn="l" defTabSz="914400" rtl="0" eaLnBrk="1" fontAlgn="t" latinLnBrk="0" hangingPunct="1">
              <a:lnSpc>
                <a:spcPct val="8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m=n-1;</a:t>
            </a:r>
          </a:p>
          <a:p>
            <a:pPr marL="720090" marR="0" lvl="0" indent="0" algn="l" defTabSz="914400" rtl="0" eaLnBrk="1" fontAlgn="t" latinLnBrk="0" hangingPunct="1">
              <a:lnSpc>
                <a:spcPct val="8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while((m&gt;0)&amp;&amp;(</a:t>
            </a:r>
            <a:r>
              <a:rPr kumimoji="0" lang="en-US" altLang="zh-CN" sz="2200" b="0" i="0" u="none" strike="noStrike" kern="1200" cap="none" spc="0" normalizeH="0" baseline="0" noProof="0" dirty="0">
                <a:ln>
                  <a:noFill/>
                </a:ln>
                <a:solidFill>
                  <a:srgbClr val="FF6600"/>
                </a:solidFill>
                <a:effectLst/>
                <a:uLnTx/>
                <a:uFillTx/>
                <a:latin typeface="+mn-lt"/>
                <a:ea typeface="+mn-ea"/>
                <a:cs typeface="+mn-ea"/>
                <a:sym typeface="+mn-lt"/>
              </a:rPr>
              <a:t>flag==1</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a:t>
            </a:r>
          </a:p>
          <a:p>
            <a:pPr marL="720090" marR="0" lvl="0" indent="0" algn="l" defTabSz="914400" rtl="0" eaLnBrk="1" fontAlgn="t" latinLnBrk="0" hangingPunct="1">
              <a:lnSpc>
                <a:spcPct val="8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  </a:t>
            </a:r>
            <a:r>
              <a:rPr kumimoji="0" lang="en-US" altLang="zh-CN" sz="2200" b="0" i="0" u="none" strike="noStrike" kern="1200" cap="none" spc="0" normalizeH="0" baseline="0" noProof="0" dirty="0">
                <a:ln>
                  <a:noFill/>
                </a:ln>
                <a:solidFill>
                  <a:srgbClr val="FF6600"/>
                </a:solidFill>
                <a:effectLst/>
                <a:uLnTx/>
                <a:uFillTx/>
                <a:latin typeface="+mn-lt"/>
                <a:ea typeface="+mn-ea"/>
                <a:cs typeface="+mn-ea"/>
                <a:sym typeface="+mn-lt"/>
              </a:rPr>
              <a:t>flag=0</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a:t>
            </a:r>
          </a:p>
          <a:p>
            <a:pPr marL="720090" marR="0" lvl="0" indent="0" algn="l" defTabSz="914400" rtl="0" eaLnBrk="1" fontAlgn="t" latinLnBrk="0" hangingPunct="1">
              <a:lnSpc>
                <a:spcPct val="8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for(j=1;j&lt;=</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m;j</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a:t>
            </a:r>
          </a:p>
          <a:p>
            <a:pPr marL="720090" marR="0" lvl="0" indent="0" algn="l" defTabSz="914400" rtl="0" eaLnBrk="1" fontAlgn="t" latinLnBrk="0" hangingPunct="1">
              <a:lnSpc>
                <a:spcPct val="8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if(</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[j].key&gt;</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[j+1].key)</a:t>
            </a:r>
          </a:p>
          <a:p>
            <a:pPr marL="720090" marR="0" lvl="0" indent="0" algn="l" defTabSz="914400" rtl="0" eaLnBrk="1" fontAlgn="t" latinLnBrk="0" hangingPunct="1">
              <a:lnSpc>
                <a:spcPct val="8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  </a:t>
            </a:r>
            <a:r>
              <a:rPr kumimoji="0" lang="en-US" altLang="zh-CN" sz="2200" b="0" i="0" u="none" strike="noStrike" kern="1200" cap="none" spc="0" normalizeH="0" baseline="0" noProof="0" dirty="0">
                <a:ln>
                  <a:noFill/>
                </a:ln>
                <a:solidFill>
                  <a:srgbClr val="FF6600"/>
                </a:solidFill>
                <a:effectLst/>
                <a:uLnTx/>
                <a:uFillTx/>
                <a:latin typeface="+mn-lt"/>
                <a:ea typeface="+mn-ea"/>
                <a:cs typeface="+mn-ea"/>
                <a:sym typeface="+mn-lt"/>
              </a:rPr>
              <a:t>flag=1</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a:t>
            </a:r>
          </a:p>
          <a:p>
            <a:pPr marL="720090" marR="0" lvl="0" indent="0" algn="l" defTabSz="914400" rtl="0" eaLnBrk="0" fontAlgn="base" latinLnBrk="0" hangingPunct="0">
              <a:lnSpc>
                <a:spcPct val="80000"/>
              </a:lnSpc>
              <a:spcBef>
                <a:spcPct val="2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x=</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[j];</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[j]=</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[j+1];</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[j+1]=x; </a:t>
            </a:r>
            <a:r>
              <a:rPr kumimoji="0" lang="en-US" altLang="zh-CN" sz="2200" b="0" i="0" u="none" strike="noStrike" kern="1200" cap="none" spc="0" normalizeH="0" baseline="0" noProof="0" dirty="0">
                <a:ln>
                  <a:noFill/>
                </a:ln>
                <a:solidFill>
                  <a:schemeClr val="accent2"/>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accent2"/>
                </a:solidFill>
                <a:effectLst/>
                <a:uLnTx/>
                <a:uFillTx/>
                <a:latin typeface="+mn-lt"/>
                <a:ea typeface="+mn-ea"/>
                <a:cs typeface="+mn-ea"/>
                <a:sym typeface="+mn-lt"/>
              </a:rPr>
              <a:t>交换</a:t>
            </a:r>
            <a:endParaRPr kumimoji="0" lang="zh-CN" altLang="en-US" sz="2200" b="0" i="0" u="none" strike="noStrike" kern="1200" cap="none" spc="0" normalizeH="0" baseline="0" noProof="0" dirty="0">
              <a:ln>
                <a:noFill/>
              </a:ln>
              <a:solidFill>
                <a:srgbClr val="000000"/>
              </a:solidFill>
              <a:effectLst/>
              <a:uLnTx/>
              <a:uFillTx/>
              <a:latin typeface="+mn-lt"/>
              <a:ea typeface="+mn-ea"/>
              <a:cs typeface="+mn-ea"/>
              <a:sym typeface="+mn-lt"/>
            </a:endParaRPr>
          </a:p>
          <a:p>
            <a:pPr marL="720090" marR="0" lvl="0" indent="0" algn="l" defTabSz="914400" rtl="0" eaLnBrk="0" fontAlgn="base" latinLnBrk="0" hangingPunct="0">
              <a:lnSpc>
                <a:spcPct val="80000"/>
              </a:lnSpc>
              <a:spcBef>
                <a:spcPct val="2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rgbClr val="000000"/>
                </a:solidFill>
                <a:effectLst/>
                <a:uLnTx/>
                <a:uFillTx/>
                <a:latin typeface="+mn-lt"/>
                <a:ea typeface="+mn-ea"/>
                <a:cs typeface="+mn-ea"/>
                <a:sym typeface="+mn-lt"/>
              </a:rPr>
              <a:t>           </a:t>
            </a: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endif</a:t>
            </a:r>
            <a:endPar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endParaRPr>
          </a:p>
          <a:p>
            <a:pPr marL="720090" marR="0" lvl="0" indent="0" algn="l" defTabSz="914400" rtl="0" eaLnBrk="0" fontAlgn="base" latinLnBrk="0" hangingPunct="0">
              <a:lnSpc>
                <a:spcPct val="80000"/>
              </a:lnSpc>
              <a:spcBef>
                <a:spcPct val="2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m--;</a:t>
            </a:r>
          </a:p>
          <a:p>
            <a:pPr marL="720090" marR="0" lvl="0" indent="0" algn="l" defTabSz="914400" rtl="0" eaLnBrk="0" fontAlgn="base" latinLnBrk="0" hangingPunct="0">
              <a:lnSpc>
                <a:spcPct val="80000"/>
              </a:lnSpc>
              <a:spcBef>
                <a:spcPct val="2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rgbClr val="000000"/>
                </a:solidFill>
                <a:effectLst/>
                <a:uLnTx/>
                <a:uFillTx/>
                <a:latin typeface="+mn-lt"/>
                <a:ea typeface="+mn-ea"/>
                <a:cs typeface="+mn-ea"/>
                <a:sym typeface="+mn-lt"/>
              </a:rPr>
              <a:t>endwhile</a:t>
            </a:r>
            <a:endPar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endParaRPr>
          </a:p>
          <a:p>
            <a:pPr marL="720090" marR="0" lvl="0" indent="0" algn="l" defTabSz="914400" rtl="0" eaLnBrk="0" fontAlgn="base" latinLnBrk="0" hangingPunct="0">
              <a:lnSpc>
                <a:spcPct val="80000"/>
              </a:lnSpc>
              <a:spcBef>
                <a:spcPct val="2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rgbClr val="000000"/>
                </a:solidFill>
                <a:effectLst/>
                <a:uLnTx/>
                <a:uFillTx/>
                <a:latin typeface="+mn-lt"/>
                <a:ea typeface="+mn-ea"/>
                <a:cs typeface="+mn-ea"/>
                <a:sym typeface="+mn-lt"/>
              </a:rPr>
              <a:t> }</a:t>
            </a:r>
          </a:p>
        </p:txBody>
      </p:sp>
      <p:sp>
        <p:nvSpPr>
          <p:cNvPr id="4" name="Rectangle 29"/>
          <p:cNvSpPr>
            <a:spLocks noChangeArrowheads="1"/>
          </p:cNvSpPr>
          <p:nvPr/>
        </p:nvSpPr>
        <p:spPr bwMode="auto">
          <a:xfrm>
            <a:off x="827088" y="2159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冒泡排序</a:t>
            </a:r>
          </a:p>
        </p:txBody>
      </p:sp>
    </p:spTree>
  </p:cSld>
  <p:clrMapOvr>
    <a:masterClrMapping/>
  </p:clrMapOvr>
  <p:transition spd="slow"/>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3460" name="Rectangle 4"/>
          <p:cNvSpPr>
            <a:spLocks noChangeArrowheads="1"/>
          </p:cNvSpPr>
          <p:nvPr/>
        </p:nvSpPr>
        <p:spPr bwMode="auto">
          <a:xfrm>
            <a:off x="728663" y="1920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1043461" name="Rectangle 5"/>
          <p:cNvSpPr>
            <a:spLocks noChangeArrowheads="1"/>
          </p:cNvSpPr>
          <p:nvPr/>
        </p:nvSpPr>
        <p:spPr bwMode="auto">
          <a:xfrm>
            <a:off x="309563" y="2046288"/>
            <a:ext cx="8534400" cy="979488"/>
          </a:xfrm>
          <a:prstGeom prst="rect">
            <a:avLst/>
          </a:prstGeom>
          <a:solidFill>
            <a:schemeClr val="bg2">
              <a:lumMod val="20000"/>
              <a:lumOff val="80000"/>
            </a:schemeClr>
          </a:solidFill>
          <a:ln w="9525">
            <a:noFill/>
            <a:miter lim="800000"/>
          </a:ln>
        </p:spPr>
        <p:txBody>
          <a:bodyPr/>
          <a:lstStyle/>
          <a:p>
            <a:pPr marL="342900" marR="0" lvl="0" indent="-342900" algn="l" defTabSz="914400" rtl="0" eaLnBrk="0" fontAlgn="base" latinLnBrk="0" hangingPunct="0">
              <a:lnSpc>
                <a:spcPct val="105000"/>
              </a:lnSpc>
              <a:spcBef>
                <a:spcPct val="20000"/>
              </a:spcBef>
              <a:spcAft>
                <a:spcPct val="0"/>
              </a:spcAft>
              <a:buClrTx/>
              <a:buSzTx/>
              <a:buFontTx/>
              <a:buChar char="•"/>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设对象个数为</a:t>
            </a:r>
            <a:r>
              <a:rPr kumimoji="1" lang="en-US" altLang="zh-CN" sz="2400" b="0" i="1" u="none" strike="noStrike" kern="1200" cap="none" spc="0" normalizeH="0" baseline="0" noProof="0" dirty="0">
                <a:ln>
                  <a:noFill/>
                </a:ln>
                <a:solidFill>
                  <a:schemeClr val="tx1"/>
                </a:solidFill>
                <a:effectLst/>
                <a:uLnTx/>
                <a:uFillTx/>
                <a:latin typeface="+mn-lt"/>
                <a:ea typeface="+mn-ea"/>
                <a:cs typeface="+mn-ea"/>
                <a:sym typeface="+mn-lt"/>
              </a:rPr>
              <a:t>n</a:t>
            </a:r>
          </a:p>
          <a:p>
            <a:pPr marL="342900" marR="0" lvl="0" indent="-342900" algn="l" defTabSz="914400" rtl="0" eaLnBrk="0" fontAlgn="base" latinLnBrk="0" hangingPunct="0">
              <a:lnSpc>
                <a:spcPct val="105000"/>
              </a:lnSpc>
              <a:spcBef>
                <a:spcPct val="20000"/>
              </a:spcBef>
              <a:spcAft>
                <a:spcPct val="0"/>
              </a:spcAft>
              <a:buClrTx/>
              <a:buSzTx/>
              <a:buFontTx/>
              <a:buChar char="•"/>
              <a:defRPr/>
            </a:pP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比较次数</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和</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移动次数</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与初始排列有关</a:t>
            </a:r>
          </a:p>
        </p:txBody>
      </p:sp>
      <p:sp>
        <p:nvSpPr>
          <p:cNvPr id="1043463" name="Rectangle 7"/>
          <p:cNvSpPr>
            <a:spLocks noChangeArrowheads="1"/>
          </p:cNvSpPr>
          <p:nvPr/>
        </p:nvSpPr>
        <p:spPr bwMode="auto">
          <a:xfrm>
            <a:off x="323850" y="3559175"/>
            <a:ext cx="7986713" cy="4619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只需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趟排序，比较次数为</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n-1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，不移动 </a:t>
            </a:r>
            <a:endParaRPr kumimoji="0" lang="zh-CN" altLang="en-US" sz="2400" b="0" i="1" u="none" strike="noStrike" kern="1200" cap="none" spc="0" normalizeH="0" baseline="0" noProof="0" dirty="0">
              <a:ln>
                <a:noFill/>
              </a:ln>
              <a:solidFill>
                <a:srgbClr val="FF3399"/>
              </a:solidFill>
              <a:effectLst/>
              <a:uLnTx/>
              <a:uFillTx/>
              <a:latin typeface="+mn-lt"/>
              <a:ea typeface="+mn-ea"/>
              <a:cs typeface="+mn-ea"/>
              <a:sym typeface="+mn-lt"/>
            </a:endParaRPr>
          </a:p>
        </p:txBody>
      </p:sp>
      <p:grpSp>
        <p:nvGrpSpPr>
          <p:cNvPr id="2" name="Group 8"/>
          <p:cNvGrpSpPr/>
          <p:nvPr/>
        </p:nvGrpSpPr>
        <p:grpSpPr>
          <a:xfrm>
            <a:off x="2330450" y="931863"/>
            <a:ext cx="6578600" cy="865187"/>
            <a:chOff x="384" y="223"/>
            <a:chExt cx="4944" cy="768"/>
          </a:xfrm>
        </p:grpSpPr>
        <p:sp>
          <p:nvSpPr>
            <p:cNvPr id="1043465" name="AutoShape 9" descr="白色大理石"/>
            <p:cNvSpPr>
              <a:spLocks noChangeArrowheads="1"/>
            </p:cNvSpPr>
            <p:nvPr/>
          </p:nvSpPr>
          <p:spPr bwMode="auto">
            <a:xfrm>
              <a:off x="384" y="704"/>
              <a:ext cx="4944" cy="287"/>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ctr" defTabSz="914400" rtl="0" eaLnBrk="0" fontAlgn="base" latinLnBrk="0" hangingPunct="0">
                <a:lnSpc>
                  <a:spcPct val="100000"/>
                </a:lnSpc>
                <a:spcBef>
                  <a:spcPct val="20000"/>
                </a:spcBef>
                <a:spcAft>
                  <a:spcPct val="0"/>
                </a:spcAft>
                <a:buClrTx/>
                <a:buSzTx/>
                <a:buFontTx/>
                <a:buNone/>
                <a:defRPr/>
              </a:pPr>
              <a:endParaRPr kumimoji="0" lang="zh-CN" altLang="zh-CN" sz="3200" b="1" i="0" u="none" strike="noStrike" kern="1200" cap="none" spc="0" normalizeH="0" baseline="0" noProof="0">
                <a:ln>
                  <a:noFill/>
                </a:ln>
                <a:solidFill>
                  <a:schemeClr val="hlink"/>
                </a:solidFill>
                <a:effectLst/>
                <a:uLnTx/>
                <a:uFillTx/>
                <a:latin typeface="+mn-lt"/>
                <a:ea typeface="+mn-ea"/>
                <a:cs typeface="+mn-ea"/>
                <a:sym typeface="+mn-lt"/>
              </a:endParaRPr>
            </a:p>
          </p:txBody>
        </p:sp>
        <p:sp>
          <p:nvSpPr>
            <p:cNvPr id="1043466" name="AutoShape 10"/>
            <p:cNvSpPr>
              <a:spLocks noChangeArrowheads="1"/>
            </p:cNvSpPr>
            <p:nvPr/>
          </p:nvSpPr>
          <p:spPr bwMode="auto">
            <a:xfrm>
              <a:off x="2160" y="463"/>
              <a:ext cx="334" cy="482"/>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3467" name="AutoShape 11"/>
            <p:cNvSpPr>
              <a:spLocks noChangeArrowheads="1"/>
            </p:cNvSpPr>
            <p:nvPr/>
          </p:nvSpPr>
          <p:spPr bwMode="auto">
            <a:xfrm>
              <a:off x="2640" y="415"/>
              <a:ext cx="336" cy="528"/>
            </a:xfrm>
            <a:prstGeom prst="can">
              <a:avLst>
                <a:gd name="adj" fmla="val 39286"/>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3468" name="AutoShape 12"/>
            <p:cNvSpPr>
              <a:spLocks noChangeArrowheads="1"/>
            </p:cNvSpPr>
            <p:nvPr/>
          </p:nvSpPr>
          <p:spPr bwMode="auto">
            <a:xfrm>
              <a:off x="3600" y="223"/>
              <a:ext cx="334" cy="72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3469" name="AutoShape 13"/>
            <p:cNvSpPr>
              <a:spLocks noChangeArrowheads="1"/>
            </p:cNvSpPr>
            <p:nvPr/>
          </p:nvSpPr>
          <p:spPr bwMode="auto">
            <a:xfrm>
              <a:off x="3120" y="415"/>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3470" name="AutoShape 14"/>
            <p:cNvSpPr>
              <a:spLocks noChangeArrowheads="1"/>
            </p:cNvSpPr>
            <p:nvPr/>
          </p:nvSpPr>
          <p:spPr bwMode="auto">
            <a:xfrm>
              <a:off x="1680" y="510"/>
              <a:ext cx="336" cy="433"/>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3471" name="AutoShape 15"/>
            <p:cNvSpPr>
              <a:spLocks noChangeArrowheads="1"/>
            </p:cNvSpPr>
            <p:nvPr/>
          </p:nvSpPr>
          <p:spPr bwMode="auto">
            <a:xfrm>
              <a:off x="1200" y="704"/>
              <a:ext cx="336" cy="241"/>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sp>
        <p:nvSpPr>
          <p:cNvPr id="1043473" name="Rectangle 17"/>
          <p:cNvSpPr>
            <a:spLocks noChangeArrowheads="1"/>
          </p:cNvSpPr>
          <p:nvPr/>
        </p:nvSpPr>
        <p:spPr bwMode="auto">
          <a:xfrm>
            <a:off x="309563" y="4110038"/>
            <a:ext cx="8548688" cy="2678113"/>
          </a:xfrm>
          <a:prstGeom prst="rect">
            <a:avLst/>
          </a:prstGeom>
          <a:solidFill>
            <a:srgbClr val="E2D9EB"/>
          </a:solidFill>
          <a:ln w="38100">
            <a:noFill/>
            <a:miter lim="800000"/>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while((m&gt;0)&amp;&amp;(</a:t>
            </a:r>
            <a:r>
              <a:rPr kumimoji="0" lang="en-US" altLang="zh-CN" sz="2400" b="0" i="0" u="none" strike="noStrike" kern="1200" cap="none" spc="0" normalizeH="0" baseline="0" noProof="0" dirty="0">
                <a:ln>
                  <a:noFill/>
                </a:ln>
                <a:solidFill>
                  <a:srgbClr val="FF6600"/>
                </a:solidFill>
                <a:effectLst/>
                <a:uLnTx/>
                <a:uFillTx/>
                <a:latin typeface="+mn-lt"/>
                <a:ea typeface="+mn-ea"/>
                <a:cs typeface="+mn-ea"/>
                <a:sym typeface="+mn-lt"/>
              </a:rPr>
              <a:t>flag==1</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   {  </a:t>
            </a:r>
            <a:r>
              <a:rPr kumimoji="0" lang="en-US" altLang="zh-CN" sz="2400" b="0" i="0" u="none" strike="noStrike" kern="1200" cap="none" spc="0" normalizeH="0" baseline="0" noProof="0" dirty="0">
                <a:ln>
                  <a:noFill/>
                </a:ln>
                <a:solidFill>
                  <a:srgbClr val="FF6600"/>
                </a:solidFill>
                <a:effectLst/>
                <a:uLnTx/>
                <a:uFillTx/>
                <a:latin typeface="+mn-lt"/>
                <a:ea typeface="+mn-ea"/>
                <a:cs typeface="+mn-ea"/>
                <a:sym typeface="+mn-lt"/>
              </a:rPr>
              <a:t>flag=0</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      for(j=1;j&lt;=</a:t>
            </a:r>
            <a:r>
              <a:rPr kumimoji="0" lang="en-US" altLang="zh-CN" sz="2400" b="0" i="0" u="none" strike="noStrike" kern="1200" cap="none" spc="0" normalizeH="0" baseline="0" noProof="0" dirty="0" err="1">
                <a:ln>
                  <a:noFill/>
                </a:ln>
                <a:solidFill>
                  <a:srgbClr val="000000"/>
                </a:solidFill>
                <a:effectLst/>
                <a:uLnTx/>
                <a:uFillTx/>
                <a:latin typeface="+mn-lt"/>
                <a:ea typeface="+mn-ea"/>
                <a:cs typeface="+mn-ea"/>
                <a:sym typeface="+mn-lt"/>
              </a:rPr>
              <a:t>m;j</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        if(</a:t>
            </a:r>
            <a:r>
              <a:rPr kumimoji="0" lang="en-US" altLang="zh-CN" sz="24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[j].key&gt;</a:t>
            </a:r>
            <a:r>
              <a:rPr kumimoji="0" lang="en-US" altLang="zh-CN" sz="24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[j+1].key)</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          {  </a:t>
            </a:r>
            <a:r>
              <a:rPr kumimoji="0" lang="en-US" altLang="zh-CN" sz="2400" b="0" i="0" u="none" strike="noStrike" kern="1200" cap="none" spc="0" normalizeH="0" baseline="0" noProof="0" dirty="0">
                <a:ln>
                  <a:noFill/>
                </a:ln>
                <a:solidFill>
                  <a:srgbClr val="FF6600"/>
                </a:solidFill>
                <a:effectLst/>
                <a:uLnTx/>
                <a:uFillTx/>
                <a:latin typeface="+mn-lt"/>
                <a:ea typeface="+mn-ea"/>
                <a:cs typeface="+mn-ea"/>
                <a:sym typeface="+mn-lt"/>
              </a:rPr>
              <a:t>flag=1</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  x=</a:t>
            </a:r>
            <a:r>
              <a:rPr kumimoji="0" lang="en-US" altLang="zh-CN" sz="24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[j];</a:t>
            </a:r>
            <a:r>
              <a:rPr kumimoji="0" lang="en-US" altLang="zh-CN" sz="24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[j]=</a:t>
            </a:r>
            <a:r>
              <a:rPr kumimoji="0" lang="en-US" altLang="zh-CN" sz="24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[j+1];</a:t>
            </a:r>
            <a:r>
              <a:rPr kumimoji="0" lang="en-US" altLang="zh-CN" sz="2400" b="0" i="0" u="none" strike="noStrike" kern="1200" cap="none" spc="0" normalizeH="0" baseline="0" noProof="0" dirty="0" err="1">
                <a:ln>
                  <a:noFill/>
                </a:ln>
                <a:solidFill>
                  <a:srgbClr val="0000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[j+1]=x; }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mn-lt"/>
                <a:ea typeface="+mn-ea"/>
                <a:cs typeface="+mn-ea"/>
                <a:sym typeface="+mn-lt"/>
              </a:rPr>
              <a:t>             ……     </a:t>
            </a:r>
          </a:p>
        </p:txBody>
      </p:sp>
      <p:sp>
        <p:nvSpPr>
          <p:cNvPr id="1043474" name="Rectangle 18"/>
          <p:cNvSpPr>
            <a:spLocks noChangeArrowheads="1"/>
          </p:cNvSpPr>
          <p:nvPr/>
        </p:nvSpPr>
        <p:spPr bwMode="auto">
          <a:xfrm>
            <a:off x="327025" y="3097213"/>
            <a:ext cx="2032000" cy="461963"/>
          </a:xfrm>
          <a:prstGeom prst="rect">
            <a:avLst/>
          </a:prstGeom>
          <a:noFill/>
          <a:ln>
            <a:noFill/>
          </a:ln>
        </p:spPr>
        <p:txBody>
          <a:bodyPr wrap="non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最好情况下：</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amond(in)">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043461"/>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 presetClass="entr" presetSubtype="4" fill="hold" grpId="0" nodeType="clickEffect">
                                  <p:stCondLst>
                                    <p:cond delay="0"/>
                                  </p:stCondLst>
                                  <p:childTnLst>
                                    <p:set>
                                      <p:cBhvr>
                                        <p:cTn id="15" dur="1" fill="hold">
                                          <p:stCondLst>
                                            <p:cond delay="0"/>
                                          </p:stCondLst>
                                        </p:cTn>
                                        <p:tgtEl>
                                          <p:spTgt spid="1043474"/>
                                        </p:tgtEl>
                                        <p:attrNameLst>
                                          <p:attrName>style.visibility</p:attrName>
                                        </p:attrNameLst>
                                      </p:cBhvr>
                                      <p:to>
                                        <p:strVal val="visible"/>
                                      </p:to>
                                    </p:set>
                                    <p:anim calcmode="lin" valueType="num">
                                      <p:cBhvr additive="base">
                                        <p:cTn id="16" dur="500" fill="hold"/>
                                        <p:tgtEl>
                                          <p:spTgt spid="1043474"/>
                                        </p:tgtEl>
                                        <p:attrNameLst>
                                          <p:attrName>ppt_x</p:attrName>
                                        </p:attrNameLst>
                                      </p:cBhvr>
                                      <p:tavLst>
                                        <p:tav tm="0">
                                          <p:val>
                                            <p:strVal val="#ppt_x"/>
                                          </p:val>
                                        </p:tav>
                                        <p:tav tm="100000">
                                          <p:val>
                                            <p:strVal val="#ppt_x"/>
                                          </p:val>
                                        </p:tav>
                                      </p:tavLst>
                                    </p:anim>
                                    <p:anim calcmode="lin" valueType="num">
                                      <p:cBhvr additive="base">
                                        <p:cTn id="17" dur="500" fill="hold"/>
                                        <p:tgtEl>
                                          <p:spTgt spid="1043474"/>
                                        </p:tgtEl>
                                        <p:attrNameLst>
                                          <p:attrName>ppt_y</p:attrName>
                                        </p:attrNameLst>
                                      </p:cBhvr>
                                      <p:tavLst>
                                        <p:tav tm="0">
                                          <p:val>
                                            <p:strVal val="1+#ppt_h/2"/>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1043463"/>
                                        </p:tgtEl>
                                        <p:attrNameLst>
                                          <p:attrName>style.visibility</p:attrName>
                                        </p:attrNameLst>
                                      </p:cBhvr>
                                      <p:to>
                                        <p:strVal val="visible"/>
                                      </p:to>
                                    </p:set>
                                    <p:animEffect transition="in" filter="box(in)">
                                      <p:cBhvr>
                                        <p:cTn id="22" dur="500"/>
                                        <p:tgtEl>
                                          <p:spTgt spid="1043463"/>
                                        </p:tgtEl>
                                      </p:cBhvr>
                                    </p:animEffect>
                                  </p:childTnLst>
                                </p:cTn>
                              </p:par>
                            </p:childTnLst>
                          </p:cTn>
                        </p:par>
                      </p:childTnLst>
                    </p:cTn>
                  </p:par>
                  <p:par>
                    <p:cTn id="23" fill="hold">
                      <p:stCondLst>
                        <p:cond delay="indefinite"/>
                      </p:stCondLst>
                      <p:childTnLst>
                        <p:par>
                          <p:cTn id="24" fill="hold">
                            <p:stCondLst>
                              <p:cond delay="0"/>
                            </p:stCondLst>
                            <p:childTnLst>
                              <p:par>
                                <p:cTn id="25" presetID="8" presetClass="entr" presetSubtype="16" fill="hold" grpId="0" nodeType="clickEffect">
                                  <p:stCondLst>
                                    <p:cond delay="0"/>
                                  </p:stCondLst>
                                  <p:childTnLst>
                                    <p:set>
                                      <p:cBhvr>
                                        <p:cTn id="26" dur="1" fill="hold">
                                          <p:stCondLst>
                                            <p:cond delay="0"/>
                                          </p:stCondLst>
                                        </p:cTn>
                                        <p:tgtEl>
                                          <p:spTgt spid="1043473"/>
                                        </p:tgtEl>
                                        <p:attrNameLst>
                                          <p:attrName>style.visibility</p:attrName>
                                        </p:attrNameLst>
                                      </p:cBhvr>
                                      <p:to>
                                        <p:strVal val="visible"/>
                                      </p:to>
                                    </p:set>
                                    <p:animEffect transition="in" filter="diamond(in)">
                                      <p:cBhvr>
                                        <p:cTn id="27" dur="2000"/>
                                        <p:tgtEl>
                                          <p:spTgt spid="10434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3461" grpId="0" animBg="1"/>
      <p:bldP spid="1043463" grpId="0"/>
      <p:bldP spid="1043473" grpId="0" animBg="1"/>
      <p:bldP spid="1043474"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66" name="Group 5"/>
          <p:cNvGrpSpPr/>
          <p:nvPr/>
        </p:nvGrpSpPr>
        <p:grpSpPr>
          <a:xfrm>
            <a:off x="1555750" y="1147763"/>
            <a:ext cx="6578600" cy="839787"/>
            <a:chOff x="540" y="315"/>
            <a:chExt cx="4144" cy="529"/>
          </a:xfrm>
        </p:grpSpPr>
        <p:sp>
          <p:nvSpPr>
            <p:cNvPr id="1044486" name="AutoShape 6" descr="白色大理石"/>
            <p:cNvSpPr>
              <a:spLocks noChangeArrowheads="1"/>
            </p:cNvSpPr>
            <p:nvPr/>
          </p:nvSpPr>
          <p:spPr bwMode="auto">
            <a:xfrm>
              <a:off x="540" y="640"/>
              <a:ext cx="4144" cy="204"/>
            </a:xfrm>
            <a:prstGeom prst="parallelogram">
              <a:avLst>
                <a:gd name="adj" fmla="val 293985"/>
              </a:avLst>
            </a:prstGeom>
            <a:blipFill dpi="0" rotWithShape="0">
              <a:blip r:embed="rId3"/>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ctr" defTabSz="914400" rtl="0" eaLnBrk="0" fontAlgn="base" latinLnBrk="0" hangingPunct="0">
                <a:lnSpc>
                  <a:spcPct val="100000"/>
                </a:lnSpc>
                <a:spcBef>
                  <a:spcPct val="20000"/>
                </a:spcBef>
                <a:spcAft>
                  <a:spcPct val="0"/>
                </a:spcAft>
                <a:buClrTx/>
                <a:buSzTx/>
                <a:buFontTx/>
                <a:buNone/>
                <a:defRPr/>
              </a:pPr>
              <a:endParaRPr kumimoji="0" lang="zh-CN" altLang="zh-CN" sz="3200" b="1" i="0" u="none" strike="noStrike" kern="1200" cap="none" spc="0" normalizeH="0" baseline="0" noProof="0">
                <a:ln>
                  <a:noFill/>
                </a:ln>
                <a:solidFill>
                  <a:schemeClr val="hlink"/>
                </a:solidFill>
                <a:effectLst/>
                <a:uLnTx/>
                <a:uFillTx/>
                <a:latin typeface="+mn-lt"/>
                <a:ea typeface="+mn-ea"/>
                <a:cs typeface="+mn-ea"/>
                <a:sym typeface="+mn-lt"/>
              </a:endParaRPr>
            </a:p>
          </p:txBody>
        </p:sp>
        <p:sp>
          <p:nvSpPr>
            <p:cNvPr id="1044487" name="AutoShape 7"/>
            <p:cNvSpPr>
              <a:spLocks noChangeArrowheads="1"/>
            </p:cNvSpPr>
            <p:nvPr/>
          </p:nvSpPr>
          <p:spPr bwMode="auto">
            <a:xfrm>
              <a:off x="2608" y="485"/>
              <a:ext cx="281" cy="341"/>
            </a:xfrm>
            <a:prstGeom prst="can">
              <a:avLst>
                <a:gd name="adj" fmla="val 30338"/>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4488" name="AutoShape 8"/>
            <p:cNvSpPr>
              <a:spLocks noChangeArrowheads="1"/>
            </p:cNvSpPr>
            <p:nvPr/>
          </p:nvSpPr>
          <p:spPr bwMode="auto">
            <a:xfrm>
              <a:off x="2149" y="435"/>
              <a:ext cx="282" cy="375"/>
            </a:xfrm>
            <a:prstGeom prst="can">
              <a:avLst>
                <a:gd name="adj" fmla="val 33245"/>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4489" name="AutoShape 9"/>
            <p:cNvSpPr>
              <a:spLocks noChangeArrowheads="1"/>
            </p:cNvSpPr>
            <p:nvPr/>
          </p:nvSpPr>
          <p:spPr bwMode="auto">
            <a:xfrm>
              <a:off x="1247" y="315"/>
              <a:ext cx="281" cy="511"/>
            </a:xfrm>
            <a:prstGeom prst="can">
              <a:avLst>
                <a:gd name="adj" fmla="val 4546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4490" name="AutoShape 10"/>
            <p:cNvSpPr>
              <a:spLocks noChangeArrowheads="1"/>
            </p:cNvSpPr>
            <p:nvPr/>
          </p:nvSpPr>
          <p:spPr bwMode="auto">
            <a:xfrm>
              <a:off x="1720" y="418"/>
              <a:ext cx="282" cy="375"/>
            </a:xfrm>
            <a:prstGeom prst="can">
              <a:avLst>
                <a:gd name="adj" fmla="val 33245"/>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4491" name="AutoShape 11"/>
            <p:cNvSpPr>
              <a:spLocks noChangeArrowheads="1"/>
            </p:cNvSpPr>
            <p:nvPr/>
          </p:nvSpPr>
          <p:spPr bwMode="auto">
            <a:xfrm>
              <a:off x="3061" y="520"/>
              <a:ext cx="282" cy="307"/>
            </a:xfrm>
            <a:prstGeom prst="can">
              <a:avLst>
                <a:gd name="adj" fmla="val 2721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dirty="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dirty="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44492" name="AutoShape 12"/>
            <p:cNvSpPr>
              <a:spLocks noChangeArrowheads="1"/>
            </p:cNvSpPr>
            <p:nvPr/>
          </p:nvSpPr>
          <p:spPr bwMode="auto">
            <a:xfrm>
              <a:off x="3515" y="640"/>
              <a:ext cx="282" cy="17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grpSp>
      <p:sp>
        <p:nvSpPr>
          <p:cNvPr id="1044493" name="Rectangle 13"/>
          <p:cNvSpPr>
            <a:spLocks noChangeArrowheads="1"/>
          </p:cNvSpPr>
          <p:nvPr/>
        </p:nvSpPr>
        <p:spPr bwMode="auto">
          <a:xfrm>
            <a:off x="754063" y="2159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1044498" name="Rectangle 18"/>
          <p:cNvSpPr>
            <a:spLocks noChangeArrowheads="1"/>
          </p:cNvSpPr>
          <p:nvPr/>
        </p:nvSpPr>
        <p:spPr bwMode="auto">
          <a:xfrm>
            <a:off x="298450" y="5100638"/>
            <a:ext cx="2185988" cy="8667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5000"/>
              </a:lnSpc>
              <a:spcBef>
                <a:spcPct val="50000"/>
              </a:spcBef>
              <a:spcAft>
                <a:spcPct val="0"/>
              </a:spcAft>
              <a:buClr>
                <a:srgbClr val="FF0000"/>
              </a:buClr>
              <a:buSzTx/>
              <a:buFont typeface="Wingdings" panose="05000000000000000000" pitchFamily="2" charset="2"/>
              <a:buChar char="u"/>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时间复杂度为 </a:t>
            </a:r>
            <a:r>
              <a:rPr kumimoji="0" lang="en-US" altLang="zh-CN" sz="2400" b="0" i="0" u="none" strike="noStrike" kern="1200" cap="none" spc="0" normalizeH="0" baseline="0" noProof="0" dirty="0" smtClean="0">
                <a:ln>
                  <a:noFill/>
                </a:ln>
                <a:solidFill>
                  <a:srgbClr val="FF3300"/>
                </a:solidFill>
                <a:effectLst/>
                <a:uLnTx/>
                <a:uFillTx/>
                <a:latin typeface="+mn-lt"/>
                <a:ea typeface="+mn-ea"/>
                <a:cs typeface="+mn-ea"/>
                <a:sym typeface="+mn-lt"/>
              </a:rPr>
              <a:t>O(</a:t>
            </a:r>
            <a:r>
              <a:rPr kumimoji="0" lang="en-US" altLang="zh-CN" sz="2400" b="0" i="1" u="none" strike="noStrike" kern="1200" cap="none" spc="0" normalizeH="0" baseline="0" noProof="0" dirty="0" smtClean="0">
                <a:ln>
                  <a:noFill/>
                </a:ln>
                <a:solidFill>
                  <a:srgbClr val="FF3300"/>
                </a:solidFill>
                <a:effectLst/>
                <a:uLnTx/>
                <a:uFillTx/>
                <a:latin typeface="+mn-lt"/>
                <a:ea typeface="+mn-ea"/>
                <a:cs typeface="+mn-ea"/>
                <a:sym typeface="+mn-lt"/>
              </a:rPr>
              <a:t>n</a:t>
            </a:r>
            <a:r>
              <a:rPr kumimoji="0" lang="en-US" altLang="zh-CN" sz="2400" b="0" i="0" u="none" strike="noStrike" kern="1200" cap="none" spc="0" normalizeH="0" baseline="30000" noProof="0" dirty="0" smtClean="0">
                <a:ln>
                  <a:noFill/>
                </a:ln>
                <a:solidFill>
                  <a:srgbClr val="FF3300"/>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p>
        </p:txBody>
      </p:sp>
      <p:grpSp>
        <p:nvGrpSpPr>
          <p:cNvPr id="3" name="组合 2"/>
          <p:cNvGrpSpPr/>
          <p:nvPr/>
        </p:nvGrpSpPr>
        <p:grpSpPr>
          <a:xfrm>
            <a:off x="298450" y="3224213"/>
            <a:ext cx="8569325" cy="1381125"/>
            <a:chOff x="298787" y="3224216"/>
            <a:chExt cx="8568952" cy="1381725"/>
          </a:xfrm>
        </p:grpSpPr>
        <p:sp>
          <p:nvSpPr>
            <p:cNvPr id="62473" name="矩形 1"/>
            <p:cNvSpPr/>
            <p:nvPr/>
          </p:nvSpPr>
          <p:spPr>
            <a:xfrm>
              <a:off x="3467139" y="3224216"/>
              <a:ext cx="5400600" cy="1381725"/>
            </a:xfrm>
            <a:prstGeom prst="rect">
              <a:avLst/>
            </a:prstGeom>
            <a:noFill/>
            <a:ln w="9525" cap="flat" cmpd="sng">
              <a:solidFill>
                <a:srgbClr val="CCCCFF"/>
              </a:solidFill>
              <a:prstDash val="solid"/>
              <a:round/>
              <a:headEnd type="none" w="med" len="med"/>
              <a:tailEnd type="none" w="med" len="med"/>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aphicFrame>
          <p:nvGraphicFramePr>
            <p:cNvPr id="62474" name="Object 16"/>
            <p:cNvGraphicFramePr/>
            <p:nvPr/>
          </p:nvGraphicFramePr>
          <p:xfrm>
            <a:off x="3971195" y="3224216"/>
            <a:ext cx="4229100" cy="623887"/>
          </p:xfrm>
          <a:graphic>
            <a:graphicData uri="http://schemas.openxmlformats.org/presentationml/2006/ole">
              <mc:AlternateContent xmlns:mc="http://schemas.openxmlformats.org/markup-compatibility/2006">
                <mc:Choice xmlns:v="urn:schemas-microsoft-com:vml" Requires="v">
                  <p:oleObj spid="_x0000_s7180" r:id="rId4" imgW="1358265" imgH="431800" progId="Equation.3">
                    <p:embed/>
                  </p:oleObj>
                </mc:Choice>
                <mc:Fallback>
                  <p:oleObj r:id="rId4" imgW="1358265" imgH="431800" progId="Equation.3">
                    <p:embed/>
                    <p:pic>
                      <p:nvPicPr>
                        <p:cNvPr id="0" name="图片 3086"/>
                        <p:cNvPicPr/>
                        <p:nvPr/>
                      </p:nvPicPr>
                      <p:blipFill>
                        <a:blip r:embed="rId5"/>
                        <a:stretch>
                          <a:fillRect/>
                        </a:stretch>
                      </p:blipFill>
                      <p:spPr>
                        <a:xfrm>
                          <a:off x="3971195" y="3224216"/>
                          <a:ext cx="4229100" cy="623887"/>
                        </a:xfrm>
                        <a:prstGeom prst="rect">
                          <a:avLst/>
                        </a:prstGeom>
                        <a:noFill/>
                        <a:ln w="38100">
                          <a:noFill/>
                          <a:miter/>
                        </a:ln>
                      </p:spPr>
                    </p:pic>
                  </p:oleObj>
                </mc:Fallback>
              </mc:AlternateContent>
            </a:graphicData>
          </a:graphic>
        </p:graphicFrame>
        <p:graphicFrame>
          <p:nvGraphicFramePr>
            <p:cNvPr id="62475" name="Object 17"/>
            <p:cNvGraphicFramePr/>
            <p:nvPr/>
          </p:nvGraphicFramePr>
          <p:xfrm>
            <a:off x="3971195" y="3975103"/>
            <a:ext cx="4162425" cy="541338"/>
          </p:xfrm>
          <a:graphic>
            <a:graphicData uri="http://schemas.openxmlformats.org/presentationml/2006/ole">
              <mc:AlternateContent xmlns:mc="http://schemas.openxmlformats.org/markup-compatibility/2006">
                <mc:Choice xmlns:v="urn:schemas-microsoft-com:vml" Requires="v">
                  <p:oleObj spid="_x0000_s7181" r:id="rId6" imgW="1434465" imgH="431800" progId="Equation.3">
                    <p:embed/>
                  </p:oleObj>
                </mc:Choice>
                <mc:Fallback>
                  <p:oleObj r:id="rId6" imgW="1434465" imgH="431800" progId="Equation.3">
                    <p:embed/>
                    <p:pic>
                      <p:nvPicPr>
                        <p:cNvPr id="0" name="图片 3087"/>
                        <p:cNvPicPr/>
                        <p:nvPr/>
                      </p:nvPicPr>
                      <p:blipFill>
                        <a:blip r:embed="rId7"/>
                        <a:stretch>
                          <a:fillRect/>
                        </a:stretch>
                      </p:blipFill>
                      <p:spPr>
                        <a:xfrm>
                          <a:off x="3971195" y="3975103"/>
                          <a:ext cx="4162425" cy="541338"/>
                        </a:xfrm>
                        <a:prstGeom prst="rect">
                          <a:avLst/>
                        </a:prstGeom>
                        <a:noFill/>
                        <a:ln w="38100">
                          <a:noFill/>
                          <a:miter/>
                        </a:ln>
                      </p:spPr>
                    </p:pic>
                  </p:oleObj>
                </mc:Fallback>
              </mc:AlternateContent>
            </a:graphicData>
          </a:graphic>
        </p:graphicFrame>
        <p:sp>
          <p:nvSpPr>
            <p:cNvPr id="1044499" name="Rectangle 19"/>
            <p:cNvSpPr>
              <a:spLocks noChangeArrowheads="1"/>
            </p:cNvSpPr>
            <p:nvPr/>
          </p:nvSpPr>
          <p:spPr bwMode="auto">
            <a:xfrm>
              <a:off x="298787" y="3224216"/>
              <a:ext cx="3374878" cy="1381725"/>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10000"/>
                </a:lnSpc>
                <a:spcBef>
                  <a:spcPct val="2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需 </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n-1</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趟排序，第</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趟比较</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n-</a:t>
              </a:r>
              <a:r>
                <a:rPr kumimoji="0" lang="en-US" altLang="zh-CN" sz="2600" b="0" i="0" u="none" strike="noStrike" kern="1200" cap="none" spc="0" normalizeH="0" baseline="0" noProof="0" dirty="0" err="1">
                  <a:ln>
                    <a:noFill/>
                  </a:ln>
                  <a:solidFill>
                    <a:srgbClr val="FF3300"/>
                  </a:solidFill>
                  <a:effectLst/>
                  <a:uLnTx/>
                  <a:uFillTx/>
                  <a:latin typeface="+mn-lt"/>
                  <a:ea typeface="+mn-ea"/>
                  <a:cs typeface="+mn-ea"/>
                  <a:sym typeface="+mn-lt"/>
                </a:rPr>
                <a:t>i</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次，移动</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3(n-</a:t>
              </a:r>
              <a:r>
                <a:rPr kumimoji="0" lang="en-US" altLang="zh-CN" sz="2600" b="0" i="0" u="none" strike="noStrike" kern="1200" cap="none" spc="0" normalizeH="0" baseline="0" noProof="0" dirty="0" err="1">
                  <a:ln>
                    <a:noFill/>
                  </a:ln>
                  <a:solidFill>
                    <a:srgbClr val="FF3300"/>
                  </a:solidFill>
                  <a:effectLst/>
                  <a:uLnTx/>
                  <a:uFillTx/>
                  <a:latin typeface="+mn-lt"/>
                  <a:ea typeface="+mn-ea"/>
                  <a:cs typeface="+mn-ea"/>
                  <a:sym typeface="+mn-lt"/>
                </a:rPr>
                <a:t>i</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次</a:t>
              </a:r>
            </a:p>
          </p:txBody>
        </p:sp>
      </p:grpSp>
      <p:sp>
        <p:nvSpPr>
          <p:cNvPr id="1044500" name="Rectangle 20"/>
          <p:cNvSpPr>
            <a:spLocks noChangeArrowheads="1"/>
          </p:cNvSpPr>
          <p:nvPr/>
        </p:nvSpPr>
        <p:spPr bwMode="auto">
          <a:xfrm>
            <a:off x="284163" y="2570163"/>
            <a:ext cx="2327275" cy="519113"/>
          </a:xfrm>
          <a:prstGeom prst="rect">
            <a:avLst/>
          </a:prstGeom>
          <a:noFill/>
          <a:ln>
            <a:noFill/>
          </a:ln>
        </p:spPr>
        <p:txBody>
          <a:bodyPr wrap="non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最坏情况下：</a:t>
            </a:r>
          </a:p>
        </p:txBody>
      </p:sp>
      <p:sp>
        <p:nvSpPr>
          <p:cNvPr id="19" name="Rectangle 18"/>
          <p:cNvSpPr>
            <a:spLocks noChangeArrowheads="1"/>
          </p:cNvSpPr>
          <p:nvPr/>
        </p:nvSpPr>
        <p:spPr bwMode="auto">
          <a:xfrm>
            <a:off x="3411538" y="5097463"/>
            <a:ext cx="2160588" cy="8683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5000"/>
              </a:lnSpc>
              <a:spcBef>
                <a:spcPct val="50000"/>
              </a:spcBef>
              <a:spcAft>
                <a:spcPct val="0"/>
              </a:spcAft>
              <a:buClr>
                <a:srgbClr val="FF0000"/>
              </a:buClr>
              <a:buSzTx/>
              <a:buFont typeface="Wingdings" panose="05000000000000000000" pitchFamily="2" charset="2"/>
              <a:buChar char="u"/>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空间复杂度为 </a:t>
            </a:r>
            <a:r>
              <a:rPr kumimoji="0" lang="en-US" altLang="zh-CN" sz="2400" b="0" i="0" u="none" strike="noStrike" kern="1200" cap="none" spc="0" normalizeH="0" baseline="0" noProof="0" dirty="0" smtClean="0">
                <a:ln>
                  <a:noFill/>
                </a:ln>
                <a:solidFill>
                  <a:srgbClr val="FF3300"/>
                </a:solidFill>
                <a:effectLst/>
                <a:uLnTx/>
                <a:uFillTx/>
                <a:latin typeface="+mn-lt"/>
                <a:ea typeface="+mn-ea"/>
                <a:cs typeface="+mn-ea"/>
                <a:sym typeface="+mn-lt"/>
              </a:rPr>
              <a:t>O(</a:t>
            </a:r>
            <a:r>
              <a:rPr kumimoji="0" lang="en-US" altLang="zh-CN" sz="2400" b="0" i="1" u="none" strike="noStrike" kern="1200" cap="none" spc="0" normalizeH="0" baseline="0" noProof="0" dirty="0" smtClean="0">
                <a:ln>
                  <a:noFill/>
                </a:ln>
                <a:solidFill>
                  <a:srgbClr val="FF3300"/>
                </a:solidFill>
                <a:effectLst/>
                <a:uLnTx/>
                <a:uFillTx/>
                <a:latin typeface="+mn-lt"/>
                <a:ea typeface="+mn-ea"/>
                <a:cs typeface="+mn-ea"/>
                <a:sym typeface="+mn-lt"/>
              </a:rPr>
              <a:t>1</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p>
        </p:txBody>
      </p:sp>
      <p:sp>
        <p:nvSpPr>
          <p:cNvPr id="20" name="Rectangle 18"/>
          <p:cNvSpPr>
            <a:spLocks noChangeArrowheads="1"/>
          </p:cNvSpPr>
          <p:nvPr/>
        </p:nvSpPr>
        <p:spPr bwMode="auto">
          <a:xfrm>
            <a:off x="6443663" y="5100638"/>
            <a:ext cx="2424113" cy="8667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5000"/>
              </a:lnSpc>
              <a:spcBef>
                <a:spcPct val="50000"/>
              </a:spcBef>
              <a:spcAft>
                <a:spcPct val="0"/>
              </a:spcAft>
              <a:buClr>
                <a:srgbClr val="FF0000"/>
              </a:buClr>
              <a:buSzTx/>
              <a:buFont typeface="Wingdings" panose="05000000000000000000" pitchFamily="2" charset="2"/>
              <a:buChar char="u"/>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是一种</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稳定</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的排序方法</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44500"/>
                                        </p:tgtEl>
                                        <p:attrNameLst>
                                          <p:attrName>style.visibility</p:attrName>
                                        </p:attrNameLst>
                                      </p:cBhvr>
                                      <p:to>
                                        <p:strVal val="visible"/>
                                      </p:to>
                                    </p:set>
                                    <p:anim calcmode="lin" valueType="num">
                                      <p:cBhvr additive="base">
                                        <p:cTn id="7" dur="500" fill="hold"/>
                                        <p:tgtEl>
                                          <p:spTgt spid="1044500"/>
                                        </p:tgtEl>
                                        <p:attrNameLst>
                                          <p:attrName>ppt_x</p:attrName>
                                        </p:attrNameLst>
                                      </p:cBhvr>
                                      <p:tavLst>
                                        <p:tav tm="0">
                                          <p:val>
                                            <p:strVal val="#ppt_x"/>
                                          </p:val>
                                        </p:tav>
                                        <p:tav tm="100000">
                                          <p:val>
                                            <p:strVal val="#ppt_x"/>
                                          </p:val>
                                        </p:tav>
                                      </p:tavLst>
                                    </p:anim>
                                    <p:anim calcmode="lin" valueType="num">
                                      <p:cBhvr additive="base">
                                        <p:cTn id="8" dur="500" fill="hold"/>
                                        <p:tgtEl>
                                          <p:spTgt spid="104450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6" presetClass="entr" presetSubtype="16"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circle(in)">
                                      <p:cBhvr>
                                        <p:cTn id="13" dur="20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1044498"/>
                                        </p:tgtEl>
                                        <p:attrNameLst>
                                          <p:attrName>style.visibility</p:attrName>
                                        </p:attrNameLst>
                                      </p:cBhvr>
                                      <p:to>
                                        <p:strVal val="visible"/>
                                      </p:to>
                                    </p:set>
                                    <p:anim calcmode="lin" valueType="num">
                                      <p:cBhvr additive="base">
                                        <p:cTn id="18" dur="500" fill="hold"/>
                                        <p:tgtEl>
                                          <p:spTgt spid="1044498"/>
                                        </p:tgtEl>
                                        <p:attrNameLst>
                                          <p:attrName>ppt_x</p:attrName>
                                        </p:attrNameLst>
                                      </p:cBhvr>
                                      <p:tavLst>
                                        <p:tav tm="0">
                                          <p:val>
                                            <p:strVal val="0-#ppt_w/2"/>
                                          </p:val>
                                        </p:tav>
                                        <p:tav tm="100000">
                                          <p:val>
                                            <p:strVal val="#ppt_x"/>
                                          </p:val>
                                        </p:tav>
                                      </p:tavLst>
                                    </p:anim>
                                    <p:anim calcmode="lin" valueType="num">
                                      <p:cBhvr additive="base">
                                        <p:cTn id="19" dur="500" fill="hold"/>
                                        <p:tgtEl>
                                          <p:spTgt spid="1044498"/>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8" fill="hold" grpId="0" nodeType="clickEffect">
                                  <p:stCondLst>
                                    <p:cond delay="0"/>
                                  </p:stCondLst>
                                  <p:childTnLst>
                                    <p:set>
                                      <p:cBhvr>
                                        <p:cTn id="23" dur="1" fill="hold">
                                          <p:stCondLst>
                                            <p:cond delay="0"/>
                                          </p:stCondLst>
                                        </p:cTn>
                                        <p:tgtEl>
                                          <p:spTgt spid="19"/>
                                        </p:tgtEl>
                                        <p:attrNameLst>
                                          <p:attrName>style.visibility</p:attrName>
                                        </p:attrNameLst>
                                      </p:cBhvr>
                                      <p:to>
                                        <p:strVal val="visible"/>
                                      </p:to>
                                    </p:set>
                                    <p:anim calcmode="lin" valueType="num">
                                      <p:cBhvr additive="base">
                                        <p:cTn id="24" dur="500" fill="hold"/>
                                        <p:tgtEl>
                                          <p:spTgt spid="19"/>
                                        </p:tgtEl>
                                        <p:attrNameLst>
                                          <p:attrName>ppt_x</p:attrName>
                                        </p:attrNameLst>
                                      </p:cBhvr>
                                      <p:tavLst>
                                        <p:tav tm="0">
                                          <p:val>
                                            <p:strVal val="0-#ppt_w/2"/>
                                          </p:val>
                                        </p:tav>
                                        <p:tav tm="100000">
                                          <p:val>
                                            <p:strVal val="#ppt_x"/>
                                          </p:val>
                                        </p:tav>
                                      </p:tavLst>
                                    </p:anim>
                                    <p:anim calcmode="lin" valueType="num">
                                      <p:cBhvr additive="base">
                                        <p:cTn id="25"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8" fill="hold" grpId="0" nodeType="clickEffect">
                                  <p:stCondLst>
                                    <p:cond delay="0"/>
                                  </p:stCondLst>
                                  <p:childTnLst>
                                    <p:set>
                                      <p:cBhvr>
                                        <p:cTn id="29" dur="1" fill="hold">
                                          <p:stCondLst>
                                            <p:cond delay="0"/>
                                          </p:stCondLst>
                                        </p:cTn>
                                        <p:tgtEl>
                                          <p:spTgt spid="20"/>
                                        </p:tgtEl>
                                        <p:attrNameLst>
                                          <p:attrName>style.visibility</p:attrName>
                                        </p:attrNameLst>
                                      </p:cBhvr>
                                      <p:to>
                                        <p:strVal val="visible"/>
                                      </p:to>
                                    </p:set>
                                    <p:anim calcmode="lin" valueType="num">
                                      <p:cBhvr additive="base">
                                        <p:cTn id="30" dur="500" fill="hold"/>
                                        <p:tgtEl>
                                          <p:spTgt spid="20"/>
                                        </p:tgtEl>
                                        <p:attrNameLst>
                                          <p:attrName>ppt_x</p:attrName>
                                        </p:attrNameLst>
                                      </p:cBhvr>
                                      <p:tavLst>
                                        <p:tav tm="0">
                                          <p:val>
                                            <p:strVal val="0-#ppt_w/2"/>
                                          </p:val>
                                        </p:tav>
                                        <p:tav tm="100000">
                                          <p:val>
                                            <p:strVal val="#ppt_x"/>
                                          </p:val>
                                        </p:tav>
                                      </p:tavLst>
                                    </p:anim>
                                    <p:anim calcmode="lin" valueType="num">
                                      <p:cBhvr additive="base">
                                        <p:cTn id="31"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498" grpId="0"/>
      <p:bldP spid="1044500" grpId="0"/>
      <p:bldP spid="19" grpId="0"/>
      <p:bldP spid="20"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a:ea typeface="Microsoft Yahei"/>
                <a:sym typeface="Microsoft Yahei"/>
              </a:rPr>
              <a:t>对于</a:t>
            </a:r>
            <a:r>
              <a:rPr lang="en-US" altLang="zh-CN" sz="2600" dirty="0">
                <a:solidFill>
                  <a:srgbClr val="000000"/>
                </a:solidFill>
                <a:latin typeface="Microsoft Yahei"/>
                <a:ea typeface="Microsoft Yahei"/>
                <a:sym typeface="Microsoft Yahei"/>
              </a:rPr>
              <a:t>7</a:t>
            </a:r>
            <a:r>
              <a:rPr lang="zh-CN" altLang="en-US" sz="2600" dirty="0">
                <a:solidFill>
                  <a:srgbClr val="000000"/>
                </a:solidFill>
                <a:latin typeface="Microsoft Yahei"/>
                <a:ea typeface="Microsoft Yahei"/>
                <a:sym typeface="Microsoft Yahei"/>
              </a:rPr>
              <a:t>个数进行冒泡排序，最坏情况下需要进行的比较次数为</a:t>
            </a:r>
          </a:p>
        </p:txBody>
      </p:sp>
      <p:sp>
        <p:nvSpPr>
          <p:cNvPr id="6" name="TextBox 5"/>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7</a:t>
            </a:r>
            <a:endParaRPr lang="zh-CN" altLang="en-US" sz="2600" dirty="0">
              <a:solidFill>
                <a:srgbClr val="000000"/>
              </a:solidFill>
              <a:latin typeface="Microsoft Yahei"/>
              <a:ea typeface="Microsoft Yahei"/>
              <a:sym typeface="Microsoft Yahei"/>
            </a:endParaRPr>
          </a:p>
        </p:txBody>
      </p:sp>
      <p:sp>
        <p:nvSpPr>
          <p:cNvPr id="7" name="TextBox 6"/>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14</a:t>
            </a:r>
            <a:endParaRPr lang="zh-CN" altLang="en-US" sz="2600" dirty="0">
              <a:solidFill>
                <a:srgbClr val="000000"/>
              </a:solidFill>
              <a:latin typeface="Microsoft Yahei"/>
              <a:ea typeface="Microsoft Yahei"/>
              <a:sym typeface="Microsoft Yahei"/>
            </a:endParaRPr>
          </a:p>
        </p:txBody>
      </p:sp>
      <p:sp>
        <p:nvSpPr>
          <p:cNvPr id="8" name="TextBox 7"/>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21</a:t>
            </a:r>
            <a:endParaRPr lang="zh-CN" altLang="en-US" sz="2600" dirty="0">
              <a:solidFill>
                <a:srgbClr val="000000"/>
              </a:solidFill>
              <a:latin typeface="Microsoft Yahei"/>
              <a:ea typeface="Microsoft Yahei"/>
              <a:sym typeface="Microsoft Yahei"/>
            </a:endParaRPr>
          </a:p>
        </p:txBody>
      </p:sp>
      <p:sp>
        <p:nvSpPr>
          <p:cNvPr id="9" name="TextBox 8"/>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49</a:t>
            </a:r>
            <a:endParaRPr lang="zh-CN" altLang="en-US" sz="2600" dirty="0">
              <a:solidFill>
                <a:srgbClr val="000000"/>
              </a:solidFill>
              <a:latin typeface="Microsoft Yahei"/>
              <a:ea typeface="Microsoft Yahei"/>
              <a:sym typeface="Microsoft Yahei"/>
            </a:endParaRPr>
          </a:p>
        </p:txBody>
      </p:sp>
      <p:sp>
        <p:nvSpPr>
          <p:cNvPr id="10" name="椭圆 9"/>
          <p:cNvSpPr>
            <a:spLocks noChangeAspect="1"/>
          </p:cNvSpPr>
          <p:nvPr>
            <p:custDataLst>
              <p:tags r:id="rId7"/>
            </p:custDataLst>
          </p:nvPr>
        </p:nvSpPr>
        <p:spPr bwMode="auto">
          <a:xfrm>
            <a:off x="1114425" y="28503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8"/>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椭圆 11"/>
          <p:cNvSpPr>
            <a:spLocks noChangeAspect="1"/>
          </p:cNvSpPr>
          <p:nvPr>
            <p:custDataLst>
              <p:tags r:id="rId9"/>
            </p:custDataLst>
          </p:nvPr>
        </p:nvSpPr>
        <p:spPr bwMode="auto">
          <a:xfrm>
            <a:off x="1114425" y="456485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3" name="椭圆 12"/>
          <p:cNvSpPr>
            <a:spLocks noChangeAspect="1"/>
          </p:cNvSpPr>
          <p:nvPr>
            <p:custDataLst>
              <p:tags r:id="rId10"/>
            </p:custDataLst>
          </p:nvPr>
        </p:nvSpPr>
        <p:spPr bwMode="auto">
          <a:xfrm>
            <a:off x="1114425" y="54221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4" name="圆角矩形 13"/>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9" name="组合 18"/>
          <p:cNvGrpSpPr/>
          <p:nvPr>
            <p:custDataLst>
              <p:tags r:id="rId12"/>
            </p:custDataLst>
          </p:nvPr>
        </p:nvGrpSpPr>
        <p:grpSpPr>
          <a:xfrm>
            <a:off x="0" y="0"/>
            <a:ext cx="9144000" cy="635000"/>
            <a:chOff x="0" y="0"/>
            <a:chExt cx="9144000" cy="635000"/>
          </a:xfrm>
        </p:grpSpPr>
        <p:sp>
          <p:nvSpPr>
            <p:cNvPr id="15"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6"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7"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8"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4" name="图片 3"/>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2601864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a:ea typeface="Microsoft Yahei"/>
                <a:sym typeface="Microsoft Yahei"/>
              </a:rPr>
              <a:t>对</a:t>
            </a:r>
            <a:r>
              <a:rPr lang="en-US" altLang="zh-CN" sz="2600" dirty="0">
                <a:solidFill>
                  <a:srgbClr val="000000"/>
                </a:solidFill>
                <a:latin typeface="Microsoft Yahei"/>
                <a:ea typeface="Microsoft Yahei"/>
                <a:sym typeface="Microsoft Yahei"/>
              </a:rPr>
              <a:t>N</a:t>
            </a:r>
            <a:r>
              <a:rPr lang="zh-CN" altLang="en-US" sz="2600" dirty="0">
                <a:solidFill>
                  <a:srgbClr val="000000"/>
                </a:solidFill>
                <a:latin typeface="Microsoft Yahei"/>
                <a:ea typeface="Microsoft Yahei"/>
                <a:sym typeface="Microsoft Yahei"/>
              </a:rPr>
              <a:t>个不同的数据采用冒泡算法进行从大到小的排序，下面哪种情况下肯定交换元素次数最多？</a:t>
            </a: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从小到大排好的</a:t>
            </a: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元素无序</a:t>
            </a:r>
          </a:p>
        </p:txBody>
      </p:sp>
      <p:sp>
        <p:nvSpPr>
          <p:cNvPr id="6" name="TextBox 5"/>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元素基本有序</a:t>
            </a:r>
          </a:p>
        </p:txBody>
      </p:sp>
      <p:sp>
        <p:nvSpPr>
          <p:cNvPr id="7" name="TextBox 6"/>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从大到小排好的</a:t>
            </a:r>
          </a:p>
        </p:txBody>
      </p:sp>
      <p:sp>
        <p:nvSpPr>
          <p:cNvPr id="8" name="椭圆 7"/>
          <p:cNvSpPr>
            <a:spLocks noChangeAspect="1"/>
          </p:cNvSpPr>
          <p:nvPr>
            <p:custDataLst>
              <p:tags r:id="rId7"/>
            </p:custDataLst>
          </p:nvPr>
        </p:nvSpPr>
        <p:spPr bwMode="auto">
          <a:xfrm>
            <a:off x="1114425" y="285035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8"/>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9"/>
            </p:custDataLst>
          </p:nvPr>
        </p:nvSpPr>
        <p:spPr bwMode="auto">
          <a:xfrm>
            <a:off x="1114425" y="45648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10"/>
            </p:custDataLst>
          </p:nvPr>
        </p:nvSpPr>
        <p:spPr bwMode="auto">
          <a:xfrm>
            <a:off x="1114425" y="54221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12"/>
            </p:custDataLst>
          </p:nvPr>
        </p:nvGrpSpPr>
        <p:grpSpPr>
          <a:xfrm>
            <a:off x="0" y="0"/>
            <a:ext cx="9144000" cy="635000"/>
            <a:chOff x="0" y="0"/>
            <a:chExt cx="9144000" cy="635000"/>
          </a:xfrm>
        </p:grpSpPr>
        <p:sp>
          <p:nvSpPr>
            <p:cNvPr id="13"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181724650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a:ea typeface="Microsoft Yahei"/>
                <a:sym typeface="Microsoft Yahei"/>
              </a:rPr>
              <a:t>若用冒泡排序方法对序列</a:t>
            </a:r>
            <a:r>
              <a:rPr lang="en-US" altLang="zh-CN" sz="2600" dirty="0">
                <a:solidFill>
                  <a:srgbClr val="000000"/>
                </a:solidFill>
                <a:latin typeface="Microsoft Yahei"/>
                <a:ea typeface="Microsoft Yahei"/>
                <a:sym typeface="Microsoft Yahei"/>
              </a:rPr>
              <a:t>{10</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14</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26</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29</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41</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52}</a:t>
            </a:r>
            <a:r>
              <a:rPr lang="zh-CN" altLang="en-US" sz="2600" dirty="0">
                <a:solidFill>
                  <a:srgbClr val="000000"/>
                </a:solidFill>
                <a:latin typeface="Microsoft Yahei"/>
                <a:ea typeface="Microsoft Yahei"/>
                <a:sym typeface="Microsoft Yahei"/>
              </a:rPr>
              <a:t>从大到小排序，需进行（   ）次比较。</a:t>
            </a: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3</a:t>
            </a:r>
            <a:endParaRPr lang="zh-CN" altLang="en-US" sz="2600" dirty="0">
              <a:solidFill>
                <a:srgbClr val="000000"/>
              </a:solidFill>
              <a:latin typeface="Microsoft Yahei"/>
              <a:ea typeface="Microsoft Yahei"/>
              <a:sym typeface="Microsoft Yahei"/>
            </a:endParaRP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10</a:t>
            </a:r>
            <a:endParaRPr lang="zh-CN" altLang="en-US" sz="2600" dirty="0">
              <a:solidFill>
                <a:srgbClr val="000000"/>
              </a:solidFill>
              <a:latin typeface="Microsoft Yahei"/>
              <a:ea typeface="Microsoft Yahei"/>
              <a:sym typeface="Microsoft Yahei"/>
            </a:endParaRPr>
          </a:p>
        </p:txBody>
      </p:sp>
      <p:sp>
        <p:nvSpPr>
          <p:cNvPr id="6" name="TextBox 5"/>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15</a:t>
            </a:r>
            <a:endParaRPr lang="zh-CN" altLang="en-US" sz="2600" dirty="0">
              <a:solidFill>
                <a:srgbClr val="000000"/>
              </a:solidFill>
              <a:latin typeface="Microsoft Yahei"/>
              <a:ea typeface="Microsoft Yahei"/>
              <a:sym typeface="Microsoft Yahei"/>
            </a:endParaRPr>
          </a:p>
        </p:txBody>
      </p:sp>
      <p:sp>
        <p:nvSpPr>
          <p:cNvPr id="7" name="TextBox 6"/>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en-US" altLang="zh-CN" sz="2600" dirty="0" smtClean="0">
                <a:solidFill>
                  <a:srgbClr val="000000"/>
                </a:solidFill>
                <a:latin typeface="Microsoft Yahei"/>
                <a:ea typeface="Microsoft Yahei"/>
                <a:sym typeface="Microsoft Yahei"/>
              </a:rPr>
              <a:t>25</a:t>
            </a:r>
            <a:endParaRPr lang="zh-CN" altLang="en-US" sz="2600" dirty="0">
              <a:solidFill>
                <a:srgbClr val="000000"/>
              </a:solidFill>
              <a:latin typeface="Microsoft Yahei"/>
              <a:ea typeface="Microsoft Yahei"/>
              <a:sym typeface="Microsoft Yahei"/>
            </a:endParaRPr>
          </a:p>
        </p:txBody>
      </p:sp>
      <p:sp>
        <p:nvSpPr>
          <p:cNvPr id="8" name="椭圆 7"/>
          <p:cNvSpPr>
            <a:spLocks noChangeAspect="1"/>
          </p:cNvSpPr>
          <p:nvPr>
            <p:custDataLst>
              <p:tags r:id="rId7"/>
            </p:custDataLst>
          </p:nvPr>
        </p:nvSpPr>
        <p:spPr bwMode="auto">
          <a:xfrm>
            <a:off x="1114425" y="28503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8"/>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9"/>
            </p:custDataLst>
          </p:nvPr>
        </p:nvSpPr>
        <p:spPr bwMode="auto">
          <a:xfrm>
            <a:off x="1114425" y="456485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10"/>
            </p:custDataLst>
          </p:nvPr>
        </p:nvSpPr>
        <p:spPr bwMode="auto">
          <a:xfrm>
            <a:off x="1114425" y="54221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12"/>
            </p:custDataLst>
          </p:nvPr>
        </p:nvGrpSpPr>
        <p:grpSpPr>
          <a:xfrm>
            <a:off x="0" y="0"/>
            <a:ext cx="9144000" cy="635000"/>
            <a:chOff x="0" y="0"/>
            <a:chExt cx="9144000" cy="635000"/>
          </a:xfrm>
        </p:grpSpPr>
        <p:sp>
          <p:nvSpPr>
            <p:cNvPr id="13"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419920490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85725" y="2133600"/>
            <a:ext cx="4392613" cy="3292475"/>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pic>
        <p:nvPicPr>
          <p:cNvPr id="63491" name="Picture 7" descr="1"/>
          <p:cNvPicPr>
            <a:picLocks noChangeAspect="1"/>
          </p:cNvPicPr>
          <p:nvPr/>
        </p:nvPicPr>
        <p:blipFill>
          <a:blip r:embed="rId2"/>
          <a:stretch>
            <a:fillRect/>
          </a:stretch>
        </p:blipFill>
        <p:spPr>
          <a:xfrm>
            <a:off x="4576763" y="2060575"/>
            <a:ext cx="4572000" cy="3490913"/>
          </a:xfrm>
          <a:prstGeom prst="rect">
            <a:avLst/>
          </a:prstGeom>
          <a:noFill/>
          <a:ln w="9525">
            <a:noFill/>
          </a:ln>
        </p:spPr>
      </p:pic>
      <p:sp>
        <p:nvSpPr>
          <p:cNvPr id="943127" name="Rectangle 23"/>
          <p:cNvSpPr>
            <a:spLocks noChangeArrowheads="1"/>
          </p:cNvSpPr>
          <p:nvPr/>
        </p:nvSpPr>
        <p:spPr bwMode="auto">
          <a:xfrm>
            <a:off x="827088" y="18415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sp>
        <p:nvSpPr>
          <p:cNvPr id="943129" name="Rectangle 25"/>
          <p:cNvSpPr>
            <a:spLocks noChangeArrowheads="1"/>
          </p:cNvSpPr>
          <p:nvPr/>
        </p:nvSpPr>
        <p:spPr bwMode="auto">
          <a:xfrm>
            <a:off x="134938" y="1382713"/>
            <a:ext cx="4392613" cy="40433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0000"/>
              </a:lnSpc>
              <a:spcBef>
                <a:spcPts val="1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基本思想：</a:t>
            </a:r>
            <a:endParaRPr kumimoji="0" lang="en-US" altLang="zh-CN" sz="2400" b="0" i="0" u="none" strike="noStrike" kern="1200" cap="none" spc="0" normalizeH="0" baseline="0" noProof="0" dirty="0">
              <a:ln>
                <a:noFill/>
              </a:ln>
              <a:solidFill>
                <a:schemeClr val="accent2"/>
              </a:solidFill>
              <a:effectLst/>
              <a:uLnTx/>
              <a:uFillTx/>
              <a:latin typeface="+mn-lt"/>
              <a:ea typeface="+mn-ea"/>
              <a:cs typeface="+mn-ea"/>
              <a:sym typeface="+mn-lt"/>
            </a:endParaRPr>
          </a:p>
          <a:p>
            <a:pPr marL="0" marR="0" lvl="0" indent="0" algn="l" defTabSz="914400" rtl="0" eaLnBrk="1" fontAlgn="base" latinLnBrk="0" hangingPunct="1">
              <a:lnSpc>
                <a:spcPct val="120000"/>
              </a:lnSpc>
              <a:spcBef>
                <a:spcPts val="1000"/>
              </a:spcBef>
              <a:spcAft>
                <a:spcPct val="0"/>
              </a:spcAft>
              <a:buClrTx/>
              <a:buSzTx/>
              <a:buFont typeface="Arial" panose="020B0604020202020204" pitchFamily="34" charset="0"/>
              <a:buNone/>
              <a:defRPr/>
            </a:pPr>
            <a:endParaRPr kumimoji="0" lang="zh-CN" altLang="en-US" sz="10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1" indent="0" algn="l" defTabSz="914400" rtl="0" eaLnBrk="1" fontAlgn="base" latinLnBrk="0" hangingPunct="1">
              <a:lnSpc>
                <a:spcPct val="120000"/>
              </a:lnSpc>
              <a:spcBef>
                <a:spcPts val="1000"/>
              </a:spcBef>
              <a:spcAft>
                <a:spcPct val="0"/>
              </a:spcAft>
              <a:buClr>
                <a:srgbClr val="FF3300"/>
              </a:buClr>
              <a:buSzTx/>
              <a:buFont typeface="Arial" panose="020B0604020202020204" pitchFamily="34" charset="0"/>
              <a:buChar char="•"/>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任取一个元素 </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如第一个</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200" b="0" i="0" u="none" strike="noStrike" kern="1200" cap="none" spc="0" normalizeH="0" baseline="0" noProof="0" dirty="0">
                <a:ln>
                  <a:noFill/>
                </a:ln>
                <a:solidFill>
                  <a:srgbClr val="FF3300"/>
                </a:solidFill>
                <a:effectLst/>
                <a:uLnTx/>
                <a:uFillTx/>
                <a:latin typeface="+mn-lt"/>
                <a:ea typeface="+mn-ea"/>
                <a:cs typeface="+mn-ea"/>
                <a:sym typeface="+mn-lt"/>
              </a:rPr>
              <a:t>为中心</a:t>
            </a:r>
          </a:p>
          <a:p>
            <a:pPr marL="0" marR="0" lvl="1" indent="0" algn="l" defTabSz="914400" rtl="0" eaLnBrk="1" fontAlgn="base" latinLnBrk="0" hangingPunct="1">
              <a:lnSpc>
                <a:spcPct val="120000"/>
              </a:lnSpc>
              <a:spcBef>
                <a:spcPts val="1000"/>
              </a:spcBef>
              <a:spcAft>
                <a:spcPct val="0"/>
              </a:spcAft>
              <a:buClr>
                <a:srgbClr val="FF3300"/>
              </a:buClr>
              <a:buSzTx/>
              <a:buFont typeface="Arial" panose="020B0604020202020204" pitchFamily="34" charset="0"/>
              <a:buChar char="•"/>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所有比它</a:t>
            </a:r>
            <a:r>
              <a:rPr kumimoji="0" lang="zh-CN" altLang="en-US" sz="2200" b="0" i="0" u="none" strike="noStrike" kern="1200" cap="none" spc="0" normalizeH="0" baseline="0" noProof="0" dirty="0">
                <a:ln>
                  <a:noFill/>
                </a:ln>
                <a:solidFill>
                  <a:srgbClr val="FF3300"/>
                </a:solidFill>
                <a:effectLst/>
                <a:uLnTx/>
                <a:uFillTx/>
                <a:latin typeface="+mn-lt"/>
                <a:ea typeface="+mn-ea"/>
                <a:cs typeface="+mn-ea"/>
                <a:sym typeface="+mn-lt"/>
              </a:rPr>
              <a:t>小</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的元素一律前放，比它</a:t>
            </a:r>
            <a:r>
              <a:rPr kumimoji="0" lang="zh-CN" altLang="en-US" sz="2200" b="0" i="0" u="none" strike="noStrike" kern="1200" cap="none" spc="0" normalizeH="0" baseline="0" noProof="0" dirty="0">
                <a:ln>
                  <a:noFill/>
                </a:ln>
                <a:solidFill>
                  <a:srgbClr val="FF3300"/>
                </a:solidFill>
                <a:effectLst/>
                <a:uLnTx/>
                <a:uFillTx/>
                <a:latin typeface="+mn-lt"/>
                <a:ea typeface="+mn-ea"/>
                <a:cs typeface="+mn-ea"/>
                <a:sym typeface="+mn-lt"/>
              </a:rPr>
              <a:t>大</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的元素一律后放，形成</a:t>
            </a:r>
            <a:r>
              <a:rPr kumimoji="0" lang="zh-CN" altLang="en-US" sz="2200" b="0" i="0" u="none" strike="noStrike" kern="1200" cap="none" spc="0" normalizeH="0" baseline="0" noProof="0" dirty="0">
                <a:ln>
                  <a:noFill/>
                </a:ln>
                <a:solidFill>
                  <a:srgbClr val="FF3300"/>
                </a:solidFill>
                <a:effectLst/>
                <a:uLnTx/>
                <a:uFillTx/>
                <a:latin typeface="+mn-lt"/>
                <a:ea typeface="+mn-ea"/>
                <a:cs typeface="+mn-ea"/>
                <a:sym typeface="+mn-lt"/>
              </a:rPr>
              <a:t>左右两个子表</a:t>
            </a:r>
            <a:endPar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1" indent="0" algn="l" defTabSz="914400" rtl="0" eaLnBrk="1" fontAlgn="base" latinLnBrk="0" hangingPunct="1">
              <a:lnSpc>
                <a:spcPct val="120000"/>
              </a:lnSpc>
              <a:spcBef>
                <a:spcPts val="1000"/>
              </a:spcBef>
              <a:spcAft>
                <a:spcPct val="0"/>
              </a:spcAft>
              <a:buClr>
                <a:srgbClr val="FF3300"/>
              </a:buClr>
              <a:buSzTx/>
              <a:buFont typeface="Arial" panose="020B0604020202020204" pitchFamily="34" charset="0"/>
              <a:buChar char="•"/>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对各子表重新选择</a:t>
            </a:r>
            <a:r>
              <a:rPr kumimoji="0" lang="zh-CN" altLang="en-US" sz="2200" b="0" i="0" u="none" strike="noStrike" kern="1200" cap="none" spc="0" normalizeH="0" baseline="0" noProof="0" dirty="0">
                <a:ln>
                  <a:noFill/>
                </a:ln>
                <a:solidFill>
                  <a:srgbClr val="FF3300"/>
                </a:solidFill>
                <a:effectLst/>
                <a:uLnTx/>
                <a:uFillTx/>
                <a:latin typeface="+mn-lt"/>
                <a:ea typeface="+mn-ea"/>
                <a:cs typeface="+mn-ea"/>
                <a:sym typeface="+mn-lt"/>
              </a:rPr>
              <a:t>中心</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元素并依此规则调整，直到每个子表的元素</a:t>
            </a:r>
            <a:r>
              <a:rPr kumimoji="0" lang="zh-CN" altLang="en-US" sz="2200" b="0" i="0" u="none" strike="noStrike" kern="1200" cap="none" spc="0" normalizeH="0" baseline="0" noProof="0" dirty="0">
                <a:ln>
                  <a:noFill/>
                </a:ln>
                <a:solidFill>
                  <a:srgbClr val="FF3300"/>
                </a:solidFill>
                <a:effectLst/>
                <a:uLnTx/>
                <a:uFillTx/>
                <a:latin typeface="+mn-lt"/>
                <a:ea typeface="+mn-ea"/>
                <a:cs typeface="+mn-ea"/>
                <a:sym typeface="+mn-lt"/>
              </a:rPr>
              <a:t>只剩一个</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943129">
                                            <p:txEl>
                                              <p:pRg st="0" end="0"/>
                                            </p:txEl>
                                          </p:spTgt>
                                        </p:tgtEl>
                                        <p:attrNameLst>
                                          <p:attrName>style.visibility</p:attrName>
                                        </p:attrNameLst>
                                      </p:cBhvr>
                                      <p:to>
                                        <p:strVal val="visible"/>
                                      </p:to>
                                    </p:set>
                                    <p:anim calcmode="lin" valueType="num">
                                      <p:cBhvr additive="base">
                                        <p:cTn id="7" dur="500" fill="hold"/>
                                        <p:tgtEl>
                                          <p:spTgt spid="94312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4312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943129">
                                            <p:txEl>
                                              <p:pRg st="2" end="2"/>
                                            </p:txEl>
                                          </p:spTgt>
                                        </p:tgtEl>
                                        <p:attrNameLst>
                                          <p:attrName>style.visibility</p:attrName>
                                        </p:attrNameLst>
                                      </p:cBhvr>
                                      <p:to>
                                        <p:strVal val="visible"/>
                                      </p:to>
                                    </p:set>
                                    <p:anim calcmode="lin" valueType="num">
                                      <p:cBhvr additive="base">
                                        <p:cTn id="19" dur="500" fill="hold"/>
                                        <p:tgtEl>
                                          <p:spTgt spid="943129">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4312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943129">
                                            <p:txEl>
                                              <p:pRg st="3" end="3"/>
                                            </p:txEl>
                                          </p:spTgt>
                                        </p:tgtEl>
                                        <p:attrNameLst>
                                          <p:attrName>style.visibility</p:attrName>
                                        </p:attrNameLst>
                                      </p:cBhvr>
                                      <p:to>
                                        <p:strVal val="visible"/>
                                      </p:to>
                                    </p:set>
                                    <p:anim calcmode="lin" valueType="num">
                                      <p:cBhvr additive="base">
                                        <p:cTn id="25" dur="500" fill="hold"/>
                                        <p:tgtEl>
                                          <p:spTgt spid="943129">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94312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943129">
                                            <p:txEl>
                                              <p:pRg st="4" end="4"/>
                                            </p:txEl>
                                          </p:spTgt>
                                        </p:tgtEl>
                                        <p:attrNameLst>
                                          <p:attrName>style.visibility</p:attrName>
                                        </p:attrNameLst>
                                      </p:cBhvr>
                                      <p:to>
                                        <p:strVal val="visible"/>
                                      </p:to>
                                    </p:set>
                                    <p:anim calcmode="lin" valueType="num">
                                      <p:cBhvr additive="base">
                                        <p:cTn id="31" dur="500" fill="hold"/>
                                        <p:tgtEl>
                                          <p:spTgt spid="943129">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943129">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943129" grpId="0" build="p" bldLvl="2"/>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6189" name="AutoShape 13" descr="白色大理石"/>
          <p:cNvSpPr>
            <a:spLocks noChangeArrowheads="1"/>
          </p:cNvSpPr>
          <p:nvPr/>
        </p:nvSpPr>
        <p:spPr bwMode="auto">
          <a:xfrm>
            <a:off x="2209800" y="5492750"/>
            <a:ext cx="1447800" cy="457200"/>
          </a:xfrm>
          <a:prstGeom prst="parallelogram">
            <a:avLst>
              <a:gd name="adj" fmla="val 45829"/>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6190" name="AutoShape 14" descr="白色大理石"/>
          <p:cNvSpPr>
            <a:spLocks noChangeArrowheads="1"/>
          </p:cNvSpPr>
          <p:nvPr/>
        </p:nvSpPr>
        <p:spPr bwMode="auto">
          <a:xfrm>
            <a:off x="990600" y="3830638"/>
            <a:ext cx="2895600" cy="457200"/>
          </a:xfrm>
          <a:prstGeom prst="parallelogram">
            <a:avLst>
              <a:gd name="adj" fmla="val 91657"/>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6191" name="AutoShape 15" descr="白色大理石"/>
          <p:cNvSpPr>
            <a:spLocks noChangeArrowheads="1"/>
          </p:cNvSpPr>
          <p:nvPr/>
        </p:nvSpPr>
        <p:spPr bwMode="auto">
          <a:xfrm>
            <a:off x="609600" y="1866900"/>
            <a:ext cx="7696200" cy="457200"/>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6193" name="AutoShape 17"/>
          <p:cNvSpPr>
            <a:spLocks noChangeArrowheads="1"/>
          </p:cNvSpPr>
          <p:nvPr/>
        </p:nvSpPr>
        <p:spPr bwMode="auto">
          <a:xfrm>
            <a:off x="1676400" y="1485900"/>
            <a:ext cx="533400" cy="762000"/>
          </a:xfrm>
          <a:prstGeom prst="can">
            <a:avLst>
              <a:gd name="adj" fmla="val 35714"/>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194" name="AutoShape 18"/>
          <p:cNvSpPr>
            <a:spLocks noChangeArrowheads="1"/>
          </p:cNvSpPr>
          <p:nvPr/>
        </p:nvSpPr>
        <p:spPr bwMode="auto">
          <a:xfrm>
            <a:off x="2667000" y="1409700"/>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195" name="AutoShape 19"/>
          <p:cNvSpPr>
            <a:spLocks noChangeArrowheads="1"/>
          </p:cNvSpPr>
          <p:nvPr/>
        </p:nvSpPr>
        <p:spPr bwMode="auto">
          <a:xfrm>
            <a:off x="3657600" y="1104900"/>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196" name="AutoShape 20"/>
          <p:cNvSpPr>
            <a:spLocks noChangeArrowheads="1"/>
          </p:cNvSpPr>
          <p:nvPr/>
        </p:nvSpPr>
        <p:spPr bwMode="auto">
          <a:xfrm>
            <a:off x="4648200" y="1409700"/>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197" name="AutoShape 21"/>
          <p:cNvSpPr>
            <a:spLocks noChangeArrowheads="1"/>
          </p:cNvSpPr>
          <p:nvPr/>
        </p:nvSpPr>
        <p:spPr bwMode="auto">
          <a:xfrm>
            <a:off x="5638800" y="1562100"/>
            <a:ext cx="533400" cy="685800"/>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198" name="AutoShape 22"/>
          <p:cNvSpPr>
            <a:spLocks noChangeArrowheads="1"/>
          </p:cNvSpPr>
          <p:nvPr/>
        </p:nvSpPr>
        <p:spPr bwMode="auto">
          <a:xfrm>
            <a:off x="6629400" y="1866900"/>
            <a:ext cx="533400" cy="381000"/>
          </a:xfrm>
          <a:prstGeom prst="can">
            <a:avLst>
              <a:gd name="adj" fmla="val 25000"/>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50188" name="Text Box 23"/>
          <p:cNvSpPr txBox="1">
            <a:spLocks noChangeArrowheads="1"/>
          </p:cNvSpPr>
          <p:nvPr/>
        </p:nvSpPr>
        <p:spPr bwMode="auto">
          <a:xfrm>
            <a:off x="1752600" y="2324100"/>
            <a:ext cx="5289550"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0           1           2           3           4           5</a:t>
            </a:r>
            <a:endParaRPr kumimoji="0" lang="en-US"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6200" name="AutoShape 24" descr="白色大理石"/>
          <p:cNvSpPr>
            <a:spLocks noChangeArrowheads="1"/>
          </p:cNvSpPr>
          <p:nvPr/>
        </p:nvSpPr>
        <p:spPr bwMode="auto">
          <a:xfrm>
            <a:off x="4343400" y="3830638"/>
            <a:ext cx="3733800" cy="457200"/>
          </a:xfrm>
          <a:prstGeom prst="parallelogram">
            <a:avLst>
              <a:gd name="adj" fmla="val 11819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6201" name="AutoShape 25"/>
          <p:cNvSpPr>
            <a:spLocks noChangeArrowheads="1"/>
          </p:cNvSpPr>
          <p:nvPr/>
        </p:nvSpPr>
        <p:spPr bwMode="auto">
          <a:xfrm>
            <a:off x="3962400" y="3449638"/>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endParaRPr>
          </a:p>
        </p:txBody>
      </p:sp>
      <p:sp>
        <p:nvSpPr>
          <p:cNvPr id="946202" name="AutoShape 26"/>
          <p:cNvSpPr>
            <a:spLocks noChangeArrowheads="1"/>
          </p:cNvSpPr>
          <p:nvPr/>
        </p:nvSpPr>
        <p:spPr bwMode="auto">
          <a:xfrm>
            <a:off x="4953000" y="3373438"/>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08" name="AutoShape 32"/>
          <p:cNvSpPr>
            <a:spLocks noChangeArrowheads="1"/>
          </p:cNvSpPr>
          <p:nvPr/>
        </p:nvSpPr>
        <p:spPr bwMode="auto">
          <a:xfrm>
            <a:off x="2667000" y="5187950"/>
            <a:ext cx="533400" cy="685800"/>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0000FF"/>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09" name="AutoShape 33"/>
          <p:cNvSpPr>
            <a:spLocks noChangeArrowheads="1"/>
          </p:cNvSpPr>
          <p:nvPr/>
        </p:nvSpPr>
        <p:spPr bwMode="auto">
          <a:xfrm>
            <a:off x="6858000" y="3373438"/>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10" name="AutoShape 34"/>
          <p:cNvSpPr>
            <a:spLocks noChangeArrowheads="1"/>
          </p:cNvSpPr>
          <p:nvPr/>
        </p:nvSpPr>
        <p:spPr bwMode="auto">
          <a:xfrm>
            <a:off x="2667000" y="3525838"/>
            <a:ext cx="533400" cy="685800"/>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11" name="AutoShape 35"/>
          <p:cNvSpPr>
            <a:spLocks noChangeArrowheads="1"/>
          </p:cNvSpPr>
          <p:nvPr/>
        </p:nvSpPr>
        <p:spPr bwMode="auto">
          <a:xfrm>
            <a:off x="1676400" y="5492750"/>
            <a:ext cx="533400" cy="38100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12" name="AutoShape 36"/>
          <p:cNvSpPr>
            <a:spLocks noChangeArrowheads="1"/>
          </p:cNvSpPr>
          <p:nvPr/>
        </p:nvSpPr>
        <p:spPr bwMode="auto">
          <a:xfrm>
            <a:off x="5867400" y="3068638"/>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13" name="Text Box 37"/>
          <p:cNvSpPr txBox="1">
            <a:spLocks noChangeArrowheads="1"/>
          </p:cNvSpPr>
          <p:nvPr/>
        </p:nvSpPr>
        <p:spPr bwMode="auto">
          <a:xfrm>
            <a:off x="1420813" y="960438"/>
            <a:ext cx="1676400" cy="457200"/>
          </a:xfrm>
          <a:prstGeom prst="rect">
            <a:avLst/>
          </a:prstGeom>
          <a:noFill/>
          <a:ln w="9525">
            <a:noFill/>
            <a:miter lim="800000"/>
          </a:ln>
        </p:spPr>
        <p:txBody>
          <a:bodyPr>
            <a:spAutoFit/>
          </a:bodyPr>
          <a:lstStyle/>
          <a:p>
            <a:pPr marR="0" defTabSz="914400" eaLnBrk="1" hangingPunct="1">
              <a:buClrTx/>
              <a:buSzTx/>
              <a:buFontTx/>
              <a:buNone/>
              <a:defRPr/>
            </a:pPr>
            <a:r>
              <a:rPr kumimoji="1" lang="en-US" altLang="zh-CN" sz="2400" b="0" i="1" kern="1200" cap="none" spc="0" normalizeH="0" baseline="0" noProof="0" dirty="0" err="1">
                <a:latin typeface="+mn-lt"/>
                <a:ea typeface="+mn-ea"/>
                <a:cs typeface="+mn-ea"/>
                <a:sym typeface="+mn-lt"/>
              </a:rPr>
              <a:t>pivotkey</a:t>
            </a:r>
            <a:endParaRPr kumimoji="1" lang="en-US" altLang="zh-CN" sz="2400" b="0" kern="1200" cap="none" spc="0" normalizeH="0" baseline="0" noProof="0" dirty="0">
              <a:latin typeface="+mn-lt"/>
              <a:ea typeface="+mn-ea"/>
              <a:cs typeface="+mn-ea"/>
              <a:sym typeface="+mn-lt"/>
            </a:endParaRPr>
          </a:p>
        </p:txBody>
      </p:sp>
      <p:sp>
        <p:nvSpPr>
          <p:cNvPr id="946214" name="AutoShape 38"/>
          <p:cNvSpPr>
            <a:spLocks noChangeArrowheads="1"/>
          </p:cNvSpPr>
          <p:nvPr/>
        </p:nvSpPr>
        <p:spPr bwMode="auto">
          <a:xfrm>
            <a:off x="1676400" y="3830638"/>
            <a:ext cx="533400" cy="381000"/>
          </a:xfrm>
          <a:prstGeom prst="can">
            <a:avLst>
              <a:gd name="adj" fmla="val 25000"/>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17" name="AutoShape 41"/>
          <p:cNvSpPr>
            <a:spLocks noChangeArrowheads="1"/>
          </p:cNvSpPr>
          <p:nvPr/>
        </p:nvSpPr>
        <p:spPr bwMode="auto">
          <a:xfrm>
            <a:off x="3886200" y="5111750"/>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26" name="Text Box 50"/>
          <p:cNvSpPr txBox="1">
            <a:spLocks noChangeArrowheads="1"/>
          </p:cNvSpPr>
          <p:nvPr/>
        </p:nvSpPr>
        <p:spPr bwMode="auto">
          <a:xfrm>
            <a:off x="1454150" y="3103563"/>
            <a:ext cx="1316038" cy="457200"/>
          </a:xfrm>
          <a:prstGeom prst="rect">
            <a:avLst/>
          </a:prstGeom>
          <a:noFill/>
          <a:ln w="9525">
            <a:noFill/>
            <a:miter lim="800000"/>
          </a:ln>
        </p:spPr>
        <p:txBody>
          <a:bodyPr>
            <a:spAutoFit/>
          </a:bodyPr>
          <a:lstStyle/>
          <a:p>
            <a:pPr marR="0" defTabSz="914400" eaLnBrk="1" hangingPunct="1">
              <a:buClrTx/>
              <a:buSzTx/>
              <a:buFontTx/>
              <a:buNone/>
              <a:defRPr/>
            </a:pPr>
            <a:r>
              <a:rPr kumimoji="1" lang="en-US" altLang="zh-CN" sz="2400" b="0" i="1" kern="1200" cap="none" spc="0" normalizeH="0" baseline="0" noProof="0" dirty="0" err="1">
                <a:latin typeface="+mn-lt"/>
                <a:ea typeface="+mn-ea"/>
                <a:cs typeface="+mn-ea"/>
                <a:sym typeface="+mn-lt"/>
              </a:rPr>
              <a:t>pivotkey</a:t>
            </a:r>
            <a:endParaRPr kumimoji="1" lang="en-US" altLang="zh-CN" sz="2400" b="0" i="1" kern="1200" cap="none" spc="0" normalizeH="0" baseline="0" noProof="0" dirty="0">
              <a:latin typeface="+mn-lt"/>
              <a:ea typeface="+mn-ea"/>
              <a:cs typeface="+mn-ea"/>
              <a:sym typeface="+mn-lt"/>
            </a:endParaRPr>
          </a:p>
        </p:txBody>
      </p:sp>
      <p:sp>
        <p:nvSpPr>
          <p:cNvPr id="946227" name="Text Box 51"/>
          <p:cNvSpPr txBox="1">
            <a:spLocks noChangeArrowheads="1"/>
          </p:cNvSpPr>
          <p:nvPr/>
        </p:nvSpPr>
        <p:spPr bwMode="auto">
          <a:xfrm>
            <a:off x="4716463" y="4578350"/>
            <a:ext cx="1220788" cy="457200"/>
          </a:xfrm>
          <a:prstGeom prst="rect">
            <a:avLst/>
          </a:prstGeom>
          <a:noFill/>
          <a:ln w="9525">
            <a:noFill/>
            <a:miter lim="800000"/>
          </a:ln>
        </p:spPr>
        <p:txBody>
          <a:bodyPr>
            <a:spAutoFit/>
          </a:bodyPr>
          <a:lstStyle/>
          <a:p>
            <a:pPr marR="0" defTabSz="914400" eaLnBrk="1" hangingPunct="1">
              <a:buClrTx/>
              <a:buSzTx/>
              <a:buFontTx/>
              <a:buNone/>
              <a:defRPr/>
            </a:pPr>
            <a:r>
              <a:rPr kumimoji="1" lang="en-US" altLang="zh-CN" sz="2400" b="0" i="1" kern="1200" cap="none" spc="0" normalizeH="0" baseline="0" noProof="0" dirty="0" err="1">
                <a:latin typeface="+mn-lt"/>
                <a:ea typeface="+mn-ea"/>
                <a:cs typeface="+mn-ea"/>
                <a:sym typeface="+mn-lt"/>
              </a:rPr>
              <a:t>pivotkey</a:t>
            </a:r>
            <a:endParaRPr kumimoji="1" lang="en-US" altLang="zh-CN" sz="2400" b="0" i="1" kern="1200" cap="none" spc="0" normalizeH="0" baseline="0" noProof="0" dirty="0">
              <a:latin typeface="+mn-lt"/>
              <a:ea typeface="+mn-ea"/>
              <a:cs typeface="+mn-ea"/>
              <a:sym typeface="+mn-lt"/>
            </a:endParaRPr>
          </a:p>
        </p:txBody>
      </p:sp>
      <p:sp>
        <p:nvSpPr>
          <p:cNvPr id="946228" name="Rectangle 52"/>
          <p:cNvSpPr>
            <a:spLocks noChangeArrowheads="1"/>
          </p:cNvSpPr>
          <p:nvPr/>
        </p:nvSpPr>
        <p:spPr bwMode="auto">
          <a:xfrm>
            <a:off x="762000" y="2159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sp>
        <p:nvSpPr>
          <p:cNvPr id="946229" name="AutoShape 53" descr="白色大理石"/>
          <p:cNvSpPr>
            <a:spLocks noChangeArrowheads="1"/>
          </p:cNvSpPr>
          <p:nvPr/>
        </p:nvSpPr>
        <p:spPr bwMode="auto">
          <a:xfrm>
            <a:off x="4356100" y="5489575"/>
            <a:ext cx="3733800" cy="457200"/>
          </a:xfrm>
          <a:prstGeom prst="parallelogram">
            <a:avLst>
              <a:gd name="adj" fmla="val 11819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6230" name="AutoShape 54"/>
          <p:cNvSpPr>
            <a:spLocks noChangeArrowheads="1"/>
          </p:cNvSpPr>
          <p:nvPr/>
        </p:nvSpPr>
        <p:spPr bwMode="auto">
          <a:xfrm>
            <a:off x="4965700" y="5032375"/>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31" name="AutoShape 55"/>
          <p:cNvSpPr>
            <a:spLocks noChangeArrowheads="1"/>
          </p:cNvSpPr>
          <p:nvPr/>
        </p:nvSpPr>
        <p:spPr bwMode="auto">
          <a:xfrm>
            <a:off x="6870700" y="5032375"/>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946232" name="AutoShape 56"/>
          <p:cNvSpPr>
            <a:spLocks noChangeArrowheads="1"/>
          </p:cNvSpPr>
          <p:nvPr/>
        </p:nvSpPr>
        <p:spPr bwMode="auto">
          <a:xfrm>
            <a:off x="5880100" y="4727575"/>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Tree>
  </p:cSld>
  <p:clrMapOvr>
    <a:masterClrMapping/>
  </p:clrMapOvr>
  <p:transition spd="slow"/>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9782" name="AutoShape 6" descr="白色大理石"/>
          <p:cNvSpPr>
            <a:spLocks noChangeArrowheads="1"/>
          </p:cNvSpPr>
          <p:nvPr/>
        </p:nvSpPr>
        <p:spPr bwMode="auto">
          <a:xfrm>
            <a:off x="5829300" y="4462463"/>
            <a:ext cx="1600200" cy="457200"/>
          </a:xfrm>
          <a:prstGeom prst="parallelogram">
            <a:avLst>
              <a:gd name="adj" fmla="val 50653"/>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99783" name="AutoShape 7"/>
          <p:cNvSpPr>
            <a:spLocks noChangeArrowheads="1"/>
          </p:cNvSpPr>
          <p:nvPr/>
        </p:nvSpPr>
        <p:spPr bwMode="auto">
          <a:xfrm>
            <a:off x="6210300" y="3700463"/>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99784" name="AutoShape 8"/>
          <p:cNvSpPr>
            <a:spLocks noChangeArrowheads="1"/>
          </p:cNvSpPr>
          <p:nvPr/>
        </p:nvSpPr>
        <p:spPr bwMode="auto">
          <a:xfrm>
            <a:off x="1257300" y="4462463"/>
            <a:ext cx="533400" cy="38100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99785" name="AutoShape 9"/>
          <p:cNvSpPr>
            <a:spLocks noChangeArrowheads="1"/>
          </p:cNvSpPr>
          <p:nvPr/>
        </p:nvSpPr>
        <p:spPr bwMode="auto">
          <a:xfrm>
            <a:off x="2247900" y="4157663"/>
            <a:ext cx="533400" cy="685800"/>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endParaRPr>
          </a:p>
        </p:txBody>
      </p:sp>
      <p:sp>
        <p:nvSpPr>
          <p:cNvPr id="1099786" name="AutoShape 10"/>
          <p:cNvSpPr>
            <a:spLocks noChangeArrowheads="1"/>
          </p:cNvSpPr>
          <p:nvPr/>
        </p:nvSpPr>
        <p:spPr bwMode="auto">
          <a:xfrm>
            <a:off x="5219700" y="4005263"/>
            <a:ext cx="533400" cy="838200"/>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99787" name="AutoShape 11"/>
          <p:cNvSpPr>
            <a:spLocks noChangeArrowheads="1"/>
          </p:cNvSpPr>
          <p:nvPr/>
        </p:nvSpPr>
        <p:spPr bwMode="auto">
          <a:xfrm>
            <a:off x="4229100" y="4005263"/>
            <a:ext cx="533400" cy="838200"/>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25</a:t>
            </a:r>
            <a:endParaRPr kumimoji="1" lang="en-US" altLang="zh-CN" sz="2400" b="1"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99788" name="AutoShape 12"/>
          <p:cNvSpPr>
            <a:spLocks noChangeArrowheads="1"/>
          </p:cNvSpPr>
          <p:nvPr/>
        </p:nvSpPr>
        <p:spPr bwMode="auto">
          <a:xfrm>
            <a:off x="3238500" y="4081463"/>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0" name="Rectangle 52"/>
          <p:cNvSpPr>
            <a:spLocks noChangeArrowheads="1"/>
          </p:cNvSpPr>
          <p:nvPr/>
        </p:nvSpPr>
        <p:spPr bwMode="auto">
          <a:xfrm>
            <a:off x="762000" y="2159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sp>
        <p:nvSpPr>
          <p:cNvPr id="11" name="AutoShape 44"/>
          <p:cNvSpPr>
            <a:spLocks noChangeArrowheads="1"/>
          </p:cNvSpPr>
          <p:nvPr/>
        </p:nvSpPr>
        <p:spPr bwMode="auto">
          <a:xfrm>
            <a:off x="1435100" y="2724150"/>
            <a:ext cx="533400" cy="38100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08</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2" name="AutoShape 45"/>
          <p:cNvSpPr>
            <a:spLocks noChangeArrowheads="1"/>
          </p:cNvSpPr>
          <p:nvPr/>
        </p:nvSpPr>
        <p:spPr bwMode="auto">
          <a:xfrm>
            <a:off x="2425700" y="2419350"/>
            <a:ext cx="533400" cy="685800"/>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16</a:t>
            </a:r>
            <a:endParaRPr kumimoji="1" lang="en-US" altLang="zh-CN" sz="2400" b="0"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endParaRPr>
          </a:p>
        </p:txBody>
      </p:sp>
      <p:sp>
        <p:nvSpPr>
          <p:cNvPr id="13" name="AutoShape 46"/>
          <p:cNvSpPr>
            <a:spLocks noChangeArrowheads="1"/>
          </p:cNvSpPr>
          <p:nvPr/>
        </p:nvSpPr>
        <p:spPr bwMode="auto">
          <a:xfrm>
            <a:off x="4259263" y="2266950"/>
            <a:ext cx="533400" cy="838200"/>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4" name="AutoShape 48"/>
          <p:cNvSpPr>
            <a:spLocks noChangeArrowheads="1"/>
          </p:cNvSpPr>
          <p:nvPr/>
        </p:nvSpPr>
        <p:spPr bwMode="auto">
          <a:xfrm>
            <a:off x="3416300" y="2343150"/>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chemeClr val="bg2"/>
                </a:solidFill>
                <a:effectLst>
                  <a:outerShdw blurRad="38100" dist="38100" dir="2700000" algn="tl">
                    <a:srgbClr val="000000"/>
                  </a:outerShdw>
                </a:effectLst>
                <a:uLnTx/>
                <a:uFillTx/>
                <a:latin typeface="+mn-lt"/>
                <a:ea typeface="+mn-ea"/>
                <a:cs typeface="+mn-ea"/>
                <a:sym typeface="+mn-lt"/>
              </a:rPr>
              <a:t>21</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5" name="AutoShape 57" descr="白色大理石"/>
          <p:cNvSpPr>
            <a:spLocks noChangeArrowheads="1"/>
          </p:cNvSpPr>
          <p:nvPr/>
        </p:nvSpPr>
        <p:spPr bwMode="auto">
          <a:xfrm>
            <a:off x="4762500" y="2717800"/>
            <a:ext cx="2663825" cy="457200"/>
          </a:xfrm>
          <a:prstGeom prst="parallelogram">
            <a:avLst>
              <a:gd name="adj" fmla="val 84321"/>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 name="AutoShape 58"/>
          <p:cNvSpPr>
            <a:spLocks noChangeArrowheads="1"/>
          </p:cNvSpPr>
          <p:nvPr/>
        </p:nvSpPr>
        <p:spPr bwMode="auto">
          <a:xfrm>
            <a:off x="6329363" y="2263775"/>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25</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7" name="AutoShape 59"/>
          <p:cNvSpPr>
            <a:spLocks noChangeArrowheads="1"/>
          </p:cNvSpPr>
          <p:nvPr/>
        </p:nvSpPr>
        <p:spPr bwMode="auto">
          <a:xfrm>
            <a:off x="5338763" y="1958975"/>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a:ln>
                  <a:noFill/>
                </a:ln>
                <a:solidFill>
                  <a:srgbClr val="FF3300"/>
                </a:solidFill>
                <a:effectLst>
                  <a:outerShdw blurRad="38100" dist="38100" dir="2700000" algn="tl">
                    <a:srgbClr val="000000"/>
                  </a:outerShdw>
                </a:effectLst>
                <a:uLnTx/>
                <a:uFillTx/>
                <a:latin typeface="+mn-lt"/>
                <a:ea typeface="+mn-ea"/>
                <a:cs typeface="+mn-ea"/>
                <a:sym typeface="+mn-lt"/>
              </a:rPr>
              <a:t>49</a:t>
            </a:r>
            <a:endParaRPr kumimoji="1" lang="en-US" altLang="zh-CN" sz="2400" b="0" i="0" u="none" strike="noStrike" kern="1200" cap="none" spc="0" normalizeH="0" baseline="0" noProof="0">
              <a:ln>
                <a:noFill/>
              </a:ln>
              <a:solidFill>
                <a:schemeClr val="tx1"/>
              </a:solidFill>
              <a:effectLst>
                <a:outerShdw blurRad="38100" dist="38100" dir="2700000" algn="tl">
                  <a:srgbClr val="FFFFFF"/>
                </a:outerShdw>
              </a:effectLst>
              <a:uLnTx/>
              <a:uFillTx/>
              <a:latin typeface="+mn-lt"/>
              <a:ea typeface="+mn-ea"/>
              <a:cs typeface="+mn-ea"/>
              <a:sym typeface="+mn-lt"/>
            </a:endParaRPr>
          </a:p>
        </p:txBody>
      </p:sp>
      <p:sp>
        <p:nvSpPr>
          <p:cNvPr id="18" name="Text Box 61"/>
          <p:cNvSpPr txBox="1">
            <a:spLocks noChangeArrowheads="1"/>
          </p:cNvSpPr>
          <p:nvPr/>
        </p:nvSpPr>
        <p:spPr bwMode="auto">
          <a:xfrm>
            <a:off x="5091113" y="1333500"/>
            <a:ext cx="1220788" cy="457200"/>
          </a:xfrm>
          <a:prstGeom prst="rect">
            <a:avLst/>
          </a:prstGeom>
          <a:noFill/>
          <a:ln w="9525">
            <a:noFill/>
            <a:miter lim="800000"/>
          </a:ln>
        </p:spPr>
        <p:txBody>
          <a:bodyPr>
            <a:spAutoFit/>
          </a:bodyPr>
          <a:lstStyle/>
          <a:p>
            <a:pPr marR="0" defTabSz="914400" eaLnBrk="1" hangingPunct="1">
              <a:buClrTx/>
              <a:buSzTx/>
              <a:buFontTx/>
              <a:buNone/>
              <a:defRPr/>
            </a:pPr>
            <a:r>
              <a:rPr kumimoji="1" lang="en-US" altLang="zh-CN" sz="2400" b="0" i="1" kern="1200" cap="none" spc="0" normalizeH="0" baseline="0" noProof="0" dirty="0" err="1">
                <a:latin typeface="+mn-lt"/>
                <a:ea typeface="+mn-ea"/>
                <a:cs typeface="+mn-ea"/>
                <a:sym typeface="+mn-lt"/>
              </a:rPr>
              <a:t>pivotkey</a:t>
            </a:r>
            <a:endParaRPr kumimoji="1" lang="en-US" altLang="zh-CN" sz="2400" b="0" i="1" kern="1200" cap="none" spc="0" normalizeH="0" baseline="0" noProof="0" dirty="0">
              <a:latin typeface="+mn-lt"/>
              <a:ea typeface="+mn-ea"/>
              <a:cs typeface="+mn-ea"/>
              <a:sym typeface="+mn-lt"/>
            </a:endParaRPr>
          </a:p>
        </p:txBody>
      </p:sp>
    </p:spTree>
  </p:cSld>
  <p:clrMapOvr>
    <a:masterClrMapping/>
  </p:clrMapOvr>
  <p:transition spd="slow"/>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562" name="Group 6"/>
          <p:cNvGrpSpPr/>
          <p:nvPr/>
        </p:nvGrpSpPr>
        <p:grpSpPr>
          <a:xfrm>
            <a:off x="1231900" y="3529013"/>
            <a:ext cx="6781800" cy="533400"/>
            <a:chOff x="1200" y="2928"/>
            <a:chExt cx="4272" cy="336"/>
          </a:xfrm>
        </p:grpSpPr>
        <p:sp>
          <p:nvSpPr>
            <p:cNvPr id="52227"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28"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29"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30"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31"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32"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33"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34"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35"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6563" name="Group 16"/>
          <p:cNvGrpSpPr/>
          <p:nvPr/>
        </p:nvGrpSpPr>
        <p:grpSpPr>
          <a:xfrm>
            <a:off x="1231900" y="2462213"/>
            <a:ext cx="6781800" cy="533400"/>
            <a:chOff x="1200" y="2928"/>
            <a:chExt cx="4272" cy="336"/>
          </a:xfrm>
        </p:grpSpPr>
        <p:sp>
          <p:nvSpPr>
            <p:cNvPr id="52237"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52238"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39"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40"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41"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42"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43"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44"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45"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2246"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52247"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48"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49"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52250"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52251" name="Text Box 31"/>
          <p:cNvSpPr txBox="1">
            <a:spLocks noChangeArrowheads="1"/>
          </p:cNvSpPr>
          <p:nvPr/>
        </p:nvSpPr>
        <p:spPr bwMode="auto">
          <a:xfrm>
            <a:off x="3760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52" name="Text Box 32"/>
          <p:cNvSpPr txBox="1">
            <a:spLocks noChangeArrowheads="1"/>
          </p:cNvSpPr>
          <p:nvPr/>
        </p:nvSpPr>
        <p:spPr bwMode="auto">
          <a:xfrm>
            <a:off x="4522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53"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54"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55"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56" name="Text Box 36"/>
          <p:cNvSpPr txBox="1">
            <a:spLocks noChangeArrowheads="1"/>
          </p:cNvSpPr>
          <p:nvPr/>
        </p:nvSpPr>
        <p:spPr bwMode="auto">
          <a:xfrm>
            <a:off x="5970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57"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52258"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52259" name="Text Box 39"/>
          <p:cNvSpPr txBox="1">
            <a:spLocks noChangeArrowheads="1"/>
          </p:cNvSpPr>
          <p:nvPr/>
        </p:nvSpPr>
        <p:spPr bwMode="auto">
          <a:xfrm>
            <a:off x="67325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60"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61"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66580" name="Group 42"/>
          <p:cNvGrpSpPr/>
          <p:nvPr/>
        </p:nvGrpSpPr>
        <p:grpSpPr>
          <a:xfrm>
            <a:off x="7693025" y="4090988"/>
            <a:ext cx="1092200" cy="698500"/>
            <a:chOff x="2588" y="3474"/>
            <a:chExt cx="529" cy="440"/>
          </a:xfrm>
        </p:grpSpPr>
        <p:sp>
          <p:nvSpPr>
            <p:cNvPr id="52263"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52264"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66581" name="Group 45"/>
          <p:cNvGrpSpPr/>
          <p:nvPr/>
        </p:nvGrpSpPr>
        <p:grpSpPr>
          <a:xfrm>
            <a:off x="1835150" y="4113213"/>
            <a:ext cx="776288" cy="701675"/>
            <a:chOff x="1803" y="3472"/>
            <a:chExt cx="376" cy="442"/>
          </a:xfrm>
        </p:grpSpPr>
        <p:sp>
          <p:nvSpPr>
            <p:cNvPr id="52266"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267"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52268"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2269"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52270"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46580" name="Rectangle 52"/>
          <p:cNvSpPr>
            <a:spLocks noChangeArrowheads="1"/>
          </p:cNvSpPr>
          <p:nvPr/>
        </p:nvSpPr>
        <p:spPr bwMode="auto">
          <a:xfrm>
            <a:off x="838200" y="1905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spTree>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7603" name="Rectangle 51"/>
          <p:cNvSpPr>
            <a:spLocks noChangeArrowheads="1"/>
          </p:cNvSpPr>
          <p:nvPr/>
        </p:nvSpPr>
        <p:spPr bwMode="auto">
          <a:xfrm>
            <a:off x="925513" y="2286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67587" name="Group 6"/>
          <p:cNvGrpSpPr/>
          <p:nvPr/>
        </p:nvGrpSpPr>
        <p:grpSpPr>
          <a:xfrm>
            <a:off x="1231900" y="3529013"/>
            <a:ext cx="6781800" cy="533400"/>
            <a:chOff x="1200" y="2928"/>
            <a:chExt cx="4272" cy="336"/>
          </a:xfrm>
        </p:grpSpPr>
        <p:sp>
          <p:nvSpPr>
            <p:cNvPr id="50"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7588" name="Group 16"/>
          <p:cNvGrpSpPr/>
          <p:nvPr/>
        </p:nvGrpSpPr>
        <p:grpSpPr>
          <a:xfrm>
            <a:off x="1231900" y="2462213"/>
            <a:ext cx="6781800" cy="533400"/>
            <a:chOff x="1200" y="2928"/>
            <a:chExt cx="4272" cy="336"/>
          </a:xfrm>
        </p:grpSpPr>
        <p:sp>
          <p:nvSpPr>
            <p:cNvPr id="60"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1"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69"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0"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1"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1"/>
          <p:cNvSpPr txBox="1">
            <a:spLocks noChangeArrowheads="1"/>
          </p:cNvSpPr>
          <p:nvPr/>
        </p:nvSpPr>
        <p:spPr bwMode="auto">
          <a:xfrm>
            <a:off x="3760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5" name="Text Box 32"/>
          <p:cNvSpPr txBox="1">
            <a:spLocks noChangeArrowheads="1"/>
          </p:cNvSpPr>
          <p:nvPr/>
        </p:nvSpPr>
        <p:spPr bwMode="auto">
          <a:xfrm>
            <a:off x="4522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6"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7"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6"/>
          <p:cNvSpPr txBox="1">
            <a:spLocks noChangeArrowheads="1"/>
          </p:cNvSpPr>
          <p:nvPr/>
        </p:nvSpPr>
        <p:spPr bwMode="auto">
          <a:xfrm>
            <a:off x="5970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1"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9"/>
          <p:cNvSpPr txBox="1">
            <a:spLocks noChangeArrowheads="1"/>
          </p:cNvSpPr>
          <p:nvPr/>
        </p:nvSpPr>
        <p:spPr bwMode="auto">
          <a:xfrm>
            <a:off x="67325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3"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67605" name="Group 42"/>
          <p:cNvGrpSpPr/>
          <p:nvPr/>
        </p:nvGrpSpPr>
        <p:grpSpPr>
          <a:xfrm>
            <a:off x="6948488" y="4194175"/>
            <a:ext cx="1092200" cy="698500"/>
            <a:chOff x="2588" y="3474"/>
            <a:chExt cx="529" cy="440"/>
          </a:xfrm>
        </p:grpSpPr>
        <p:sp>
          <p:nvSpPr>
            <p:cNvPr id="86"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7"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67606" name="Group 45"/>
          <p:cNvGrpSpPr/>
          <p:nvPr/>
        </p:nvGrpSpPr>
        <p:grpSpPr>
          <a:xfrm>
            <a:off x="1835150" y="4113213"/>
            <a:ext cx="776288" cy="701675"/>
            <a:chOff x="1803" y="3472"/>
            <a:chExt cx="376" cy="442"/>
          </a:xfrm>
        </p:grpSpPr>
        <p:sp>
          <p:nvSpPr>
            <p:cNvPr id="89"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1"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2"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3"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27"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68611" name="Group 6"/>
          <p:cNvGrpSpPr/>
          <p:nvPr/>
        </p:nvGrpSpPr>
        <p:grpSpPr>
          <a:xfrm>
            <a:off x="1231900" y="3529013"/>
            <a:ext cx="6781800" cy="533400"/>
            <a:chOff x="1200" y="2928"/>
            <a:chExt cx="4272" cy="336"/>
          </a:xfrm>
        </p:grpSpPr>
        <p:sp>
          <p:nvSpPr>
            <p:cNvPr id="95"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7"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8"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9"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0"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1"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3"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8612" name="Group 16"/>
          <p:cNvGrpSpPr/>
          <p:nvPr/>
        </p:nvGrpSpPr>
        <p:grpSpPr>
          <a:xfrm>
            <a:off x="1231900" y="2462213"/>
            <a:ext cx="6781800" cy="533400"/>
            <a:chOff x="1200" y="2928"/>
            <a:chExt cx="4272" cy="336"/>
          </a:xfrm>
        </p:grpSpPr>
        <p:sp>
          <p:nvSpPr>
            <p:cNvPr id="105"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06"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7"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9"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1"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2"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3"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4"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115"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6"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7"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118"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119" name="Text Box 31"/>
          <p:cNvSpPr txBox="1">
            <a:spLocks noChangeArrowheads="1"/>
          </p:cNvSpPr>
          <p:nvPr/>
        </p:nvSpPr>
        <p:spPr bwMode="auto">
          <a:xfrm>
            <a:off x="3760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20" name="Text Box 32"/>
          <p:cNvSpPr txBox="1">
            <a:spLocks noChangeArrowheads="1"/>
          </p:cNvSpPr>
          <p:nvPr/>
        </p:nvSpPr>
        <p:spPr bwMode="auto">
          <a:xfrm>
            <a:off x="4522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21"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22"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23"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24" name="Text Box 36"/>
          <p:cNvSpPr txBox="1">
            <a:spLocks noChangeArrowheads="1"/>
          </p:cNvSpPr>
          <p:nvPr/>
        </p:nvSpPr>
        <p:spPr bwMode="auto">
          <a:xfrm>
            <a:off x="5970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25"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126"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127" name="Text Box 39"/>
          <p:cNvSpPr txBox="1">
            <a:spLocks noChangeArrowheads="1"/>
          </p:cNvSpPr>
          <p:nvPr/>
        </p:nvSpPr>
        <p:spPr bwMode="auto">
          <a:xfrm>
            <a:off x="2252663" y="35734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128"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29"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68629" name="Group 42"/>
          <p:cNvGrpSpPr/>
          <p:nvPr/>
        </p:nvGrpSpPr>
        <p:grpSpPr>
          <a:xfrm>
            <a:off x="6948488" y="4116388"/>
            <a:ext cx="1092200" cy="698500"/>
            <a:chOff x="2588" y="3474"/>
            <a:chExt cx="529" cy="440"/>
          </a:xfrm>
        </p:grpSpPr>
        <p:sp>
          <p:nvSpPr>
            <p:cNvPr id="131"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132"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68630" name="Group 45"/>
          <p:cNvGrpSpPr/>
          <p:nvPr/>
        </p:nvGrpSpPr>
        <p:grpSpPr>
          <a:xfrm>
            <a:off x="1835150" y="4113213"/>
            <a:ext cx="776288" cy="701675"/>
            <a:chOff x="1803" y="3472"/>
            <a:chExt cx="376" cy="442"/>
          </a:xfrm>
        </p:grpSpPr>
        <p:sp>
          <p:nvSpPr>
            <p:cNvPr id="134"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5"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136"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37"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138"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634" name="Group 6"/>
          <p:cNvGrpSpPr/>
          <p:nvPr/>
        </p:nvGrpSpPr>
        <p:grpSpPr>
          <a:xfrm>
            <a:off x="1231900" y="3529013"/>
            <a:ext cx="6781800" cy="533400"/>
            <a:chOff x="1200" y="2928"/>
            <a:chExt cx="4272" cy="336"/>
          </a:xfrm>
        </p:grpSpPr>
        <p:sp>
          <p:nvSpPr>
            <p:cNvPr id="50"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9635" name="Group 16"/>
          <p:cNvGrpSpPr/>
          <p:nvPr/>
        </p:nvGrpSpPr>
        <p:grpSpPr>
          <a:xfrm>
            <a:off x="1231900" y="2462213"/>
            <a:ext cx="6781800" cy="533400"/>
            <a:chOff x="1200" y="2928"/>
            <a:chExt cx="4272" cy="336"/>
          </a:xfrm>
        </p:grpSpPr>
        <p:sp>
          <p:nvSpPr>
            <p:cNvPr id="60"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1"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69"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0"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1"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1"/>
          <p:cNvSpPr txBox="1">
            <a:spLocks noChangeArrowheads="1"/>
          </p:cNvSpPr>
          <p:nvPr/>
        </p:nvSpPr>
        <p:spPr bwMode="auto">
          <a:xfrm>
            <a:off x="3760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5" name="Text Box 32"/>
          <p:cNvSpPr txBox="1">
            <a:spLocks noChangeArrowheads="1"/>
          </p:cNvSpPr>
          <p:nvPr/>
        </p:nvSpPr>
        <p:spPr bwMode="auto">
          <a:xfrm>
            <a:off x="4522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6"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7"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6"/>
          <p:cNvSpPr txBox="1">
            <a:spLocks noChangeArrowheads="1"/>
          </p:cNvSpPr>
          <p:nvPr/>
        </p:nvSpPr>
        <p:spPr bwMode="auto">
          <a:xfrm>
            <a:off x="5970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1"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3"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69652" name="Group 42"/>
          <p:cNvGrpSpPr/>
          <p:nvPr/>
        </p:nvGrpSpPr>
        <p:grpSpPr>
          <a:xfrm>
            <a:off x="6948488" y="4132263"/>
            <a:ext cx="1092200" cy="698500"/>
            <a:chOff x="2588" y="3474"/>
            <a:chExt cx="529" cy="440"/>
          </a:xfrm>
        </p:grpSpPr>
        <p:sp>
          <p:nvSpPr>
            <p:cNvPr id="86"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7"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69653" name="Group 45"/>
          <p:cNvGrpSpPr/>
          <p:nvPr/>
        </p:nvGrpSpPr>
        <p:grpSpPr>
          <a:xfrm>
            <a:off x="2509838" y="4129088"/>
            <a:ext cx="774700" cy="701675"/>
            <a:chOff x="1803" y="3472"/>
            <a:chExt cx="376" cy="442"/>
          </a:xfrm>
        </p:grpSpPr>
        <p:sp>
          <p:nvSpPr>
            <p:cNvPr id="89"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1"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2"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3"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spTree>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0659"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0660"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3760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4522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5970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0677" name="Group 42"/>
          <p:cNvGrpSpPr/>
          <p:nvPr/>
        </p:nvGrpSpPr>
        <p:grpSpPr>
          <a:xfrm>
            <a:off x="6948488" y="4132263"/>
            <a:ext cx="1092200"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0678" name="Group 45"/>
          <p:cNvGrpSpPr/>
          <p:nvPr/>
        </p:nvGrpSpPr>
        <p:grpSpPr>
          <a:xfrm>
            <a:off x="3321050" y="4132263"/>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1683"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1684"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4522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5970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1701" name="Group 42"/>
          <p:cNvGrpSpPr/>
          <p:nvPr/>
        </p:nvGrpSpPr>
        <p:grpSpPr>
          <a:xfrm>
            <a:off x="6948488" y="4132263"/>
            <a:ext cx="1092200"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1702" name="Group 45"/>
          <p:cNvGrpSpPr/>
          <p:nvPr/>
        </p:nvGrpSpPr>
        <p:grpSpPr>
          <a:xfrm>
            <a:off x="3321050" y="4132263"/>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2707"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2708"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4522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5970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2725" name="Group 42"/>
          <p:cNvGrpSpPr/>
          <p:nvPr/>
        </p:nvGrpSpPr>
        <p:grpSpPr>
          <a:xfrm>
            <a:off x="6165850" y="4137025"/>
            <a:ext cx="1090613"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2726" name="Group 45"/>
          <p:cNvGrpSpPr/>
          <p:nvPr/>
        </p:nvGrpSpPr>
        <p:grpSpPr>
          <a:xfrm>
            <a:off x="3321050" y="4132263"/>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3731"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3732"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4522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3792538"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3749" name="Group 42"/>
          <p:cNvGrpSpPr/>
          <p:nvPr/>
        </p:nvGrpSpPr>
        <p:grpSpPr>
          <a:xfrm>
            <a:off x="6165850" y="4137025"/>
            <a:ext cx="1090613"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3750" name="Group 45"/>
          <p:cNvGrpSpPr/>
          <p:nvPr/>
        </p:nvGrpSpPr>
        <p:grpSpPr>
          <a:xfrm>
            <a:off x="3321050" y="4132263"/>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4755"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4756"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4522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3792538"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4773" name="Group 42"/>
          <p:cNvGrpSpPr/>
          <p:nvPr/>
        </p:nvGrpSpPr>
        <p:grpSpPr>
          <a:xfrm>
            <a:off x="6165850" y="4137025"/>
            <a:ext cx="1090613"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4774" name="Group 45"/>
          <p:cNvGrpSpPr/>
          <p:nvPr/>
        </p:nvGrpSpPr>
        <p:grpSpPr>
          <a:xfrm>
            <a:off x="3968750" y="4184650"/>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5779"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5780"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3792538"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5797" name="Group 42"/>
          <p:cNvGrpSpPr/>
          <p:nvPr/>
        </p:nvGrpSpPr>
        <p:grpSpPr>
          <a:xfrm>
            <a:off x="6165850" y="4137025"/>
            <a:ext cx="1090613"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5798" name="Group 45"/>
          <p:cNvGrpSpPr/>
          <p:nvPr/>
        </p:nvGrpSpPr>
        <p:grpSpPr>
          <a:xfrm>
            <a:off x="3968750" y="4184650"/>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6803"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6804"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3792538"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6821" name="Group 42"/>
          <p:cNvGrpSpPr/>
          <p:nvPr/>
        </p:nvGrpSpPr>
        <p:grpSpPr>
          <a:xfrm>
            <a:off x="5529263" y="4203700"/>
            <a:ext cx="1090612"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6822" name="Group 45"/>
          <p:cNvGrpSpPr/>
          <p:nvPr/>
        </p:nvGrpSpPr>
        <p:grpSpPr>
          <a:xfrm>
            <a:off x="3968750" y="4184650"/>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7827"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7828"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3792538"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7845" name="Group 42"/>
          <p:cNvGrpSpPr/>
          <p:nvPr/>
        </p:nvGrpSpPr>
        <p:grpSpPr>
          <a:xfrm>
            <a:off x="4967288" y="4189413"/>
            <a:ext cx="1092200"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7846" name="Group 45"/>
          <p:cNvGrpSpPr/>
          <p:nvPr/>
        </p:nvGrpSpPr>
        <p:grpSpPr>
          <a:xfrm>
            <a:off x="3968750" y="4184650"/>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1398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8851"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8852"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3792538"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2844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8869" name="Group 42"/>
          <p:cNvGrpSpPr/>
          <p:nvPr/>
        </p:nvGrpSpPr>
        <p:grpSpPr>
          <a:xfrm>
            <a:off x="4967288" y="4189413"/>
            <a:ext cx="1092200"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8870" name="Group 45"/>
          <p:cNvGrpSpPr/>
          <p:nvPr/>
        </p:nvGrpSpPr>
        <p:grpSpPr>
          <a:xfrm>
            <a:off x="3968750" y="4184650"/>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6068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79875"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9876"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639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3792538"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1436688" y="35956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98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79893" name="Group 42"/>
          <p:cNvGrpSpPr/>
          <p:nvPr/>
        </p:nvGrpSpPr>
        <p:grpSpPr>
          <a:xfrm>
            <a:off x="4019550" y="4170363"/>
            <a:ext cx="1090613"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79894" name="Group 45"/>
          <p:cNvGrpSpPr/>
          <p:nvPr/>
        </p:nvGrpSpPr>
        <p:grpSpPr>
          <a:xfrm>
            <a:off x="1741488" y="4143375"/>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6068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80899"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0900"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14366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80917" name="Group 42"/>
          <p:cNvGrpSpPr/>
          <p:nvPr/>
        </p:nvGrpSpPr>
        <p:grpSpPr>
          <a:xfrm>
            <a:off x="4019550" y="4170363"/>
            <a:ext cx="1090613"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80918" name="Group 45"/>
          <p:cNvGrpSpPr/>
          <p:nvPr/>
        </p:nvGrpSpPr>
        <p:grpSpPr>
          <a:xfrm>
            <a:off x="1741488" y="4143375"/>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81923"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1924"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29987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14366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81941" name="Group 42"/>
          <p:cNvGrpSpPr/>
          <p:nvPr/>
        </p:nvGrpSpPr>
        <p:grpSpPr>
          <a:xfrm>
            <a:off x="4019550" y="4170363"/>
            <a:ext cx="1090613"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81942" name="Group 45"/>
          <p:cNvGrpSpPr/>
          <p:nvPr/>
        </p:nvGrpSpPr>
        <p:grpSpPr>
          <a:xfrm>
            <a:off x="2444750" y="4167188"/>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82947"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2948"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14366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82965" name="Group 42"/>
          <p:cNvGrpSpPr/>
          <p:nvPr/>
        </p:nvGrpSpPr>
        <p:grpSpPr>
          <a:xfrm>
            <a:off x="3390900" y="4167188"/>
            <a:ext cx="1092200"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82966" name="Group 45"/>
          <p:cNvGrpSpPr/>
          <p:nvPr/>
        </p:nvGrpSpPr>
        <p:grpSpPr>
          <a:xfrm>
            <a:off x="2444750" y="4167188"/>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83971"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3972"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52847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83989" name="Group 42"/>
          <p:cNvGrpSpPr/>
          <p:nvPr/>
        </p:nvGrpSpPr>
        <p:grpSpPr>
          <a:xfrm>
            <a:off x="3390900" y="4167188"/>
            <a:ext cx="1092200" cy="698500"/>
            <a:chOff x="2588" y="3474"/>
            <a:chExt cx="529"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38"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83990" name="Group 45"/>
          <p:cNvGrpSpPr/>
          <p:nvPr/>
        </p:nvGrpSpPr>
        <p:grpSpPr>
          <a:xfrm>
            <a:off x="2444750" y="4167188"/>
            <a:ext cx="774700" cy="701675"/>
            <a:chOff x="180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0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84995"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4996"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13763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74945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85013" name="Group 42"/>
          <p:cNvGrpSpPr/>
          <p:nvPr/>
        </p:nvGrpSpPr>
        <p:grpSpPr>
          <a:xfrm>
            <a:off x="7732713" y="4121150"/>
            <a:ext cx="1016000"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85014" name="Group 45"/>
          <p:cNvGrpSpPr/>
          <p:nvPr/>
        </p:nvGrpSpPr>
        <p:grpSpPr>
          <a:xfrm>
            <a:off x="4872038" y="4121150"/>
            <a:ext cx="776287"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86019"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6020"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13763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52197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86037" name="Group 42"/>
          <p:cNvGrpSpPr/>
          <p:nvPr/>
        </p:nvGrpSpPr>
        <p:grpSpPr>
          <a:xfrm>
            <a:off x="7732713" y="4121150"/>
            <a:ext cx="1016000"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86038" name="Group 45"/>
          <p:cNvGrpSpPr/>
          <p:nvPr/>
        </p:nvGrpSpPr>
        <p:grpSpPr>
          <a:xfrm>
            <a:off x="4872038" y="4121150"/>
            <a:ext cx="776287"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87043"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7044"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598805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13763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52197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87061" name="Group 42"/>
          <p:cNvGrpSpPr/>
          <p:nvPr/>
        </p:nvGrpSpPr>
        <p:grpSpPr>
          <a:xfrm>
            <a:off x="7732713" y="4121150"/>
            <a:ext cx="1016000"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87062" name="Group 45"/>
          <p:cNvGrpSpPr/>
          <p:nvPr/>
        </p:nvGrpSpPr>
        <p:grpSpPr>
          <a:xfrm>
            <a:off x="5549900" y="4121150"/>
            <a:ext cx="776288"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88067"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8068"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7472363" y="3589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13763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52197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88085" name="Group 42"/>
          <p:cNvGrpSpPr/>
          <p:nvPr/>
        </p:nvGrpSpPr>
        <p:grpSpPr>
          <a:xfrm>
            <a:off x="7732713" y="4121150"/>
            <a:ext cx="1016000"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88086" name="Group 45"/>
          <p:cNvGrpSpPr/>
          <p:nvPr/>
        </p:nvGrpSpPr>
        <p:grpSpPr>
          <a:xfrm>
            <a:off x="5549900" y="4121150"/>
            <a:ext cx="776288"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89091"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9092"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670401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7472363" y="3589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13763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52197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89109" name="Group 42"/>
          <p:cNvGrpSpPr/>
          <p:nvPr/>
        </p:nvGrpSpPr>
        <p:grpSpPr>
          <a:xfrm>
            <a:off x="7046913" y="4121150"/>
            <a:ext cx="1014412"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89110" name="Group 45"/>
          <p:cNvGrpSpPr/>
          <p:nvPr/>
        </p:nvGrpSpPr>
        <p:grpSpPr>
          <a:xfrm>
            <a:off x="5549900" y="4121150"/>
            <a:ext cx="776288"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90115"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0116"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5943600" y="35734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7472363" y="3589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13763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52197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90133" name="Group 42"/>
          <p:cNvGrpSpPr/>
          <p:nvPr/>
        </p:nvGrpSpPr>
        <p:grpSpPr>
          <a:xfrm>
            <a:off x="7046913" y="4121150"/>
            <a:ext cx="1014412"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90134" name="Group 45"/>
          <p:cNvGrpSpPr/>
          <p:nvPr/>
        </p:nvGrpSpPr>
        <p:grpSpPr>
          <a:xfrm>
            <a:off x="5549900" y="4121150"/>
            <a:ext cx="776288"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91139"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1140"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5943600" y="35734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7472363" y="3589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13763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52197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91157" name="Group 42"/>
          <p:cNvGrpSpPr/>
          <p:nvPr/>
        </p:nvGrpSpPr>
        <p:grpSpPr>
          <a:xfrm>
            <a:off x="7046913" y="4121150"/>
            <a:ext cx="1014412"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91158" name="Group 45"/>
          <p:cNvGrpSpPr/>
          <p:nvPr/>
        </p:nvGrpSpPr>
        <p:grpSpPr>
          <a:xfrm>
            <a:off x="6196013" y="4121150"/>
            <a:ext cx="776287"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92163"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2164"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5943600" y="35734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7472363" y="3589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6696075"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52197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92181" name="Group 42"/>
          <p:cNvGrpSpPr/>
          <p:nvPr/>
        </p:nvGrpSpPr>
        <p:grpSpPr>
          <a:xfrm>
            <a:off x="7046913" y="4121150"/>
            <a:ext cx="1014412"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92182" name="Group 45"/>
          <p:cNvGrpSpPr/>
          <p:nvPr/>
        </p:nvGrpSpPr>
        <p:grpSpPr>
          <a:xfrm>
            <a:off x="6196013" y="4121150"/>
            <a:ext cx="776287"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93187"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3188"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5943600" y="35734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7472363" y="3589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6696075"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1422400" y="35623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93205" name="Group 42"/>
          <p:cNvGrpSpPr/>
          <p:nvPr/>
        </p:nvGrpSpPr>
        <p:grpSpPr>
          <a:xfrm>
            <a:off x="6188075" y="4105275"/>
            <a:ext cx="1016000"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93206" name="Group 45"/>
          <p:cNvGrpSpPr/>
          <p:nvPr/>
        </p:nvGrpSpPr>
        <p:grpSpPr>
          <a:xfrm>
            <a:off x="4865688" y="4121150"/>
            <a:ext cx="776287"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94211"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4212"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5943600" y="35734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7472363" y="3589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6696075"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1422400" y="35623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94229" name="Group 42"/>
          <p:cNvGrpSpPr/>
          <p:nvPr/>
        </p:nvGrpSpPr>
        <p:grpSpPr>
          <a:xfrm>
            <a:off x="5641975" y="4124325"/>
            <a:ext cx="1014413"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94230" name="Group 45"/>
          <p:cNvGrpSpPr/>
          <p:nvPr/>
        </p:nvGrpSpPr>
        <p:grpSpPr>
          <a:xfrm>
            <a:off x="4865688" y="4121150"/>
            <a:ext cx="776287"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p:cNvSpPr>
            <a:spLocks noChangeArrowheads="1"/>
          </p:cNvSpPr>
          <p:nvPr/>
        </p:nvSpPr>
        <p:spPr bwMode="auto">
          <a:xfrm>
            <a:off x="838200" y="217488"/>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95235" name="Group 6"/>
          <p:cNvGrpSpPr/>
          <p:nvPr/>
        </p:nvGrpSpPr>
        <p:grpSpPr>
          <a:xfrm>
            <a:off x="1231900" y="3529013"/>
            <a:ext cx="6781800" cy="533400"/>
            <a:chOff x="1200" y="2928"/>
            <a:chExt cx="4272" cy="336"/>
          </a:xfrm>
        </p:grpSpPr>
        <p:sp>
          <p:nvSpPr>
            <p:cNvPr id="51" name="Rectangle 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Line 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Line 1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Line 1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Line 1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1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Line 1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5236" name="Group 16"/>
          <p:cNvGrpSpPr/>
          <p:nvPr/>
        </p:nvGrpSpPr>
        <p:grpSpPr>
          <a:xfrm>
            <a:off x="1231900" y="2462213"/>
            <a:ext cx="6781800" cy="533400"/>
            <a:chOff x="1200" y="2928"/>
            <a:chExt cx="4272" cy="336"/>
          </a:xfrm>
        </p:grpSpPr>
        <p:sp>
          <p:nvSpPr>
            <p:cNvPr id="61" name="Rectangle 17"/>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2" name="Line 18"/>
            <p:cNvSpPr>
              <a:spLocks noChangeShapeType="1"/>
            </p:cNvSpPr>
            <p:nvPr/>
          </p:nvSpPr>
          <p:spPr bwMode="auto">
            <a:xfrm>
              <a:off x="268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Line 19"/>
            <p:cNvSpPr>
              <a:spLocks noChangeShapeType="1"/>
            </p:cNvSpPr>
            <p:nvPr/>
          </p:nvSpPr>
          <p:spPr bwMode="auto">
            <a:xfrm>
              <a:off x="172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0"/>
            <p:cNvSpPr>
              <a:spLocks noChangeShapeType="1"/>
            </p:cNvSpPr>
            <p:nvPr/>
          </p:nvSpPr>
          <p:spPr bwMode="auto">
            <a:xfrm>
              <a:off x="220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21"/>
            <p:cNvSpPr>
              <a:spLocks noChangeShapeType="1"/>
            </p:cNvSpPr>
            <p:nvPr/>
          </p:nvSpPr>
          <p:spPr bwMode="auto">
            <a:xfrm>
              <a:off x="316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2"/>
            <p:cNvSpPr>
              <a:spLocks noChangeShapeType="1"/>
            </p:cNvSpPr>
            <p:nvPr/>
          </p:nvSpPr>
          <p:spPr bwMode="auto">
            <a:xfrm>
              <a:off x="3648"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23"/>
            <p:cNvSpPr>
              <a:spLocks noChangeShapeType="1"/>
            </p:cNvSpPr>
            <p:nvPr/>
          </p:nvSpPr>
          <p:spPr bwMode="auto">
            <a:xfrm>
              <a:off x="408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Line 24"/>
            <p:cNvSpPr>
              <a:spLocks noChangeShapeType="1"/>
            </p:cNvSpPr>
            <p:nvPr/>
          </p:nvSpPr>
          <p:spPr bwMode="auto">
            <a:xfrm>
              <a:off x="456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25"/>
            <p:cNvSpPr>
              <a:spLocks noChangeShapeType="1"/>
            </p:cNvSpPr>
            <p:nvPr/>
          </p:nvSpPr>
          <p:spPr bwMode="auto">
            <a:xfrm>
              <a:off x="5040" y="2928"/>
              <a:ext cx="0" cy="336"/>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 name="Text Box 26"/>
          <p:cNvSpPr txBox="1">
            <a:spLocks noChangeArrowheads="1"/>
          </p:cNvSpPr>
          <p:nvPr/>
        </p:nvSpPr>
        <p:spPr bwMode="auto">
          <a:xfrm>
            <a:off x="1231900" y="2081213"/>
            <a:ext cx="67818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0          1          2          3	         4          5         6          7         8</a:t>
            </a:r>
          </a:p>
        </p:txBody>
      </p:sp>
      <p:sp>
        <p:nvSpPr>
          <p:cNvPr id="71" name="Text Box 27"/>
          <p:cNvSpPr txBox="1">
            <a:spLocks noChangeArrowheads="1"/>
          </p:cNvSpPr>
          <p:nvPr/>
        </p:nvSpPr>
        <p:spPr bwMode="auto">
          <a:xfrm>
            <a:off x="22352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2" name="Text Box 28"/>
          <p:cNvSpPr txBox="1">
            <a:spLocks noChangeArrowheads="1"/>
          </p:cNvSpPr>
          <p:nvPr/>
        </p:nvSpPr>
        <p:spPr bwMode="auto">
          <a:xfrm>
            <a:off x="3708400"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3" name="Text Box 29"/>
          <p:cNvSpPr txBox="1">
            <a:spLocks noChangeArrowheads="1"/>
          </p:cNvSpPr>
          <p:nvPr/>
        </p:nvSpPr>
        <p:spPr bwMode="auto">
          <a:xfrm>
            <a:off x="2984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38</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4" name="Text Box 30"/>
          <p:cNvSpPr txBox="1">
            <a:spLocks noChangeArrowheads="1"/>
          </p:cNvSpPr>
          <p:nvPr/>
        </p:nvSpPr>
        <p:spPr bwMode="auto">
          <a:xfrm>
            <a:off x="37465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5" name="Text Box 31"/>
          <p:cNvSpPr txBox="1">
            <a:spLocks noChangeArrowheads="1"/>
          </p:cNvSpPr>
          <p:nvPr/>
        </p:nvSpPr>
        <p:spPr bwMode="auto">
          <a:xfrm>
            <a:off x="5943600" y="35734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 name="Text Box 32"/>
          <p:cNvSpPr txBox="1">
            <a:spLocks noChangeArrowheads="1"/>
          </p:cNvSpPr>
          <p:nvPr/>
        </p:nvSpPr>
        <p:spPr bwMode="auto">
          <a:xfrm>
            <a:off x="7472363" y="3589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 name="Text Box 33"/>
          <p:cNvSpPr txBox="1">
            <a:spLocks noChangeArrowheads="1"/>
          </p:cNvSpPr>
          <p:nvPr/>
        </p:nvSpPr>
        <p:spPr bwMode="auto">
          <a:xfrm>
            <a:off x="44831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8" name="Text Box 34"/>
          <p:cNvSpPr txBox="1">
            <a:spLocks noChangeArrowheads="1"/>
          </p:cNvSpPr>
          <p:nvPr/>
        </p:nvSpPr>
        <p:spPr bwMode="auto">
          <a:xfrm>
            <a:off x="52197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79" name="Text Box 35"/>
          <p:cNvSpPr txBox="1">
            <a:spLocks noChangeArrowheads="1"/>
          </p:cNvSpPr>
          <p:nvPr/>
        </p:nvSpPr>
        <p:spPr bwMode="auto">
          <a:xfrm>
            <a:off x="6696075"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0" name="Text Box 36"/>
          <p:cNvSpPr txBox="1">
            <a:spLocks noChangeArrowheads="1"/>
          </p:cNvSpPr>
          <p:nvPr/>
        </p:nvSpPr>
        <p:spPr bwMode="auto">
          <a:xfrm>
            <a:off x="22399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81" name="Text Box 37"/>
          <p:cNvSpPr txBox="1">
            <a:spLocks noChangeArrowheads="1"/>
          </p:cNvSpPr>
          <p:nvPr/>
        </p:nvSpPr>
        <p:spPr bwMode="auto">
          <a:xfrm>
            <a:off x="5956300"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2" name="Text Box 38"/>
          <p:cNvSpPr txBox="1">
            <a:spLocks noChangeArrowheads="1"/>
          </p:cNvSpPr>
          <p:nvPr/>
        </p:nvSpPr>
        <p:spPr bwMode="auto">
          <a:xfrm>
            <a:off x="6694488" y="25368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3" name="Text Box 39"/>
          <p:cNvSpPr txBox="1">
            <a:spLocks noChangeArrowheads="1"/>
          </p:cNvSpPr>
          <p:nvPr/>
        </p:nvSpPr>
        <p:spPr bwMode="auto">
          <a:xfrm>
            <a:off x="2986088"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27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4" name="Text Box 40"/>
          <p:cNvSpPr txBox="1">
            <a:spLocks noChangeArrowheads="1"/>
          </p:cNvSpPr>
          <p:nvPr/>
        </p:nvSpPr>
        <p:spPr bwMode="auto">
          <a:xfrm>
            <a:off x="5219700" y="35877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85" name="Text Box 41"/>
          <p:cNvSpPr txBox="1">
            <a:spLocks noChangeArrowheads="1"/>
          </p:cNvSpPr>
          <p:nvPr/>
        </p:nvSpPr>
        <p:spPr bwMode="auto">
          <a:xfrm>
            <a:off x="7416800" y="25241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grpSp>
        <p:nvGrpSpPr>
          <p:cNvPr id="95253" name="Group 42"/>
          <p:cNvGrpSpPr/>
          <p:nvPr/>
        </p:nvGrpSpPr>
        <p:grpSpPr>
          <a:xfrm>
            <a:off x="5641975" y="4124325"/>
            <a:ext cx="1014413" cy="698500"/>
            <a:chOff x="2588" y="3474"/>
            <a:chExt cx="492" cy="440"/>
          </a:xfrm>
        </p:grpSpPr>
        <p:sp>
          <p:nvSpPr>
            <p:cNvPr id="87" name="Line 43"/>
            <p:cNvSpPr>
              <a:spLocks noChangeShapeType="1"/>
            </p:cNvSpPr>
            <p:nvPr/>
          </p:nvSpPr>
          <p:spPr bwMode="auto">
            <a:xfrm rot="10817905">
              <a:off x="2588" y="3474"/>
              <a:ext cx="1"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88" name="Text Box 44"/>
            <p:cNvSpPr txBox="1">
              <a:spLocks noChangeArrowheads="1"/>
            </p:cNvSpPr>
            <p:nvPr/>
          </p:nvSpPr>
          <p:spPr bwMode="auto">
            <a:xfrm>
              <a:off x="2601" y="3623"/>
              <a:ext cx="479" cy="291"/>
            </a:xfrm>
            <a:prstGeom prst="rect">
              <a:avLst/>
            </a:prstGeom>
            <a:no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high</a:t>
              </a:r>
            </a:p>
          </p:txBody>
        </p:sp>
      </p:grpSp>
      <p:grpSp>
        <p:nvGrpSpPr>
          <p:cNvPr id="95254" name="Group 45"/>
          <p:cNvGrpSpPr/>
          <p:nvPr/>
        </p:nvGrpSpPr>
        <p:grpSpPr>
          <a:xfrm>
            <a:off x="4865688" y="4121150"/>
            <a:ext cx="776287" cy="701675"/>
            <a:chOff x="1863" y="3472"/>
            <a:chExt cx="376" cy="442"/>
          </a:xfrm>
        </p:grpSpPr>
        <p:sp>
          <p:nvSpPr>
            <p:cNvPr id="90" name="Line 46"/>
            <p:cNvSpPr>
              <a:spLocks noChangeShapeType="1"/>
            </p:cNvSpPr>
            <p:nvPr/>
          </p:nvSpPr>
          <p:spPr bwMode="auto">
            <a:xfrm rot="10817905">
              <a:off x="2177" y="3472"/>
              <a:ext cx="2" cy="384"/>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 name="Text Box 47"/>
            <p:cNvSpPr txBox="1">
              <a:spLocks noChangeArrowheads="1"/>
            </p:cNvSpPr>
            <p:nvPr/>
          </p:nvSpPr>
          <p:spPr bwMode="auto">
            <a:xfrm>
              <a:off x="1863" y="3623"/>
              <a:ext cx="376" cy="291"/>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low</a:t>
              </a:r>
            </a:p>
          </p:txBody>
        </p:sp>
      </p:grpSp>
      <p:sp>
        <p:nvSpPr>
          <p:cNvPr id="92" name="Text Box 48"/>
          <p:cNvSpPr txBox="1">
            <a:spLocks noChangeArrowheads="1"/>
          </p:cNvSpPr>
          <p:nvPr/>
        </p:nvSpPr>
        <p:spPr bwMode="auto">
          <a:xfrm>
            <a:off x="4538663" y="35766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 name="Text Box 49"/>
          <p:cNvSpPr txBox="1">
            <a:spLocks noChangeArrowheads="1"/>
          </p:cNvSpPr>
          <p:nvPr/>
        </p:nvSpPr>
        <p:spPr bwMode="auto">
          <a:xfrm>
            <a:off x="341313" y="4322763"/>
            <a:ext cx="8905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界点</a:t>
            </a:r>
          </a:p>
        </p:txBody>
      </p:sp>
      <p:sp>
        <p:nvSpPr>
          <p:cNvPr id="94" name="Line 50"/>
          <p:cNvSpPr>
            <a:spLocks noChangeShapeType="1"/>
          </p:cNvSpPr>
          <p:nvPr/>
        </p:nvSpPr>
        <p:spPr bwMode="auto">
          <a:xfrm flipV="1">
            <a:off x="1231900" y="4105275"/>
            <a:ext cx="252413" cy="490538"/>
          </a:xfrm>
          <a:prstGeom prst="line">
            <a:avLst/>
          </a:prstGeom>
          <a:noFill/>
          <a:ln w="3810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8277" name="Rectangle 5"/>
          <p:cNvSpPr>
            <a:spLocks noChangeArrowheads="1"/>
          </p:cNvSpPr>
          <p:nvPr/>
        </p:nvSpPr>
        <p:spPr bwMode="auto">
          <a:xfrm>
            <a:off x="900113" y="2286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grpSp>
        <p:nvGrpSpPr>
          <p:cNvPr id="6" name="组合 5"/>
          <p:cNvGrpSpPr/>
          <p:nvPr/>
        </p:nvGrpSpPr>
        <p:grpSpPr>
          <a:xfrm>
            <a:off x="833438" y="1638300"/>
            <a:ext cx="3159125" cy="4175125"/>
            <a:chOff x="1348060" y="2019300"/>
            <a:chExt cx="3158850" cy="4174844"/>
          </a:xfrm>
        </p:grpSpPr>
        <p:sp>
          <p:nvSpPr>
            <p:cNvPr id="7" name="îṣļîḑé-Rounded Rectangle 6"/>
            <p:cNvSpPr/>
            <p:nvPr/>
          </p:nvSpPr>
          <p:spPr>
            <a:xfrm>
              <a:off x="1348060" y="2019300"/>
              <a:ext cx="3122340" cy="4174844"/>
            </a:xfrm>
            <a:prstGeom prst="roundRect">
              <a:avLst>
                <a:gd name="adj" fmla="val 12936"/>
              </a:avLst>
            </a:prstGeom>
            <a:solidFill>
              <a:sysClr val="window" lastClr="FFFFFF">
                <a:lumMod val="95000"/>
              </a:sysClr>
            </a:solidFill>
            <a:ln w="25400" cap="flat" cmpd="sng" algn="ctr">
              <a:noFill/>
              <a:prstDash val="solid"/>
            </a:ln>
            <a:effectLst/>
          </p:spPr>
          <p:txBody>
            <a:bodyPr tIns="2628000" anchorCtr="1">
              <a:normAutofit/>
            </a:bodyPr>
            <a:lstStyle/>
            <a:p>
              <a:pPr marL="0" marR="0" lvl="0" indent="0" algn="ctr" defTabSz="914400" rtl="0" eaLnBrk="1" fontAlgn="auto" latinLnBrk="0" hangingPunct="1">
                <a:lnSpc>
                  <a:spcPct val="120000"/>
                </a:lnSpc>
                <a:spcBef>
                  <a:spcPts val="0"/>
                </a:spcBef>
                <a:spcAft>
                  <a:spcPts val="0"/>
                </a:spcAft>
                <a:buClrTx/>
                <a:buSzTx/>
                <a:buFont typeface="Arial" panose="020B0604020202020204" pitchFamily="34" charset="0"/>
                <a:buNone/>
                <a:defRPr/>
              </a:pPr>
              <a:endParaRPr kumimoji="0" lang="zh-CN" altLang="en-US" sz="1100" b="0" i="0" u="none" strike="noStrike" kern="0" cap="none" spc="0" normalizeH="0" baseline="0" noProof="0" dirty="0">
                <a:ln>
                  <a:noFill/>
                </a:ln>
                <a:solidFill>
                  <a:prstClr val="black"/>
                </a:solidFill>
                <a:effectLst/>
                <a:uLnTx/>
                <a:uFillTx/>
                <a:latin typeface="+mn-lt"/>
                <a:ea typeface="+mn-ea"/>
                <a:cs typeface="+mn-ea"/>
                <a:sym typeface="+mn-lt"/>
              </a:endParaRPr>
            </a:p>
          </p:txBody>
        </p:sp>
        <p:sp>
          <p:nvSpPr>
            <p:cNvPr id="8" name="îṣļîḑé-Oval 7"/>
            <p:cNvSpPr/>
            <p:nvPr/>
          </p:nvSpPr>
          <p:spPr>
            <a:xfrm>
              <a:off x="1952844" y="2385988"/>
              <a:ext cx="1733399" cy="1733433"/>
            </a:xfrm>
            <a:prstGeom prst="ellipse">
              <a:avLst/>
            </a:prstGeom>
            <a:solidFill>
              <a:srgbClr val="4F81BD"/>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9" name="îṣļîḑé-Oval 8"/>
            <p:cNvSpPr/>
            <p:nvPr/>
          </p:nvSpPr>
          <p:spPr>
            <a:xfrm>
              <a:off x="3192574" y="2287570"/>
              <a:ext cx="493669" cy="493679"/>
            </a:xfrm>
            <a:prstGeom prst="ellipse">
              <a:avLst/>
            </a:prstGeom>
            <a:solidFill>
              <a:srgbClr val="4F81BD">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r>
                <a:rPr kumimoji="0" lang="en-US" sz="1800" b="0" i="0" u="none" strike="noStrike" kern="0" cap="none" spc="0" normalizeH="0" baseline="0" noProof="0" dirty="0">
                  <a:ln>
                    <a:noFill/>
                  </a:ln>
                  <a:solidFill>
                    <a:prstClr val="white"/>
                  </a:solidFill>
                  <a:effectLst/>
                  <a:uLnTx/>
                  <a:uFillTx/>
                  <a:latin typeface="+mn-lt"/>
                  <a:ea typeface="+mn-ea"/>
                  <a:cs typeface="+mn-ea"/>
                  <a:sym typeface="+mn-lt"/>
                </a:rPr>
                <a:t>A</a:t>
              </a:r>
              <a:endParaRPr kumimoji="0" sz="1800" b="0" i="0" u="none" strike="noStrike" kern="0" cap="none" spc="0" normalizeH="0" baseline="0" noProof="0" dirty="0">
                <a:ln>
                  <a:noFill/>
                </a:ln>
                <a:solidFill>
                  <a:prstClr val="white"/>
                </a:solidFill>
                <a:effectLst/>
                <a:uLnTx/>
                <a:uFillTx/>
                <a:latin typeface="+mn-lt"/>
                <a:ea typeface="+mn-ea"/>
                <a:cs typeface="+mn-ea"/>
                <a:sym typeface="+mn-lt"/>
              </a:endParaRPr>
            </a:p>
          </p:txBody>
        </p:sp>
        <p:sp>
          <p:nvSpPr>
            <p:cNvPr id="10" name="îṣļîḑé-Rectangle 11"/>
            <p:cNvSpPr/>
            <p:nvPr/>
          </p:nvSpPr>
          <p:spPr>
            <a:xfrm>
              <a:off x="1414729" y="4230539"/>
              <a:ext cx="3092181" cy="1747719"/>
            </a:xfrm>
            <a:prstGeom prst="rect">
              <a:avLst/>
            </a:prstGeom>
          </p:spPr>
          <p:txBody>
            <a:bodyPr wrap="none" lIns="0" tIns="0" rIns="0" bIns="0" anchor="ctr">
              <a:normAutofit/>
            </a:bodyPr>
            <a:lstStyle/>
            <a:p>
              <a:pPr marL="0" marR="0" lvl="0" indent="0" defTabSz="914400" rtl="0" eaLnBrk="1" fontAlgn="auto" latinLnBrk="0" hangingPunct="1">
                <a:lnSpc>
                  <a:spcPct val="135000"/>
                </a:lnSpc>
                <a:spcBef>
                  <a:spcPts val="0"/>
                </a:spcBef>
                <a:spcAft>
                  <a:spcPts val="0"/>
                </a:spcAft>
                <a:buClrTx/>
                <a:buSzTx/>
                <a:buFont typeface="Arial" panose="020B0604020202020204" pitchFamily="34" charset="0"/>
                <a:buNone/>
                <a:defRPr/>
              </a:pPr>
              <a:r>
                <a:rPr kumimoji="0" lang="zh-CN" altLang="en-US" sz="2400" b="0" i="0" u="none" strike="noStrike" kern="0" cap="none" spc="0" normalizeH="0" baseline="0" noProof="0" dirty="0">
                  <a:ln>
                    <a:noFill/>
                  </a:ln>
                  <a:solidFill>
                    <a:prstClr val="black"/>
                  </a:solidFill>
                  <a:effectLst/>
                  <a:uLnTx/>
                  <a:uFillTx/>
                  <a:latin typeface="+mn-lt"/>
                  <a:ea typeface="+mn-ea"/>
                  <a:cs typeface="+mn-ea"/>
                  <a:sym typeface="+mn-lt"/>
                </a:rPr>
                <a:t>每趟子表的形成从两头</a:t>
              </a:r>
              <a:endParaRPr kumimoji="0" lang="en-US" altLang="zh-CN" sz="2400" b="0" i="0" u="none" strike="noStrike" kern="0" cap="none" spc="0" normalizeH="0" baseline="0" noProof="0" dirty="0">
                <a:ln>
                  <a:noFill/>
                </a:ln>
                <a:solidFill>
                  <a:prstClr val="black"/>
                </a:solidFill>
                <a:effectLst/>
                <a:uLnTx/>
                <a:uFillTx/>
                <a:latin typeface="+mn-lt"/>
                <a:ea typeface="+mn-ea"/>
                <a:cs typeface="+mn-ea"/>
                <a:sym typeface="+mn-lt"/>
              </a:endParaRPr>
            </a:p>
            <a:p>
              <a:pPr marL="0" marR="0" lvl="0" indent="0" defTabSz="914400" rtl="0" eaLnBrk="1" fontAlgn="auto" latinLnBrk="0" hangingPunct="1">
                <a:lnSpc>
                  <a:spcPct val="135000"/>
                </a:lnSpc>
                <a:spcBef>
                  <a:spcPts val="0"/>
                </a:spcBef>
                <a:spcAft>
                  <a:spcPts val="0"/>
                </a:spcAft>
                <a:buClrTx/>
                <a:buSzTx/>
                <a:buFont typeface="Arial" panose="020B0604020202020204" pitchFamily="34" charset="0"/>
                <a:buNone/>
                <a:defRPr/>
              </a:pPr>
              <a:r>
                <a:rPr kumimoji="0" lang="zh-CN" altLang="en-US" sz="2400" b="0" i="0" u="none" strike="noStrike" kern="0" cap="none" spc="0" normalizeH="0" baseline="0" noProof="0" dirty="0">
                  <a:ln>
                    <a:noFill/>
                  </a:ln>
                  <a:solidFill>
                    <a:prstClr val="black"/>
                  </a:solidFill>
                  <a:effectLst/>
                  <a:uLnTx/>
                  <a:uFillTx/>
                  <a:latin typeface="+mn-lt"/>
                  <a:ea typeface="+mn-ea"/>
                  <a:cs typeface="+mn-ea"/>
                  <a:sym typeface="+mn-lt"/>
                </a:rPr>
                <a:t>向中间交替式逼近</a:t>
              </a:r>
            </a:p>
          </p:txBody>
        </p:sp>
        <p:sp>
          <p:nvSpPr>
            <p:cNvPr id="11" name="Freeform 23"/>
            <p:cNvSpPr>
              <a:spLocks noEditPoints="1"/>
            </p:cNvSpPr>
            <p:nvPr/>
          </p:nvSpPr>
          <p:spPr bwMode="auto">
            <a:xfrm>
              <a:off x="2398893" y="2925702"/>
              <a:ext cx="793681" cy="727026"/>
            </a:xfrm>
            <a:custGeom>
              <a:avLst/>
              <a:gdLst>
                <a:gd name="T0" fmla="*/ 239 w 267"/>
                <a:gd name="T1" fmla="*/ 44 h 245"/>
                <a:gd name="T2" fmla="*/ 200 w 267"/>
                <a:gd name="T3" fmla="*/ 44 h 245"/>
                <a:gd name="T4" fmla="*/ 200 w 267"/>
                <a:gd name="T5" fmla="*/ 39 h 245"/>
                <a:gd name="T6" fmla="*/ 161 w 267"/>
                <a:gd name="T7" fmla="*/ 0 h 245"/>
                <a:gd name="T8" fmla="*/ 106 w 267"/>
                <a:gd name="T9" fmla="*/ 0 h 245"/>
                <a:gd name="T10" fmla="*/ 67 w 267"/>
                <a:gd name="T11" fmla="*/ 39 h 245"/>
                <a:gd name="T12" fmla="*/ 67 w 267"/>
                <a:gd name="T13" fmla="*/ 44 h 245"/>
                <a:gd name="T14" fmla="*/ 28 w 267"/>
                <a:gd name="T15" fmla="*/ 44 h 245"/>
                <a:gd name="T16" fmla="*/ 0 w 267"/>
                <a:gd name="T17" fmla="*/ 72 h 245"/>
                <a:gd name="T18" fmla="*/ 0 w 267"/>
                <a:gd name="T19" fmla="*/ 207 h 245"/>
                <a:gd name="T20" fmla="*/ 25 w 267"/>
                <a:gd name="T21" fmla="*/ 235 h 245"/>
                <a:gd name="T22" fmla="*/ 25 w 267"/>
                <a:gd name="T23" fmla="*/ 238 h 245"/>
                <a:gd name="T24" fmla="*/ 33 w 267"/>
                <a:gd name="T25" fmla="*/ 245 h 245"/>
                <a:gd name="T26" fmla="*/ 46 w 267"/>
                <a:gd name="T27" fmla="*/ 245 h 245"/>
                <a:gd name="T28" fmla="*/ 54 w 267"/>
                <a:gd name="T29" fmla="*/ 238 h 245"/>
                <a:gd name="T30" fmla="*/ 53 w 267"/>
                <a:gd name="T31" fmla="*/ 235 h 245"/>
                <a:gd name="T32" fmla="*/ 214 w 267"/>
                <a:gd name="T33" fmla="*/ 235 h 245"/>
                <a:gd name="T34" fmla="*/ 214 w 267"/>
                <a:gd name="T35" fmla="*/ 238 h 245"/>
                <a:gd name="T36" fmla="*/ 221 w 267"/>
                <a:gd name="T37" fmla="*/ 245 h 245"/>
                <a:gd name="T38" fmla="*/ 235 w 267"/>
                <a:gd name="T39" fmla="*/ 245 h 245"/>
                <a:gd name="T40" fmla="*/ 243 w 267"/>
                <a:gd name="T41" fmla="*/ 238 h 245"/>
                <a:gd name="T42" fmla="*/ 242 w 267"/>
                <a:gd name="T43" fmla="*/ 235 h 245"/>
                <a:gd name="T44" fmla="*/ 267 w 267"/>
                <a:gd name="T45" fmla="*/ 207 h 245"/>
                <a:gd name="T46" fmla="*/ 267 w 267"/>
                <a:gd name="T47" fmla="*/ 72 h 245"/>
                <a:gd name="T48" fmla="*/ 239 w 267"/>
                <a:gd name="T49" fmla="*/ 44 h 245"/>
                <a:gd name="T50" fmla="*/ 216 w 267"/>
                <a:gd name="T51" fmla="*/ 53 h 245"/>
                <a:gd name="T52" fmla="*/ 229 w 267"/>
                <a:gd name="T53" fmla="*/ 53 h 245"/>
                <a:gd name="T54" fmla="*/ 229 w 267"/>
                <a:gd name="T55" fmla="*/ 222 h 245"/>
                <a:gd name="T56" fmla="*/ 216 w 267"/>
                <a:gd name="T57" fmla="*/ 222 h 245"/>
                <a:gd name="T58" fmla="*/ 216 w 267"/>
                <a:gd name="T59" fmla="*/ 53 h 245"/>
                <a:gd name="T60" fmla="*/ 89 w 267"/>
                <a:gd name="T61" fmla="*/ 39 h 245"/>
                <a:gd name="T62" fmla="*/ 106 w 267"/>
                <a:gd name="T63" fmla="*/ 21 h 245"/>
                <a:gd name="T64" fmla="*/ 161 w 267"/>
                <a:gd name="T65" fmla="*/ 21 h 245"/>
                <a:gd name="T66" fmla="*/ 179 w 267"/>
                <a:gd name="T67" fmla="*/ 39 h 245"/>
                <a:gd name="T68" fmla="*/ 179 w 267"/>
                <a:gd name="T69" fmla="*/ 44 h 245"/>
                <a:gd name="T70" fmla="*/ 89 w 267"/>
                <a:gd name="T71" fmla="*/ 44 h 245"/>
                <a:gd name="T72" fmla="*/ 89 w 267"/>
                <a:gd name="T73" fmla="*/ 39 h 245"/>
                <a:gd name="T74" fmla="*/ 38 w 267"/>
                <a:gd name="T75" fmla="*/ 53 h 245"/>
                <a:gd name="T76" fmla="*/ 52 w 267"/>
                <a:gd name="T77" fmla="*/ 53 h 245"/>
                <a:gd name="T78" fmla="*/ 52 w 267"/>
                <a:gd name="T79" fmla="*/ 222 h 245"/>
                <a:gd name="T80" fmla="*/ 38 w 267"/>
                <a:gd name="T81" fmla="*/ 222 h 245"/>
                <a:gd name="T82" fmla="*/ 38 w 267"/>
                <a:gd name="T83" fmla="*/ 5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7" h="245">
                  <a:moveTo>
                    <a:pt x="239" y="44"/>
                  </a:moveTo>
                  <a:cubicBezTo>
                    <a:pt x="200" y="44"/>
                    <a:pt x="200" y="44"/>
                    <a:pt x="200" y="44"/>
                  </a:cubicBezTo>
                  <a:cubicBezTo>
                    <a:pt x="200" y="39"/>
                    <a:pt x="200" y="39"/>
                    <a:pt x="200" y="39"/>
                  </a:cubicBezTo>
                  <a:cubicBezTo>
                    <a:pt x="200" y="17"/>
                    <a:pt x="182" y="0"/>
                    <a:pt x="161" y="0"/>
                  </a:cubicBezTo>
                  <a:cubicBezTo>
                    <a:pt x="106" y="0"/>
                    <a:pt x="106" y="0"/>
                    <a:pt x="106" y="0"/>
                  </a:cubicBezTo>
                  <a:cubicBezTo>
                    <a:pt x="85" y="0"/>
                    <a:pt x="67" y="17"/>
                    <a:pt x="67" y="39"/>
                  </a:cubicBezTo>
                  <a:cubicBezTo>
                    <a:pt x="67" y="44"/>
                    <a:pt x="67" y="44"/>
                    <a:pt x="67" y="44"/>
                  </a:cubicBezTo>
                  <a:cubicBezTo>
                    <a:pt x="28" y="44"/>
                    <a:pt x="28" y="44"/>
                    <a:pt x="28" y="44"/>
                  </a:cubicBezTo>
                  <a:cubicBezTo>
                    <a:pt x="13" y="44"/>
                    <a:pt x="0" y="56"/>
                    <a:pt x="0" y="72"/>
                  </a:cubicBezTo>
                  <a:cubicBezTo>
                    <a:pt x="0" y="207"/>
                    <a:pt x="0" y="207"/>
                    <a:pt x="0" y="207"/>
                  </a:cubicBezTo>
                  <a:cubicBezTo>
                    <a:pt x="0" y="222"/>
                    <a:pt x="11" y="234"/>
                    <a:pt x="25" y="235"/>
                  </a:cubicBezTo>
                  <a:cubicBezTo>
                    <a:pt x="25" y="236"/>
                    <a:pt x="25" y="237"/>
                    <a:pt x="25" y="238"/>
                  </a:cubicBezTo>
                  <a:cubicBezTo>
                    <a:pt x="25" y="242"/>
                    <a:pt x="28" y="245"/>
                    <a:pt x="33" y="245"/>
                  </a:cubicBezTo>
                  <a:cubicBezTo>
                    <a:pt x="46" y="245"/>
                    <a:pt x="46" y="245"/>
                    <a:pt x="46" y="245"/>
                  </a:cubicBezTo>
                  <a:cubicBezTo>
                    <a:pt x="50" y="245"/>
                    <a:pt x="54" y="242"/>
                    <a:pt x="54" y="238"/>
                  </a:cubicBezTo>
                  <a:cubicBezTo>
                    <a:pt x="54" y="237"/>
                    <a:pt x="54" y="236"/>
                    <a:pt x="53" y="235"/>
                  </a:cubicBezTo>
                  <a:cubicBezTo>
                    <a:pt x="214" y="235"/>
                    <a:pt x="214" y="235"/>
                    <a:pt x="214" y="235"/>
                  </a:cubicBezTo>
                  <a:cubicBezTo>
                    <a:pt x="214" y="236"/>
                    <a:pt x="214" y="237"/>
                    <a:pt x="214" y="238"/>
                  </a:cubicBezTo>
                  <a:cubicBezTo>
                    <a:pt x="214" y="242"/>
                    <a:pt x="217" y="245"/>
                    <a:pt x="221" y="245"/>
                  </a:cubicBezTo>
                  <a:cubicBezTo>
                    <a:pt x="235" y="245"/>
                    <a:pt x="235" y="245"/>
                    <a:pt x="235" y="245"/>
                  </a:cubicBezTo>
                  <a:cubicBezTo>
                    <a:pt x="239" y="245"/>
                    <a:pt x="243" y="242"/>
                    <a:pt x="243" y="238"/>
                  </a:cubicBezTo>
                  <a:cubicBezTo>
                    <a:pt x="243" y="237"/>
                    <a:pt x="242" y="236"/>
                    <a:pt x="242" y="235"/>
                  </a:cubicBezTo>
                  <a:cubicBezTo>
                    <a:pt x="256" y="234"/>
                    <a:pt x="267" y="222"/>
                    <a:pt x="267" y="207"/>
                  </a:cubicBezTo>
                  <a:cubicBezTo>
                    <a:pt x="267" y="72"/>
                    <a:pt x="267" y="72"/>
                    <a:pt x="267" y="72"/>
                  </a:cubicBezTo>
                  <a:cubicBezTo>
                    <a:pt x="267" y="56"/>
                    <a:pt x="255" y="44"/>
                    <a:pt x="239" y="44"/>
                  </a:cubicBezTo>
                  <a:close/>
                  <a:moveTo>
                    <a:pt x="216" y="53"/>
                  </a:moveTo>
                  <a:cubicBezTo>
                    <a:pt x="229" y="53"/>
                    <a:pt x="229" y="53"/>
                    <a:pt x="229" y="53"/>
                  </a:cubicBezTo>
                  <a:cubicBezTo>
                    <a:pt x="229" y="222"/>
                    <a:pt x="229" y="222"/>
                    <a:pt x="229" y="222"/>
                  </a:cubicBezTo>
                  <a:cubicBezTo>
                    <a:pt x="216" y="222"/>
                    <a:pt x="216" y="222"/>
                    <a:pt x="216" y="222"/>
                  </a:cubicBezTo>
                  <a:lnTo>
                    <a:pt x="216" y="53"/>
                  </a:lnTo>
                  <a:close/>
                  <a:moveTo>
                    <a:pt x="89" y="39"/>
                  </a:moveTo>
                  <a:cubicBezTo>
                    <a:pt x="89" y="29"/>
                    <a:pt x="97" y="21"/>
                    <a:pt x="106" y="21"/>
                  </a:cubicBezTo>
                  <a:cubicBezTo>
                    <a:pt x="161" y="21"/>
                    <a:pt x="161" y="21"/>
                    <a:pt x="161" y="21"/>
                  </a:cubicBezTo>
                  <a:cubicBezTo>
                    <a:pt x="171" y="21"/>
                    <a:pt x="179" y="29"/>
                    <a:pt x="179" y="39"/>
                  </a:cubicBezTo>
                  <a:cubicBezTo>
                    <a:pt x="179" y="44"/>
                    <a:pt x="179" y="44"/>
                    <a:pt x="179" y="44"/>
                  </a:cubicBezTo>
                  <a:cubicBezTo>
                    <a:pt x="89" y="44"/>
                    <a:pt x="89" y="44"/>
                    <a:pt x="89" y="44"/>
                  </a:cubicBezTo>
                  <a:lnTo>
                    <a:pt x="89" y="39"/>
                  </a:lnTo>
                  <a:close/>
                  <a:moveTo>
                    <a:pt x="38" y="53"/>
                  </a:moveTo>
                  <a:cubicBezTo>
                    <a:pt x="52" y="53"/>
                    <a:pt x="52" y="53"/>
                    <a:pt x="52" y="53"/>
                  </a:cubicBezTo>
                  <a:cubicBezTo>
                    <a:pt x="52" y="222"/>
                    <a:pt x="52" y="222"/>
                    <a:pt x="52" y="222"/>
                  </a:cubicBezTo>
                  <a:cubicBezTo>
                    <a:pt x="38" y="222"/>
                    <a:pt x="38" y="222"/>
                    <a:pt x="38" y="222"/>
                  </a:cubicBezTo>
                  <a:lnTo>
                    <a:pt x="38" y="53"/>
                  </a:lnTo>
                  <a:close/>
                </a:path>
              </a:pathLst>
            </a:custGeom>
            <a:solidFill>
              <a:sysClr val="window" lastClr="FFFFFF"/>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12" name="组合 11"/>
          <p:cNvGrpSpPr/>
          <p:nvPr/>
        </p:nvGrpSpPr>
        <p:grpSpPr>
          <a:xfrm>
            <a:off x="4854575" y="1633538"/>
            <a:ext cx="3092450" cy="4175125"/>
            <a:chOff x="4554537" y="2019300"/>
            <a:chExt cx="3091532" cy="4174844"/>
          </a:xfrm>
        </p:grpSpPr>
        <p:sp>
          <p:nvSpPr>
            <p:cNvPr id="13" name="îṣļîḑé-Rounded Rectangle 4"/>
            <p:cNvSpPr/>
            <p:nvPr/>
          </p:nvSpPr>
          <p:spPr>
            <a:xfrm>
              <a:off x="4554537" y="2019300"/>
              <a:ext cx="3091532" cy="4174844"/>
            </a:xfrm>
            <a:prstGeom prst="roundRect">
              <a:avLst>
                <a:gd name="adj" fmla="val 12936"/>
              </a:avLst>
            </a:prstGeom>
            <a:solidFill>
              <a:sysClr val="window" lastClr="FFFFFF">
                <a:lumMod val="95000"/>
              </a:sysClr>
            </a:solidFill>
            <a:ln w="25400" cap="flat" cmpd="sng" algn="ctr">
              <a:noFill/>
              <a:prstDash val="solid"/>
            </a:ln>
            <a:effectLst/>
          </p:spPr>
          <p:txBody>
            <a:bodyPr tIns="2628000" anchorCtr="1">
              <a:normAutofit/>
            </a:bodyPr>
            <a:lstStyle/>
            <a:p>
              <a:pPr marL="0" marR="0" lvl="0" indent="0" algn="ctr" defTabSz="914400" rtl="0" eaLnBrk="1" fontAlgn="auto" latinLnBrk="0" hangingPunct="1">
                <a:lnSpc>
                  <a:spcPct val="120000"/>
                </a:lnSpc>
                <a:spcBef>
                  <a:spcPts val="0"/>
                </a:spcBef>
                <a:spcAft>
                  <a:spcPts val="0"/>
                </a:spcAft>
                <a:buClrTx/>
                <a:buSzTx/>
                <a:buFont typeface="Arial" panose="020B0604020202020204" pitchFamily="34" charset="0"/>
                <a:buNone/>
                <a:defRPr/>
              </a:pPr>
              <a:endParaRPr kumimoji="0" lang="zh-CN" altLang="en-US" sz="1100" b="0" i="0" u="none" strike="noStrike" kern="0" cap="none" spc="0" normalizeH="0" baseline="0" noProof="0" dirty="0">
                <a:ln>
                  <a:noFill/>
                </a:ln>
                <a:solidFill>
                  <a:prstClr val="black"/>
                </a:solidFill>
                <a:effectLst/>
                <a:uLnTx/>
                <a:uFillTx/>
                <a:latin typeface="+mn-lt"/>
                <a:ea typeface="+mn-ea"/>
                <a:cs typeface="+mn-ea"/>
                <a:sym typeface="+mn-lt"/>
              </a:endParaRPr>
            </a:p>
          </p:txBody>
        </p:sp>
        <p:sp>
          <p:nvSpPr>
            <p:cNvPr id="14" name="îṣļîḑé-Oval 5"/>
            <p:cNvSpPr/>
            <p:nvPr/>
          </p:nvSpPr>
          <p:spPr>
            <a:xfrm>
              <a:off x="5229025" y="2385987"/>
              <a:ext cx="1733035" cy="1733433"/>
            </a:xfrm>
            <a:prstGeom prst="ellipse">
              <a:avLst/>
            </a:prstGeom>
            <a:solidFill>
              <a:srgbClr val="C0504D"/>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5" name="îṣļîḑé-Oval 9"/>
            <p:cNvSpPr/>
            <p:nvPr/>
          </p:nvSpPr>
          <p:spPr>
            <a:xfrm>
              <a:off x="6468494" y="2287569"/>
              <a:ext cx="493566" cy="493680"/>
            </a:xfrm>
            <a:prstGeom prst="ellipse">
              <a:avLst/>
            </a:prstGeom>
            <a:solidFill>
              <a:srgbClr val="C0504D">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r>
                <a:rPr kumimoji="0" lang="en-US" sz="1800" b="0" i="0" u="none" strike="noStrike" kern="0" cap="none" spc="0" normalizeH="0" baseline="0" noProof="0" dirty="0">
                  <a:ln>
                    <a:noFill/>
                  </a:ln>
                  <a:solidFill>
                    <a:prstClr val="white"/>
                  </a:solidFill>
                  <a:effectLst/>
                  <a:uLnTx/>
                  <a:uFillTx/>
                  <a:latin typeface="+mn-lt"/>
                  <a:ea typeface="+mn-ea"/>
                  <a:cs typeface="+mn-ea"/>
                  <a:sym typeface="+mn-lt"/>
                </a:rPr>
                <a:t>B</a:t>
              </a:r>
              <a:endParaRPr kumimoji="0" sz="1800" b="0" i="0" u="none" strike="noStrike" kern="0" cap="none" spc="0" normalizeH="0" baseline="0" noProof="0" dirty="0">
                <a:ln>
                  <a:noFill/>
                </a:ln>
                <a:solidFill>
                  <a:prstClr val="white"/>
                </a:solidFill>
                <a:effectLst/>
                <a:uLnTx/>
                <a:uFillTx/>
                <a:latin typeface="+mn-lt"/>
                <a:ea typeface="+mn-ea"/>
                <a:cs typeface="+mn-ea"/>
                <a:sym typeface="+mn-lt"/>
              </a:endParaRPr>
            </a:p>
          </p:txBody>
        </p:sp>
        <p:sp>
          <p:nvSpPr>
            <p:cNvPr id="16" name="îṣļîḑé-Rectangle 12"/>
            <p:cNvSpPr/>
            <p:nvPr/>
          </p:nvSpPr>
          <p:spPr>
            <a:xfrm>
              <a:off x="4765612" y="4274985"/>
              <a:ext cx="2880457" cy="1823915"/>
            </a:xfrm>
            <a:prstGeom prst="rect">
              <a:avLst/>
            </a:prstGeom>
          </p:spPr>
          <p:txBody>
            <a:bodyPr wrap="none" lIns="0" tIns="0" rIns="0" bIns="0" anchor="ctr">
              <a:normAutofit/>
            </a:bodyPr>
            <a:lstStyle/>
            <a:p>
              <a:pPr marL="0" marR="0" lvl="0" indent="0" algn="l" defTabSz="914400" rtl="0" eaLnBrk="1" fontAlgn="auto" latinLnBrk="0" hangingPunct="1">
                <a:lnSpc>
                  <a:spcPct val="125000"/>
                </a:lnSpc>
                <a:spcBef>
                  <a:spcPts val="0"/>
                </a:spcBef>
                <a:spcAft>
                  <a:spcPts val="0"/>
                </a:spcAft>
                <a:buClrTx/>
                <a:buSzTx/>
                <a:buFont typeface="Arial" panose="020B0604020202020204" pitchFamily="34" charset="0"/>
                <a:buNone/>
                <a:defRPr/>
              </a:pPr>
              <a:r>
                <a:rPr kumimoji="0" lang="zh-CN" altLang="en-US" sz="2400" b="0" i="0" u="none" strike="noStrike" kern="0" cap="none" spc="0" normalizeH="0" baseline="0" noProof="0" dirty="0">
                  <a:ln>
                    <a:noFill/>
                  </a:ln>
                  <a:solidFill>
                    <a:prstClr val="black"/>
                  </a:solidFill>
                  <a:effectLst/>
                  <a:uLnTx/>
                  <a:uFillTx/>
                  <a:latin typeface="+mn-lt"/>
                  <a:ea typeface="+mn-ea"/>
                  <a:cs typeface="+mn-ea"/>
                  <a:sym typeface="+mn-lt"/>
                </a:rPr>
                <a:t>对各子表操作相似</a:t>
              </a:r>
              <a:endParaRPr kumimoji="0" lang="en-US" altLang="zh-CN" sz="2400" b="0" i="0" u="none" strike="noStrike" kern="0" cap="none" spc="0" normalizeH="0" baseline="0" noProof="0" dirty="0">
                <a:ln>
                  <a:noFill/>
                </a:ln>
                <a:solidFill>
                  <a:prstClr val="black"/>
                </a:solidFill>
                <a:effectLst/>
                <a:uLnTx/>
                <a:uFillTx/>
                <a:latin typeface="+mn-lt"/>
                <a:ea typeface="+mn-ea"/>
                <a:cs typeface="+mn-ea"/>
                <a:sym typeface="+mn-lt"/>
              </a:endParaRPr>
            </a:p>
            <a:p>
              <a:pPr marL="0" marR="0" lvl="0" indent="0" algn="l" defTabSz="914400" rtl="0" eaLnBrk="1" fontAlgn="auto" latinLnBrk="0" hangingPunct="1">
                <a:lnSpc>
                  <a:spcPct val="125000"/>
                </a:lnSpc>
                <a:spcBef>
                  <a:spcPts val="0"/>
                </a:spcBef>
                <a:spcAft>
                  <a:spcPts val="0"/>
                </a:spcAft>
                <a:buClrTx/>
                <a:buSzTx/>
                <a:buFont typeface="Arial" panose="020B0604020202020204" pitchFamily="34" charset="0"/>
                <a:buNone/>
                <a:defRPr/>
              </a:pPr>
              <a:r>
                <a:rPr kumimoji="0" lang="zh-CN" altLang="en-US" sz="2400" b="0" i="0" u="none" strike="noStrike" kern="0" cap="none" spc="0" normalizeH="0" baseline="0" noProof="0" dirty="0">
                  <a:ln>
                    <a:noFill/>
                  </a:ln>
                  <a:solidFill>
                    <a:prstClr val="black"/>
                  </a:solidFill>
                  <a:effectLst/>
                  <a:uLnTx/>
                  <a:uFillTx/>
                  <a:latin typeface="+mn-lt"/>
                  <a:ea typeface="+mn-ea"/>
                  <a:cs typeface="+mn-ea"/>
                  <a:sym typeface="+mn-lt"/>
                </a:rPr>
                <a:t>可采用递归算法</a:t>
              </a:r>
            </a:p>
          </p:txBody>
        </p:sp>
        <p:grpSp>
          <p:nvGrpSpPr>
            <p:cNvPr id="17" name="组合 16"/>
            <p:cNvGrpSpPr/>
            <p:nvPr/>
          </p:nvGrpSpPr>
          <p:grpSpPr>
            <a:xfrm>
              <a:off x="5684838" y="2891631"/>
              <a:ext cx="822325" cy="722313"/>
              <a:chOff x="7545388" y="1652587"/>
              <a:chExt cx="822325" cy="722313"/>
            </a:xfrm>
            <a:solidFill>
              <a:sysClr val="window" lastClr="FFFFFF"/>
            </a:solidFill>
          </p:grpSpPr>
          <p:sp>
            <p:nvSpPr>
              <p:cNvPr id="18" name="Freeform 58"/>
              <p:cNvSpPr/>
              <p:nvPr/>
            </p:nvSpPr>
            <p:spPr bwMode="auto">
              <a:xfrm>
                <a:off x="7773988" y="2282825"/>
                <a:ext cx="365125" cy="92075"/>
              </a:xfrm>
              <a:custGeom>
                <a:avLst/>
                <a:gdLst>
                  <a:gd name="T0" fmla="*/ 106 w 120"/>
                  <a:gd name="T1" fmla="*/ 11 h 30"/>
                  <a:gd name="T2" fmla="*/ 97 w 120"/>
                  <a:gd name="T3" fmla="*/ 11 h 30"/>
                  <a:gd name="T4" fmla="*/ 97 w 120"/>
                  <a:gd name="T5" fmla="*/ 0 h 30"/>
                  <a:gd name="T6" fmla="*/ 23 w 120"/>
                  <a:gd name="T7" fmla="*/ 0 h 30"/>
                  <a:gd name="T8" fmla="*/ 23 w 120"/>
                  <a:gd name="T9" fmla="*/ 11 h 30"/>
                  <a:gd name="T10" fmla="*/ 14 w 120"/>
                  <a:gd name="T11" fmla="*/ 11 h 30"/>
                  <a:gd name="T12" fmla="*/ 0 w 120"/>
                  <a:gd name="T13" fmla="*/ 30 h 30"/>
                  <a:gd name="T14" fmla="*/ 120 w 120"/>
                  <a:gd name="T15" fmla="*/ 30 h 30"/>
                  <a:gd name="T16" fmla="*/ 106 w 120"/>
                  <a:gd name="T17" fmla="*/ 1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30">
                    <a:moveTo>
                      <a:pt x="106" y="11"/>
                    </a:moveTo>
                    <a:cubicBezTo>
                      <a:pt x="97" y="11"/>
                      <a:pt x="97" y="11"/>
                      <a:pt x="97" y="11"/>
                    </a:cubicBezTo>
                    <a:cubicBezTo>
                      <a:pt x="97" y="0"/>
                      <a:pt x="97" y="0"/>
                      <a:pt x="97" y="0"/>
                    </a:cubicBezTo>
                    <a:cubicBezTo>
                      <a:pt x="23" y="0"/>
                      <a:pt x="23" y="0"/>
                      <a:pt x="23" y="0"/>
                    </a:cubicBezTo>
                    <a:cubicBezTo>
                      <a:pt x="23" y="11"/>
                      <a:pt x="23" y="11"/>
                      <a:pt x="23" y="11"/>
                    </a:cubicBezTo>
                    <a:cubicBezTo>
                      <a:pt x="14" y="11"/>
                      <a:pt x="14" y="11"/>
                      <a:pt x="14" y="11"/>
                    </a:cubicBezTo>
                    <a:cubicBezTo>
                      <a:pt x="6" y="11"/>
                      <a:pt x="0" y="20"/>
                      <a:pt x="0" y="30"/>
                    </a:cubicBezTo>
                    <a:cubicBezTo>
                      <a:pt x="120" y="30"/>
                      <a:pt x="120" y="30"/>
                      <a:pt x="120" y="30"/>
                    </a:cubicBezTo>
                    <a:cubicBezTo>
                      <a:pt x="120" y="20"/>
                      <a:pt x="114" y="11"/>
                      <a:pt x="106" y="11"/>
                    </a:cubicBezTo>
                    <a:close/>
                  </a:path>
                </a:pathLst>
              </a:cu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lang="en-US" sz="1800" b="0" i="0" u="none" strike="noStrike" kern="0" cap="none" spc="0" normalizeH="0" baseline="0" noProof="0">
                  <a:ln>
                    <a:noFill/>
                  </a:ln>
                  <a:solidFill>
                    <a:prstClr val="black"/>
                  </a:solidFill>
                  <a:effectLst/>
                  <a:uLnTx/>
                  <a:uFillTx/>
                  <a:latin typeface="+mn-lt"/>
                  <a:ea typeface="+mn-ea"/>
                  <a:cs typeface="+mn-ea"/>
                  <a:sym typeface="+mn-lt"/>
                </a:endParaRPr>
              </a:p>
            </p:txBody>
          </p:sp>
          <p:sp>
            <p:nvSpPr>
              <p:cNvPr id="19" name="Freeform 59"/>
              <p:cNvSpPr>
                <a:spLocks noEditPoints="1"/>
              </p:cNvSpPr>
              <p:nvPr/>
            </p:nvSpPr>
            <p:spPr bwMode="auto">
              <a:xfrm>
                <a:off x="7545388" y="1652587"/>
                <a:ext cx="822325" cy="612775"/>
              </a:xfrm>
              <a:custGeom>
                <a:avLst/>
                <a:gdLst>
                  <a:gd name="T0" fmla="*/ 251 w 270"/>
                  <a:gd name="T1" fmla="*/ 0 h 201"/>
                  <a:gd name="T2" fmla="*/ 19 w 270"/>
                  <a:gd name="T3" fmla="*/ 0 h 201"/>
                  <a:gd name="T4" fmla="*/ 0 w 270"/>
                  <a:gd name="T5" fmla="*/ 19 h 201"/>
                  <a:gd name="T6" fmla="*/ 0 w 270"/>
                  <a:gd name="T7" fmla="*/ 183 h 201"/>
                  <a:gd name="T8" fmla="*/ 19 w 270"/>
                  <a:gd name="T9" fmla="*/ 201 h 201"/>
                  <a:gd name="T10" fmla="*/ 251 w 270"/>
                  <a:gd name="T11" fmla="*/ 201 h 201"/>
                  <a:gd name="T12" fmla="*/ 270 w 270"/>
                  <a:gd name="T13" fmla="*/ 183 h 201"/>
                  <a:gd name="T14" fmla="*/ 270 w 270"/>
                  <a:gd name="T15" fmla="*/ 19 h 201"/>
                  <a:gd name="T16" fmla="*/ 251 w 270"/>
                  <a:gd name="T17" fmla="*/ 0 h 201"/>
                  <a:gd name="T18" fmla="*/ 135 w 270"/>
                  <a:gd name="T19" fmla="*/ 183 h 201"/>
                  <a:gd name="T20" fmla="*/ 128 w 270"/>
                  <a:gd name="T21" fmla="*/ 176 h 201"/>
                  <a:gd name="T22" fmla="*/ 135 w 270"/>
                  <a:gd name="T23" fmla="*/ 169 h 201"/>
                  <a:gd name="T24" fmla="*/ 142 w 270"/>
                  <a:gd name="T25" fmla="*/ 176 h 201"/>
                  <a:gd name="T26" fmla="*/ 135 w 270"/>
                  <a:gd name="T27" fmla="*/ 183 h 201"/>
                  <a:gd name="T28" fmla="*/ 254 w 270"/>
                  <a:gd name="T29" fmla="*/ 146 h 201"/>
                  <a:gd name="T30" fmla="*/ 252 w 270"/>
                  <a:gd name="T31" fmla="*/ 148 h 201"/>
                  <a:gd name="T32" fmla="*/ 18 w 270"/>
                  <a:gd name="T33" fmla="*/ 148 h 201"/>
                  <a:gd name="T34" fmla="*/ 16 w 270"/>
                  <a:gd name="T35" fmla="*/ 146 h 201"/>
                  <a:gd name="T36" fmla="*/ 16 w 270"/>
                  <a:gd name="T37" fmla="*/ 20 h 201"/>
                  <a:gd name="T38" fmla="*/ 18 w 270"/>
                  <a:gd name="T39" fmla="*/ 18 h 201"/>
                  <a:gd name="T40" fmla="*/ 252 w 270"/>
                  <a:gd name="T41" fmla="*/ 18 h 201"/>
                  <a:gd name="T42" fmla="*/ 254 w 270"/>
                  <a:gd name="T43" fmla="*/ 20 h 201"/>
                  <a:gd name="T44" fmla="*/ 254 w 270"/>
                  <a:gd name="T45" fmla="*/ 14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201">
                    <a:moveTo>
                      <a:pt x="251" y="0"/>
                    </a:moveTo>
                    <a:cubicBezTo>
                      <a:pt x="19" y="0"/>
                      <a:pt x="19" y="0"/>
                      <a:pt x="19" y="0"/>
                    </a:cubicBezTo>
                    <a:cubicBezTo>
                      <a:pt x="9" y="0"/>
                      <a:pt x="0" y="9"/>
                      <a:pt x="0" y="19"/>
                    </a:cubicBezTo>
                    <a:cubicBezTo>
                      <a:pt x="0" y="183"/>
                      <a:pt x="0" y="183"/>
                      <a:pt x="0" y="183"/>
                    </a:cubicBezTo>
                    <a:cubicBezTo>
                      <a:pt x="0" y="193"/>
                      <a:pt x="9" y="201"/>
                      <a:pt x="19" y="201"/>
                    </a:cubicBezTo>
                    <a:cubicBezTo>
                      <a:pt x="251" y="201"/>
                      <a:pt x="251" y="201"/>
                      <a:pt x="251" y="201"/>
                    </a:cubicBezTo>
                    <a:cubicBezTo>
                      <a:pt x="261" y="201"/>
                      <a:pt x="270" y="193"/>
                      <a:pt x="270" y="183"/>
                    </a:cubicBezTo>
                    <a:cubicBezTo>
                      <a:pt x="270" y="19"/>
                      <a:pt x="270" y="19"/>
                      <a:pt x="270" y="19"/>
                    </a:cubicBezTo>
                    <a:cubicBezTo>
                      <a:pt x="270" y="9"/>
                      <a:pt x="261" y="0"/>
                      <a:pt x="251" y="0"/>
                    </a:cubicBezTo>
                    <a:close/>
                    <a:moveTo>
                      <a:pt x="135" y="183"/>
                    </a:moveTo>
                    <a:cubicBezTo>
                      <a:pt x="131" y="183"/>
                      <a:pt x="128" y="180"/>
                      <a:pt x="128" y="176"/>
                    </a:cubicBezTo>
                    <a:cubicBezTo>
                      <a:pt x="128" y="172"/>
                      <a:pt x="131" y="169"/>
                      <a:pt x="135" y="169"/>
                    </a:cubicBezTo>
                    <a:cubicBezTo>
                      <a:pt x="139" y="169"/>
                      <a:pt x="142" y="172"/>
                      <a:pt x="142" y="176"/>
                    </a:cubicBezTo>
                    <a:cubicBezTo>
                      <a:pt x="142" y="180"/>
                      <a:pt x="139" y="183"/>
                      <a:pt x="135" y="183"/>
                    </a:cubicBezTo>
                    <a:close/>
                    <a:moveTo>
                      <a:pt x="254" y="146"/>
                    </a:moveTo>
                    <a:cubicBezTo>
                      <a:pt x="254" y="147"/>
                      <a:pt x="253" y="148"/>
                      <a:pt x="252" y="148"/>
                    </a:cubicBezTo>
                    <a:cubicBezTo>
                      <a:pt x="18" y="148"/>
                      <a:pt x="18" y="148"/>
                      <a:pt x="18" y="148"/>
                    </a:cubicBezTo>
                    <a:cubicBezTo>
                      <a:pt x="17" y="148"/>
                      <a:pt x="16" y="147"/>
                      <a:pt x="16" y="146"/>
                    </a:cubicBezTo>
                    <a:cubicBezTo>
                      <a:pt x="16" y="20"/>
                      <a:pt x="16" y="20"/>
                      <a:pt x="16" y="20"/>
                    </a:cubicBezTo>
                    <a:cubicBezTo>
                      <a:pt x="16" y="19"/>
                      <a:pt x="17" y="18"/>
                      <a:pt x="18" y="18"/>
                    </a:cubicBezTo>
                    <a:cubicBezTo>
                      <a:pt x="252" y="18"/>
                      <a:pt x="252" y="18"/>
                      <a:pt x="252" y="18"/>
                    </a:cubicBezTo>
                    <a:cubicBezTo>
                      <a:pt x="253" y="18"/>
                      <a:pt x="254" y="19"/>
                      <a:pt x="254" y="20"/>
                    </a:cubicBezTo>
                    <a:lnTo>
                      <a:pt x="254" y="146"/>
                    </a:lnTo>
                    <a:close/>
                  </a:path>
                </a:pathLst>
              </a:cu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lang="en-US" sz="1800" b="0" i="0" u="none" strike="noStrike" kern="0" cap="none" spc="0" normalizeH="0" baseline="0" noProof="0">
                  <a:ln>
                    <a:noFill/>
                  </a:ln>
                  <a:solidFill>
                    <a:prstClr val="black"/>
                  </a:solidFill>
                  <a:effectLst/>
                  <a:uLnTx/>
                  <a:uFillTx/>
                  <a:latin typeface="+mn-lt"/>
                  <a:ea typeface="+mn-ea"/>
                  <a:cs typeface="+mn-ea"/>
                  <a:sym typeface="+mn-lt"/>
                </a:endParaRPr>
              </a:p>
            </p:txBody>
          </p:sp>
          <p:sp>
            <p:nvSpPr>
              <p:cNvPr id="20" name="Freeform 60"/>
              <p:cNvSpPr/>
              <p:nvPr/>
            </p:nvSpPr>
            <p:spPr bwMode="auto">
              <a:xfrm>
                <a:off x="7834313" y="1828800"/>
                <a:ext cx="244475" cy="115888"/>
              </a:xfrm>
              <a:custGeom>
                <a:avLst/>
                <a:gdLst>
                  <a:gd name="T0" fmla="*/ 4 w 80"/>
                  <a:gd name="T1" fmla="*/ 20 h 38"/>
                  <a:gd name="T2" fmla="*/ 4 w 80"/>
                  <a:gd name="T3" fmla="*/ 34 h 38"/>
                  <a:gd name="T4" fmla="*/ 11 w 80"/>
                  <a:gd name="T5" fmla="*/ 37 h 38"/>
                  <a:gd name="T6" fmla="*/ 18 w 80"/>
                  <a:gd name="T7" fmla="*/ 34 h 38"/>
                  <a:gd name="T8" fmla="*/ 62 w 80"/>
                  <a:gd name="T9" fmla="*/ 34 h 38"/>
                  <a:gd name="T10" fmla="*/ 76 w 80"/>
                  <a:gd name="T11" fmla="*/ 34 h 38"/>
                  <a:gd name="T12" fmla="*/ 76 w 80"/>
                  <a:gd name="T13" fmla="*/ 20 h 38"/>
                  <a:gd name="T14" fmla="*/ 4 w 80"/>
                  <a:gd name="T15" fmla="*/ 2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8">
                    <a:moveTo>
                      <a:pt x="4" y="20"/>
                    </a:moveTo>
                    <a:cubicBezTo>
                      <a:pt x="0" y="24"/>
                      <a:pt x="0" y="30"/>
                      <a:pt x="4" y="34"/>
                    </a:cubicBezTo>
                    <a:cubicBezTo>
                      <a:pt x="6" y="36"/>
                      <a:pt x="8" y="37"/>
                      <a:pt x="11" y="37"/>
                    </a:cubicBezTo>
                    <a:cubicBezTo>
                      <a:pt x="13" y="37"/>
                      <a:pt x="16" y="36"/>
                      <a:pt x="18" y="34"/>
                    </a:cubicBezTo>
                    <a:cubicBezTo>
                      <a:pt x="30" y="22"/>
                      <a:pt x="50" y="22"/>
                      <a:pt x="62" y="34"/>
                    </a:cubicBezTo>
                    <a:cubicBezTo>
                      <a:pt x="66" y="38"/>
                      <a:pt x="72" y="38"/>
                      <a:pt x="76" y="34"/>
                    </a:cubicBezTo>
                    <a:cubicBezTo>
                      <a:pt x="80" y="30"/>
                      <a:pt x="80" y="24"/>
                      <a:pt x="76" y="20"/>
                    </a:cubicBezTo>
                    <a:cubicBezTo>
                      <a:pt x="56" y="0"/>
                      <a:pt x="24" y="0"/>
                      <a:pt x="4" y="20"/>
                    </a:cubicBezTo>
                    <a:close/>
                  </a:path>
                </a:pathLst>
              </a:cu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lang="en-US" sz="1800" b="0" i="0" u="none" strike="noStrike" kern="0" cap="none" spc="0" normalizeH="0" baseline="0" noProof="0">
                  <a:ln>
                    <a:noFill/>
                  </a:ln>
                  <a:solidFill>
                    <a:prstClr val="black"/>
                  </a:solidFill>
                  <a:effectLst/>
                  <a:uLnTx/>
                  <a:uFillTx/>
                  <a:latin typeface="+mn-lt"/>
                  <a:ea typeface="+mn-ea"/>
                  <a:cs typeface="+mn-ea"/>
                  <a:sym typeface="+mn-lt"/>
                </a:endParaRPr>
              </a:p>
            </p:txBody>
          </p:sp>
          <p:sp>
            <p:nvSpPr>
              <p:cNvPr id="21" name="Freeform 61"/>
              <p:cNvSpPr/>
              <p:nvPr/>
            </p:nvSpPr>
            <p:spPr bwMode="auto">
              <a:xfrm>
                <a:off x="7761288" y="1744662"/>
                <a:ext cx="390525" cy="127000"/>
              </a:xfrm>
              <a:custGeom>
                <a:avLst/>
                <a:gdLst>
                  <a:gd name="T0" fmla="*/ 64 w 128"/>
                  <a:gd name="T1" fmla="*/ 0 h 42"/>
                  <a:gd name="T2" fmla="*/ 4 w 128"/>
                  <a:gd name="T3" fmla="*/ 24 h 42"/>
                  <a:gd name="T4" fmla="*/ 4 w 128"/>
                  <a:gd name="T5" fmla="*/ 39 h 42"/>
                  <a:gd name="T6" fmla="*/ 18 w 128"/>
                  <a:gd name="T7" fmla="*/ 39 h 42"/>
                  <a:gd name="T8" fmla="*/ 64 w 128"/>
                  <a:gd name="T9" fmla="*/ 20 h 42"/>
                  <a:gd name="T10" fmla="*/ 110 w 128"/>
                  <a:gd name="T11" fmla="*/ 39 h 42"/>
                  <a:gd name="T12" fmla="*/ 117 w 128"/>
                  <a:gd name="T13" fmla="*/ 41 h 42"/>
                  <a:gd name="T14" fmla="*/ 124 w 128"/>
                  <a:gd name="T15" fmla="*/ 39 h 42"/>
                  <a:gd name="T16" fmla="*/ 124 w 128"/>
                  <a:gd name="T17" fmla="*/ 24 h 42"/>
                  <a:gd name="T18" fmla="*/ 64 w 128"/>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42">
                    <a:moveTo>
                      <a:pt x="64" y="0"/>
                    </a:moveTo>
                    <a:cubicBezTo>
                      <a:pt x="41" y="0"/>
                      <a:pt x="20" y="8"/>
                      <a:pt x="4" y="24"/>
                    </a:cubicBezTo>
                    <a:cubicBezTo>
                      <a:pt x="0" y="28"/>
                      <a:pt x="0" y="35"/>
                      <a:pt x="4" y="39"/>
                    </a:cubicBezTo>
                    <a:cubicBezTo>
                      <a:pt x="8" y="42"/>
                      <a:pt x="14" y="42"/>
                      <a:pt x="18" y="39"/>
                    </a:cubicBezTo>
                    <a:cubicBezTo>
                      <a:pt x="30" y="26"/>
                      <a:pt x="47" y="20"/>
                      <a:pt x="64" y="20"/>
                    </a:cubicBezTo>
                    <a:cubicBezTo>
                      <a:pt x="81" y="20"/>
                      <a:pt x="97" y="26"/>
                      <a:pt x="110" y="39"/>
                    </a:cubicBezTo>
                    <a:cubicBezTo>
                      <a:pt x="112" y="41"/>
                      <a:pt x="114" y="41"/>
                      <a:pt x="117" y="41"/>
                    </a:cubicBezTo>
                    <a:cubicBezTo>
                      <a:pt x="119" y="41"/>
                      <a:pt x="122" y="41"/>
                      <a:pt x="124" y="39"/>
                    </a:cubicBezTo>
                    <a:cubicBezTo>
                      <a:pt x="128" y="35"/>
                      <a:pt x="128" y="28"/>
                      <a:pt x="124" y="24"/>
                    </a:cubicBezTo>
                    <a:cubicBezTo>
                      <a:pt x="108" y="8"/>
                      <a:pt x="87" y="0"/>
                      <a:pt x="64" y="0"/>
                    </a:cubicBezTo>
                    <a:close/>
                  </a:path>
                </a:pathLst>
              </a:cu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lang="en-US" sz="1800" b="0" i="0" u="none" strike="noStrike" kern="0" cap="none" spc="0" normalizeH="0" baseline="0" noProof="0">
                  <a:ln>
                    <a:noFill/>
                  </a:ln>
                  <a:solidFill>
                    <a:prstClr val="black"/>
                  </a:solidFill>
                  <a:effectLst/>
                  <a:uLnTx/>
                  <a:uFillTx/>
                  <a:latin typeface="+mn-lt"/>
                  <a:ea typeface="+mn-ea"/>
                  <a:cs typeface="+mn-ea"/>
                  <a:sym typeface="+mn-lt"/>
                </a:endParaRPr>
              </a:p>
            </p:txBody>
          </p:sp>
          <p:sp>
            <p:nvSpPr>
              <p:cNvPr id="22" name="Freeform 62"/>
              <p:cNvSpPr/>
              <p:nvPr/>
            </p:nvSpPr>
            <p:spPr bwMode="auto">
              <a:xfrm>
                <a:off x="7907338" y="1954212"/>
                <a:ext cx="104775" cy="100013"/>
              </a:xfrm>
              <a:custGeom>
                <a:avLst/>
                <a:gdLst>
                  <a:gd name="T0" fmla="*/ 6 w 34"/>
                  <a:gd name="T1" fmla="*/ 6 h 33"/>
                  <a:gd name="T2" fmla="*/ 6 w 34"/>
                  <a:gd name="T3" fmla="*/ 27 h 33"/>
                  <a:gd name="T4" fmla="*/ 28 w 34"/>
                  <a:gd name="T5" fmla="*/ 27 h 33"/>
                  <a:gd name="T6" fmla="*/ 28 w 34"/>
                  <a:gd name="T7" fmla="*/ 6 h 33"/>
                  <a:gd name="T8" fmla="*/ 6 w 34"/>
                  <a:gd name="T9" fmla="*/ 6 h 33"/>
                </a:gdLst>
                <a:ahLst/>
                <a:cxnLst>
                  <a:cxn ang="0">
                    <a:pos x="T0" y="T1"/>
                  </a:cxn>
                  <a:cxn ang="0">
                    <a:pos x="T2" y="T3"/>
                  </a:cxn>
                  <a:cxn ang="0">
                    <a:pos x="T4" y="T5"/>
                  </a:cxn>
                  <a:cxn ang="0">
                    <a:pos x="T6" y="T7"/>
                  </a:cxn>
                  <a:cxn ang="0">
                    <a:pos x="T8" y="T9"/>
                  </a:cxn>
                </a:cxnLst>
                <a:rect l="0" t="0" r="r" b="b"/>
                <a:pathLst>
                  <a:path w="34" h="33">
                    <a:moveTo>
                      <a:pt x="6" y="6"/>
                    </a:moveTo>
                    <a:cubicBezTo>
                      <a:pt x="0" y="12"/>
                      <a:pt x="0" y="21"/>
                      <a:pt x="6" y="27"/>
                    </a:cubicBezTo>
                    <a:cubicBezTo>
                      <a:pt x="12" y="33"/>
                      <a:pt x="22" y="33"/>
                      <a:pt x="28" y="27"/>
                    </a:cubicBezTo>
                    <a:cubicBezTo>
                      <a:pt x="34" y="21"/>
                      <a:pt x="34" y="12"/>
                      <a:pt x="28" y="6"/>
                    </a:cubicBezTo>
                    <a:cubicBezTo>
                      <a:pt x="22" y="0"/>
                      <a:pt x="12" y="0"/>
                      <a:pt x="6" y="6"/>
                    </a:cubicBezTo>
                    <a:close/>
                  </a:path>
                </a:pathLst>
              </a:cu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childTnLst>
                                </p:cTn>
                              </p:par>
                              <p:par>
                                <p:cTn id="8" presetID="64" presetClass="path" presetSubtype="0" decel="100000" fill="hold" nodeType="withEffect">
                                  <p:stCondLst>
                                    <p:cond delay="0"/>
                                  </p:stCondLst>
                                  <p:childTnLst>
                                    <p:animMotion origin="layout" path="M 4.44444E-6 2.96296E-6 L 4.44444E-6 0.09259 " pathEditMode="relative" rAng="0" ptsTypes="AA">
                                      <p:cBhvr>
                                        <p:cTn id="9" dur="1000" spd="-100000" fill="hold"/>
                                        <p:tgtEl>
                                          <p:spTgt spid="6"/>
                                        </p:tgtEl>
                                        <p:attrNameLst>
                                          <p:attrName>ppt_x</p:attrName>
                                          <p:attrName>ppt_y</p:attrName>
                                        </p:attrNameLst>
                                      </p:cBhvr>
                                      <p:rCtr x="0" y="4600"/>
                                    </p:animMotion>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childTnLst>
                                </p:cTn>
                              </p:par>
                              <p:par>
                                <p:cTn id="14" presetID="64" presetClass="path" presetSubtype="0" decel="100000" fill="hold" nodeType="withEffect">
                                  <p:stCondLst>
                                    <p:cond delay="0"/>
                                  </p:stCondLst>
                                  <p:childTnLst>
                                    <p:animMotion origin="layout" path="M 0 -2.59259E-6 L 0 0.0926 " pathEditMode="relative" rAng="0" ptsTypes="AA">
                                      <p:cBhvr>
                                        <p:cTn id="15" dur="1000" spd="-100000" fill="hold"/>
                                        <p:tgtEl>
                                          <p:spTgt spid="12"/>
                                        </p:tgtEl>
                                        <p:attrNameLst>
                                          <p:attrName>ppt_x</p:attrName>
                                          <p:attrName>ppt_y</p:attrName>
                                        </p:attrNameLst>
                                      </p:cBhvr>
                                      <p:rCtr x="0" y="46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Text Box 5"/>
          <p:cNvSpPr txBox="1">
            <a:spLocks noChangeArrowheads="1"/>
          </p:cNvSpPr>
          <p:nvPr/>
        </p:nvSpPr>
        <p:spPr bwMode="auto">
          <a:xfrm>
            <a:off x="755650" y="1268413"/>
            <a:ext cx="7718425" cy="1014413"/>
          </a:xfrm>
          <a:prstGeom prst="rect">
            <a:avLst/>
          </a:prstGeom>
          <a:solidFill>
            <a:schemeClr val="bg2">
              <a:lumMod val="20000"/>
              <a:lumOff val="80000"/>
            </a:schemeClr>
          </a:solid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void main (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QSort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L, 1,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L.length</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p>
        </p:txBody>
      </p:sp>
      <p:sp>
        <p:nvSpPr>
          <p:cNvPr id="82947" name="Text Box 6"/>
          <p:cNvSpPr txBox="1">
            <a:spLocks noChangeArrowheads="1"/>
          </p:cNvSpPr>
          <p:nvPr/>
        </p:nvSpPr>
        <p:spPr bwMode="auto">
          <a:xfrm>
            <a:off x="755650" y="2471738"/>
            <a:ext cx="7718425" cy="3786188"/>
          </a:xfrm>
          <a:prstGeom prst="rect">
            <a:avLst/>
          </a:prstGeom>
          <a:solidFill>
            <a:schemeClr val="accent1">
              <a:lumMod val="20000"/>
              <a:lumOff val="80000"/>
            </a:schemeClr>
          </a:solid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QSort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SqList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&amp;L</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int low,  int  high )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if  ( low &lt; high )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pivotloc</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Partition(L, low, high )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Qsort</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 (L, low, pivotloc-1) ;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Qsort</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 (L, pivotloc+1, high )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5" name="Rectangle 5"/>
          <p:cNvSpPr>
            <a:spLocks noChangeArrowheads="1"/>
          </p:cNvSpPr>
          <p:nvPr/>
        </p:nvSpPr>
        <p:spPr bwMode="auto">
          <a:xfrm>
            <a:off x="900113" y="2286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spTree>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Text Box 5"/>
          <p:cNvSpPr txBox="1">
            <a:spLocks noChangeArrowheads="1"/>
          </p:cNvSpPr>
          <p:nvPr/>
        </p:nvSpPr>
        <p:spPr bwMode="auto">
          <a:xfrm>
            <a:off x="-9525" y="1196975"/>
            <a:ext cx="9144000" cy="4967288"/>
          </a:xfrm>
          <a:prstGeom prst="rect">
            <a:avLst/>
          </a:prstGeom>
          <a:solidFill>
            <a:srgbClr val="CCCCFF"/>
          </a:solid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int Partition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SqList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&amp;L</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int low,  int  high ) </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[0] = </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[low];</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pivotkey</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[low].key;</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while  ( low &lt; high ) </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while ( low &lt; high &amp;&amp;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[high].key &gt;=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pivotkey</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--high;</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[low]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[high];</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while ( low &lt; high &amp;&amp;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[low].key &lt;=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pivotkey</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++low;</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[high]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[low];</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[low]=</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[0]; </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return low;</a:t>
            </a:r>
          </a:p>
          <a:p>
            <a:pPr marL="720090" marR="0" lvl="0" indent="0" algn="l" defTabSz="914400" rtl="0" eaLnBrk="0" fontAlgn="base" latinLnBrk="0" hangingPunct="0">
              <a:lnSpc>
                <a:spcPct val="120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4" name="Rectangle 5"/>
          <p:cNvSpPr>
            <a:spLocks noChangeArrowheads="1"/>
          </p:cNvSpPr>
          <p:nvPr/>
        </p:nvSpPr>
        <p:spPr bwMode="auto">
          <a:xfrm>
            <a:off x="900113" y="228600"/>
            <a:ext cx="2438400" cy="533400"/>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快速排序</a:t>
            </a:r>
          </a:p>
        </p:txBody>
      </p:sp>
      <p:cxnSp>
        <p:nvCxnSpPr>
          <p:cNvPr id="98308" name="直接连接符 2"/>
          <p:cNvCxnSpPr/>
          <p:nvPr/>
        </p:nvCxnSpPr>
        <p:spPr>
          <a:xfrm>
            <a:off x="7164388" y="4581525"/>
            <a:ext cx="1970087" cy="0"/>
          </a:xfrm>
          <a:prstGeom prst="line">
            <a:avLst/>
          </a:prstGeom>
          <a:ln w="57150" cap="flat" cmpd="sng">
            <a:solidFill>
              <a:srgbClr val="6C4C8F"/>
            </a:solidFill>
            <a:prstDash val="solid"/>
            <a:headEnd type="none" w="med" len="med"/>
            <a:tailEnd type="none" w="med" len="med"/>
          </a:ln>
        </p:spPr>
      </p:cxnSp>
      <p:cxnSp>
        <p:nvCxnSpPr>
          <p:cNvPr id="98309" name="直接连接符 5"/>
          <p:cNvCxnSpPr/>
          <p:nvPr/>
        </p:nvCxnSpPr>
        <p:spPr>
          <a:xfrm>
            <a:off x="7173913" y="4797425"/>
            <a:ext cx="1970087" cy="0"/>
          </a:xfrm>
          <a:prstGeom prst="line">
            <a:avLst/>
          </a:prstGeom>
          <a:ln w="57150" cap="flat" cmpd="sng">
            <a:solidFill>
              <a:srgbClr val="6C4C8F"/>
            </a:solidFill>
            <a:prstDash val="solid"/>
            <a:headEnd type="none" w="med" len="med"/>
            <a:tailEnd type="none" w="med" len="med"/>
          </a:ln>
        </p:spPr>
      </p:cxnSp>
      <p:cxnSp>
        <p:nvCxnSpPr>
          <p:cNvPr id="98310" name="直接连接符 6"/>
          <p:cNvCxnSpPr/>
          <p:nvPr/>
        </p:nvCxnSpPr>
        <p:spPr>
          <a:xfrm>
            <a:off x="7173913" y="5013325"/>
            <a:ext cx="1970087" cy="0"/>
          </a:xfrm>
          <a:prstGeom prst="line">
            <a:avLst/>
          </a:prstGeom>
          <a:ln w="57150" cap="flat" cmpd="sng">
            <a:solidFill>
              <a:srgbClr val="6C4C8F"/>
            </a:solidFill>
            <a:prstDash val="solid"/>
            <a:headEnd type="none" w="med" len="med"/>
            <a:tailEnd type="none" w="med" len="med"/>
          </a:ln>
        </p:spPr>
      </p:cxnSp>
      <p:cxnSp>
        <p:nvCxnSpPr>
          <p:cNvPr id="98311" name="直接连接符 7"/>
          <p:cNvCxnSpPr/>
          <p:nvPr/>
        </p:nvCxnSpPr>
        <p:spPr>
          <a:xfrm>
            <a:off x="7173913" y="5229225"/>
            <a:ext cx="1970087" cy="0"/>
          </a:xfrm>
          <a:prstGeom prst="line">
            <a:avLst/>
          </a:prstGeom>
          <a:ln w="57150" cap="flat" cmpd="sng">
            <a:solidFill>
              <a:srgbClr val="6C4C8F"/>
            </a:solidFill>
            <a:prstDash val="solid"/>
            <a:headEnd type="none" w="med" len="med"/>
            <a:tailEnd type="none" w="med" len="med"/>
          </a:ln>
        </p:spPr>
      </p:cxnSp>
      <p:cxnSp>
        <p:nvCxnSpPr>
          <p:cNvPr id="98312" name="直接连接符 8"/>
          <p:cNvCxnSpPr/>
          <p:nvPr/>
        </p:nvCxnSpPr>
        <p:spPr>
          <a:xfrm>
            <a:off x="7173913" y="5445125"/>
            <a:ext cx="1970087" cy="0"/>
          </a:xfrm>
          <a:prstGeom prst="line">
            <a:avLst/>
          </a:prstGeom>
          <a:ln w="57150" cap="flat" cmpd="sng">
            <a:solidFill>
              <a:srgbClr val="6C4C8F"/>
            </a:solidFill>
            <a:prstDash val="solid"/>
            <a:headEnd type="none" w="med" len="med"/>
            <a:tailEnd type="none" w="med" len="med"/>
          </a:ln>
        </p:spPr>
      </p:cxnSp>
      <p:cxnSp>
        <p:nvCxnSpPr>
          <p:cNvPr id="98313" name="直接连接符 9"/>
          <p:cNvCxnSpPr/>
          <p:nvPr/>
        </p:nvCxnSpPr>
        <p:spPr>
          <a:xfrm>
            <a:off x="7173913" y="5661025"/>
            <a:ext cx="1970087" cy="0"/>
          </a:xfrm>
          <a:prstGeom prst="line">
            <a:avLst/>
          </a:prstGeom>
          <a:ln w="57150" cap="flat" cmpd="sng">
            <a:solidFill>
              <a:srgbClr val="6C4C8F"/>
            </a:solidFill>
            <a:prstDash val="solid"/>
            <a:headEnd type="none" w="med" len="med"/>
            <a:tailEnd type="none" w="med" len="med"/>
          </a:ln>
        </p:spPr>
      </p:cxnSp>
      <p:cxnSp>
        <p:nvCxnSpPr>
          <p:cNvPr id="98314" name="直接连接符 10"/>
          <p:cNvCxnSpPr/>
          <p:nvPr/>
        </p:nvCxnSpPr>
        <p:spPr>
          <a:xfrm>
            <a:off x="7173913" y="5949950"/>
            <a:ext cx="1970087" cy="0"/>
          </a:xfrm>
          <a:prstGeom prst="line">
            <a:avLst/>
          </a:prstGeom>
          <a:ln w="57150" cap="flat" cmpd="sng">
            <a:solidFill>
              <a:srgbClr val="6C4C8F"/>
            </a:solidFill>
            <a:prstDash val="solid"/>
            <a:headEnd type="none" w="med" len="med"/>
            <a:tailEnd type="none" w="med" len="med"/>
          </a:ln>
        </p:spPr>
      </p:cxnSp>
    </p:spTree>
  </p:cSld>
  <p:clrMapOvr>
    <a:masterClrMapping/>
  </p:clrMapOvr>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6859" name="Rectangle 27"/>
          <p:cNvSpPr>
            <a:spLocks noChangeArrowheads="1"/>
          </p:cNvSpPr>
          <p:nvPr/>
        </p:nvSpPr>
        <p:spPr bwMode="auto">
          <a:xfrm>
            <a:off x="0" y="3090667"/>
            <a:ext cx="2343622" cy="511615"/>
          </a:xfrm>
          <a:prstGeom prst="rect">
            <a:avLst/>
          </a:prstGeom>
          <a:noFill/>
          <a:ln>
            <a:noFill/>
          </a:ln>
        </p:spPr>
        <p:txBody>
          <a:bodyPr wrap="squar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Tx/>
              <a:buNone/>
              <a:defRPr/>
            </a:pPr>
            <a:r>
              <a:rPr lang="zh-CN" altLang="en-US" sz="2400" b="0" noProof="0" dirty="0">
                <a:solidFill>
                  <a:srgbClr val="FF3300"/>
                </a:solidFill>
                <a:latin typeface="+mn-lt"/>
                <a:ea typeface="+mn-ea"/>
                <a:cs typeface="+mn-ea"/>
                <a:sym typeface="+mn-lt"/>
              </a:rPr>
              <a:t>时间：</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O(</a:t>
            </a:r>
            <a:r>
              <a:rPr kumimoji="0" lang="en-US" altLang="zh-CN" sz="2400" b="0" i="1" u="none" strike="noStrike" kern="1200" cap="none" spc="0" normalizeH="0" baseline="0" noProof="0" dirty="0">
                <a:ln>
                  <a:noFill/>
                </a:ln>
                <a:solidFill>
                  <a:srgbClr val="FF3300"/>
                </a:solidFill>
                <a:effectLst/>
                <a:uLnTx/>
                <a:uFillTx/>
                <a:latin typeface="+mn-lt"/>
                <a:ea typeface="+mn-ea"/>
                <a:cs typeface="+mn-ea"/>
                <a:sym typeface="+mn-lt"/>
              </a:rPr>
              <a:t>n</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log</a:t>
            </a:r>
            <a:r>
              <a:rPr kumimoji="0" lang="en-US" altLang="zh-CN" sz="2400" b="0" i="0" u="none" strike="noStrike" kern="1200" cap="none" spc="0" normalizeH="0" baseline="-25000" noProof="0" dirty="0">
                <a:ln>
                  <a:noFill/>
                </a:ln>
                <a:solidFill>
                  <a:srgbClr val="FF3300"/>
                </a:solidFill>
                <a:effectLst/>
                <a:uLnTx/>
                <a:uFillTx/>
                <a:latin typeface="+mn-lt"/>
                <a:ea typeface="+mn-ea"/>
                <a:cs typeface="+mn-ea"/>
                <a:sym typeface="+mn-lt"/>
              </a:rPr>
              <a:t>2</a:t>
            </a:r>
            <a:r>
              <a:rPr kumimoji="0" lang="en-US" altLang="zh-CN" sz="2400" b="0" i="1" u="none" strike="noStrike" kern="1200" cap="none" spc="0" normalizeH="0" baseline="0" noProof="0" dirty="0">
                <a:ln>
                  <a:noFill/>
                </a:ln>
                <a:solidFill>
                  <a:srgbClr val="FF3300"/>
                </a:solidFill>
                <a:effectLst/>
                <a:uLnTx/>
                <a:uFillTx/>
                <a:latin typeface="+mn-lt"/>
                <a:ea typeface="+mn-ea"/>
                <a:cs typeface="+mn-ea"/>
                <a:sym typeface="+mn-lt"/>
              </a:rPr>
              <a:t>n</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016860" name="Rectangle 28"/>
          <p:cNvSpPr>
            <a:spLocks noChangeArrowheads="1"/>
          </p:cNvSpPr>
          <p:nvPr/>
        </p:nvSpPr>
        <p:spPr bwMode="auto">
          <a:xfrm>
            <a:off x="755650" y="188913"/>
            <a:ext cx="24384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grpSp>
        <p:nvGrpSpPr>
          <p:cNvPr id="35" name="组合 34"/>
          <p:cNvGrpSpPr/>
          <p:nvPr/>
        </p:nvGrpSpPr>
        <p:grpSpPr>
          <a:xfrm>
            <a:off x="7596188" y="1628775"/>
            <a:ext cx="1123950" cy="1123950"/>
            <a:chOff x="7596893" y="1628425"/>
            <a:chExt cx="1123570" cy="1123570"/>
          </a:xfrm>
        </p:grpSpPr>
        <p:sp>
          <p:nvSpPr>
            <p:cNvPr id="19" name="i$liḋe-Oval 4"/>
            <p:cNvSpPr/>
            <p:nvPr/>
          </p:nvSpPr>
          <p:spPr>
            <a:xfrm>
              <a:off x="7596893" y="1628425"/>
              <a:ext cx="1123570" cy="1123570"/>
            </a:xfrm>
            <a:prstGeom prst="ellipse">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Arial" panose="020B0604020202020204" pitchFamily="34" charset="0"/>
                <a:ea typeface="+mn-ea"/>
                <a:cs typeface="+mn-cs"/>
                <a:sym typeface="Arial" panose="020B0604020202020204" pitchFamily="34" charset="0"/>
              </a:endParaRPr>
            </a:p>
          </p:txBody>
        </p:sp>
        <p:sp>
          <p:nvSpPr>
            <p:cNvPr id="20" name="i$liḋe-Freeform: Shape 5"/>
            <p:cNvSpPr/>
            <p:nvPr/>
          </p:nvSpPr>
          <p:spPr bwMode="auto">
            <a:xfrm>
              <a:off x="7952373" y="1906144"/>
              <a:ext cx="412610" cy="568133"/>
            </a:xfrm>
            <a:custGeom>
              <a:avLst/>
              <a:gdLst>
                <a:gd name="T0" fmla="*/ 143 w 168"/>
                <a:gd name="T1" fmla="*/ 65 h 232"/>
                <a:gd name="T2" fmla="*/ 113 w 168"/>
                <a:gd name="T3" fmla="*/ 38 h 232"/>
                <a:gd name="T4" fmla="*/ 141 w 168"/>
                <a:gd name="T5" fmla="*/ 38 h 232"/>
                <a:gd name="T6" fmla="*/ 147 w 168"/>
                <a:gd name="T7" fmla="*/ 33 h 232"/>
                <a:gd name="T8" fmla="*/ 154 w 168"/>
                <a:gd name="T9" fmla="*/ 5 h 232"/>
                <a:gd name="T10" fmla="*/ 155 w 168"/>
                <a:gd name="T11" fmla="*/ 0 h 232"/>
                <a:gd name="T12" fmla="*/ 13 w 168"/>
                <a:gd name="T13" fmla="*/ 0 h 232"/>
                <a:gd name="T14" fmla="*/ 14 w 168"/>
                <a:gd name="T15" fmla="*/ 5 h 232"/>
                <a:gd name="T16" fmla="*/ 21 w 168"/>
                <a:gd name="T17" fmla="*/ 33 h 232"/>
                <a:gd name="T18" fmla="*/ 27 w 168"/>
                <a:gd name="T19" fmla="*/ 38 h 232"/>
                <a:gd name="T20" fmla="*/ 55 w 168"/>
                <a:gd name="T21" fmla="*/ 38 h 232"/>
                <a:gd name="T22" fmla="*/ 25 w 168"/>
                <a:gd name="T23" fmla="*/ 65 h 232"/>
                <a:gd name="T24" fmla="*/ 15 w 168"/>
                <a:gd name="T25" fmla="*/ 132 h 232"/>
                <a:gd name="T26" fmla="*/ 84 w 168"/>
                <a:gd name="T27" fmla="*/ 232 h 232"/>
                <a:gd name="T28" fmla="*/ 153 w 168"/>
                <a:gd name="T29" fmla="*/ 132 h 232"/>
                <a:gd name="T30" fmla="*/ 143 w 168"/>
                <a:gd name="T31" fmla="*/ 65 h 232"/>
                <a:gd name="T32" fmla="*/ 134 w 168"/>
                <a:gd name="T33" fmla="*/ 119 h 232"/>
                <a:gd name="T34" fmla="*/ 93 w 168"/>
                <a:gd name="T35" fmla="*/ 177 h 232"/>
                <a:gd name="T36" fmla="*/ 93 w 168"/>
                <a:gd name="T37" fmla="*/ 134 h 232"/>
                <a:gd name="T38" fmla="*/ 97 w 168"/>
                <a:gd name="T39" fmla="*/ 126 h 232"/>
                <a:gd name="T40" fmla="*/ 102 w 168"/>
                <a:gd name="T41" fmla="*/ 114 h 232"/>
                <a:gd name="T42" fmla="*/ 84 w 168"/>
                <a:gd name="T43" fmla="*/ 96 h 232"/>
                <a:gd name="T44" fmla="*/ 66 w 168"/>
                <a:gd name="T45" fmla="*/ 114 h 232"/>
                <a:gd name="T46" fmla="*/ 71 w 168"/>
                <a:gd name="T47" fmla="*/ 126 h 232"/>
                <a:gd name="T48" fmla="*/ 74 w 168"/>
                <a:gd name="T49" fmla="*/ 134 h 232"/>
                <a:gd name="T50" fmla="*/ 74 w 168"/>
                <a:gd name="T51" fmla="*/ 177 h 232"/>
                <a:gd name="T52" fmla="*/ 34 w 168"/>
                <a:gd name="T53" fmla="*/ 119 h 232"/>
                <a:gd name="T54" fmla="*/ 40 w 168"/>
                <a:gd name="T55" fmla="*/ 83 h 232"/>
                <a:gd name="T56" fmla="*/ 84 w 168"/>
                <a:gd name="T57" fmla="*/ 44 h 232"/>
                <a:gd name="T58" fmla="*/ 127 w 168"/>
                <a:gd name="T59" fmla="*/ 82 h 232"/>
                <a:gd name="T60" fmla="*/ 128 w 168"/>
                <a:gd name="T61" fmla="*/ 83 h 232"/>
                <a:gd name="T62" fmla="*/ 134 w 168"/>
                <a:gd name="T63" fmla="*/ 11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232">
                  <a:moveTo>
                    <a:pt x="143" y="65"/>
                  </a:moveTo>
                  <a:cubicBezTo>
                    <a:pt x="113" y="38"/>
                    <a:pt x="113" y="38"/>
                    <a:pt x="113" y="38"/>
                  </a:cubicBezTo>
                  <a:cubicBezTo>
                    <a:pt x="141" y="38"/>
                    <a:pt x="141" y="38"/>
                    <a:pt x="141" y="38"/>
                  </a:cubicBezTo>
                  <a:cubicBezTo>
                    <a:pt x="143" y="38"/>
                    <a:pt x="146" y="36"/>
                    <a:pt x="147" y="33"/>
                  </a:cubicBezTo>
                  <a:cubicBezTo>
                    <a:pt x="154" y="5"/>
                    <a:pt x="154" y="5"/>
                    <a:pt x="154" y="5"/>
                  </a:cubicBezTo>
                  <a:cubicBezTo>
                    <a:pt x="155" y="0"/>
                    <a:pt x="155" y="0"/>
                    <a:pt x="155" y="0"/>
                  </a:cubicBezTo>
                  <a:cubicBezTo>
                    <a:pt x="13" y="0"/>
                    <a:pt x="13" y="0"/>
                    <a:pt x="13" y="0"/>
                  </a:cubicBezTo>
                  <a:cubicBezTo>
                    <a:pt x="14" y="5"/>
                    <a:pt x="14" y="5"/>
                    <a:pt x="14" y="5"/>
                  </a:cubicBezTo>
                  <a:cubicBezTo>
                    <a:pt x="21" y="33"/>
                    <a:pt x="21" y="33"/>
                    <a:pt x="21" y="33"/>
                  </a:cubicBezTo>
                  <a:cubicBezTo>
                    <a:pt x="22" y="36"/>
                    <a:pt x="24" y="38"/>
                    <a:pt x="27" y="38"/>
                  </a:cubicBezTo>
                  <a:cubicBezTo>
                    <a:pt x="55" y="38"/>
                    <a:pt x="55" y="38"/>
                    <a:pt x="55" y="38"/>
                  </a:cubicBezTo>
                  <a:cubicBezTo>
                    <a:pt x="25" y="65"/>
                    <a:pt x="25" y="65"/>
                    <a:pt x="25" y="65"/>
                  </a:cubicBezTo>
                  <a:cubicBezTo>
                    <a:pt x="5" y="81"/>
                    <a:pt x="0" y="111"/>
                    <a:pt x="15" y="132"/>
                  </a:cubicBezTo>
                  <a:cubicBezTo>
                    <a:pt x="84" y="232"/>
                    <a:pt x="84" y="232"/>
                    <a:pt x="84" y="232"/>
                  </a:cubicBezTo>
                  <a:cubicBezTo>
                    <a:pt x="153" y="132"/>
                    <a:pt x="153" y="132"/>
                    <a:pt x="153" y="132"/>
                  </a:cubicBezTo>
                  <a:cubicBezTo>
                    <a:pt x="168" y="111"/>
                    <a:pt x="163" y="81"/>
                    <a:pt x="143" y="65"/>
                  </a:cubicBezTo>
                  <a:close/>
                  <a:moveTo>
                    <a:pt x="134" y="119"/>
                  </a:moveTo>
                  <a:cubicBezTo>
                    <a:pt x="93" y="177"/>
                    <a:pt x="93" y="177"/>
                    <a:pt x="93" y="177"/>
                  </a:cubicBezTo>
                  <a:cubicBezTo>
                    <a:pt x="93" y="134"/>
                    <a:pt x="93" y="134"/>
                    <a:pt x="93" y="134"/>
                  </a:cubicBezTo>
                  <a:cubicBezTo>
                    <a:pt x="93" y="131"/>
                    <a:pt x="95" y="128"/>
                    <a:pt x="97" y="126"/>
                  </a:cubicBezTo>
                  <a:cubicBezTo>
                    <a:pt x="100" y="123"/>
                    <a:pt x="102" y="119"/>
                    <a:pt x="102" y="114"/>
                  </a:cubicBezTo>
                  <a:cubicBezTo>
                    <a:pt x="102" y="104"/>
                    <a:pt x="94" y="96"/>
                    <a:pt x="84" y="96"/>
                  </a:cubicBezTo>
                  <a:cubicBezTo>
                    <a:pt x="74" y="96"/>
                    <a:pt x="66" y="104"/>
                    <a:pt x="66" y="114"/>
                  </a:cubicBezTo>
                  <a:cubicBezTo>
                    <a:pt x="66" y="119"/>
                    <a:pt x="68" y="123"/>
                    <a:pt x="71" y="126"/>
                  </a:cubicBezTo>
                  <a:cubicBezTo>
                    <a:pt x="73" y="128"/>
                    <a:pt x="74" y="131"/>
                    <a:pt x="74" y="134"/>
                  </a:cubicBezTo>
                  <a:cubicBezTo>
                    <a:pt x="74" y="177"/>
                    <a:pt x="74" y="177"/>
                    <a:pt x="74" y="177"/>
                  </a:cubicBezTo>
                  <a:cubicBezTo>
                    <a:pt x="34" y="119"/>
                    <a:pt x="34" y="119"/>
                    <a:pt x="34" y="119"/>
                  </a:cubicBezTo>
                  <a:cubicBezTo>
                    <a:pt x="26" y="108"/>
                    <a:pt x="29" y="91"/>
                    <a:pt x="40" y="83"/>
                  </a:cubicBezTo>
                  <a:cubicBezTo>
                    <a:pt x="84" y="44"/>
                    <a:pt x="84" y="44"/>
                    <a:pt x="84" y="44"/>
                  </a:cubicBezTo>
                  <a:cubicBezTo>
                    <a:pt x="127" y="82"/>
                    <a:pt x="127" y="82"/>
                    <a:pt x="127" y="82"/>
                  </a:cubicBezTo>
                  <a:cubicBezTo>
                    <a:pt x="128" y="83"/>
                    <a:pt x="128" y="83"/>
                    <a:pt x="128" y="83"/>
                  </a:cubicBezTo>
                  <a:cubicBezTo>
                    <a:pt x="139" y="91"/>
                    <a:pt x="142" y="108"/>
                    <a:pt x="134" y="119"/>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34" name="组合 33"/>
          <p:cNvGrpSpPr/>
          <p:nvPr/>
        </p:nvGrpSpPr>
        <p:grpSpPr>
          <a:xfrm>
            <a:off x="5221288" y="1628775"/>
            <a:ext cx="1122362" cy="1123950"/>
            <a:chOff x="5220629" y="1628425"/>
            <a:chExt cx="1123570" cy="1123570"/>
          </a:xfrm>
        </p:grpSpPr>
        <p:sp>
          <p:nvSpPr>
            <p:cNvPr id="21" name="i$liḋe-Oval 6"/>
            <p:cNvSpPr/>
            <p:nvPr/>
          </p:nvSpPr>
          <p:spPr>
            <a:xfrm>
              <a:off x="5220629" y="1628425"/>
              <a:ext cx="1123570" cy="1123570"/>
            </a:xfrm>
            <a:prstGeom prst="ellipse">
              <a:avLst/>
            </a:prstGeom>
            <a:solidFill>
              <a:schemeClr val="bg2">
                <a:lumMod val="75000"/>
              </a:scheme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Arial" panose="020B0604020202020204" pitchFamily="34" charset="0"/>
                <a:ea typeface="+mn-ea"/>
                <a:cs typeface="+mn-cs"/>
                <a:sym typeface="Arial" panose="020B0604020202020204" pitchFamily="34" charset="0"/>
              </a:endParaRPr>
            </a:p>
          </p:txBody>
        </p:sp>
        <p:sp>
          <p:nvSpPr>
            <p:cNvPr id="22" name="i$liḋe-Freeform: Shape 7"/>
            <p:cNvSpPr/>
            <p:nvPr/>
          </p:nvSpPr>
          <p:spPr bwMode="auto">
            <a:xfrm>
              <a:off x="5487616" y="1917252"/>
              <a:ext cx="589596" cy="545915"/>
            </a:xfrm>
            <a:custGeom>
              <a:avLst/>
              <a:gdLst>
                <a:gd name="T0" fmla="*/ 142 w 241"/>
                <a:gd name="T1" fmla="*/ 137 h 224"/>
                <a:gd name="T2" fmla="*/ 150 w 241"/>
                <a:gd name="T3" fmla="*/ 97 h 224"/>
                <a:gd name="T4" fmla="*/ 132 w 241"/>
                <a:gd name="T5" fmla="*/ 115 h 224"/>
                <a:gd name="T6" fmla="*/ 110 w 241"/>
                <a:gd name="T7" fmla="*/ 115 h 224"/>
                <a:gd name="T8" fmla="*/ 110 w 241"/>
                <a:gd name="T9" fmla="*/ 92 h 224"/>
                <a:gd name="T10" fmla="*/ 127 w 241"/>
                <a:gd name="T11" fmla="*/ 74 h 224"/>
                <a:gd name="T12" fmla="*/ 88 w 241"/>
                <a:gd name="T13" fmla="*/ 83 h 224"/>
                <a:gd name="T14" fmla="*/ 78 w 241"/>
                <a:gd name="T15" fmla="*/ 120 h 224"/>
                <a:gd name="T16" fmla="*/ 3 w 241"/>
                <a:gd name="T17" fmla="*/ 195 h 224"/>
                <a:gd name="T18" fmla="*/ 3 w 241"/>
                <a:gd name="T19" fmla="*/ 206 h 224"/>
                <a:gd name="T20" fmla="*/ 19 w 241"/>
                <a:gd name="T21" fmla="*/ 222 h 224"/>
                <a:gd name="T22" fmla="*/ 25 w 241"/>
                <a:gd name="T23" fmla="*/ 224 h 224"/>
                <a:gd name="T24" fmla="*/ 30 w 241"/>
                <a:gd name="T25" fmla="*/ 222 h 224"/>
                <a:gd name="T26" fmla="*/ 105 w 241"/>
                <a:gd name="T27" fmla="*/ 147 h 224"/>
                <a:gd name="T28" fmla="*/ 142 w 241"/>
                <a:gd name="T29" fmla="*/ 137 h 224"/>
                <a:gd name="T30" fmla="*/ 27 w 241"/>
                <a:gd name="T31" fmla="*/ 206 h 224"/>
                <a:gd name="T32" fmla="*/ 19 w 241"/>
                <a:gd name="T33" fmla="*/ 206 h 224"/>
                <a:gd name="T34" fmla="*/ 19 w 241"/>
                <a:gd name="T35" fmla="*/ 198 h 224"/>
                <a:gd name="T36" fmla="*/ 27 w 241"/>
                <a:gd name="T37" fmla="*/ 198 h 224"/>
                <a:gd name="T38" fmla="*/ 27 w 241"/>
                <a:gd name="T39" fmla="*/ 206 h 224"/>
                <a:gd name="T40" fmla="*/ 236 w 241"/>
                <a:gd name="T41" fmla="*/ 0 h 224"/>
                <a:gd name="T42" fmla="*/ 19 w 241"/>
                <a:gd name="T43" fmla="*/ 0 h 224"/>
                <a:gd name="T44" fmla="*/ 14 w 241"/>
                <a:gd name="T45" fmla="*/ 5 h 224"/>
                <a:gd name="T46" fmla="*/ 14 w 241"/>
                <a:gd name="T47" fmla="*/ 171 h 224"/>
                <a:gd name="T48" fmla="*/ 38 w 241"/>
                <a:gd name="T49" fmla="*/ 147 h 224"/>
                <a:gd name="T50" fmla="*/ 38 w 241"/>
                <a:gd name="T51" fmla="*/ 48 h 224"/>
                <a:gd name="T52" fmla="*/ 217 w 241"/>
                <a:gd name="T53" fmla="*/ 48 h 224"/>
                <a:gd name="T54" fmla="*/ 217 w 241"/>
                <a:gd name="T55" fmla="*/ 170 h 224"/>
                <a:gd name="T56" fmla="*/ 95 w 241"/>
                <a:gd name="T57" fmla="*/ 170 h 224"/>
                <a:gd name="T58" fmla="*/ 72 w 241"/>
                <a:gd name="T59" fmla="*/ 193 h 224"/>
                <a:gd name="T60" fmla="*/ 222 w 241"/>
                <a:gd name="T61" fmla="*/ 193 h 224"/>
                <a:gd name="T62" fmla="*/ 241 w 241"/>
                <a:gd name="T63" fmla="*/ 175 h 224"/>
                <a:gd name="T64" fmla="*/ 241 w 241"/>
                <a:gd name="T65" fmla="*/ 5 h 224"/>
                <a:gd name="T66" fmla="*/ 236 w 241"/>
                <a:gd name="T67" fmla="*/ 0 h 224"/>
                <a:gd name="T68" fmla="*/ 47 w 241"/>
                <a:gd name="T69" fmla="*/ 32 h 224"/>
                <a:gd name="T70" fmla="*/ 39 w 241"/>
                <a:gd name="T71" fmla="*/ 24 h 224"/>
                <a:gd name="T72" fmla="*/ 47 w 241"/>
                <a:gd name="T73" fmla="*/ 15 h 224"/>
                <a:gd name="T74" fmla="*/ 55 w 241"/>
                <a:gd name="T75" fmla="*/ 24 h 224"/>
                <a:gd name="T76" fmla="*/ 47 w 241"/>
                <a:gd name="T77" fmla="*/ 32 h 224"/>
                <a:gd name="T78" fmla="*/ 77 w 241"/>
                <a:gd name="T79" fmla="*/ 32 h 224"/>
                <a:gd name="T80" fmla="*/ 69 w 241"/>
                <a:gd name="T81" fmla="*/ 24 h 224"/>
                <a:gd name="T82" fmla="*/ 77 w 241"/>
                <a:gd name="T83" fmla="*/ 15 h 224"/>
                <a:gd name="T84" fmla="*/ 85 w 241"/>
                <a:gd name="T85" fmla="*/ 24 h 224"/>
                <a:gd name="T86" fmla="*/ 77 w 241"/>
                <a:gd name="T87" fmla="*/ 3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1" h="224">
                  <a:moveTo>
                    <a:pt x="142" y="137"/>
                  </a:moveTo>
                  <a:cubicBezTo>
                    <a:pt x="153" y="126"/>
                    <a:pt x="155" y="110"/>
                    <a:pt x="150" y="97"/>
                  </a:cubicBezTo>
                  <a:cubicBezTo>
                    <a:pt x="132" y="115"/>
                    <a:pt x="132" y="115"/>
                    <a:pt x="132" y="115"/>
                  </a:cubicBezTo>
                  <a:cubicBezTo>
                    <a:pt x="126" y="121"/>
                    <a:pt x="116" y="121"/>
                    <a:pt x="110" y="115"/>
                  </a:cubicBezTo>
                  <a:cubicBezTo>
                    <a:pt x="104" y="108"/>
                    <a:pt x="104" y="98"/>
                    <a:pt x="110" y="92"/>
                  </a:cubicBezTo>
                  <a:cubicBezTo>
                    <a:pt x="127" y="74"/>
                    <a:pt x="127" y="74"/>
                    <a:pt x="127" y="74"/>
                  </a:cubicBezTo>
                  <a:cubicBezTo>
                    <a:pt x="114" y="70"/>
                    <a:pt x="99" y="73"/>
                    <a:pt x="88" y="83"/>
                  </a:cubicBezTo>
                  <a:cubicBezTo>
                    <a:pt x="78" y="93"/>
                    <a:pt x="75" y="107"/>
                    <a:pt x="78" y="120"/>
                  </a:cubicBezTo>
                  <a:cubicBezTo>
                    <a:pt x="3" y="195"/>
                    <a:pt x="3" y="195"/>
                    <a:pt x="3" y="195"/>
                  </a:cubicBezTo>
                  <a:cubicBezTo>
                    <a:pt x="0" y="198"/>
                    <a:pt x="0" y="203"/>
                    <a:pt x="3" y="206"/>
                  </a:cubicBezTo>
                  <a:cubicBezTo>
                    <a:pt x="19" y="222"/>
                    <a:pt x="19" y="222"/>
                    <a:pt x="19" y="222"/>
                  </a:cubicBezTo>
                  <a:cubicBezTo>
                    <a:pt x="21" y="223"/>
                    <a:pt x="23" y="224"/>
                    <a:pt x="25" y="224"/>
                  </a:cubicBezTo>
                  <a:cubicBezTo>
                    <a:pt x="27" y="224"/>
                    <a:pt x="29" y="223"/>
                    <a:pt x="30" y="222"/>
                  </a:cubicBezTo>
                  <a:cubicBezTo>
                    <a:pt x="105" y="147"/>
                    <a:pt x="105" y="147"/>
                    <a:pt x="105" y="147"/>
                  </a:cubicBezTo>
                  <a:cubicBezTo>
                    <a:pt x="118" y="150"/>
                    <a:pt x="132" y="147"/>
                    <a:pt x="142" y="137"/>
                  </a:cubicBezTo>
                  <a:close/>
                  <a:moveTo>
                    <a:pt x="27" y="206"/>
                  </a:moveTo>
                  <a:cubicBezTo>
                    <a:pt x="25" y="208"/>
                    <a:pt x="21" y="208"/>
                    <a:pt x="19" y="206"/>
                  </a:cubicBezTo>
                  <a:cubicBezTo>
                    <a:pt x="17" y="204"/>
                    <a:pt x="17" y="200"/>
                    <a:pt x="19" y="198"/>
                  </a:cubicBezTo>
                  <a:cubicBezTo>
                    <a:pt x="21" y="195"/>
                    <a:pt x="25" y="195"/>
                    <a:pt x="27" y="198"/>
                  </a:cubicBezTo>
                  <a:cubicBezTo>
                    <a:pt x="30" y="200"/>
                    <a:pt x="30" y="204"/>
                    <a:pt x="27" y="206"/>
                  </a:cubicBezTo>
                  <a:close/>
                  <a:moveTo>
                    <a:pt x="236" y="0"/>
                  </a:moveTo>
                  <a:cubicBezTo>
                    <a:pt x="19" y="0"/>
                    <a:pt x="19" y="0"/>
                    <a:pt x="19" y="0"/>
                  </a:cubicBezTo>
                  <a:cubicBezTo>
                    <a:pt x="16" y="0"/>
                    <a:pt x="14" y="2"/>
                    <a:pt x="14" y="5"/>
                  </a:cubicBezTo>
                  <a:cubicBezTo>
                    <a:pt x="14" y="171"/>
                    <a:pt x="14" y="171"/>
                    <a:pt x="14" y="171"/>
                  </a:cubicBezTo>
                  <a:cubicBezTo>
                    <a:pt x="38" y="147"/>
                    <a:pt x="38" y="147"/>
                    <a:pt x="38" y="147"/>
                  </a:cubicBezTo>
                  <a:cubicBezTo>
                    <a:pt x="38" y="48"/>
                    <a:pt x="38" y="48"/>
                    <a:pt x="38" y="48"/>
                  </a:cubicBezTo>
                  <a:cubicBezTo>
                    <a:pt x="217" y="48"/>
                    <a:pt x="217" y="48"/>
                    <a:pt x="217" y="48"/>
                  </a:cubicBezTo>
                  <a:cubicBezTo>
                    <a:pt x="217" y="170"/>
                    <a:pt x="217" y="170"/>
                    <a:pt x="217" y="170"/>
                  </a:cubicBezTo>
                  <a:cubicBezTo>
                    <a:pt x="95" y="170"/>
                    <a:pt x="95" y="170"/>
                    <a:pt x="95" y="170"/>
                  </a:cubicBezTo>
                  <a:cubicBezTo>
                    <a:pt x="72" y="193"/>
                    <a:pt x="72" y="193"/>
                    <a:pt x="72" y="193"/>
                  </a:cubicBezTo>
                  <a:cubicBezTo>
                    <a:pt x="222" y="193"/>
                    <a:pt x="222" y="193"/>
                    <a:pt x="222" y="193"/>
                  </a:cubicBezTo>
                  <a:cubicBezTo>
                    <a:pt x="233" y="193"/>
                    <a:pt x="241" y="185"/>
                    <a:pt x="241" y="175"/>
                  </a:cubicBezTo>
                  <a:cubicBezTo>
                    <a:pt x="241" y="5"/>
                    <a:pt x="241" y="5"/>
                    <a:pt x="241" y="5"/>
                  </a:cubicBezTo>
                  <a:cubicBezTo>
                    <a:pt x="241" y="2"/>
                    <a:pt x="239" y="0"/>
                    <a:pt x="236" y="0"/>
                  </a:cubicBezTo>
                  <a:close/>
                  <a:moveTo>
                    <a:pt x="47" y="32"/>
                  </a:moveTo>
                  <a:cubicBezTo>
                    <a:pt x="42" y="32"/>
                    <a:pt x="39" y="28"/>
                    <a:pt x="39" y="24"/>
                  </a:cubicBezTo>
                  <a:cubicBezTo>
                    <a:pt x="39" y="19"/>
                    <a:pt x="42" y="15"/>
                    <a:pt x="47" y="15"/>
                  </a:cubicBezTo>
                  <a:cubicBezTo>
                    <a:pt x="52" y="15"/>
                    <a:pt x="55" y="19"/>
                    <a:pt x="55" y="24"/>
                  </a:cubicBezTo>
                  <a:cubicBezTo>
                    <a:pt x="55" y="28"/>
                    <a:pt x="52" y="32"/>
                    <a:pt x="47" y="32"/>
                  </a:cubicBezTo>
                  <a:close/>
                  <a:moveTo>
                    <a:pt x="77" y="32"/>
                  </a:moveTo>
                  <a:cubicBezTo>
                    <a:pt x="72" y="32"/>
                    <a:pt x="69" y="28"/>
                    <a:pt x="69" y="24"/>
                  </a:cubicBezTo>
                  <a:cubicBezTo>
                    <a:pt x="69" y="19"/>
                    <a:pt x="72" y="15"/>
                    <a:pt x="77" y="15"/>
                  </a:cubicBezTo>
                  <a:cubicBezTo>
                    <a:pt x="81" y="15"/>
                    <a:pt x="85" y="19"/>
                    <a:pt x="85" y="24"/>
                  </a:cubicBezTo>
                  <a:cubicBezTo>
                    <a:pt x="85" y="28"/>
                    <a:pt x="81" y="32"/>
                    <a:pt x="77" y="32"/>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3" name="组合 2"/>
          <p:cNvGrpSpPr/>
          <p:nvPr/>
        </p:nvGrpSpPr>
        <p:grpSpPr>
          <a:xfrm>
            <a:off x="2771775" y="1628775"/>
            <a:ext cx="1123950" cy="1123950"/>
            <a:chOff x="2772357" y="1628425"/>
            <a:chExt cx="1123570" cy="1123570"/>
          </a:xfrm>
        </p:grpSpPr>
        <p:sp>
          <p:nvSpPr>
            <p:cNvPr id="23" name="i$liḋe-Oval 8"/>
            <p:cNvSpPr/>
            <p:nvPr/>
          </p:nvSpPr>
          <p:spPr>
            <a:xfrm>
              <a:off x="2772357" y="1628425"/>
              <a:ext cx="1123570" cy="1123570"/>
            </a:xfrm>
            <a:prstGeom prst="ellipse">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Arial" panose="020B0604020202020204" pitchFamily="34" charset="0"/>
                <a:ea typeface="+mn-ea"/>
                <a:cs typeface="+mn-cs"/>
                <a:sym typeface="Arial" panose="020B0604020202020204" pitchFamily="34" charset="0"/>
              </a:endParaRPr>
            </a:p>
          </p:txBody>
        </p:sp>
        <p:sp>
          <p:nvSpPr>
            <p:cNvPr id="24" name="i$liḋe-Freeform: Shape 9"/>
            <p:cNvSpPr/>
            <p:nvPr/>
          </p:nvSpPr>
          <p:spPr bwMode="auto">
            <a:xfrm>
              <a:off x="3054836" y="1950579"/>
              <a:ext cx="558611" cy="479263"/>
            </a:xfrm>
            <a:custGeom>
              <a:avLst/>
              <a:gdLst>
                <a:gd name="T0" fmla="*/ 223 w 228"/>
                <a:gd name="T1" fmla="*/ 0 h 196"/>
                <a:gd name="T2" fmla="*/ 210 w 228"/>
                <a:gd name="T3" fmla="*/ 0 h 196"/>
                <a:gd name="T4" fmla="*/ 205 w 228"/>
                <a:gd name="T5" fmla="*/ 5 h 196"/>
                <a:gd name="T6" fmla="*/ 205 w 228"/>
                <a:gd name="T7" fmla="*/ 10 h 196"/>
                <a:gd name="T8" fmla="*/ 20 w 228"/>
                <a:gd name="T9" fmla="*/ 42 h 196"/>
                <a:gd name="T10" fmla="*/ 20 w 228"/>
                <a:gd name="T11" fmla="*/ 40 h 196"/>
                <a:gd name="T12" fmla="*/ 15 w 228"/>
                <a:gd name="T13" fmla="*/ 35 h 196"/>
                <a:gd name="T14" fmla="*/ 5 w 228"/>
                <a:gd name="T15" fmla="*/ 35 h 196"/>
                <a:gd name="T16" fmla="*/ 0 w 228"/>
                <a:gd name="T17" fmla="*/ 40 h 196"/>
                <a:gd name="T18" fmla="*/ 0 w 228"/>
                <a:gd name="T19" fmla="*/ 45 h 196"/>
                <a:gd name="T20" fmla="*/ 0 w 228"/>
                <a:gd name="T21" fmla="*/ 135 h 196"/>
                <a:gd name="T22" fmla="*/ 0 w 228"/>
                <a:gd name="T23" fmla="*/ 140 h 196"/>
                <a:gd name="T24" fmla="*/ 5 w 228"/>
                <a:gd name="T25" fmla="*/ 145 h 196"/>
                <a:gd name="T26" fmla="*/ 15 w 228"/>
                <a:gd name="T27" fmla="*/ 145 h 196"/>
                <a:gd name="T28" fmla="*/ 20 w 228"/>
                <a:gd name="T29" fmla="*/ 140 h 196"/>
                <a:gd name="T30" fmla="*/ 20 w 228"/>
                <a:gd name="T31" fmla="*/ 138 h 196"/>
                <a:gd name="T32" fmla="*/ 70 w 228"/>
                <a:gd name="T33" fmla="*/ 147 h 196"/>
                <a:gd name="T34" fmla="*/ 70 w 228"/>
                <a:gd name="T35" fmla="*/ 148 h 196"/>
                <a:gd name="T36" fmla="*/ 117 w 228"/>
                <a:gd name="T37" fmla="*/ 196 h 196"/>
                <a:gd name="T38" fmla="*/ 162 w 228"/>
                <a:gd name="T39" fmla="*/ 162 h 196"/>
                <a:gd name="T40" fmla="*/ 205 w 228"/>
                <a:gd name="T41" fmla="*/ 170 h 196"/>
                <a:gd name="T42" fmla="*/ 205 w 228"/>
                <a:gd name="T43" fmla="*/ 175 h 196"/>
                <a:gd name="T44" fmla="*/ 210 w 228"/>
                <a:gd name="T45" fmla="*/ 180 h 196"/>
                <a:gd name="T46" fmla="*/ 223 w 228"/>
                <a:gd name="T47" fmla="*/ 180 h 196"/>
                <a:gd name="T48" fmla="*/ 228 w 228"/>
                <a:gd name="T49" fmla="*/ 175 h 196"/>
                <a:gd name="T50" fmla="*/ 228 w 228"/>
                <a:gd name="T51" fmla="*/ 5 h 196"/>
                <a:gd name="T52" fmla="*/ 223 w 228"/>
                <a:gd name="T53" fmla="*/ 0 h 196"/>
                <a:gd name="T54" fmla="*/ 117 w 228"/>
                <a:gd name="T55" fmla="*/ 177 h 196"/>
                <a:gd name="T56" fmla="*/ 89 w 228"/>
                <a:gd name="T57" fmla="*/ 150 h 196"/>
                <a:gd name="T58" fmla="*/ 143 w 228"/>
                <a:gd name="T59" fmla="*/ 159 h 196"/>
                <a:gd name="T60" fmla="*/ 117 w 228"/>
                <a:gd name="T61" fmla="*/ 177 h 196"/>
                <a:gd name="T62" fmla="*/ 199 w 228"/>
                <a:gd name="T63" fmla="*/ 53 h 196"/>
                <a:gd name="T64" fmla="*/ 31 w 228"/>
                <a:gd name="T65" fmla="*/ 76 h 196"/>
                <a:gd name="T66" fmla="*/ 30 w 228"/>
                <a:gd name="T67" fmla="*/ 76 h 196"/>
                <a:gd name="T68" fmla="*/ 23 w 228"/>
                <a:gd name="T69" fmla="*/ 70 h 196"/>
                <a:gd name="T70" fmla="*/ 29 w 228"/>
                <a:gd name="T71" fmla="*/ 62 h 196"/>
                <a:gd name="T72" fmla="*/ 197 w 228"/>
                <a:gd name="T73" fmla="*/ 39 h 196"/>
                <a:gd name="T74" fmla="*/ 205 w 228"/>
                <a:gd name="T75" fmla="*/ 45 h 196"/>
                <a:gd name="T76" fmla="*/ 199 w 228"/>
                <a:gd name="T77" fmla="*/ 5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196">
                  <a:moveTo>
                    <a:pt x="223" y="0"/>
                  </a:moveTo>
                  <a:cubicBezTo>
                    <a:pt x="210" y="0"/>
                    <a:pt x="210" y="0"/>
                    <a:pt x="210" y="0"/>
                  </a:cubicBezTo>
                  <a:cubicBezTo>
                    <a:pt x="207" y="0"/>
                    <a:pt x="205" y="2"/>
                    <a:pt x="205" y="5"/>
                  </a:cubicBezTo>
                  <a:cubicBezTo>
                    <a:pt x="205" y="10"/>
                    <a:pt x="205" y="10"/>
                    <a:pt x="205" y="10"/>
                  </a:cubicBezTo>
                  <a:cubicBezTo>
                    <a:pt x="20" y="42"/>
                    <a:pt x="20" y="42"/>
                    <a:pt x="20" y="42"/>
                  </a:cubicBezTo>
                  <a:cubicBezTo>
                    <a:pt x="20" y="40"/>
                    <a:pt x="20" y="40"/>
                    <a:pt x="20" y="40"/>
                  </a:cubicBezTo>
                  <a:cubicBezTo>
                    <a:pt x="20" y="37"/>
                    <a:pt x="18" y="35"/>
                    <a:pt x="15" y="35"/>
                  </a:cubicBezTo>
                  <a:cubicBezTo>
                    <a:pt x="5" y="35"/>
                    <a:pt x="5" y="35"/>
                    <a:pt x="5" y="35"/>
                  </a:cubicBezTo>
                  <a:cubicBezTo>
                    <a:pt x="2" y="35"/>
                    <a:pt x="0" y="37"/>
                    <a:pt x="0" y="40"/>
                  </a:cubicBezTo>
                  <a:cubicBezTo>
                    <a:pt x="0" y="45"/>
                    <a:pt x="0" y="45"/>
                    <a:pt x="0" y="45"/>
                  </a:cubicBezTo>
                  <a:cubicBezTo>
                    <a:pt x="0" y="135"/>
                    <a:pt x="0" y="135"/>
                    <a:pt x="0" y="135"/>
                  </a:cubicBezTo>
                  <a:cubicBezTo>
                    <a:pt x="0" y="140"/>
                    <a:pt x="0" y="140"/>
                    <a:pt x="0" y="140"/>
                  </a:cubicBezTo>
                  <a:cubicBezTo>
                    <a:pt x="0" y="143"/>
                    <a:pt x="2" y="145"/>
                    <a:pt x="5" y="145"/>
                  </a:cubicBezTo>
                  <a:cubicBezTo>
                    <a:pt x="15" y="145"/>
                    <a:pt x="15" y="145"/>
                    <a:pt x="15" y="145"/>
                  </a:cubicBezTo>
                  <a:cubicBezTo>
                    <a:pt x="18" y="145"/>
                    <a:pt x="20" y="143"/>
                    <a:pt x="20" y="140"/>
                  </a:cubicBezTo>
                  <a:cubicBezTo>
                    <a:pt x="20" y="138"/>
                    <a:pt x="20" y="138"/>
                    <a:pt x="20" y="138"/>
                  </a:cubicBezTo>
                  <a:cubicBezTo>
                    <a:pt x="70" y="147"/>
                    <a:pt x="70" y="147"/>
                    <a:pt x="70" y="147"/>
                  </a:cubicBezTo>
                  <a:cubicBezTo>
                    <a:pt x="70" y="147"/>
                    <a:pt x="70" y="148"/>
                    <a:pt x="70" y="148"/>
                  </a:cubicBezTo>
                  <a:cubicBezTo>
                    <a:pt x="70" y="175"/>
                    <a:pt x="91" y="196"/>
                    <a:pt x="117" y="196"/>
                  </a:cubicBezTo>
                  <a:cubicBezTo>
                    <a:pt x="138" y="196"/>
                    <a:pt x="156" y="182"/>
                    <a:pt x="162" y="162"/>
                  </a:cubicBezTo>
                  <a:cubicBezTo>
                    <a:pt x="205" y="170"/>
                    <a:pt x="205" y="170"/>
                    <a:pt x="205" y="170"/>
                  </a:cubicBezTo>
                  <a:cubicBezTo>
                    <a:pt x="205" y="175"/>
                    <a:pt x="205" y="175"/>
                    <a:pt x="205" y="175"/>
                  </a:cubicBezTo>
                  <a:cubicBezTo>
                    <a:pt x="205" y="178"/>
                    <a:pt x="207" y="180"/>
                    <a:pt x="210" y="180"/>
                  </a:cubicBezTo>
                  <a:cubicBezTo>
                    <a:pt x="223" y="180"/>
                    <a:pt x="223" y="180"/>
                    <a:pt x="223" y="180"/>
                  </a:cubicBezTo>
                  <a:cubicBezTo>
                    <a:pt x="226" y="180"/>
                    <a:pt x="228" y="178"/>
                    <a:pt x="228" y="175"/>
                  </a:cubicBezTo>
                  <a:cubicBezTo>
                    <a:pt x="228" y="5"/>
                    <a:pt x="228" y="5"/>
                    <a:pt x="228" y="5"/>
                  </a:cubicBezTo>
                  <a:cubicBezTo>
                    <a:pt x="228" y="2"/>
                    <a:pt x="226" y="0"/>
                    <a:pt x="223" y="0"/>
                  </a:cubicBezTo>
                  <a:moveTo>
                    <a:pt x="117" y="177"/>
                  </a:moveTo>
                  <a:cubicBezTo>
                    <a:pt x="102" y="177"/>
                    <a:pt x="90" y="165"/>
                    <a:pt x="89" y="150"/>
                  </a:cubicBezTo>
                  <a:cubicBezTo>
                    <a:pt x="143" y="159"/>
                    <a:pt x="143" y="159"/>
                    <a:pt x="143" y="159"/>
                  </a:cubicBezTo>
                  <a:cubicBezTo>
                    <a:pt x="139" y="170"/>
                    <a:pt x="129" y="177"/>
                    <a:pt x="117" y="177"/>
                  </a:cubicBezTo>
                  <a:moveTo>
                    <a:pt x="199" y="53"/>
                  </a:moveTo>
                  <a:cubicBezTo>
                    <a:pt x="31" y="76"/>
                    <a:pt x="31" y="76"/>
                    <a:pt x="31" y="76"/>
                  </a:cubicBezTo>
                  <a:cubicBezTo>
                    <a:pt x="30" y="76"/>
                    <a:pt x="30" y="76"/>
                    <a:pt x="30" y="76"/>
                  </a:cubicBezTo>
                  <a:cubicBezTo>
                    <a:pt x="26" y="76"/>
                    <a:pt x="23" y="73"/>
                    <a:pt x="23" y="70"/>
                  </a:cubicBezTo>
                  <a:cubicBezTo>
                    <a:pt x="22" y="66"/>
                    <a:pt x="25" y="62"/>
                    <a:pt x="29" y="62"/>
                  </a:cubicBezTo>
                  <a:cubicBezTo>
                    <a:pt x="197" y="39"/>
                    <a:pt x="197" y="39"/>
                    <a:pt x="197" y="39"/>
                  </a:cubicBezTo>
                  <a:cubicBezTo>
                    <a:pt x="201" y="38"/>
                    <a:pt x="204" y="41"/>
                    <a:pt x="205" y="45"/>
                  </a:cubicBezTo>
                  <a:cubicBezTo>
                    <a:pt x="205" y="49"/>
                    <a:pt x="203" y="52"/>
                    <a:pt x="199" y="53"/>
                  </a:cubicBezTo>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2" name="组合 1"/>
          <p:cNvGrpSpPr/>
          <p:nvPr/>
        </p:nvGrpSpPr>
        <p:grpSpPr>
          <a:xfrm>
            <a:off x="423863" y="1647825"/>
            <a:ext cx="1123950" cy="1122363"/>
            <a:chOff x="424651" y="1647340"/>
            <a:chExt cx="1123570" cy="1123570"/>
          </a:xfrm>
        </p:grpSpPr>
        <p:sp>
          <p:nvSpPr>
            <p:cNvPr id="25" name="i$liḋe-Oval 10"/>
            <p:cNvSpPr/>
            <p:nvPr/>
          </p:nvSpPr>
          <p:spPr>
            <a:xfrm>
              <a:off x="424651" y="1647340"/>
              <a:ext cx="1123570" cy="1123570"/>
            </a:xfrm>
            <a:prstGeom prst="ellipse">
              <a:avLst/>
            </a:pr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Arial" panose="020B0604020202020204" pitchFamily="34" charset="0"/>
                <a:ea typeface="+mn-ea"/>
                <a:cs typeface="+mn-cs"/>
                <a:sym typeface="Arial" panose="020B0604020202020204" pitchFamily="34" charset="0"/>
              </a:endParaRPr>
            </a:p>
          </p:txBody>
        </p:sp>
        <p:sp>
          <p:nvSpPr>
            <p:cNvPr id="26" name="i$liḋe-Freeform: Shape 11"/>
            <p:cNvSpPr/>
            <p:nvPr/>
          </p:nvSpPr>
          <p:spPr bwMode="auto">
            <a:xfrm>
              <a:off x="692847" y="1876186"/>
              <a:ext cx="587176" cy="665878"/>
            </a:xfrm>
            <a:custGeom>
              <a:avLst/>
              <a:gdLst>
                <a:gd name="T0" fmla="*/ 62 w 240"/>
                <a:gd name="T1" fmla="*/ 49 h 272"/>
                <a:gd name="T2" fmla="*/ 35 w 240"/>
                <a:gd name="T3" fmla="*/ 35 h 272"/>
                <a:gd name="T4" fmla="*/ 49 w 240"/>
                <a:gd name="T5" fmla="*/ 62 h 272"/>
                <a:gd name="T6" fmla="*/ 62 w 240"/>
                <a:gd name="T7" fmla="*/ 62 h 272"/>
                <a:gd name="T8" fmla="*/ 9 w 240"/>
                <a:gd name="T9" fmla="*/ 111 h 272"/>
                <a:gd name="T10" fmla="*/ 9 w 240"/>
                <a:gd name="T11" fmla="*/ 130 h 272"/>
                <a:gd name="T12" fmla="*/ 38 w 240"/>
                <a:gd name="T13" fmla="*/ 120 h 272"/>
                <a:gd name="T14" fmla="*/ 120 w 240"/>
                <a:gd name="T15" fmla="*/ 38 h 272"/>
                <a:gd name="T16" fmla="*/ 129 w 240"/>
                <a:gd name="T17" fmla="*/ 10 h 272"/>
                <a:gd name="T18" fmla="*/ 111 w 240"/>
                <a:gd name="T19" fmla="*/ 10 h 272"/>
                <a:gd name="T20" fmla="*/ 120 w 240"/>
                <a:gd name="T21" fmla="*/ 38 h 272"/>
                <a:gd name="T22" fmla="*/ 107 w 240"/>
                <a:gd name="T23" fmla="*/ 272 h 272"/>
                <a:gd name="T24" fmla="*/ 153 w 240"/>
                <a:gd name="T25" fmla="*/ 253 h 272"/>
                <a:gd name="T26" fmla="*/ 87 w 240"/>
                <a:gd name="T27" fmla="*/ 244 h 272"/>
                <a:gd name="T28" fmla="*/ 205 w 240"/>
                <a:gd name="T29" fmla="*/ 35 h 272"/>
                <a:gd name="T30" fmla="*/ 178 w 240"/>
                <a:gd name="T31" fmla="*/ 49 h 272"/>
                <a:gd name="T32" fmla="*/ 185 w 240"/>
                <a:gd name="T33" fmla="*/ 65 h 272"/>
                <a:gd name="T34" fmla="*/ 205 w 240"/>
                <a:gd name="T35" fmla="*/ 49 h 272"/>
                <a:gd name="T36" fmla="*/ 120 w 240"/>
                <a:gd name="T37" fmla="*/ 49 h 272"/>
                <a:gd name="T38" fmla="*/ 61 w 240"/>
                <a:gd name="T39" fmla="*/ 156 h 272"/>
                <a:gd name="T40" fmla="*/ 78 w 240"/>
                <a:gd name="T41" fmla="*/ 186 h 272"/>
                <a:gd name="T42" fmla="*/ 75 w 240"/>
                <a:gd name="T43" fmla="*/ 199 h 272"/>
                <a:gd name="T44" fmla="*/ 69 w 240"/>
                <a:gd name="T45" fmla="*/ 229 h 272"/>
                <a:gd name="T46" fmla="*/ 166 w 240"/>
                <a:gd name="T47" fmla="*/ 235 h 272"/>
                <a:gd name="T48" fmla="*/ 171 w 240"/>
                <a:gd name="T49" fmla="*/ 204 h 272"/>
                <a:gd name="T50" fmla="*/ 162 w 240"/>
                <a:gd name="T51" fmla="*/ 199 h 272"/>
                <a:gd name="T52" fmla="*/ 178 w 240"/>
                <a:gd name="T53" fmla="*/ 158 h 272"/>
                <a:gd name="T54" fmla="*/ 120 w 240"/>
                <a:gd name="T55" fmla="*/ 49 h 272"/>
                <a:gd name="T56" fmla="*/ 117 w 240"/>
                <a:gd name="T57" fmla="*/ 136 h 272"/>
                <a:gd name="T58" fmla="*/ 120 w 240"/>
                <a:gd name="T59" fmla="*/ 170 h 272"/>
                <a:gd name="T60" fmla="*/ 143 w 240"/>
                <a:gd name="T61" fmla="*/ 186 h 272"/>
                <a:gd name="T62" fmla="*/ 127 w 240"/>
                <a:gd name="T63" fmla="*/ 199 h 272"/>
                <a:gd name="T64" fmla="*/ 141 w 240"/>
                <a:gd name="T65" fmla="*/ 136 h 272"/>
                <a:gd name="T66" fmla="*/ 141 w 240"/>
                <a:gd name="T67" fmla="*/ 107 h 272"/>
                <a:gd name="T68" fmla="*/ 125 w 240"/>
                <a:gd name="T69" fmla="*/ 127 h 272"/>
                <a:gd name="T70" fmla="*/ 111 w 240"/>
                <a:gd name="T71" fmla="*/ 111 h 272"/>
                <a:gd name="T72" fmla="*/ 85 w 240"/>
                <a:gd name="T73" fmla="*/ 122 h 272"/>
                <a:gd name="T74" fmla="*/ 107 w 240"/>
                <a:gd name="T75" fmla="*/ 136 h 272"/>
                <a:gd name="T76" fmla="*/ 97 w 240"/>
                <a:gd name="T77" fmla="*/ 199 h 272"/>
                <a:gd name="T78" fmla="*/ 78 w 240"/>
                <a:gd name="T79" fmla="*/ 147 h 272"/>
                <a:gd name="T80" fmla="*/ 77 w 240"/>
                <a:gd name="T81" fmla="*/ 146 h 272"/>
                <a:gd name="T82" fmla="*/ 120 w 240"/>
                <a:gd name="T83" fmla="*/ 68 h 272"/>
                <a:gd name="T84" fmla="*/ 162 w 240"/>
                <a:gd name="T85" fmla="*/ 147 h 272"/>
                <a:gd name="T86" fmla="*/ 138 w 240"/>
                <a:gd name="T87" fmla="*/ 117 h 272"/>
                <a:gd name="T88" fmla="*/ 147 w 240"/>
                <a:gd name="T89" fmla="*/ 122 h 272"/>
                <a:gd name="T90" fmla="*/ 135 w 240"/>
                <a:gd name="T91" fmla="*/ 127 h 272"/>
                <a:gd name="T92" fmla="*/ 100 w 240"/>
                <a:gd name="T93" fmla="*/ 127 h 272"/>
                <a:gd name="T94" fmla="*/ 100 w 240"/>
                <a:gd name="T95" fmla="*/ 116 h 272"/>
                <a:gd name="T96" fmla="*/ 107 w 240"/>
                <a:gd name="T97" fmla="*/ 127 h 272"/>
                <a:gd name="T98" fmla="*/ 212 w 240"/>
                <a:gd name="T99" fmla="*/ 111 h 272"/>
                <a:gd name="T100" fmla="*/ 212 w 240"/>
                <a:gd name="T101" fmla="*/ 130 h 272"/>
                <a:gd name="T102" fmla="*/ 240 w 240"/>
                <a:gd name="T103" fmla="*/ 12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0" h="272">
                  <a:moveTo>
                    <a:pt x="62" y="62"/>
                  </a:moveTo>
                  <a:cubicBezTo>
                    <a:pt x="66" y="58"/>
                    <a:pt x="66" y="52"/>
                    <a:pt x="62" y="49"/>
                  </a:cubicBezTo>
                  <a:cubicBezTo>
                    <a:pt x="49" y="35"/>
                    <a:pt x="49" y="35"/>
                    <a:pt x="49" y="35"/>
                  </a:cubicBezTo>
                  <a:cubicBezTo>
                    <a:pt x="45" y="32"/>
                    <a:pt x="39" y="32"/>
                    <a:pt x="35" y="35"/>
                  </a:cubicBezTo>
                  <a:cubicBezTo>
                    <a:pt x="32" y="39"/>
                    <a:pt x="32" y="45"/>
                    <a:pt x="35" y="49"/>
                  </a:cubicBezTo>
                  <a:cubicBezTo>
                    <a:pt x="49" y="62"/>
                    <a:pt x="49" y="62"/>
                    <a:pt x="49" y="62"/>
                  </a:cubicBezTo>
                  <a:cubicBezTo>
                    <a:pt x="50" y="64"/>
                    <a:pt x="53" y="65"/>
                    <a:pt x="55" y="65"/>
                  </a:cubicBezTo>
                  <a:cubicBezTo>
                    <a:pt x="58" y="65"/>
                    <a:pt x="60" y="64"/>
                    <a:pt x="62" y="62"/>
                  </a:cubicBezTo>
                  <a:moveTo>
                    <a:pt x="28" y="111"/>
                  </a:moveTo>
                  <a:cubicBezTo>
                    <a:pt x="9" y="111"/>
                    <a:pt x="9" y="111"/>
                    <a:pt x="9" y="111"/>
                  </a:cubicBezTo>
                  <a:cubicBezTo>
                    <a:pt x="4" y="111"/>
                    <a:pt x="0" y="115"/>
                    <a:pt x="0" y="120"/>
                  </a:cubicBezTo>
                  <a:cubicBezTo>
                    <a:pt x="0" y="125"/>
                    <a:pt x="4" y="130"/>
                    <a:pt x="9" y="130"/>
                  </a:cubicBezTo>
                  <a:cubicBezTo>
                    <a:pt x="28" y="130"/>
                    <a:pt x="28" y="130"/>
                    <a:pt x="28" y="130"/>
                  </a:cubicBezTo>
                  <a:cubicBezTo>
                    <a:pt x="34" y="130"/>
                    <a:pt x="38" y="125"/>
                    <a:pt x="38" y="120"/>
                  </a:cubicBezTo>
                  <a:cubicBezTo>
                    <a:pt x="38" y="115"/>
                    <a:pt x="34" y="111"/>
                    <a:pt x="28" y="111"/>
                  </a:cubicBezTo>
                  <a:moveTo>
                    <a:pt x="120" y="38"/>
                  </a:moveTo>
                  <a:cubicBezTo>
                    <a:pt x="125" y="38"/>
                    <a:pt x="129" y="34"/>
                    <a:pt x="129" y="29"/>
                  </a:cubicBezTo>
                  <a:cubicBezTo>
                    <a:pt x="129" y="10"/>
                    <a:pt x="129" y="10"/>
                    <a:pt x="129" y="10"/>
                  </a:cubicBezTo>
                  <a:cubicBezTo>
                    <a:pt x="129" y="4"/>
                    <a:pt x="125" y="0"/>
                    <a:pt x="120" y="0"/>
                  </a:cubicBezTo>
                  <a:cubicBezTo>
                    <a:pt x="115" y="0"/>
                    <a:pt x="111" y="4"/>
                    <a:pt x="111" y="10"/>
                  </a:cubicBezTo>
                  <a:cubicBezTo>
                    <a:pt x="111" y="29"/>
                    <a:pt x="111" y="29"/>
                    <a:pt x="111" y="29"/>
                  </a:cubicBezTo>
                  <a:cubicBezTo>
                    <a:pt x="111" y="34"/>
                    <a:pt x="115" y="38"/>
                    <a:pt x="120" y="38"/>
                  </a:cubicBezTo>
                  <a:moveTo>
                    <a:pt x="87" y="253"/>
                  </a:moveTo>
                  <a:cubicBezTo>
                    <a:pt x="87" y="264"/>
                    <a:pt x="96" y="272"/>
                    <a:pt x="107" y="272"/>
                  </a:cubicBezTo>
                  <a:cubicBezTo>
                    <a:pt x="133" y="272"/>
                    <a:pt x="133" y="272"/>
                    <a:pt x="133" y="272"/>
                  </a:cubicBezTo>
                  <a:cubicBezTo>
                    <a:pt x="144" y="272"/>
                    <a:pt x="153" y="264"/>
                    <a:pt x="153" y="253"/>
                  </a:cubicBezTo>
                  <a:cubicBezTo>
                    <a:pt x="153" y="244"/>
                    <a:pt x="153" y="244"/>
                    <a:pt x="153" y="244"/>
                  </a:cubicBezTo>
                  <a:cubicBezTo>
                    <a:pt x="87" y="244"/>
                    <a:pt x="87" y="244"/>
                    <a:pt x="87" y="244"/>
                  </a:cubicBezTo>
                  <a:cubicBezTo>
                    <a:pt x="87" y="253"/>
                    <a:pt x="87" y="253"/>
                    <a:pt x="87" y="253"/>
                  </a:cubicBezTo>
                  <a:close/>
                  <a:moveTo>
                    <a:pt x="205" y="35"/>
                  </a:moveTo>
                  <a:cubicBezTo>
                    <a:pt x="201" y="32"/>
                    <a:pt x="195" y="32"/>
                    <a:pt x="192" y="35"/>
                  </a:cubicBezTo>
                  <a:cubicBezTo>
                    <a:pt x="178" y="49"/>
                    <a:pt x="178" y="49"/>
                    <a:pt x="178" y="49"/>
                  </a:cubicBezTo>
                  <a:cubicBezTo>
                    <a:pt x="174" y="52"/>
                    <a:pt x="174" y="58"/>
                    <a:pt x="178" y="62"/>
                  </a:cubicBezTo>
                  <a:cubicBezTo>
                    <a:pt x="180" y="64"/>
                    <a:pt x="182" y="65"/>
                    <a:pt x="185" y="65"/>
                  </a:cubicBezTo>
                  <a:cubicBezTo>
                    <a:pt x="187" y="65"/>
                    <a:pt x="190" y="64"/>
                    <a:pt x="192" y="62"/>
                  </a:cubicBezTo>
                  <a:cubicBezTo>
                    <a:pt x="205" y="49"/>
                    <a:pt x="205" y="49"/>
                    <a:pt x="205" y="49"/>
                  </a:cubicBezTo>
                  <a:cubicBezTo>
                    <a:pt x="209" y="45"/>
                    <a:pt x="209" y="39"/>
                    <a:pt x="205" y="35"/>
                  </a:cubicBezTo>
                  <a:moveTo>
                    <a:pt x="120" y="49"/>
                  </a:moveTo>
                  <a:cubicBezTo>
                    <a:pt x="81" y="49"/>
                    <a:pt x="50" y="80"/>
                    <a:pt x="50" y="118"/>
                  </a:cubicBezTo>
                  <a:cubicBezTo>
                    <a:pt x="50" y="132"/>
                    <a:pt x="54" y="145"/>
                    <a:pt x="61" y="156"/>
                  </a:cubicBezTo>
                  <a:cubicBezTo>
                    <a:pt x="62" y="157"/>
                    <a:pt x="62" y="158"/>
                    <a:pt x="62" y="158"/>
                  </a:cubicBezTo>
                  <a:cubicBezTo>
                    <a:pt x="75" y="176"/>
                    <a:pt x="78" y="182"/>
                    <a:pt x="78" y="186"/>
                  </a:cubicBezTo>
                  <a:cubicBezTo>
                    <a:pt x="78" y="199"/>
                    <a:pt x="78" y="199"/>
                    <a:pt x="78" y="199"/>
                  </a:cubicBezTo>
                  <a:cubicBezTo>
                    <a:pt x="75" y="199"/>
                    <a:pt x="75" y="199"/>
                    <a:pt x="75" y="199"/>
                  </a:cubicBezTo>
                  <a:cubicBezTo>
                    <a:pt x="71" y="199"/>
                    <a:pt x="69" y="200"/>
                    <a:pt x="69" y="204"/>
                  </a:cubicBezTo>
                  <a:cubicBezTo>
                    <a:pt x="69" y="229"/>
                    <a:pt x="69" y="229"/>
                    <a:pt x="69" y="229"/>
                  </a:cubicBezTo>
                  <a:cubicBezTo>
                    <a:pt x="69" y="233"/>
                    <a:pt x="71" y="235"/>
                    <a:pt x="75" y="235"/>
                  </a:cubicBezTo>
                  <a:cubicBezTo>
                    <a:pt x="166" y="235"/>
                    <a:pt x="166" y="235"/>
                    <a:pt x="166" y="235"/>
                  </a:cubicBezTo>
                  <a:cubicBezTo>
                    <a:pt x="169" y="235"/>
                    <a:pt x="171" y="233"/>
                    <a:pt x="171" y="229"/>
                  </a:cubicBezTo>
                  <a:cubicBezTo>
                    <a:pt x="171" y="204"/>
                    <a:pt x="171" y="204"/>
                    <a:pt x="171" y="204"/>
                  </a:cubicBezTo>
                  <a:cubicBezTo>
                    <a:pt x="171" y="200"/>
                    <a:pt x="169" y="199"/>
                    <a:pt x="166" y="199"/>
                  </a:cubicBezTo>
                  <a:cubicBezTo>
                    <a:pt x="162" y="199"/>
                    <a:pt x="162" y="199"/>
                    <a:pt x="162" y="199"/>
                  </a:cubicBezTo>
                  <a:cubicBezTo>
                    <a:pt x="162" y="186"/>
                    <a:pt x="162" y="186"/>
                    <a:pt x="162" y="186"/>
                  </a:cubicBezTo>
                  <a:cubicBezTo>
                    <a:pt x="162" y="183"/>
                    <a:pt x="163" y="178"/>
                    <a:pt x="178" y="158"/>
                  </a:cubicBezTo>
                  <a:cubicBezTo>
                    <a:pt x="186" y="146"/>
                    <a:pt x="190" y="133"/>
                    <a:pt x="190" y="118"/>
                  </a:cubicBezTo>
                  <a:cubicBezTo>
                    <a:pt x="190" y="80"/>
                    <a:pt x="159" y="49"/>
                    <a:pt x="120" y="49"/>
                  </a:cubicBezTo>
                  <a:moveTo>
                    <a:pt x="120" y="170"/>
                  </a:moveTo>
                  <a:cubicBezTo>
                    <a:pt x="117" y="136"/>
                    <a:pt x="117" y="136"/>
                    <a:pt x="117" y="136"/>
                  </a:cubicBezTo>
                  <a:cubicBezTo>
                    <a:pt x="124" y="136"/>
                    <a:pt x="124" y="136"/>
                    <a:pt x="124" y="136"/>
                  </a:cubicBezTo>
                  <a:lnTo>
                    <a:pt x="120" y="170"/>
                  </a:lnTo>
                  <a:close/>
                  <a:moveTo>
                    <a:pt x="162" y="147"/>
                  </a:moveTo>
                  <a:cubicBezTo>
                    <a:pt x="147" y="168"/>
                    <a:pt x="143" y="176"/>
                    <a:pt x="143" y="186"/>
                  </a:cubicBezTo>
                  <a:cubicBezTo>
                    <a:pt x="143" y="199"/>
                    <a:pt x="143" y="199"/>
                    <a:pt x="143" y="199"/>
                  </a:cubicBezTo>
                  <a:cubicBezTo>
                    <a:pt x="127" y="199"/>
                    <a:pt x="127" y="199"/>
                    <a:pt x="127" y="199"/>
                  </a:cubicBezTo>
                  <a:cubicBezTo>
                    <a:pt x="134" y="136"/>
                    <a:pt x="134" y="136"/>
                    <a:pt x="134" y="136"/>
                  </a:cubicBezTo>
                  <a:cubicBezTo>
                    <a:pt x="141" y="136"/>
                    <a:pt x="141" y="136"/>
                    <a:pt x="141" y="136"/>
                  </a:cubicBezTo>
                  <a:cubicBezTo>
                    <a:pt x="149" y="136"/>
                    <a:pt x="156" y="130"/>
                    <a:pt x="156" y="122"/>
                  </a:cubicBezTo>
                  <a:cubicBezTo>
                    <a:pt x="156" y="113"/>
                    <a:pt x="149" y="107"/>
                    <a:pt x="141" y="107"/>
                  </a:cubicBezTo>
                  <a:cubicBezTo>
                    <a:pt x="137" y="107"/>
                    <a:pt x="134" y="108"/>
                    <a:pt x="131" y="111"/>
                  </a:cubicBezTo>
                  <a:cubicBezTo>
                    <a:pt x="127" y="115"/>
                    <a:pt x="125" y="122"/>
                    <a:pt x="125" y="127"/>
                  </a:cubicBezTo>
                  <a:cubicBezTo>
                    <a:pt x="116" y="127"/>
                    <a:pt x="116" y="127"/>
                    <a:pt x="116" y="127"/>
                  </a:cubicBezTo>
                  <a:cubicBezTo>
                    <a:pt x="116" y="122"/>
                    <a:pt x="115" y="116"/>
                    <a:pt x="111" y="111"/>
                  </a:cubicBezTo>
                  <a:cubicBezTo>
                    <a:pt x="108" y="108"/>
                    <a:pt x="104" y="107"/>
                    <a:pt x="100" y="107"/>
                  </a:cubicBezTo>
                  <a:cubicBezTo>
                    <a:pt x="92" y="107"/>
                    <a:pt x="85" y="113"/>
                    <a:pt x="85" y="122"/>
                  </a:cubicBezTo>
                  <a:cubicBezTo>
                    <a:pt x="85" y="130"/>
                    <a:pt x="92" y="136"/>
                    <a:pt x="100" y="136"/>
                  </a:cubicBezTo>
                  <a:cubicBezTo>
                    <a:pt x="107" y="136"/>
                    <a:pt x="107" y="136"/>
                    <a:pt x="107" y="136"/>
                  </a:cubicBezTo>
                  <a:cubicBezTo>
                    <a:pt x="114" y="199"/>
                    <a:pt x="114" y="199"/>
                    <a:pt x="114" y="199"/>
                  </a:cubicBezTo>
                  <a:cubicBezTo>
                    <a:pt x="97" y="199"/>
                    <a:pt x="97" y="199"/>
                    <a:pt x="97" y="199"/>
                  </a:cubicBezTo>
                  <a:cubicBezTo>
                    <a:pt x="97" y="186"/>
                    <a:pt x="97" y="186"/>
                    <a:pt x="97" y="186"/>
                  </a:cubicBezTo>
                  <a:cubicBezTo>
                    <a:pt x="97" y="177"/>
                    <a:pt x="93" y="168"/>
                    <a:pt x="78" y="147"/>
                  </a:cubicBezTo>
                  <a:cubicBezTo>
                    <a:pt x="78" y="147"/>
                    <a:pt x="78" y="147"/>
                    <a:pt x="78" y="147"/>
                  </a:cubicBezTo>
                  <a:cubicBezTo>
                    <a:pt x="77" y="146"/>
                    <a:pt x="77" y="146"/>
                    <a:pt x="77" y="146"/>
                  </a:cubicBezTo>
                  <a:cubicBezTo>
                    <a:pt x="71" y="138"/>
                    <a:pt x="68" y="128"/>
                    <a:pt x="68" y="118"/>
                  </a:cubicBezTo>
                  <a:cubicBezTo>
                    <a:pt x="68" y="91"/>
                    <a:pt x="92" y="68"/>
                    <a:pt x="120" y="68"/>
                  </a:cubicBezTo>
                  <a:cubicBezTo>
                    <a:pt x="148" y="68"/>
                    <a:pt x="172" y="91"/>
                    <a:pt x="172" y="118"/>
                  </a:cubicBezTo>
                  <a:cubicBezTo>
                    <a:pt x="172" y="129"/>
                    <a:pt x="168" y="139"/>
                    <a:pt x="162" y="147"/>
                  </a:cubicBezTo>
                  <a:moveTo>
                    <a:pt x="135" y="127"/>
                  </a:moveTo>
                  <a:cubicBezTo>
                    <a:pt x="135" y="124"/>
                    <a:pt x="136" y="119"/>
                    <a:pt x="138" y="117"/>
                  </a:cubicBezTo>
                  <a:cubicBezTo>
                    <a:pt x="139" y="116"/>
                    <a:pt x="140" y="116"/>
                    <a:pt x="141" y="116"/>
                  </a:cubicBezTo>
                  <a:cubicBezTo>
                    <a:pt x="144" y="116"/>
                    <a:pt x="147" y="119"/>
                    <a:pt x="147" y="122"/>
                  </a:cubicBezTo>
                  <a:cubicBezTo>
                    <a:pt x="147" y="125"/>
                    <a:pt x="144" y="127"/>
                    <a:pt x="141" y="127"/>
                  </a:cubicBezTo>
                  <a:cubicBezTo>
                    <a:pt x="135" y="127"/>
                    <a:pt x="135" y="127"/>
                    <a:pt x="135" y="127"/>
                  </a:cubicBezTo>
                  <a:close/>
                  <a:moveTo>
                    <a:pt x="107" y="127"/>
                  </a:moveTo>
                  <a:cubicBezTo>
                    <a:pt x="100" y="127"/>
                    <a:pt x="100" y="127"/>
                    <a:pt x="100" y="127"/>
                  </a:cubicBezTo>
                  <a:cubicBezTo>
                    <a:pt x="97" y="127"/>
                    <a:pt x="94" y="125"/>
                    <a:pt x="94" y="122"/>
                  </a:cubicBezTo>
                  <a:cubicBezTo>
                    <a:pt x="94" y="119"/>
                    <a:pt x="97" y="116"/>
                    <a:pt x="100" y="116"/>
                  </a:cubicBezTo>
                  <a:cubicBezTo>
                    <a:pt x="102" y="116"/>
                    <a:pt x="103" y="117"/>
                    <a:pt x="104" y="118"/>
                  </a:cubicBezTo>
                  <a:cubicBezTo>
                    <a:pt x="106" y="120"/>
                    <a:pt x="107" y="124"/>
                    <a:pt x="107" y="127"/>
                  </a:cubicBezTo>
                  <a:moveTo>
                    <a:pt x="231" y="111"/>
                  </a:moveTo>
                  <a:cubicBezTo>
                    <a:pt x="212" y="111"/>
                    <a:pt x="212" y="111"/>
                    <a:pt x="212" y="111"/>
                  </a:cubicBezTo>
                  <a:cubicBezTo>
                    <a:pt x="206" y="111"/>
                    <a:pt x="202" y="115"/>
                    <a:pt x="202" y="120"/>
                  </a:cubicBezTo>
                  <a:cubicBezTo>
                    <a:pt x="202" y="125"/>
                    <a:pt x="206" y="130"/>
                    <a:pt x="212" y="130"/>
                  </a:cubicBezTo>
                  <a:cubicBezTo>
                    <a:pt x="231" y="130"/>
                    <a:pt x="231" y="130"/>
                    <a:pt x="231" y="130"/>
                  </a:cubicBezTo>
                  <a:cubicBezTo>
                    <a:pt x="236" y="130"/>
                    <a:pt x="240" y="125"/>
                    <a:pt x="240" y="120"/>
                  </a:cubicBezTo>
                  <a:cubicBezTo>
                    <a:pt x="240" y="115"/>
                    <a:pt x="236" y="111"/>
                    <a:pt x="231" y="111"/>
                  </a:cubicBezTo>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sp>
        <p:nvSpPr>
          <p:cNvPr id="31" name="Rectangle 27"/>
          <p:cNvSpPr>
            <a:spLocks noChangeArrowheads="1"/>
          </p:cNvSpPr>
          <p:nvPr/>
        </p:nvSpPr>
        <p:spPr bwMode="auto">
          <a:xfrm>
            <a:off x="2802049" y="3147572"/>
            <a:ext cx="1474291" cy="511615"/>
          </a:xfrm>
          <a:prstGeom prst="rect">
            <a:avLst/>
          </a:prstGeom>
          <a:noFill/>
          <a:ln>
            <a:noFill/>
          </a:ln>
        </p:spPr>
        <p:txBody>
          <a:bodyPr wrap="squar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Tx/>
              <a:buNone/>
              <a:defRPr/>
            </a:pPr>
            <a:r>
              <a:rPr kumimoji="0" lang="zh-CN" altLang="en-US" sz="2400" b="0" i="0" u="none" strike="noStrike" kern="1200" cap="none" spc="0" normalizeH="0" baseline="0" noProof="0" dirty="0">
                <a:ln>
                  <a:noFill/>
                </a:ln>
                <a:effectLst/>
                <a:uLnTx/>
                <a:uFillTx/>
                <a:latin typeface="+mn-lt"/>
                <a:ea typeface="+mn-ea"/>
                <a:cs typeface="+mn-ea"/>
                <a:sym typeface="+mn-lt"/>
              </a:rPr>
              <a:t>平均最好</a:t>
            </a:r>
          </a:p>
        </p:txBody>
      </p:sp>
      <p:sp>
        <p:nvSpPr>
          <p:cNvPr id="32" name="Rectangle 27"/>
          <p:cNvSpPr>
            <a:spLocks noChangeArrowheads="1"/>
          </p:cNvSpPr>
          <p:nvPr/>
        </p:nvSpPr>
        <p:spPr bwMode="auto">
          <a:xfrm>
            <a:off x="5487988" y="3088767"/>
            <a:ext cx="970136" cy="511615"/>
          </a:xfrm>
          <a:prstGeom prst="rect">
            <a:avLst/>
          </a:prstGeom>
          <a:noFill/>
          <a:ln>
            <a:noFill/>
          </a:ln>
        </p:spPr>
        <p:txBody>
          <a:bodyPr wrap="squar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递归</a:t>
            </a:r>
          </a:p>
        </p:txBody>
      </p:sp>
      <p:sp>
        <p:nvSpPr>
          <p:cNvPr id="33" name="Rectangle 27"/>
          <p:cNvSpPr>
            <a:spLocks noChangeArrowheads="1"/>
          </p:cNvSpPr>
          <p:nvPr/>
        </p:nvSpPr>
        <p:spPr bwMode="auto">
          <a:xfrm>
            <a:off x="6904038" y="3089251"/>
            <a:ext cx="2065338" cy="51161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Tx/>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空间：</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O(log</a:t>
            </a:r>
            <a:r>
              <a:rPr kumimoji="0" lang="en-US" altLang="zh-CN" sz="2400" b="0" i="0" u="none" strike="noStrike" kern="1200" cap="none" spc="0" normalizeH="0" baseline="-25000" noProof="0" dirty="0">
                <a:ln>
                  <a:noFill/>
                </a:ln>
                <a:solidFill>
                  <a:srgbClr val="FF3300"/>
                </a:solidFill>
                <a:effectLst/>
                <a:uLnTx/>
                <a:uFillTx/>
                <a:latin typeface="+mn-lt"/>
                <a:ea typeface="+mn-ea"/>
                <a:cs typeface="+mn-ea"/>
                <a:sym typeface="+mn-lt"/>
              </a:rPr>
              <a:t>2</a:t>
            </a:r>
            <a:r>
              <a:rPr kumimoji="0" lang="en-US" altLang="zh-CN" sz="2400" b="0" i="1" u="none" strike="noStrike" kern="1200" cap="none" spc="0" normalizeH="0" baseline="0" noProof="0" dirty="0">
                <a:ln>
                  <a:noFill/>
                </a:ln>
                <a:solidFill>
                  <a:srgbClr val="FF3300"/>
                </a:solidFill>
                <a:effectLst/>
                <a:uLnTx/>
                <a:uFillTx/>
                <a:latin typeface="+mn-lt"/>
                <a:ea typeface="+mn-ea"/>
                <a:cs typeface="+mn-ea"/>
                <a:sym typeface="+mn-lt"/>
              </a:rPr>
              <a:t>n</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par>
                          <p:cTn id="8" fill="hold">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1016859">
                                            <p:txEl>
                                              <p:pRg st="0" end="0"/>
                                            </p:txEl>
                                          </p:spTgt>
                                        </p:tgtEl>
                                        <p:attrNameLst>
                                          <p:attrName>style.visibility</p:attrName>
                                        </p:attrNameLst>
                                      </p:cBhvr>
                                      <p:to>
                                        <p:strVal val="visible"/>
                                      </p:to>
                                    </p:set>
                                    <p:animEffect transition="in" filter="box(in)">
                                      <p:cBhvr>
                                        <p:cTn id="11" dur="500"/>
                                        <p:tgtEl>
                                          <p:spTgt spid="101685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4" presetClass="entr" presetSubtype="16"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ox(in)">
                                      <p:cBhvr>
                                        <p:cTn id="16" dur="500"/>
                                        <p:tgtEl>
                                          <p:spTgt spid="3"/>
                                        </p:tgtEl>
                                      </p:cBhvr>
                                    </p:animEffect>
                                  </p:childTnLst>
                                </p:cTn>
                              </p:par>
                            </p:childTnLst>
                          </p:cTn>
                        </p:par>
                        <p:par>
                          <p:cTn id="17" fill="hold">
                            <p:stCondLst>
                              <p:cond delay="500"/>
                            </p:stCondLst>
                            <p:childTnLst>
                              <p:par>
                                <p:cTn id="18" presetID="4" presetClass="entr" presetSubtype="16" fill="hold" grpId="0" nodeType="afterEffect">
                                  <p:stCondLst>
                                    <p:cond delay="0"/>
                                  </p:stCondLst>
                                  <p:childTnLst>
                                    <p:set>
                                      <p:cBhvr>
                                        <p:cTn id="19" dur="1" fill="hold">
                                          <p:stCondLst>
                                            <p:cond delay="0"/>
                                          </p:stCondLst>
                                        </p:cTn>
                                        <p:tgtEl>
                                          <p:spTgt spid="31">
                                            <p:txEl>
                                              <p:pRg st="0" end="0"/>
                                            </p:txEl>
                                          </p:spTgt>
                                        </p:tgtEl>
                                        <p:attrNameLst>
                                          <p:attrName>style.visibility</p:attrName>
                                        </p:attrNameLst>
                                      </p:cBhvr>
                                      <p:to>
                                        <p:strVal val="visible"/>
                                      </p:to>
                                    </p:set>
                                    <p:animEffect transition="in" filter="box(in)">
                                      <p:cBhvr>
                                        <p:cTn id="20" dur="500"/>
                                        <p:tgtEl>
                                          <p:spTgt spid="31">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box(in)">
                                      <p:cBhvr>
                                        <p:cTn id="25" dur="500"/>
                                        <p:tgtEl>
                                          <p:spTgt spid="34"/>
                                        </p:tgtEl>
                                      </p:cBhvr>
                                    </p:animEffect>
                                  </p:childTnLst>
                                </p:cTn>
                              </p:par>
                            </p:childTnLst>
                          </p:cTn>
                        </p:par>
                        <p:par>
                          <p:cTn id="26" fill="hold">
                            <p:stCondLst>
                              <p:cond delay="500"/>
                            </p:stCondLst>
                            <p:childTnLst>
                              <p:par>
                                <p:cTn id="27" presetID="4" presetClass="entr" presetSubtype="16" fill="hold" grpId="0" nodeType="afterEffect">
                                  <p:stCondLst>
                                    <p:cond delay="0"/>
                                  </p:stCondLst>
                                  <p:childTnLst>
                                    <p:set>
                                      <p:cBhvr>
                                        <p:cTn id="28" dur="1" fill="hold">
                                          <p:stCondLst>
                                            <p:cond delay="0"/>
                                          </p:stCondLst>
                                        </p:cTn>
                                        <p:tgtEl>
                                          <p:spTgt spid="32">
                                            <p:txEl>
                                              <p:pRg st="0" end="0"/>
                                            </p:txEl>
                                          </p:spTgt>
                                        </p:tgtEl>
                                        <p:attrNameLst>
                                          <p:attrName>style.visibility</p:attrName>
                                        </p:attrNameLst>
                                      </p:cBhvr>
                                      <p:to>
                                        <p:strVal val="visible"/>
                                      </p:to>
                                    </p:set>
                                    <p:animEffect transition="in" filter="box(in)">
                                      <p:cBhvr>
                                        <p:cTn id="29" dur="500"/>
                                        <p:tgtEl>
                                          <p:spTgt spid="32">
                                            <p:txEl>
                                              <p:pRg st="0" end="0"/>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4" presetClass="entr" presetSubtype="16" fill="hold" nodeType="clickEffect">
                                  <p:stCondLst>
                                    <p:cond delay="0"/>
                                  </p:stCondLst>
                                  <p:childTnLst>
                                    <p:set>
                                      <p:cBhvr>
                                        <p:cTn id="33" dur="1" fill="hold">
                                          <p:stCondLst>
                                            <p:cond delay="0"/>
                                          </p:stCondLst>
                                        </p:cTn>
                                        <p:tgtEl>
                                          <p:spTgt spid="35"/>
                                        </p:tgtEl>
                                        <p:attrNameLst>
                                          <p:attrName>style.visibility</p:attrName>
                                        </p:attrNameLst>
                                      </p:cBhvr>
                                      <p:to>
                                        <p:strVal val="visible"/>
                                      </p:to>
                                    </p:set>
                                    <p:animEffect transition="in" filter="box(in)">
                                      <p:cBhvr>
                                        <p:cTn id="34" dur="500"/>
                                        <p:tgtEl>
                                          <p:spTgt spid="35"/>
                                        </p:tgtEl>
                                      </p:cBhvr>
                                    </p:animEffect>
                                  </p:childTnLst>
                                </p:cTn>
                              </p:par>
                            </p:childTnLst>
                          </p:cTn>
                        </p:par>
                        <p:par>
                          <p:cTn id="35" fill="hold">
                            <p:stCondLst>
                              <p:cond delay="500"/>
                            </p:stCondLst>
                            <p:childTnLst>
                              <p:par>
                                <p:cTn id="36" presetID="4" presetClass="entr" presetSubtype="16" fill="hold" grpId="0" nodeType="afterEffect">
                                  <p:stCondLst>
                                    <p:cond delay="0"/>
                                  </p:stCondLst>
                                  <p:childTnLst>
                                    <p:set>
                                      <p:cBhvr>
                                        <p:cTn id="37" dur="1" fill="hold">
                                          <p:stCondLst>
                                            <p:cond delay="0"/>
                                          </p:stCondLst>
                                        </p:cTn>
                                        <p:tgtEl>
                                          <p:spTgt spid="33">
                                            <p:txEl>
                                              <p:pRg st="0" end="0"/>
                                            </p:txEl>
                                          </p:spTgt>
                                        </p:tgtEl>
                                        <p:attrNameLst>
                                          <p:attrName>style.visibility</p:attrName>
                                        </p:attrNameLst>
                                      </p:cBhvr>
                                      <p:to>
                                        <p:strVal val="visible"/>
                                      </p:to>
                                    </p:set>
                                    <p:animEffect transition="in" filter="box(in)">
                                      <p:cBhvr>
                                        <p:cTn id="38" dur="500"/>
                                        <p:tgtEl>
                                          <p:spTgt spid="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6859" grpId="0" build="p"/>
      <p:bldP spid="31" grpId="0" build="p"/>
      <p:bldP spid="32" grpId="0" build="p"/>
      <p:bldP spid="33"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5507038"/>
            <a:ext cx="9144000" cy="1152525"/>
          </a:xfrm>
          <a:prstGeom prst="rect">
            <a:avLst/>
          </a:prstGeom>
          <a:solidFill>
            <a:schemeClr val="accent1">
              <a:lumMod val="40000"/>
              <a:lumOff val="6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aphicFrame>
        <p:nvGraphicFramePr>
          <p:cNvPr id="1017888" name="Object 32"/>
          <p:cNvGraphicFramePr>
            <a:graphicFrameLocks noGrp="1"/>
          </p:cNvGraphicFramePr>
          <p:nvPr>
            <p:ph/>
          </p:nvPr>
        </p:nvGraphicFramePr>
        <p:xfrm>
          <a:off x="593725" y="5507038"/>
          <a:ext cx="4397375" cy="1152525"/>
        </p:xfrm>
        <a:graphic>
          <a:graphicData uri="http://schemas.openxmlformats.org/presentationml/2006/ole">
            <mc:AlternateContent xmlns:mc="http://schemas.openxmlformats.org/markup-compatibility/2006">
              <mc:Choice xmlns:v="urn:schemas-microsoft-com:vml" Requires="v">
                <p:oleObj spid="_x0000_s8198" r:id="rId3" imgW="1688465" imgH="444500" progId="Equation.3">
                  <p:embed/>
                </p:oleObj>
              </mc:Choice>
              <mc:Fallback>
                <p:oleObj r:id="rId3" imgW="1688465" imgH="444500" progId="Equation.3">
                  <p:embed/>
                  <p:pic>
                    <p:nvPicPr>
                      <p:cNvPr id="0" name="图片 3088"/>
                      <p:cNvPicPr/>
                      <p:nvPr/>
                    </p:nvPicPr>
                    <p:blipFill>
                      <a:blip r:embed="rId4"/>
                      <a:srcRect/>
                      <a:stretch>
                        <a:fillRect/>
                      </a:stretch>
                    </p:blipFill>
                    <p:spPr>
                      <a:xfrm>
                        <a:off x="593725" y="5507038"/>
                        <a:ext cx="4397375" cy="1152525"/>
                      </a:xfrm>
                      <a:prstGeom prst="rect">
                        <a:avLst/>
                      </a:prstGeom>
                      <a:noFill/>
                      <a:ln w="38100">
                        <a:miter/>
                      </a:ln>
                    </p:spPr>
                  </p:pic>
                </p:oleObj>
              </mc:Fallback>
            </mc:AlternateContent>
          </a:graphicData>
        </a:graphic>
      </p:graphicFrame>
      <p:sp>
        <p:nvSpPr>
          <p:cNvPr id="1017886" name="Rectangle 30"/>
          <p:cNvSpPr>
            <a:spLocks noChangeArrowheads="1"/>
          </p:cNvSpPr>
          <p:nvPr/>
        </p:nvSpPr>
        <p:spPr bwMode="auto">
          <a:xfrm>
            <a:off x="831850" y="195263"/>
            <a:ext cx="24384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grpSp>
        <p:nvGrpSpPr>
          <p:cNvPr id="6" name="组合 5"/>
          <p:cNvGrpSpPr/>
          <p:nvPr/>
        </p:nvGrpSpPr>
        <p:grpSpPr>
          <a:xfrm>
            <a:off x="3848100" y="1149350"/>
            <a:ext cx="5184775" cy="4127500"/>
            <a:chOff x="2990388" y="2200808"/>
            <a:chExt cx="7070829" cy="5628002"/>
          </a:xfrm>
        </p:grpSpPr>
        <p:sp>
          <p:nvSpPr>
            <p:cNvPr id="7" name="i$liḋe-Oval 12"/>
            <p:cNvSpPr/>
            <p:nvPr/>
          </p:nvSpPr>
          <p:spPr bwMode="auto">
            <a:xfrm>
              <a:off x="4997326" y="2200808"/>
              <a:ext cx="2284055" cy="2283671"/>
            </a:xfrm>
            <a:prstGeom prst="ellipse">
              <a:avLst/>
            </a:prstGeom>
            <a:solidFill>
              <a:srgbClr val="4F81BD"/>
            </a:solidFill>
            <a:ln w="50800">
              <a:solidFill>
                <a:sysClr val="windowText" lastClr="000000">
                  <a:alpha val="0"/>
                </a:sysClr>
              </a:solidFill>
              <a:miter lim="800000"/>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最坏</a:t>
              </a:r>
            </a:p>
          </p:txBody>
        </p:sp>
        <p:sp>
          <p:nvSpPr>
            <p:cNvPr id="8" name="i$liḋe-Oval 14"/>
            <p:cNvSpPr/>
            <p:nvPr/>
          </p:nvSpPr>
          <p:spPr bwMode="auto">
            <a:xfrm>
              <a:off x="4562164" y="3049338"/>
              <a:ext cx="326913" cy="324692"/>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 name="i$liḋe-Oval 15"/>
            <p:cNvSpPr/>
            <p:nvPr/>
          </p:nvSpPr>
          <p:spPr bwMode="auto">
            <a:xfrm>
              <a:off x="5878473" y="4354602"/>
              <a:ext cx="543411" cy="543318"/>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0" name="i$liḋe-Oval 16"/>
            <p:cNvSpPr/>
            <p:nvPr/>
          </p:nvSpPr>
          <p:spPr bwMode="auto">
            <a:xfrm>
              <a:off x="6857045" y="2222454"/>
              <a:ext cx="173199" cy="173169"/>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1" name="i$liḋe-Oval 17"/>
            <p:cNvSpPr/>
            <p:nvPr/>
          </p:nvSpPr>
          <p:spPr bwMode="auto">
            <a:xfrm>
              <a:off x="7119008" y="3908691"/>
              <a:ext cx="402687" cy="400453"/>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2" name="i$liḋe-Oval 18"/>
            <p:cNvSpPr/>
            <p:nvPr/>
          </p:nvSpPr>
          <p:spPr bwMode="auto">
            <a:xfrm>
              <a:off x="7292207" y="2938943"/>
              <a:ext cx="489286" cy="489203"/>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3" name="îṣļîḑé-TextBox 36"/>
            <p:cNvSpPr txBox="1"/>
            <p:nvPr/>
          </p:nvSpPr>
          <p:spPr bwMode="auto">
            <a:xfrm>
              <a:off x="2990388" y="5120876"/>
              <a:ext cx="7070829" cy="2707934"/>
            </a:xfrm>
            <a:prstGeom prst="rect">
              <a:avLst/>
            </a:prstGeom>
            <a:noFill/>
          </p:spPr>
          <p:txBody>
            <a:bodyPr lIns="90000" tIns="46800" rIns="90000" bIns="46800" anchor="ctr" anchorCtr="1"/>
            <a:lstStyle/>
            <a:p>
              <a:pPr marR="0" defTabSz="914400" eaLnBrk="1" fontAlgn="auto" hangingPunct="1">
                <a:lnSpc>
                  <a:spcPct val="120000"/>
                </a:lnSpc>
                <a:spcBef>
                  <a:spcPts val="0"/>
                </a:spcBef>
                <a:spcAft>
                  <a:spcPts val="0"/>
                </a:spcAft>
                <a:buClrTx/>
                <a:buSzTx/>
                <a:buFontTx/>
                <a:buNone/>
                <a:defRPr/>
              </a:pPr>
              <a:r>
                <a:rPr kumimoji="0" lang="zh-CN" altLang="en-US" sz="2000" b="0" kern="0" cap="none" spc="0" normalizeH="0" baseline="0" noProof="0" dirty="0">
                  <a:solidFill>
                    <a:srgbClr val="FF0000"/>
                  </a:solidFill>
                  <a:latin typeface="Arial" panose="020B0604020202020204" pitchFamily="34" charset="0"/>
                  <a:ea typeface="微软雅黑" panose="020B0503020204020204" pitchFamily="34" charset="-122"/>
                  <a:cs typeface="+mn-cs"/>
                  <a:sym typeface="Arial" panose="020B0604020202020204" pitchFamily="34" charset="0"/>
                </a:rPr>
                <a:t>递归树成为单支树</a:t>
              </a:r>
              <a:endParaRPr kumimoji="0" lang="zh-CN" altLang="en-US" sz="20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14" name="组合 13"/>
          <p:cNvGrpSpPr/>
          <p:nvPr/>
        </p:nvGrpSpPr>
        <p:grpSpPr>
          <a:xfrm>
            <a:off x="476250" y="1695450"/>
            <a:ext cx="3170238" cy="3581400"/>
            <a:chOff x="536851" y="1929345"/>
            <a:chExt cx="4323106" cy="4883214"/>
          </a:xfrm>
        </p:grpSpPr>
        <p:sp>
          <p:nvSpPr>
            <p:cNvPr id="15" name="i$liḋe-Oval 4"/>
            <p:cNvSpPr/>
            <p:nvPr/>
          </p:nvSpPr>
          <p:spPr bwMode="auto">
            <a:xfrm>
              <a:off x="1560802" y="2262685"/>
              <a:ext cx="2221085" cy="2222989"/>
            </a:xfrm>
            <a:prstGeom prst="ellipse">
              <a:avLst/>
            </a:prstGeom>
            <a:solidFill>
              <a:srgbClr val="8064A2"/>
            </a:solidFill>
            <a:ln w="50800" cap="flat">
              <a:solidFill>
                <a:sysClr val="windowText" lastClr="000000">
                  <a:alpha val="0"/>
                </a:sysClr>
              </a:solidFill>
              <a:prstDash val="solid"/>
              <a:miter lim="800000"/>
              <a:headEnd type="none" w="med" len="med"/>
              <a:tailEnd type="none" w="med" len="med"/>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最好</a:t>
              </a:r>
            </a:p>
          </p:txBody>
        </p:sp>
        <p:sp>
          <p:nvSpPr>
            <p:cNvPr id="16" name="i$liḋe-Oval 6"/>
            <p:cNvSpPr/>
            <p:nvPr/>
          </p:nvSpPr>
          <p:spPr bwMode="auto">
            <a:xfrm>
              <a:off x="3968059" y="3600374"/>
              <a:ext cx="348532" cy="35065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7" name="i$liḋe-Oval 7"/>
            <p:cNvSpPr/>
            <p:nvPr/>
          </p:nvSpPr>
          <p:spPr bwMode="auto">
            <a:xfrm>
              <a:off x="1524000" y="3834145"/>
              <a:ext cx="348533" cy="35065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8" name="i$liḋe-Oval 8"/>
            <p:cNvSpPr/>
            <p:nvPr/>
          </p:nvSpPr>
          <p:spPr bwMode="auto">
            <a:xfrm>
              <a:off x="2011080" y="4362294"/>
              <a:ext cx="601814" cy="603909"/>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9" name="i$liḋe-Oval 9"/>
            <p:cNvSpPr/>
            <p:nvPr/>
          </p:nvSpPr>
          <p:spPr bwMode="auto">
            <a:xfrm>
              <a:off x="2485171" y="1929345"/>
              <a:ext cx="201327" cy="201303"/>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0" name="i$liḋe-Oval 10"/>
            <p:cNvSpPr/>
            <p:nvPr/>
          </p:nvSpPr>
          <p:spPr bwMode="auto">
            <a:xfrm>
              <a:off x="755496" y="3109023"/>
              <a:ext cx="432960" cy="435073"/>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1" name="îṣļîḑé-TextBox 44"/>
            <p:cNvSpPr txBox="1"/>
            <p:nvPr/>
          </p:nvSpPr>
          <p:spPr bwMode="auto">
            <a:xfrm>
              <a:off x="536851" y="5070101"/>
              <a:ext cx="4323106" cy="1742458"/>
            </a:xfrm>
            <a:prstGeom prst="rect">
              <a:avLst/>
            </a:prstGeom>
            <a:noFill/>
          </p:spPr>
          <p:txBody>
            <a:bodyPr lIns="90000" tIns="46800" rIns="90000" bIns="46800" anchor="ctr" anchorCtr="1"/>
            <a:lstStyle/>
            <a:p>
              <a:pPr marR="0" defTabSz="914400" eaLnBrk="1" fontAlgn="auto" hangingPunct="1">
                <a:lnSpc>
                  <a:spcPct val="120000"/>
                </a:lnSpc>
                <a:spcBef>
                  <a:spcPts val="0"/>
                </a:spcBef>
                <a:spcAft>
                  <a:spcPts val="0"/>
                </a:spcAft>
                <a:buClrTx/>
                <a:buSzTx/>
                <a:buFontTx/>
                <a:buNone/>
                <a:defRPr/>
              </a:pP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划分后，左右子序列</a:t>
              </a:r>
              <a:r>
                <a:rPr kumimoji="0" lang="zh-CN" altLang="en-US" sz="2400" b="0" kern="0" cap="none" spc="0" normalizeH="0" baseline="0" noProof="0" dirty="0">
                  <a:solidFill>
                    <a:srgbClr val="FF0000"/>
                  </a:solidFill>
                  <a:latin typeface="Arial" panose="020B0604020202020204" pitchFamily="34" charset="0"/>
                  <a:ea typeface="微软雅黑" panose="020B0503020204020204" pitchFamily="34" charset="-122"/>
                  <a:cs typeface="+mn-cs"/>
                  <a:sym typeface="Arial" panose="020B0604020202020204" pitchFamily="34" charset="0"/>
                </a:rPr>
                <a:t>长度相同</a:t>
              </a: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17888"/>
                                        </p:tgtEl>
                                        <p:attrNameLst>
                                          <p:attrName>style.visibility</p:attrName>
                                        </p:attrNameLst>
                                      </p:cBhvr>
                                      <p:to>
                                        <p:strVal val="visible"/>
                                      </p:to>
                                    </p:set>
                                    <p:anim calcmode="lin" valueType="num">
                                      <p:cBhvr additive="base">
                                        <p:cTn id="13" dur="500" fill="hold"/>
                                        <p:tgtEl>
                                          <p:spTgt spid="1017888"/>
                                        </p:tgtEl>
                                        <p:attrNameLst>
                                          <p:attrName>ppt_x</p:attrName>
                                        </p:attrNameLst>
                                      </p:cBhvr>
                                      <p:tavLst>
                                        <p:tav tm="0">
                                          <p:val>
                                            <p:strVal val="0-#ppt_w/2"/>
                                          </p:val>
                                        </p:tav>
                                        <p:tav tm="100000">
                                          <p:val>
                                            <p:strVal val="#ppt_x"/>
                                          </p:val>
                                        </p:tav>
                                      </p:tavLst>
                                    </p:anim>
                                    <p:anim calcmode="lin" valueType="num">
                                      <p:cBhvr additive="base">
                                        <p:cTn id="14" dur="500" fill="hold"/>
                                        <p:tgtEl>
                                          <p:spTgt spid="1017888"/>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up)">
                                      <p:cBhvr>
                                        <p:cTn id="19" dur="500"/>
                                        <p:tgtEl>
                                          <p:spTgt spid="14"/>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up)">
                                      <p:cBhvr>
                                        <p:cTn id="24"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99" name="Rectangle 79"/>
          <p:cNvSpPr>
            <a:spLocks noChangeArrowheads="1"/>
          </p:cNvSpPr>
          <p:nvPr/>
        </p:nvSpPr>
        <p:spPr bwMode="auto">
          <a:xfrm>
            <a:off x="971550" y="203200"/>
            <a:ext cx="24384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952400" name="Rectangle 80"/>
          <p:cNvSpPr>
            <a:spLocks noChangeArrowheads="1"/>
          </p:cNvSpPr>
          <p:nvPr/>
        </p:nvSpPr>
        <p:spPr bwMode="auto">
          <a:xfrm>
            <a:off x="701675" y="3567113"/>
            <a:ext cx="2284413" cy="17907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1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83003"/>
                </a:solidFill>
                <a:effectLst/>
                <a:uLnTx/>
                <a:uFillTx/>
                <a:latin typeface="+mn-lt"/>
                <a:ea typeface="+mn-ea"/>
                <a:cs typeface="+mn-ea"/>
                <a:sym typeface="+mn-lt"/>
              </a:rPr>
              <a:t>时间效率：</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O(nlog</a:t>
            </a:r>
            <a:r>
              <a:rPr kumimoji="0" lang="en-US" altLang="zh-CN" sz="2400" b="0" i="0" u="none" strike="noStrike" kern="1200" cap="none" spc="0" normalizeH="0" baseline="-30000" noProof="0" dirty="0">
                <a:ln>
                  <a:noFill/>
                </a:ln>
                <a:solidFill>
                  <a:schemeClr val="tx2"/>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n)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每趟确定的元素呈指数增加</a:t>
            </a:r>
          </a:p>
        </p:txBody>
      </p:sp>
      <p:grpSp>
        <p:nvGrpSpPr>
          <p:cNvPr id="40" name="组合 39"/>
          <p:cNvGrpSpPr/>
          <p:nvPr/>
        </p:nvGrpSpPr>
        <p:grpSpPr>
          <a:xfrm>
            <a:off x="701675" y="1728788"/>
            <a:ext cx="2284413" cy="1679575"/>
            <a:chOff x="557426" y="1728928"/>
            <a:chExt cx="2284512" cy="1680092"/>
          </a:xfrm>
        </p:grpSpPr>
        <p:grpSp>
          <p:nvGrpSpPr>
            <p:cNvPr id="101393" name="组合 1"/>
            <p:cNvGrpSpPr/>
            <p:nvPr/>
          </p:nvGrpSpPr>
          <p:grpSpPr>
            <a:xfrm>
              <a:off x="557426" y="1728928"/>
              <a:ext cx="2284512" cy="1680092"/>
              <a:chOff x="557426" y="1728928"/>
              <a:chExt cx="2284512" cy="1680092"/>
            </a:xfrm>
          </p:grpSpPr>
          <p:sp>
            <p:nvSpPr>
              <p:cNvPr id="101395" name="Freeform 18"/>
              <p:cNvSpPr>
                <a:spLocks noEditPoints="1"/>
              </p:cNvSpPr>
              <p:nvPr/>
            </p:nvSpPr>
            <p:spPr>
              <a:xfrm>
                <a:off x="1202796" y="1728928"/>
                <a:ext cx="957263" cy="1300163"/>
              </a:xfrm>
              <a:custGeom>
                <a:avLst/>
                <a:gdLst/>
                <a:ahLst/>
                <a:cxnLst>
                  <a:cxn ang="0">
                    <a:pos x="2147483646" y="0"/>
                  </a:cxn>
                  <a:cxn ang="0">
                    <a:pos x="0" y="2147483646"/>
                  </a:cxn>
                  <a:cxn ang="0">
                    <a:pos x="2147483646" y="2147483646"/>
                  </a:cxn>
                  <a:cxn ang="0">
                    <a:pos x="2147483646" y="2147483646"/>
                  </a:cxn>
                  <a:cxn ang="0">
                    <a:pos x="2147483646" y="0"/>
                  </a:cxn>
                  <a:cxn ang="0">
                    <a:pos x="2147483646" y="2147483646"/>
                  </a:cxn>
                  <a:cxn ang="0">
                    <a:pos x="2147483646" y="2147483646"/>
                  </a:cxn>
                  <a:cxn ang="0">
                    <a:pos x="2147483646" y="2147483646"/>
                  </a:cxn>
                  <a:cxn ang="0">
                    <a:pos x="2147483646" y="2147483646"/>
                  </a:cxn>
                  <a:cxn ang="0">
                    <a:pos x="2147483646" y="2147483646"/>
                  </a:cxn>
                </a:cxnLst>
                <a:rect l="0" t="0" r="0" b="0"/>
                <a:pathLst>
                  <a:path w="108" h="145">
                    <a:moveTo>
                      <a:pt x="54" y="0"/>
                    </a:moveTo>
                    <a:cubicBezTo>
                      <a:pt x="24" y="0"/>
                      <a:pt x="0" y="24"/>
                      <a:pt x="0" y="54"/>
                    </a:cubicBezTo>
                    <a:cubicBezTo>
                      <a:pt x="0" y="99"/>
                      <a:pt x="54" y="145"/>
                      <a:pt x="54" y="145"/>
                    </a:cubicBezTo>
                    <a:cubicBezTo>
                      <a:pt x="54" y="145"/>
                      <a:pt x="108" y="99"/>
                      <a:pt x="108" y="54"/>
                    </a:cubicBezTo>
                    <a:cubicBezTo>
                      <a:pt x="108" y="24"/>
                      <a:pt x="84" y="0"/>
                      <a:pt x="54" y="0"/>
                    </a:cubicBezTo>
                    <a:close/>
                    <a:moveTo>
                      <a:pt x="54" y="97"/>
                    </a:moveTo>
                    <a:cubicBezTo>
                      <a:pt x="29" y="97"/>
                      <a:pt x="9" y="77"/>
                      <a:pt x="9" y="53"/>
                    </a:cubicBezTo>
                    <a:cubicBezTo>
                      <a:pt x="9" y="28"/>
                      <a:pt x="29" y="8"/>
                      <a:pt x="54" y="8"/>
                    </a:cubicBezTo>
                    <a:cubicBezTo>
                      <a:pt x="79" y="8"/>
                      <a:pt x="99" y="28"/>
                      <a:pt x="99" y="53"/>
                    </a:cubicBezTo>
                    <a:cubicBezTo>
                      <a:pt x="99" y="77"/>
                      <a:pt x="79" y="97"/>
                      <a:pt x="54" y="97"/>
                    </a:cubicBezTo>
                    <a:close/>
                  </a:path>
                </a:pathLst>
              </a:custGeom>
              <a:solidFill>
                <a:srgbClr val="F83003">
                  <a:alpha val="100000"/>
                </a:srgbClr>
              </a:solidFill>
              <a:ln w="9525">
                <a:noFill/>
              </a:ln>
            </p:spPr>
            <p:txBody>
              <a:bodyPr/>
              <a:lstStyle/>
              <a:p>
                <a:endParaRPr lang="zh-CN" altLang="en-US"/>
              </a:p>
            </p:txBody>
          </p:sp>
          <p:sp>
            <p:nvSpPr>
              <p:cNvPr id="101396" name="Rectangle 25"/>
              <p:cNvSpPr/>
              <p:nvPr/>
            </p:nvSpPr>
            <p:spPr>
              <a:xfrm>
                <a:off x="557426" y="3104220"/>
                <a:ext cx="2284512" cy="304800"/>
              </a:xfrm>
              <a:prstGeom prst="rect">
                <a:avLst/>
              </a:prstGeom>
              <a:solidFill>
                <a:srgbClr val="F83003"/>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endParaRPr lang="zh-CN" altLang="en-US" sz="1800" dirty="0">
                  <a:solidFill>
                    <a:srgbClr val="000000"/>
                  </a:solidFill>
                  <a:latin typeface="Calibri" panose="020F0502020204030204" pitchFamily="34" charset="0"/>
                  <a:ea typeface="宋体" panose="02010600030101010101" pitchFamily="2" charset="-122"/>
                </a:endParaRPr>
              </a:p>
            </p:txBody>
          </p:sp>
        </p:grpSp>
        <p:sp>
          <p:nvSpPr>
            <p:cNvPr id="101394" name="文本框 25"/>
            <p:cNvSpPr txBox="1"/>
            <p:nvPr/>
          </p:nvSpPr>
          <p:spPr>
            <a:xfrm>
              <a:off x="1480712" y="1930540"/>
              <a:ext cx="437940" cy="584775"/>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pPr>
              <a:r>
                <a:rPr lang="en-US" altLang="zh-CN" sz="3200" b="1" dirty="0">
                  <a:solidFill>
                    <a:srgbClr val="F83003"/>
                  </a:solidFill>
                  <a:latin typeface="微软雅黑" panose="020B0503020204020204" pitchFamily="34" charset="-122"/>
                </a:rPr>
                <a:t>1</a:t>
              </a:r>
              <a:endParaRPr lang="zh-CN" altLang="en-US" sz="1800" dirty="0">
                <a:solidFill>
                  <a:srgbClr val="F83003"/>
                </a:solidFill>
                <a:latin typeface="微软雅黑" panose="020B0503020204020204" pitchFamily="34" charset="-122"/>
              </a:endParaRPr>
            </a:p>
          </p:txBody>
        </p:sp>
      </p:grpSp>
      <p:grpSp>
        <p:nvGrpSpPr>
          <p:cNvPr id="41" name="组合 40"/>
          <p:cNvGrpSpPr/>
          <p:nvPr/>
        </p:nvGrpSpPr>
        <p:grpSpPr>
          <a:xfrm>
            <a:off x="3422650" y="1693863"/>
            <a:ext cx="2078038" cy="1714500"/>
            <a:chOff x="3278668" y="1694267"/>
            <a:chExt cx="2078710" cy="1714753"/>
          </a:xfrm>
        </p:grpSpPr>
        <p:grpSp>
          <p:nvGrpSpPr>
            <p:cNvPr id="101389" name="组合 2"/>
            <p:cNvGrpSpPr/>
            <p:nvPr/>
          </p:nvGrpSpPr>
          <p:grpSpPr>
            <a:xfrm>
              <a:off x="3278668" y="1694267"/>
              <a:ext cx="2078710" cy="1714753"/>
              <a:chOff x="3278668" y="1694267"/>
              <a:chExt cx="2078710" cy="1714753"/>
            </a:xfrm>
          </p:grpSpPr>
          <p:sp>
            <p:nvSpPr>
              <p:cNvPr id="23" name="Freeform 14"/>
              <p:cNvSpPr>
                <a:spLocks noEditPoints="1"/>
              </p:cNvSpPr>
              <p:nvPr/>
            </p:nvSpPr>
            <p:spPr bwMode="auto">
              <a:xfrm>
                <a:off x="3761424" y="1694267"/>
                <a:ext cx="965512" cy="1300354"/>
              </a:xfrm>
              <a:custGeom>
                <a:avLst/>
                <a:gdLst>
                  <a:gd name="T0" fmla="*/ 54 w 109"/>
                  <a:gd name="T1" fmla="*/ 0 h 145"/>
                  <a:gd name="T2" fmla="*/ 0 w 109"/>
                  <a:gd name="T3" fmla="*/ 54 h 145"/>
                  <a:gd name="T4" fmla="*/ 54 w 109"/>
                  <a:gd name="T5" fmla="*/ 145 h 145"/>
                  <a:gd name="T6" fmla="*/ 109 w 109"/>
                  <a:gd name="T7" fmla="*/ 54 h 145"/>
                  <a:gd name="T8" fmla="*/ 54 w 109"/>
                  <a:gd name="T9" fmla="*/ 0 h 145"/>
                  <a:gd name="T10" fmla="*/ 54 w 109"/>
                  <a:gd name="T11" fmla="*/ 97 h 145"/>
                  <a:gd name="T12" fmla="*/ 10 w 109"/>
                  <a:gd name="T13" fmla="*/ 53 h 145"/>
                  <a:gd name="T14" fmla="*/ 54 w 109"/>
                  <a:gd name="T15" fmla="*/ 8 h 145"/>
                  <a:gd name="T16" fmla="*/ 99 w 109"/>
                  <a:gd name="T17" fmla="*/ 53 h 145"/>
                  <a:gd name="T18" fmla="*/ 54 w 109"/>
                  <a:gd name="T19" fmla="*/ 9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45">
                    <a:moveTo>
                      <a:pt x="54" y="0"/>
                    </a:moveTo>
                    <a:cubicBezTo>
                      <a:pt x="24" y="0"/>
                      <a:pt x="0" y="24"/>
                      <a:pt x="0" y="54"/>
                    </a:cubicBezTo>
                    <a:cubicBezTo>
                      <a:pt x="0" y="99"/>
                      <a:pt x="54" y="145"/>
                      <a:pt x="54" y="145"/>
                    </a:cubicBezTo>
                    <a:cubicBezTo>
                      <a:pt x="54" y="145"/>
                      <a:pt x="109" y="99"/>
                      <a:pt x="109" y="54"/>
                    </a:cubicBezTo>
                    <a:cubicBezTo>
                      <a:pt x="109" y="24"/>
                      <a:pt x="84" y="0"/>
                      <a:pt x="54" y="0"/>
                    </a:cubicBezTo>
                    <a:close/>
                    <a:moveTo>
                      <a:pt x="54" y="97"/>
                    </a:moveTo>
                    <a:cubicBezTo>
                      <a:pt x="30" y="97"/>
                      <a:pt x="10" y="77"/>
                      <a:pt x="10" y="53"/>
                    </a:cubicBezTo>
                    <a:cubicBezTo>
                      <a:pt x="10" y="28"/>
                      <a:pt x="30" y="8"/>
                      <a:pt x="54" y="8"/>
                    </a:cubicBezTo>
                    <a:cubicBezTo>
                      <a:pt x="79" y="8"/>
                      <a:pt x="99" y="28"/>
                      <a:pt x="99" y="53"/>
                    </a:cubicBezTo>
                    <a:cubicBezTo>
                      <a:pt x="99" y="77"/>
                      <a:pt x="79" y="97"/>
                      <a:pt x="54" y="97"/>
                    </a:cubicBezTo>
                    <a:close/>
                  </a:path>
                </a:pathLst>
              </a:custGeom>
              <a:solidFill>
                <a:schemeClr val="bg2">
                  <a:lumMod val="60000"/>
                  <a:lumOff val="4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27" name="Rectangle 24"/>
              <p:cNvSpPr>
                <a:spLocks noChangeArrowheads="1"/>
              </p:cNvSpPr>
              <p:nvPr/>
            </p:nvSpPr>
            <p:spPr bwMode="auto">
              <a:xfrm>
                <a:off x="3278668" y="3104175"/>
                <a:ext cx="2078710" cy="304845"/>
              </a:xfrm>
              <a:prstGeom prst="rect">
                <a:avLst/>
              </a:prstGeom>
              <a:solidFill>
                <a:schemeClr val="bg2">
                  <a:lumMod val="60000"/>
                  <a:lumOff val="4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pSp>
        <p:sp>
          <p:nvSpPr>
            <p:cNvPr id="30" name="文本框 26"/>
            <p:cNvSpPr txBox="1"/>
            <p:nvPr/>
          </p:nvSpPr>
          <p:spPr>
            <a:xfrm>
              <a:off x="4025034" y="1895909"/>
              <a:ext cx="438292" cy="584286"/>
            </a:xfrm>
            <a:prstGeom prst="rect">
              <a:avLst/>
            </a:prstGeom>
            <a:noFill/>
          </p:spPr>
          <p:txBody>
            <a:bodyPr wrap="none">
              <a:spAutoFit/>
            </a:bodyPr>
            <a:lstStyle/>
            <a:p>
              <a:pPr marR="0" algn="ctr" defTabSz="914400" eaLnBrk="1" fontAlgn="auto" hangingPunct="1">
                <a:spcBef>
                  <a:spcPts val="0"/>
                </a:spcBef>
                <a:spcAft>
                  <a:spcPts val="0"/>
                </a:spcAft>
                <a:buClrTx/>
                <a:buSzTx/>
                <a:buFontTx/>
                <a:buNone/>
                <a:defRPr/>
              </a:pPr>
              <a:r>
                <a:rPr kumimoji="0" lang="en-US" altLang="zh-CN" sz="3200" kern="1200" cap="none" spc="0" normalizeH="0" baseline="0" noProof="0" dirty="0">
                  <a:solidFill>
                    <a:schemeClr val="bg2">
                      <a:lumMod val="40000"/>
                      <a:lumOff val="60000"/>
                    </a:schemeClr>
                  </a:solidFill>
                  <a:latin typeface="微软雅黑" panose="020B0503020204020204" pitchFamily="34" charset="-122"/>
                  <a:ea typeface="微软雅黑" panose="020B0503020204020204" pitchFamily="34" charset="-122"/>
                  <a:cs typeface="+mn-cs"/>
                </a:rPr>
                <a:t>2</a:t>
              </a:r>
              <a:endParaRPr kumimoji="0" lang="zh-CN" altLang="en-US" sz="1800" b="0" kern="1200" cap="none" spc="0" normalizeH="0" baseline="0" noProof="0" dirty="0">
                <a:solidFill>
                  <a:schemeClr val="bg2">
                    <a:lumMod val="40000"/>
                    <a:lumOff val="60000"/>
                  </a:schemeClr>
                </a:solidFill>
                <a:latin typeface="微软雅黑" panose="020B0503020204020204" pitchFamily="34" charset="-122"/>
                <a:ea typeface="微软雅黑" panose="020B0503020204020204" pitchFamily="34" charset="-122"/>
                <a:cs typeface="+mn-cs"/>
              </a:endParaRPr>
            </a:p>
          </p:txBody>
        </p:sp>
      </p:grpSp>
      <p:grpSp>
        <p:nvGrpSpPr>
          <p:cNvPr id="42" name="组合 41"/>
          <p:cNvGrpSpPr/>
          <p:nvPr/>
        </p:nvGrpSpPr>
        <p:grpSpPr>
          <a:xfrm>
            <a:off x="5940425" y="1693863"/>
            <a:ext cx="2447925" cy="1716087"/>
            <a:chOff x="5796136" y="1693519"/>
            <a:chExt cx="2448272" cy="1716572"/>
          </a:xfrm>
        </p:grpSpPr>
        <p:grpSp>
          <p:nvGrpSpPr>
            <p:cNvPr id="101385" name="组合 3"/>
            <p:cNvGrpSpPr/>
            <p:nvPr/>
          </p:nvGrpSpPr>
          <p:grpSpPr>
            <a:xfrm>
              <a:off x="5796136" y="1693519"/>
              <a:ext cx="2448272" cy="1716572"/>
              <a:chOff x="5796136" y="1693519"/>
              <a:chExt cx="2448272" cy="1716572"/>
            </a:xfrm>
          </p:grpSpPr>
          <p:sp>
            <p:nvSpPr>
              <p:cNvPr id="21" name="Freeform 5"/>
              <p:cNvSpPr>
                <a:spLocks noEditPoints="1"/>
              </p:cNvSpPr>
              <p:nvPr/>
            </p:nvSpPr>
            <p:spPr bwMode="auto">
              <a:xfrm>
                <a:off x="6548718" y="1693519"/>
                <a:ext cx="957399" cy="1300529"/>
              </a:xfrm>
              <a:custGeom>
                <a:avLst/>
                <a:gdLst>
                  <a:gd name="T0" fmla="*/ 54 w 108"/>
                  <a:gd name="T1" fmla="*/ 0 h 145"/>
                  <a:gd name="T2" fmla="*/ 0 w 108"/>
                  <a:gd name="T3" fmla="*/ 54 h 145"/>
                  <a:gd name="T4" fmla="*/ 54 w 108"/>
                  <a:gd name="T5" fmla="*/ 145 h 145"/>
                  <a:gd name="T6" fmla="*/ 108 w 108"/>
                  <a:gd name="T7" fmla="*/ 54 h 145"/>
                  <a:gd name="T8" fmla="*/ 54 w 108"/>
                  <a:gd name="T9" fmla="*/ 0 h 145"/>
                  <a:gd name="T10" fmla="*/ 54 w 108"/>
                  <a:gd name="T11" fmla="*/ 97 h 145"/>
                  <a:gd name="T12" fmla="*/ 9 w 108"/>
                  <a:gd name="T13" fmla="*/ 53 h 145"/>
                  <a:gd name="T14" fmla="*/ 54 w 108"/>
                  <a:gd name="T15" fmla="*/ 8 h 145"/>
                  <a:gd name="T16" fmla="*/ 99 w 108"/>
                  <a:gd name="T17" fmla="*/ 53 h 145"/>
                  <a:gd name="T18" fmla="*/ 54 w 108"/>
                  <a:gd name="T19" fmla="*/ 9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45">
                    <a:moveTo>
                      <a:pt x="54" y="0"/>
                    </a:moveTo>
                    <a:cubicBezTo>
                      <a:pt x="24" y="0"/>
                      <a:pt x="0" y="24"/>
                      <a:pt x="0" y="54"/>
                    </a:cubicBezTo>
                    <a:cubicBezTo>
                      <a:pt x="0" y="99"/>
                      <a:pt x="54" y="145"/>
                      <a:pt x="54" y="145"/>
                    </a:cubicBezTo>
                    <a:cubicBezTo>
                      <a:pt x="54" y="145"/>
                      <a:pt x="108" y="99"/>
                      <a:pt x="108" y="54"/>
                    </a:cubicBezTo>
                    <a:cubicBezTo>
                      <a:pt x="108" y="24"/>
                      <a:pt x="84" y="0"/>
                      <a:pt x="54" y="0"/>
                    </a:cubicBezTo>
                    <a:close/>
                    <a:moveTo>
                      <a:pt x="54" y="97"/>
                    </a:moveTo>
                    <a:cubicBezTo>
                      <a:pt x="29" y="97"/>
                      <a:pt x="9" y="77"/>
                      <a:pt x="9" y="53"/>
                    </a:cubicBezTo>
                    <a:cubicBezTo>
                      <a:pt x="9" y="28"/>
                      <a:pt x="29" y="8"/>
                      <a:pt x="54" y="8"/>
                    </a:cubicBezTo>
                    <a:cubicBezTo>
                      <a:pt x="79" y="8"/>
                      <a:pt x="99" y="28"/>
                      <a:pt x="99" y="53"/>
                    </a:cubicBezTo>
                    <a:cubicBezTo>
                      <a:pt x="99" y="77"/>
                      <a:pt x="79" y="97"/>
                      <a:pt x="54" y="97"/>
                    </a:cubicBezTo>
                    <a:close/>
                  </a:path>
                </a:pathLst>
              </a:custGeom>
              <a:solidFill>
                <a:schemeClr val="accent1">
                  <a:lumMod val="40000"/>
                  <a:lumOff val="6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25" name="Rectangle 22"/>
              <p:cNvSpPr>
                <a:spLocks noChangeArrowheads="1"/>
              </p:cNvSpPr>
              <p:nvPr/>
            </p:nvSpPr>
            <p:spPr bwMode="auto">
              <a:xfrm>
                <a:off x="5796136" y="3105205"/>
                <a:ext cx="2448272" cy="304886"/>
              </a:xfrm>
              <a:prstGeom prst="rect">
                <a:avLst/>
              </a:prstGeom>
              <a:solidFill>
                <a:schemeClr val="accent1">
                  <a:lumMod val="40000"/>
                  <a:lumOff val="6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pSp>
        <p:sp>
          <p:nvSpPr>
            <p:cNvPr id="32" name="文本框 28"/>
            <p:cNvSpPr txBox="1"/>
            <p:nvPr/>
          </p:nvSpPr>
          <p:spPr>
            <a:xfrm>
              <a:off x="6840859" y="1957118"/>
              <a:ext cx="373116" cy="460505"/>
            </a:xfrm>
            <a:prstGeom prst="rect">
              <a:avLst/>
            </a:prstGeom>
            <a:noFill/>
          </p:spPr>
          <p:txBody>
            <a:bodyPr wrap="none">
              <a:spAutoFit/>
            </a:bodyPr>
            <a:lstStyle/>
            <a:p>
              <a:pPr marR="0" algn="ctr" defTabSz="914400" eaLnBrk="1" fontAlgn="auto" hangingPunct="1">
                <a:spcBef>
                  <a:spcPts val="0"/>
                </a:spcBef>
                <a:spcAft>
                  <a:spcPts val="0"/>
                </a:spcAft>
                <a:buClrTx/>
                <a:buSzTx/>
                <a:buFontTx/>
                <a:buNone/>
                <a:defRPr/>
              </a:pPr>
              <a:r>
                <a:rPr kumimoji="0" lang="en-US" altLang="zh-CN" sz="2400" kern="1200" cap="none" spc="0" normalizeH="0" baseline="0" noProof="0" dirty="0">
                  <a:solidFill>
                    <a:schemeClr val="accent1">
                      <a:lumMod val="60000"/>
                      <a:lumOff val="40000"/>
                    </a:schemeClr>
                  </a:solidFill>
                  <a:latin typeface="微软雅黑" panose="020B0503020204020204" pitchFamily="34" charset="-122"/>
                  <a:ea typeface="微软雅黑" panose="020B0503020204020204" pitchFamily="34" charset="-122"/>
                  <a:cs typeface="+mn-cs"/>
                </a:rPr>
                <a:t>3</a:t>
              </a:r>
              <a:endParaRPr kumimoji="0" lang="zh-CN" altLang="en-US" sz="1400" b="0" kern="1200" cap="none" spc="0" normalizeH="0" baseline="0" noProof="0" dirty="0">
                <a:solidFill>
                  <a:schemeClr val="accent1">
                    <a:lumMod val="60000"/>
                    <a:lumOff val="40000"/>
                  </a:schemeClr>
                </a:solidFill>
                <a:latin typeface="微软雅黑" panose="020B0503020204020204" pitchFamily="34" charset="-122"/>
                <a:ea typeface="微软雅黑" panose="020B0503020204020204" pitchFamily="34" charset="-122"/>
                <a:cs typeface="+mn-cs"/>
              </a:endParaRPr>
            </a:p>
          </p:txBody>
        </p:sp>
      </p:grpSp>
      <p:sp>
        <p:nvSpPr>
          <p:cNvPr id="38" name="Rectangle 80"/>
          <p:cNvSpPr>
            <a:spLocks noChangeArrowheads="1"/>
          </p:cNvSpPr>
          <p:nvPr/>
        </p:nvSpPr>
        <p:spPr bwMode="auto">
          <a:xfrm>
            <a:off x="5940425" y="3662363"/>
            <a:ext cx="2447925" cy="13668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1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稳 定 性： </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
            </a:r>
            <a:b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br>
            <a:r>
              <a:rPr kumimoji="0" lang="zh-CN" altLang="en-US" sz="2400" b="0" i="0" u="none" strike="noStrike" kern="1200" cap="none" spc="0" normalizeH="0" baseline="0" noProof="0" dirty="0">
                <a:ln>
                  <a:noFill/>
                </a:ln>
                <a:solidFill>
                  <a:schemeClr val="tx2"/>
                </a:solidFill>
                <a:effectLst/>
                <a:uLnTx/>
                <a:uFillTx/>
                <a:latin typeface="+mn-lt"/>
                <a:ea typeface="+mn-ea"/>
                <a:cs typeface="+mn-ea"/>
                <a:sym typeface="+mn-lt"/>
              </a:rPr>
              <a:t>不稳定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可选任一元素为支点</a:t>
            </a:r>
          </a:p>
        </p:txBody>
      </p:sp>
      <p:sp>
        <p:nvSpPr>
          <p:cNvPr id="39" name="Rectangle 80"/>
          <p:cNvSpPr>
            <a:spLocks noChangeArrowheads="1"/>
          </p:cNvSpPr>
          <p:nvPr/>
        </p:nvSpPr>
        <p:spPr bwMode="auto">
          <a:xfrm>
            <a:off x="3422650" y="3589338"/>
            <a:ext cx="2078038" cy="17907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1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空间效率：</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
            </a:r>
            <a:b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b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O</a:t>
            </a:r>
            <a:r>
              <a:rPr kumimoji="0" lang="zh-CN" altLang="en-US" sz="2400" b="0" i="0" u="none" strike="noStrike" kern="1200" cap="none" spc="0" normalizeH="0" baseline="0" noProof="0" dirty="0">
                <a:ln>
                  <a:noFill/>
                </a:ln>
                <a:solidFill>
                  <a:schemeClr val="tx2"/>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log</a:t>
            </a:r>
            <a:r>
              <a:rPr kumimoji="0" lang="en-US" altLang="zh-CN" sz="2400" b="0" i="0" u="none" strike="noStrike" kern="1200" cap="none" spc="0" normalizeH="0" baseline="-30000" noProof="0" dirty="0">
                <a:ln>
                  <a:noFill/>
                </a:ln>
                <a:solidFill>
                  <a:schemeClr val="tx2"/>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n</a:t>
            </a:r>
            <a:r>
              <a:rPr kumimoji="0" lang="zh-CN" altLang="en-US" sz="2400" b="0" i="0" u="none" strike="noStrike" kern="1200" cap="none" spc="0" normalizeH="0" baseline="0" noProof="0" dirty="0">
                <a:ln>
                  <a:noFill/>
                </a:ln>
                <a:solidFill>
                  <a:schemeClr val="tx2"/>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递归要用到栈空间</a:t>
            </a:r>
            <a:endParaRPr kumimoji="0" lang="zh-CN" altLang="en-US" sz="2400" b="0" i="0" u="none" strike="noStrike" kern="1200" cap="none" spc="0" normalizeH="0" baseline="0" noProof="0" dirty="0">
              <a:ln>
                <a:noFill/>
              </a:ln>
              <a:solidFill>
                <a:schemeClr val="tx2"/>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4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952400">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4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39">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499"/>
                                          </p:stCondLst>
                                        </p:cTn>
                                        <p:tgtEl>
                                          <p:spTgt spid="4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38">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400" grpId="0" build="p"/>
      <p:bldP spid="38" grpId="0" build="p"/>
      <p:bldP spid="39" grpId="0"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a:ea typeface="Microsoft Yahei"/>
                <a:sym typeface="Microsoft Yahei"/>
              </a:rPr>
              <a:t>执行一趟快速排序能够得到的序列是（ ）。</a:t>
            </a: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[41</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12</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34</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45</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27] 55 [72</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63]</a:t>
            </a: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[45</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34</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12</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41] 55 [72</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63</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27]</a:t>
            </a:r>
          </a:p>
        </p:txBody>
      </p:sp>
      <p:sp>
        <p:nvSpPr>
          <p:cNvPr id="6" name="TextBox 5"/>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[63</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12</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34</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45</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27] 55 [41</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72]</a:t>
            </a:r>
          </a:p>
        </p:txBody>
      </p:sp>
      <p:sp>
        <p:nvSpPr>
          <p:cNvPr id="7" name="TextBox 6"/>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[12</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27</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45</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41] 55 [34</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63</a:t>
            </a:r>
            <a:r>
              <a:rPr lang="zh-CN" altLang="en-US" sz="2600" dirty="0">
                <a:solidFill>
                  <a:srgbClr val="000000"/>
                </a:solidFill>
                <a:latin typeface="Microsoft Yahei"/>
                <a:ea typeface="Microsoft Yahei"/>
                <a:sym typeface="Microsoft Yahei"/>
              </a:rPr>
              <a:t>，</a:t>
            </a:r>
            <a:r>
              <a:rPr lang="en-US" altLang="zh-CN" sz="2600" dirty="0">
                <a:solidFill>
                  <a:srgbClr val="000000"/>
                </a:solidFill>
                <a:latin typeface="Microsoft Yahei"/>
                <a:ea typeface="Microsoft Yahei"/>
                <a:sym typeface="Microsoft Yahei"/>
              </a:rPr>
              <a:t>72]</a:t>
            </a:r>
          </a:p>
        </p:txBody>
      </p:sp>
      <p:sp>
        <p:nvSpPr>
          <p:cNvPr id="8" name="椭圆 7"/>
          <p:cNvSpPr>
            <a:spLocks noChangeAspect="1"/>
          </p:cNvSpPr>
          <p:nvPr>
            <p:custDataLst>
              <p:tags r:id="rId7"/>
            </p:custDataLst>
          </p:nvPr>
        </p:nvSpPr>
        <p:spPr bwMode="auto">
          <a:xfrm>
            <a:off x="1114425" y="285035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8"/>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9"/>
            </p:custDataLst>
          </p:nvPr>
        </p:nvSpPr>
        <p:spPr bwMode="auto">
          <a:xfrm>
            <a:off x="1114425" y="45648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10"/>
            </p:custDataLst>
          </p:nvPr>
        </p:nvSpPr>
        <p:spPr bwMode="auto">
          <a:xfrm>
            <a:off x="1114425" y="54221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12"/>
            </p:custDataLst>
          </p:nvPr>
        </p:nvGrpSpPr>
        <p:grpSpPr>
          <a:xfrm>
            <a:off x="0" y="0"/>
            <a:ext cx="9144000" cy="635000"/>
            <a:chOff x="0" y="0"/>
            <a:chExt cx="9144000" cy="635000"/>
          </a:xfrm>
        </p:grpSpPr>
        <p:sp>
          <p:nvSpPr>
            <p:cNvPr id="13"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113331220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en-US" altLang="zh-CN" sz="2600" dirty="0">
                <a:solidFill>
                  <a:srgbClr val="000000"/>
                </a:solidFill>
                <a:latin typeface="Microsoft Yahei"/>
                <a:ea typeface="Microsoft Yahei"/>
                <a:sym typeface="Microsoft Yahei"/>
              </a:rPr>
              <a:t>Given input {46, 79, 56, 38, 40, 84}. After the first partition (with the left most record as the pivot) of quick sort, the resulting sequence is: </a:t>
            </a: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{38,46,79,56,40,84}</a:t>
            </a: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{38,79,56,46,40,84}</a:t>
            </a:r>
          </a:p>
        </p:txBody>
      </p:sp>
      <p:sp>
        <p:nvSpPr>
          <p:cNvPr id="6" name="TextBox 5"/>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{38,46,56,79,40,84} </a:t>
            </a:r>
          </a:p>
        </p:txBody>
      </p:sp>
      <p:sp>
        <p:nvSpPr>
          <p:cNvPr id="7" name="TextBox 6"/>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{40,38,46,56,79,84}</a:t>
            </a:r>
          </a:p>
        </p:txBody>
      </p:sp>
      <p:sp>
        <p:nvSpPr>
          <p:cNvPr id="8" name="椭圆 7"/>
          <p:cNvSpPr>
            <a:spLocks noChangeAspect="1"/>
          </p:cNvSpPr>
          <p:nvPr>
            <p:custDataLst>
              <p:tags r:id="rId7"/>
            </p:custDataLst>
          </p:nvPr>
        </p:nvSpPr>
        <p:spPr bwMode="auto">
          <a:xfrm>
            <a:off x="1114425" y="28503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8"/>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9"/>
            </p:custDataLst>
          </p:nvPr>
        </p:nvSpPr>
        <p:spPr bwMode="auto">
          <a:xfrm>
            <a:off x="1114425" y="45648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10"/>
            </p:custDataLst>
          </p:nvPr>
        </p:nvSpPr>
        <p:spPr bwMode="auto">
          <a:xfrm>
            <a:off x="1114425" y="542210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12"/>
            </p:custDataLst>
          </p:nvPr>
        </p:nvGrpSpPr>
        <p:grpSpPr>
          <a:xfrm>
            <a:off x="0" y="0"/>
            <a:ext cx="9144000" cy="635000"/>
            <a:chOff x="0" y="0"/>
            <a:chExt cx="9144000" cy="635000"/>
          </a:xfrm>
        </p:grpSpPr>
        <p:sp>
          <p:nvSpPr>
            <p:cNvPr id="13"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363303910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en-US" altLang="zh-CN" sz="2600" dirty="0">
                <a:solidFill>
                  <a:srgbClr val="000000"/>
                </a:solidFill>
                <a:latin typeface="Microsoft Yahei"/>
                <a:ea typeface="Microsoft Yahei"/>
                <a:sym typeface="Microsoft Yahei"/>
              </a:rPr>
              <a:t>If quick sort is implemented recursively to sort an array of records, then which one of the following statements is TRUE? </a:t>
            </a: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en-US" altLang="zh-CN" sz="2000" b="0" dirty="0">
                <a:solidFill>
                  <a:srgbClr val="000000"/>
                </a:solidFill>
                <a:latin typeface="Microsoft Yahei"/>
                <a:ea typeface="Microsoft Yahei"/>
                <a:sym typeface="Microsoft Yahei"/>
              </a:rPr>
              <a:t>After each partition, handling the longer </a:t>
            </a:r>
            <a:r>
              <a:rPr lang="en-US" altLang="zh-CN" sz="2000" b="0" dirty="0" err="1">
                <a:solidFill>
                  <a:srgbClr val="000000"/>
                </a:solidFill>
                <a:latin typeface="Microsoft Yahei"/>
                <a:ea typeface="Microsoft Yahei"/>
                <a:sym typeface="Microsoft Yahei"/>
              </a:rPr>
              <a:t>sublist</a:t>
            </a:r>
            <a:r>
              <a:rPr lang="en-US" altLang="zh-CN" sz="2000" b="0" dirty="0">
                <a:solidFill>
                  <a:srgbClr val="000000"/>
                </a:solidFill>
                <a:latin typeface="Microsoft Yahei"/>
                <a:ea typeface="Microsoft Yahei"/>
                <a:sym typeface="Microsoft Yahei"/>
              </a:rPr>
              <a:t> first will reduce the number of recursions.</a:t>
            </a: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000" b="0" dirty="0">
                <a:solidFill>
                  <a:srgbClr val="000000"/>
                </a:solidFill>
                <a:latin typeface="Microsoft Yahei"/>
                <a:ea typeface="Microsoft Yahei"/>
                <a:sym typeface="Microsoft Yahei"/>
              </a:rPr>
              <a:t>After each partition, handling the shorter </a:t>
            </a:r>
            <a:r>
              <a:rPr lang="en-US" altLang="zh-CN" sz="2000" b="0" dirty="0" err="1">
                <a:solidFill>
                  <a:srgbClr val="000000"/>
                </a:solidFill>
                <a:latin typeface="Microsoft Yahei"/>
                <a:ea typeface="Microsoft Yahei"/>
                <a:sym typeface="Microsoft Yahei"/>
              </a:rPr>
              <a:t>sublist</a:t>
            </a:r>
            <a:r>
              <a:rPr lang="en-US" altLang="zh-CN" sz="2000" b="0" dirty="0">
                <a:solidFill>
                  <a:srgbClr val="000000"/>
                </a:solidFill>
                <a:latin typeface="Microsoft Yahei"/>
                <a:ea typeface="Microsoft Yahei"/>
                <a:sym typeface="Microsoft Yahei"/>
              </a:rPr>
              <a:t> first will reduce the number of recursions.</a:t>
            </a:r>
          </a:p>
        </p:txBody>
      </p:sp>
      <p:sp>
        <p:nvSpPr>
          <p:cNvPr id="6" name="TextBox 5"/>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en-US" altLang="zh-CN" sz="2000" b="0" dirty="0">
                <a:solidFill>
                  <a:srgbClr val="000000"/>
                </a:solidFill>
                <a:latin typeface="Microsoft Yahei"/>
                <a:ea typeface="Microsoft Yahei"/>
                <a:sym typeface="Microsoft Yahei"/>
              </a:rPr>
              <a:t>The number of recursions has nothing to do with the order of handling the </a:t>
            </a:r>
            <a:r>
              <a:rPr lang="en-US" altLang="zh-CN" sz="2000" b="0" dirty="0" err="1">
                <a:solidFill>
                  <a:srgbClr val="000000"/>
                </a:solidFill>
                <a:latin typeface="Microsoft Yahei"/>
                <a:ea typeface="Microsoft Yahei"/>
                <a:sym typeface="Microsoft Yahei"/>
              </a:rPr>
              <a:t>sublists</a:t>
            </a:r>
            <a:r>
              <a:rPr lang="en-US" altLang="zh-CN" sz="2000" b="0" dirty="0">
                <a:solidFill>
                  <a:srgbClr val="000000"/>
                </a:solidFill>
                <a:latin typeface="Microsoft Yahei"/>
                <a:ea typeface="Microsoft Yahei"/>
                <a:sym typeface="Microsoft Yahei"/>
              </a:rPr>
              <a:t> after each partition.</a:t>
            </a:r>
          </a:p>
        </p:txBody>
      </p:sp>
      <p:sp>
        <p:nvSpPr>
          <p:cNvPr id="7" name="TextBox 6"/>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en-US" altLang="zh-CN" sz="2000" b="0" dirty="0">
                <a:solidFill>
                  <a:srgbClr val="000000"/>
                </a:solidFill>
                <a:latin typeface="Microsoft Yahei"/>
                <a:ea typeface="Microsoft Yahei"/>
                <a:sym typeface="Microsoft Yahei"/>
              </a:rPr>
              <a:t>The number of recursions has nothing to do with the initial condition of the input.</a:t>
            </a:r>
          </a:p>
        </p:txBody>
      </p:sp>
      <p:sp>
        <p:nvSpPr>
          <p:cNvPr id="8" name="椭圆 7"/>
          <p:cNvSpPr>
            <a:spLocks noChangeAspect="1"/>
          </p:cNvSpPr>
          <p:nvPr>
            <p:custDataLst>
              <p:tags r:id="rId7"/>
            </p:custDataLst>
          </p:nvPr>
        </p:nvSpPr>
        <p:spPr bwMode="auto">
          <a:xfrm>
            <a:off x="1114425" y="28503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8"/>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9"/>
            </p:custDataLst>
          </p:nvPr>
        </p:nvSpPr>
        <p:spPr bwMode="auto">
          <a:xfrm>
            <a:off x="1114425" y="456485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10"/>
            </p:custDataLst>
          </p:nvPr>
        </p:nvSpPr>
        <p:spPr bwMode="auto">
          <a:xfrm>
            <a:off x="1114425" y="54221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12"/>
            </p:custDataLst>
          </p:nvPr>
        </p:nvGrpSpPr>
        <p:grpSpPr>
          <a:xfrm>
            <a:off x="0" y="0"/>
            <a:ext cx="9144000" cy="635000"/>
            <a:chOff x="0" y="0"/>
            <a:chExt cx="9144000" cy="635000"/>
          </a:xfrm>
        </p:grpSpPr>
        <p:sp>
          <p:nvSpPr>
            <p:cNvPr id="13"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245064896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a:ea typeface="Microsoft Yahei"/>
                <a:sym typeface="Microsoft Yahei"/>
              </a:rPr>
              <a:t>排序过程中，对尚未确定最终位置的所有元素进行一遍处理称为一“趟”。下列序列中，不可能是快速排序第二趟结果的是：</a:t>
            </a:r>
          </a:p>
        </p:txBody>
      </p:sp>
      <p:sp>
        <p:nvSpPr>
          <p:cNvPr id="4" name="TextBox 3"/>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5, 2, 16, 12, 28, 60, 32, 72 </a:t>
            </a:r>
          </a:p>
        </p:txBody>
      </p:sp>
      <p:sp>
        <p:nvSpPr>
          <p:cNvPr id="5" name="TextBox 4"/>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2, 16, 5, 28, 12, 60, 32, 72</a:t>
            </a:r>
          </a:p>
        </p:txBody>
      </p:sp>
      <p:sp>
        <p:nvSpPr>
          <p:cNvPr id="6" name="TextBox 5"/>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zh-CN" altLang="en-US" sz="2600" dirty="0">
                <a:solidFill>
                  <a:srgbClr val="000000"/>
                </a:solidFill>
                <a:latin typeface="Microsoft Yahei"/>
                <a:ea typeface="Microsoft Yahei"/>
                <a:sym typeface="Microsoft Yahei"/>
              </a:rPr>
              <a:t> </a:t>
            </a:r>
            <a:r>
              <a:rPr lang="en-US" altLang="zh-CN" sz="2600" dirty="0">
                <a:solidFill>
                  <a:srgbClr val="000000"/>
                </a:solidFill>
                <a:latin typeface="Microsoft Yahei"/>
                <a:ea typeface="Microsoft Yahei"/>
                <a:sym typeface="Microsoft Yahei"/>
              </a:rPr>
              <a:t>2, 12, 16, 5, 28, 32, 72, 60</a:t>
            </a:r>
          </a:p>
        </p:txBody>
      </p:sp>
      <p:sp>
        <p:nvSpPr>
          <p:cNvPr id="7" name="TextBox 6"/>
          <p:cNvSpPr txBox="1"/>
          <p:nvPr>
            <p:custDataLst>
              <p:tags r:id="rId6"/>
            </p:custDataLst>
          </p:nvPr>
        </p:nvSpPr>
        <p:spPr>
          <a:xfrm>
            <a:off x="1828800" y="5357813"/>
            <a:ext cx="6400800" cy="642938"/>
          </a:xfrm>
          <a:prstGeom prst="rect">
            <a:avLst/>
          </a:prstGeom>
          <a:noFill/>
        </p:spPr>
        <p:txBody>
          <a:bodyPr vert="horz" rtlCol="0" anchor="ctr" anchorCtr="0">
            <a:noAutofit/>
          </a:bodyPr>
          <a:lstStyle/>
          <a:p>
            <a:pPr eaLnBrk="1" hangingPunct="1"/>
            <a:r>
              <a:rPr lang="zh-CN" altLang="en-US" sz="2600" dirty="0">
                <a:solidFill>
                  <a:srgbClr val="000000"/>
                </a:solidFill>
                <a:latin typeface="Microsoft Yahei" pitchFamily="34" charset="-122"/>
                <a:ea typeface="Microsoft Yahei" pitchFamily="34" charset="-122"/>
                <a:sym typeface="Microsoft Yahei" pitchFamily="34" charset="-122"/>
              </a:rPr>
              <a:t> </a:t>
            </a:r>
            <a:r>
              <a:rPr lang="en-US" altLang="zh-CN" sz="2600">
                <a:solidFill>
                  <a:srgbClr val="000000"/>
                </a:solidFill>
                <a:latin typeface="Microsoft Yahei" pitchFamily="34" charset="-122"/>
                <a:ea typeface="Microsoft Yahei" pitchFamily="34" charset="-122"/>
                <a:sym typeface="Microsoft Yahei" pitchFamily="34" charset="-122"/>
              </a:rPr>
              <a:t>5, 2, 12, 28, 16, 32, 72, 60</a:t>
            </a:r>
            <a:endParaRPr lang="zh-CN" altLang="en-US" sz="2600" dirty="0">
              <a:solidFill>
                <a:srgbClr val="000000"/>
              </a:solidFill>
              <a:latin typeface="Microsoft Yahei" pitchFamily="34" charset="-122"/>
              <a:ea typeface="Microsoft Yahei" pitchFamily="34" charset="-122"/>
              <a:sym typeface="Microsoft Yahei" pitchFamily="34" charset="-122"/>
            </a:endParaRPr>
          </a:p>
        </p:txBody>
      </p:sp>
      <p:sp>
        <p:nvSpPr>
          <p:cNvPr id="8" name="椭圆 7"/>
          <p:cNvSpPr>
            <a:spLocks noChangeAspect="1"/>
          </p:cNvSpPr>
          <p:nvPr>
            <p:custDataLst>
              <p:tags r:id="rId7"/>
            </p:custDataLst>
          </p:nvPr>
        </p:nvSpPr>
        <p:spPr bwMode="auto">
          <a:xfrm>
            <a:off x="1114425" y="28503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9" name="椭圆 8"/>
          <p:cNvSpPr>
            <a:spLocks noChangeAspect="1"/>
          </p:cNvSpPr>
          <p:nvPr>
            <p:custDataLst>
              <p:tags r:id="rId8"/>
            </p:custDataLst>
          </p:nvPr>
        </p:nvSpPr>
        <p:spPr bwMode="auto">
          <a:xfrm>
            <a:off x="1114425" y="37076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9"/>
            </p:custDataLst>
          </p:nvPr>
        </p:nvSpPr>
        <p:spPr bwMode="auto">
          <a:xfrm>
            <a:off x="1114425" y="45648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10"/>
            </p:custDataLst>
          </p:nvPr>
        </p:nvSpPr>
        <p:spPr bwMode="auto">
          <a:xfrm>
            <a:off x="1114425" y="542210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圆角矩形 11"/>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grpSp>
        <p:nvGrpSpPr>
          <p:cNvPr id="17" name="组合 16"/>
          <p:cNvGrpSpPr/>
          <p:nvPr>
            <p:custDataLst>
              <p:tags r:id="rId12"/>
            </p:custDataLst>
          </p:nvPr>
        </p:nvGrpSpPr>
        <p:grpSpPr>
          <a:xfrm>
            <a:off x="0" y="0"/>
            <a:ext cx="9144000" cy="635000"/>
            <a:chOff x="0" y="0"/>
            <a:chExt cx="9144000" cy="635000"/>
          </a:xfrm>
        </p:grpSpPr>
        <p:sp>
          <p:nvSpPr>
            <p:cNvPr id="13"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4"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6"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276404496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11266" name="矩形: 圆角 16"/>
          <p:cNvSpPr>
            <a:spLocks noChangeArrowheads="1"/>
          </p:cNvSpPr>
          <p:nvPr/>
        </p:nvSpPr>
        <p:spPr bwMode="auto">
          <a:xfrm>
            <a:off x="2830513" y="3999548"/>
            <a:ext cx="4432300" cy="504825"/>
          </a:xfrm>
          <a:prstGeom prst="roundRect">
            <a:avLst>
              <a:gd name="adj" fmla="val 16667"/>
            </a:avLst>
          </a:prstGeom>
          <a:solidFill>
            <a:srgbClr val="9476B6"/>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1885950" y="3999548"/>
            <a:ext cx="839788" cy="504825"/>
          </a:xfrm>
          <a:prstGeom prst="roundRect">
            <a:avLst>
              <a:gd name="adj" fmla="val 16667"/>
            </a:avLst>
          </a:prstGeom>
          <a:solidFill>
            <a:schemeClr val="accent1"/>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sp>
        <p:nvSpPr>
          <p:cNvPr id="14" name="文本框 13"/>
          <p:cNvSpPr txBox="1"/>
          <p:nvPr/>
        </p:nvSpPr>
        <p:spPr>
          <a:xfrm>
            <a:off x="2005013" y="2205990"/>
            <a:ext cx="720725" cy="2308324"/>
          </a:xfrm>
          <a:prstGeom prst="rect">
            <a:avLst/>
          </a:prstGeom>
          <a:noFill/>
        </p:spPr>
        <p:txBody>
          <a:bodyPr>
            <a:spAutoFit/>
          </a:bodyPr>
          <a:lstStyle/>
          <a:p>
            <a:pPr marR="0" defTabSz="914400">
              <a:lnSpc>
                <a:spcPct val="150000"/>
              </a:lnSpc>
              <a:buClrTx/>
              <a:buSzTx/>
              <a:buFontTx/>
              <a:buNone/>
              <a:defRPr/>
            </a:pPr>
            <a:r>
              <a:rPr kumimoji="0" lang="en-US" altLang="zh-CN" sz="2400" b="0" kern="1200" cap="none" spc="0" normalizeH="0" baseline="0" noProof="0" dirty="0">
                <a:solidFill>
                  <a:schemeClr val="tx1"/>
                </a:solidFill>
                <a:latin typeface="+mn-lt"/>
                <a:ea typeface="+mn-ea"/>
                <a:cs typeface="+mn-ea"/>
                <a:sym typeface="+mn-lt"/>
              </a:rPr>
              <a:t>8.1</a:t>
            </a:r>
            <a:endParaRPr kumimoji="0" lang="zh-CN" altLang="en-US" sz="24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8.2</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8.3</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smtClean="0">
                <a:solidFill>
                  <a:schemeClr val="bg1"/>
                </a:solidFill>
                <a:latin typeface="+mn-lt"/>
                <a:ea typeface="+mn-ea"/>
                <a:cs typeface="+mn-ea"/>
                <a:sym typeface="+mn-lt"/>
              </a:rPr>
              <a:t>8.4</a:t>
            </a:r>
            <a:endParaRPr kumimoji="0" lang="en-US" altLang="zh-CN" sz="2400" b="0" kern="1200" cap="none" spc="0" normalizeH="0" baseline="0" noProof="0" dirty="0">
              <a:solidFill>
                <a:schemeClr val="bg1"/>
              </a:solidFill>
              <a:latin typeface="+mn-lt"/>
              <a:ea typeface="+mn-ea"/>
              <a:cs typeface="+mn-ea"/>
              <a:sym typeface="+mn-lt"/>
            </a:endParaRPr>
          </a:p>
        </p:txBody>
      </p:sp>
      <p:sp>
        <p:nvSpPr>
          <p:cNvPr id="15" name="文本框 14"/>
          <p:cNvSpPr txBox="1"/>
          <p:nvPr/>
        </p:nvSpPr>
        <p:spPr>
          <a:xfrm>
            <a:off x="2843530" y="2205990"/>
            <a:ext cx="4177665" cy="2308324"/>
          </a:xfrm>
          <a:prstGeom prst="rect">
            <a:avLst/>
          </a:prstGeom>
          <a:noFill/>
        </p:spPr>
        <p:txBody>
          <a:bodyPr wrap="square">
            <a:spAutoFit/>
          </a:bodyPr>
          <a:lstStyle/>
          <a:p>
            <a:pPr marR="0" defTabSz="914400">
              <a:lnSpc>
                <a:spcPct val="150000"/>
              </a:lnSpc>
              <a:buClrTx/>
              <a:buSzTx/>
              <a:buFontTx/>
              <a:buNone/>
              <a:defRPr/>
            </a:pPr>
            <a:r>
              <a:rPr kumimoji="0" lang="zh-CN" altLang="en-US" sz="2400" b="0" kern="1200" cap="none" spc="0" normalizeH="0" baseline="0" noProof="0" dirty="0">
                <a:solidFill>
                  <a:schemeClr val="bg1"/>
                </a:solidFill>
                <a:latin typeface="+mn-lt"/>
                <a:ea typeface="+mn-ea"/>
                <a:cs typeface="+mn-ea"/>
                <a:sym typeface="+mn-lt"/>
              </a:rPr>
              <a:t>　</a:t>
            </a:r>
            <a:r>
              <a:rPr kumimoji="0" lang="zh-CN" altLang="en-US" sz="2400" b="0" kern="1200" cap="none" spc="0" normalizeH="0" baseline="0" noProof="0" dirty="0">
                <a:solidFill>
                  <a:schemeClr val="tx1"/>
                </a:solidFill>
                <a:latin typeface="+mn-lt"/>
                <a:ea typeface="+mn-ea"/>
                <a:cs typeface="+mn-ea"/>
                <a:sym typeface="+mn-lt"/>
              </a:rPr>
              <a:t>概述</a:t>
            </a:r>
            <a:endParaRPr kumimoji="0" lang="zh-CN" altLang="en-US" sz="24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插入排序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交换排序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a:t>
            </a:r>
            <a:r>
              <a:rPr kumimoji="0" lang="zh-CN" altLang="en-US" sz="2400" b="0" kern="1200" cap="none" spc="0" normalizeH="0" baseline="0" noProof="0" dirty="0">
                <a:solidFill>
                  <a:schemeClr val="bg1"/>
                </a:solidFill>
                <a:latin typeface="+mn-lt"/>
                <a:ea typeface="+mn-ea"/>
                <a:cs typeface="+mn-ea"/>
                <a:sym typeface="+mn-lt"/>
              </a:rPr>
              <a:t>选择</a:t>
            </a:r>
            <a:r>
              <a:rPr kumimoji="0" lang="zh-CN" altLang="en-US" sz="2400" b="0" kern="1200" cap="none" spc="0" normalizeH="0" baseline="0" noProof="0" dirty="0" smtClean="0">
                <a:solidFill>
                  <a:schemeClr val="bg1"/>
                </a:solidFill>
                <a:latin typeface="+mn-lt"/>
                <a:ea typeface="+mn-ea"/>
                <a:cs typeface="+mn-ea"/>
                <a:sym typeface="+mn-lt"/>
              </a:rPr>
              <a:t>排序</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p:txBody>
      </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transition spd="slow"/>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33"/>
          <p:cNvSpPr>
            <a:spLocks noChangeArrowheads="1"/>
          </p:cNvSpPr>
          <p:nvPr/>
        </p:nvSpPr>
        <p:spPr bwMode="auto">
          <a:xfrm>
            <a:off x="847725" y="200025"/>
            <a:ext cx="6156325" cy="6858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选择排序</a:t>
            </a:r>
          </a:p>
        </p:txBody>
      </p:sp>
      <p:sp>
        <p:nvSpPr>
          <p:cNvPr id="1018916" name="Rectangle 36"/>
          <p:cNvSpPr>
            <a:spLocks noChangeArrowheads="1"/>
          </p:cNvSpPr>
          <p:nvPr/>
        </p:nvSpPr>
        <p:spPr bwMode="auto">
          <a:xfrm>
            <a:off x="976313" y="1619250"/>
            <a:ext cx="7921625" cy="579438"/>
          </a:xfrm>
          <a:prstGeom prst="rect">
            <a:avLst/>
          </a:prstGeom>
          <a:noFill/>
          <a:ln w="9525">
            <a:noFill/>
            <a:miter lim="800000"/>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3200" b="0" i="0" u="none" strike="noStrike" kern="1200" cap="none" spc="0" normalizeH="0" baseline="0" noProof="0" dirty="0">
                <a:ln>
                  <a:noFill/>
                </a:ln>
                <a:solidFill>
                  <a:srgbClr val="FF3300"/>
                </a:solidFill>
                <a:effectLst/>
                <a:uLnTx/>
                <a:uFillTx/>
                <a:latin typeface="+mn-lt"/>
                <a:ea typeface="+mn-ea"/>
                <a:cs typeface="+mn-ea"/>
                <a:sym typeface="+mn-lt"/>
              </a:rPr>
              <a:t>基本思想：</a:t>
            </a:r>
          </a:p>
        </p:txBody>
      </p:sp>
      <p:sp>
        <p:nvSpPr>
          <p:cNvPr id="103428" name="椭圆 7"/>
          <p:cNvSpPr/>
          <p:nvPr/>
        </p:nvSpPr>
        <p:spPr>
          <a:xfrm>
            <a:off x="976313" y="4919663"/>
            <a:ext cx="95250"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03429" name="椭圆 8"/>
          <p:cNvSpPr/>
          <p:nvPr/>
        </p:nvSpPr>
        <p:spPr>
          <a:xfrm>
            <a:off x="306388" y="4929188"/>
            <a:ext cx="95250"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03430" name="椭圆 11"/>
          <p:cNvSpPr/>
          <p:nvPr/>
        </p:nvSpPr>
        <p:spPr>
          <a:xfrm>
            <a:off x="301625" y="2562225"/>
            <a:ext cx="96838"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1" name="矩形 10"/>
          <p:cNvSpPr>
            <a:spLocks noChangeArrowheads="1"/>
          </p:cNvSpPr>
          <p:nvPr/>
        </p:nvSpPr>
        <p:spPr bwMode="auto">
          <a:xfrm>
            <a:off x="0" y="2673350"/>
            <a:ext cx="9140825" cy="2339975"/>
          </a:xfrm>
          <a:prstGeom prst="rect">
            <a:avLst/>
          </a:prstGeom>
          <a:solidFill>
            <a:srgbClr val="F2F2F2"/>
          </a:solidFill>
          <a:ln>
            <a:noFill/>
          </a:ln>
        </p:spPr>
        <p:txBody>
          <a:bodyPr lIns="4248000" rIns="252000" anchor="ctr"/>
          <a:lstStyle/>
          <a:p>
            <a:pPr marL="0" marR="0" lvl="0" indent="0" algn="just" defTabSz="914400" rtl="0" eaLnBrk="1" fontAlgn="base" latinLnBrk="0" hangingPunct="1">
              <a:lnSpc>
                <a:spcPct val="130000"/>
              </a:lnSpc>
              <a:spcBef>
                <a:spcPts val="600"/>
              </a:spcBef>
              <a:spcAft>
                <a:spcPts val="600"/>
              </a:spcAft>
              <a:buClrTx/>
              <a:buSzTx/>
              <a:buFont typeface="Arial" panose="020B0604020202020204" pitchFamily="34" charset="0"/>
              <a:buNone/>
              <a:defRPr/>
            </a:pPr>
            <a:endParaRPr kumimoji="0" lang="zh-CN" altLang="en-US" sz="2800" b="1"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12" name="圆角矩形 15"/>
          <p:cNvSpPr>
            <a:spLocks noChangeArrowheads="1"/>
          </p:cNvSpPr>
          <p:nvPr/>
        </p:nvSpPr>
        <p:spPr bwMode="auto">
          <a:xfrm>
            <a:off x="331788" y="2559050"/>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3433" name="椭圆 12"/>
          <p:cNvSpPr/>
          <p:nvPr/>
        </p:nvSpPr>
        <p:spPr>
          <a:xfrm>
            <a:off x="971550" y="2552700"/>
            <a:ext cx="96838"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4" name="圆角矩形 15"/>
          <p:cNvSpPr>
            <a:spLocks noChangeArrowheads="1"/>
          </p:cNvSpPr>
          <p:nvPr/>
        </p:nvSpPr>
        <p:spPr bwMode="auto">
          <a:xfrm>
            <a:off x="1001713" y="2549525"/>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8070" name="Rectangle 37"/>
          <p:cNvSpPr>
            <a:spLocks noChangeArrowheads="1"/>
          </p:cNvSpPr>
          <p:nvPr/>
        </p:nvSpPr>
        <p:spPr bwMode="auto">
          <a:xfrm>
            <a:off x="1687513" y="3213100"/>
            <a:ext cx="7205663" cy="95408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62992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每一趟在后面 </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n-</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i</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 +1</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个中选出关键码最小的对象</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作为有序序列的第 </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i</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个记录</a:t>
            </a:r>
          </a:p>
        </p:txBody>
      </p:sp>
    </p:spTree>
  </p:cSld>
  <p:clrMapOvr>
    <a:masterClrMapping/>
  </p:clrMapOvr>
  <p:transition spd="slow"/>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103"/>
          <p:cNvSpPr>
            <a:spLocks noChangeArrowheads="1"/>
          </p:cNvSpPr>
          <p:nvPr/>
        </p:nvSpPr>
        <p:spPr bwMode="auto">
          <a:xfrm>
            <a:off x="152400" y="5370513"/>
            <a:ext cx="184150" cy="57943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zh-CN" sz="3200" b="0" i="0" u="none" strike="noStrike" kern="1200" cap="none" spc="0" normalizeH="0" baseline="0" noProof="0">
              <a:ln>
                <a:noFill/>
              </a:ln>
              <a:solidFill>
                <a:schemeClr val="tx2"/>
              </a:solidFill>
              <a:effectLst/>
              <a:uLnTx/>
              <a:uFillTx/>
              <a:latin typeface="+mn-lt"/>
              <a:ea typeface="+mn-ea"/>
              <a:cs typeface="+mn-ea"/>
              <a:sym typeface="+mn-lt"/>
            </a:endParaRPr>
          </a:p>
        </p:txBody>
      </p:sp>
      <p:grpSp>
        <p:nvGrpSpPr>
          <p:cNvPr id="104451" name="Group 137"/>
          <p:cNvGrpSpPr/>
          <p:nvPr/>
        </p:nvGrpSpPr>
        <p:grpSpPr>
          <a:xfrm>
            <a:off x="436563" y="1089025"/>
            <a:ext cx="8174037" cy="1316038"/>
            <a:chOff x="275" y="1283"/>
            <a:chExt cx="5149" cy="829"/>
          </a:xfrm>
        </p:grpSpPr>
        <p:sp>
          <p:nvSpPr>
            <p:cNvPr id="1020005" name="AutoShape 101" descr="白色大理石"/>
            <p:cNvSpPr>
              <a:spLocks noChangeArrowheads="1"/>
            </p:cNvSpPr>
            <p:nvPr/>
          </p:nvSpPr>
          <p:spPr bwMode="auto">
            <a:xfrm>
              <a:off x="384" y="1824"/>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0015" name="AutoShape 111"/>
            <p:cNvSpPr>
              <a:spLocks noChangeArrowheads="1"/>
            </p:cNvSpPr>
            <p:nvPr/>
          </p:nvSpPr>
          <p:spPr bwMode="auto">
            <a:xfrm>
              <a:off x="1056" y="1584"/>
              <a:ext cx="336" cy="480"/>
            </a:xfrm>
            <a:prstGeom prst="can">
              <a:avLst>
                <a:gd name="adj" fmla="val 35714"/>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21</a:t>
              </a:r>
            </a:p>
          </p:txBody>
        </p:sp>
        <p:sp>
          <p:nvSpPr>
            <p:cNvPr id="1020016" name="AutoShape 112"/>
            <p:cNvSpPr>
              <a:spLocks noChangeArrowheads="1"/>
            </p:cNvSpPr>
            <p:nvPr/>
          </p:nvSpPr>
          <p:spPr bwMode="auto">
            <a:xfrm>
              <a:off x="2928" y="1536"/>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1020017" name="Text Box 113"/>
            <p:cNvSpPr txBox="1">
              <a:spLocks noChangeArrowheads="1"/>
            </p:cNvSpPr>
            <p:nvPr/>
          </p:nvSpPr>
          <p:spPr bwMode="auto">
            <a:xfrm>
              <a:off x="275" y="1555"/>
              <a:ext cx="491" cy="365"/>
            </a:xfrm>
            <a:prstGeom prst="rect">
              <a:avLst/>
            </a:prstGeom>
            <a:noFill/>
            <a:ln w="9525">
              <a:noFill/>
              <a:miter lim="800000"/>
            </a:ln>
          </p:spPr>
          <p:txBody>
            <a:bodyPr wrap="none">
              <a:spAutoFit/>
            </a:bodyPr>
            <a:lstStyle/>
            <a:p>
              <a:pPr marR="0" defTabSz="914400" eaLnBrk="1" hangingPunct="1">
                <a:buClrTx/>
                <a:buSzTx/>
                <a:buFontTx/>
                <a:buNone/>
                <a:defRPr/>
              </a:pPr>
              <a:r>
                <a:rPr kumimoji="1" lang="en-US" altLang="zh-CN" sz="3200" b="0" i="1" kern="1200" cap="none" spc="0" normalizeH="0" baseline="0" noProof="0">
                  <a:solidFill>
                    <a:schemeClr val="hlink"/>
                  </a:solidFill>
                  <a:latin typeface="+mn-lt"/>
                  <a:ea typeface="+mn-ea"/>
                  <a:cs typeface="+mn-ea"/>
                  <a:sym typeface="+mn-lt"/>
                </a:rPr>
                <a:t>i </a:t>
              </a:r>
              <a:r>
                <a:rPr kumimoji="1" lang="en-US" altLang="zh-CN" b="0" kern="1200" cap="none" spc="0" normalizeH="0" baseline="0" noProof="0">
                  <a:solidFill>
                    <a:schemeClr val="hlink"/>
                  </a:solidFill>
                  <a:latin typeface="+mn-lt"/>
                  <a:ea typeface="+mn-ea"/>
                  <a:cs typeface="+mn-ea"/>
                  <a:sym typeface="+mn-lt"/>
                </a:rPr>
                <a:t>=1</a:t>
              </a:r>
              <a:endParaRPr kumimoji="1" lang="en-US" altLang="zh-CN" sz="2400" b="0" kern="1200" cap="none" spc="0" normalizeH="0" baseline="0" noProof="0">
                <a:solidFill>
                  <a:schemeClr val="bg1"/>
                </a:solidFill>
                <a:latin typeface="+mn-lt"/>
                <a:ea typeface="+mn-ea"/>
                <a:cs typeface="+mn-ea"/>
                <a:sym typeface="+mn-lt"/>
              </a:endParaRPr>
            </a:p>
          </p:txBody>
        </p:sp>
        <p:sp>
          <p:nvSpPr>
            <p:cNvPr id="1020021" name="AutoShape 117"/>
            <p:cNvSpPr>
              <a:spLocks noChangeArrowheads="1"/>
            </p:cNvSpPr>
            <p:nvPr/>
          </p:nvSpPr>
          <p:spPr bwMode="auto">
            <a:xfrm>
              <a:off x="1680" y="1536"/>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1020022" name="AutoShape 118"/>
            <p:cNvSpPr>
              <a:spLocks noChangeArrowheads="1"/>
            </p:cNvSpPr>
            <p:nvPr/>
          </p:nvSpPr>
          <p:spPr bwMode="auto">
            <a:xfrm>
              <a:off x="3552" y="1632"/>
              <a:ext cx="336" cy="432"/>
            </a:xfrm>
            <a:prstGeom prst="can">
              <a:avLst>
                <a:gd name="adj" fmla="val 32143"/>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16</a:t>
              </a:r>
            </a:p>
          </p:txBody>
        </p:sp>
        <p:sp>
          <p:nvSpPr>
            <p:cNvPr id="1020024" name="AutoShape 120"/>
            <p:cNvSpPr>
              <a:spLocks noChangeArrowheads="1"/>
            </p:cNvSpPr>
            <p:nvPr/>
          </p:nvSpPr>
          <p:spPr bwMode="auto">
            <a:xfrm>
              <a:off x="2304" y="1344"/>
              <a:ext cx="336" cy="720"/>
            </a:xfrm>
            <a:prstGeom prst="can">
              <a:avLst>
                <a:gd name="adj" fmla="val 53571"/>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49</a:t>
              </a:r>
            </a:p>
          </p:txBody>
        </p:sp>
        <p:sp>
          <p:nvSpPr>
            <p:cNvPr id="1020025" name="AutoShape 121"/>
            <p:cNvSpPr>
              <a:spLocks noChangeArrowheads="1"/>
            </p:cNvSpPr>
            <p:nvPr/>
          </p:nvSpPr>
          <p:spPr bwMode="auto">
            <a:xfrm>
              <a:off x="4176" y="1824"/>
              <a:ext cx="336" cy="240"/>
            </a:xfrm>
            <a:prstGeom prst="can">
              <a:avLst>
                <a:gd name="adj" fmla="val 25000"/>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a:ln>
                    <a:noFill/>
                  </a:ln>
                  <a:solidFill>
                    <a:schemeClr val="lt1"/>
                  </a:solidFill>
                  <a:effectLst/>
                  <a:uLnTx/>
                  <a:uFillTx/>
                  <a:latin typeface="+mn-lt"/>
                  <a:ea typeface="+mn-ea"/>
                  <a:cs typeface="+mn-ea"/>
                  <a:sym typeface="+mn-lt"/>
                </a:rPr>
                <a:t>08</a:t>
              </a:r>
            </a:p>
          </p:txBody>
        </p:sp>
        <p:sp>
          <p:nvSpPr>
            <p:cNvPr id="1020037" name="Text Box 133"/>
            <p:cNvSpPr txBox="1">
              <a:spLocks noChangeArrowheads="1"/>
            </p:cNvSpPr>
            <p:nvPr/>
          </p:nvSpPr>
          <p:spPr bwMode="auto">
            <a:xfrm>
              <a:off x="4484" y="1283"/>
              <a:ext cx="940" cy="477"/>
            </a:xfrm>
            <a:prstGeom prst="rect">
              <a:avLst/>
            </a:prstGeom>
            <a:noFill/>
            <a:ln w="9525">
              <a:noFill/>
              <a:miter lim="800000"/>
            </a:ln>
          </p:spPr>
          <p:txBody>
            <a:bodyPr wrap="none">
              <a:spAutoFit/>
            </a:bodyPr>
            <a:lstStyle/>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最小者 </a:t>
              </a:r>
              <a:r>
                <a:rPr kumimoji="1" lang="en-US" altLang="zh-CN" sz="2400" b="0" kern="1200" cap="none" spc="0" normalizeH="0" baseline="0" noProof="0" dirty="0">
                  <a:latin typeface="+mn-lt"/>
                  <a:ea typeface="+mn-ea"/>
                  <a:cs typeface="+mn-ea"/>
                  <a:sym typeface="+mn-lt"/>
                </a:rPr>
                <a:t>08</a:t>
              </a:r>
            </a:p>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交换</a:t>
              </a:r>
              <a:r>
                <a:rPr kumimoji="1" lang="en-US" altLang="zh-CN" sz="2400" b="0" kern="1200" cap="none" spc="0" normalizeH="0" baseline="0" noProof="0" dirty="0">
                  <a:latin typeface="+mn-lt"/>
                  <a:ea typeface="+mn-ea"/>
                  <a:cs typeface="+mn-ea"/>
                  <a:sym typeface="+mn-lt"/>
                </a:rPr>
                <a:t>21,08</a:t>
              </a:r>
              <a:endParaRPr kumimoji="1" lang="en-US" altLang="zh-CN" sz="2400" b="0" kern="1200" cap="none" spc="0" normalizeH="0" baseline="0" noProof="0" dirty="0">
                <a:solidFill>
                  <a:schemeClr val="bg1"/>
                </a:solidFill>
                <a:latin typeface="+mn-lt"/>
                <a:ea typeface="+mn-ea"/>
                <a:cs typeface="+mn-ea"/>
                <a:sym typeface="+mn-lt"/>
              </a:endParaRPr>
            </a:p>
          </p:txBody>
        </p:sp>
      </p:grpSp>
      <p:grpSp>
        <p:nvGrpSpPr>
          <p:cNvPr id="3" name="Group 136"/>
          <p:cNvGrpSpPr/>
          <p:nvPr/>
        </p:nvGrpSpPr>
        <p:grpSpPr>
          <a:xfrm>
            <a:off x="336550" y="2744788"/>
            <a:ext cx="8277225" cy="1382712"/>
            <a:chOff x="288" y="2153"/>
            <a:chExt cx="5214" cy="871"/>
          </a:xfrm>
        </p:grpSpPr>
        <p:sp>
          <p:nvSpPr>
            <p:cNvPr id="1020004" name="AutoShape 100" descr="白色大理石"/>
            <p:cNvSpPr>
              <a:spLocks noChangeArrowheads="1"/>
            </p:cNvSpPr>
            <p:nvPr/>
          </p:nvSpPr>
          <p:spPr bwMode="auto">
            <a:xfrm>
              <a:off x="384" y="2736"/>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0019" name="AutoShape 115"/>
            <p:cNvSpPr>
              <a:spLocks noChangeArrowheads="1"/>
            </p:cNvSpPr>
            <p:nvPr/>
          </p:nvSpPr>
          <p:spPr bwMode="auto">
            <a:xfrm>
              <a:off x="1680" y="2448"/>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1020020" name="AutoShape 116"/>
            <p:cNvSpPr>
              <a:spLocks noChangeArrowheads="1"/>
            </p:cNvSpPr>
            <p:nvPr/>
          </p:nvSpPr>
          <p:spPr bwMode="auto">
            <a:xfrm>
              <a:off x="3552" y="2544"/>
              <a:ext cx="336" cy="432"/>
            </a:xfrm>
            <a:prstGeom prst="can">
              <a:avLst>
                <a:gd name="adj" fmla="val 32143"/>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lt1"/>
                  </a:solidFill>
                  <a:effectLst/>
                  <a:uLnTx/>
                  <a:uFillTx/>
                  <a:latin typeface="+mn-lt"/>
                  <a:ea typeface="+mn-ea"/>
                  <a:cs typeface="+mn-ea"/>
                  <a:sym typeface="+mn-lt"/>
                </a:rPr>
                <a:t>16</a:t>
              </a:r>
            </a:p>
          </p:txBody>
        </p:sp>
        <p:sp>
          <p:nvSpPr>
            <p:cNvPr id="1020023" name="AutoShape 119"/>
            <p:cNvSpPr>
              <a:spLocks noChangeArrowheads="1"/>
            </p:cNvSpPr>
            <p:nvPr/>
          </p:nvSpPr>
          <p:spPr bwMode="auto">
            <a:xfrm>
              <a:off x="1056" y="2736"/>
              <a:ext cx="336" cy="240"/>
            </a:xfrm>
            <a:prstGeom prst="can">
              <a:avLst>
                <a:gd name="adj" fmla="val 25000"/>
              </a:avLst>
            </a:prstGeom>
            <a:ln w="9525">
              <a:solidFill>
                <a:schemeClr val="tx1"/>
              </a:solidFill>
              <a:round/>
            </a:ln>
          </p:spPr>
          <p:style>
            <a:lnRef idx="0">
              <a:scrgbClr r="0" g="0" b="0"/>
            </a:lnRef>
            <a:fillRef idx="1003">
              <a:schemeClr val="lt1"/>
            </a:fillRef>
            <a:effectRef idx="0">
              <a:scrgbClr r="0" g="0" b="0"/>
            </a:effectRef>
            <a:fontRef idx="major"/>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08</a:t>
              </a:r>
            </a:p>
          </p:txBody>
        </p:sp>
        <p:sp>
          <p:nvSpPr>
            <p:cNvPr id="1020026" name="AutoShape 122"/>
            <p:cNvSpPr>
              <a:spLocks noChangeArrowheads="1"/>
            </p:cNvSpPr>
            <p:nvPr/>
          </p:nvSpPr>
          <p:spPr bwMode="auto">
            <a:xfrm>
              <a:off x="2928" y="2448"/>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1020027" name="AutoShape 123"/>
            <p:cNvSpPr>
              <a:spLocks noChangeArrowheads="1"/>
            </p:cNvSpPr>
            <p:nvPr/>
          </p:nvSpPr>
          <p:spPr bwMode="auto">
            <a:xfrm>
              <a:off x="2304" y="2256"/>
              <a:ext cx="336" cy="720"/>
            </a:xfrm>
            <a:prstGeom prst="can">
              <a:avLst>
                <a:gd name="adj" fmla="val 53571"/>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49</a:t>
              </a:r>
            </a:p>
          </p:txBody>
        </p:sp>
        <p:sp>
          <p:nvSpPr>
            <p:cNvPr id="1020028" name="AutoShape 124"/>
            <p:cNvSpPr>
              <a:spLocks noChangeArrowheads="1"/>
            </p:cNvSpPr>
            <p:nvPr/>
          </p:nvSpPr>
          <p:spPr bwMode="auto">
            <a:xfrm>
              <a:off x="4176" y="2496"/>
              <a:ext cx="336" cy="480"/>
            </a:xfrm>
            <a:prstGeom prst="can">
              <a:avLst>
                <a:gd name="adj" fmla="val 35714"/>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21</a:t>
              </a:r>
            </a:p>
          </p:txBody>
        </p:sp>
        <p:sp>
          <p:nvSpPr>
            <p:cNvPr id="1020029" name="Text Box 125"/>
            <p:cNvSpPr txBox="1">
              <a:spLocks noChangeArrowheads="1"/>
            </p:cNvSpPr>
            <p:nvPr/>
          </p:nvSpPr>
          <p:spPr bwMode="auto">
            <a:xfrm>
              <a:off x="288" y="2448"/>
              <a:ext cx="547" cy="365"/>
            </a:xfrm>
            <a:prstGeom prst="rect">
              <a:avLst/>
            </a:prstGeom>
            <a:noFill/>
            <a:ln w="9525">
              <a:noFill/>
              <a:miter lim="800000"/>
            </a:ln>
          </p:spPr>
          <p:txBody>
            <a:bodyPr wrap="none">
              <a:spAutoFit/>
            </a:bodyPr>
            <a:lstStyle/>
            <a:p>
              <a:pPr marR="0" defTabSz="914400" eaLnBrk="1" hangingPunct="1">
                <a:buClrTx/>
                <a:buSzTx/>
                <a:buFontTx/>
                <a:buNone/>
                <a:defRPr/>
              </a:pPr>
              <a:r>
                <a:rPr kumimoji="1" lang="en-US" altLang="zh-CN" sz="3200" b="0" i="1" kern="1200" cap="none" spc="0" normalizeH="0" baseline="0" noProof="0">
                  <a:solidFill>
                    <a:schemeClr val="hlink"/>
                  </a:solidFill>
                  <a:latin typeface="+mn-lt"/>
                  <a:ea typeface="+mn-ea"/>
                  <a:cs typeface="+mn-ea"/>
                  <a:sym typeface="+mn-lt"/>
                </a:rPr>
                <a:t>i </a:t>
              </a:r>
              <a:r>
                <a:rPr kumimoji="1" lang="en-US" altLang="zh-CN" b="0" kern="1200" cap="none" spc="0" normalizeH="0" baseline="0" noProof="0">
                  <a:solidFill>
                    <a:schemeClr val="hlink"/>
                  </a:solidFill>
                  <a:latin typeface="+mn-lt"/>
                  <a:ea typeface="+mn-ea"/>
                  <a:cs typeface="+mn-ea"/>
                  <a:sym typeface="+mn-lt"/>
                </a:rPr>
                <a:t>= 2</a:t>
              </a:r>
              <a:endParaRPr kumimoji="1" lang="en-US" altLang="zh-CN" sz="2400" b="0" kern="1200" cap="none" spc="0" normalizeH="0" baseline="0" noProof="0">
                <a:solidFill>
                  <a:schemeClr val="bg1"/>
                </a:solidFill>
                <a:latin typeface="+mn-lt"/>
                <a:ea typeface="+mn-ea"/>
                <a:cs typeface="+mn-ea"/>
                <a:sym typeface="+mn-lt"/>
              </a:endParaRPr>
            </a:p>
          </p:txBody>
        </p:sp>
        <p:sp>
          <p:nvSpPr>
            <p:cNvPr id="1020038" name="Text Box 134"/>
            <p:cNvSpPr txBox="1">
              <a:spLocks noChangeArrowheads="1"/>
            </p:cNvSpPr>
            <p:nvPr/>
          </p:nvSpPr>
          <p:spPr bwMode="auto">
            <a:xfrm>
              <a:off x="4562" y="2153"/>
              <a:ext cx="940" cy="477"/>
            </a:xfrm>
            <a:prstGeom prst="rect">
              <a:avLst/>
            </a:prstGeom>
            <a:noFill/>
            <a:ln w="9525">
              <a:noFill/>
              <a:miter lim="800000"/>
            </a:ln>
          </p:spPr>
          <p:txBody>
            <a:bodyPr wrap="none">
              <a:spAutoFit/>
            </a:bodyPr>
            <a:lstStyle/>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最小者 </a:t>
              </a:r>
              <a:r>
                <a:rPr kumimoji="1" lang="en-US" altLang="zh-CN" sz="2400" b="0" kern="1200" cap="none" spc="0" normalizeH="0" baseline="0" noProof="0" dirty="0">
                  <a:latin typeface="+mn-lt"/>
                  <a:ea typeface="+mn-ea"/>
                  <a:cs typeface="+mn-ea"/>
                  <a:sym typeface="+mn-lt"/>
                </a:rPr>
                <a:t>16</a:t>
              </a:r>
            </a:p>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交换</a:t>
              </a:r>
              <a:r>
                <a:rPr kumimoji="1" lang="en-US" altLang="zh-CN" sz="2400" b="0" kern="1200" cap="none" spc="0" normalizeH="0" baseline="0" noProof="0" dirty="0">
                  <a:latin typeface="+mn-lt"/>
                  <a:ea typeface="+mn-ea"/>
                  <a:cs typeface="+mn-ea"/>
                  <a:sym typeface="+mn-lt"/>
                </a:rPr>
                <a:t>25,16</a:t>
              </a:r>
              <a:endParaRPr kumimoji="1" lang="en-US" altLang="zh-CN" sz="2400" b="0" kern="1200" cap="none" spc="0" normalizeH="0" baseline="0" noProof="0" dirty="0">
                <a:solidFill>
                  <a:schemeClr val="bg1"/>
                </a:solidFill>
                <a:latin typeface="+mn-lt"/>
                <a:ea typeface="+mn-ea"/>
                <a:cs typeface="+mn-ea"/>
                <a:sym typeface="+mn-lt"/>
              </a:endParaRPr>
            </a:p>
          </p:txBody>
        </p:sp>
      </p:grpSp>
      <p:grpSp>
        <p:nvGrpSpPr>
          <p:cNvPr id="4" name="Group 138"/>
          <p:cNvGrpSpPr/>
          <p:nvPr/>
        </p:nvGrpSpPr>
        <p:grpSpPr>
          <a:xfrm>
            <a:off x="336550" y="4508500"/>
            <a:ext cx="8274050" cy="1439863"/>
            <a:chOff x="288" y="3029"/>
            <a:chExt cx="5212" cy="907"/>
          </a:xfrm>
        </p:grpSpPr>
        <p:sp>
          <p:nvSpPr>
            <p:cNvPr id="1020003" name="AutoShape 99" descr="白色大理石"/>
            <p:cNvSpPr>
              <a:spLocks noChangeArrowheads="1"/>
            </p:cNvSpPr>
            <p:nvPr/>
          </p:nvSpPr>
          <p:spPr bwMode="auto">
            <a:xfrm>
              <a:off x="384" y="3648"/>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0018" name="AutoShape 114"/>
            <p:cNvSpPr>
              <a:spLocks noChangeArrowheads="1"/>
            </p:cNvSpPr>
            <p:nvPr/>
          </p:nvSpPr>
          <p:spPr bwMode="auto">
            <a:xfrm>
              <a:off x="2304" y="3168"/>
              <a:ext cx="336" cy="720"/>
            </a:xfrm>
            <a:prstGeom prst="can">
              <a:avLst>
                <a:gd name="adj" fmla="val 53571"/>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49</a:t>
              </a:r>
            </a:p>
          </p:txBody>
        </p:sp>
        <p:sp>
          <p:nvSpPr>
            <p:cNvPr id="1020030" name="Text Box 126"/>
            <p:cNvSpPr txBox="1">
              <a:spLocks noChangeArrowheads="1"/>
            </p:cNvSpPr>
            <p:nvPr/>
          </p:nvSpPr>
          <p:spPr bwMode="auto">
            <a:xfrm>
              <a:off x="288" y="3360"/>
              <a:ext cx="547" cy="365"/>
            </a:xfrm>
            <a:prstGeom prst="rect">
              <a:avLst/>
            </a:prstGeom>
            <a:noFill/>
            <a:ln w="9525">
              <a:noFill/>
              <a:miter lim="800000"/>
            </a:ln>
          </p:spPr>
          <p:txBody>
            <a:bodyPr wrap="none">
              <a:spAutoFit/>
            </a:bodyPr>
            <a:lstStyle/>
            <a:p>
              <a:pPr marR="0" defTabSz="914400" eaLnBrk="1" hangingPunct="1">
                <a:buClrTx/>
                <a:buSzTx/>
                <a:buFontTx/>
                <a:buNone/>
                <a:defRPr/>
              </a:pPr>
              <a:r>
                <a:rPr kumimoji="1" lang="en-US" altLang="zh-CN" sz="3200" b="0" i="1" kern="1200" cap="none" spc="0" normalizeH="0" baseline="0" noProof="0">
                  <a:solidFill>
                    <a:schemeClr val="hlink"/>
                  </a:solidFill>
                  <a:latin typeface="+mn-lt"/>
                  <a:ea typeface="+mn-ea"/>
                  <a:cs typeface="+mn-ea"/>
                  <a:sym typeface="+mn-lt"/>
                </a:rPr>
                <a:t>i </a:t>
              </a:r>
              <a:r>
                <a:rPr kumimoji="1" lang="en-US" altLang="zh-CN" b="0" kern="1200" cap="none" spc="0" normalizeH="0" baseline="0" noProof="0">
                  <a:solidFill>
                    <a:schemeClr val="hlink"/>
                  </a:solidFill>
                  <a:latin typeface="+mn-lt"/>
                  <a:ea typeface="+mn-ea"/>
                  <a:cs typeface="+mn-ea"/>
                  <a:sym typeface="+mn-lt"/>
                </a:rPr>
                <a:t>= 3</a:t>
              </a:r>
              <a:endParaRPr kumimoji="1" lang="en-US" altLang="zh-CN" sz="2400" b="0" kern="1200" cap="none" spc="0" normalizeH="0" baseline="0" noProof="0">
                <a:solidFill>
                  <a:schemeClr val="bg1"/>
                </a:solidFill>
                <a:latin typeface="+mn-lt"/>
                <a:ea typeface="+mn-ea"/>
                <a:cs typeface="+mn-ea"/>
                <a:sym typeface="+mn-lt"/>
              </a:endParaRPr>
            </a:p>
          </p:txBody>
        </p:sp>
        <p:sp>
          <p:nvSpPr>
            <p:cNvPr id="1020031" name="AutoShape 127"/>
            <p:cNvSpPr>
              <a:spLocks noChangeArrowheads="1"/>
            </p:cNvSpPr>
            <p:nvPr/>
          </p:nvSpPr>
          <p:spPr bwMode="auto">
            <a:xfrm>
              <a:off x="1056" y="3648"/>
              <a:ext cx="336" cy="240"/>
            </a:xfrm>
            <a:prstGeom prst="can">
              <a:avLst>
                <a:gd name="adj" fmla="val 25000"/>
              </a:avLst>
            </a:prstGeom>
            <a:ln w="9525">
              <a:solidFill>
                <a:schemeClr val="tx1"/>
              </a:solidFill>
              <a:round/>
            </a:ln>
          </p:spPr>
          <p:style>
            <a:lnRef idx="0">
              <a:scrgbClr r="0" g="0" b="0"/>
            </a:lnRef>
            <a:fillRef idx="1003">
              <a:schemeClr val="lt1"/>
            </a:fillRef>
            <a:effectRef idx="0">
              <a:scrgbClr r="0" g="0" b="0"/>
            </a:effectRef>
            <a:fontRef idx="major"/>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08</a:t>
              </a:r>
            </a:p>
          </p:txBody>
        </p:sp>
        <p:sp>
          <p:nvSpPr>
            <p:cNvPr id="1020032" name="AutoShape 128"/>
            <p:cNvSpPr>
              <a:spLocks noChangeArrowheads="1"/>
            </p:cNvSpPr>
            <p:nvPr/>
          </p:nvSpPr>
          <p:spPr bwMode="auto">
            <a:xfrm>
              <a:off x="1680" y="3456"/>
              <a:ext cx="336" cy="432"/>
            </a:xfrm>
            <a:prstGeom prst="can">
              <a:avLst>
                <a:gd name="adj" fmla="val 32143"/>
              </a:avLst>
            </a:prstGeom>
            <a:ln w="9525">
              <a:solidFill>
                <a:schemeClr val="tx1"/>
              </a:solidFill>
              <a:round/>
            </a:ln>
          </p:spPr>
          <p:style>
            <a:lnRef idx="0">
              <a:scrgbClr r="0" g="0" b="0"/>
            </a:lnRef>
            <a:fillRef idx="1003">
              <a:schemeClr val="lt1"/>
            </a:fillRef>
            <a:effectRef idx="0">
              <a:scrgbClr r="0" g="0" b="0"/>
            </a:effectRef>
            <a:fontRef idx="major"/>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16</a:t>
              </a:r>
            </a:p>
          </p:txBody>
        </p:sp>
        <p:sp>
          <p:nvSpPr>
            <p:cNvPr id="1020033" name="AutoShape 129"/>
            <p:cNvSpPr>
              <a:spLocks noChangeArrowheads="1"/>
            </p:cNvSpPr>
            <p:nvPr/>
          </p:nvSpPr>
          <p:spPr bwMode="auto">
            <a:xfrm>
              <a:off x="2928" y="3312"/>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1020034" name="AutoShape 130"/>
            <p:cNvSpPr>
              <a:spLocks noChangeArrowheads="1"/>
            </p:cNvSpPr>
            <p:nvPr/>
          </p:nvSpPr>
          <p:spPr bwMode="auto">
            <a:xfrm>
              <a:off x="3552" y="3312"/>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1020035" name="AutoShape 131"/>
            <p:cNvSpPr>
              <a:spLocks noChangeArrowheads="1"/>
            </p:cNvSpPr>
            <p:nvPr/>
          </p:nvSpPr>
          <p:spPr bwMode="auto">
            <a:xfrm>
              <a:off x="4176" y="3360"/>
              <a:ext cx="336" cy="480"/>
            </a:xfrm>
            <a:prstGeom prst="can">
              <a:avLst>
                <a:gd name="adj" fmla="val 35714"/>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lt1"/>
                  </a:solidFill>
                  <a:effectLst/>
                  <a:uLnTx/>
                  <a:uFillTx/>
                  <a:latin typeface="+mn-lt"/>
                  <a:ea typeface="+mn-ea"/>
                  <a:cs typeface="+mn-ea"/>
                  <a:sym typeface="+mn-lt"/>
                </a:rPr>
                <a:t>21</a:t>
              </a:r>
            </a:p>
          </p:txBody>
        </p:sp>
        <p:sp>
          <p:nvSpPr>
            <p:cNvPr id="1020039" name="Text Box 135"/>
            <p:cNvSpPr txBox="1">
              <a:spLocks noChangeArrowheads="1"/>
            </p:cNvSpPr>
            <p:nvPr/>
          </p:nvSpPr>
          <p:spPr bwMode="auto">
            <a:xfrm>
              <a:off x="4560" y="3029"/>
              <a:ext cx="940" cy="477"/>
            </a:xfrm>
            <a:prstGeom prst="rect">
              <a:avLst/>
            </a:prstGeom>
            <a:noFill/>
            <a:ln w="9525">
              <a:noFill/>
              <a:miter lim="800000"/>
            </a:ln>
          </p:spPr>
          <p:txBody>
            <a:bodyPr wrap="none">
              <a:spAutoFit/>
            </a:bodyPr>
            <a:lstStyle/>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最小者 </a:t>
              </a:r>
              <a:r>
                <a:rPr kumimoji="1" lang="en-US" altLang="zh-CN" sz="2400" b="0" kern="1200" cap="none" spc="0" normalizeH="0" baseline="0" noProof="0" dirty="0">
                  <a:latin typeface="+mn-lt"/>
                  <a:ea typeface="+mn-ea"/>
                  <a:cs typeface="+mn-ea"/>
                  <a:sym typeface="+mn-lt"/>
                </a:rPr>
                <a:t>21</a:t>
              </a:r>
            </a:p>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交换</a:t>
              </a:r>
              <a:r>
                <a:rPr kumimoji="1" lang="en-US" altLang="zh-CN" sz="2400" b="0" kern="1200" cap="none" spc="0" normalizeH="0" baseline="0" noProof="0" dirty="0">
                  <a:latin typeface="+mn-lt"/>
                  <a:ea typeface="+mn-ea"/>
                  <a:cs typeface="+mn-ea"/>
                  <a:sym typeface="+mn-lt"/>
                </a:rPr>
                <a:t>49,21</a:t>
              </a:r>
              <a:endParaRPr kumimoji="1" lang="en-US" altLang="zh-CN" sz="2400" b="0" kern="1200" cap="none" spc="0" normalizeH="0" baseline="0" noProof="0" dirty="0">
                <a:solidFill>
                  <a:schemeClr val="bg1"/>
                </a:solidFill>
                <a:latin typeface="+mn-lt"/>
                <a:ea typeface="+mn-ea"/>
                <a:cs typeface="+mn-ea"/>
                <a:sym typeface="+mn-lt"/>
              </a:endParaRPr>
            </a:p>
          </p:txBody>
        </p:sp>
      </p:grpSp>
      <p:sp>
        <p:nvSpPr>
          <p:cNvPr id="1020043" name="Rectangle 139"/>
          <p:cNvSpPr>
            <a:spLocks noChangeArrowheads="1"/>
          </p:cNvSpPr>
          <p:nvPr/>
        </p:nvSpPr>
        <p:spPr bwMode="auto">
          <a:xfrm>
            <a:off x="769938" y="190500"/>
            <a:ext cx="3079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简单选择排序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amond(in)">
                                      <p:cBhvr>
                                        <p:cTn id="12"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474" name="Group 130"/>
          <p:cNvGrpSpPr/>
          <p:nvPr/>
        </p:nvGrpSpPr>
        <p:grpSpPr>
          <a:xfrm>
            <a:off x="428625" y="1052513"/>
            <a:ext cx="8437563" cy="1751012"/>
            <a:chOff x="288" y="241"/>
            <a:chExt cx="5315" cy="1103"/>
          </a:xfrm>
        </p:grpSpPr>
        <p:sp>
          <p:nvSpPr>
            <p:cNvPr id="949351" name="AutoShape 103" descr="白色大理石"/>
            <p:cNvSpPr>
              <a:spLocks noChangeArrowheads="1"/>
            </p:cNvSpPr>
            <p:nvPr/>
          </p:nvSpPr>
          <p:spPr bwMode="auto">
            <a:xfrm>
              <a:off x="384" y="768"/>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9353" name="AutoShape 105"/>
            <p:cNvSpPr>
              <a:spLocks noChangeArrowheads="1"/>
            </p:cNvSpPr>
            <p:nvPr/>
          </p:nvSpPr>
          <p:spPr bwMode="auto">
            <a:xfrm>
              <a:off x="4176" y="288"/>
              <a:ext cx="336" cy="720"/>
            </a:xfrm>
            <a:prstGeom prst="can">
              <a:avLst>
                <a:gd name="adj" fmla="val 53571"/>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49</a:t>
              </a:r>
            </a:p>
          </p:txBody>
        </p:sp>
        <p:sp>
          <p:nvSpPr>
            <p:cNvPr id="949354" name="AutoShape 106"/>
            <p:cNvSpPr>
              <a:spLocks noChangeArrowheads="1"/>
            </p:cNvSpPr>
            <p:nvPr/>
          </p:nvSpPr>
          <p:spPr bwMode="auto">
            <a:xfrm>
              <a:off x="2928" y="480"/>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1" i="0" u="none" strike="noStrike" kern="1200" cap="none" spc="0" normalizeH="0" baseline="0" noProof="0" dirty="0">
                  <a:ln w="10160">
                    <a:solidFill>
                      <a:schemeClr val="accent5"/>
                    </a:solidFill>
                    <a:prstDash val="solid"/>
                  </a:ln>
                  <a:solidFill>
                    <a:schemeClr val="bg1"/>
                  </a:solidFill>
                  <a:effectLst>
                    <a:outerShdw blurRad="38100" dist="22860" dir="5400000" algn="tl" rotWithShape="0">
                      <a:srgbClr val="000000">
                        <a:alpha val="30000"/>
                      </a:srgbClr>
                    </a:outerShdw>
                  </a:effectLst>
                  <a:uLnTx/>
                  <a:uFillTx/>
                  <a:latin typeface="+mn-lt"/>
                  <a:ea typeface="+mn-ea"/>
                  <a:cs typeface="+mn-ea"/>
                  <a:sym typeface="+mn-lt"/>
                </a:rPr>
                <a:t>25*</a:t>
              </a:r>
            </a:p>
          </p:txBody>
        </p:sp>
        <p:sp>
          <p:nvSpPr>
            <p:cNvPr id="90119" name="Text Box 107"/>
            <p:cNvSpPr txBox="1">
              <a:spLocks noChangeArrowheads="1"/>
            </p:cNvSpPr>
            <p:nvPr/>
          </p:nvSpPr>
          <p:spPr bwMode="auto">
            <a:xfrm>
              <a:off x="1104" y="1056"/>
              <a:ext cx="3332" cy="28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0           1           2           3           4           5</a:t>
              </a:r>
            </a:p>
          </p:txBody>
        </p:sp>
        <p:sp>
          <p:nvSpPr>
            <p:cNvPr id="949366" name="Text Box 118"/>
            <p:cNvSpPr txBox="1">
              <a:spLocks noChangeArrowheads="1"/>
            </p:cNvSpPr>
            <p:nvPr/>
          </p:nvSpPr>
          <p:spPr bwMode="auto">
            <a:xfrm>
              <a:off x="288" y="499"/>
              <a:ext cx="424" cy="291"/>
            </a:xfrm>
            <a:prstGeom prst="rect">
              <a:avLst/>
            </a:prstGeom>
            <a:noFill/>
            <a:ln w="9525">
              <a:noFill/>
              <a:miter lim="800000"/>
            </a:ln>
          </p:spPr>
          <p:txBody>
            <a:bodyPr wrap="none">
              <a:spAutoFit/>
            </a:bodyPr>
            <a:lstStyle/>
            <a:p>
              <a:pPr marR="0" defTabSz="914400" eaLnBrk="1" hangingPunct="1">
                <a:buClrTx/>
                <a:buSzTx/>
                <a:buFontTx/>
                <a:buNone/>
                <a:defRPr/>
              </a:pPr>
              <a:r>
                <a:rPr kumimoji="1" lang="en-US" altLang="zh-CN" sz="2400" b="0" i="1" kern="1200" cap="none" spc="0" normalizeH="0" baseline="0" noProof="0" dirty="0" err="1">
                  <a:solidFill>
                    <a:schemeClr val="hlink"/>
                  </a:solidFill>
                  <a:latin typeface="+mn-lt"/>
                  <a:ea typeface="+mn-ea"/>
                  <a:cs typeface="+mn-ea"/>
                  <a:sym typeface="+mn-lt"/>
                </a:rPr>
                <a:t>i</a:t>
              </a:r>
              <a:r>
                <a:rPr kumimoji="1" lang="en-US" altLang="zh-CN" sz="2400" b="0" i="1" kern="1200" cap="none" spc="0" normalizeH="0" baseline="0" noProof="0" dirty="0">
                  <a:solidFill>
                    <a:schemeClr val="hlink"/>
                  </a:solidFill>
                  <a:latin typeface="+mn-lt"/>
                  <a:ea typeface="+mn-ea"/>
                  <a:cs typeface="+mn-ea"/>
                  <a:sym typeface="+mn-lt"/>
                </a:rPr>
                <a:t> </a:t>
              </a:r>
              <a:r>
                <a:rPr kumimoji="1" lang="en-US" altLang="zh-CN" sz="2400" b="0" kern="1200" cap="none" spc="0" normalizeH="0" baseline="0" noProof="0" dirty="0">
                  <a:solidFill>
                    <a:schemeClr val="hlink"/>
                  </a:solidFill>
                  <a:latin typeface="+mn-lt"/>
                  <a:ea typeface="+mn-ea"/>
                  <a:cs typeface="+mn-ea"/>
                  <a:sym typeface="+mn-lt"/>
                </a:rPr>
                <a:t>=4</a:t>
              </a:r>
              <a:endParaRPr kumimoji="1" lang="en-US" altLang="zh-CN" sz="2400" b="0" kern="1200" cap="none" spc="0" normalizeH="0" baseline="0" noProof="0" dirty="0">
                <a:solidFill>
                  <a:schemeClr val="bg1"/>
                </a:solidFill>
                <a:latin typeface="+mn-lt"/>
                <a:ea typeface="+mn-ea"/>
                <a:cs typeface="+mn-ea"/>
                <a:sym typeface="+mn-lt"/>
              </a:endParaRPr>
            </a:p>
          </p:txBody>
        </p:sp>
        <p:sp>
          <p:nvSpPr>
            <p:cNvPr id="949367" name="AutoShape 119"/>
            <p:cNvSpPr>
              <a:spLocks noChangeArrowheads="1"/>
            </p:cNvSpPr>
            <p:nvPr/>
          </p:nvSpPr>
          <p:spPr bwMode="auto">
            <a:xfrm>
              <a:off x="1056" y="768"/>
              <a:ext cx="336" cy="240"/>
            </a:xfrm>
            <a:prstGeom prst="can">
              <a:avLst>
                <a:gd name="adj" fmla="val 25000"/>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08</a:t>
              </a:r>
            </a:p>
          </p:txBody>
        </p:sp>
        <p:sp>
          <p:nvSpPr>
            <p:cNvPr id="949368" name="AutoShape 120"/>
            <p:cNvSpPr>
              <a:spLocks noChangeArrowheads="1"/>
            </p:cNvSpPr>
            <p:nvPr/>
          </p:nvSpPr>
          <p:spPr bwMode="auto">
            <a:xfrm>
              <a:off x="1680" y="576"/>
              <a:ext cx="336" cy="432"/>
            </a:xfrm>
            <a:prstGeom prst="can">
              <a:avLst>
                <a:gd name="adj" fmla="val 32143"/>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16</a:t>
              </a:r>
            </a:p>
          </p:txBody>
        </p:sp>
        <p:sp>
          <p:nvSpPr>
            <p:cNvPr id="949369" name="AutoShape 121"/>
            <p:cNvSpPr>
              <a:spLocks noChangeArrowheads="1"/>
            </p:cNvSpPr>
            <p:nvPr/>
          </p:nvSpPr>
          <p:spPr bwMode="auto">
            <a:xfrm>
              <a:off x="3552" y="480"/>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949370" name="AutoShape 122"/>
            <p:cNvSpPr>
              <a:spLocks noChangeArrowheads="1"/>
            </p:cNvSpPr>
            <p:nvPr/>
          </p:nvSpPr>
          <p:spPr bwMode="auto">
            <a:xfrm>
              <a:off x="2304" y="528"/>
              <a:ext cx="336" cy="480"/>
            </a:xfrm>
            <a:prstGeom prst="can">
              <a:avLst>
                <a:gd name="adj" fmla="val 35714"/>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21</a:t>
              </a:r>
            </a:p>
          </p:txBody>
        </p:sp>
        <p:sp>
          <p:nvSpPr>
            <p:cNvPr id="949371" name="Text Box 123"/>
            <p:cNvSpPr txBox="1">
              <a:spLocks noChangeArrowheads="1"/>
            </p:cNvSpPr>
            <p:nvPr/>
          </p:nvSpPr>
          <p:spPr bwMode="auto">
            <a:xfrm>
              <a:off x="4566" y="241"/>
              <a:ext cx="1037" cy="477"/>
            </a:xfrm>
            <a:prstGeom prst="rect">
              <a:avLst/>
            </a:prstGeom>
            <a:noFill/>
            <a:ln w="9525">
              <a:noFill/>
              <a:miter lim="800000"/>
            </a:ln>
          </p:spPr>
          <p:txBody>
            <a:bodyPr wrap="none">
              <a:spAutoFit/>
            </a:bodyPr>
            <a:lstStyle/>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最小者 </a:t>
              </a:r>
              <a:r>
                <a:rPr kumimoji="1" lang="en-US" altLang="zh-CN" sz="2400" b="0" kern="1200" cap="none" spc="0" normalizeH="0" baseline="0" noProof="0" dirty="0">
                  <a:latin typeface="+mn-lt"/>
                  <a:ea typeface="+mn-ea"/>
                  <a:cs typeface="+mn-ea"/>
                  <a:sym typeface="+mn-lt"/>
                </a:rPr>
                <a:t>25*</a:t>
              </a:r>
            </a:p>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无交换</a:t>
              </a:r>
              <a:endParaRPr kumimoji="1" lang="zh-CN" altLang="en-US" sz="2400" b="0" kern="1200" cap="none" spc="0" normalizeH="0" baseline="0" noProof="0" dirty="0">
                <a:solidFill>
                  <a:schemeClr val="bg1"/>
                </a:solidFill>
                <a:latin typeface="+mn-lt"/>
                <a:ea typeface="+mn-ea"/>
                <a:cs typeface="+mn-ea"/>
                <a:sym typeface="+mn-lt"/>
              </a:endParaRPr>
            </a:p>
          </p:txBody>
        </p:sp>
      </p:grpSp>
      <p:grpSp>
        <p:nvGrpSpPr>
          <p:cNvPr id="105475" name="Group 131"/>
          <p:cNvGrpSpPr/>
          <p:nvPr/>
        </p:nvGrpSpPr>
        <p:grpSpPr>
          <a:xfrm>
            <a:off x="407988" y="2824163"/>
            <a:ext cx="8382000" cy="1325562"/>
            <a:chOff x="275" y="1277"/>
            <a:chExt cx="5280" cy="835"/>
          </a:xfrm>
        </p:grpSpPr>
        <p:sp>
          <p:nvSpPr>
            <p:cNvPr id="949350" name="AutoShape 102" descr="白色大理石"/>
            <p:cNvSpPr>
              <a:spLocks noChangeArrowheads="1"/>
            </p:cNvSpPr>
            <p:nvPr/>
          </p:nvSpPr>
          <p:spPr bwMode="auto">
            <a:xfrm>
              <a:off x="384" y="1824"/>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9356" name="AutoShape 108"/>
            <p:cNvSpPr>
              <a:spLocks noChangeArrowheads="1"/>
            </p:cNvSpPr>
            <p:nvPr/>
          </p:nvSpPr>
          <p:spPr bwMode="auto">
            <a:xfrm>
              <a:off x="2928" y="1536"/>
              <a:ext cx="336" cy="528"/>
            </a:xfrm>
            <a:prstGeom prst="can">
              <a:avLst>
                <a:gd name="adj" fmla="val 39286"/>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25*</a:t>
              </a:r>
            </a:p>
          </p:txBody>
        </p:sp>
        <p:sp>
          <p:nvSpPr>
            <p:cNvPr id="949357" name="Text Box 109"/>
            <p:cNvSpPr txBox="1">
              <a:spLocks noChangeArrowheads="1"/>
            </p:cNvSpPr>
            <p:nvPr/>
          </p:nvSpPr>
          <p:spPr bwMode="auto">
            <a:xfrm>
              <a:off x="275" y="1555"/>
              <a:ext cx="424" cy="291"/>
            </a:xfrm>
            <a:prstGeom prst="rect">
              <a:avLst/>
            </a:prstGeom>
            <a:noFill/>
            <a:ln w="9525">
              <a:noFill/>
              <a:miter lim="800000"/>
            </a:ln>
          </p:spPr>
          <p:txBody>
            <a:bodyPr wrap="none">
              <a:spAutoFit/>
            </a:bodyPr>
            <a:lstStyle/>
            <a:p>
              <a:pPr marR="0" defTabSz="914400" eaLnBrk="1" hangingPunct="1">
                <a:buClrTx/>
                <a:buSzTx/>
                <a:buFontTx/>
                <a:buNone/>
                <a:defRPr/>
              </a:pPr>
              <a:r>
                <a:rPr kumimoji="1" lang="en-US" altLang="zh-CN" sz="2400" b="0" i="1" kern="1200" cap="none" spc="0" normalizeH="0" baseline="0" noProof="0" dirty="0" err="1">
                  <a:solidFill>
                    <a:schemeClr val="hlink"/>
                  </a:solidFill>
                  <a:latin typeface="+mn-lt"/>
                  <a:ea typeface="+mn-ea"/>
                  <a:cs typeface="+mn-ea"/>
                  <a:sym typeface="+mn-lt"/>
                </a:rPr>
                <a:t>i</a:t>
              </a:r>
              <a:r>
                <a:rPr kumimoji="1" lang="en-US" altLang="zh-CN" sz="2400" b="0" i="1" kern="1200" cap="none" spc="0" normalizeH="0" baseline="0" noProof="0" dirty="0">
                  <a:solidFill>
                    <a:schemeClr val="hlink"/>
                  </a:solidFill>
                  <a:latin typeface="+mn-lt"/>
                  <a:ea typeface="+mn-ea"/>
                  <a:cs typeface="+mn-ea"/>
                  <a:sym typeface="+mn-lt"/>
                </a:rPr>
                <a:t> </a:t>
              </a:r>
              <a:r>
                <a:rPr kumimoji="1" lang="en-US" altLang="zh-CN" sz="2400" b="0" kern="1200" cap="none" spc="0" normalizeH="0" baseline="0" noProof="0" dirty="0">
                  <a:solidFill>
                    <a:schemeClr val="hlink"/>
                  </a:solidFill>
                  <a:latin typeface="+mn-lt"/>
                  <a:ea typeface="+mn-ea"/>
                  <a:cs typeface="+mn-ea"/>
                  <a:sym typeface="+mn-lt"/>
                </a:rPr>
                <a:t>=5</a:t>
              </a:r>
              <a:endParaRPr kumimoji="1" lang="en-US" altLang="zh-CN" sz="2400" b="0" kern="1200" cap="none" spc="0" normalizeH="0" baseline="0" noProof="0" dirty="0">
                <a:solidFill>
                  <a:schemeClr val="bg1"/>
                </a:solidFill>
                <a:latin typeface="+mn-lt"/>
                <a:ea typeface="+mn-ea"/>
                <a:cs typeface="+mn-ea"/>
                <a:sym typeface="+mn-lt"/>
              </a:endParaRPr>
            </a:p>
          </p:txBody>
        </p:sp>
        <p:sp>
          <p:nvSpPr>
            <p:cNvPr id="949361" name="AutoShape 113"/>
            <p:cNvSpPr>
              <a:spLocks noChangeArrowheads="1"/>
            </p:cNvSpPr>
            <p:nvPr/>
          </p:nvSpPr>
          <p:spPr bwMode="auto">
            <a:xfrm>
              <a:off x="4176" y="1344"/>
              <a:ext cx="336" cy="720"/>
            </a:xfrm>
            <a:prstGeom prst="can">
              <a:avLst>
                <a:gd name="adj" fmla="val 53571"/>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49</a:t>
              </a:r>
            </a:p>
          </p:txBody>
        </p:sp>
        <p:sp>
          <p:nvSpPr>
            <p:cNvPr id="949372" name="Text Box 124"/>
            <p:cNvSpPr txBox="1">
              <a:spLocks noChangeArrowheads="1"/>
            </p:cNvSpPr>
            <p:nvPr/>
          </p:nvSpPr>
          <p:spPr bwMode="auto">
            <a:xfrm>
              <a:off x="4615" y="1277"/>
              <a:ext cx="940" cy="477"/>
            </a:xfrm>
            <a:prstGeom prst="rect">
              <a:avLst/>
            </a:prstGeom>
            <a:noFill/>
            <a:ln w="9525">
              <a:noFill/>
              <a:miter lim="800000"/>
            </a:ln>
          </p:spPr>
          <p:txBody>
            <a:bodyPr wrap="none">
              <a:spAutoFit/>
            </a:bodyPr>
            <a:lstStyle/>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最小者 </a:t>
              </a:r>
              <a:r>
                <a:rPr kumimoji="1" lang="en-US" altLang="zh-CN" sz="2400" b="0" kern="1200" cap="none" spc="0" normalizeH="0" baseline="0" noProof="0" dirty="0">
                  <a:latin typeface="+mn-lt"/>
                  <a:ea typeface="+mn-ea"/>
                  <a:cs typeface="+mn-ea"/>
                  <a:sym typeface="+mn-lt"/>
                </a:rPr>
                <a:t>25</a:t>
              </a:r>
            </a:p>
            <a:p>
              <a:pPr marR="0" defTabSz="914400" eaLnBrk="1" hangingPunct="1">
                <a:lnSpc>
                  <a:spcPct val="90000"/>
                </a:lnSpc>
                <a:buClrTx/>
                <a:buSzTx/>
                <a:buFontTx/>
                <a:buNone/>
                <a:defRPr/>
              </a:pPr>
              <a:r>
                <a:rPr kumimoji="1" lang="zh-CN" altLang="en-US" sz="2400" b="0" kern="1200" cap="none" spc="0" normalizeH="0" baseline="0" noProof="0" dirty="0">
                  <a:latin typeface="+mn-lt"/>
                  <a:ea typeface="+mn-ea"/>
                  <a:cs typeface="+mn-ea"/>
                  <a:sym typeface="+mn-lt"/>
                </a:rPr>
                <a:t>无交换</a:t>
              </a:r>
              <a:endParaRPr kumimoji="1" lang="zh-CN" altLang="en-US" sz="2400" b="0" kern="1200" cap="none" spc="0" normalizeH="0" baseline="0" noProof="0" dirty="0">
                <a:solidFill>
                  <a:schemeClr val="bg1"/>
                </a:solidFill>
                <a:latin typeface="+mn-lt"/>
                <a:ea typeface="+mn-ea"/>
                <a:cs typeface="+mn-ea"/>
                <a:sym typeface="+mn-lt"/>
              </a:endParaRPr>
            </a:p>
          </p:txBody>
        </p:sp>
        <p:sp>
          <p:nvSpPr>
            <p:cNvPr id="949373" name="AutoShape 125"/>
            <p:cNvSpPr>
              <a:spLocks noChangeArrowheads="1"/>
            </p:cNvSpPr>
            <p:nvPr/>
          </p:nvSpPr>
          <p:spPr bwMode="auto">
            <a:xfrm>
              <a:off x="3552" y="1536"/>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949374" name="AutoShape 126"/>
            <p:cNvSpPr>
              <a:spLocks noChangeArrowheads="1"/>
            </p:cNvSpPr>
            <p:nvPr/>
          </p:nvSpPr>
          <p:spPr bwMode="auto">
            <a:xfrm>
              <a:off x="2304" y="1584"/>
              <a:ext cx="336" cy="480"/>
            </a:xfrm>
            <a:prstGeom prst="can">
              <a:avLst>
                <a:gd name="adj" fmla="val 35714"/>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21</a:t>
              </a:r>
            </a:p>
          </p:txBody>
        </p:sp>
        <p:sp>
          <p:nvSpPr>
            <p:cNvPr id="949375" name="AutoShape 127"/>
            <p:cNvSpPr>
              <a:spLocks noChangeArrowheads="1"/>
            </p:cNvSpPr>
            <p:nvPr/>
          </p:nvSpPr>
          <p:spPr bwMode="auto">
            <a:xfrm>
              <a:off x="1680" y="1632"/>
              <a:ext cx="336" cy="432"/>
            </a:xfrm>
            <a:prstGeom prst="can">
              <a:avLst>
                <a:gd name="adj" fmla="val 32143"/>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16</a:t>
              </a:r>
            </a:p>
          </p:txBody>
        </p:sp>
        <p:sp>
          <p:nvSpPr>
            <p:cNvPr id="949376" name="AutoShape 128"/>
            <p:cNvSpPr>
              <a:spLocks noChangeArrowheads="1"/>
            </p:cNvSpPr>
            <p:nvPr/>
          </p:nvSpPr>
          <p:spPr bwMode="auto">
            <a:xfrm>
              <a:off x="1056" y="1824"/>
              <a:ext cx="336" cy="240"/>
            </a:xfrm>
            <a:prstGeom prst="can">
              <a:avLst>
                <a:gd name="adj" fmla="val 25000"/>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08</a:t>
              </a:r>
            </a:p>
          </p:txBody>
        </p:sp>
      </p:grpSp>
      <p:grpSp>
        <p:nvGrpSpPr>
          <p:cNvPr id="105476" name="Group 132"/>
          <p:cNvGrpSpPr/>
          <p:nvPr/>
        </p:nvGrpSpPr>
        <p:grpSpPr>
          <a:xfrm>
            <a:off x="428625" y="4457700"/>
            <a:ext cx="7848600" cy="2068513"/>
            <a:chOff x="288" y="2256"/>
            <a:chExt cx="4944" cy="1303"/>
          </a:xfrm>
        </p:grpSpPr>
        <p:sp>
          <p:nvSpPr>
            <p:cNvPr id="949349" name="AutoShape 101" descr="白色大理石"/>
            <p:cNvSpPr>
              <a:spLocks noChangeArrowheads="1"/>
            </p:cNvSpPr>
            <p:nvPr/>
          </p:nvSpPr>
          <p:spPr bwMode="auto">
            <a:xfrm>
              <a:off x="384" y="2736"/>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marL="0" marR="0" lvl="0" indent="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9358" name="AutoShape 110"/>
            <p:cNvSpPr>
              <a:spLocks noChangeArrowheads="1"/>
            </p:cNvSpPr>
            <p:nvPr/>
          </p:nvSpPr>
          <p:spPr bwMode="auto">
            <a:xfrm>
              <a:off x="3552" y="2448"/>
              <a:ext cx="336" cy="528"/>
            </a:xfrm>
            <a:prstGeom prst="can">
              <a:avLst>
                <a:gd name="adj" fmla="val 39286"/>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25</a:t>
              </a:r>
            </a:p>
          </p:txBody>
        </p:sp>
        <p:sp>
          <p:nvSpPr>
            <p:cNvPr id="949359" name="AutoShape 111"/>
            <p:cNvSpPr>
              <a:spLocks noChangeArrowheads="1"/>
            </p:cNvSpPr>
            <p:nvPr/>
          </p:nvSpPr>
          <p:spPr bwMode="auto">
            <a:xfrm>
              <a:off x="1680" y="2544"/>
              <a:ext cx="336" cy="432"/>
            </a:xfrm>
            <a:prstGeom prst="can">
              <a:avLst>
                <a:gd name="adj" fmla="val 32143"/>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16</a:t>
              </a:r>
            </a:p>
          </p:txBody>
        </p:sp>
        <p:sp>
          <p:nvSpPr>
            <p:cNvPr id="949360" name="AutoShape 112"/>
            <p:cNvSpPr>
              <a:spLocks noChangeArrowheads="1"/>
            </p:cNvSpPr>
            <p:nvPr/>
          </p:nvSpPr>
          <p:spPr bwMode="auto">
            <a:xfrm>
              <a:off x="1056" y="2736"/>
              <a:ext cx="336" cy="240"/>
            </a:xfrm>
            <a:prstGeom prst="can">
              <a:avLst>
                <a:gd name="adj" fmla="val 25000"/>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08</a:t>
              </a:r>
            </a:p>
          </p:txBody>
        </p:sp>
        <p:sp>
          <p:nvSpPr>
            <p:cNvPr id="949362" name="AutoShape 114"/>
            <p:cNvSpPr>
              <a:spLocks noChangeArrowheads="1"/>
            </p:cNvSpPr>
            <p:nvPr/>
          </p:nvSpPr>
          <p:spPr bwMode="auto">
            <a:xfrm>
              <a:off x="2928" y="2448"/>
              <a:ext cx="336" cy="528"/>
            </a:xfrm>
            <a:prstGeom prst="can">
              <a:avLst>
                <a:gd name="adj" fmla="val 39286"/>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25*</a:t>
              </a:r>
            </a:p>
          </p:txBody>
        </p:sp>
        <p:sp>
          <p:nvSpPr>
            <p:cNvPr id="949363" name="AutoShape 115"/>
            <p:cNvSpPr>
              <a:spLocks noChangeArrowheads="1"/>
            </p:cNvSpPr>
            <p:nvPr/>
          </p:nvSpPr>
          <p:spPr bwMode="auto">
            <a:xfrm>
              <a:off x="4176" y="2256"/>
              <a:ext cx="336" cy="720"/>
            </a:xfrm>
            <a:prstGeom prst="can">
              <a:avLst>
                <a:gd name="adj" fmla="val 53571"/>
              </a:avLst>
            </a:prstGeom>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rPr>
                <a:t>49</a:t>
              </a:r>
            </a:p>
          </p:txBody>
        </p:sp>
        <p:sp>
          <p:nvSpPr>
            <p:cNvPr id="949364" name="AutoShape 116"/>
            <p:cNvSpPr>
              <a:spLocks noChangeArrowheads="1"/>
            </p:cNvSpPr>
            <p:nvPr/>
          </p:nvSpPr>
          <p:spPr bwMode="auto">
            <a:xfrm>
              <a:off x="2304" y="2496"/>
              <a:ext cx="336" cy="480"/>
            </a:xfrm>
            <a:prstGeom prst="can">
              <a:avLst>
                <a:gd name="adj" fmla="val 35714"/>
              </a:avLst>
            </a:prstGeom>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rgbClr val="FF0000"/>
                  </a:solidFill>
                  <a:effectLst/>
                  <a:uLnTx/>
                  <a:uFillTx/>
                  <a:latin typeface="+mn-lt"/>
                  <a:ea typeface="+mn-ea"/>
                  <a:cs typeface="+mn-ea"/>
                  <a:sym typeface="+mn-lt"/>
                </a:rPr>
                <a:t>21</a:t>
              </a:r>
            </a:p>
          </p:txBody>
        </p:sp>
        <p:sp>
          <p:nvSpPr>
            <p:cNvPr id="90144" name="Text Box 117"/>
            <p:cNvSpPr txBox="1">
              <a:spLocks noChangeArrowheads="1"/>
            </p:cNvSpPr>
            <p:nvPr/>
          </p:nvSpPr>
          <p:spPr bwMode="auto">
            <a:xfrm>
              <a:off x="288" y="2464"/>
              <a:ext cx="504" cy="291"/>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结果</a:t>
              </a:r>
              <a:endPar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49377" name="Text Box 129"/>
            <p:cNvSpPr txBox="1">
              <a:spLocks noChangeArrowheads="1"/>
            </p:cNvSpPr>
            <p:nvPr/>
          </p:nvSpPr>
          <p:spPr bwMode="auto">
            <a:xfrm>
              <a:off x="1916" y="3268"/>
              <a:ext cx="1667" cy="291"/>
            </a:xfrm>
            <a:prstGeom prst="rect">
              <a:avLst/>
            </a:prstGeom>
            <a:noFill/>
            <a:ln w="9525">
              <a:noFill/>
              <a:miter lim="800000"/>
            </a:ln>
          </p:spPr>
          <p:txBody>
            <a:bodyPr wrap="none">
              <a:spAutoFit/>
            </a:bodyPr>
            <a:lstStyle/>
            <a:p>
              <a:pPr marR="0" defTabSz="914400" eaLnBrk="1" hangingPunct="1">
                <a:buClrTx/>
                <a:buSzTx/>
                <a:buFontTx/>
                <a:buNone/>
                <a:defRPr/>
              </a:pPr>
              <a:r>
                <a:rPr kumimoji="1" lang="zh-CN" altLang="en-US" sz="2400" b="0" kern="1200" cap="none" spc="0" normalizeH="0" baseline="0" noProof="0" dirty="0">
                  <a:latin typeface="+mn-lt"/>
                  <a:ea typeface="+mn-ea"/>
                  <a:cs typeface="+mn-ea"/>
                  <a:sym typeface="+mn-lt"/>
                </a:rPr>
                <a:t>各趟排序后的结果</a:t>
              </a:r>
            </a:p>
          </p:txBody>
        </p:sp>
      </p:grpSp>
      <p:sp>
        <p:nvSpPr>
          <p:cNvPr id="949381" name="Rectangle 133"/>
          <p:cNvSpPr>
            <a:spLocks noChangeArrowheads="1"/>
          </p:cNvSpPr>
          <p:nvPr/>
        </p:nvSpPr>
        <p:spPr bwMode="auto">
          <a:xfrm>
            <a:off x="908050" y="201613"/>
            <a:ext cx="3079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简单选择排序</a:t>
            </a:r>
          </a:p>
        </p:txBody>
      </p:sp>
    </p:spTree>
  </p:cSld>
  <p:clrMapOvr>
    <a:masterClrMapping/>
  </p:clrMapOvr>
  <p:transition spd="slow"/>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Text Box 5"/>
          <p:cNvSpPr txBox="1">
            <a:spLocks noChangeArrowheads="1"/>
          </p:cNvSpPr>
          <p:nvPr/>
        </p:nvSpPr>
        <p:spPr bwMode="auto">
          <a:xfrm>
            <a:off x="0" y="1052513"/>
            <a:ext cx="9144000" cy="5008563"/>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SelectSort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SqList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 &amp;K)</a:t>
            </a:r>
          </a:p>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 { </a:t>
            </a:r>
            <a:endParaRPr kumimoji="0" lang="en-US" altLang="zh-CN" sz="2600" b="0" i="0" u="none" strike="noStrike" kern="1200" cap="none" spc="0" normalizeH="0" baseline="0" noProof="0" dirty="0">
              <a:ln>
                <a:noFill/>
              </a:ln>
              <a:solidFill>
                <a:srgbClr val="008000"/>
              </a:solidFill>
              <a:effectLst/>
              <a:uLnTx/>
              <a:uFillTx/>
              <a:latin typeface="+mn-lt"/>
              <a:ea typeface="+mn-ea"/>
              <a:cs typeface="+mn-ea"/>
              <a:sym typeface="+mn-lt"/>
            </a:endParaRPr>
          </a:p>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    for (</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=1; </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&lt;</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L.length</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6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zh-CN" altLang="en-US" sz="2600" b="0" i="0" u="none" strike="noStrike" kern="1200" cap="none" spc="0" normalizeH="0" baseline="0" noProof="0" dirty="0">
                <a:ln>
                  <a:noFill/>
                </a:ln>
                <a:solidFill>
                  <a:schemeClr val="hlink"/>
                </a:solidFill>
                <a:effectLst/>
                <a:uLnTx/>
                <a:uFillTx/>
                <a:latin typeface="+mn-lt"/>
                <a:ea typeface="+mn-ea"/>
                <a:cs typeface="+mn-ea"/>
                <a:sym typeface="+mn-lt"/>
              </a:rPr>
              <a:t>在</a:t>
            </a:r>
            <a:r>
              <a:rPr kumimoji="0" lang="en-US" altLang="zh-CN" sz="2600" b="0" i="0" u="none" strike="noStrike" kern="1200" cap="none" spc="0" normalizeH="0" baseline="0" noProof="0" dirty="0" err="1">
                <a:ln>
                  <a:noFill/>
                </a:ln>
                <a:solidFill>
                  <a:schemeClr val="hlink"/>
                </a:solidFill>
                <a:effectLst/>
                <a:uLnTx/>
                <a:uFillTx/>
                <a:latin typeface="+mn-lt"/>
                <a:ea typeface="+mn-ea"/>
                <a:cs typeface="+mn-ea"/>
                <a:sym typeface="+mn-lt"/>
              </a:rPr>
              <a:t>L.r</a:t>
            </a:r>
            <a:r>
              <a:rPr kumimoji="0" lang="en-US" altLang="zh-CN" sz="26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600" b="0" i="0" u="none" strike="noStrike" kern="1200" cap="none" spc="0" normalizeH="0" baseline="0" noProof="0" dirty="0" err="1">
                <a:ln>
                  <a:noFill/>
                </a:ln>
                <a:solidFill>
                  <a:schemeClr val="hlink"/>
                </a:solidFill>
                <a:effectLst/>
                <a:uLnTx/>
                <a:uFillTx/>
                <a:latin typeface="+mn-lt"/>
                <a:ea typeface="+mn-ea"/>
                <a:cs typeface="+mn-ea"/>
                <a:sym typeface="+mn-lt"/>
              </a:rPr>
              <a:t>i</a:t>
            </a:r>
            <a:r>
              <a:rPr kumimoji="0" lang="en-US" altLang="zh-CN" sz="26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600" b="0" i="0" u="none" strike="noStrike" kern="1200" cap="none" spc="0" normalizeH="0" baseline="0" noProof="0" dirty="0" err="1">
                <a:ln>
                  <a:noFill/>
                </a:ln>
                <a:solidFill>
                  <a:schemeClr val="hlink"/>
                </a:solidFill>
                <a:effectLst/>
                <a:uLnTx/>
                <a:uFillTx/>
                <a:latin typeface="+mn-lt"/>
                <a:ea typeface="+mn-ea"/>
                <a:cs typeface="+mn-ea"/>
                <a:sym typeface="+mn-lt"/>
              </a:rPr>
              <a:t>L.length</a:t>
            </a:r>
            <a:r>
              <a:rPr kumimoji="0" lang="en-US" altLang="zh-CN" sz="26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en-US" sz="2600" b="0" i="0" u="none" strike="noStrike" kern="1200" cap="none" spc="0" normalizeH="0" baseline="0" noProof="0" dirty="0">
                <a:ln>
                  <a:noFill/>
                </a:ln>
                <a:solidFill>
                  <a:schemeClr val="hlink"/>
                </a:solidFill>
                <a:effectLst/>
                <a:uLnTx/>
                <a:uFillTx/>
                <a:latin typeface="+mn-lt"/>
                <a:ea typeface="+mn-ea"/>
                <a:cs typeface="+mn-ea"/>
                <a:sym typeface="+mn-lt"/>
              </a:rPr>
              <a:t>中选择</a:t>
            </a:r>
            <a:r>
              <a:rPr kumimoji="0" lang="en-US" altLang="zh-CN" sz="2600" b="0" i="0" u="none" strike="noStrike" kern="1200" cap="none" spc="0" normalizeH="0" baseline="0" noProof="0" dirty="0">
                <a:ln>
                  <a:noFill/>
                </a:ln>
                <a:solidFill>
                  <a:schemeClr val="hlink"/>
                </a:solidFill>
                <a:effectLst/>
                <a:uLnTx/>
                <a:uFillTx/>
                <a:latin typeface="+mn-lt"/>
                <a:ea typeface="+mn-ea"/>
                <a:cs typeface="+mn-ea"/>
                <a:sym typeface="+mn-lt"/>
              </a:rPr>
              <a:t>key</a:t>
            </a:r>
            <a:r>
              <a:rPr kumimoji="0" lang="zh-CN" altLang="en-US" sz="2600" b="0" i="0" u="none" strike="noStrike" kern="1200" cap="none" spc="0" normalizeH="0" baseline="0" noProof="0" dirty="0">
                <a:ln>
                  <a:noFill/>
                </a:ln>
                <a:solidFill>
                  <a:schemeClr val="hlink"/>
                </a:solidFill>
                <a:effectLst/>
                <a:uLnTx/>
                <a:uFillTx/>
                <a:latin typeface="+mn-lt"/>
                <a:ea typeface="+mn-ea"/>
                <a:cs typeface="+mn-ea"/>
                <a:sym typeface="+mn-lt"/>
              </a:rPr>
              <a:t>最小的记录</a:t>
            </a:r>
          </a:p>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k=</a:t>
            </a:r>
            <a:r>
              <a:rPr kumimoji="0" lang="en-US" altLang="zh-CN" sz="2600" b="0" i="0" u="none" strike="noStrike" kern="1200" cap="none" spc="0" normalizeH="0" baseline="0" noProof="0" dirty="0" err="1">
                <a:ln>
                  <a:noFill/>
                </a:ln>
                <a:solidFill>
                  <a:srgbClr val="FF3300"/>
                </a:solidFill>
                <a:effectLst/>
                <a:uLnTx/>
                <a:uFillTx/>
                <a:latin typeface="+mn-lt"/>
                <a:ea typeface="+mn-ea"/>
                <a:cs typeface="+mn-ea"/>
                <a:sym typeface="+mn-lt"/>
              </a:rPr>
              <a:t>i</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     </a:t>
            </a:r>
          </a:p>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        for( j=i+1;j&lt;=</a:t>
            </a:r>
            <a:r>
              <a:rPr kumimoji="0" lang="en-US" altLang="zh-CN" sz="2600" b="0" i="0" u="none" strike="noStrike" kern="1200" cap="none" spc="0" normalizeH="0" baseline="0" noProof="0" dirty="0" err="1">
                <a:ln>
                  <a:noFill/>
                </a:ln>
                <a:solidFill>
                  <a:srgbClr val="FF3300"/>
                </a:solidFill>
                <a:effectLst/>
                <a:uLnTx/>
                <a:uFillTx/>
                <a:latin typeface="+mn-lt"/>
                <a:ea typeface="+mn-ea"/>
                <a:cs typeface="+mn-ea"/>
                <a:sym typeface="+mn-lt"/>
              </a:rPr>
              <a:t>L.length</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 ; j++)</a:t>
            </a:r>
          </a:p>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            if ( </a:t>
            </a:r>
            <a:r>
              <a:rPr kumimoji="0" lang="en-US" altLang="zh-CN" sz="26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[j].key &lt;</a:t>
            </a:r>
            <a:r>
              <a:rPr kumimoji="0" lang="en-US" altLang="zh-CN" sz="2600" b="0" i="0" u="none" strike="noStrike" kern="1200" cap="none" spc="0" normalizeH="0" baseline="0" noProof="0" dirty="0" err="1">
                <a:ln>
                  <a:noFill/>
                </a:ln>
                <a:solidFill>
                  <a:srgbClr val="FF3300"/>
                </a:solidFill>
                <a:effectLst/>
                <a:uLnTx/>
                <a:uFillTx/>
                <a:latin typeface="+mn-lt"/>
                <a:ea typeface="+mn-ea"/>
                <a:cs typeface="+mn-ea"/>
                <a:sym typeface="+mn-lt"/>
              </a:rPr>
              <a:t>L.r</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[k].key) k=j; </a:t>
            </a:r>
          </a:p>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        if(k!=</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L.r</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[k];            </a:t>
            </a:r>
          </a:p>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    }  </a:t>
            </a:r>
          </a:p>
          <a:p>
            <a:pPr marL="720090" marR="0" lvl="0" indent="0" algn="l" defTabSz="914400" rtl="0" eaLnBrk="0" fontAlgn="base" latinLnBrk="0" hangingPunct="0">
              <a:lnSpc>
                <a:spcPct val="124000"/>
              </a:lnSpc>
              <a:spcBef>
                <a:spcPct val="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1020934" name="Rectangle 6"/>
          <p:cNvSpPr>
            <a:spLocks noChangeArrowheads="1"/>
          </p:cNvSpPr>
          <p:nvPr/>
        </p:nvSpPr>
        <p:spPr bwMode="auto">
          <a:xfrm>
            <a:off x="839788" y="203200"/>
            <a:ext cx="3079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简单选择排序</a:t>
            </a:r>
          </a:p>
        </p:txBody>
      </p:sp>
      <p:sp>
        <p:nvSpPr>
          <p:cNvPr id="106500" name="矩形 1"/>
          <p:cNvSpPr/>
          <p:nvPr/>
        </p:nvSpPr>
        <p:spPr>
          <a:xfrm>
            <a:off x="0" y="6237288"/>
            <a:ext cx="9144000" cy="46037"/>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spd="slow"/>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0" y="2233613"/>
            <a:ext cx="9144000" cy="2373312"/>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900169" name="Rectangle 73"/>
          <p:cNvSpPr>
            <a:spLocks noChangeArrowheads="1"/>
          </p:cNvSpPr>
          <p:nvPr/>
        </p:nvSpPr>
        <p:spPr bwMode="auto">
          <a:xfrm>
            <a:off x="796925" y="176213"/>
            <a:ext cx="24384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900171" name="Text Box 75"/>
          <p:cNvSpPr txBox="1">
            <a:spLocks noChangeArrowheads="1"/>
          </p:cNvSpPr>
          <p:nvPr/>
        </p:nvSpPr>
        <p:spPr bwMode="auto">
          <a:xfrm>
            <a:off x="5726113" y="2233613"/>
            <a:ext cx="3170238" cy="17081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时间复杂度：</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O(n²)</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空间复杂度：</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O(1)</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稳定</a:t>
            </a:r>
          </a:p>
        </p:txBody>
      </p:sp>
      <p:grpSp>
        <p:nvGrpSpPr>
          <p:cNvPr id="2" name="Group 77"/>
          <p:cNvGrpSpPr/>
          <p:nvPr/>
        </p:nvGrpSpPr>
        <p:grpSpPr>
          <a:xfrm>
            <a:off x="-107950" y="3454400"/>
            <a:ext cx="5438775" cy="1004888"/>
            <a:chOff x="384" y="1920"/>
            <a:chExt cx="3192" cy="633"/>
          </a:xfrm>
        </p:grpSpPr>
        <p:graphicFrame>
          <p:nvGraphicFramePr>
            <p:cNvPr id="107531" name="Object 78"/>
            <p:cNvGraphicFramePr/>
            <p:nvPr/>
          </p:nvGraphicFramePr>
          <p:xfrm>
            <a:off x="2040" y="1927"/>
            <a:ext cx="1536" cy="626"/>
          </p:xfrm>
          <a:graphic>
            <a:graphicData uri="http://schemas.openxmlformats.org/presentationml/2006/ole">
              <mc:AlternateContent xmlns:mc="http://schemas.openxmlformats.org/markup-compatibility/2006">
                <mc:Choice xmlns:v="urn:schemas-microsoft-com:vml" Requires="v">
                  <p:oleObj spid="_x0000_s9222" r:id="rId3" imgW="1358265" imgH="431800" progId="Equation.3">
                    <p:embed/>
                  </p:oleObj>
                </mc:Choice>
                <mc:Fallback>
                  <p:oleObj r:id="rId3" imgW="1358265" imgH="431800" progId="Equation.3">
                    <p:embed/>
                    <p:pic>
                      <p:nvPicPr>
                        <p:cNvPr id="0" name="图片 3089"/>
                        <p:cNvPicPr/>
                        <p:nvPr/>
                      </p:nvPicPr>
                      <p:blipFill>
                        <a:blip r:embed="rId4"/>
                        <a:stretch>
                          <a:fillRect/>
                        </a:stretch>
                      </p:blipFill>
                      <p:spPr>
                        <a:xfrm>
                          <a:off x="2040" y="1927"/>
                          <a:ext cx="1536" cy="626"/>
                        </a:xfrm>
                        <a:prstGeom prst="rect">
                          <a:avLst/>
                        </a:prstGeom>
                        <a:noFill/>
                        <a:ln w="38100">
                          <a:noFill/>
                          <a:miter/>
                        </a:ln>
                      </p:spPr>
                    </p:pic>
                  </p:oleObj>
                </mc:Fallback>
              </mc:AlternateContent>
            </a:graphicData>
          </a:graphic>
        </p:graphicFrame>
        <p:sp>
          <p:nvSpPr>
            <p:cNvPr id="92166" name="Rectangle 79"/>
            <p:cNvSpPr>
              <a:spLocks noChangeArrowheads="1"/>
            </p:cNvSpPr>
            <p:nvPr/>
          </p:nvSpPr>
          <p:spPr bwMode="auto">
            <a:xfrm>
              <a:off x="384" y="1920"/>
              <a:ext cx="2928" cy="327"/>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914400" marR="0" lvl="2"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比较次数：</a:t>
              </a:r>
              <a:endPar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p:txBody>
        </p:sp>
      </p:grpSp>
      <p:sp>
        <p:nvSpPr>
          <p:cNvPr id="900176" name="Rectangle 80"/>
          <p:cNvSpPr>
            <a:spLocks noChangeArrowheads="1"/>
          </p:cNvSpPr>
          <p:nvPr/>
        </p:nvSpPr>
        <p:spPr bwMode="auto">
          <a:xfrm>
            <a:off x="803275" y="1516063"/>
            <a:ext cx="1612900" cy="519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83003"/>
                </a:solidFill>
                <a:effectLst/>
                <a:uLnTx/>
                <a:uFillTx/>
                <a:latin typeface="+mn-lt"/>
                <a:ea typeface="+mn-ea"/>
                <a:cs typeface="+mn-ea"/>
                <a:sym typeface="+mn-lt"/>
              </a:rPr>
              <a:t>移动次数</a:t>
            </a:r>
          </a:p>
        </p:txBody>
      </p:sp>
      <p:sp>
        <p:nvSpPr>
          <p:cNvPr id="900177" name="Rectangle 81"/>
          <p:cNvSpPr>
            <a:spLocks noChangeArrowheads="1"/>
          </p:cNvSpPr>
          <p:nvPr/>
        </p:nvSpPr>
        <p:spPr bwMode="auto">
          <a:xfrm>
            <a:off x="796925" y="2300288"/>
            <a:ext cx="2201863" cy="523875"/>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tx1"/>
                </a:solidFill>
                <a:effectLst/>
                <a:uLnTx/>
                <a:uFillTx/>
                <a:latin typeface="+mn-lt"/>
                <a:ea typeface="+mn-ea"/>
                <a:cs typeface="+mn-ea"/>
                <a:sym typeface="+mn-lt"/>
              </a:rPr>
              <a:t>最好情况：</a:t>
            </a:r>
            <a:r>
              <a:rPr kumimoji="0" lang="en-US" altLang="zh-CN" sz="2800" b="0" i="0" u="none" strike="noStrike" kern="1200" cap="none" spc="0" normalizeH="0" baseline="0" noProof="0">
                <a:ln>
                  <a:noFill/>
                </a:ln>
                <a:solidFill>
                  <a:srgbClr val="FF3300"/>
                </a:solidFill>
                <a:effectLst/>
                <a:uLnTx/>
                <a:uFillTx/>
                <a:latin typeface="+mn-lt"/>
                <a:ea typeface="+mn-ea"/>
                <a:cs typeface="+mn-ea"/>
                <a:sym typeface="+mn-lt"/>
              </a:rPr>
              <a:t>0</a:t>
            </a:r>
          </a:p>
        </p:txBody>
      </p:sp>
      <p:sp>
        <p:nvSpPr>
          <p:cNvPr id="900178" name="Rectangle 82"/>
          <p:cNvSpPr>
            <a:spLocks noChangeArrowheads="1"/>
          </p:cNvSpPr>
          <p:nvPr/>
        </p:nvSpPr>
        <p:spPr bwMode="auto">
          <a:xfrm>
            <a:off x="796925" y="2909888"/>
            <a:ext cx="2900363" cy="523875"/>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最坏情况：</a:t>
            </a:r>
            <a:r>
              <a:rPr kumimoji="0" lang="zh-CN" altLang="zh-CN" sz="2800" b="0" i="0" u="none" strike="noStrike" kern="1200" cap="none" spc="0" normalizeH="0" baseline="0" noProof="0" dirty="0">
                <a:ln>
                  <a:noFill/>
                </a:ln>
                <a:solidFill>
                  <a:srgbClr val="FF3300"/>
                </a:solidFill>
                <a:effectLst/>
                <a:uLnTx/>
                <a:uFillTx/>
                <a:latin typeface="+mn-lt"/>
                <a:ea typeface="+mn-ea"/>
                <a:cs typeface="+mn-ea"/>
                <a:sym typeface="+mn-lt"/>
              </a:rPr>
              <a:t>3(</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n-1)</a:t>
            </a:r>
          </a:p>
        </p:txBody>
      </p:sp>
      <p:sp>
        <p:nvSpPr>
          <p:cNvPr id="107529" name="矩形 3"/>
          <p:cNvSpPr/>
          <p:nvPr/>
        </p:nvSpPr>
        <p:spPr>
          <a:xfrm>
            <a:off x="5508625" y="2233613"/>
            <a:ext cx="71438" cy="2373312"/>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3"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900176"/>
                                        </p:tgtEl>
                                        <p:attrNameLst>
                                          <p:attrName>style.visibility</p:attrName>
                                        </p:attrNameLst>
                                      </p:cBhvr>
                                      <p:to>
                                        <p:strVal val="visible"/>
                                      </p:to>
                                    </p:set>
                                    <p:anim calcmode="lin" valueType="num">
                                      <p:cBhvr additive="base">
                                        <p:cTn id="7" dur="500" fill="hold"/>
                                        <p:tgtEl>
                                          <p:spTgt spid="900176"/>
                                        </p:tgtEl>
                                        <p:attrNameLst>
                                          <p:attrName>ppt_x</p:attrName>
                                        </p:attrNameLst>
                                      </p:cBhvr>
                                      <p:tavLst>
                                        <p:tav tm="0">
                                          <p:val>
                                            <p:strVal val="0-#ppt_w/2"/>
                                          </p:val>
                                        </p:tav>
                                        <p:tav tm="100000">
                                          <p:val>
                                            <p:strVal val="#ppt_x"/>
                                          </p:val>
                                        </p:tav>
                                      </p:tavLst>
                                    </p:anim>
                                    <p:anim calcmode="lin" valueType="num">
                                      <p:cBhvr additive="base">
                                        <p:cTn id="8" dur="500" fill="hold"/>
                                        <p:tgtEl>
                                          <p:spTgt spid="90017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900177"/>
                                        </p:tgtEl>
                                        <p:attrNameLst>
                                          <p:attrName>style.visibility</p:attrName>
                                        </p:attrNameLst>
                                      </p:cBhvr>
                                      <p:to>
                                        <p:strVal val="visible"/>
                                      </p:to>
                                    </p:set>
                                    <p:anim calcmode="lin" valueType="num">
                                      <p:cBhvr additive="base">
                                        <p:cTn id="19" dur="500" fill="hold"/>
                                        <p:tgtEl>
                                          <p:spTgt spid="900177"/>
                                        </p:tgtEl>
                                        <p:attrNameLst>
                                          <p:attrName>ppt_x</p:attrName>
                                        </p:attrNameLst>
                                      </p:cBhvr>
                                      <p:tavLst>
                                        <p:tav tm="0">
                                          <p:val>
                                            <p:strVal val="0-#ppt_w/2"/>
                                          </p:val>
                                        </p:tav>
                                        <p:tav tm="100000">
                                          <p:val>
                                            <p:strVal val="#ppt_x"/>
                                          </p:val>
                                        </p:tav>
                                      </p:tavLst>
                                    </p:anim>
                                    <p:anim calcmode="lin" valueType="num">
                                      <p:cBhvr additive="base">
                                        <p:cTn id="20" dur="500" fill="hold"/>
                                        <p:tgtEl>
                                          <p:spTgt spid="90017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900178"/>
                                        </p:tgtEl>
                                        <p:attrNameLst>
                                          <p:attrName>style.visibility</p:attrName>
                                        </p:attrNameLst>
                                      </p:cBhvr>
                                      <p:to>
                                        <p:strVal val="visible"/>
                                      </p:to>
                                    </p:set>
                                    <p:anim calcmode="lin" valueType="num">
                                      <p:cBhvr additive="base">
                                        <p:cTn id="25" dur="500" fill="hold"/>
                                        <p:tgtEl>
                                          <p:spTgt spid="900178"/>
                                        </p:tgtEl>
                                        <p:attrNameLst>
                                          <p:attrName>ppt_x</p:attrName>
                                        </p:attrNameLst>
                                      </p:cBhvr>
                                      <p:tavLst>
                                        <p:tav tm="0">
                                          <p:val>
                                            <p:strVal val="0-#ppt_w/2"/>
                                          </p:val>
                                        </p:tav>
                                        <p:tav tm="100000">
                                          <p:val>
                                            <p:strVal val="#ppt_x"/>
                                          </p:val>
                                        </p:tav>
                                      </p:tavLst>
                                    </p:anim>
                                    <p:anim calcmode="lin" valueType="num">
                                      <p:cBhvr additive="base">
                                        <p:cTn id="26" dur="500" fill="hold"/>
                                        <p:tgtEl>
                                          <p:spTgt spid="900178"/>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additive="base">
                                        <p:cTn id="31" dur="500" fill="hold"/>
                                        <p:tgtEl>
                                          <p:spTgt spid="2"/>
                                        </p:tgtEl>
                                        <p:attrNameLst>
                                          <p:attrName>ppt_x</p:attrName>
                                        </p:attrNameLst>
                                      </p:cBhvr>
                                      <p:tavLst>
                                        <p:tav tm="0">
                                          <p:val>
                                            <p:strVal val="0-#ppt_w/2"/>
                                          </p:val>
                                        </p:tav>
                                        <p:tav tm="100000">
                                          <p:val>
                                            <p:strVal val="#ppt_x"/>
                                          </p:val>
                                        </p:tav>
                                      </p:tavLst>
                                    </p:anim>
                                    <p:anim calcmode="lin" valueType="num">
                                      <p:cBhvr additive="base">
                                        <p:cTn id="3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900171">
                                            <p:txEl>
                                              <p:pRg st="0" end="0"/>
                                            </p:txEl>
                                          </p:spTgt>
                                        </p:tgtEl>
                                        <p:attrNameLst>
                                          <p:attrName>style.visibility</p:attrName>
                                        </p:attrNameLst>
                                      </p:cBhvr>
                                      <p:to>
                                        <p:strVal val="visible"/>
                                      </p:to>
                                    </p:set>
                                    <p:anim calcmode="lin" valueType="num">
                                      <p:cBhvr additive="base">
                                        <p:cTn id="37" dur="500" fill="hold"/>
                                        <p:tgtEl>
                                          <p:spTgt spid="900171">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90017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900171">
                                            <p:txEl>
                                              <p:pRg st="1" end="1"/>
                                            </p:txEl>
                                          </p:spTgt>
                                        </p:tgtEl>
                                        <p:attrNameLst>
                                          <p:attrName>style.visibility</p:attrName>
                                        </p:attrNameLst>
                                      </p:cBhvr>
                                      <p:to>
                                        <p:strVal val="visible"/>
                                      </p:to>
                                    </p:set>
                                    <p:anim calcmode="lin" valueType="num">
                                      <p:cBhvr additive="base">
                                        <p:cTn id="43" dur="500" fill="hold"/>
                                        <p:tgtEl>
                                          <p:spTgt spid="900171">
                                            <p:txEl>
                                              <p:pRg st="1" end="1"/>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0017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900171">
                                            <p:txEl>
                                              <p:pRg st="2" end="2"/>
                                            </p:txEl>
                                          </p:spTgt>
                                        </p:tgtEl>
                                        <p:attrNameLst>
                                          <p:attrName>style.visibility</p:attrName>
                                        </p:attrNameLst>
                                      </p:cBhvr>
                                      <p:to>
                                        <p:strVal val="visible"/>
                                      </p:to>
                                    </p:set>
                                    <p:anim calcmode="lin" valueType="num">
                                      <p:cBhvr additive="base">
                                        <p:cTn id="49" dur="500" fill="hold"/>
                                        <p:tgtEl>
                                          <p:spTgt spid="900171">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900171">
                                            <p:txEl>
                                              <p:pRg st="2" end="2"/>
                                            </p:txEl>
                                          </p:spTgt>
                                        </p:tgtEl>
                                        <p:attrNameLst>
                                          <p:attrName>ppt_y</p:attrName>
                                        </p:attrNameLst>
                                      </p:cBhvr>
                                      <p:tavLst>
                                        <p:tav tm="0">
                                          <p:val>
                                            <p:strVal val="#ppt_y"/>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fade">
                                      <p:cBhvr>
                                        <p:cTn id="53" dur="1000"/>
                                        <p:tgtEl>
                                          <p:spTgt spid="13"/>
                                        </p:tgtEl>
                                      </p:cBhvr>
                                    </p:animEffect>
                                    <p:anim calcmode="lin" valueType="num">
                                      <p:cBhvr>
                                        <p:cTn id="54" dur="1000" fill="hold"/>
                                        <p:tgtEl>
                                          <p:spTgt spid="13"/>
                                        </p:tgtEl>
                                        <p:attrNameLst>
                                          <p:attrName>ppt_x</p:attrName>
                                        </p:attrNameLst>
                                      </p:cBhvr>
                                      <p:tavLst>
                                        <p:tav tm="0">
                                          <p:val>
                                            <p:strVal val="#ppt_x"/>
                                          </p:val>
                                        </p:tav>
                                        <p:tav tm="100000">
                                          <p:val>
                                            <p:strVal val="#ppt_x"/>
                                          </p:val>
                                        </p:tav>
                                      </p:tavLst>
                                    </p:anim>
                                    <p:anim calcmode="lin" valueType="num">
                                      <p:cBhvr>
                                        <p:cTn id="5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00171" grpId="0" build="p"/>
      <p:bldP spid="900176" grpId="0"/>
      <p:bldP spid="900177" grpId="0"/>
      <p:bldP spid="900178"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1484313"/>
            <a:ext cx="9144000" cy="446563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108547" name="Group 35"/>
          <p:cNvGrpSpPr/>
          <p:nvPr/>
        </p:nvGrpSpPr>
        <p:grpSpPr>
          <a:xfrm>
            <a:off x="217488" y="1803400"/>
            <a:ext cx="8845550" cy="3683000"/>
            <a:chOff x="125" y="1392"/>
            <a:chExt cx="5572" cy="2320"/>
          </a:xfrm>
        </p:grpSpPr>
        <p:sp>
          <p:nvSpPr>
            <p:cNvPr id="93186" name="AutoShape 6"/>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BAO</a:t>
              </a:r>
            </a:p>
          </p:txBody>
        </p:sp>
        <p:sp>
          <p:nvSpPr>
            <p:cNvPr id="93187" name="AutoShape 7"/>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BAO</a:t>
              </a:r>
            </a:p>
          </p:txBody>
        </p:sp>
        <p:sp>
          <p:nvSpPr>
            <p:cNvPr id="93188" name="AutoShape 8"/>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89" name="AutoShape 9"/>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CHA</a:t>
              </a:r>
            </a:p>
          </p:txBody>
        </p:sp>
        <p:sp>
          <p:nvSpPr>
            <p:cNvPr id="93190" name="AutoShape 10"/>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BAO</a:t>
              </a:r>
            </a:p>
          </p:txBody>
        </p:sp>
        <p:sp>
          <p:nvSpPr>
            <p:cNvPr id="93191" name="AutoShape 11"/>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2" name="AutoShape 12"/>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193" name="AutoShape 13"/>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ZHAO</a:t>
              </a:r>
            </a:p>
          </p:txBody>
        </p:sp>
        <p:sp>
          <p:nvSpPr>
            <p:cNvPr id="93194" name="AutoShape 14"/>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CHA</a:t>
              </a:r>
            </a:p>
          </p:txBody>
        </p:sp>
        <p:sp>
          <p:nvSpPr>
            <p:cNvPr id="93195" name="AutoShape 15"/>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LIU</a:t>
              </a:r>
            </a:p>
          </p:txBody>
        </p:sp>
        <p:sp>
          <p:nvSpPr>
            <p:cNvPr id="93196" name="AutoShape 16"/>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BAO</a:t>
              </a:r>
            </a:p>
          </p:txBody>
        </p:sp>
        <p:sp>
          <p:nvSpPr>
            <p:cNvPr id="93197" name="AutoShape 17"/>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8" name="AutoShape 18"/>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YANG</a:t>
              </a:r>
            </a:p>
          </p:txBody>
        </p:sp>
        <p:sp>
          <p:nvSpPr>
            <p:cNvPr id="93199" name="AutoShape 19"/>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XUE</a:t>
              </a:r>
            </a:p>
          </p:txBody>
        </p:sp>
        <p:sp>
          <p:nvSpPr>
            <p:cNvPr id="93200" name="AutoShape 20"/>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201" name="Line 21"/>
            <p:cNvSpPr>
              <a:spLocks noChangeShapeType="1"/>
            </p:cNvSpPr>
            <p:nvPr/>
          </p:nvSpPr>
          <p:spPr bwMode="auto">
            <a:xfrm flipH="1">
              <a:off x="1496" y="1625"/>
              <a:ext cx="1367" cy="56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2" name="Line 22"/>
            <p:cNvSpPr>
              <a:spLocks noChangeShapeType="1"/>
            </p:cNvSpPr>
            <p:nvPr/>
          </p:nvSpPr>
          <p:spPr bwMode="auto">
            <a:xfrm>
              <a:off x="2923" y="1616"/>
              <a:ext cx="1380" cy="523"/>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3" name="Line 23"/>
            <p:cNvSpPr>
              <a:spLocks noChangeShapeType="1"/>
            </p:cNvSpPr>
            <p:nvPr/>
          </p:nvSpPr>
          <p:spPr bwMode="auto">
            <a:xfrm flipH="1">
              <a:off x="834" y="2424"/>
              <a:ext cx="627" cy="516"/>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4" name="Line 24"/>
            <p:cNvSpPr>
              <a:spLocks noChangeShapeType="1"/>
            </p:cNvSpPr>
            <p:nvPr/>
          </p:nvSpPr>
          <p:spPr bwMode="auto">
            <a:xfrm>
              <a:off x="1530" y="2424"/>
              <a:ext cx="662" cy="48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5" name="Line 25"/>
            <p:cNvSpPr>
              <a:spLocks noChangeShapeType="1"/>
            </p:cNvSpPr>
            <p:nvPr/>
          </p:nvSpPr>
          <p:spPr bwMode="auto">
            <a:xfrm flipH="1">
              <a:off x="3611" y="2364"/>
              <a:ext cx="696" cy="54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6" name="Line 26"/>
            <p:cNvSpPr>
              <a:spLocks noChangeShapeType="1"/>
            </p:cNvSpPr>
            <p:nvPr/>
          </p:nvSpPr>
          <p:spPr bwMode="auto">
            <a:xfrm>
              <a:off x="4393" y="2373"/>
              <a:ext cx="636" cy="524"/>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7" name="Line 27"/>
            <p:cNvSpPr>
              <a:spLocks noChangeShapeType="1"/>
            </p:cNvSpPr>
            <p:nvPr/>
          </p:nvSpPr>
          <p:spPr bwMode="auto">
            <a:xfrm flipH="1">
              <a:off x="421" y="3164"/>
              <a:ext cx="379"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8" name="Line 28"/>
            <p:cNvSpPr>
              <a:spLocks noChangeShapeType="1"/>
            </p:cNvSpPr>
            <p:nvPr/>
          </p:nvSpPr>
          <p:spPr bwMode="auto">
            <a:xfrm>
              <a:off x="885" y="3164"/>
              <a:ext cx="293" cy="309"/>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9" name="Line 29"/>
            <p:cNvSpPr>
              <a:spLocks noChangeShapeType="1"/>
            </p:cNvSpPr>
            <p:nvPr/>
          </p:nvSpPr>
          <p:spPr bwMode="auto">
            <a:xfrm flipH="1">
              <a:off x="1857" y="3129"/>
              <a:ext cx="301"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0" name="Line 30"/>
            <p:cNvSpPr>
              <a:spLocks noChangeShapeType="1"/>
            </p:cNvSpPr>
            <p:nvPr/>
          </p:nvSpPr>
          <p:spPr bwMode="auto">
            <a:xfrm>
              <a:off x="2244" y="3138"/>
              <a:ext cx="327"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1" name="Line 31"/>
            <p:cNvSpPr>
              <a:spLocks noChangeShapeType="1"/>
            </p:cNvSpPr>
            <p:nvPr/>
          </p:nvSpPr>
          <p:spPr bwMode="auto">
            <a:xfrm flipH="1">
              <a:off x="3275" y="3138"/>
              <a:ext cx="293"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2" name="Line 32"/>
            <p:cNvSpPr>
              <a:spLocks noChangeShapeType="1"/>
            </p:cNvSpPr>
            <p:nvPr/>
          </p:nvSpPr>
          <p:spPr bwMode="auto">
            <a:xfrm>
              <a:off x="3697" y="3147"/>
              <a:ext cx="292"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3" name="Line 33"/>
            <p:cNvSpPr>
              <a:spLocks noChangeShapeType="1"/>
            </p:cNvSpPr>
            <p:nvPr/>
          </p:nvSpPr>
          <p:spPr bwMode="auto">
            <a:xfrm flipH="1">
              <a:off x="4720" y="3138"/>
              <a:ext cx="266"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4" name="Line 34"/>
            <p:cNvSpPr>
              <a:spLocks noChangeShapeType="1"/>
            </p:cNvSpPr>
            <p:nvPr/>
          </p:nvSpPr>
          <p:spPr bwMode="auto">
            <a:xfrm>
              <a:off x="5081" y="3138"/>
              <a:ext cx="301"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34" name="Rectangle 73"/>
          <p:cNvSpPr>
            <a:spLocks noChangeArrowheads="1"/>
          </p:cNvSpPr>
          <p:nvPr/>
        </p:nvSpPr>
        <p:spPr bwMode="auto">
          <a:xfrm>
            <a:off x="782638" y="174625"/>
            <a:ext cx="34290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树形选择排序</a:t>
            </a:r>
          </a:p>
        </p:txBody>
      </p:sp>
    </p:spTree>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1484313"/>
            <a:ext cx="9144000" cy="446563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109571" name="Group 35"/>
          <p:cNvGrpSpPr/>
          <p:nvPr/>
        </p:nvGrpSpPr>
        <p:grpSpPr>
          <a:xfrm>
            <a:off x="217488" y="1803400"/>
            <a:ext cx="8845550" cy="3683000"/>
            <a:chOff x="125" y="1392"/>
            <a:chExt cx="5572" cy="2320"/>
          </a:xfrm>
        </p:grpSpPr>
        <p:sp>
          <p:nvSpPr>
            <p:cNvPr id="93186" name="AutoShape 6"/>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187" name="AutoShape 7"/>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188" name="AutoShape 8"/>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89" name="AutoShape 9"/>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CHA</a:t>
              </a:r>
            </a:p>
          </p:txBody>
        </p:sp>
        <p:sp>
          <p:nvSpPr>
            <p:cNvPr id="93190" name="AutoShape 10"/>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191" name="AutoShape 11"/>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2" name="AutoShape 12"/>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193" name="AutoShape 13"/>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ZHAO</a:t>
              </a:r>
            </a:p>
          </p:txBody>
        </p:sp>
        <p:sp>
          <p:nvSpPr>
            <p:cNvPr id="93194" name="AutoShape 14"/>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CHA</a:t>
              </a:r>
            </a:p>
          </p:txBody>
        </p:sp>
        <p:sp>
          <p:nvSpPr>
            <p:cNvPr id="93195" name="AutoShape 15"/>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LIU</a:t>
              </a:r>
            </a:p>
          </p:txBody>
        </p:sp>
        <p:sp>
          <p:nvSpPr>
            <p:cNvPr id="93196" name="AutoShape 16"/>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197" name="AutoShape 17"/>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8" name="AutoShape 18"/>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YANG</a:t>
              </a:r>
            </a:p>
          </p:txBody>
        </p:sp>
        <p:sp>
          <p:nvSpPr>
            <p:cNvPr id="93199" name="AutoShape 19"/>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XUE</a:t>
              </a:r>
            </a:p>
          </p:txBody>
        </p:sp>
        <p:sp>
          <p:nvSpPr>
            <p:cNvPr id="93200" name="AutoShape 20"/>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201" name="Line 21"/>
            <p:cNvSpPr>
              <a:spLocks noChangeShapeType="1"/>
            </p:cNvSpPr>
            <p:nvPr/>
          </p:nvSpPr>
          <p:spPr bwMode="auto">
            <a:xfrm flipH="1">
              <a:off x="1496" y="1625"/>
              <a:ext cx="1367" cy="56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2" name="Line 22"/>
            <p:cNvSpPr>
              <a:spLocks noChangeShapeType="1"/>
            </p:cNvSpPr>
            <p:nvPr/>
          </p:nvSpPr>
          <p:spPr bwMode="auto">
            <a:xfrm>
              <a:off x="2923" y="1616"/>
              <a:ext cx="1380" cy="523"/>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3" name="Line 23"/>
            <p:cNvSpPr>
              <a:spLocks noChangeShapeType="1"/>
            </p:cNvSpPr>
            <p:nvPr/>
          </p:nvSpPr>
          <p:spPr bwMode="auto">
            <a:xfrm flipH="1">
              <a:off x="834" y="2424"/>
              <a:ext cx="627" cy="516"/>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4" name="Line 24"/>
            <p:cNvSpPr>
              <a:spLocks noChangeShapeType="1"/>
            </p:cNvSpPr>
            <p:nvPr/>
          </p:nvSpPr>
          <p:spPr bwMode="auto">
            <a:xfrm>
              <a:off x="1530" y="2424"/>
              <a:ext cx="662" cy="48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5" name="Line 25"/>
            <p:cNvSpPr>
              <a:spLocks noChangeShapeType="1"/>
            </p:cNvSpPr>
            <p:nvPr/>
          </p:nvSpPr>
          <p:spPr bwMode="auto">
            <a:xfrm flipH="1">
              <a:off x="3611" y="2364"/>
              <a:ext cx="696" cy="54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6" name="Line 26"/>
            <p:cNvSpPr>
              <a:spLocks noChangeShapeType="1"/>
            </p:cNvSpPr>
            <p:nvPr/>
          </p:nvSpPr>
          <p:spPr bwMode="auto">
            <a:xfrm>
              <a:off x="4393" y="2373"/>
              <a:ext cx="636" cy="524"/>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7" name="Line 27"/>
            <p:cNvSpPr>
              <a:spLocks noChangeShapeType="1"/>
            </p:cNvSpPr>
            <p:nvPr/>
          </p:nvSpPr>
          <p:spPr bwMode="auto">
            <a:xfrm flipH="1">
              <a:off x="421" y="3164"/>
              <a:ext cx="379"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8" name="Line 28"/>
            <p:cNvSpPr>
              <a:spLocks noChangeShapeType="1"/>
            </p:cNvSpPr>
            <p:nvPr/>
          </p:nvSpPr>
          <p:spPr bwMode="auto">
            <a:xfrm>
              <a:off x="885" y="3164"/>
              <a:ext cx="293" cy="309"/>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9" name="Line 29"/>
            <p:cNvSpPr>
              <a:spLocks noChangeShapeType="1"/>
            </p:cNvSpPr>
            <p:nvPr/>
          </p:nvSpPr>
          <p:spPr bwMode="auto">
            <a:xfrm flipH="1">
              <a:off x="1857" y="3129"/>
              <a:ext cx="301"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0" name="Line 30"/>
            <p:cNvSpPr>
              <a:spLocks noChangeShapeType="1"/>
            </p:cNvSpPr>
            <p:nvPr/>
          </p:nvSpPr>
          <p:spPr bwMode="auto">
            <a:xfrm>
              <a:off x="2244" y="3138"/>
              <a:ext cx="327"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1" name="Line 31"/>
            <p:cNvSpPr>
              <a:spLocks noChangeShapeType="1"/>
            </p:cNvSpPr>
            <p:nvPr/>
          </p:nvSpPr>
          <p:spPr bwMode="auto">
            <a:xfrm flipH="1">
              <a:off x="3275" y="3138"/>
              <a:ext cx="293"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2" name="Line 32"/>
            <p:cNvSpPr>
              <a:spLocks noChangeShapeType="1"/>
            </p:cNvSpPr>
            <p:nvPr/>
          </p:nvSpPr>
          <p:spPr bwMode="auto">
            <a:xfrm>
              <a:off x="3697" y="3147"/>
              <a:ext cx="292"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3" name="Line 33"/>
            <p:cNvSpPr>
              <a:spLocks noChangeShapeType="1"/>
            </p:cNvSpPr>
            <p:nvPr/>
          </p:nvSpPr>
          <p:spPr bwMode="auto">
            <a:xfrm flipH="1">
              <a:off x="4720" y="3138"/>
              <a:ext cx="266"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4" name="Line 34"/>
            <p:cNvSpPr>
              <a:spLocks noChangeShapeType="1"/>
            </p:cNvSpPr>
            <p:nvPr/>
          </p:nvSpPr>
          <p:spPr bwMode="auto">
            <a:xfrm>
              <a:off x="5081" y="3138"/>
              <a:ext cx="301"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34" name="Rectangle 73"/>
          <p:cNvSpPr>
            <a:spLocks noChangeArrowheads="1"/>
          </p:cNvSpPr>
          <p:nvPr/>
        </p:nvSpPr>
        <p:spPr bwMode="auto">
          <a:xfrm>
            <a:off x="782638" y="174625"/>
            <a:ext cx="34290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树形选择排序</a:t>
            </a:r>
          </a:p>
        </p:txBody>
      </p:sp>
    </p:spTree>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1484313"/>
            <a:ext cx="9144000" cy="446563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110595" name="Group 35"/>
          <p:cNvGrpSpPr/>
          <p:nvPr/>
        </p:nvGrpSpPr>
        <p:grpSpPr>
          <a:xfrm>
            <a:off x="217488" y="1803400"/>
            <a:ext cx="8845550" cy="3683000"/>
            <a:chOff x="125" y="1392"/>
            <a:chExt cx="5572" cy="2320"/>
          </a:xfrm>
        </p:grpSpPr>
        <p:sp>
          <p:nvSpPr>
            <p:cNvPr id="93186" name="AutoShape 6"/>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CHA</a:t>
              </a:r>
            </a:p>
          </p:txBody>
        </p:sp>
        <p:sp>
          <p:nvSpPr>
            <p:cNvPr id="93187" name="AutoShape 7"/>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CHA</a:t>
              </a:r>
            </a:p>
          </p:txBody>
        </p:sp>
        <p:sp>
          <p:nvSpPr>
            <p:cNvPr id="93188" name="AutoShape 8"/>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89" name="AutoShape 9"/>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CHA</a:t>
              </a:r>
            </a:p>
          </p:txBody>
        </p:sp>
        <p:sp>
          <p:nvSpPr>
            <p:cNvPr id="93190" name="AutoShape 10"/>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LIU</a:t>
              </a:r>
            </a:p>
          </p:txBody>
        </p:sp>
        <p:sp>
          <p:nvSpPr>
            <p:cNvPr id="93191" name="AutoShape 11"/>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2" name="AutoShape 12"/>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193" name="AutoShape 13"/>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ZHAO</a:t>
              </a:r>
            </a:p>
          </p:txBody>
        </p:sp>
        <p:sp>
          <p:nvSpPr>
            <p:cNvPr id="93194" name="AutoShape 14"/>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CHA</a:t>
              </a:r>
            </a:p>
          </p:txBody>
        </p:sp>
        <p:sp>
          <p:nvSpPr>
            <p:cNvPr id="93195" name="AutoShape 15"/>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LIU</a:t>
              </a:r>
            </a:p>
          </p:txBody>
        </p:sp>
        <p:sp>
          <p:nvSpPr>
            <p:cNvPr id="93196" name="AutoShape 16"/>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a:t>
              </a:r>
            </a:p>
          </p:txBody>
        </p:sp>
        <p:sp>
          <p:nvSpPr>
            <p:cNvPr id="93197" name="AutoShape 17"/>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8" name="AutoShape 18"/>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YANG</a:t>
              </a:r>
            </a:p>
          </p:txBody>
        </p:sp>
        <p:sp>
          <p:nvSpPr>
            <p:cNvPr id="93199" name="AutoShape 19"/>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XUE</a:t>
              </a:r>
            </a:p>
          </p:txBody>
        </p:sp>
        <p:sp>
          <p:nvSpPr>
            <p:cNvPr id="93200" name="AutoShape 20"/>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201" name="Line 21"/>
            <p:cNvSpPr>
              <a:spLocks noChangeShapeType="1"/>
            </p:cNvSpPr>
            <p:nvPr/>
          </p:nvSpPr>
          <p:spPr bwMode="auto">
            <a:xfrm flipH="1">
              <a:off x="1496" y="1625"/>
              <a:ext cx="1367" cy="56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2" name="Line 22"/>
            <p:cNvSpPr>
              <a:spLocks noChangeShapeType="1"/>
            </p:cNvSpPr>
            <p:nvPr/>
          </p:nvSpPr>
          <p:spPr bwMode="auto">
            <a:xfrm>
              <a:off x="2923" y="1616"/>
              <a:ext cx="1380" cy="523"/>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3" name="Line 23"/>
            <p:cNvSpPr>
              <a:spLocks noChangeShapeType="1"/>
            </p:cNvSpPr>
            <p:nvPr/>
          </p:nvSpPr>
          <p:spPr bwMode="auto">
            <a:xfrm flipH="1">
              <a:off x="834" y="2424"/>
              <a:ext cx="627" cy="516"/>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4" name="Line 24"/>
            <p:cNvSpPr>
              <a:spLocks noChangeShapeType="1"/>
            </p:cNvSpPr>
            <p:nvPr/>
          </p:nvSpPr>
          <p:spPr bwMode="auto">
            <a:xfrm>
              <a:off x="1530" y="2424"/>
              <a:ext cx="662" cy="48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5" name="Line 25"/>
            <p:cNvSpPr>
              <a:spLocks noChangeShapeType="1"/>
            </p:cNvSpPr>
            <p:nvPr/>
          </p:nvSpPr>
          <p:spPr bwMode="auto">
            <a:xfrm flipH="1">
              <a:off x="3611" y="2364"/>
              <a:ext cx="696" cy="54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6" name="Line 26"/>
            <p:cNvSpPr>
              <a:spLocks noChangeShapeType="1"/>
            </p:cNvSpPr>
            <p:nvPr/>
          </p:nvSpPr>
          <p:spPr bwMode="auto">
            <a:xfrm>
              <a:off x="4393" y="2373"/>
              <a:ext cx="636" cy="524"/>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7" name="Line 27"/>
            <p:cNvSpPr>
              <a:spLocks noChangeShapeType="1"/>
            </p:cNvSpPr>
            <p:nvPr/>
          </p:nvSpPr>
          <p:spPr bwMode="auto">
            <a:xfrm flipH="1">
              <a:off x="421" y="3164"/>
              <a:ext cx="379"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8" name="Line 28"/>
            <p:cNvSpPr>
              <a:spLocks noChangeShapeType="1"/>
            </p:cNvSpPr>
            <p:nvPr/>
          </p:nvSpPr>
          <p:spPr bwMode="auto">
            <a:xfrm>
              <a:off x="885" y="3164"/>
              <a:ext cx="293" cy="309"/>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9" name="Line 29"/>
            <p:cNvSpPr>
              <a:spLocks noChangeShapeType="1"/>
            </p:cNvSpPr>
            <p:nvPr/>
          </p:nvSpPr>
          <p:spPr bwMode="auto">
            <a:xfrm flipH="1">
              <a:off x="1857" y="3129"/>
              <a:ext cx="301"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0" name="Line 30"/>
            <p:cNvSpPr>
              <a:spLocks noChangeShapeType="1"/>
            </p:cNvSpPr>
            <p:nvPr/>
          </p:nvSpPr>
          <p:spPr bwMode="auto">
            <a:xfrm>
              <a:off x="2244" y="3138"/>
              <a:ext cx="327"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1" name="Line 31"/>
            <p:cNvSpPr>
              <a:spLocks noChangeShapeType="1"/>
            </p:cNvSpPr>
            <p:nvPr/>
          </p:nvSpPr>
          <p:spPr bwMode="auto">
            <a:xfrm flipH="1">
              <a:off x="3275" y="3138"/>
              <a:ext cx="293"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2" name="Line 32"/>
            <p:cNvSpPr>
              <a:spLocks noChangeShapeType="1"/>
            </p:cNvSpPr>
            <p:nvPr/>
          </p:nvSpPr>
          <p:spPr bwMode="auto">
            <a:xfrm>
              <a:off x="3697" y="3147"/>
              <a:ext cx="292"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3" name="Line 33"/>
            <p:cNvSpPr>
              <a:spLocks noChangeShapeType="1"/>
            </p:cNvSpPr>
            <p:nvPr/>
          </p:nvSpPr>
          <p:spPr bwMode="auto">
            <a:xfrm flipH="1">
              <a:off x="4720" y="3138"/>
              <a:ext cx="266"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4" name="Line 34"/>
            <p:cNvSpPr>
              <a:spLocks noChangeShapeType="1"/>
            </p:cNvSpPr>
            <p:nvPr/>
          </p:nvSpPr>
          <p:spPr bwMode="auto">
            <a:xfrm>
              <a:off x="5081" y="3138"/>
              <a:ext cx="301"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34" name="Rectangle 73"/>
          <p:cNvSpPr>
            <a:spLocks noChangeArrowheads="1"/>
          </p:cNvSpPr>
          <p:nvPr/>
        </p:nvSpPr>
        <p:spPr bwMode="auto">
          <a:xfrm>
            <a:off x="782638" y="174625"/>
            <a:ext cx="34290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树形选择排序</a:t>
            </a:r>
          </a:p>
        </p:txBody>
      </p:sp>
      <p:sp>
        <p:nvSpPr>
          <p:cNvPr id="110597" name="Line 37"/>
          <p:cNvSpPr/>
          <p:nvPr/>
        </p:nvSpPr>
        <p:spPr>
          <a:xfrm flipV="1">
            <a:off x="3055938" y="3213100"/>
            <a:ext cx="3328987" cy="0"/>
          </a:xfrm>
          <a:prstGeom prst="line">
            <a:avLst/>
          </a:prstGeom>
          <a:ln w="9525" cap="flat" cmpd="sng">
            <a:solidFill>
              <a:srgbClr val="FF0000"/>
            </a:solidFill>
            <a:prstDash val="solid"/>
            <a:headEnd type="triangle" w="med" len="med"/>
            <a:tailEnd type="triangle" w="med" len="med"/>
          </a:ln>
        </p:spPr>
      </p:sp>
      <p:sp>
        <p:nvSpPr>
          <p:cNvPr id="110598" name="Line 37"/>
          <p:cNvSpPr/>
          <p:nvPr/>
        </p:nvSpPr>
        <p:spPr>
          <a:xfrm flipV="1">
            <a:off x="1928813" y="4437063"/>
            <a:ext cx="1009650" cy="0"/>
          </a:xfrm>
          <a:prstGeom prst="line">
            <a:avLst/>
          </a:prstGeom>
          <a:ln w="9525" cap="flat" cmpd="sng">
            <a:solidFill>
              <a:srgbClr val="FF0000"/>
            </a:solidFill>
            <a:prstDash val="solid"/>
            <a:headEnd type="triangle" w="med" len="med"/>
            <a:tailEnd type="triangle" w="med" len="med"/>
          </a:ln>
        </p:spPr>
      </p:sp>
    </p:spTree>
  </p:cSld>
  <p:clrMapOvr>
    <a:masterClrMapping/>
  </p:clrMapOvr>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1484313"/>
            <a:ext cx="9144000" cy="446563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111619" name="Group 35"/>
          <p:cNvGrpSpPr/>
          <p:nvPr/>
        </p:nvGrpSpPr>
        <p:grpSpPr>
          <a:xfrm>
            <a:off x="217488" y="1803400"/>
            <a:ext cx="8845550" cy="3683000"/>
            <a:chOff x="125" y="1392"/>
            <a:chExt cx="5572" cy="2320"/>
          </a:xfrm>
        </p:grpSpPr>
        <p:sp>
          <p:nvSpPr>
            <p:cNvPr id="93186" name="AutoShape 6"/>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187" name="AutoShape 7"/>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188" name="AutoShape 8"/>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89" name="AutoShape 9"/>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190" name="AutoShape 10"/>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LIU</a:t>
              </a:r>
            </a:p>
          </p:txBody>
        </p:sp>
        <p:sp>
          <p:nvSpPr>
            <p:cNvPr id="93191" name="AutoShape 11"/>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2" name="AutoShape 12"/>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193" name="AutoShape 13"/>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ZHAO</a:t>
              </a:r>
            </a:p>
          </p:txBody>
        </p:sp>
        <p:sp>
          <p:nvSpPr>
            <p:cNvPr id="93194" name="AutoShape 14"/>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93195" name="AutoShape 15"/>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LIU</a:t>
              </a:r>
            </a:p>
          </p:txBody>
        </p:sp>
        <p:sp>
          <p:nvSpPr>
            <p:cNvPr id="93196" name="AutoShape 16"/>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a:t>
              </a:r>
            </a:p>
          </p:txBody>
        </p:sp>
        <p:sp>
          <p:nvSpPr>
            <p:cNvPr id="93197" name="AutoShape 17"/>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8" name="AutoShape 18"/>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YANG</a:t>
              </a:r>
            </a:p>
          </p:txBody>
        </p:sp>
        <p:sp>
          <p:nvSpPr>
            <p:cNvPr id="93199" name="AutoShape 19"/>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XUE</a:t>
              </a:r>
            </a:p>
          </p:txBody>
        </p:sp>
        <p:sp>
          <p:nvSpPr>
            <p:cNvPr id="93200" name="AutoShape 20"/>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201" name="Line 21"/>
            <p:cNvSpPr>
              <a:spLocks noChangeShapeType="1"/>
            </p:cNvSpPr>
            <p:nvPr/>
          </p:nvSpPr>
          <p:spPr bwMode="auto">
            <a:xfrm flipH="1">
              <a:off x="1496" y="1625"/>
              <a:ext cx="1367" cy="56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2" name="Line 22"/>
            <p:cNvSpPr>
              <a:spLocks noChangeShapeType="1"/>
            </p:cNvSpPr>
            <p:nvPr/>
          </p:nvSpPr>
          <p:spPr bwMode="auto">
            <a:xfrm>
              <a:off x="2923" y="1616"/>
              <a:ext cx="1380" cy="523"/>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3" name="Line 23"/>
            <p:cNvSpPr>
              <a:spLocks noChangeShapeType="1"/>
            </p:cNvSpPr>
            <p:nvPr/>
          </p:nvSpPr>
          <p:spPr bwMode="auto">
            <a:xfrm flipH="1">
              <a:off x="834" y="2424"/>
              <a:ext cx="627" cy="516"/>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4" name="Line 24"/>
            <p:cNvSpPr>
              <a:spLocks noChangeShapeType="1"/>
            </p:cNvSpPr>
            <p:nvPr/>
          </p:nvSpPr>
          <p:spPr bwMode="auto">
            <a:xfrm>
              <a:off x="1530" y="2424"/>
              <a:ext cx="662" cy="48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5" name="Line 25"/>
            <p:cNvSpPr>
              <a:spLocks noChangeShapeType="1"/>
            </p:cNvSpPr>
            <p:nvPr/>
          </p:nvSpPr>
          <p:spPr bwMode="auto">
            <a:xfrm flipH="1">
              <a:off x="3611" y="2364"/>
              <a:ext cx="696" cy="54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6" name="Line 26"/>
            <p:cNvSpPr>
              <a:spLocks noChangeShapeType="1"/>
            </p:cNvSpPr>
            <p:nvPr/>
          </p:nvSpPr>
          <p:spPr bwMode="auto">
            <a:xfrm>
              <a:off x="4393" y="2373"/>
              <a:ext cx="636" cy="524"/>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7" name="Line 27"/>
            <p:cNvSpPr>
              <a:spLocks noChangeShapeType="1"/>
            </p:cNvSpPr>
            <p:nvPr/>
          </p:nvSpPr>
          <p:spPr bwMode="auto">
            <a:xfrm flipH="1">
              <a:off x="421" y="3164"/>
              <a:ext cx="379"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8" name="Line 28"/>
            <p:cNvSpPr>
              <a:spLocks noChangeShapeType="1"/>
            </p:cNvSpPr>
            <p:nvPr/>
          </p:nvSpPr>
          <p:spPr bwMode="auto">
            <a:xfrm>
              <a:off x="885" y="3164"/>
              <a:ext cx="293" cy="309"/>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9" name="Line 29"/>
            <p:cNvSpPr>
              <a:spLocks noChangeShapeType="1"/>
            </p:cNvSpPr>
            <p:nvPr/>
          </p:nvSpPr>
          <p:spPr bwMode="auto">
            <a:xfrm flipH="1">
              <a:off x="1857" y="3129"/>
              <a:ext cx="301"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0" name="Line 30"/>
            <p:cNvSpPr>
              <a:spLocks noChangeShapeType="1"/>
            </p:cNvSpPr>
            <p:nvPr/>
          </p:nvSpPr>
          <p:spPr bwMode="auto">
            <a:xfrm>
              <a:off x="2244" y="3138"/>
              <a:ext cx="327"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1" name="Line 31"/>
            <p:cNvSpPr>
              <a:spLocks noChangeShapeType="1"/>
            </p:cNvSpPr>
            <p:nvPr/>
          </p:nvSpPr>
          <p:spPr bwMode="auto">
            <a:xfrm flipH="1">
              <a:off x="3275" y="3138"/>
              <a:ext cx="293"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2" name="Line 32"/>
            <p:cNvSpPr>
              <a:spLocks noChangeShapeType="1"/>
            </p:cNvSpPr>
            <p:nvPr/>
          </p:nvSpPr>
          <p:spPr bwMode="auto">
            <a:xfrm>
              <a:off x="3697" y="3147"/>
              <a:ext cx="292"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3" name="Line 33"/>
            <p:cNvSpPr>
              <a:spLocks noChangeShapeType="1"/>
            </p:cNvSpPr>
            <p:nvPr/>
          </p:nvSpPr>
          <p:spPr bwMode="auto">
            <a:xfrm flipH="1">
              <a:off x="4720" y="3138"/>
              <a:ext cx="266"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4" name="Line 34"/>
            <p:cNvSpPr>
              <a:spLocks noChangeShapeType="1"/>
            </p:cNvSpPr>
            <p:nvPr/>
          </p:nvSpPr>
          <p:spPr bwMode="auto">
            <a:xfrm>
              <a:off x="5081" y="3138"/>
              <a:ext cx="301"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34" name="Rectangle 73"/>
          <p:cNvSpPr>
            <a:spLocks noChangeArrowheads="1"/>
          </p:cNvSpPr>
          <p:nvPr/>
        </p:nvSpPr>
        <p:spPr bwMode="auto">
          <a:xfrm>
            <a:off x="782638" y="174625"/>
            <a:ext cx="34290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树形选择排序</a:t>
            </a:r>
          </a:p>
        </p:txBody>
      </p:sp>
    </p:spTree>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1484313"/>
            <a:ext cx="9144000" cy="446563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112643" name="Group 35"/>
          <p:cNvGrpSpPr/>
          <p:nvPr/>
        </p:nvGrpSpPr>
        <p:grpSpPr>
          <a:xfrm>
            <a:off x="217488" y="1803400"/>
            <a:ext cx="8845550" cy="3683000"/>
            <a:chOff x="125" y="1392"/>
            <a:chExt cx="5572" cy="2320"/>
          </a:xfrm>
        </p:grpSpPr>
        <p:sp>
          <p:nvSpPr>
            <p:cNvPr id="93186" name="AutoShape 6"/>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BIAO</a:t>
              </a:r>
            </a:p>
          </p:txBody>
        </p:sp>
        <p:sp>
          <p:nvSpPr>
            <p:cNvPr id="93187" name="AutoShape 7"/>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LIU</a:t>
              </a:r>
            </a:p>
          </p:txBody>
        </p:sp>
        <p:sp>
          <p:nvSpPr>
            <p:cNvPr id="93188" name="AutoShape 8"/>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89" name="AutoShape 9"/>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ZHAO</a:t>
              </a:r>
            </a:p>
          </p:txBody>
        </p:sp>
        <p:sp>
          <p:nvSpPr>
            <p:cNvPr id="93190" name="AutoShape 10"/>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LIU</a:t>
              </a:r>
            </a:p>
          </p:txBody>
        </p:sp>
        <p:sp>
          <p:nvSpPr>
            <p:cNvPr id="93191" name="AutoShape 11"/>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2" name="AutoShape 12"/>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193" name="AutoShape 13"/>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ZHAO</a:t>
              </a:r>
            </a:p>
          </p:txBody>
        </p:sp>
        <p:sp>
          <p:nvSpPr>
            <p:cNvPr id="93194" name="AutoShape 14"/>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a:t>
              </a:r>
            </a:p>
          </p:txBody>
        </p:sp>
        <p:sp>
          <p:nvSpPr>
            <p:cNvPr id="93195" name="AutoShape 15"/>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LIU</a:t>
              </a:r>
            </a:p>
          </p:txBody>
        </p:sp>
        <p:sp>
          <p:nvSpPr>
            <p:cNvPr id="93196" name="AutoShape 16"/>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a:t>
              </a:r>
            </a:p>
          </p:txBody>
        </p:sp>
        <p:sp>
          <p:nvSpPr>
            <p:cNvPr id="93197" name="AutoShape 17"/>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DIAO</a:t>
              </a:r>
            </a:p>
          </p:txBody>
        </p:sp>
        <p:sp>
          <p:nvSpPr>
            <p:cNvPr id="93198" name="AutoShape 18"/>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YANG</a:t>
              </a:r>
            </a:p>
          </p:txBody>
        </p:sp>
        <p:sp>
          <p:nvSpPr>
            <p:cNvPr id="93199" name="AutoShape 19"/>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XUE</a:t>
              </a:r>
            </a:p>
          </p:txBody>
        </p:sp>
        <p:sp>
          <p:nvSpPr>
            <p:cNvPr id="93200" name="AutoShape 20"/>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ln>
          </p:spPr>
          <p:txBody>
            <a:bodyPr wrap="none" lIns="0" tIns="0" rIns="0" bIns="0" anchor="ctr"/>
            <a:lstStyle>
              <a:lvl1pPr marL="285750" indent="-285750" defTabSz="687705">
                <a:defRPr sz="2800" b="1">
                  <a:solidFill>
                    <a:schemeClr val="tx1"/>
                  </a:solidFill>
                  <a:latin typeface="Times New Roman" panose="02020603050405020304" pitchFamily="18" charset="0"/>
                  <a:ea typeface="楷体_GB2312" pitchFamily="49" charset="-122"/>
                </a:defRPr>
              </a:lvl1pPr>
              <a:lvl2pPr defTabSz="687705">
                <a:defRPr sz="2800" b="1">
                  <a:solidFill>
                    <a:schemeClr val="tx1"/>
                  </a:solidFill>
                  <a:latin typeface="Times New Roman" panose="02020603050405020304" pitchFamily="18" charset="0"/>
                  <a:ea typeface="楷体_GB2312" pitchFamily="49" charset="-122"/>
                </a:defRPr>
              </a:lvl2pPr>
              <a:lvl3pPr defTabSz="687705">
                <a:defRPr sz="2800" b="1">
                  <a:solidFill>
                    <a:schemeClr val="tx1"/>
                  </a:solidFill>
                  <a:latin typeface="Times New Roman" panose="02020603050405020304" pitchFamily="18" charset="0"/>
                  <a:ea typeface="楷体_GB2312" pitchFamily="49" charset="-122"/>
                </a:defRPr>
              </a:lvl3pPr>
              <a:lvl4pPr defTabSz="687705">
                <a:defRPr sz="2800" b="1">
                  <a:solidFill>
                    <a:schemeClr val="tx1"/>
                  </a:solidFill>
                  <a:latin typeface="Times New Roman" panose="02020603050405020304" pitchFamily="18" charset="0"/>
                  <a:ea typeface="楷体_GB2312" pitchFamily="49" charset="-122"/>
                </a:defRPr>
              </a:lvl4pPr>
              <a:lvl5pPr defTabSz="687705">
                <a:defRPr sz="2800" b="1">
                  <a:solidFill>
                    <a:schemeClr val="tx1"/>
                  </a:solidFill>
                  <a:latin typeface="Times New Roman" panose="02020603050405020304" pitchFamily="18" charset="0"/>
                  <a:ea typeface="楷体_GB2312" pitchFamily="49" charset="-122"/>
                </a:defRPr>
              </a:lvl5pPr>
              <a:lvl6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6877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285750" marR="0" lvl="0" indent="-285750" algn="ctr" defTabSz="687705"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WANG</a:t>
              </a:r>
            </a:p>
          </p:txBody>
        </p:sp>
        <p:sp>
          <p:nvSpPr>
            <p:cNvPr id="93201" name="Line 21"/>
            <p:cNvSpPr>
              <a:spLocks noChangeShapeType="1"/>
            </p:cNvSpPr>
            <p:nvPr/>
          </p:nvSpPr>
          <p:spPr bwMode="auto">
            <a:xfrm flipH="1">
              <a:off x="1496" y="1625"/>
              <a:ext cx="1367" cy="56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2" name="Line 22"/>
            <p:cNvSpPr>
              <a:spLocks noChangeShapeType="1"/>
            </p:cNvSpPr>
            <p:nvPr/>
          </p:nvSpPr>
          <p:spPr bwMode="auto">
            <a:xfrm>
              <a:off x="2923" y="1616"/>
              <a:ext cx="1380" cy="523"/>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3" name="Line 23"/>
            <p:cNvSpPr>
              <a:spLocks noChangeShapeType="1"/>
            </p:cNvSpPr>
            <p:nvPr/>
          </p:nvSpPr>
          <p:spPr bwMode="auto">
            <a:xfrm flipH="1">
              <a:off x="834" y="2424"/>
              <a:ext cx="627" cy="516"/>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4" name="Line 24"/>
            <p:cNvSpPr>
              <a:spLocks noChangeShapeType="1"/>
            </p:cNvSpPr>
            <p:nvPr/>
          </p:nvSpPr>
          <p:spPr bwMode="auto">
            <a:xfrm>
              <a:off x="1530" y="2424"/>
              <a:ext cx="662" cy="48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5" name="Line 25"/>
            <p:cNvSpPr>
              <a:spLocks noChangeShapeType="1"/>
            </p:cNvSpPr>
            <p:nvPr/>
          </p:nvSpPr>
          <p:spPr bwMode="auto">
            <a:xfrm flipH="1">
              <a:off x="3611" y="2364"/>
              <a:ext cx="696" cy="542"/>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6" name="Line 26"/>
            <p:cNvSpPr>
              <a:spLocks noChangeShapeType="1"/>
            </p:cNvSpPr>
            <p:nvPr/>
          </p:nvSpPr>
          <p:spPr bwMode="auto">
            <a:xfrm>
              <a:off x="4393" y="2373"/>
              <a:ext cx="636" cy="524"/>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7" name="Line 27"/>
            <p:cNvSpPr>
              <a:spLocks noChangeShapeType="1"/>
            </p:cNvSpPr>
            <p:nvPr/>
          </p:nvSpPr>
          <p:spPr bwMode="auto">
            <a:xfrm flipH="1">
              <a:off x="421" y="3164"/>
              <a:ext cx="379"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8" name="Line 28"/>
            <p:cNvSpPr>
              <a:spLocks noChangeShapeType="1"/>
            </p:cNvSpPr>
            <p:nvPr/>
          </p:nvSpPr>
          <p:spPr bwMode="auto">
            <a:xfrm>
              <a:off x="885" y="3164"/>
              <a:ext cx="293" cy="309"/>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9" name="Line 29"/>
            <p:cNvSpPr>
              <a:spLocks noChangeShapeType="1"/>
            </p:cNvSpPr>
            <p:nvPr/>
          </p:nvSpPr>
          <p:spPr bwMode="auto">
            <a:xfrm flipH="1">
              <a:off x="1857" y="3129"/>
              <a:ext cx="301"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0" name="Line 30"/>
            <p:cNvSpPr>
              <a:spLocks noChangeShapeType="1"/>
            </p:cNvSpPr>
            <p:nvPr/>
          </p:nvSpPr>
          <p:spPr bwMode="auto">
            <a:xfrm>
              <a:off x="2244" y="3138"/>
              <a:ext cx="327" cy="327"/>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1" name="Line 31"/>
            <p:cNvSpPr>
              <a:spLocks noChangeShapeType="1"/>
            </p:cNvSpPr>
            <p:nvPr/>
          </p:nvSpPr>
          <p:spPr bwMode="auto">
            <a:xfrm flipH="1">
              <a:off x="3275" y="3138"/>
              <a:ext cx="293"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2" name="Line 32"/>
            <p:cNvSpPr>
              <a:spLocks noChangeShapeType="1"/>
            </p:cNvSpPr>
            <p:nvPr/>
          </p:nvSpPr>
          <p:spPr bwMode="auto">
            <a:xfrm>
              <a:off x="3697" y="3147"/>
              <a:ext cx="292"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3" name="Line 33"/>
            <p:cNvSpPr>
              <a:spLocks noChangeShapeType="1"/>
            </p:cNvSpPr>
            <p:nvPr/>
          </p:nvSpPr>
          <p:spPr bwMode="auto">
            <a:xfrm flipH="1">
              <a:off x="4720" y="3138"/>
              <a:ext cx="266" cy="318"/>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14" name="Line 34"/>
            <p:cNvSpPr>
              <a:spLocks noChangeShapeType="1"/>
            </p:cNvSpPr>
            <p:nvPr/>
          </p:nvSpPr>
          <p:spPr bwMode="auto">
            <a:xfrm>
              <a:off x="5081" y="3138"/>
              <a:ext cx="301" cy="335"/>
            </a:xfrm>
            <a:prstGeom prst="line">
              <a:avLst/>
            </a:prstGeom>
            <a:noFill/>
            <a:ln w="9525">
              <a:solidFill>
                <a:schemeClr val="accent1">
                  <a:lumMod val="75000"/>
                </a:schemeClr>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34" name="Rectangle 73"/>
          <p:cNvSpPr>
            <a:spLocks noChangeArrowheads="1"/>
          </p:cNvSpPr>
          <p:nvPr/>
        </p:nvSpPr>
        <p:spPr bwMode="auto">
          <a:xfrm>
            <a:off x="782638" y="174625"/>
            <a:ext cx="34290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树形选择排序</a:t>
            </a:r>
          </a:p>
        </p:txBody>
      </p:sp>
      <p:sp>
        <p:nvSpPr>
          <p:cNvPr id="112645" name="Line 37"/>
          <p:cNvSpPr/>
          <p:nvPr/>
        </p:nvSpPr>
        <p:spPr>
          <a:xfrm flipV="1">
            <a:off x="3055938" y="3213100"/>
            <a:ext cx="3328987" cy="0"/>
          </a:xfrm>
          <a:prstGeom prst="line">
            <a:avLst/>
          </a:prstGeom>
          <a:ln w="9525" cap="flat" cmpd="sng">
            <a:solidFill>
              <a:srgbClr val="FF0000"/>
            </a:solidFill>
            <a:prstDash val="solid"/>
            <a:headEnd type="triangle" w="med" len="med"/>
            <a:tailEnd type="triangle" w="med" len="med"/>
          </a:ln>
        </p:spPr>
      </p:sp>
      <p:sp>
        <p:nvSpPr>
          <p:cNvPr id="112646" name="Line 37"/>
          <p:cNvSpPr/>
          <p:nvPr/>
        </p:nvSpPr>
        <p:spPr>
          <a:xfrm flipV="1">
            <a:off x="1928813" y="4437063"/>
            <a:ext cx="1009650" cy="0"/>
          </a:xfrm>
          <a:prstGeom prst="line">
            <a:avLst/>
          </a:prstGeom>
          <a:ln w="9525" cap="flat" cmpd="sng">
            <a:solidFill>
              <a:srgbClr val="FF0000"/>
            </a:solidFill>
            <a:prstDash val="solid"/>
            <a:headEnd type="triangle" w="med" len="med"/>
            <a:tailEnd type="triangle" w="med" len="med"/>
          </a:ln>
        </p:spPr>
      </p:sp>
    </p:spTree>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Line 95"/>
          <p:cNvSpPr>
            <a:spLocks noChangeShapeType="1"/>
          </p:cNvSpPr>
          <p:nvPr/>
        </p:nvSpPr>
        <p:spPr bwMode="auto">
          <a:xfrm>
            <a:off x="4313238" y="2786063"/>
            <a:ext cx="1892300" cy="900113"/>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06" name="Line 94"/>
          <p:cNvSpPr>
            <a:spLocks noChangeShapeType="1"/>
          </p:cNvSpPr>
          <p:nvPr/>
        </p:nvSpPr>
        <p:spPr bwMode="auto">
          <a:xfrm flipH="1">
            <a:off x="2693988" y="2740025"/>
            <a:ext cx="1512888" cy="107315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07" name="Line 92"/>
          <p:cNvSpPr>
            <a:spLocks noChangeShapeType="1"/>
          </p:cNvSpPr>
          <p:nvPr/>
        </p:nvSpPr>
        <p:spPr bwMode="auto">
          <a:xfrm flipH="1">
            <a:off x="1916113" y="3703638"/>
            <a:ext cx="735013" cy="132715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08" name="Line 93"/>
          <p:cNvSpPr>
            <a:spLocks noChangeShapeType="1"/>
          </p:cNvSpPr>
          <p:nvPr/>
        </p:nvSpPr>
        <p:spPr bwMode="auto">
          <a:xfrm flipH="1">
            <a:off x="5370513" y="3798888"/>
            <a:ext cx="747713" cy="11557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09" name="Line 91"/>
          <p:cNvSpPr>
            <a:spLocks noChangeShapeType="1"/>
          </p:cNvSpPr>
          <p:nvPr/>
        </p:nvSpPr>
        <p:spPr bwMode="auto">
          <a:xfrm>
            <a:off x="6194425" y="3817938"/>
            <a:ext cx="1087438" cy="1177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0" name="Line 90"/>
          <p:cNvSpPr>
            <a:spLocks noChangeShapeType="1"/>
          </p:cNvSpPr>
          <p:nvPr/>
        </p:nvSpPr>
        <p:spPr bwMode="auto">
          <a:xfrm>
            <a:off x="2833688" y="3862388"/>
            <a:ext cx="590550" cy="1004888"/>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1" name="Line 84"/>
          <p:cNvSpPr>
            <a:spLocks noChangeShapeType="1"/>
          </p:cNvSpPr>
          <p:nvPr/>
        </p:nvSpPr>
        <p:spPr bwMode="auto">
          <a:xfrm flipH="1">
            <a:off x="4879975" y="4868863"/>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2" name="Line 85"/>
          <p:cNvSpPr>
            <a:spLocks noChangeShapeType="1"/>
          </p:cNvSpPr>
          <p:nvPr/>
        </p:nvSpPr>
        <p:spPr bwMode="auto">
          <a:xfrm flipH="1">
            <a:off x="6718300" y="4916488"/>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3" name="Line 89"/>
          <p:cNvSpPr>
            <a:spLocks noChangeShapeType="1"/>
          </p:cNvSpPr>
          <p:nvPr/>
        </p:nvSpPr>
        <p:spPr bwMode="auto">
          <a:xfrm>
            <a:off x="7321550" y="4940300"/>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4" name="Line 88"/>
          <p:cNvSpPr>
            <a:spLocks noChangeShapeType="1"/>
          </p:cNvSpPr>
          <p:nvPr/>
        </p:nvSpPr>
        <p:spPr bwMode="auto">
          <a:xfrm>
            <a:off x="5414963" y="4903788"/>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5" name="Line 87"/>
          <p:cNvSpPr>
            <a:spLocks noChangeShapeType="1"/>
          </p:cNvSpPr>
          <p:nvPr/>
        </p:nvSpPr>
        <p:spPr bwMode="auto">
          <a:xfrm>
            <a:off x="3519488" y="5016500"/>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6" name="Line 83"/>
          <p:cNvSpPr>
            <a:spLocks noChangeShapeType="1"/>
          </p:cNvSpPr>
          <p:nvPr/>
        </p:nvSpPr>
        <p:spPr bwMode="auto">
          <a:xfrm flipH="1">
            <a:off x="2951163" y="4832350"/>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7" name="Line 86"/>
          <p:cNvSpPr>
            <a:spLocks noChangeShapeType="1"/>
          </p:cNvSpPr>
          <p:nvPr/>
        </p:nvSpPr>
        <p:spPr bwMode="auto">
          <a:xfrm>
            <a:off x="1781175" y="4899025"/>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8" name="Line 82"/>
          <p:cNvSpPr>
            <a:spLocks noChangeShapeType="1"/>
          </p:cNvSpPr>
          <p:nvPr/>
        </p:nvSpPr>
        <p:spPr bwMode="auto">
          <a:xfrm flipH="1">
            <a:off x="1320800" y="4864100"/>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9" name="Rectangle 3"/>
          <p:cNvSpPr>
            <a:spLocks noChangeArrowheads="1"/>
          </p:cNvSpPr>
          <p:nvPr/>
        </p:nvSpPr>
        <p:spPr bwMode="auto">
          <a:xfrm>
            <a:off x="0" y="1219200"/>
            <a:ext cx="8763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Char char="•"/>
              <a:defRPr/>
            </a:pPr>
            <a:endParaRPr kumimoji="0" lang="zh-CN" altLang="zh-CN" sz="1600" b="1"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98320" name="Rectangle 4"/>
          <p:cNvSpPr>
            <a:spLocks noChangeArrowheads="1"/>
          </p:cNvSpPr>
          <p:nvPr/>
        </p:nvSpPr>
        <p:spPr bwMode="auto">
          <a:xfrm>
            <a:off x="0" y="985838"/>
            <a:ext cx="9144000" cy="1016000"/>
          </a:xfrm>
          <a:prstGeom prst="rect">
            <a:avLst/>
          </a:prstGeom>
          <a:solidFill>
            <a:schemeClr val="accent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850900" indent="57150">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3" indent="0" algn="l" defTabSz="914400" rtl="0" eaLnBrk="0" fontAlgn="base" latinLnBrk="0" hangingPunct="0">
              <a:lnSpc>
                <a:spcPct val="125000"/>
              </a:lnSpc>
              <a:spcBef>
                <a:spcPct val="50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改进：简单选择排序没有利用上次选择的结果，是造成速度慢的重要原因。如果，能够加以改进，将会提高排序的速度。</a:t>
            </a:r>
          </a:p>
        </p:txBody>
      </p:sp>
      <p:sp>
        <p:nvSpPr>
          <p:cNvPr id="98321" name="Oval 17"/>
          <p:cNvSpPr>
            <a:spLocks noChangeArrowheads="1"/>
          </p:cNvSpPr>
          <p:nvPr/>
        </p:nvSpPr>
        <p:spPr bwMode="auto">
          <a:xfrm>
            <a:off x="1992313" y="5756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2" name="Oval 20"/>
          <p:cNvSpPr>
            <a:spLocks noChangeArrowheads="1"/>
          </p:cNvSpPr>
          <p:nvPr/>
        </p:nvSpPr>
        <p:spPr bwMode="auto">
          <a:xfrm>
            <a:off x="5705475" y="57975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3" name="Oval 21"/>
          <p:cNvSpPr>
            <a:spLocks noChangeArrowheads="1"/>
          </p:cNvSpPr>
          <p:nvPr/>
        </p:nvSpPr>
        <p:spPr bwMode="auto">
          <a:xfrm>
            <a:off x="4722813" y="57864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4" name="Oval 22"/>
          <p:cNvSpPr>
            <a:spLocks noChangeArrowheads="1"/>
          </p:cNvSpPr>
          <p:nvPr/>
        </p:nvSpPr>
        <p:spPr bwMode="auto">
          <a:xfrm>
            <a:off x="6651625" y="5799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5" name="Oval 24"/>
          <p:cNvSpPr>
            <a:spLocks noChangeArrowheads="1"/>
          </p:cNvSpPr>
          <p:nvPr/>
        </p:nvSpPr>
        <p:spPr bwMode="auto">
          <a:xfrm>
            <a:off x="2849563" y="57658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6" name="Oval 26"/>
          <p:cNvSpPr>
            <a:spLocks noChangeArrowheads="1"/>
          </p:cNvSpPr>
          <p:nvPr/>
        </p:nvSpPr>
        <p:spPr bwMode="auto">
          <a:xfrm>
            <a:off x="1131888" y="57451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7" name="Oval 27"/>
          <p:cNvSpPr>
            <a:spLocks noChangeArrowheads="1"/>
          </p:cNvSpPr>
          <p:nvPr/>
        </p:nvSpPr>
        <p:spPr bwMode="auto">
          <a:xfrm>
            <a:off x="3784600" y="57673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8" name="Oval 74"/>
          <p:cNvSpPr>
            <a:spLocks noChangeArrowheads="1"/>
          </p:cNvSpPr>
          <p:nvPr/>
        </p:nvSpPr>
        <p:spPr bwMode="auto">
          <a:xfrm>
            <a:off x="7599363" y="58118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9" name="Oval 75"/>
          <p:cNvSpPr>
            <a:spLocks noChangeArrowheads="1"/>
          </p:cNvSpPr>
          <p:nvPr/>
        </p:nvSpPr>
        <p:spPr bwMode="auto">
          <a:xfrm>
            <a:off x="1603375" y="4730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0" name="Oval 76"/>
          <p:cNvSpPr>
            <a:spLocks noChangeArrowheads="1"/>
          </p:cNvSpPr>
          <p:nvPr/>
        </p:nvSpPr>
        <p:spPr bwMode="auto">
          <a:xfrm>
            <a:off x="3232150" y="47275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1" name="Oval 77"/>
          <p:cNvSpPr>
            <a:spLocks noChangeArrowheads="1"/>
          </p:cNvSpPr>
          <p:nvPr/>
        </p:nvSpPr>
        <p:spPr bwMode="auto">
          <a:xfrm>
            <a:off x="5176838" y="47180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2" name="Oval 78"/>
          <p:cNvSpPr>
            <a:spLocks noChangeArrowheads="1"/>
          </p:cNvSpPr>
          <p:nvPr/>
        </p:nvSpPr>
        <p:spPr bwMode="auto">
          <a:xfrm>
            <a:off x="7023100" y="47513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3" name="Oval 79"/>
          <p:cNvSpPr>
            <a:spLocks noChangeArrowheads="1"/>
          </p:cNvSpPr>
          <p:nvPr/>
        </p:nvSpPr>
        <p:spPr bwMode="auto">
          <a:xfrm>
            <a:off x="5894388" y="35893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4" name="Oval 80"/>
          <p:cNvSpPr>
            <a:spLocks noChangeArrowheads="1"/>
          </p:cNvSpPr>
          <p:nvPr/>
        </p:nvSpPr>
        <p:spPr bwMode="auto">
          <a:xfrm>
            <a:off x="2520950" y="36210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5" name="Oval 81"/>
          <p:cNvSpPr>
            <a:spLocks noChangeArrowheads="1"/>
          </p:cNvSpPr>
          <p:nvPr/>
        </p:nvSpPr>
        <p:spPr bwMode="auto">
          <a:xfrm>
            <a:off x="4060825" y="25527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6" name="Text Box 96"/>
          <p:cNvSpPr txBox="1">
            <a:spLocks noChangeArrowheads="1"/>
          </p:cNvSpPr>
          <p:nvPr/>
        </p:nvSpPr>
        <p:spPr bwMode="auto">
          <a:xfrm>
            <a:off x="5757863" y="2509838"/>
            <a:ext cx="2528888" cy="460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选出最小者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p>
        </p:txBody>
      </p:sp>
      <p:sp>
        <p:nvSpPr>
          <p:cNvPr id="37" name="Rectangle 73"/>
          <p:cNvSpPr>
            <a:spLocks noChangeArrowheads="1"/>
          </p:cNvSpPr>
          <p:nvPr/>
        </p:nvSpPr>
        <p:spPr bwMode="auto">
          <a:xfrm>
            <a:off x="839788" y="176213"/>
            <a:ext cx="34290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树形选择排序</a:t>
            </a:r>
          </a:p>
        </p:txBody>
      </p:sp>
    </p:spTree>
  </p:cSld>
  <p:clrMapOvr>
    <a:masterClrMapping/>
  </p:clrMapOvr>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Line 95"/>
          <p:cNvSpPr>
            <a:spLocks noChangeShapeType="1"/>
          </p:cNvSpPr>
          <p:nvPr/>
        </p:nvSpPr>
        <p:spPr bwMode="auto">
          <a:xfrm>
            <a:off x="4206875" y="3140075"/>
            <a:ext cx="1892300" cy="900113"/>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06" name="Line 94"/>
          <p:cNvSpPr>
            <a:spLocks noChangeShapeType="1"/>
          </p:cNvSpPr>
          <p:nvPr/>
        </p:nvSpPr>
        <p:spPr bwMode="auto">
          <a:xfrm flipH="1">
            <a:off x="2587625" y="3094038"/>
            <a:ext cx="1512888" cy="107315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07" name="Line 92"/>
          <p:cNvSpPr>
            <a:spLocks noChangeShapeType="1"/>
          </p:cNvSpPr>
          <p:nvPr/>
        </p:nvSpPr>
        <p:spPr bwMode="auto">
          <a:xfrm flipH="1">
            <a:off x="1809750" y="4057650"/>
            <a:ext cx="735013" cy="132715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08" name="Line 93"/>
          <p:cNvSpPr>
            <a:spLocks noChangeShapeType="1"/>
          </p:cNvSpPr>
          <p:nvPr/>
        </p:nvSpPr>
        <p:spPr bwMode="auto">
          <a:xfrm flipH="1">
            <a:off x="5264150" y="4152900"/>
            <a:ext cx="747713" cy="11557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09" name="Line 91"/>
          <p:cNvSpPr>
            <a:spLocks noChangeShapeType="1"/>
          </p:cNvSpPr>
          <p:nvPr/>
        </p:nvSpPr>
        <p:spPr bwMode="auto">
          <a:xfrm>
            <a:off x="6088063" y="4171950"/>
            <a:ext cx="1087438" cy="1177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0" name="Line 90"/>
          <p:cNvSpPr>
            <a:spLocks noChangeShapeType="1"/>
          </p:cNvSpPr>
          <p:nvPr/>
        </p:nvSpPr>
        <p:spPr bwMode="auto">
          <a:xfrm>
            <a:off x="2727325" y="4216400"/>
            <a:ext cx="590550" cy="1004888"/>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1" name="Line 84"/>
          <p:cNvSpPr>
            <a:spLocks noChangeShapeType="1"/>
          </p:cNvSpPr>
          <p:nvPr/>
        </p:nvSpPr>
        <p:spPr bwMode="auto">
          <a:xfrm flipH="1">
            <a:off x="4773613" y="5222875"/>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2" name="Line 85"/>
          <p:cNvSpPr>
            <a:spLocks noChangeShapeType="1"/>
          </p:cNvSpPr>
          <p:nvPr/>
        </p:nvSpPr>
        <p:spPr bwMode="auto">
          <a:xfrm flipH="1">
            <a:off x="6611938" y="5270500"/>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3" name="Line 89"/>
          <p:cNvSpPr>
            <a:spLocks noChangeShapeType="1"/>
          </p:cNvSpPr>
          <p:nvPr/>
        </p:nvSpPr>
        <p:spPr bwMode="auto">
          <a:xfrm>
            <a:off x="7215188" y="5294313"/>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4" name="Line 88"/>
          <p:cNvSpPr>
            <a:spLocks noChangeShapeType="1"/>
          </p:cNvSpPr>
          <p:nvPr/>
        </p:nvSpPr>
        <p:spPr bwMode="auto">
          <a:xfrm>
            <a:off x="5308600" y="5257800"/>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5" name="Line 87"/>
          <p:cNvSpPr>
            <a:spLocks noChangeShapeType="1"/>
          </p:cNvSpPr>
          <p:nvPr/>
        </p:nvSpPr>
        <p:spPr bwMode="auto">
          <a:xfrm>
            <a:off x="3413125" y="5370513"/>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6" name="Line 83"/>
          <p:cNvSpPr>
            <a:spLocks noChangeShapeType="1"/>
          </p:cNvSpPr>
          <p:nvPr/>
        </p:nvSpPr>
        <p:spPr bwMode="auto">
          <a:xfrm flipH="1">
            <a:off x="2844800" y="5186363"/>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7" name="Line 86"/>
          <p:cNvSpPr>
            <a:spLocks noChangeShapeType="1"/>
          </p:cNvSpPr>
          <p:nvPr/>
        </p:nvSpPr>
        <p:spPr bwMode="auto">
          <a:xfrm>
            <a:off x="1674813" y="5253038"/>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8" name="Line 82"/>
          <p:cNvSpPr>
            <a:spLocks noChangeShapeType="1"/>
          </p:cNvSpPr>
          <p:nvPr/>
        </p:nvSpPr>
        <p:spPr bwMode="auto">
          <a:xfrm flipH="1">
            <a:off x="1214438" y="5218113"/>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98319" name="Rectangle 3"/>
          <p:cNvSpPr>
            <a:spLocks noChangeArrowheads="1"/>
          </p:cNvSpPr>
          <p:nvPr/>
        </p:nvSpPr>
        <p:spPr bwMode="auto">
          <a:xfrm>
            <a:off x="0" y="1219200"/>
            <a:ext cx="8763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Char char="•"/>
              <a:defRPr/>
            </a:pPr>
            <a:endParaRPr kumimoji="0" lang="zh-CN" altLang="zh-CN" sz="1600" b="1"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98320" name="Rectangle 4"/>
          <p:cNvSpPr>
            <a:spLocks noChangeArrowheads="1"/>
          </p:cNvSpPr>
          <p:nvPr/>
        </p:nvSpPr>
        <p:spPr bwMode="auto">
          <a:xfrm>
            <a:off x="52388" y="985838"/>
            <a:ext cx="5070475" cy="1804988"/>
          </a:xfrm>
          <a:prstGeom prst="roundRect">
            <a:avLst>
              <a:gd name="adj" fmla="val 6815"/>
            </a:avLst>
          </a:prstGeom>
          <a:solidFill>
            <a:schemeClr val="accent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850900" indent="57150">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60045" marR="0" lvl="3" indent="0" algn="l" defTabSz="914400" rtl="0" eaLnBrk="0" fontAlgn="base" latinLnBrk="0" hangingPunct="0">
              <a:lnSpc>
                <a:spcPct val="125000"/>
              </a:lnSpc>
              <a:spcBef>
                <a:spcPct val="50000"/>
              </a:spcBef>
              <a:spcAft>
                <a:spcPct val="0"/>
              </a:spcAft>
              <a:buClrTx/>
              <a:buSzTx/>
              <a:buFontTx/>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改进：简单选择排序没有利用上次选择的结果，是造成速度满的重要原因。如果，能够加以改进，将会提高排序的速度。</a:t>
            </a:r>
          </a:p>
        </p:txBody>
      </p:sp>
      <p:sp>
        <p:nvSpPr>
          <p:cNvPr id="98321" name="Oval 17"/>
          <p:cNvSpPr>
            <a:spLocks noChangeArrowheads="1"/>
          </p:cNvSpPr>
          <p:nvPr/>
        </p:nvSpPr>
        <p:spPr bwMode="auto">
          <a:xfrm>
            <a:off x="1885950" y="61102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2" name="Oval 20"/>
          <p:cNvSpPr>
            <a:spLocks noChangeArrowheads="1"/>
          </p:cNvSpPr>
          <p:nvPr/>
        </p:nvSpPr>
        <p:spPr bwMode="auto">
          <a:xfrm>
            <a:off x="5599113" y="61515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3" name="Oval 21"/>
          <p:cNvSpPr>
            <a:spLocks noChangeArrowheads="1"/>
          </p:cNvSpPr>
          <p:nvPr/>
        </p:nvSpPr>
        <p:spPr bwMode="auto">
          <a:xfrm>
            <a:off x="4616450" y="61404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4" name="Oval 22"/>
          <p:cNvSpPr>
            <a:spLocks noChangeArrowheads="1"/>
          </p:cNvSpPr>
          <p:nvPr/>
        </p:nvSpPr>
        <p:spPr bwMode="auto">
          <a:xfrm>
            <a:off x="6545263" y="61531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5" name="Oval 24"/>
          <p:cNvSpPr>
            <a:spLocks noChangeArrowheads="1"/>
          </p:cNvSpPr>
          <p:nvPr/>
        </p:nvSpPr>
        <p:spPr bwMode="auto">
          <a:xfrm>
            <a:off x="2743200" y="611981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6" name="Oval 26"/>
          <p:cNvSpPr>
            <a:spLocks noChangeArrowheads="1"/>
          </p:cNvSpPr>
          <p:nvPr/>
        </p:nvSpPr>
        <p:spPr bwMode="auto">
          <a:xfrm>
            <a:off x="1025525" y="6099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7" name="Oval 27"/>
          <p:cNvSpPr>
            <a:spLocks noChangeArrowheads="1"/>
          </p:cNvSpPr>
          <p:nvPr/>
        </p:nvSpPr>
        <p:spPr bwMode="auto">
          <a:xfrm>
            <a:off x="3678238" y="61214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8" name="Oval 74"/>
          <p:cNvSpPr>
            <a:spLocks noChangeArrowheads="1"/>
          </p:cNvSpPr>
          <p:nvPr/>
        </p:nvSpPr>
        <p:spPr bwMode="auto">
          <a:xfrm>
            <a:off x="7493000" y="61658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29" name="Oval 75"/>
          <p:cNvSpPr>
            <a:spLocks noChangeArrowheads="1"/>
          </p:cNvSpPr>
          <p:nvPr/>
        </p:nvSpPr>
        <p:spPr bwMode="auto">
          <a:xfrm>
            <a:off x="1497013" y="50847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0" name="Oval 76"/>
          <p:cNvSpPr>
            <a:spLocks noChangeArrowheads="1"/>
          </p:cNvSpPr>
          <p:nvPr/>
        </p:nvSpPr>
        <p:spPr bwMode="auto">
          <a:xfrm>
            <a:off x="3125788" y="50815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1" name="Oval 77"/>
          <p:cNvSpPr>
            <a:spLocks noChangeArrowheads="1"/>
          </p:cNvSpPr>
          <p:nvPr/>
        </p:nvSpPr>
        <p:spPr bwMode="auto">
          <a:xfrm>
            <a:off x="5070475" y="50720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2" name="Oval 78"/>
          <p:cNvSpPr>
            <a:spLocks noChangeArrowheads="1"/>
          </p:cNvSpPr>
          <p:nvPr/>
        </p:nvSpPr>
        <p:spPr bwMode="auto">
          <a:xfrm>
            <a:off x="6916738" y="51054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3" name="Oval 79"/>
          <p:cNvSpPr>
            <a:spLocks noChangeArrowheads="1"/>
          </p:cNvSpPr>
          <p:nvPr/>
        </p:nvSpPr>
        <p:spPr bwMode="auto">
          <a:xfrm>
            <a:off x="5788025" y="39433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4" name="Oval 80"/>
          <p:cNvSpPr>
            <a:spLocks noChangeArrowheads="1"/>
          </p:cNvSpPr>
          <p:nvPr/>
        </p:nvSpPr>
        <p:spPr bwMode="auto">
          <a:xfrm>
            <a:off x="2414588" y="39751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5" name="Oval 81"/>
          <p:cNvSpPr>
            <a:spLocks noChangeArrowheads="1"/>
          </p:cNvSpPr>
          <p:nvPr/>
        </p:nvSpPr>
        <p:spPr bwMode="auto">
          <a:xfrm>
            <a:off x="3954463" y="290671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98336" name="Text Box 96"/>
          <p:cNvSpPr txBox="1">
            <a:spLocks noChangeArrowheads="1"/>
          </p:cNvSpPr>
          <p:nvPr/>
        </p:nvSpPr>
        <p:spPr bwMode="auto">
          <a:xfrm>
            <a:off x="5205413" y="1063625"/>
            <a:ext cx="3879850" cy="1719263"/>
          </a:xfrm>
          <a:prstGeom prst="roundRect">
            <a:avLst>
              <a:gd name="adj" fmla="val 10759"/>
            </a:avLst>
          </a:prstGeom>
          <a:solidFill>
            <a:srgbClr val="EAEAEA"/>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选出次最小者，应利用上次比</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较的结果。从被 </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13 </a:t>
            </a: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打败的结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点 </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27</a:t>
            </a: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76</a:t>
            </a: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38 </a:t>
            </a: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中加以确定。</a:t>
            </a:r>
            <a:endPar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10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7" name="Rectangle 73"/>
          <p:cNvSpPr>
            <a:spLocks noChangeArrowheads="1"/>
          </p:cNvSpPr>
          <p:nvPr/>
        </p:nvSpPr>
        <p:spPr bwMode="auto">
          <a:xfrm>
            <a:off x="839788" y="176213"/>
            <a:ext cx="34290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树形选择排序</a:t>
            </a:r>
          </a:p>
        </p:txBody>
      </p:sp>
    </p:spTree>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矩形 1"/>
          <p:cNvSpPr/>
          <p:nvPr/>
        </p:nvSpPr>
        <p:spPr>
          <a:xfrm>
            <a:off x="0" y="908050"/>
            <a:ext cx="9144000" cy="1081088"/>
          </a:xfrm>
          <a:prstGeom prst="rect">
            <a:avLst/>
          </a:prstGeom>
          <a:solidFill>
            <a:srgbClr val="C4B3D7"/>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00353" name="Line 2"/>
          <p:cNvSpPr>
            <a:spLocks noChangeShapeType="1"/>
          </p:cNvSpPr>
          <p:nvPr/>
        </p:nvSpPr>
        <p:spPr bwMode="auto">
          <a:xfrm>
            <a:off x="4198938" y="3001963"/>
            <a:ext cx="1892300" cy="900113"/>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54" name="Line 3"/>
          <p:cNvSpPr>
            <a:spLocks noChangeShapeType="1"/>
          </p:cNvSpPr>
          <p:nvPr/>
        </p:nvSpPr>
        <p:spPr bwMode="auto">
          <a:xfrm flipH="1">
            <a:off x="2579688" y="2955925"/>
            <a:ext cx="1512888" cy="107315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55" name="Line 4"/>
          <p:cNvSpPr>
            <a:spLocks noChangeShapeType="1"/>
          </p:cNvSpPr>
          <p:nvPr/>
        </p:nvSpPr>
        <p:spPr bwMode="auto">
          <a:xfrm flipH="1">
            <a:off x="1801813" y="3919538"/>
            <a:ext cx="735013" cy="132715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56" name="Line 5"/>
          <p:cNvSpPr>
            <a:spLocks noChangeShapeType="1"/>
          </p:cNvSpPr>
          <p:nvPr/>
        </p:nvSpPr>
        <p:spPr bwMode="auto">
          <a:xfrm flipH="1">
            <a:off x="5256213" y="4014788"/>
            <a:ext cx="747713" cy="11557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57" name="Line 6"/>
          <p:cNvSpPr>
            <a:spLocks noChangeShapeType="1"/>
          </p:cNvSpPr>
          <p:nvPr/>
        </p:nvSpPr>
        <p:spPr bwMode="auto">
          <a:xfrm>
            <a:off x="6080125" y="4033838"/>
            <a:ext cx="1087438" cy="1177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58" name="Line 7"/>
          <p:cNvSpPr>
            <a:spLocks noChangeShapeType="1"/>
          </p:cNvSpPr>
          <p:nvPr/>
        </p:nvSpPr>
        <p:spPr bwMode="auto">
          <a:xfrm>
            <a:off x="2719388" y="4078288"/>
            <a:ext cx="590550" cy="1004888"/>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59" name="Line 8"/>
          <p:cNvSpPr>
            <a:spLocks noChangeShapeType="1"/>
          </p:cNvSpPr>
          <p:nvPr/>
        </p:nvSpPr>
        <p:spPr bwMode="auto">
          <a:xfrm flipH="1">
            <a:off x="4765675" y="5084763"/>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60" name="Line 9"/>
          <p:cNvSpPr>
            <a:spLocks noChangeShapeType="1"/>
          </p:cNvSpPr>
          <p:nvPr/>
        </p:nvSpPr>
        <p:spPr bwMode="auto">
          <a:xfrm flipH="1">
            <a:off x="6604000" y="5132388"/>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61" name="Line 10"/>
          <p:cNvSpPr>
            <a:spLocks noChangeShapeType="1"/>
          </p:cNvSpPr>
          <p:nvPr/>
        </p:nvSpPr>
        <p:spPr bwMode="auto">
          <a:xfrm>
            <a:off x="7207250" y="5156200"/>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62" name="Line 11"/>
          <p:cNvSpPr>
            <a:spLocks noChangeShapeType="1"/>
          </p:cNvSpPr>
          <p:nvPr/>
        </p:nvSpPr>
        <p:spPr bwMode="auto">
          <a:xfrm>
            <a:off x="5300663" y="5119688"/>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63" name="Line 12"/>
          <p:cNvSpPr>
            <a:spLocks noChangeShapeType="1"/>
          </p:cNvSpPr>
          <p:nvPr/>
        </p:nvSpPr>
        <p:spPr bwMode="auto">
          <a:xfrm>
            <a:off x="3405188" y="5232400"/>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64" name="Line 13"/>
          <p:cNvSpPr>
            <a:spLocks noChangeShapeType="1"/>
          </p:cNvSpPr>
          <p:nvPr/>
        </p:nvSpPr>
        <p:spPr bwMode="auto">
          <a:xfrm flipH="1">
            <a:off x="2836863" y="5048250"/>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65" name="Line 14"/>
          <p:cNvSpPr>
            <a:spLocks noChangeShapeType="1"/>
          </p:cNvSpPr>
          <p:nvPr/>
        </p:nvSpPr>
        <p:spPr bwMode="auto">
          <a:xfrm>
            <a:off x="1666875" y="5114925"/>
            <a:ext cx="485775" cy="10509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66" name="Line 15"/>
          <p:cNvSpPr>
            <a:spLocks noChangeShapeType="1"/>
          </p:cNvSpPr>
          <p:nvPr/>
        </p:nvSpPr>
        <p:spPr bwMode="auto">
          <a:xfrm flipH="1">
            <a:off x="1206500" y="5080000"/>
            <a:ext cx="554038" cy="11652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0367" name="Rectangle 17"/>
          <p:cNvSpPr>
            <a:spLocks noChangeArrowheads="1"/>
          </p:cNvSpPr>
          <p:nvPr/>
        </p:nvSpPr>
        <p:spPr bwMode="auto">
          <a:xfrm>
            <a:off x="0" y="1219200"/>
            <a:ext cx="8763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Char char="•"/>
              <a:defRPr/>
            </a:pPr>
            <a:endParaRPr kumimoji="0" lang="zh-CN" altLang="zh-CN" sz="1600" b="1"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00368" name="Rectangle 18"/>
          <p:cNvSpPr>
            <a:spLocks noChangeArrowheads="1"/>
          </p:cNvSpPr>
          <p:nvPr/>
        </p:nvSpPr>
        <p:spPr bwMode="auto">
          <a:xfrm>
            <a:off x="49213" y="1031875"/>
            <a:ext cx="8915400" cy="8318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850900" indent="57150">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60045" marR="0" lvl="3" indent="0" algn="l" defTabSz="914400" rtl="0" eaLnBrk="0" fontAlgn="base" latinLnBrk="0" hangingPunct="0">
              <a:lnSpc>
                <a:spcPct val="100000"/>
              </a:lnSpc>
              <a:spcBef>
                <a:spcPct val="50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改进：简单选择排序没有利用上次选择的结果，是造成速度满的重要原因。如果，能够加以改进，将会提高排序的速度。</a:t>
            </a:r>
          </a:p>
        </p:txBody>
      </p:sp>
      <p:sp>
        <p:nvSpPr>
          <p:cNvPr id="100369" name="Oval 20"/>
          <p:cNvSpPr>
            <a:spLocks noChangeArrowheads="1"/>
          </p:cNvSpPr>
          <p:nvPr/>
        </p:nvSpPr>
        <p:spPr bwMode="auto">
          <a:xfrm>
            <a:off x="1878013" y="5972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0" name="Oval 21"/>
          <p:cNvSpPr>
            <a:spLocks noChangeArrowheads="1"/>
          </p:cNvSpPr>
          <p:nvPr/>
        </p:nvSpPr>
        <p:spPr bwMode="auto">
          <a:xfrm>
            <a:off x="5591175" y="60134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1" name="Oval 22"/>
          <p:cNvSpPr>
            <a:spLocks noChangeArrowheads="1"/>
          </p:cNvSpPr>
          <p:nvPr/>
        </p:nvSpPr>
        <p:spPr bwMode="auto">
          <a:xfrm>
            <a:off x="4608513" y="60023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76</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2" name="Oval 23"/>
          <p:cNvSpPr>
            <a:spLocks noChangeArrowheads="1"/>
          </p:cNvSpPr>
          <p:nvPr/>
        </p:nvSpPr>
        <p:spPr bwMode="auto">
          <a:xfrm>
            <a:off x="6537325" y="60150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3" name="Oval 24"/>
          <p:cNvSpPr>
            <a:spLocks noChangeArrowheads="1"/>
          </p:cNvSpPr>
          <p:nvPr/>
        </p:nvSpPr>
        <p:spPr bwMode="auto">
          <a:xfrm>
            <a:off x="2735263" y="59817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4" name="Oval 25"/>
          <p:cNvSpPr>
            <a:spLocks noChangeArrowheads="1"/>
          </p:cNvSpPr>
          <p:nvPr/>
        </p:nvSpPr>
        <p:spPr bwMode="auto">
          <a:xfrm>
            <a:off x="1017588" y="59610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5" name="Oval 26"/>
          <p:cNvSpPr>
            <a:spLocks noChangeArrowheads="1"/>
          </p:cNvSpPr>
          <p:nvPr/>
        </p:nvSpPr>
        <p:spPr bwMode="auto">
          <a:xfrm>
            <a:off x="3670300" y="59832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97</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6" name="Oval 27"/>
          <p:cNvSpPr>
            <a:spLocks noChangeArrowheads="1"/>
          </p:cNvSpPr>
          <p:nvPr/>
        </p:nvSpPr>
        <p:spPr bwMode="auto">
          <a:xfrm>
            <a:off x="7485063" y="60277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49</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7" name="Oval 28"/>
          <p:cNvSpPr>
            <a:spLocks noChangeArrowheads="1"/>
          </p:cNvSpPr>
          <p:nvPr/>
        </p:nvSpPr>
        <p:spPr bwMode="auto">
          <a:xfrm>
            <a:off x="1489075" y="49466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8" name="Oval 29"/>
          <p:cNvSpPr>
            <a:spLocks noChangeArrowheads="1"/>
          </p:cNvSpPr>
          <p:nvPr/>
        </p:nvSpPr>
        <p:spPr bwMode="auto">
          <a:xfrm>
            <a:off x="3117850" y="49434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65</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79" name="Oval 30"/>
          <p:cNvSpPr>
            <a:spLocks noChangeArrowheads="1"/>
          </p:cNvSpPr>
          <p:nvPr/>
        </p:nvSpPr>
        <p:spPr bwMode="auto">
          <a:xfrm>
            <a:off x="5062538" y="49339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80" name="Oval 31"/>
          <p:cNvSpPr>
            <a:spLocks noChangeArrowheads="1"/>
          </p:cNvSpPr>
          <p:nvPr/>
        </p:nvSpPr>
        <p:spPr bwMode="auto">
          <a:xfrm>
            <a:off x="6908800" y="49672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27</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81" name="Oval 32"/>
          <p:cNvSpPr>
            <a:spLocks noChangeArrowheads="1"/>
          </p:cNvSpPr>
          <p:nvPr/>
        </p:nvSpPr>
        <p:spPr bwMode="auto">
          <a:xfrm>
            <a:off x="5780088" y="38052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82" name="Oval 33"/>
          <p:cNvSpPr>
            <a:spLocks noChangeArrowheads="1"/>
          </p:cNvSpPr>
          <p:nvPr/>
        </p:nvSpPr>
        <p:spPr bwMode="auto">
          <a:xfrm>
            <a:off x="2406650" y="38369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38</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83" name="Oval 34"/>
          <p:cNvSpPr>
            <a:spLocks noChangeArrowheads="1"/>
          </p:cNvSpPr>
          <p:nvPr/>
        </p:nvSpPr>
        <p:spPr bwMode="auto">
          <a:xfrm>
            <a:off x="3946525" y="2768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bg1"/>
                </a:solidFill>
                <a:effectLst/>
                <a:uLnTx/>
                <a:uFillTx/>
                <a:latin typeface="+mn-lt"/>
                <a:ea typeface="+mn-ea"/>
                <a:cs typeface="+mn-ea"/>
                <a:sym typeface="+mn-lt"/>
              </a:rPr>
              <a:t>13</a:t>
            </a:r>
            <a:endParaRPr kumimoji="0" lang="en-US" altLang="zh-CN"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00384" name="Text Box 35"/>
          <p:cNvSpPr txBox="1">
            <a:spLocks noChangeArrowheads="1"/>
          </p:cNvSpPr>
          <p:nvPr/>
        </p:nvSpPr>
        <p:spPr bwMode="auto">
          <a:xfrm>
            <a:off x="5291138" y="2474913"/>
            <a:ext cx="3673475" cy="968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6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选出次最小者，应利用上次比</a:t>
            </a:r>
          </a:p>
          <a:p>
            <a:pPr marL="0" marR="0" lvl="0" indent="0" algn="l" defTabSz="914400" rtl="0" eaLnBrk="0" fontAlgn="base" latinLnBrk="0" hangingPunct="0">
              <a:lnSpc>
                <a:spcPct val="6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较的结果。从被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13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打败的结</a:t>
            </a:r>
          </a:p>
          <a:p>
            <a:pPr marL="0" marR="0" lvl="0" indent="0" algn="l" defTabSz="914400" rtl="0" eaLnBrk="0" fontAlgn="base" latinLnBrk="0" hangingPunct="0">
              <a:lnSpc>
                <a:spcPct val="6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点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38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中加以确定。</a:t>
            </a:r>
          </a:p>
        </p:txBody>
      </p:sp>
      <p:sp>
        <p:nvSpPr>
          <p:cNvPr id="37" name="Rectangle 73"/>
          <p:cNvSpPr>
            <a:spLocks noChangeArrowheads="1"/>
          </p:cNvSpPr>
          <p:nvPr/>
        </p:nvSpPr>
        <p:spPr bwMode="auto">
          <a:xfrm>
            <a:off x="825500" y="190500"/>
            <a:ext cx="34290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树形选择排序</a:t>
            </a:r>
          </a:p>
        </p:txBody>
      </p:sp>
    </p:spTree>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1285" name="Rectangle 5"/>
          <p:cNvSpPr>
            <a:spLocks noChangeArrowheads="1"/>
          </p:cNvSpPr>
          <p:nvPr/>
        </p:nvSpPr>
        <p:spPr bwMode="auto">
          <a:xfrm>
            <a:off x="539750" y="1754188"/>
            <a:ext cx="8280400" cy="909638"/>
          </a:xfrm>
          <a:prstGeom prst="rect">
            <a:avLst/>
          </a:prstGeom>
          <a:noFill/>
          <a:ln w="57150">
            <a:noFill/>
            <a:miter lim="800000"/>
          </a:ln>
          <a:effectLst/>
        </p:spPr>
        <p:txBody>
          <a:bodyPr/>
          <a:lstStyle/>
          <a:p>
            <a:pPr marL="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n</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个元素的序列</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{k1,k2,…,</a:t>
            </a:r>
            <a:r>
              <a:rPr kumimoji="1"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kn</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，当且仅当满足下列关系时，成为堆：</a:t>
            </a:r>
          </a:p>
          <a:p>
            <a:pPr marL="742950" marR="0" lvl="1" indent="-285750" algn="l" defTabSz="914400" rtl="0" eaLnBrk="0" fontAlgn="base" latinLnBrk="0" hangingPunct="0">
              <a:lnSpc>
                <a:spcPct val="100000"/>
              </a:lnSpc>
              <a:spcBef>
                <a:spcPct val="20000"/>
              </a:spcBef>
              <a:spcAft>
                <a:spcPct val="0"/>
              </a:spcAft>
              <a:buClrTx/>
              <a:buSzTx/>
              <a:buFontTx/>
              <a:buChar char="–"/>
              <a:defRPr/>
            </a:pPr>
            <a:endPar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a:p>
            <a:pPr marL="742950" marR="0" lvl="1" indent="-285750" algn="l" defTabSz="914400" rtl="0" eaLnBrk="0" fontAlgn="base" latinLnBrk="0" hangingPunct="0">
              <a:lnSpc>
                <a:spcPct val="100000"/>
              </a:lnSpc>
              <a:spcBef>
                <a:spcPct val="20000"/>
              </a:spcBef>
              <a:spcAft>
                <a:spcPct val="0"/>
              </a:spcAft>
              <a:buClrTx/>
              <a:buSzTx/>
              <a:buFontTx/>
              <a:buChar char="–"/>
              <a:defRPr/>
            </a:pPr>
            <a:endPar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742950" marR="0" lvl="1" indent="-285750" algn="l" defTabSz="914400" rtl="0" eaLnBrk="0" fontAlgn="base" latinLnBrk="0" hangingPunct="0">
              <a:lnSpc>
                <a:spcPct val="100000"/>
              </a:lnSpc>
              <a:spcBef>
                <a:spcPct val="20000"/>
              </a:spcBef>
              <a:spcAft>
                <a:spcPct val="0"/>
              </a:spcAft>
              <a:buClrTx/>
              <a:buSzTx/>
              <a:buFontTx/>
              <a:buChar char="–"/>
              <a:defRPr/>
            </a:pPr>
            <a:endPar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742950" marR="0" lvl="1" indent="-285750" algn="l" defTabSz="914400" rtl="0" eaLnBrk="0" fontAlgn="base" latinLnBrk="0" hangingPunct="0">
              <a:lnSpc>
                <a:spcPct val="100000"/>
              </a:lnSpc>
              <a:spcBef>
                <a:spcPct val="20000"/>
              </a:spcBef>
              <a:spcAft>
                <a:spcPct val="0"/>
              </a:spcAft>
              <a:buClrTx/>
              <a:buSzTx/>
              <a:buFontTx/>
              <a:buChar char="–"/>
              <a:defRPr/>
            </a:pPr>
            <a:endPar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20000"/>
              </a:spcBef>
              <a:spcAft>
                <a:spcPct val="0"/>
              </a:spcAft>
              <a:buClrTx/>
              <a:buSzTx/>
              <a:buFontTx/>
              <a:buChar char="•"/>
              <a:defRPr/>
            </a:pPr>
            <a:endPar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endParaRPr>
          </a:p>
        </p:txBody>
      </p:sp>
      <p:graphicFrame>
        <p:nvGraphicFramePr>
          <p:cNvPr id="119811" name="Object 6"/>
          <p:cNvGraphicFramePr/>
          <p:nvPr/>
        </p:nvGraphicFramePr>
        <p:xfrm>
          <a:off x="539750" y="2781300"/>
          <a:ext cx="8280400" cy="1728788"/>
        </p:xfrm>
        <a:graphic>
          <a:graphicData uri="http://schemas.openxmlformats.org/presentationml/2006/ole">
            <mc:AlternateContent xmlns:mc="http://schemas.openxmlformats.org/markup-compatibility/2006">
              <mc:Choice xmlns:v="urn:schemas-microsoft-com:vml" Requires="v">
                <p:oleObj spid="_x0000_s10246" r:id="rId3" imgW="1409700" imgH="508000" progId="Equation.3">
                  <p:embed/>
                </p:oleObj>
              </mc:Choice>
              <mc:Fallback>
                <p:oleObj r:id="rId3" imgW="1409700" imgH="508000" progId="Equation.3">
                  <p:embed/>
                  <p:pic>
                    <p:nvPicPr>
                      <p:cNvPr id="0" name="图片 3090"/>
                      <p:cNvPicPr/>
                      <p:nvPr/>
                    </p:nvPicPr>
                    <p:blipFill>
                      <a:blip r:embed="rId4"/>
                      <a:stretch>
                        <a:fillRect/>
                      </a:stretch>
                    </p:blipFill>
                    <p:spPr>
                      <a:xfrm>
                        <a:off x="539750" y="2781300"/>
                        <a:ext cx="8280400" cy="1728788"/>
                      </a:xfrm>
                      <a:prstGeom prst="rect">
                        <a:avLst/>
                      </a:prstGeom>
                      <a:solidFill>
                        <a:srgbClr val="E2D9EB"/>
                      </a:solidFill>
                      <a:ln w="38100">
                        <a:noFill/>
                        <a:miter/>
                      </a:ln>
                    </p:spPr>
                  </p:pic>
                </p:oleObj>
              </mc:Fallback>
            </mc:AlternateContent>
          </a:graphicData>
        </a:graphic>
      </p:graphicFrame>
      <p:sp>
        <p:nvSpPr>
          <p:cNvPr id="1121287" name="Rectangle 7"/>
          <p:cNvSpPr>
            <a:spLocks noChangeArrowheads="1"/>
          </p:cNvSpPr>
          <p:nvPr/>
        </p:nvSpPr>
        <p:spPr bwMode="auto">
          <a:xfrm>
            <a:off x="876300" y="211138"/>
            <a:ext cx="17526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堆排序</a:t>
            </a:r>
          </a:p>
        </p:txBody>
      </p:sp>
      <p:sp>
        <p:nvSpPr>
          <p:cNvPr id="1121288" name="Rectangle 8"/>
          <p:cNvSpPr>
            <a:spLocks noChangeArrowheads="1"/>
          </p:cNvSpPr>
          <p:nvPr/>
        </p:nvSpPr>
        <p:spPr bwMode="auto">
          <a:xfrm>
            <a:off x="539750" y="1060450"/>
            <a:ext cx="3444875" cy="52228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什么是堆？</a:t>
            </a:r>
          </a:p>
        </p:txBody>
      </p:sp>
      <p:sp>
        <p:nvSpPr>
          <p:cNvPr id="1121289" name="Rectangle 9"/>
          <p:cNvSpPr>
            <a:spLocks noChangeArrowheads="1"/>
          </p:cNvSpPr>
          <p:nvPr/>
        </p:nvSpPr>
        <p:spPr bwMode="auto">
          <a:xfrm>
            <a:off x="539750" y="5013325"/>
            <a:ext cx="8280400" cy="1079500"/>
          </a:xfrm>
          <a:prstGeom prst="rect">
            <a:avLst/>
          </a:prstGeom>
          <a:solidFill>
            <a:schemeClr val="bg2">
              <a:lumMod val="20000"/>
              <a:lumOff val="80000"/>
            </a:schemeClr>
          </a:solidFill>
          <a:ln w="9525">
            <a:noFill/>
            <a:miter lim="800000"/>
          </a:ln>
          <a:effectLst/>
        </p:spPr>
        <p:txBody>
          <a:bodyPr/>
          <a:lstStyle/>
          <a:p>
            <a:pPr marL="450215" marR="0" lvl="1" indent="-285750" algn="l" defTabSz="914400" rtl="0" eaLnBrk="0" fontAlgn="base" latinLnBrk="0" hangingPunct="0">
              <a:lnSpc>
                <a:spcPct val="125000"/>
              </a:lnSpc>
              <a:spcBef>
                <a:spcPct val="20000"/>
              </a:spcBef>
              <a:spcAft>
                <a:spcPct val="0"/>
              </a:spcAft>
              <a:buClrTx/>
              <a:buSzTx/>
              <a:buFontTx/>
              <a:buChar char="–"/>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如果将序列看成一个</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完全二叉树</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，非终端结点的值均小于或大于左右子结点的值。</a:t>
            </a:r>
            <a:endPar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1121289"/>
                                        </p:tgtEl>
                                        <p:attrNameLst>
                                          <p:attrName>style.visibility</p:attrName>
                                        </p:attrNameLst>
                                      </p:cBhvr>
                                      <p:to>
                                        <p:strVal val="visible"/>
                                      </p:to>
                                    </p:set>
                                    <p:anim calcmode="lin" valueType="num">
                                      <p:cBhvr>
                                        <p:cTn id="7" dur="500" fill="hold"/>
                                        <p:tgtEl>
                                          <p:spTgt spid="1121289"/>
                                        </p:tgtEl>
                                        <p:attrNameLst>
                                          <p:attrName>ppt_w</p:attrName>
                                        </p:attrNameLst>
                                      </p:cBhvr>
                                      <p:tavLst>
                                        <p:tav tm="0">
                                          <p:val>
                                            <p:strVal val="#ppt_w*0.05"/>
                                          </p:val>
                                        </p:tav>
                                        <p:tav tm="100000">
                                          <p:val>
                                            <p:strVal val="#ppt_w"/>
                                          </p:val>
                                        </p:tav>
                                      </p:tavLst>
                                    </p:anim>
                                    <p:anim calcmode="lin" valueType="num">
                                      <p:cBhvr>
                                        <p:cTn id="8" dur="500" fill="hold"/>
                                        <p:tgtEl>
                                          <p:spTgt spid="1121289"/>
                                        </p:tgtEl>
                                        <p:attrNameLst>
                                          <p:attrName>ppt_h</p:attrName>
                                        </p:attrNameLst>
                                      </p:cBhvr>
                                      <p:tavLst>
                                        <p:tav tm="0">
                                          <p:val>
                                            <p:strVal val="#ppt_h"/>
                                          </p:val>
                                        </p:tav>
                                        <p:tav tm="100000">
                                          <p:val>
                                            <p:strVal val="#ppt_h"/>
                                          </p:val>
                                        </p:tav>
                                      </p:tavLst>
                                    </p:anim>
                                    <p:anim calcmode="lin" valueType="num">
                                      <p:cBhvr>
                                        <p:cTn id="9" dur="500" fill="hold"/>
                                        <p:tgtEl>
                                          <p:spTgt spid="1121289"/>
                                        </p:tgtEl>
                                        <p:attrNameLst>
                                          <p:attrName>ppt_x</p:attrName>
                                        </p:attrNameLst>
                                      </p:cBhvr>
                                      <p:tavLst>
                                        <p:tav tm="0">
                                          <p:val>
                                            <p:strVal val="#ppt_x-.2"/>
                                          </p:val>
                                        </p:tav>
                                        <p:tav tm="100000">
                                          <p:val>
                                            <p:strVal val="#ppt_x"/>
                                          </p:val>
                                        </p:tav>
                                      </p:tavLst>
                                    </p:anim>
                                    <p:anim calcmode="lin" valueType="num">
                                      <p:cBhvr>
                                        <p:cTn id="10" dur="500" fill="hold"/>
                                        <p:tgtEl>
                                          <p:spTgt spid="1121289"/>
                                        </p:tgtEl>
                                        <p:attrNameLst>
                                          <p:attrName>ppt_y</p:attrName>
                                        </p:attrNameLst>
                                      </p:cBhvr>
                                      <p:tavLst>
                                        <p:tav tm="0">
                                          <p:val>
                                            <p:strVal val="#ppt_y"/>
                                          </p:val>
                                        </p:tav>
                                        <p:tav tm="100000">
                                          <p:val>
                                            <p:strVal val="#ppt_y"/>
                                          </p:val>
                                        </p:tav>
                                      </p:tavLst>
                                    </p:anim>
                                    <p:animEffect transition="in" filter="fade">
                                      <p:cBhvr>
                                        <p:cTn id="11" dur="500"/>
                                        <p:tgtEl>
                                          <p:spTgt spid="11212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1289"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8787" name="Picture 75"/>
          <p:cNvPicPr>
            <a:picLocks noChangeAspect="1" noChangeArrowheads="1"/>
          </p:cNvPicPr>
          <p:nvPr/>
        </p:nvPicPr>
        <p:blipFill>
          <a:blip r:embed="rId2"/>
          <a:srcRect/>
          <a:stretch>
            <a:fillRect/>
          </a:stretch>
        </p:blipFill>
        <p:spPr bwMode="auto">
          <a:xfrm>
            <a:off x="284163" y="2794000"/>
            <a:ext cx="8562975" cy="2989263"/>
          </a:xfrm>
          <a:prstGeom prst="rect">
            <a:avLst/>
          </a:prstGeom>
          <a:noFill/>
          <a:ln w="38100">
            <a:solidFill>
              <a:schemeClr val="accent1">
                <a:lumMod val="60000"/>
                <a:lumOff val="40000"/>
              </a:schemeClr>
            </a:solidFill>
            <a:miter lim="800000"/>
            <a:headEnd/>
            <a:tailEnd/>
          </a:ln>
        </p:spPr>
      </p:pic>
      <p:sp>
        <p:nvSpPr>
          <p:cNvPr id="1024077" name="Text Box 77"/>
          <p:cNvSpPr txBox="1">
            <a:spLocks noChangeArrowheads="1"/>
          </p:cNvSpPr>
          <p:nvPr/>
        </p:nvSpPr>
        <p:spPr bwMode="auto">
          <a:xfrm>
            <a:off x="5072063" y="2101850"/>
            <a:ext cx="3775075" cy="461963"/>
          </a:xfrm>
          <a:prstGeom prst="rect">
            <a:avLst/>
          </a:prstGeom>
          <a:noFill/>
          <a:ln w="9525">
            <a:solidFill>
              <a:srgbClr val="FF0000"/>
            </a:solidFill>
            <a:miter lim="800000"/>
          </a:ln>
          <a:effectLst/>
        </p:spPr>
        <p:txBody>
          <a:bodyPr wrap="none">
            <a:spAutoFit/>
          </a:bodyPr>
          <a:lstStyle/>
          <a:p>
            <a:pPr marR="0" defTabSz="914400" eaLnBrk="1" hangingPunct="1">
              <a:buClrTx/>
              <a:buSzTx/>
              <a:buFontTx/>
              <a:buNone/>
              <a:defRPr/>
            </a:pPr>
            <a:r>
              <a:rPr kumimoji="1" lang="en-US" altLang="zh-CN" sz="2400" b="0" kern="1200" cap="none" spc="0" normalizeH="0" baseline="0" noProof="0">
                <a:solidFill>
                  <a:srgbClr val="FF3300"/>
                </a:solidFill>
                <a:latin typeface="+mn-lt"/>
                <a:ea typeface="+mn-ea"/>
                <a:cs typeface="+mn-ea"/>
                <a:sym typeface="+mn-lt"/>
              </a:rPr>
              <a:t>(87,78,53,45,65,09,31,17,23)</a:t>
            </a:r>
          </a:p>
        </p:txBody>
      </p:sp>
      <p:sp>
        <p:nvSpPr>
          <p:cNvPr id="1024083" name="Text Box 83"/>
          <p:cNvSpPr txBox="1">
            <a:spLocks noChangeArrowheads="1"/>
          </p:cNvSpPr>
          <p:nvPr/>
        </p:nvSpPr>
        <p:spPr bwMode="auto">
          <a:xfrm>
            <a:off x="284163" y="2101850"/>
            <a:ext cx="3775075" cy="461963"/>
          </a:xfrm>
          <a:prstGeom prst="rect">
            <a:avLst/>
          </a:prstGeom>
          <a:noFill/>
          <a:ln w="9525">
            <a:solidFill>
              <a:srgbClr val="FF0000"/>
            </a:solidFill>
            <a:miter lim="800000"/>
          </a:ln>
          <a:effectLst/>
        </p:spPr>
        <p:txBody>
          <a:bodyPr wrap="none">
            <a:spAutoFit/>
          </a:bodyPr>
          <a:lstStyle/>
          <a:p>
            <a:pPr marR="0" defTabSz="914400" eaLnBrk="1" hangingPunct="1">
              <a:buClrTx/>
              <a:buSzTx/>
              <a:buFontTx/>
              <a:buNone/>
              <a:defRPr/>
            </a:pPr>
            <a:r>
              <a:rPr kumimoji="1" lang="en-US" altLang="zh-CN" sz="2400" b="0" kern="1200" cap="none" spc="0" normalizeH="0" baseline="0" noProof="0">
                <a:solidFill>
                  <a:srgbClr val="FF3300"/>
                </a:solidFill>
                <a:latin typeface="+mn-lt"/>
                <a:ea typeface="+mn-ea"/>
                <a:cs typeface="+mn-ea"/>
                <a:sym typeface="+mn-lt"/>
              </a:rPr>
              <a:t>(09,17,65,23,45,78,87,53,31)</a:t>
            </a:r>
          </a:p>
        </p:txBody>
      </p:sp>
      <p:sp>
        <p:nvSpPr>
          <p:cNvPr id="1024084" name="Rectangle 84"/>
          <p:cNvSpPr>
            <a:spLocks noChangeArrowheads="1"/>
          </p:cNvSpPr>
          <p:nvPr/>
        </p:nvSpPr>
        <p:spPr bwMode="auto">
          <a:xfrm>
            <a:off x="242888" y="912813"/>
            <a:ext cx="8604250" cy="981075"/>
          </a:xfrm>
          <a:prstGeom prst="rect">
            <a:avLst/>
          </a:prstGeom>
          <a:solidFill>
            <a:srgbClr val="EBEBEB"/>
          </a:solidFill>
          <a:ln w="9525">
            <a:noFill/>
            <a:miter lim="800000"/>
          </a:ln>
          <a:effectLst/>
        </p:spPr>
        <p:txBody>
          <a:bodyPr/>
          <a:lstStyle/>
          <a:p>
            <a:pPr marL="742950" marR="0" lvl="1" indent="-285750" algn="l" defTabSz="914400" rtl="0" eaLnBrk="0" fontAlgn="base" latinLnBrk="0" hangingPunct="0">
              <a:lnSpc>
                <a:spcPct val="125000"/>
              </a:lnSpc>
              <a:spcBef>
                <a:spcPct val="20000"/>
              </a:spcBef>
              <a:spcAft>
                <a:spcPct val="0"/>
              </a:spcAft>
              <a:buClrTx/>
              <a:buSzTx/>
              <a:buFontTx/>
              <a:buChar char="–"/>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利用树的结构特征来描述堆，所以树只是作为堆的描述工具，堆实际是</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存放在线形空间中</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a:t>
            </a:r>
          </a:p>
        </p:txBody>
      </p:sp>
      <p:sp>
        <p:nvSpPr>
          <p:cNvPr id="9" name="Rectangle 7"/>
          <p:cNvSpPr>
            <a:spLocks noChangeArrowheads="1"/>
          </p:cNvSpPr>
          <p:nvPr/>
        </p:nvSpPr>
        <p:spPr bwMode="auto">
          <a:xfrm>
            <a:off x="876300" y="173038"/>
            <a:ext cx="17526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堆排序</a:t>
            </a:r>
          </a:p>
        </p:txBody>
      </p:sp>
      <p:sp>
        <p:nvSpPr>
          <p:cNvPr id="1024081" name="Rectangle 81"/>
          <p:cNvSpPr>
            <a:spLocks noChangeArrowheads="1"/>
          </p:cNvSpPr>
          <p:nvPr/>
        </p:nvSpPr>
        <p:spPr bwMode="auto">
          <a:xfrm>
            <a:off x="284163" y="6045200"/>
            <a:ext cx="8562975" cy="460375"/>
          </a:xfrm>
          <a:prstGeom prst="rect">
            <a:avLst/>
          </a:prstGeom>
          <a:solidFill>
            <a:srgbClr val="7030A0"/>
          </a:solidFill>
          <a:ln w="38100">
            <a:noFill/>
            <a:miter lim="800000"/>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堆顶元素（根）为</a:t>
            </a:r>
            <a:r>
              <a:rPr kumimoji="0" lang="zh-CN" altLang="zh-CN" sz="2400" b="0" i="0" u="none" strike="noStrike" kern="1200" cap="none" spc="0" normalizeH="0" baseline="0" noProof="0" dirty="0">
                <a:ln>
                  <a:noFill/>
                </a:ln>
                <a:solidFill>
                  <a:schemeClr val="bg1"/>
                </a:solidFill>
                <a:effectLst/>
                <a:uLnTx/>
                <a:uFillTx/>
                <a:latin typeface="+mn-lt"/>
                <a:ea typeface="+mn-ea"/>
                <a:cs typeface="+mn-ea"/>
                <a:sym typeface="+mn-lt"/>
              </a:rPr>
              <a:t>最小值或最大值</a:t>
            </a:r>
            <a:endPar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endParaRPr>
          </a:p>
        </p:txBody>
      </p:sp>
      <p:cxnSp>
        <p:nvCxnSpPr>
          <p:cNvPr id="3" name="直接连接符 2"/>
          <p:cNvCxnSpPr>
            <a:stCxn id="118787" idx="0"/>
            <a:endCxn id="118787" idx="2"/>
          </p:cNvCxnSpPr>
          <p:nvPr/>
        </p:nvCxnSpPr>
        <p:spPr bwMode="auto">
          <a:xfrm>
            <a:off x="4565650" y="2794000"/>
            <a:ext cx="0" cy="2989263"/>
          </a:xfrm>
          <a:prstGeom prst="line">
            <a:avLst/>
          </a:prstGeom>
          <a:solidFill>
            <a:schemeClr val="accent1"/>
          </a:solidFill>
          <a:ln w="38100" cap="flat" cmpd="sng" algn="ctr">
            <a:solidFill>
              <a:schemeClr val="accent1">
                <a:lumMod val="60000"/>
                <a:lumOff val="40000"/>
              </a:schemeClr>
            </a:solidFill>
            <a:prstDash val="solid"/>
            <a:round/>
            <a:headEnd type="none" w="med" len="med"/>
            <a:tailEnd type="none" w="med" len="med"/>
          </a:ln>
        </p:spPr>
      </p:cxn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24081"/>
                                        </p:tgtEl>
                                        <p:attrNameLst>
                                          <p:attrName>style.visibility</p:attrName>
                                        </p:attrNameLst>
                                      </p:cBhvr>
                                      <p:to>
                                        <p:strVal val="visible"/>
                                      </p:to>
                                    </p:set>
                                    <p:anim calcmode="lin" valueType="num">
                                      <p:cBhvr additive="base">
                                        <p:cTn id="7" dur="500" fill="hold"/>
                                        <p:tgtEl>
                                          <p:spTgt spid="1024081"/>
                                        </p:tgtEl>
                                        <p:attrNameLst>
                                          <p:attrName>ppt_x</p:attrName>
                                        </p:attrNameLst>
                                      </p:cBhvr>
                                      <p:tavLst>
                                        <p:tav tm="0">
                                          <p:val>
                                            <p:strVal val="#ppt_x"/>
                                          </p:val>
                                        </p:tav>
                                        <p:tav tm="100000">
                                          <p:val>
                                            <p:strVal val="#ppt_x"/>
                                          </p:val>
                                        </p:tav>
                                      </p:tavLst>
                                    </p:anim>
                                    <p:anim calcmode="lin" valueType="num">
                                      <p:cBhvr additive="base">
                                        <p:cTn id="8" dur="500" fill="hold"/>
                                        <p:tgtEl>
                                          <p:spTgt spid="10240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081"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4816475" y="2052638"/>
            <a:ext cx="4327525" cy="317658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21859" name="矩形 70"/>
          <p:cNvSpPr/>
          <p:nvPr/>
        </p:nvSpPr>
        <p:spPr>
          <a:xfrm>
            <a:off x="15875" y="2076450"/>
            <a:ext cx="4578350" cy="3176588"/>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023060" name="Rectangle 84"/>
          <p:cNvSpPr>
            <a:spLocks noChangeArrowheads="1"/>
          </p:cNvSpPr>
          <p:nvPr/>
        </p:nvSpPr>
        <p:spPr bwMode="auto">
          <a:xfrm>
            <a:off x="7350125" y="1454150"/>
            <a:ext cx="1979613" cy="523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小根堆</a:t>
            </a:r>
          </a:p>
        </p:txBody>
      </p:sp>
      <p:grpSp>
        <p:nvGrpSpPr>
          <p:cNvPr id="121861" name="Group 85"/>
          <p:cNvGrpSpPr/>
          <p:nvPr/>
        </p:nvGrpSpPr>
        <p:grpSpPr>
          <a:xfrm>
            <a:off x="146050" y="2443163"/>
            <a:ext cx="4238625" cy="2522537"/>
            <a:chOff x="293" y="210"/>
            <a:chExt cx="2657" cy="1381"/>
          </a:xfrm>
        </p:grpSpPr>
        <p:grpSp>
          <p:nvGrpSpPr>
            <p:cNvPr id="121896" name="Group 86"/>
            <p:cNvGrpSpPr/>
            <p:nvPr/>
          </p:nvGrpSpPr>
          <p:grpSpPr>
            <a:xfrm>
              <a:off x="306" y="210"/>
              <a:ext cx="2644" cy="1381"/>
              <a:chOff x="306" y="210"/>
              <a:chExt cx="2644" cy="1381"/>
            </a:xfrm>
          </p:grpSpPr>
          <p:sp>
            <p:nvSpPr>
              <p:cNvPr id="104453" name="Oval 87"/>
              <p:cNvSpPr>
                <a:spLocks noChangeArrowheads="1"/>
              </p:cNvSpPr>
              <p:nvPr/>
            </p:nvSpPr>
            <p:spPr bwMode="auto">
              <a:xfrm>
                <a:off x="2434" y="882"/>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4" name="Text Box 88"/>
              <p:cNvSpPr txBox="1">
                <a:spLocks noChangeArrowheads="1"/>
              </p:cNvSpPr>
              <p:nvPr/>
            </p:nvSpPr>
            <p:spPr bwMode="auto">
              <a:xfrm>
                <a:off x="2455" y="908"/>
                <a:ext cx="495"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8</a:t>
                </a:r>
              </a:p>
            </p:txBody>
          </p:sp>
          <p:sp>
            <p:nvSpPr>
              <p:cNvPr id="104455" name="Line 89"/>
              <p:cNvSpPr>
                <a:spLocks noChangeShapeType="1"/>
              </p:cNvSpPr>
              <p:nvPr/>
            </p:nvSpPr>
            <p:spPr bwMode="auto">
              <a:xfrm flipV="1">
                <a:off x="1347" y="462"/>
                <a:ext cx="290"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6" name="Line 90"/>
              <p:cNvSpPr>
                <a:spLocks noChangeShapeType="1"/>
              </p:cNvSpPr>
              <p:nvPr/>
            </p:nvSpPr>
            <p:spPr bwMode="auto">
              <a:xfrm>
                <a:off x="1878" y="462"/>
                <a:ext cx="283"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7" name="Line 91"/>
              <p:cNvSpPr>
                <a:spLocks noChangeShapeType="1"/>
              </p:cNvSpPr>
              <p:nvPr/>
            </p:nvSpPr>
            <p:spPr bwMode="auto">
              <a:xfrm>
                <a:off x="2397" y="786"/>
                <a:ext cx="126" cy="125"/>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8" name="Line 92"/>
              <p:cNvSpPr>
                <a:spLocks noChangeShapeType="1"/>
              </p:cNvSpPr>
              <p:nvPr/>
            </p:nvSpPr>
            <p:spPr bwMode="auto">
              <a:xfrm flipH="1">
                <a:off x="536" y="1170"/>
                <a:ext cx="133" cy="192"/>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9" name="Line 93"/>
              <p:cNvSpPr>
                <a:spLocks noChangeShapeType="1"/>
              </p:cNvSpPr>
              <p:nvPr/>
            </p:nvSpPr>
            <p:spPr bwMode="auto">
              <a:xfrm flipH="1" flipV="1">
                <a:off x="802" y="1170"/>
                <a:ext cx="94" cy="143"/>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0" name="Line 94"/>
              <p:cNvSpPr>
                <a:spLocks noChangeShapeType="1"/>
              </p:cNvSpPr>
              <p:nvPr/>
            </p:nvSpPr>
            <p:spPr bwMode="auto">
              <a:xfrm flipH="1">
                <a:off x="1954" y="786"/>
                <a:ext cx="227" cy="192"/>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1" name="Line 95"/>
              <p:cNvSpPr>
                <a:spLocks noChangeShapeType="1"/>
              </p:cNvSpPr>
              <p:nvPr/>
            </p:nvSpPr>
            <p:spPr bwMode="auto">
              <a:xfrm>
                <a:off x="1289" y="786"/>
                <a:ext cx="179"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2" name="Line 96"/>
              <p:cNvSpPr>
                <a:spLocks noChangeShapeType="1"/>
              </p:cNvSpPr>
              <p:nvPr/>
            </p:nvSpPr>
            <p:spPr bwMode="auto">
              <a:xfrm flipH="1">
                <a:off x="846" y="738"/>
                <a:ext cx="176"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3" name="Line 97"/>
              <p:cNvSpPr>
                <a:spLocks noChangeShapeType="1"/>
              </p:cNvSpPr>
              <p:nvPr/>
            </p:nvSpPr>
            <p:spPr bwMode="auto">
              <a:xfrm flipH="1">
                <a:off x="1333" y="1170"/>
                <a:ext cx="88" cy="143"/>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4" name="Oval 98"/>
              <p:cNvSpPr>
                <a:spLocks noChangeArrowheads="1"/>
              </p:cNvSpPr>
              <p:nvPr/>
            </p:nvSpPr>
            <p:spPr bwMode="auto">
              <a:xfrm>
                <a:off x="1596" y="210"/>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5" name="Oval 99"/>
              <p:cNvSpPr>
                <a:spLocks noChangeArrowheads="1"/>
              </p:cNvSpPr>
              <p:nvPr/>
            </p:nvSpPr>
            <p:spPr bwMode="auto">
              <a:xfrm>
                <a:off x="2125" y="498"/>
                <a:ext cx="350" cy="326"/>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6" name="Oval 100"/>
              <p:cNvSpPr>
                <a:spLocks noChangeArrowheads="1"/>
              </p:cNvSpPr>
              <p:nvPr/>
            </p:nvSpPr>
            <p:spPr bwMode="auto">
              <a:xfrm>
                <a:off x="306" y="1267"/>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7" name="Oval 101"/>
              <p:cNvSpPr>
                <a:spLocks noChangeArrowheads="1"/>
              </p:cNvSpPr>
              <p:nvPr/>
            </p:nvSpPr>
            <p:spPr bwMode="auto">
              <a:xfrm>
                <a:off x="1767" y="882"/>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8" name="Oval 102"/>
              <p:cNvSpPr>
                <a:spLocks noChangeArrowheads="1"/>
              </p:cNvSpPr>
              <p:nvPr/>
            </p:nvSpPr>
            <p:spPr bwMode="auto">
              <a:xfrm>
                <a:off x="750" y="1267"/>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9" name="Oval 103"/>
              <p:cNvSpPr>
                <a:spLocks noChangeArrowheads="1"/>
              </p:cNvSpPr>
              <p:nvPr/>
            </p:nvSpPr>
            <p:spPr bwMode="auto">
              <a:xfrm>
                <a:off x="972" y="499"/>
                <a:ext cx="351" cy="322"/>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70" name="Oval 104"/>
              <p:cNvSpPr>
                <a:spLocks noChangeArrowheads="1"/>
              </p:cNvSpPr>
              <p:nvPr/>
            </p:nvSpPr>
            <p:spPr bwMode="auto">
              <a:xfrm>
                <a:off x="572" y="882"/>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71" name="Oval 105"/>
              <p:cNvSpPr>
                <a:spLocks noChangeArrowheads="1"/>
              </p:cNvSpPr>
              <p:nvPr/>
            </p:nvSpPr>
            <p:spPr bwMode="auto">
              <a:xfrm>
                <a:off x="1325" y="883"/>
                <a:ext cx="351" cy="325"/>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72" name="Oval 106"/>
              <p:cNvSpPr>
                <a:spLocks noChangeArrowheads="1"/>
              </p:cNvSpPr>
              <p:nvPr/>
            </p:nvSpPr>
            <p:spPr bwMode="auto">
              <a:xfrm>
                <a:off x="1150" y="1266"/>
                <a:ext cx="351" cy="325"/>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121897" name="Group 107"/>
            <p:cNvGrpSpPr/>
            <p:nvPr/>
          </p:nvGrpSpPr>
          <p:grpSpPr>
            <a:xfrm>
              <a:off x="293" y="241"/>
              <a:ext cx="2198" cy="1280"/>
              <a:chOff x="388" y="287"/>
              <a:chExt cx="2198" cy="1280"/>
            </a:xfrm>
          </p:grpSpPr>
          <p:sp>
            <p:nvSpPr>
              <p:cNvPr id="104474" name="Text Box 108"/>
              <p:cNvSpPr txBox="1">
                <a:spLocks noChangeArrowheads="1"/>
              </p:cNvSpPr>
              <p:nvPr/>
            </p:nvSpPr>
            <p:spPr bwMode="auto">
              <a:xfrm>
                <a:off x="1718" y="287"/>
                <a:ext cx="494"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16</a:t>
                </a:r>
              </a:p>
            </p:txBody>
          </p:sp>
          <p:sp>
            <p:nvSpPr>
              <p:cNvPr id="104475" name="Text Box 109"/>
              <p:cNvSpPr txBox="1">
                <a:spLocks noChangeArrowheads="1"/>
              </p:cNvSpPr>
              <p:nvPr/>
            </p:nvSpPr>
            <p:spPr bwMode="auto">
              <a:xfrm>
                <a:off x="2220" y="580"/>
                <a:ext cx="366" cy="25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9</a:t>
                </a:r>
              </a:p>
            </p:txBody>
          </p:sp>
          <p:sp>
            <p:nvSpPr>
              <p:cNvPr id="104476" name="Text Box 110"/>
              <p:cNvSpPr txBox="1">
                <a:spLocks noChangeArrowheads="1"/>
              </p:cNvSpPr>
              <p:nvPr/>
            </p:nvSpPr>
            <p:spPr bwMode="auto">
              <a:xfrm>
                <a:off x="388" y="1342"/>
                <a:ext cx="494"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1</a:t>
                </a:r>
              </a:p>
            </p:txBody>
          </p:sp>
          <p:sp>
            <p:nvSpPr>
              <p:cNvPr id="104477" name="Text Box 111"/>
              <p:cNvSpPr txBox="1">
                <a:spLocks noChangeArrowheads="1"/>
              </p:cNvSpPr>
              <p:nvPr/>
            </p:nvSpPr>
            <p:spPr bwMode="auto">
              <a:xfrm>
                <a:off x="1849" y="965"/>
                <a:ext cx="499" cy="22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6</a:t>
                </a:r>
              </a:p>
            </p:txBody>
          </p:sp>
          <p:sp>
            <p:nvSpPr>
              <p:cNvPr id="104478" name="Text Box 112"/>
              <p:cNvSpPr txBox="1">
                <a:spLocks noChangeArrowheads="1"/>
              </p:cNvSpPr>
              <p:nvPr/>
            </p:nvSpPr>
            <p:spPr bwMode="auto">
              <a:xfrm>
                <a:off x="829" y="1342"/>
                <a:ext cx="503"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2</a:t>
                </a:r>
              </a:p>
            </p:txBody>
          </p:sp>
          <p:sp>
            <p:nvSpPr>
              <p:cNvPr id="104479" name="Text Box 113"/>
              <p:cNvSpPr txBox="1">
                <a:spLocks noChangeArrowheads="1"/>
              </p:cNvSpPr>
              <p:nvPr/>
            </p:nvSpPr>
            <p:spPr bwMode="auto">
              <a:xfrm>
                <a:off x="1055" y="568"/>
                <a:ext cx="502"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11</a:t>
                </a:r>
              </a:p>
            </p:txBody>
          </p:sp>
          <p:sp>
            <p:nvSpPr>
              <p:cNvPr id="104480" name="Text Box 114"/>
              <p:cNvSpPr txBox="1">
                <a:spLocks noChangeArrowheads="1"/>
              </p:cNvSpPr>
              <p:nvPr/>
            </p:nvSpPr>
            <p:spPr bwMode="auto">
              <a:xfrm>
                <a:off x="702" y="965"/>
                <a:ext cx="493" cy="22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04481" name="Text Box 115"/>
              <p:cNvSpPr txBox="1">
                <a:spLocks noChangeArrowheads="1"/>
              </p:cNvSpPr>
              <p:nvPr/>
            </p:nvSpPr>
            <p:spPr bwMode="auto">
              <a:xfrm>
                <a:off x="1405" y="980"/>
                <a:ext cx="499"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5</a:t>
                </a:r>
              </a:p>
            </p:txBody>
          </p:sp>
          <p:sp>
            <p:nvSpPr>
              <p:cNvPr id="104482" name="Text Box 116"/>
              <p:cNvSpPr txBox="1">
                <a:spLocks noChangeArrowheads="1"/>
              </p:cNvSpPr>
              <p:nvPr/>
            </p:nvSpPr>
            <p:spPr bwMode="auto">
              <a:xfrm>
                <a:off x="1215" y="1342"/>
                <a:ext cx="504"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4</a:t>
                </a:r>
              </a:p>
            </p:txBody>
          </p:sp>
        </p:grpSp>
      </p:grpSp>
      <p:sp>
        <p:nvSpPr>
          <p:cNvPr id="1023093" name="Rectangle 117"/>
          <p:cNvSpPr>
            <a:spLocks noChangeArrowheads="1"/>
          </p:cNvSpPr>
          <p:nvPr/>
        </p:nvSpPr>
        <p:spPr bwMode="auto">
          <a:xfrm>
            <a:off x="-185737" y="1436688"/>
            <a:ext cx="1978025" cy="523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大根堆</a:t>
            </a:r>
          </a:p>
        </p:txBody>
      </p:sp>
      <p:grpSp>
        <p:nvGrpSpPr>
          <p:cNvPr id="5" name="Group 170"/>
          <p:cNvGrpSpPr/>
          <p:nvPr/>
        </p:nvGrpSpPr>
        <p:grpSpPr>
          <a:xfrm>
            <a:off x="4975225" y="2420938"/>
            <a:ext cx="4089400" cy="2408237"/>
            <a:chOff x="2561" y="843"/>
            <a:chExt cx="2649" cy="1381"/>
          </a:xfrm>
        </p:grpSpPr>
        <p:grpSp>
          <p:nvGrpSpPr>
            <p:cNvPr id="121865" name="Group 171"/>
            <p:cNvGrpSpPr/>
            <p:nvPr/>
          </p:nvGrpSpPr>
          <p:grpSpPr>
            <a:xfrm>
              <a:off x="2561" y="843"/>
              <a:ext cx="2478" cy="1381"/>
              <a:chOff x="306" y="210"/>
              <a:chExt cx="2478" cy="1381"/>
            </a:xfrm>
          </p:grpSpPr>
          <p:sp>
            <p:nvSpPr>
              <p:cNvPr id="104486" name="Line 172"/>
              <p:cNvSpPr>
                <a:spLocks noChangeShapeType="1"/>
              </p:cNvSpPr>
              <p:nvPr/>
            </p:nvSpPr>
            <p:spPr bwMode="auto">
              <a:xfrm flipV="1">
                <a:off x="1348" y="462"/>
                <a:ext cx="289"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87" name="Line 173"/>
              <p:cNvSpPr>
                <a:spLocks noChangeShapeType="1"/>
              </p:cNvSpPr>
              <p:nvPr/>
            </p:nvSpPr>
            <p:spPr bwMode="auto">
              <a:xfrm>
                <a:off x="1878" y="462"/>
                <a:ext cx="283"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88" name="Line 174"/>
              <p:cNvSpPr>
                <a:spLocks noChangeShapeType="1"/>
              </p:cNvSpPr>
              <p:nvPr/>
            </p:nvSpPr>
            <p:spPr bwMode="auto">
              <a:xfrm>
                <a:off x="2402" y="786"/>
                <a:ext cx="178" cy="178"/>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89" name="Line 175"/>
              <p:cNvSpPr>
                <a:spLocks noChangeShapeType="1"/>
              </p:cNvSpPr>
              <p:nvPr/>
            </p:nvSpPr>
            <p:spPr bwMode="auto">
              <a:xfrm flipH="1">
                <a:off x="536" y="1170"/>
                <a:ext cx="133" cy="188"/>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0" name="Line 176"/>
              <p:cNvSpPr>
                <a:spLocks noChangeShapeType="1"/>
              </p:cNvSpPr>
              <p:nvPr/>
            </p:nvSpPr>
            <p:spPr bwMode="auto">
              <a:xfrm flipH="1" flipV="1">
                <a:off x="802" y="1170"/>
                <a:ext cx="88" cy="144"/>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1" name="Line 177"/>
              <p:cNvSpPr>
                <a:spLocks noChangeShapeType="1"/>
              </p:cNvSpPr>
              <p:nvPr/>
            </p:nvSpPr>
            <p:spPr bwMode="auto">
              <a:xfrm flipH="1">
                <a:off x="1954" y="786"/>
                <a:ext cx="228" cy="192"/>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2" name="Line 178"/>
              <p:cNvSpPr>
                <a:spLocks noChangeShapeType="1"/>
              </p:cNvSpPr>
              <p:nvPr/>
            </p:nvSpPr>
            <p:spPr bwMode="auto">
              <a:xfrm>
                <a:off x="1289" y="786"/>
                <a:ext cx="178" cy="178"/>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3" name="Line 179"/>
              <p:cNvSpPr>
                <a:spLocks noChangeShapeType="1"/>
              </p:cNvSpPr>
              <p:nvPr/>
            </p:nvSpPr>
            <p:spPr bwMode="auto">
              <a:xfrm flipH="1">
                <a:off x="846" y="738"/>
                <a:ext cx="176"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4" name="Line 180"/>
              <p:cNvSpPr>
                <a:spLocks noChangeShapeType="1"/>
              </p:cNvSpPr>
              <p:nvPr/>
            </p:nvSpPr>
            <p:spPr bwMode="auto">
              <a:xfrm flipH="1">
                <a:off x="1334" y="1170"/>
                <a:ext cx="83" cy="144"/>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5" name="Oval 181"/>
              <p:cNvSpPr>
                <a:spLocks noChangeArrowheads="1"/>
              </p:cNvSpPr>
              <p:nvPr/>
            </p:nvSpPr>
            <p:spPr bwMode="auto">
              <a:xfrm>
                <a:off x="1600" y="210"/>
                <a:ext cx="353"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6" name="Oval 182"/>
              <p:cNvSpPr>
                <a:spLocks noChangeArrowheads="1"/>
              </p:cNvSpPr>
              <p:nvPr/>
            </p:nvSpPr>
            <p:spPr bwMode="auto">
              <a:xfrm>
                <a:off x="2125" y="498"/>
                <a:ext cx="350" cy="326"/>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7" name="Oval 183"/>
              <p:cNvSpPr>
                <a:spLocks noChangeArrowheads="1"/>
              </p:cNvSpPr>
              <p:nvPr/>
            </p:nvSpPr>
            <p:spPr bwMode="auto">
              <a:xfrm>
                <a:off x="2438" y="882"/>
                <a:ext cx="352"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8" name="Oval 184"/>
              <p:cNvSpPr>
                <a:spLocks noChangeArrowheads="1"/>
              </p:cNvSpPr>
              <p:nvPr/>
            </p:nvSpPr>
            <p:spPr bwMode="auto">
              <a:xfrm>
                <a:off x="306" y="1267"/>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9" name="Oval 185"/>
              <p:cNvSpPr>
                <a:spLocks noChangeArrowheads="1"/>
              </p:cNvSpPr>
              <p:nvPr/>
            </p:nvSpPr>
            <p:spPr bwMode="auto">
              <a:xfrm>
                <a:off x="1767" y="882"/>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0" name="Oval 186"/>
              <p:cNvSpPr>
                <a:spLocks noChangeArrowheads="1"/>
              </p:cNvSpPr>
              <p:nvPr/>
            </p:nvSpPr>
            <p:spPr bwMode="auto">
              <a:xfrm>
                <a:off x="751" y="1267"/>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1" name="Oval 187"/>
              <p:cNvSpPr>
                <a:spLocks noChangeArrowheads="1"/>
              </p:cNvSpPr>
              <p:nvPr/>
            </p:nvSpPr>
            <p:spPr bwMode="auto">
              <a:xfrm>
                <a:off x="972" y="499"/>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2" name="Oval 188"/>
              <p:cNvSpPr>
                <a:spLocks noChangeArrowheads="1"/>
              </p:cNvSpPr>
              <p:nvPr/>
            </p:nvSpPr>
            <p:spPr bwMode="auto">
              <a:xfrm>
                <a:off x="573" y="882"/>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3" name="Oval 189"/>
              <p:cNvSpPr>
                <a:spLocks noChangeArrowheads="1"/>
              </p:cNvSpPr>
              <p:nvPr/>
            </p:nvSpPr>
            <p:spPr bwMode="auto">
              <a:xfrm>
                <a:off x="1325" y="883"/>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4" name="Oval 190"/>
              <p:cNvSpPr>
                <a:spLocks noChangeArrowheads="1"/>
              </p:cNvSpPr>
              <p:nvPr/>
            </p:nvSpPr>
            <p:spPr bwMode="auto">
              <a:xfrm>
                <a:off x="1150" y="1266"/>
                <a:ext cx="351" cy="325"/>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121866" name="Group 191"/>
            <p:cNvGrpSpPr/>
            <p:nvPr/>
          </p:nvGrpSpPr>
          <p:grpSpPr>
            <a:xfrm>
              <a:off x="2567" y="856"/>
              <a:ext cx="2643" cy="1317"/>
              <a:chOff x="334" y="2217"/>
              <a:chExt cx="2643" cy="1317"/>
            </a:xfrm>
          </p:grpSpPr>
          <p:sp>
            <p:nvSpPr>
              <p:cNvPr id="104506" name="Text Box 192"/>
              <p:cNvSpPr txBox="1">
                <a:spLocks noChangeArrowheads="1"/>
              </p:cNvSpPr>
              <p:nvPr/>
            </p:nvSpPr>
            <p:spPr bwMode="auto">
              <a:xfrm>
                <a:off x="1588" y="2217"/>
                <a:ext cx="500"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1</a:t>
                </a:r>
              </a:p>
            </p:txBody>
          </p:sp>
          <p:sp>
            <p:nvSpPr>
              <p:cNvPr id="104507" name="Text Box 193"/>
              <p:cNvSpPr txBox="1">
                <a:spLocks noChangeArrowheads="1"/>
              </p:cNvSpPr>
              <p:nvPr/>
            </p:nvSpPr>
            <p:spPr bwMode="auto">
              <a:xfrm>
                <a:off x="2119" y="2503"/>
                <a:ext cx="496" cy="249"/>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6</a:t>
                </a:r>
              </a:p>
            </p:txBody>
          </p:sp>
          <p:sp>
            <p:nvSpPr>
              <p:cNvPr id="104508" name="Text Box 194"/>
              <p:cNvSpPr txBox="1">
                <a:spLocks noChangeArrowheads="1"/>
              </p:cNvSpPr>
              <p:nvPr/>
            </p:nvSpPr>
            <p:spPr bwMode="auto">
              <a:xfrm>
                <a:off x="2482" y="2905"/>
                <a:ext cx="495"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8</a:t>
                </a:r>
              </a:p>
            </p:txBody>
          </p:sp>
          <p:sp>
            <p:nvSpPr>
              <p:cNvPr id="104509" name="Text Box 195"/>
              <p:cNvSpPr txBox="1">
                <a:spLocks noChangeArrowheads="1"/>
              </p:cNvSpPr>
              <p:nvPr/>
            </p:nvSpPr>
            <p:spPr bwMode="auto">
              <a:xfrm>
                <a:off x="334" y="3286"/>
                <a:ext cx="494"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104510" name="Text Box 196"/>
              <p:cNvSpPr txBox="1">
                <a:spLocks noChangeArrowheads="1"/>
              </p:cNvSpPr>
              <p:nvPr/>
            </p:nvSpPr>
            <p:spPr bwMode="auto">
              <a:xfrm>
                <a:off x="1737" y="2912"/>
                <a:ext cx="498"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9</a:t>
                </a:r>
              </a:p>
            </p:txBody>
          </p:sp>
          <p:sp>
            <p:nvSpPr>
              <p:cNvPr id="104511" name="Text Box 197"/>
              <p:cNvSpPr txBox="1">
                <a:spLocks noChangeArrowheads="1"/>
              </p:cNvSpPr>
              <p:nvPr/>
            </p:nvSpPr>
            <p:spPr bwMode="auto">
              <a:xfrm>
                <a:off x="769" y="3286"/>
                <a:ext cx="497"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16</a:t>
                </a:r>
              </a:p>
            </p:txBody>
          </p:sp>
          <p:sp>
            <p:nvSpPr>
              <p:cNvPr id="104512" name="Text Box 198"/>
              <p:cNvSpPr txBox="1">
                <a:spLocks noChangeArrowheads="1"/>
              </p:cNvSpPr>
              <p:nvPr/>
            </p:nvSpPr>
            <p:spPr bwMode="auto">
              <a:xfrm>
                <a:off x="974" y="2518"/>
                <a:ext cx="501"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2</a:t>
                </a:r>
              </a:p>
            </p:txBody>
          </p:sp>
          <p:sp>
            <p:nvSpPr>
              <p:cNvPr id="104513" name="Text Box 199"/>
              <p:cNvSpPr txBox="1">
                <a:spLocks noChangeArrowheads="1"/>
              </p:cNvSpPr>
              <p:nvPr/>
            </p:nvSpPr>
            <p:spPr bwMode="auto">
              <a:xfrm>
                <a:off x="575" y="2893"/>
                <a:ext cx="499"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11</a:t>
                </a:r>
              </a:p>
            </p:txBody>
          </p:sp>
          <p:sp>
            <p:nvSpPr>
              <p:cNvPr id="104514" name="Text Box 200"/>
              <p:cNvSpPr txBox="1">
                <a:spLocks noChangeArrowheads="1"/>
              </p:cNvSpPr>
              <p:nvPr/>
            </p:nvSpPr>
            <p:spPr bwMode="auto">
              <a:xfrm>
                <a:off x="1333" y="2908"/>
                <a:ext cx="500" cy="249"/>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5</a:t>
                </a:r>
              </a:p>
            </p:txBody>
          </p:sp>
          <p:sp>
            <p:nvSpPr>
              <p:cNvPr id="104515" name="Text Box 201"/>
              <p:cNvSpPr txBox="1">
                <a:spLocks noChangeArrowheads="1"/>
              </p:cNvSpPr>
              <p:nvPr/>
            </p:nvSpPr>
            <p:spPr bwMode="auto">
              <a:xfrm>
                <a:off x="1092" y="3277"/>
                <a:ext cx="498"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14</a:t>
                </a:r>
              </a:p>
            </p:txBody>
          </p:sp>
        </p:grpSp>
      </p:grpSp>
      <p:sp>
        <p:nvSpPr>
          <p:cNvPr id="69" name="Rectangle 7"/>
          <p:cNvSpPr>
            <a:spLocks noChangeArrowheads="1"/>
          </p:cNvSpPr>
          <p:nvPr/>
        </p:nvSpPr>
        <p:spPr bwMode="auto">
          <a:xfrm>
            <a:off x="876300" y="173038"/>
            <a:ext cx="17526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1023093"/>
                                        </p:tgtEl>
                                        <p:attrNameLst>
                                          <p:attrName>style.visibility</p:attrName>
                                        </p:attrNameLst>
                                      </p:cBhvr>
                                      <p:to>
                                        <p:strVal val="visible"/>
                                      </p:to>
                                    </p:set>
                                    <p:animEffect transition="in" filter="fade">
                                      <p:cBhvr>
                                        <p:cTn id="7" dur="770" decel="100000"/>
                                        <p:tgtEl>
                                          <p:spTgt spid="1023093"/>
                                        </p:tgtEl>
                                      </p:cBhvr>
                                    </p:animEffect>
                                    <p:animScale>
                                      <p:cBhvr>
                                        <p:cTn id="8" dur="770" decel="100000"/>
                                        <p:tgtEl>
                                          <p:spTgt spid="1023093"/>
                                        </p:tgtEl>
                                      </p:cBhvr>
                                      <p:from x="10000" y="10000"/>
                                      <p:to x="200000" y="450000"/>
                                    </p:animScale>
                                    <p:animScale>
                                      <p:cBhvr>
                                        <p:cTn id="9" dur="1230" accel="100000" fill="hold">
                                          <p:stCondLst>
                                            <p:cond delay="770"/>
                                          </p:stCondLst>
                                        </p:cTn>
                                        <p:tgtEl>
                                          <p:spTgt spid="1023093"/>
                                        </p:tgtEl>
                                      </p:cBhvr>
                                      <p:from x="200000" y="450000"/>
                                      <p:to x="100000" y="100000"/>
                                    </p:animScale>
                                    <p:set>
                                      <p:cBhvr>
                                        <p:cTn id="10" dur="770" fill="hold"/>
                                        <p:tgtEl>
                                          <p:spTgt spid="1023093"/>
                                        </p:tgtEl>
                                        <p:attrNameLst>
                                          <p:attrName>ppt_x</p:attrName>
                                        </p:attrNameLst>
                                      </p:cBhvr>
                                      <p:to>
                                        <p:strVal val="(0.5)"/>
                                      </p:to>
                                    </p:set>
                                    <p:anim from="(0.5)" to="(#ppt_x)" calcmode="lin" valueType="num">
                                      <p:cBhvr>
                                        <p:cTn id="11" dur="1230" accel="100000" fill="hold">
                                          <p:stCondLst>
                                            <p:cond delay="770"/>
                                          </p:stCondLst>
                                        </p:cTn>
                                        <p:tgtEl>
                                          <p:spTgt spid="1023093"/>
                                        </p:tgtEl>
                                        <p:attrNameLst>
                                          <p:attrName>ppt_x</p:attrName>
                                        </p:attrNameLst>
                                      </p:cBhvr>
                                    </p:anim>
                                    <p:set>
                                      <p:cBhvr>
                                        <p:cTn id="12" dur="770" fill="hold"/>
                                        <p:tgtEl>
                                          <p:spTgt spid="1023093"/>
                                        </p:tgtEl>
                                        <p:attrNameLst>
                                          <p:attrName>ppt_y</p:attrName>
                                        </p:attrNameLst>
                                      </p:cBhvr>
                                      <p:to>
                                        <p:strVal val="(#ppt_y+0.4)"/>
                                      </p:to>
                                    </p:set>
                                    <p:anim from="(#ppt_y+0.4)" to="(#ppt_y)" calcmode="lin" valueType="num">
                                      <p:cBhvr>
                                        <p:cTn id="13" dur="1230" accel="100000" fill="hold">
                                          <p:stCondLst>
                                            <p:cond delay="770"/>
                                          </p:stCondLst>
                                        </p:cTn>
                                        <p:tgtEl>
                                          <p:spTgt spid="1023093"/>
                                        </p:tgtEl>
                                        <p:attrNameLst>
                                          <p:attrName>ppt_y</p:attrName>
                                        </p:attrNameLst>
                                      </p:cBhvr>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2"/>
                                        </p:tgtEl>
                                        <p:attrNameLst>
                                          <p:attrName>style.visibility</p:attrName>
                                        </p:attrNameLst>
                                      </p:cBhvr>
                                      <p:to>
                                        <p:strVal val="visible"/>
                                      </p:to>
                                    </p:set>
                                    <p:anim calcmode="lin" valueType="num">
                                      <p:cBhvr additive="base">
                                        <p:cTn id="18" dur="500" fill="hold"/>
                                        <p:tgtEl>
                                          <p:spTgt spid="2"/>
                                        </p:tgtEl>
                                        <p:attrNameLst>
                                          <p:attrName>ppt_x</p:attrName>
                                        </p:attrNameLst>
                                      </p:cBhvr>
                                      <p:tavLst>
                                        <p:tav tm="0">
                                          <p:val>
                                            <p:strVal val="#ppt_x"/>
                                          </p:val>
                                        </p:tav>
                                        <p:tav tm="100000">
                                          <p:val>
                                            <p:strVal val="#ppt_x"/>
                                          </p:val>
                                        </p:tav>
                                      </p:tavLst>
                                    </p:anim>
                                    <p:anim calcmode="lin" valueType="num">
                                      <p:cBhvr additive="base">
                                        <p:cTn id="19"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54" presetClass="entr" presetSubtype="0" accel="100000"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 calcmode="lin" valueType="num">
                                      <p:cBhvr>
                                        <p:cTn id="24" dur="500" fill="hold"/>
                                        <p:tgtEl>
                                          <p:spTgt spid="5"/>
                                        </p:tgtEl>
                                        <p:attrNameLst>
                                          <p:attrName>ppt_w</p:attrName>
                                        </p:attrNameLst>
                                      </p:cBhvr>
                                      <p:tavLst>
                                        <p:tav tm="0">
                                          <p:val>
                                            <p:strVal val="#ppt_w*0.05"/>
                                          </p:val>
                                        </p:tav>
                                        <p:tav tm="100000">
                                          <p:val>
                                            <p:strVal val="#ppt_w"/>
                                          </p:val>
                                        </p:tav>
                                      </p:tavLst>
                                    </p:anim>
                                    <p:anim calcmode="lin" valueType="num">
                                      <p:cBhvr>
                                        <p:cTn id="25" dur="500" fill="hold"/>
                                        <p:tgtEl>
                                          <p:spTgt spid="5"/>
                                        </p:tgtEl>
                                        <p:attrNameLst>
                                          <p:attrName>ppt_h</p:attrName>
                                        </p:attrNameLst>
                                      </p:cBhvr>
                                      <p:tavLst>
                                        <p:tav tm="0">
                                          <p:val>
                                            <p:strVal val="#ppt_h"/>
                                          </p:val>
                                        </p:tav>
                                        <p:tav tm="100000">
                                          <p:val>
                                            <p:strVal val="#ppt_h"/>
                                          </p:val>
                                        </p:tav>
                                      </p:tavLst>
                                    </p:anim>
                                    <p:anim calcmode="lin" valueType="num">
                                      <p:cBhvr>
                                        <p:cTn id="26" dur="500" fill="hold"/>
                                        <p:tgtEl>
                                          <p:spTgt spid="5"/>
                                        </p:tgtEl>
                                        <p:attrNameLst>
                                          <p:attrName>ppt_x</p:attrName>
                                        </p:attrNameLst>
                                      </p:cBhvr>
                                      <p:tavLst>
                                        <p:tav tm="0">
                                          <p:val>
                                            <p:strVal val="#ppt_x-.2"/>
                                          </p:val>
                                        </p:tav>
                                        <p:tav tm="100000">
                                          <p:val>
                                            <p:strVal val="#ppt_x"/>
                                          </p:val>
                                        </p:tav>
                                      </p:tavLst>
                                    </p:anim>
                                    <p:anim calcmode="lin" valueType="num">
                                      <p:cBhvr>
                                        <p:cTn id="27" dur="500" fill="hold"/>
                                        <p:tgtEl>
                                          <p:spTgt spid="5"/>
                                        </p:tgtEl>
                                        <p:attrNameLst>
                                          <p:attrName>ppt_y</p:attrName>
                                        </p:attrNameLst>
                                      </p:cBhvr>
                                      <p:tavLst>
                                        <p:tav tm="0">
                                          <p:val>
                                            <p:strVal val="#ppt_y"/>
                                          </p:val>
                                        </p:tav>
                                        <p:tav tm="100000">
                                          <p:val>
                                            <p:strVal val="#ppt_y"/>
                                          </p:val>
                                        </p:tav>
                                      </p:tavLst>
                                    </p:anim>
                                    <p:animEffect transition="in" filter="fade">
                                      <p:cBhvr>
                                        <p:cTn id="28" dur="500"/>
                                        <p:tgtEl>
                                          <p:spTgt spid="5"/>
                                        </p:tgtEl>
                                      </p:cBhvr>
                                    </p:animEffect>
                                  </p:childTnLst>
                                </p:cTn>
                              </p:par>
                            </p:childTnLst>
                          </p:cTn>
                        </p:par>
                      </p:childTnLst>
                    </p:cTn>
                  </p:par>
                  <p:par>
                    <p:cTn id="29" fill="hold">
                      <p:stCondLst>
                        <p:cond delay="indefinite"/>
                      </p:stCondLst>
                      <p:childTnLst>
                        <p:par>
                          <p:cTn id="30" fill="hold">
                            <p:stCondLst>
                              <p:cond delay="0"/>
                            </p:stCondLst>
                            <p:childTnLst>
                              <p:par>
                                <p:cTn id="31" presetID="51" presetClass="entr" presetSubtype="0" fill="hold" grpId="0" nodeType="clickEffect">
                                  <p:stCondLst>
                                    <p:cond delay="0"/>
                                  </p:stCondLst>
                                  <p:childTnLst>
                                    <p:set>
                                      <p:cBhvr>
                                        <p:cTn id="32" dur="1" fill="hold">
                                          <p:stCondLst>
                                            <p:cond delay="0"/>
                                          </p:stCondLst>
                                        </p:cTn>
                                        <p:tgtEl>
                                          <p:spTgt spid="1023060"/>
                                        </p:tgtEl>
                                        <p:attrNameLst>
                                          <p:attrName>style.visibility</p:attrName>
                                        </p:attrNameLst>
                                      </p:cBhvr>
                                      <p:to>
                                        <p:strVal val="visible"/>
                                      </p:to>
                                    </p:set>
                                    <p:animEffect transition="in" filter="fade">
                                      <p:cBhvr>
                                        <p:cTn id="33" dur="770" decel="100000"/>
                                        <p:tgtEl>
                                          <p:spTgt spid="1023060"/>
                                        </p:tgtEl>
                                      </p:cBhvr>
                                    </p:animEffect>
                                    <p:animScale>
                                      <p:cBhvr>
                                        <p:cTn id="34" dur="770" decel="100000"/>
                                        <p:tgtEl>
                                          <p:spTgt spid="1023060"/>
                                        </p:tgtEl>
                                      </p:cBhvr>
                                      <p:from x="10000" y="10000"/>
                                      <p:to x="200000" y="450000"/>
                                    </p:animScale>
                                    <p:animScale>
                                      <p:cBhvr>
                                        <p:cTn id="35" dur="1230" accel="100000" fill="hold">
                                          <p:stCondLst>
                                            <p:cond delay="770"/>
                                          </p:stCondLst>
                                        </p:cTn>
                                        <p:tgtEl>
                                          <p:spTgt spid="1023060"/>
                                        </p:tgtEl>
                                      </p:cBhvr>
                                      <p:from x="200000" y="450000"/>
                                      <p:to x="100000" y="100000"/>
                                    </p:animScale>
                                    <p:set>
                                      <p:cBhvr>
                                        <p:cTn id="36" dur="770" fill="hold"/>
                                        <p:tgtEl>
                                          <p:spTgt spid="1023060"/>
                                        </p:tgtEl>
                                        <p:attrNameLst>
                                          <p:attrName>ppt_x</p:attrName>
                                        </p:attrNameLst>
                                      </p:cBhvr>
                                      <p:to>
                                        <p:strVal val="(0.5)"/>
                                      </p:to>
                                    </p:set>
                                    <p:anim from="(0.5)" to="(#ppt_x)" calcmode="lin" valueType="num">
                                      <p:cBhvr>
                                        <p:cTn id="37" dur="1230" accel="100000" fill="hold">
                                          <p:stCondLst>
                                            <p:cond delay="770"/>
                                          </p:stCondLst>
                                        </p:cTn>
                                        <p:tgtEl>
                                          <p:spTgt spid="1023060"/>
                                        </p:tgtEl>
                                        <p:attrNameLst>
                                          <p:attrName>ppt_x</p:attrName>
                                        </p:attrNameLst>
                                      </p:cBhvr>
                                    </p:anim>
                                    <p:set>
                                      <p:cBhvr>
                                        <p:cTn id="38" dur="770" fill="hold"/>
                                        <p:tgtEl>
                                          <p:spTgt spid="1023060"/>
                                        </p:tgtEl>
                                        <p:attrNameLst>
                                          <p:attrName>ppt_y</p:attrName>
                                        </p:attrNameLst>
                                      </p:cBhvr>
                                      <p:to>
                                        <p:strVal val="(#ppt_y+0.4)"/>
                                      </p:to>
                                    </p:set>
                                    <p:anim from="(#ppt_y+0.4)" to="(#ppt_y)" calcmode="lin" valueType="num">
                                      <p:cBhvr>
                                        <p:cTn id="39" dur="1230" accel="100000" fill="hold">
                                          <p:stCondLst>
                                            <p:cond delay="770"/>
                                          </p:stCondLst>
                                        </p:cTn>
                                        <p:tgtEl>
                                          <p:spTgt spid="1023060"/>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23060" grpId="0"/>
      <p:bldP spid="1023093"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矩形 70"/>
          <p:cNvSpPr/>
          <p:nvPr/>
        </p:nvSpPr>
        <p:spPr>
          <a:xfrm>
            <a:off x="15875" y="2076450"/>
            <a:ext cx="9128125" cy="3176588"/>
          </a:xfrm>
          <a:prstGeom prst="rect">
            <a:avLst/>
          </a:prstGeom>
          <a:solidFill>
            <a:srgbClr val="EAEAEA"/>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pSp>
        <p:nvGrpSpPr>
          <p:cNvPr id="122883" name="Group 85"/>
          <p:cNvGrpSpPr/>
          <p:nvPr/>
        </p:nvGrpSpPr>
        <p:grpSpPr>
          <a:xfrm>
            <a:off x="58738" y="2443163"/>
            <a:ext cx="4325937" cy="2522537"/>
            <a:chOff x="238" y="210"/>
            <a:chExt cx="2712" cy="1381"/>
          </a:xfrm>
        </p:grpSpPr>
        <p:grpSp>
          <p:nvGrpSpPr>
            <p:cNvPr id="122918" name="Group 86"/>
            <p:cNvGrpSpPr/>
            <p:nvPr/>
          </p:nvGrpSpPr>
          <p:grpSpPr>
            <a:xfrm>
              <a:off x="306" y="210"/>
              <a:ext cx="2644" cy="1381"/>
              <a:chOff x="306" y="210"/>
              <a:chExt cx="2644" cy="1381"/>
            </a:xfrm>
          </p:grpSpPr>
          <p:sp>
            <p:nvSpPr>
              <p:cNvPr id="104453" name="Oval 87"/>
              <p:cNvSpPr>
                <a:spLocks noChangeArrowheads="1"/>
              </p:cNvSpPr>
              <p:nvPr/>
            </p:nvSpPr>
            <p:spPr bwMode="auto">
              <a:xfrm>
                <a:off x="2428" y="882"/>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4" name="Text Box 88"/>
              <p:cNvSpPr txBox="1">
                <a:spLocks noChangeArrowheads="1"/>
              </p:cNvSpPr>
              <p:nvPr/>
            </p:nvSpPr>
            <p:spPr bwMode="auto">
              <a:xfrm>
                <a:off x="2455" y="908"/>
                <a:ext cx="495"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8</a:t>
                </a:r>
              </a:p>
            </p:txBody>
          </p:sp>
          <p:sp>
            <p:nvSpPr>
              <p:cNvPr id="104455" name="Line 89"/>
              <p:cNvSpPr>
                <a:spLocks noChangeShapeType="1"/>
              </p:cNvSpPr>
              <p:nvPr/>
            </p:nvSpPr>
            <p:spPr bwMode="auto">
              <a:xfrm flipV="1">
                <a:off x="1347" y="462"/>
                <a:ext cx="290"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6" name="Line 90"/>
              <p:cNvSpPr>
                <a:spLocks noChangeShapeType="1"/>
              </p:cNvSpPr>
              <p:nvPr/>
            </p:nvSpPr>
            <p:spPr bwMode="auto">
              <a:xfrm>
                <a:off x="1878" y="462"/>
                <a:ext cx="283"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7" name="Line 91"/>
              <p:cNvSpPr>
                <a:spLocks noChangeShapeType="1"/>
              </p:cNvSpPr>
              <p:nvPr/>
            </p:nvSpPr>
            <p:spPr bwMode="auto">
              <a:xfrm>
                <a:off x="2397" y="786"/>
                <a:ext cx="126" cy="125"/>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8" name="Line 92"/>
              <p:cNvSpPr>
                <a:spLocks noChangeShapeType="1"/>
              </p:cNvSpPr>
              <p:nvPr/>
            </p:nvSpPr>
            <p:spPr bwMode="auto">
              <a:xfrm flipH="1">
                <a:off x="536" y="1170"/>
                <a:ext cx="133" cy="192"/>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59" name="Line 93"/>
              <p:cNvSpPr>
                <a:spLocks noChangeShapeType="1"/>
              </p:cNvSpPr>
              <p:nvPr/>
            </p:nvSpPr>
            <p:spPr bwMode="auto">
              <a:xfrm flipH="1" flipV="1">
                <a:off x="796" y="1170"/>
                <a:ext cx="94" cy="143"/>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0" name="Line 94"/>
              <p:cNvSpPr>
                <a:spLocks noChangeShapeType="1"/>
              </p:cNvSpPr>
              <p:nvPr/>
            </p:nvSpPr>
            <p:spPr bwMode="auto">
              <a:xfrm flipH="1">
                <a:off x="1954" y="786"/>
                <a:ext cx="227" cy="192"/>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1" name="Line 95"/>
              <p:cNvSpPr>
                <a:spLocks noChangeShapeType="1"/>
              </p:cNvSpPr>
              <p:nvPr/>
            </p:nvSpPr>
            <p:spPr bwMode="auto">
              <a:xfrm>
                <a:off x="1289" y="786"/>
                <a:ext cx="179"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2" name="Line 96"/>
              <p:cNvSpPr>
                <a:spLocks noChangeShapeType="1"/>
              </p:cNvSpPr>
              <p:nvPr/>
            </p:nvSpPr>
            <p:spPr bwMode="auto">
              <a:xfrm flipH="1">
                <a:off x="846" y="738"/>
                <a:ext cx="176"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3" name="Line 97"/>
              <p:cNvSpPr>
                <a:spLocks noChangeShapeType="1"/>
              </p:cNvSpPr>
              <p:nvPr/>
            </p:nvSpPr>
            <p:spPr bwMode="auto">
              <a:xfrm flipH="1">
                <a:off x="1333" y="1170"/>
                <a:ext cx="88" cy="143"/>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4" name="Oval 98"/>
              <p:cNvSpPr>
                <a:spLocks noChangeArrowheads="1"/>
              </p:cNvSpPr>
              <p:nvPr/>
            </p:nvSpPr>
            <p:spPr bwMode="auto">
              <a:xfrm>
                <a:off x="1594" y="210"/>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5" name="Oval 99"/>
              <p:cNvSpPr>
                <a:spLocks noChangeArrowheads="1"/>
              </p:cNvSpPr>
              <p:nvPr/>
            </p:nvSpPr>
            <p:spPr bwMode="auto">
              <a:xfrm>
                <a:off x="2125" y="498"/>
                <a:ext cx="350" cy="326"/>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6" name="Oval 100"/>
              <p:cNvSpPr>
                <a:spLocks noChangeArrowheads="1"/>
              </p:cNvSpPr>
              <p:nvPr/>
            </p:nvSpPr>
            <p:spPr bwMode="auto">
              <a:xfrm>
                <a:off x="306" y="1267"/>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7" name="Oval 101"/>
              <p:cNvSpPr>
                <a:spLocks noChangeArrowheads="1"/>
              </p:cNvSpPr>
              <p:nvPr/>
            </p:nvSpPr>
            <p:spPr bwMode="auto">
              <a:xfrm>
                <a:off x="1767" y="882"/>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8" name="Oval 102"/>
              <p:cNvSpPr>
                <a:spLocks noChangeArrowheads="1"/>
              </p:cNvSpPr>
              <p:nvPr/>
            </p:nvSpPr>
            <p:spPr bwMode="auto">
              <a:xfrm>
                <a:off x="750" y="1267"/>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69" name="Oval 103"/>
              <p:cNvSpPr>
                <a:spLocks noChangeArrowheads="1"/>
              </p:cNvSpPr>
              <p:nvPr/>
            </p:nvSpPr>
            <p:spPr bwMode="auto">
              <a:xfrm>
                <a:off x="968" y="499"/>
                <a:ext cx="351" cy="322"/>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70" name="Oval 104"/>
              <p:cNvSpPr>
                <a:spLocks noChangeArrowheads="1"/>
              </p:cNvSpPr>
              <p:nvPr/>
            </p:nvSpPr>
            <p:spPr bwMode="auto">
              <a:xfrm>
                <a:off x="566" y="882"/>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71" name="Oval 105"/>
              <p:cNvSpPr>
                <a:spLocks noChangeArrowheads="1"/>
              </p:cNvSpPr>
              <p:nvPr/>
            </p:nvSpPr>
            <p:spPr bwMode="auto">
              <a:xfrm>
                <a:off x="1325" y="883"/>
                <a:ext cx="351" cy="325"/>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72" name="Oval 106"/>
              <p:cNvSpPr>
                <a:spLocks noChangeArrowheads="1"/>
              </p:cNvSpPr>
              <p:nvPr/>
            </p:nvSpPr>
            <p:spPr bwMode="auto">
              <a:xfrm>
                <a:off x="1150" y="1266"/>
                <a:ext cx="351" cy="325"/>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122919" name="Group 107"/>
            <p:cNvGrpSpPr/>
            <p:nvPr/>
          </p:nvGrpSpPr>
          <p:grpSpPr>
            <a:xfrm>
              <a:off x="238" y="241"/>
              <a:ext cx="2253" cy="1315"/>
              <a:chOff x="333" y="287"/>
              <a:chExt cx="2253" cy="1315"/>
            </a:xfrm>
          </p:grpSpPr>
          <p:sp>
            <p:nvSpPr>
              <p:cNvPr id="104474" name="Text Box 108"/>
              <p:cNvSpPr txBox="1">
                <a:spLocks noChangeArrowheads="1"/>
              </p:cNvSpPr>
              <p:nvPr/>
            </p:nvSpPr>
            <p:spPr bwMode="auto">
              <a:xfrm>
                <a:off x="1718" y="287"/>
                <a:ext cx="494"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16</a:t>
                </a:r>
              </a:p>
            </p:txBody>
          </p:sp>
          <p:sp>
            <p:nvSpPr>
              <p:cNvPr id="104475" name="Text Box 109"/>
              <p:cNvSpPr txBox="1">
                <a:spLocks noChangeArrowheads="1"/>
              </p:cNvSpPr>
              <p:nvPr/>
            </p:nvSpPr>
            <p:spPr bwMode="auto">
              <a:xfrm>
                <a:off x="2220" y="580"/>
                <a:ext cx="366" cy="25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9</a:t>
                </a:r>
              </a:p>
            </p:txBody>
          </p:sp>
          <p:sp>
            <p:nvSpPr>
              <p:cNvPr id="104476" name="Text Box 110"/>
              <p:cNvSpPr txBox="1">
                <a:spLocks noChangeArrowheads="1"/>
              </p:cNvSpPr>
              <p:nvPr/>
            </p:nvSpPr>
            <p:spPr bwMode="auto">
              <a:xfrm>
                <a:off x="333" y="1349"/>
                <a:ext cx="407" cy="25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10</a:t>
                </a:r>
              </a:p>
            </p:txBody>
          </p:sp>
          <p:sp>
            <p:nvSpPr>
              <p:cNvPr id="104477" name="Text Box 111"/>
              <p:cNvSpPr txBox="1">
                <a:spLocks noChangeArrowheads="1"/>
              </p:cNvSpPr>
              <p:nvPr/>
            </p:nvSpPr>
            <p:spPr bwMode="auto">
              <a:xfrm>
                <a:off x="1849" y="965"/>
                <a:ext cx="499"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6</a:t>
                </a:r>
              </a:p>
            </p:txBody>
          </p:sp>
          <p:sp>
            <p:nvSpPr>
              <p:cNvPr id="104478" name="Text Box 112"/>
              <p:cNvSpPr txBox="1">
                <a:spLocks noChangeArrowheads="1"/>
              </p:cNvSpPr>
              <p:nvPr/>
            </p:nvSpPr>
            <p:spPr bwMode="auto">
              <a:xfrm>
                <a:off x="829" y="1342"/>
                <a:ext cx="503"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2</a:t>
                </a:r>
              </a:p>
            </p:txBody>
          </p:sp>
          <p:sp>
            <p:nvSpPr>
              <p:cNvPr id="104479" name="Text Box 113"/>
              <p:cNvSpPr txBox="1">
                <a:spLocks noChangeArrowheads="1"/>
              </p:cNvSpPr>
              <p:nvPr/>
            </p:nvSpPr>
            <p:spPr bwMode="auto">
              <a:xfrm>
                <a:off x="1061" y="568"/>
                <a:ext cx="496"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11</a:t>
                </a:r>
              </a:p>
            </p:txBody>
          </p:sp>
          <p:sp>
            <p:nvSpPr>
              <p:cNvPr id="104480" name="Text Box 114"/>
              <p:cNvSpPr txBox="1">
                <a:spLocks noChangeArrowheads="1"/>
              </p:cNvSpPr>
              <p:nvPr/>
            </p:nvSpPr>
            <p:spPr bwMode="auto">
              <a:xfrm>
                <a:off x="742" y="965"/>
                <a:ext cx="279" cy="25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a:t>
                </a:r>
              </a:p>
            </p:txBody>
          </p:sp>
          <p:sp>
            <p:nvSpPr>
              <p:cNvPr id="104481" name="Text Box 115"/>
              <p:cNvSpPr txBox="1">
                <a:spLocks noChangeArrowheads="1"/>
              </p:cNvSpPr>
              <p:nvPr/>
            </p:nvSpPr>
            <p:spPr bwMode="auto">
              <a:xfrm>
                <a:off x="1405" y="980"/>
                <a:ext cx="499"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5</a:t>
                </a:r>
              </a:p>
            </p:txBody>
          </p:sp>
          <p:sp>
            <p:nvSpPr>
              <p:cNvPr id="104482" name="Text Box 116"/>
              <p:cNvSpPr txBox="1">
                <a:spLocks noChangeArrowheads="1"/>
              </p:cNvSpPr>
              <p:nvPr/>
            </p:nvSpPr>
            <p:spPr bwMode="auto">
              <a:xfrm>
                <a:off x="1215" y="1342"/>
                <a:ext cx="504" cy="2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4</a:t>
                </a:r>
              </a:p>
            </p:txBody>
          </p:sp>
        </p:grpSp>
      </p:grpSp>
      <p:grpSp>
        <p:nvGrpSpPr>
          <p:cNvPr id="122884" name="Group 170"/>
          <p:cNvGrpSpPr/>
          <p:nvPr/>
        </p:nvGrpSpPr>
        <p:grpSpPr>
          <a:xfrm>
            <a:off x="4975225" y="2420938"/>
            <a:ext cx="4089400" cy="2408237"/>
            <a:chOff x="2561" y="843"/>
            <a:chExt cx="2649" cy="1381"/>
          </a:xfrm>
        </p:grpSpPr>
        <p:grpSp>
          <p:nvGrpSpPr>
            <p:cNvPr id="122887" name="Group 171"/>
            <p:cNvGrpSpPr/>
            <p:nvPr/>
          </p:nvGrpSpPr>
          <p:grpSpPr>
            <a:xfrm>
              <a:off x="2561" y="843"/>
              <a:ext cx="2478" cy="1381"/>
              <a:chOff x="306" y="210"/>
              <a:chExt cx="2478" cy="1381"/>
            </a:xfrm>
          </p:grpSpPr>
          <p:sp>
            <p:nvSpPr>
              <p:cNvPr id="104486" name="Line 172"/>
              <p:cNvSpPr>
                <a:spLocks noChangeShapeType="1"/>
              </p:cNvSpPr>
              <p:nvPr/>
            </p:nvSpPr>
            <p:spPr bwMode="auto">
              <a:xfrm flipV="1">
                <a:off x="1348" y="462"/>
                <a:ext cx="289"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87" name="Line 173"/>
              <p:cNvSpPr>
                <a:spLocks noChangeShapeType="1"/>
              </p:cNvSpPr>
              <p:nvPr/>
            </p:nvSpPr>
            <p:spPr bwMode="auto">
              <a:xfrm>
                <a:off x="1878" y="462"/>
                <a:ext cx="283"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88" name="Line 174"/>
              <p:cNvSpPr>
                <a:spLocks noChangeShapeType="1"/>
              </p:cNvSpPr>
              <p:nvPr/>
            </p:nvSpPr>
            <p:spPr bwMode="auto">
              <a:xfrm>
                <a:off x="2402" y="786"/>
                <a:ext cx="178" cy="178"/>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89" name="Line 175"/>
              <p:cNvSpPr>
                <a:spLocks noChangeShapeType="1"/>
              </p:cNvSpPr>
              <p:nvPr/>
            </p:nvSpPr>
            <p:spPr bwMode="auto">
              <a:xfrm flipH="1">
                <a:off x="536" y="1170"/>
                <a:ext cx="133" cy="188"/>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0" name="Line 176"/>
              <p:cNvSpPr>
                <a:spLocks noChangeShapeType="1"/>
              </p:cNvSpPr>
              <p:nvPr/>
            </p:nvSpPr>
            <p:spPr bwMode="auto">
              <a:xfrm flipH="1" flipV="1">
                <a:off x="802" y="1170"/>
                <a:ext cx="88" cy="144"/>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1" name="Line 177"/>
              <p:cNvSpPr>
                <a:spLocks noChangeShapeType="1"/>
              </p:cNvSpPr>
              <p:nvPr/>
            </p:nvSpPr>
            <p:spPr bwMode="auto">
              <a:xfrm flipH="1">
                <a:off x="1954" y="786"/>
                <a:ext cx="228" cy="192"/>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2" name="Line 178"/>
              <p:cNvSpPr>
                <a:spLocks noChangeShapeType="1"/>
              </p:cNvSpPr>
              <p:nvPr/>
            </p:nvSpPr>
            <p:spPr bwMode="auto">
              <a:xfrm>
                <a:off x="1289" y="786"/>
                <a:ext cx="178" cy="178"/>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3" name="Line 179"/>
              <p:cNvSpPr>
                <a:spLocks noChangeShapeType="1"/>
              </p:cNvSpPr>
              <p:nvPr/>
            </p:nvSpPr>
            <p:spPr bwMode="auto">
              <a:xfrm flipH="1">
                <a:off x="846" y="738"/>
                <a:ext cx="176" cy="18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4" name="Line 180"/>
              <p:cNvSpPr>
                <a:spLocks noChangeShapeType="1"/>
              </p:cNvSpPr>
              <p:nvPr/>
            </p:nvSpPr>
            <p:spPr bwMode="auto">
              <a:xfrm flipH="1">
                <a:off x="1334" y="1170"/>
                <a:ext cx="83" cy="144"/>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5" name="Oval 181"/>
              <p:cNvSpPr>
                <a:spLocks noChangeArrowheads="1"/>
              </p:cNvSpPr>
              <p:nvPr/>
            </p:nvSpPr>
            <p:spPr bwMode="auto">
              <a:xfrm>
                <a:off x="1600" y="210"/>
                <a:ext cx="353"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6" name="Oval 182"/>
              <p:cNvSpPr>
                <a:spLocks noChangeArrowheads="1"/>
              </p:cNvSpPr>
              <p:nvPr/>
            </p:nvSpPr>
            <p:spPr bwMode="auto">
              <a:xfrm>
                <a:off x="2125" y="498"/>
                <a:ext cx="350" cy="326"/>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7" name="Oval 183"/>
              <p:cNvSpPr>
                <a:spLocks noChangeArrowheads="1"/>
              </p:cNvSpPr>
              <p:nvPr/>
            </p:nvSpPr>
            <p:spPr bwMode="auto">
              <a:xfrm>
                <a:off x="2438" y="882"/>
                <a:ext cx="352"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8" name="Oval 184"/>
              <p:cNvSpPr>
                <a:spLocks noChangeArrowheads="1"/>
              </p:cNvSpPr>
              <p:nvPr/>
            </p:nvSpPr>
            <p:spPr bwMode="auto">
              <a:xfrm>
                <a:off x="306" y="1267"/>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499" name="Oval 185"/>
              <p:cNvSpPr>
                <a:spLocks noChangeArrowheads="1"/>
              </p:cNvSpPr>
              <p:nvPr/>
            </p:nvSpPr>
            <p:spPr bwMode="auto">
              <a:xfrm>
                <a:off x="1767" y="882"/>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0" name="Oval 186"/>
              <p:cNvSpPr>
                <a:spLocks noChangeArrowheads="1"/>
              </p:cNvSpPr>
              <p:nvPr/>
            </p:nvSpPr>
            <p:spPr bwMode="auto">
              <a:xfrm>
                <a:off x="751" y="1267"/>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1" name="Oval 187"/>
              <p:cNvSpPr>
                <a:spLocks noChangeArrowheads="1"/>
              </p:cNvSpPr>
              <p:nvPr/>
            </p:nvSpPr>
            <p:spPr bwMode="auto">
              <a:xfrm>
                <a:off x="972" y="499"/>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2" name="Oval 188"/>
              <p:cNvSpPr>
                <a:spLocks noChangeArrowheads="1"/>
              </p:cNvSpPr>
              <p:nvPr/>
            </p:nvSpPr>
            <p:spPr bwMode="auto">
              <a:xfrm>
                <a:off x="573" y="882"/>
                <a:ext cx="350"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3" name="Oval 189"/>
              <p:cNvSpPr>
                <a:spLocks noChangeArrowheads="1"/>
              </p:cNvSpPr>
              <p:nvPr/>
            </p:nvSpPr>
            <p:spPr bwMode="auto">
              <a:xfrm>
                <a:off x="1325" y="883"/>
                <a:ext cx="351" cy="324"/>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4504" name="Oval 190"/>
              <p:cNvSpPr>
                <a:spLocks noChangeArrowheads="1"/>
              </p:cNvSpPr>
              <p:nvPr/>
            </p:nvSpPr>
            <p:spPr bwMode="auto">
              <a:xfrm>
                <a:off x="1150" y="1266"/>
                <a:ext cx="351" cy="325"/>
              </a:xfrm>
              <a:prstGeom prst="ellipse">
                <a:avLst/>
              </a:prstGeom>
              <a:solidFill>
                <a:schemeClr val="accent1">
                  <a:lumMod val="60000"/>
                  <a:lumOff val="40000"/>
                </a:schemeClr>
              </a:solidFill>
              <a:ln w="12700" cap="rnd">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122888" name="Group 191"/>
            <p:cNvGrpSpPr/>
            <p:nvPr/>
          </p:nvGrpSpPr>
          <p:grpSpPr>
            <a:xfrm>
              <a:off x="2567" y="856"/>
              <a:ext cx="2643" cy="1334"/>
              <a:chOff x="334" y="2217"/>
              <a:chExt cx="2643" cy="1334"/>
            </a:xfrm>
          </p:grpSpPr>
          <p:sp>
            <p:nvSpPr>
              <p:cNvPr id="104506" name="Text Box 192"/>
              <p:cNvSpPr txBox="1">
                <a:spLocks noChangeArrowheads="1"/>
              </p:cNvSpPr>
              <p:nvPr/>
            </p:nvSpPr>
            <p:spPr bwMode="auto">
              <a:xfrm>
                <a:off x="1588" y="2217"/>
                <a:ext cx="500" cy="249"/>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1</a:t>
                </a:r>
              </a:p>
            </p:txBody>
          </p:sp>
          <p:sp>
            <p:nvSpPr>
              <p:cNvPr id="104507" name="Text Box 193"/>
              <p:cNvSpPr txBox="1">
                <a:spLocks noChangeArrowheads="1"/>
              </p:cNvSpPr>
              <p:nvPr/>
            </p:nvSpPr>
            <p:spPr bwMode="auto">
              <a:xfrm>
                <a:off x="2119" y="2503"/>
                <a:ext cx="496" cy="269"/>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9</a:t>
                </a:r>
              </a:p>
            </p:txBody>
          </p:sp>
          <p:sp>
            <p:nvSpPr>
              <p:cNvPr id="104508" name="Text Box 194"/>
              <p:cNvSpPr txBox="1">
                <a:spLocks noChangeArrowheads="1"/>
              </p:cNvSpPr>
              <p:nvPr/>
            </p:nvSpPr>
            <p:spPr bwMode="auto">
              <a:xfrm>
                <a:off x="2482" y="2905"/>
                <a:ext cx="495" cy="249"/>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8</a:t>
                </a:r>
              </a:p>
            </p:txBody>
          </p:sp>
          <p:sp>
            <p:nvSpPr>
              <p:cNvPr id="104509" name="Text Box 195"/>
              <p:cNvSpPr txBox="1">
                <a:spLocks noChangeArrowheads="1"/>
              </p:cNvSpPr>
              <p:nvPr/>
            </p:nvSpPr>
            <p:spPr bwMode="auto">
              <a:xfrm>
                <a:off x="334" y="3286"/>
                <a:ext cx="494" cy="26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04510" name="Text Box 196"/>
              <p:cNvSpPr txBox="1">
                <a:spLocks noChangeArrowheads="1"/>
              </p:cNvSpPr>
              <p:nvPr/>
            </p:nvSpPr>
            <p:spPr bwMode="auto">
              <a:xfrm>
                <a:off x="1737" y="2912"/>
                <a:ext cx="498" cy="26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6</a:t>
                </a:r>
              </a:p>
            </p:txBody>
          </p:sp>
          <p:sp>
            <p:nvSpPr>
              <p:cNvPr id="104511" name="Text Box 197"/>
              <p:cNvSpPr txBox="1">
                <a:spLocks noChangeArrowheads="1"/>
              </p:cNvSpPr>
              <p:nvPr/>
            </p:nvSpPr>
            <p:spPr bwMode="auto">
              <a:xfrm>
                <a:off x="769" y="3286"/>
                <a:ext cx="497"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16</a:t>
                </a:r>
              </a:p>
            </p:txBody>
          </p:sp>
          <p:sp>
            <p:nvSpPr>
              <p:cNvPr id="104512" name="Text Box 198"/>
              <p:cNvSpPr txBox="1">
                <a:spLocks noChangeArrowheads="1"/>
              </p:cNvSpPr>
              <p:nvPr/>
            </p:nvSpPr>
            <p:spPr bwMode="auto">
              <a:xfrm>
                <a:off x="974" y="2518"/>
                <a:ext cx="501"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2</a:t>
                </a:r>
              </a:p>
            </p:txBody>
          </p:sp>
          <p:sp>
            <p:nvSpPr>
              <p:cNvPr id="104513" name="Text Box 199"/>
              <p:cNvSpPr txBox="1">
                <a:spLocks noChangeArrowheads="1"/>
              </p:cNvSpPr>
              <p:nvPr/>
            </p:nvSpPr>
            <p:spPr bwMode="auto">
              <a:xfrm>
                <a:off x="575" y="2893"/>
                <a:ext cx="499" cy="24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11</a:t>
                </a:r>
              </a:p>
            </p:txBody>
          </p:sp>
          <p:sp>
            <p:nvSpPr>
              <p:cNvPr id="104514" name="Text Box 200"/>
              <p:cNvSpPr txBox="1">
                <a:spLocks noChangeArrowheads="1"/>
              </p:cNvSpPr>
              <p:nvPr/>
            </p:nvSpPr>
            <p:spPr bwMode="auto">
              <a:xfrm>
                <a:off x="1333" y="2908"/>
                <a:ext cx="500" cy="249"/>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5</a:t>
                </a:r>
              </a:p>
            </p:txBody>
          </p:sp>
          <p:sp>
            <p:nvSpPr>
              <p:cNvPr id="104515" name="Text Box 201"/>
              <p:cNvSpPr txBox="1">
                <a:spLocks noChangeArrowheads="1"/>
              </p:cNvSpPr>
              <p:nvPr/>
            </p:nvSpPr>
            <p:spPr bwMode="auto">
              <a:xfrm>
                <a:off x="1258" y="3277"/>
                <a:ext cx="332" cy="26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4</a:t>
                </a:r>
              </a:p>
            </p:txBody>
          </p:sp>
        </p:grpSp>
      </p:grpSp>
      <p:sp>
        <p:nvSpPr>
          <p:cNvPr id="69" name="Rectangle 7"/>
          <p:cNvSpPr>
            <a:spLocks noChangeArrowheads="1"/>
          </p:cNvSpPr>
          <p:nvPr/>
        </p:nvSpPr>
        <p:spPr bwMode="auto">
          <a:xfrm>
            <a:off x="876300" y="173038"/>
            <a:ext cx="17526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堆排序</a:t>
            </a:r>
          </a:p>
        </p:txBody>
      </p:sp>
      <p:sp>
        <p:nvSpPr>
          <p:cNvPr id="72" name="Rectangle 88"/>
          <p:cNvSpPr>
            <a:spLocks noChangeArrowheads="1"/>
          </p:cNvSpPr>
          <p:nvPr/>
        </p:nvSpPr>
        <p:spPr bwMode="auto">
          <a:xfrm>
            <a:off x="4052888" y="1722438"/>
            <a:ext cx="1082675" cy="1311275"/>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8000" b="1" i="0" u="none" strike="noStrike" kern="1200" cap="none" spc="0" normalizeH="0" baseline="0" noProof="0" dirty="0">
                <a:ln>
                  <a:noFill/>
                </a:ln>
                <a:solidFill>
                  <a:srgbClr val="FF0000"/>
                </a:solidFill>
                <a:effectLst/>
                <a:uLnTx/>
                <a:uFillTx/>
                <a:latin typeface="+mn-lt"/>
                <a:ea typeface="+mn-ea"/>
                <a:cs typeface="+mn-ea"/>
                <a:sym typeface="+mn-lt"/>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ppt_x"/>
                                          </p:val>
                                        </p:tav>
                                        <p:tav tm="100000">
                                          <p:val>
                                            <p:strVal val="#ppt_x"/>
                                          </p:val>
                                        </p:tav>
                                      </p:tavLst>
                                    </p:anim>
                                    <p:anim calcmode="lin" valueType="num">
                                      <p:cBhvr additive="base">
                                        <p:cTn id="8" dur="500" fill="hold"/>
                                        <p:tgtEl>
                                          <p:spTgt spid="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2481263"/>
            <a:ext cx="9144000" cy="3756025"/>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06498" name="Text Box 113"/>
          <p:cNvSpPr txBox="1">
            <a:spLocks noChangeArrowheads="1"/>
          </p:cNvSpPr>
          <p:nvPr/>
        </p:nvSpPr>
        <p:spPr bwMode="auto">
          <a:xfrm>
            <a:off x="57150" y="1098550"/>
            <a:ext cx="9058275" cy="519113"/>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判定</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(80,75,40,62,73,35,28,50,38,25,47,15)</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是否为堆</a:t>
            </a:r>
          </a:p>
        </p:txBody>
      </p:sp>
      <p:grpSp>
        <p:nvGrpSpPr>
          <p:cNvPr id="2" name="Group 114"/>
          <p:cNvGrpSpPr/>
          <p:nvPr/>
        </p:nvGrpSpPr>
        <p:grpSpPr>
          <a:xfrm>
            <a:off x="725488" y="2851150"/>
            <a:ext cx="5386387" cy="2933700"/>
            <a:chOff x="816" y="2963"/>
            <a:chExt cx="2784" cy="1069"/>
          </a:xfrm>
        </p:grpSpPr>
        <p:sp>
          <p:nvSpPr>
            <p:cNvPr id="106500" name="Oval 115"/>
            <p:cNvSpPr>
              <a:spLocks noChangeArrowheads="1"/>
            </p:cNvSpPr>
            <p:nvPr/>
          </p:nvSpPr>
          <p:spPr bwMode="auto">
            <a:xfrm>
              <a:off x="2208" y="2976"/>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80</a:t>
              </a:r>
            </a:p>
          </p:txBody>
        </p:sp>
        <p:sp>
          <p:nvSpPr>
            <p:cNvPr id="106501" name="Oval 116"/>
            <p:cNvSpPr>
              <a:spLocks noChangeArrowheads="1"/>
            </p:cNvSpPr>
            <p:nvPr/>
          </p:nvSpPr>
          <p:spPr bwMode="auto">
            <a:xfrm>
              <a:off x="1680" y="3216"/>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75</a:t>
              </a:r>
            </a:p>
          </p:txBody>
        </p:sp>
        <p:sp>
          <p:nvSpPr>
            <p:cNvPr id="106502" name="Oval 117"/>
            <p:cNvSpPr>
              <a:spLocks noChangeArrowheads="1"/>
            </p:cNvSpPr>
            <p:nvPr/>
          </p:nvSpPr>
          <p:spPr bwMode="auto">
            <a:xfrm>
              <a:off x="3024" y="3168"/>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40</a:t>
              </a:r>
            </a:p>
          </p:txBody>
        </p:sp>
        <p:sp>
          <p:nvSpPr>
            <p:cNvPr id="106503" name="Oval 118"/>
            <p:cNvSpPr>
              <a:spLocks noChangeArrowheads="1"/>
            </p:cNvSpPr>
            <p:nvPr/>
          </p:nvSpPr>
          <p:spPr bwMode="auto">
            <a:xfrm>
              <a:off x="1392" y="3504"/>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62</a:t>
              </a:r>
            </a:p>
          </p:txBody>
        </p:sp>
        <p:sp>
          <p:nvSpPr>
            <p:cNvPr id="106504" name="Oval 119"/>
            <p:cNvSpPr>
              <a:spLocks noChangeArrowheads="1"/>
            </p:cNvSpPr>
            <p:nvPr/>
          </p:nvSpPr>
          <p:spPr bwMode="auto">
            <a:xfrm>
              <a:off x="2016" y="3552"/>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73</a:t>
              </a:r>
            </a:p>
          </p:txBody>
        </p:sp>
        <p:sp>
          <p:nvSpPr>
            <p:cNvPr id="106505" name="Oval 120"/>
            <p:cNvSpPr>
              <a:spLocks noChangeArrowheads="1"/>
            </p:cNvSpPr>
            <p:nvPr/>
          </p:nvSpPr>
          <p:spPr bwMode="auto">
            <a:xfrm>
              <a:off x="3360" y="3552"/>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28</a:t>
              </a:r>
            </a:p>
          </p:txBody>
        </p:sp>
        <p:sp>
          <p:nvSpPr>
            <p:cNvPr id="106506" name="Oval 121"/>
            <p:cNvSpPr>
              <a:spLocks noChangeArrowheads="1"/>
            </p:cNvSpPr>
            <p:nvPr/>
          </p:nvSpPr>
          <p:spPr bwMode="auto">
            <a:xfrm>
              <a:off x="2736" y="3552"/>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35</a:t>
              </a:r>
            </a:p>
          </p:txBody>
        </p:sp>
        <p:sp>
          <p:nvSpPr>
            <p:cNvPr id="106507" name="Oval 122"/>
            <p:cNvSpPr>
              <a:spLocks noChangeArrowheads="1"/>
            </p:cNvSpPr>
            <p:nvPr/>
          </p:nvSpPr>
          <p:spPr bwMode="auto">
            <a:xfrm>
              <a:off x="1008" y="3840"/>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50</a:t>
              </a:r>
            </a:p>
          </p:txBody>
        </p:sp>
        <p:sp>
          <p:nvSpPr>
            <p:cNvPr id="106508" name="Oval 123"/>
            <p:cNvSpPr>
              <a:spLocks noChangeArrowheads="1"/>
            </p:cNvSpPr>
            <p:nvPr/>
          </p:nvSpPr>
          <p:spPr bwMode="auto">
            <a:xfrm>
              <a:off x="1536" y="3840"/>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38</a:t>
              </a:r>
            </a:p>
          </p:txBody>
        </p:sp>
        <p:sp>
          <p:nvSpPr>
            <p:cNvPr id="106509" name="Oval 124"/>
            <p:cNvSpPr>
              <a:spLocks noChangeArrowheads="1"/>
            </p:cNvSpPr>
            <p:nvPr/>
          </p:nvSpPr>
          <p:spPr bwMode="auto">
            <a:xfrm>
              <a:off x="1920" y="3840"/>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25</a:t>
              </a:r>
            </a:p>
          </p:txBody>
        </p:sp>
        <p:sp>
          <p:nvSpPr>
            <p:cNvPr id="106510" name="Oval 125"/>
            <p:cNvSpPr>
              <a:spLocks noChangeArrowheads="1"/>
            </p:cNvSpPr>
            <p:nvPr/>
          </p:nvSpPr>
          <p:spPr bwMode="auto">
            <a:xfrm>
              <a:off x="2304" y="3840"/>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47</a:t>
              </a:r>
            </a:p>
          </p:txBody>
        </p:sp>
        <p:sp>
          <p:nvSpPr>
            <p:cNvPr id="106511" name="Oval 126"/>
            <p:cNvSpPr>
              <a:spLocks noChangeArrowheads="1"/>
            </p:cNvSpPr>
            <p:nvPr/>
          </p:nvSpPr>
          <p:spPr bwMode="auto">
            <a:xfrm>
              <a:off x="2592" y="3840"/>
              <a:ext cx="240" cy="19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15</a:t>
              </a:r>
            </a:p>
          </p:txBody>
        </p:sp>
        <p:sp>
          <p:nvSpPr>
            <p:cNvPr id="106512" name="Line 127"/>
            <p:cNvSpPr>
              <a:spLocks noChangeShapeType="1"/>
            </p:cNvSpPr>
            <p:nvPr/>
          </p:nvSpPr>
          <p:spPr bwMode="auto">
            <a:xfrm flipH="1">
              <a:off x="1920" y="3120"/>
              <a:ext cx="288" cy="144"/>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13" name="Line 128"/>
            <p:cNvSpPr>
              <a:spLocks noChangeShapeType="1"/>
            </p:cNvSpPr>
            <p:nvPr/>
          </p:nvSpPr>
          <p:spPr bwMode="auto">
            <a:xfrm>
              <a:off x="2448" y="3120"/>
              <a:ext cx="576" cy="144"/>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14" name="Line 129"/>
            <p:cNvSpPr>
              <a:spLocks noChangeShapeType="1"/>
            </p:cNvSpPr>
            <p:nvPr/>
          </p:nvSpPr>
          <p:spPr bwMode="auto">
            <a:xfrm flipH="1">
              <a:off x="1584" y="3408"/>
              <a:ext cx="144" cy="96"/>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15" name="Line 130"/>
            <p:cNvSpPr>
              <a:spLocks noChangeShapeType="1"/>
            </p:cNvSpPr>
            <p:nvPr/>
          </p:nvSpPr>
          <p:spPr bwMode="auto">
            <a:xfrm>
              <a:off x="1920" y="3360"/>
              <a:ext cx="144" cy="19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16" name="Line 131"/>
            <p:cNvSpPr>
              <a:spLocks noChangeShapeType="1"/>
            </p:cNvSpPr>
            <p:nvPr/>
          </p:nvSpPr>
          <p:spPr bwMode="auto">
            <a:xfrm flipH="1">
              <a:off x="2928" y="3312"/>
              <a:ext cx="144" cy="288"/>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17" name="Line 132"/>
            <p:cNvSpPr>
              <a:spLocks noChangeShapeType="1"/>
            </p:cNvSpPr>
            <p:nvPr/>
          </p:nvSpPr>
          <p:spPr bwMode="auto">
            <a:xfrm>
              <a:off x="3264" y="3312"/>
              <a:ext cx="192" cy="240"/>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18" name="Line 133"/>
            <p:cNvSpPr>
              <a:spLocks noChangeShapeType="1"/>
            </p:cNvSpPr>
            <p:nvPr/>
          </p:nvSpPr>
          <p:spPr bwMode="auto">
            <a:xfrm flipH="1">
              <a:off x="1200" y="3648"/>
              <a:ext cx="192" cy="19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19" name="Line 134"/>
            <p:cNvSpPr>
              <a:spLocks noChangeShapeType="1"/>
            </p:cNvSpPr>
            <p:nvPr/>
          </p:nvSpPr>
          <p:spPr bwMode="auto">
            <a:xfrm>
              <a:off x="1536" y="3696"/>
              <a:ext cx="144" cy="144"/>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0" name="Line 135"/>
            <p:cNvSpPr>
              <a:spLocks noChangeShapeType="1"/>
            </p:cNvSpPr>
            <p:nvPr/>
          </p:nvSpPr>
          <p:spPr bwMode="auto">
            <a:xfrm flipH="1">
              <a:off x="2016" y="3744"/>
              <a:ext cx="48" cy="96"/>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1" name="Line 136"/>
            <p:cNvSpPr>
              <a:spLocks noChangeShapeType="1"/>
            </p:cNvSpPr>
            <p:nvPr/>
          </p:nvSpPr>
          <p:spPr bwMode="auto">
            <a:xfrm>
              <a:off x="2256" y="3696"/>
              <a:ext cx="144" cy="144"/>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2" name="Line 137"/>
            <p:cNvSpPr>
              <a:spLocks noChangeShapeType="1"/>
            </p:cNvSpPr>
            <p:nvPr/>
          </p:nvSpPr>
          <p:spPr bwMode="auto">
            <a:xfrm flipH="1">
              <a:off x="2784" y="3744"/>
              <a:ext cx="48" cy="96"/>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3" name="Text Box 138"/>
            <p:cNvSpPr txBox="1">
              <a:spLocks noChangeArrowheads="1"/>
            </p:cNvSpPr>
            <p:nvPr/>
          </p:nvSpPr>
          <p:spPr bwMode="auto">
            <a:xfrm>
              <a:off x="2880" y="2963"/>
              <a:ext cx="94" cy="16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4" name="Text Box 139"/>
            <p:cNvSpPr txBox="1">
              <a:spLocks noChangeArrowheads="1"/>
            </p:cNvSpPr>
            <p:nvPr/>
          </p:nvSpPr>
          <p:spPr bwMode="auto">
            <a:xfrm>
              <a:off x="1728" y="3011"/>
              <a:ext cx="94" cy="16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5" name="Text Box 140"/>
            <p:cNvSpPr txBox="1">
              <a:spLocks noChangeArrowheads="1"/>
            </p:cNvSpPr>
            <p:nvPr/>
          </p:nvSpPr>
          <p:spPr bwMode="auto">
            <a:xfrm>
              <a:off x="1248" y="3395"/>
              <a:ext cx="94" cy="16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6" name="Text Box 141"/>
            <p:cNvSpPr txBox="1">
              <a:spLocks noChangeArrowheads="1"/>
            </p:cNvSpPr>
            <p:nvPr/>
          </p:nvSpPr>
          <p:spPr bwMode="auto">
            <a:xfrm>
              <a:off x="2160" y="3347"/>
              <a:ext cx="95" cy="167"/>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7" name="Text Box 142"/>
            <p:cNvSpPr txBox="1">
              <a:spLocks noChangeArrowheads="1"/>
            </p:cNvSpPr>
            <p:nvPr/>
          </p:nvSpPr>
          <p:spPr bwMode="auto">
            <a:xfrm>
              <a:off x="2784" y="3347"/>
              <a:ext cx="94" cy="16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8" name="Text Box 143"/>
            <p:cNvSpPr txBox="1">
              <a:spLocks noChangeArrowheads="1"/>
            </p:cNvSpPr>
            <p:nvPr/>
          </p:nvSpPr>
          <p:spPr bwMode="auto">
            <a:xfrm>
              <a:off x="3504" y="3347"/>
              <a:ext cx="95" cy="167"/>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29" name="Text Box 144"/>
            <p:cNvSpPr txBox="1">
              <a:spLocks noChangeArrowheads="1"/>
            </p:cNvSpPr>
            <p:nvPr/>
          </p:nvSpPr>
          <p:spPr bwMode="auto">
            <a:xfrm>
              <a:off x="816" y="3731"/>
              <a:ext cx="95" cy="167"/>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30" name="Text Box 145"/>
            <p:cNvSpPr txBox="1">
              <a:spLocks noChangeArrowheads="1"/>
            </p:cNvSpPr>
            <p:nvPr/>
          </p:nvSpPr>
          <p:spPr bwMode="auto">
            <a:xfrm>
              <a:off x="1392" y="3683"/>
              <a:ext cx="95" cy="167"/>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31" name="Text Box 146"/>
            <p:cNvSpPr txBox="1">
              <a:spLocks noChangeArrowheads="1"/>
            </p:cNvSpPr>
            <p:nvPr/>
          </p:nvSpPr>
          <p:spPr bwMode="auto">
            <a:xfrm>
              <a:off x="1776" y="3635"/>
              <a:ext cx="95" cy="167"/>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32" name="Text Box 147"/>
            <p:cNvSpPr txBox="1">
              <a:spLocks noChangeArrowheads="1"/>
            </p:cNvSpPr>
            <p:nvPr/>
          </p:nvSpPr>
          <p:spPr bwMode="auto">
            <a:xfrm>
              <a:off x="2304" y="3635"/>
              <a:ext cx="94" cy="16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6533" name="Text Box 148"/>
            <p:cNvSpPr txBox="1">
              <a:spLocks noChangeArrowheads="1"/>
            </p:cNvSpPr>
            <p:nvPr/>
          </p:nvSpPr>
          <p:spPr bwMode="auto">
            <a:xfrm>
              <a:off x="2832" y="3635"/>
              <a:ext cx="95" cy="167"/>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954517" name="Rectangle 149"/>
          <p:cNvSpPr>
            <a:spLocks noChangeArrowheads="1"/>
          </p:cNvSpPr>
          <p:nvPr/>
        </p:nvSpPr>
        <p:spPr bwMode="auto">
          <a:xfrm>
            <a:off x="149225" y="1790700"/>
            <a:ext cx="1970088" cy="519113"/>
          </a:xfrm>
          <a:prstGeom prst="rect">
            <a:avLst/>
          </a:prstGeom>
          <a:noFill/>
          <a:ln>
            <a:noFill/>
          </a:ln>
        </p:spPr>
        <p:txBody>
          <a:bodyPr wrap="non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完全二叉树</a:t>
            </a:r>
          </a:p>
        </p:txBody>
      </p:sp>
      <p:grpSp>
        <p:nvGrpSpPr>
          <p:cNvPr id="3" name="Group 152"/>
          <p:cNvGrpSpPr/>
          <p:nvPr/>
        </p:nvGrpSpPr>
        <p:grpSpPr>
          <a:xfrm>
            <a:off x="6264275" y="4298950"/>
            <a:ext cx="2522538" cy="519113"/>
            <a:chOff x="4108" y="1672"/>
            <a:chExt cx="1589" cy="327"/>
          </a:xfrm>
        </p:grpSpPr>
        <p:sp>
          <p:nvSpPr>
            <p:cNvPr id="106536" name="AutoShape 150"/>
            <p:cNvSpPr>
              <a:spLocks noChangeArrowheads="1"/>
            </p:cNvSpPr>
            <p:nvPr/>
          </p:nvSpPr>
          <p:spPr bwMode="auto">
            <a:xfrm>
              <a:off x="4108" y="1796"/>
              <a:ext cx="663" cy="126"/>
            </a:xfrm>
            <a:prstGeom prst="rightArrow">
              <a:avLst>
                <a:gd name="adj1" fmla="val 56620"/>
                <a:gd name="adj2" fmla="val 109896"/>
              </a:avLst>
            </a:prstGeom>
            <a:solidFill>
              <a:schemeClr val="accent1">
                <a:lumMod val="60000"/>
                <a:lumOff val="40000"/>
              </a:schemeClr>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6537" name="Rectangle 151"/>
            <p:cNvSpPr>
              <a:spLocks noChangeArrowheads="1"/>
            </p:cNvSpPr>
            <p:nvPr/>
          </p:nvSpPr>
          <p:spPr bwMode="auto">
            <a:xfrm>
              <a:off x="4906" y="1672"/>
              <a:ext cx="791" cy="327"/>
            </a:xfrm>
            <a:prstGeom prst="rect">
              <a:avLst/>
            </a:prstGeom>
            <a:noFill/>
            <a:ln>
              <a:noFill/>
            </a:ln>
          </p:spPr>
          <p:txBody>
            <a:bodyPr wrap="non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大根堆</a:t>
              </a:r>
            </a:p>
          </p:txBody>
        </p:sp>
      </p:grpSp>
      <p:sp>
        <p:nvSpPr>
          <p:cNvPr id="43" name="Rectangle 7"/>
          <p:cNvSpPr>
            <a:spLocks noChangeArrowheads="1"/>
          </p:cNvSpPr>
          <p:nvPr/>
        </p:nvSpPr>
        <p:spPr bwMode="auto">
          <a:xfrm>
            <a:off x="876300" y="185738"/>
            <a:ext cx="17526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54517"/>
                                        </p:tgtEl>
                                        <p:attrNameLst>
                                          <p:attrName>style.visibility</p:attrName>
                                        </p:attrNameLst>
                                      </p:cBhvr>
                                      <p:to>
                                        <p:strVal val="visible"/>
                                      </p:to>
                                    </p:set>
                                    <p:anim calcmode="lin" valueType="num">
                                      <p:cBhvr additive="base">
                                        <p:cTn id="7" dur="500" fill="hold"/>
                                        <p:tgtEl>
                                          <p:spTgt spid="954517"/>
                                        </p:tgtEl>
                                        <p:attrNameLst>
                                          <p:attrName>ppt_x</p:attrName>
                                        </p:attrNameLst>
                                      </p:cBhvr>
                                      <p:tavLst>
                                        <p:tav tm="0">
                                          <p:val>
                                            <p:strVal val="#ppt_x"/>
                                          </p:val>
                                        </p:tav>
                                        <p:tav tm="100000">
                                          <p:val>
                                            <p:strVal val="#ppt_x"/>
                                          </p:val>
                                        </p:tav>
                                      </p:tavLst>
                                    </p:anim>
                                    <p:anim calcmode="lin" valueType="num">
                                      <p:cBhvr additive="base">
                                        <p:cTn id="8" dur="500" fill="hold"/>
                                        <p:tgtEl>
                                          <p:spTgt spid="95451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0-#ppt_w/2"/>
                                          </p:val>
                                        </p:tav>
                                        <p:tav tm="100000">
                                          <p:val>
                                            <p:strVal val="#ppt_x"/>
                                          </p:val>
                                        </p:tav>
                                      </p:tavLst>
                                    </p:anim>
                                    <p:anim calcmode="lin" valueType="num">
                                      <p:cBhvr additive="base">
                                        <p:cTn id="2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8" presetClass="entr" presetSubtype="16"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diamond(in)">
                                      <p:cBhvr>
                                        <p:cTn id="25"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54517"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68313" y="2060575"/>
            <a:ext cx="8496300" cy="4203700"/>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955448" name="Rectangle 56"/>
          <p:cNvSpPr>
            <a:spLocks noChangeArrowheads="1"/>
          </p:cNvSpPr>
          <p:nvPr/>
        </p:nvSpPr>
        <p:spPr bwMode="auto">
          <a:xfrm>
            <a:off x="801688" y="2378075"/>
            <a:ext cx="7829550" cy="29956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20000"/>
              </a:spcBef>
              <a:spcAft>
                <a:spcPct val="0"/>
              </a:spcAft>
              <a:buClr>
                <a:schemeClr val="accent2"/>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将无序序列</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建成</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一个堆</a:t>
            </a:r>
          </a:p>
          <a:p>
            <a:pPr marL="0" marR="0" lvl="0" indent="0" algn="l" defTabSz="914400" rtl="0" eaLnBrk="1" fontAlgn="base" latinLnBrk="0" hangingPunct="1">
              <a:lnSpc>
                <a:spcPct val="125000"/>
              </a:lnSpc>
              <a:spcBef>
                <a:spcPct val="20000"/>
              </a:spcBef>
              <a:spcAft>
                <a:spcPct val="0"/>
              </a:spcAft>
              <a:buClr>
                <a:schemeClr val="accent2"/>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输出</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堆顶</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的最小（大）值</a:t>
            </a:r>
          </a:p>
          <a:p>
            <a:pPr marL="0" marR="0" lvl="0" indent="0" algn="l" defTabSz="914400" rtl="0" eaLnBrk="1" fontAlgn="base" latinLnBrk="0" hangingPunct="1">
              <a:lnSpc>
                <a:spcPct val="125000"/>
              </a:lnSpc>
              <a:spcBef>
                <a:spcPct val="20000"/>
              </a:spcBef>
              <a:spcAft>
                <a:spcPct val="0"/>
              </a:spcAft>
              <a:buClr>
                <a:schemeClr val="accent2"/>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使剩余的</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n-1</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个元素又</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调整</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成一个堆，则可得到</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个元素的次小值</a:t>
            </a:r>
            <a:endPar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20000"/>
              </a:spcBef>
              <a:spcAft>
                <a:spcPct val="0"/>
              </a:spcAft>
              <a:buClr>
                <a:schemeClr val="accent2"/>
              </a:buClr>
              <a:buSzTx/>
              <a:buFont typeface="Wingdings" panose="05000000000000000000" pitchFamily="2" charset="2"/>
              <a:buChar char="ü"/>
              <a:defRPr/>
            </a:pPr>
            <a:r>
              <a:rPr kumimoji="0" lang="zh-CN" altLang="zh-CN" sz="2800" b="0" i="0" u="none" strike="noStrike" kern="1200" cap="none" spc="0" normalizeH="0" baseline="0" noProof="0" dirty="0">
                <a:ln>
                  <a:noFill/>
                </a:ln>
                <a:solidFill>
                  <a:schemeClr val="hlink"/>
                </a:solidFill>
                <a:effectLst/>
                <a:uLnTx/>
                <a:uFillTx/>
                <a:latin typeface="+mn-lt"/>
                <a:ea typeface="+mn-ea"/>
                <a:cs typeface="+mn-ea"/>
                <a:sym typeface="+mn-lt"/>
              </a:rPr>
              <a:t>重复</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执行，得到一个有序序列</a:t>
            </a:r>
            <a:endPar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955450" name="Rectangle 58"/>
          <p:cNvSpPr>
            <a:spLocks noChangeArrowheads="1"/>
          </p:cNvSpPr>
          <p:nvPr/>
        </p:nvSpPr>
        <p:spPr bwMode="auto">
          <a:xfrm>
            <a:off x="468313" y="1268413"/>
            <a:ext cx="8496300" cy="579438"/>
          </a:xfrm>
          <a:prstGeom prst="rect">
            <a:avLst/>
          </a:prstGeom>
          <a:solidFill>
            <a:schemeClr val="accent1">
              <a:lumMod val="60000"/>
              <a:lumOff val="40000"/>
            </a:schemeClr>
          </a:solidFill>
          <a:ln w="9525">
            <a:noFill/>
            <a:miter lim="800000"/>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3200" b="0" i="0" u="none" strike="noStrike" kern="1200" cap="none" spc="0" normalizeH="0" baseline="0" noProof="0" dirty="0">
                <a:ln>
                  <a:noFill/>
                </a:ln>
                <a:solidFill>
                  <a:schemeClr val="bg1"/>
                </a:solidFill>
                <a:effectLst/>
                <a:uLnTx/>
                <a:uFillTx/>
                <a:latin typeface="+mn-lt"/>
                <a:ea typeface="+mn-ea"/>
                <a:cs typeface="+mn-ea"/>
                <a:sym typeface="+mn-lt"/>
              </a:rPr>
              <a:t>基本思想：</a:t>
            </a:r>
          </a:p>
        </p:txBody>
      </p:sp>
      <p:sp>
        <p:nvSpPr>
          <p:cNvPr id="955452" name="AutoShape 60"/>
          <p:cNvSpPr>
            <a:spLocks noChangeArrowheads="1"/>
          </p:cNvSpPr>
          <p:nvPr/>
        </p:nvSpPr>
        <p:spPr bwMode="auto">
          <a:xfrm>
            <a:off x="5461000" y="2479675"/>
            <a:ext cx="3095625" cy="846138"/>
          </a:xfrm>
          <a:prstGeom prst="cloudCallout">
            <a:avLst>
              <a:gd name="adj1" fmla="val -138462"/>
              <a:gd name="adj2" fmla="val 23171"/>
            </a:avLst>
          </a:prstGeom>
          <a:solidFill>
            <a:schemeClr val="accent1">
              <a:lumMod val="40000"/>
              <a:lumOff val="60000"/>
            </a:schemeClr>
          </a:solidFill>
          <a:ln>
            <a:noFill/>
          </a:ln>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如何建？</a:t>
            </a:r>
          </a:p>
        </p:txBody>
      </p:sp>
      <p:sp>
        <p:nvSpPr>
          <p:cNvPr id="955453" name="AutoShape 61">
            <a:hlinkClick r:id="rId2" action="ppaction://hlinksldjump"/>
          </p:cNvPr>
          <p:cNvSpPr>
            <a:spLocks noChangeArrowheads="1"/>
          </p:cNvSpPr>
          <p:nvPr/>
        </p:nvSpPr>
        <p:spPr bwMode="auto">
          <a:xfrm>
            <a:off x="5724525" y="4546600"/>
            <a:ext cx="3159125" cy="1144588"/>
          </a:xfrm>
          <a:prstGeom prst="cloudCallout">
            <a:avLst>
              <a:gd name="adj1" fmla="val -66600"/>
              <a:gd name="adj2" fmla="val -74925"/>
            </a:avLst>
          </a:prstGeom>
          <a:solidFill>
            <a:schemeClr val="accent1">
              <a:lumMod val="40000"/>
              <a:lumOff val="60000"/>
            </a:schemeClr>
          </a:solidFill>
          <a:ln>
            <a:noFill/>
          </a:ln>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如何调整？</a:t>
            </a:r>
          </a:p>
        </p:txBody>
      </p:sp>
      <p:sp>
        <p:nvSpPr>
          <p:cNvPr id="8" name="Rectangle 7"/>
          <p:cNvSpPr>
            <a:spLocks noChangeArrowheads="1"/>
          </p:cNvSpPr>
          <p:nvPr/>
        </p:nvSpPr>
        <p:spPr bwMode="auto">
          <a:xfrm>
            <a:off x="876300" y="211138"/>
            <a:ext cx="17526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955448">
                                            <p:txEl>
                                              <p:pRg st="0" end="0"/>
                                            </p:txEl>
                                          </p:spTgt>
                                        </p:tgtEl>
                                        <p:attrNameLst>
                                          <p:attrName>style.visibility</p:attrName>
                                        </p:attrNameLst>
                                      </p:cBhvr>
                                      <p:to>
                                        <p:strVal val="visible"/>
                                      </p:to>
                                    </p:set>
                                    <p:animEffect transition="in" filter="box(in)">
                                      <p:cBhvr>
                                        <p:cTn id="13" dur="500"/>
                                        <p:tgtEl>
                                          <p:spTgt spid="955448">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4" presetClass="entr" presetSubtype="16" fill="hold" grpId="0" nodeType="clickEffect">
                                  <p:stCondLst>
                                    <p:cond delay="0"/>
                                  </p:stCondLst>
                                  <p:childTnLst>
                                    <p:set>
                                      <p:cBhvr>
                                        <p:cTn id="17" dur="1" fill="hold">
                                          <p:stCondLst>
                                            <p:cond delay="0"/>
                                          </p:stCondLst>
                                        </p:cTn>
                                        <p:tgtEl>
                                          <p:spTgt spid="955448">
                                            <p:txEl>
                                              <p:pRg st="1" end="1"/>
                                            </p:txEl>
                                          </p:spTgt>
                                        </p:tgtEl>
                                        <p:attrNameLst>
                                          <p:attrName>style.visibility</p:attrName>
                                        </p:attrNameLst>
                                      </p:cBhvr>
                                      <p:to>
                                        <p:strVal val="visible"/>
                                      </p:to>
                                    </p:set>
                                    <p:animEffect transition="in" filter="box(in)">
                                      <p:cBhvr>
                                        <p:cTn id="18" dur="500"/>
                                        <p:tgtEl>
                                          <p:spTgt spid="955448">
                                            <p:txEl>
                                              <p:pRg st="1" end="1"/>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4" presetClass="entr" presetSubtype="16" fill="hold" grpId="0" nodeType="clickEffect">
                                  <p:stCondLst>
                                    <p:cond delay="0"/>
                                  </p:stCondLst>
                                  <p:childTnLst>
                                    <p:set>
                                      <p:cBhvr>
                                        <p:cTn id="22" dur="1" fill="hold">
                                          <p:stCondLst>
                                            <p:cond delay="0"/>
                                          </p:stCondLst>
                                        </p:cTn>
                                        <p:tgtEl>
                                          <p:spTgt spid="955448">
                                            <p:txEl>
                                              <p:pRg st="2" end="2"/>
                                            </p:txEl>
                                          </p:spTgt>
                                        </p:tgtEl>
                                        <p:attrNameLst>
                                          <p:attrName>style.visibility</p:attrName>
                                        </p:attrNameLst>
                                      </p:cBhvr>
                                      <p:to>
                                        <p:strVal val="visible"/>
                                      </p:to>
                                    </p:set>
                                    <p:animEffect transition="in" filter="box(in)">
                                      <p:cBhvr>
                                        <p:cTn id="23" dur="500"/>
                                        <p:tgtEl>
                                          <p:spTgt spid="955448">
                                            <p:txEl>
                                              <p:pRg st="2" end="2"/>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4" presetClass="entr" presetSubtype="16" fill="hold" grpId="0" nodeType="clickEffect">
                                  <p:stCondLst>
                                    <p:cond delay="0"/>
                                  </p:stCondLst>
                                  <p:childTnLst>
                                    <p:set>
                                      <p:cBhvr>
                                        <p:cTn id="27" dur="1" fill="hold">
                                          <p:stCondLst>
                                            <p:cond delay="0"/>
                                          </p:stCondLst>
                                        </p:cTn>
                                        <p:tgtEl>
                                          <p:spTgt spid="955448">
                                            <p:txEl>
                                              <p:pRg st="3" end="3"/>
                                            </p:txEl>
                                          </p:spTgt>
                                        </p:tgtEl>
                                        <p:attrNameLst>
                                          <p:attrName>style.visibility</p:attrName>
                                        </p:attrNameLst>
                                      </p:cBhvr>
                                      <p:to>
                                        <p:strVal val="visible"/>
                                      </p:to>
                                    </p:set>
                                    <p:animEffect transition="in" filter="box(in)">
                                      <p:cBhvr>
                                        <p:cTn id="28" dur="500"/>
                                        <p:tgtEl>
                                          <p:spTgt spid="955448">
                                            <p:txEl>
                                              <p:pRg st="3" end="3"/>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21" presetClass="entr" presetSubtype="4" fill="hold" grpId="0" nodeType="clickEffect">
                                  <p:stCondLst>
                                    <p:cond delay="0"/>
                                  </p:stCondLst>
                                  <p:childTnLst>
                                    <p:set>
                                      <p:cBhvr>
                                        <p:cTn id="32" dur="1" fill="hold">
                                          <p:stCondLst>
                                            <p:cond delay="0"/>
                                          </p:stCondLst>
                                        </p:cTn>
                                        <p:tgtEl>
                                          <p:spTgt spid="955452"/>
                                        </p:tgtEl>
                                        <p:attrNameLst>
                                          <p:attrName>style.visibility</p:attrName>
                                        </p:attrNameLst>
                                      </p:cBhvr>
                                      <p:to>
                                        <p:strVal val="visible"/>
                                      </p:to>
                                    </p:set>
                                    <p:animEffect transition="in" filter="wheel(4)">
                                      <p:cBhvr>
                                        <p:cTn id="33" dur="2000"/>
                                        <p:tgtEl>
                                          <p:spTgt spid="955452"/>
                                        </p:tgtEl>
                                      </p:cBhvr>
                                    </p:animEffect>
                                  </p:childTnLst>
                                </p:cTn>
                              </p:par>
                            </p:childTnLst>
                          </p:cTn>
                        </p:par>
                      </p:childTnLst>
                    </p:cTn>
                  </p:par>
                  <p:par>
                    <p:cTn id="34" fill="hold">
                      <p:stCondLst>
                        <p:cond delay="indefinite"/>
                      </p:stCondLst>
                      <p:childTnLst>
                        <p:par>
                          <p:cTn id="35" fill="hold">
                            <p:stCondLst>
                              <p:cond delay="0"/>
                            </p:stCondLst>
                            <p:childTnLst>
                              <p:par>
                                <p:cTn id="36" presetID="51" presetClass="entr" presetSubtype="0" fill="hold" grpId="0" nodeType="clickEffect">
                                  <p:stCondLst>
                                    <p:cond delay="0"/>
                                  </p:stCondLst>
                                  <p:childTnLst>
                                    <p:set>
                                      <p:cBhvr>
                                        <p:cTn id="37" dur="1" fill="hold">
                                          <p:stCondLst>
                                            <p:cond delay="0"/>
                                          </p:stCondLst>
                                        </p:cTn>
                                        <p:tgtEl>
                                          <p:spTgt spid="955453"/>
                                        </p:tgtEl>
                                        <p:attrNameLst>
                                          <p:attrName>style.visibility</p:attrName>
                                        </p:attrNameLst>
                                      </p:cBhvr>
                                      <p:to>
                                        <p:strVal val="visible"/>
                                      </p:to>
                                    </p:set>
                                    <p:animEffect transition="in" filter="fade">
                                      <p:cBhvr>
                                        <p:cTn id="38" dur="770" decel="100000"/>
                                        <p:tgtEl>
                                          <p:spTgt spid="955453"/>
                                        </p:tgtEl>
                                      </p:cBhvr>
                                    </p:animEffect>
                                    <p:animScale>
                                      <p:cBhvr>
                                        <p:cTn id="39" dur="770" decel="100000"/>
                                        <p:tgtEl>
                                          <p:spTgt spid="955453"/>
                                        </p:tgtEl>
                                      </p:cBhvr>
                                      <p:from x="10000" y="10000"/>
                                      <p:to x="200000" y="450000"/>
                                    </p:animScale>
                                    <p:animScale>
                                      <p:cBhvr>
                                        <p:cTn id="40" dur="1230" accel="100000" fill="hold">
                                          <p:stCondLst>
                                            <p:cond delay="770"/>
                                          </p:stCondLst>
                                        </p:cTn>
                                        <p:tgtEl>
                                          <p:spTgt spid="955453"/>
                                        </p:tgtEl>
                                      </p:cBhvr>
                                      <p:from x="200000" y="450000"/>
                                      <p:to x="100000" y="100000"/>
                                    </p:animScale>
                                    <p:set>
                                      <p:cBhvr>
                                        <p:cTn id="41" dur="770" fill="hold"/>
                                        <p:tgtEl>
                                          <p:spTgt spid="955453"/>
                                        </p:tgtEl>
                                        <p:attrNameLst>
                                          <p:attrName>ppt_x</p:attrName>
                                        </p:attrNameLst>
                                      </p:cBhvr>
                                      <p:to>
                                        <p:strVal val="(0.5)"/>
                                      </p:to>
                                    </p:set>
                                    <p:anim from="(0.5)" to="(#ppt_x)" calcmode="lin" valueType="num">
                                      <p:cBhvr>
                                        <p:cTn id="42" dur="1230" accel="100000" fill="hold">
                                          <p:stCondLst>
                                            <p:cond delay="770"/>
                                          </p:stCondLst>
                                        </p:cTn>
                                        <p:tgtEl>
                                          <p:spTgt spid="955453"/>
                                        </p:tgtEl>
                                        <p:attrNameLst>
                                          <p:attrName>ppt_x</p:attrName>
                                        </p:attrNameLst>
                                      </p:cBhvr>
                                    </p:anim>
                                    <p:set>
                                      <p:cBhvr>
                                        <p:cTn id="43" dur="770" fill="hold"/>
                                        <p:tgtEl>
                                          <p:spTgt spid="955453"/>
                                        </p:tgtEl>
                                        <p:attrNameLst>
                                          <p:attrName>ppt_y</p:attrName>
                                        </p:attrNameLst>
                                      </p:cBhvr>
                                      <p:to>
                                        <p:strVal val="(#ppt_y+0.4)"/>
                                      </p:to>
                                    </p:set>
                                    <p:anim from="(#ppt_y+0.4)" to="(#ppt_y)" calcmode="lin" valueType="num">
                                      <p:cBhvr>
                                        <p:cTn id="44" dur="1230" accel="100000" fill="hold">
                                          <p:stCondLst>
                                            <p:cond delay="770"/>
                                          </p:stCondLst>
                                        </p:cTn>
                                        <p:tgtEl>
                                          <p:spTgt spid="955453"/>
                                        </p:tgtEl>
                                        <p:attrNameLst>
                                          <p:attrName>ppt_y</p:attrName>
                                        </p:attrNameLst>
                                      </p:cBhvr>
                                    </p:anim>
                                  </p:childTnLst>
                                </p:cTn>
                              </p:par>
                            </p:childTnLst>
                          </p:cTn>
                        </p:par>
                      </p:childTnLst>
                    </p:cTn>
                  </p:par>
                  <p:par>
                    <p:cTn id="45" fill="hold">
                      <p:stCondLst>
                        <p:cond delay="indefinite"/>
                      </p:stCondLst>
                      <p:childTnLst>
                        <p:par>
                          <p:cTn id="46" fill="hold">
                            <p:stCondLst>
                              <p:cond delay="0"/>
                            </p:stCondLst>
                            <p:childTnLst>
                              <p:par>
                                <p:cTn id="47" presetID="6" presetClass="emph" presetSubtype="0" fill="hold" grpId="1" nodeType="clickEffect">
                                  <p:stCondLst>
                                    <p:cond delay="0"/>
                                  </p:stCondLst>
                                  <p:childTnLst>
                                    <p:animScale>
                                      <p:cBhvr>
                                        <p:cTn id="48" dur="2000" fill="hold"/>
                                        <p:tgtEl>
                                          <p:spTgt spid="955452"/>
                                        </p:tgtEl>
                                      </p:cBhvr>
                                      <p:by x="150000" y="150000"/>
                                    </p:animScale>
                                  </p:childTnLst>
                                </p:cTn>
                              </p:par>
                            </p:childTnLst>
                          </p:cTn>
                        </p:par>
                      </p:childTnLst>
                    </p:cTn>
                  </p:par>
                  <p:par>
                    <p:cTn id="49" fill="hold">
                      <p:stCondLst>
                        <p:cond delay="indefinite"/>
                      </p:stCondLst>
                      <p:childTnLst>
                        <p:par>
                          <p:cTn id="50" fill="hold">
                            <p:stCondLst>
                              <p:cond delay="0"/>
                            </p:stCondLst>
                            <p:childTnLst>
                              <p:par>
                                <p:cTn id="51" presetID="6" presetClass="emph" presetSubtype="0" fill="hold" grpId="1" nodeType="clickEffect">
                                  <p:stCondLst>
                                    <p:cond delay="0"/>
                                  </p:stCondLst>
                                  <p:childTnLst>
                                    <p:animScale>
                                      <p:cBhvr>
                                        <p:cTn id="52" dur="2000" fill="hold"/>
                                        <p:tgtEl>
                                          <p:spTgt spid="955453"/>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955448" grpId="0" build="p"/>
      <p:bldP spid="955452" grpId="0" animBg="1"/>
      <p:bldP spid="955452" grpId="1" animBg="1"/>
      <p:bldP spid="955453" grpId="0" animBg="1"/>
      <p:bldP spid="955453" grpId="1"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5954" name="组合 1"/>
          <p:cNvGrpSpPr/>
          <p:nvPr/>
        </p:nvGrpSpPr>
        <p:grpSpPr>
          <a:xfrm>
            <a:off x="2603500" y="1663700"/>
            <a:ext cx="5421313" cy="2860675"/>
            <a:chOff x="2603498" y="1663402"/>
            <a:chExt cx="5421313" cy="2861468"/>
          </a:xfrm>
        </p:grpSpPr>
        <p:sp>
          <p:nvSpPr>
            <p:cNvPr id="108546" name="Rectangle 4"/>
            <p:cNvSpPr>
              <a:spLocks noChangeArrowheads="1"/>
            </p:cNvSpPr>
            <p:nvPr/>
          </p:nvSpPr>
          <p:spPr bwMode="auto">
            <a:xfrm>
              <a:off x="3406773" y="2676508"/>
              <a:ext cx="763588" cy="45573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47" name="Rectangle 5"/>
            <p:cNvSpPr>
              <a:spLocks noChangeArrowheads="1"/>
            </p:cNvSpPr>
            <p:nvPr/>
          </p:nvSpPr>
          <p:spPr bwMode="auto">
            <a:xfrm>
              <a:off x="2603498" y="3603865"/>
              <a:ext cx="674688" cy="438271"/>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25963" name="Group 6"/>
            <p:cNvGrpSpPr/>
            <p:nvPr/>
          </p:nvGrpSpPr>
          <p:grpSpPr>
            <a:xfrm>
              <a:off x="5108573" y="1663402"/>
              <a:ext cx="739775" cy="874713"/>
              <a:chOff x="3610" y="1785"/>
              <a:chExt cx="466" cy="551"/>
            </a:xfrm>
          </p:grpSpPr>
          <p:sp>
            <p:nvSpPr>
              <p:cNvPr id="108549"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50" name="Rectangle 8"/>
              <p:cNvSpPr>
                <a:spLocks noChangeArrowheads="1"/>
              </p:cNvSpPr>
              <p:nvPr/>
            </p:nvSpPr>
            <p:spPr bwMode="auto">
              <a:xfrm>
                <a:off x="3678" y="1785"/>
                <a:ext cx="285" cy="551"/>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1</a:t>
                </a:r>
              </a:p>
            </p:txBody>
          </p:sp>
        </p:grpSp>
        <p:sp>
          <p:nvSpPr>
            <p:cNvPr id="108551" name="Line 9"/>
            <p:cNvSpPr>
              <a:spLocks noChangeShapeType="1"/>
            </p:cNvSpPr>
            <p:nvPr/>
          </p:nvSpPr>
          <p:spPr bwMode="auto">
            <a:xfrm flipV="1">
              <a:off x="3143248" y="3129071"/>
              <a:ext cx="382588" cy="46209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52" name="Line 10"/>
            <p:cNvSpPr>
              <a:spLocks noChangeShapeType="1"/>
            </p:cNvSpPr>
            <p:nvPr/>
          </p:nvSpPr>
          <p:spPr bwMode="auto">
            <a:xfrm flipV="1">
              <a:off x="3890961" y="2076266"/>
              <a:ext cx="1287462" cy="60659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53" name="Rectangle 11"/>
            <p:cNvSpPr>
              <a:spLocks noChangeArrowheads="1"/>
            </p:cNvSpPr>
            <p:nvPr/>
          </p:nvSpPr>
          <p:spPr bwMode="auto">
            <a:xfrm>
              <a:off x="3519486" y="2730498"/>
              <a:ext cx="515937" cy="87495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2</a:t>
              </a:r>
            </a:p>
          </p:txBody>
        </p:sp>
        <p:sp>
          <p:nvSpPr>
            <p:cNvPr id="108554" name="Rectangle 12"/>
            <p:cNvSpPr>
              <a:spLocks noChangeArrowheads="1"/>
            </p:cNvSpPr>
            <p:nvPr/>
          </p:nvSpPr>
          <p:spPr bwMode="auto">
            <a:xfrm>
              <a:off x="2752723" y="3638799"/>
              <a:ext cx="460375" cy="87495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25968" name="Group 13"/>
            <p:cNvGrpSpPr/>
            <p:nvPr/>
          </p:nvGrpSpPr>
          <p:grpSpPr>
            <a:xfrm>
              <a:off x="4016377" y="3128666"/>
              <a:ext cx="719138" cy="1343026"/>
              <a:chOff x="2922" y="2708"/>
              <a:chExt cx="453" cy="846"/>
            </a:xfrm>
          </p:grpSpPr>
          <p:sp>
            <p:nvSpPr>
              <p:cNvPr id="108556" name="Rectangle 14"/>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57"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58" name="Rectangle 16"/>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108559" name="Rectangle 17"/>
            <p:cNvSpPr>
              <a:spLocks noChangeArrowheads="1"/>
            </p:cNvSpPr>
            <p:nvPr/>
          </p:nvSpPr>
          <p:spPr bwMode="auto">
            <a:xfrm>
              <a:off x="6684961" y="2686035"/>
              <a:ext cx="703262" cy="446212"/>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60" name="Rectangle 18"/>
            <p:cNvSpPr>
              <a:spLocks noChangeArrowheads="1"/>
            </p:cNvSpPr>
            <p:nvPr/>
          </p:nvSpPr>
          <p:spPr bwMode="auto">
            <a:xfrm>
              <a:off x="5959473" y="3584809"/>
              <a:ext cx="715963" cy="457327"/>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61" name="Rectangle 19"/>
            <p:cNvSpPr>
              <a:spLocks noChangeArrowheads="1"/>
            </p:cNvSpPr>
            <p:nvPr/>
          </p:nvSpPr>
          <p:spPr bwMode="auto">
            <a:xfrm>
              <a:off x="6831011" y="2724146"/>
              <a:ext cx="434975" cy="8130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108562" name="Line 20"/>
            <p:cNvSpPr>
              <a:spLocks noChangeShapeType="1"/>
            </p:cNvSpPr>
            <p:nvPr/>
          </p:nvSpPr>
          <p:spPr bwMode="auto">
            <a:xfrm flipV="1">
              <a:off x="6326186" y="3138599"/>
              <a:ext cx="349250" cy="4081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63" name="Rectangle 21"/>
            <p:cNvSpPr>
              <a:spLocks noChangeArrowheads="1"/>
            </p:cNvSpPr>
            <p:nvPr/>
          </p:nvSpPr>
          <p:spPr bwMode="auto">
            <a:xfrm>
              <a:off x="6056311" y="3649916"/>
              <a:ext cx="557212" cy="874954"/>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6</a:t>
              </a:r>
            </a:p>
          </p:txBody>
        </p:sp>
        <p:grpSp>
          <p:nvGrpSpPr>
            <p:cNvPr id="125974" name="Group 22"/>
            <p:cNvGrpSpPr/>
            <p:nvPr/>
          </p:nvGrpSpPr>
          <p:grpSpPr>
            <a:xfrm>
              <a:off x="7335836" y="3128668"/>
              <a:ext cx="688975" cy="1350963"/>
              <a:chOff x="5013" y="2708"/>
              <a:chExt cx="434" cy="851"/>
            </a:xfrm>
          </p:grpSpPr>
          <p:sp>
            <p:nvSpPr>
              <p:cNvPr id="108565" name="Rectangle 23"/>
              <p:cNvSpPr>
                <a:spLocks noChangeArrowheads="1"/>
              </p:cNvSpPr>
              <p:nvPr/>
            </p:nvSpPr>
            <p:spPr bwMode="auto">
              <a:xfrm>
                <a:off x="5013" y="2989"/>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66"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67" name="Rectangle 25"/>
              <p:cNvSpPr>
                <a:spLocks noChangeArrowheads="1"/>
              </p:cNvSpPr>
              <p:nvPr/>
            </p:nvSpPr>
            <p:spPr bwMode="auto">
              <a:xfrm>
                <a:off x="5106" y="3008"/>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108568" name="Line 26"/>
            <p:cNvSpPr>
              <a:spLocks noChangeShapeType="1"/>
            </p:cNvSpPr>
            <p:nvPr/>
          </p:nvSpPr>
          <p:spPr bwMode="auto">
            <a:xfrm flipH="1" flipV="1">
              <a:off x="5848348" y="2111201"/>
              <a:ext cx="1166813" cy="58277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23922" name="Group 27"/>
          <p:cNvGrpSpPr/>
          <p:nvPr/>
        </p:nvGrpSpPr>
        <p:grpSpPr bwMode="auto">
          <a:xfrm>
            <a:off x="1187450" y="1663402"/>
            <a:ext cx="825500" cy="4183062"/>
            <a:chOff x="748" y="1394"/>
            <a:chExt cx="520" cy="2635"/>
          </a:xfrm>
          <a:solidFill>
            <a:schemeClr val="accent1">
              <a:lumMod val="40000"/>
              <a:lumOff val="60000"/>
            </a:schemeClr>
          </a:solidFill>
        </p:grpSpPr>
        <p:sp>
          <p:nvSpPr>
            <p:cNvPr id="108570" name="Rectangle 28"/>
            <p:cNvSpPr>
              <a:spLocks noChangeArrowheads="1"/>
            </p:cNvSpPr>
            <p:nvPr/>
          </p:nvSpPr>
          <p:spPr bwMode="auto">
            <a:xfrm>
              <a:off x="752" y="1394"/>
              <a:ext cx="512" cy="2635"/>
            </a:xfrm>
            <a:prstGeom prst="rect">
              <a:avLst/>
            </a:prstGeom>
            <a:grp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71" name="Line 29"/>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72" name="Line 30"/>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73" name="Line 31"/>
            <p:cNvSpPr>
              <a:spLocks noChangeShapeType="1"/>
            </p:cNvSpPr>
            <p:nvPr/>
          </p:nvSpPr>
          <p:spPr bwMode="auto">
            <a:xfrm flipV="1">
              <a:off x="748" y="2515"/>
              <a:ext cx="520" cy="2"/>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74" name="Line 32"/>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75" name="Line 33"/>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8576" name="Line 34"/>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08577" name="Rectangle 35"/>
          <p:cNvSpPr>
            <a:spLocks noChangeArrowheads="1"/>
          </p:cNvSpPr>
          <p:nvPr/>
        </p:nvSpPr>
        <p:spPr bwMode="auto">
          <a:xfrm>
            <a:off x="447675" y="1068388"/>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08578" name="Rectangle 36"/>
          <p:cNvSpPr>
            <a:spLocks noChangeArrowheads="1"/>
          </p:cNvSpPr>
          <p:nvPr/>
        </p:nvSpPr>
        <p:spPr bwMode="auto">
          <a:xfrm>
            <a:off x="1431925" y="1766888"/>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  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35653" name="Rectangle 37"/>
          <p:cNvSpPr>
            <a:spLocks noChangeArrowheads="1"/>
          </p:cNvSpPr>
          <p:nvPr/>
        </p:nvSpPr>
        <p:spPr bwMode="auto">
          <a:xfrm>
            <a:off x="974725" y="192088"/>
            <a:ext cx="47323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如何将无序序列建成堆</a:t>
            </a:r>
          </a:p>
        </p:txBody>
      </p:sp>
      <p:sp>
        <p:nvSpPr>
          <p:cNvPr id="1135655" name="Rectangle 39"/>
          <p:cNvSpPr>
            <a:spLocks noChangeArrowheads="1"/>
          </p:cNvSpPr>
          <p:nvPr/>
        </p:nvSpPr>
        <p:spPr bwMode="auto">
          <a:xfrm>
            <a:off x="2332038" y="4873625"/>
            <a:ext cx="4933950" cy="10160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思考：有</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n </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个结点的完全二叉树，最后一个分支结点的标号是多少？</a:t>
            </a:r>
          </a:p>
        </p:txBody>
      </p:sp>
      <p:sp>
        <p:nvSpPr>
          <p:cNvPr id="1135656" name="Text Box 40"/>
          <p:cNvSpPr txBox="1">
            <a:spLocks noChangeArrowheads="1"/>
          </p:cNvSpPr>
          <p:nvPr/>
        </p:nvSpPr>
        <p:spPr bwMode="auto">
          <a:xfrm>
            <a:off x="7416800" y="5297488"/>
            <a:ext cx="1176338" cy="522288"/>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Tx/>
              <a:buNone/>
              <a:defRPr/>
            </a:pPr>
            <a:r>
              <a:rPr kumimoji="0" lang="en-US" altLang="zh-CN" sz="2800" b="1" i="0" u="none" strike="noStrike" kern="1200" cap="none" spc="0" normalizeH="0" baseline="0" noProof="0" dirty="0">
                <a:ln>
                  <a:noFill/>
                </a:ln>
                <a:solidFill>
                  <a:schemeClr val="accent2"/>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800" b="1" i="0" u="none" strike="noStrike" kern="1200" cap="none" spc="0" normalizeH="0" baseline="0" noProof="0" dirty="0">
                <a:ln>
                  <a:noFill/>
                </a:ln>
                <a:solidFill>
                  <a:schemeClr val="accent2"/>
                </a:solidFill>
                <a:effectLst/>
                <a:uLnTx/>
                <a:uFillTx/>
                <a:latin typeface="+mn-lt"/>
                <a:ea typeface="+mn-ea"/>
                <a:cs typeface="+mn-ea"/>
                <a:sym typeface="+mn-lt"/>
              </a:rPr>
              <a:t>n/2</a:t>
            </a:r>
            <a:r>
              <a:rPr kumimoji="0" lang="en-US" altLang="zh-CN" sz="2800" b="1" i="0" u="none" strike="noStrike" kern="1200" cap="none" spc="0" normalizeH="0" baseline="0" noProof="0" dirty="0">
                <a:ln>
                  <a:noFill/>
                </a:ln>
                <a:solidFill>
                  <a:schemeClr val="accent2"/>
                </a:solidFill>
                <a:effectLst/>
                <a:uLnTx/>
                <a:uFillTx/>
                <a:latin typeface="Times New Roman" panose="02020603050405020304" pitchFamily="18" charset="0"/>
                <a:ea typeface="楷体_GB2312" pitchFamily="49" charset="-122"/>
                <a:cs typeface="+mn-cs"/>
                <a:sym typeface="Symbol" panose="05050102010706020507" pitchFamily="18" charset="2"/>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135655"/>
                                        </p:tgtEl>
                                        <p:attrNameLst>
                                          <p:attrName>style.visibility</p:attrName>
                                        </p:attrNameLst>
                                      </p:cBhvr>
                                      <p:to>
                                        <p:strVal val="visible"/>
                                      </p:to>
                                    </p:set>
                                    <p:animEffect transition="in" filter="diamond(in)">
                                      <p:cBhvr>
                                        <p:cTn id="7" dur="2000"/>
                                        <p:tgtEl>
                                          <p:spTgt spid="1135655"/>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135656"/>
                                        </p:tgtEl>
                                        <p:attrNameLst>
                                          <p:attrName>style.visibility</p:attrName>
                                        </p:attrNameLst>
                                      </p:cBhvr>
                                      <p:to>
                                        <p:strVal val="visible"/>
                                      </p:to>
                                    </p:set>
                                    <p:anim calcmode="lin" valueType="num">
                                      <p:cBhvr additive="base">
                                        <p:cTn id="12" dur="500" fill="hold"/>
                                        <p:tgtEl>
                                          <p:spTgt spid="1135656"/>
                                        </p:tgtEl>
                                        <p:attrNameLst>
                                          <p:attrName>ppt_x</p:attrName>
                                        </p:attrNameLst>
                                      </p:cBhvr>
                                      <p:tavLst>
                                        <p:tav tm="0">
                                          <p:val>
                                            <p:strVal val="#ppt_x"/>
                                          </p:val>
                                        </p:tav>
                                        <p:tav tm="100000">
                                          <p:val>
                                            <p:strVal val="#ppt_x"/>
                                          </p:val>
                                        </p:tav>
                                      </p:tavLst>
                                    </p:anim>
                                    <p:anim calcmode="lin" valueType="num">
                                      <p:cBhvr additive="base">
                                        <p:cTn id="13" dur="500" fill="hold"/>
                                        <p:tgtEl>
                                          <p:spTgt spid="11356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5655" grpId="0"/>
      <p:bldP spid="1135656"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946" name="Group 39"/>
          <p:cNvGrpSpPr/>
          <p:nvPr/>
        </p:nvGrpSpPr>
        <p:grpSpPr bwMode="auto">
          <a:xfrm>
            <a:off x="1238250" y="1856580"/>
            <a:ext cx="825500" cy="4183063"/>
            <a:chOff x="748" y="1394"/>
            <a:chExt cx="520" cy="2635"/>
          </a:xfrm>
          <a:solidFill>
            <a:schemeClr val="accent1">
              <a:lumMod val="60000"/>
              <a:lumOff val="40000"/>
            </a:schemeClr>
          </a:solidFill>
        </p:grpSpPr>
        <p:sp>
          <p:nvSpPr>
            <p:cNvPr id="109594" name="Rectangle 40"/>
            <p:cNvSpPr>
              <a:spLocks noChangeArrowheads="1"/>
            </p:cNvSpPr>
            <p:nvPr/>
          </p:nvSpPr>
          <p:spPr bwMode="auto">
            <a:xfrm>
              <a:off x="752" y="1394"/>
              <a:ext cx="512" cy="2635"/>
            </a:xfrm>
            <a:prstGeom prst="rect">
              <a:avLst/>
            </a:prstGeom>
            <a:grp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9595" name="Line 41"/>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9596" name="Line 42"/>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9597" name="Line 43"/>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9598" name="Line 44"/>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9599" name="Line 45"/>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9600" name="Line 46"/>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109601" name="Rectangle 47"/>
          <p:cNvSpPr>
            <a:spLocks noChangeArrowheads="1"/>
          </p:cNvSpPr>
          <p:nvPr/>
        </p:nvSpPr>
        <p:spPr bwMode="auto">
          <a:xfrm>
            <a:off x="498475" y="1260475"/>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09602" name="Rectangle 48"/>
          <p:cNvSpPr>
            <a:spLocks noChangeArrowheads="1"/>
          </p:cNvSpPr>
          <p:nvPr/>
        </p:nvSpPr>
        <p:spPr bwMode="auto">
          <a:xfrm>
            <a:off x="1482725" y="1958975"/>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  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grpSp>
        <p:nvGrpSpPr>
          <p:cNvPr id="6" name="Group 50"/>
          <p:cNvGrpSpPr/>
          <p:nvPr/>
        </p:nvGrpSpPr>
        <p:grpSpPr>
          <a:xfrm>
            <a:off x="804863" y="1084263"/>
            <a:ext cx="8248650" cy="2238375"/>
            <a:chOff x="522" y="1486"/>
            <a:chExt cx="5196" cy="1410"/>
          </a:xfrm>
        </p:grpSpPr>
        <p:sp>
          <p:nvSpPr>
            <p:cNvPr id="109604" name="Rectangle 51"/>
            <p:cNvSpPr>
              <a:spLocks noChangeArrowheads="1"/>
            </p:cNvSpPr>
            <p:nvPr/>
          </p:nvSpPr>
          <p:spPr bwMode="auto">
            <a:xfrm>
              <a:off x="522" y="1486"/>
              <a:ext cx="5196" cy="291"/>
            </a:xfrm>
            <a:prstGeom prst="rect">
              <a:avLst/>
            </a:prstGeom>
            <a:noFill/>
            <a:ln w="38100">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从第</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rgbClr val="4D4D4D"/>
                  </a:solidFill>
                  <a:effectLst/>
                  <a:uLnTx/>
                  <a:uFillTx/>
                  <a:latin typeface="Times New Roman" panose="02020603050405020304" pitchFamily="18" charset="0"/>
                  <a:ea typeface="楷体_GB2312" pitchFamily="49" charset="-122"/>
                  <a:cs typeface="+mn-cs"/>
                  <a:sym typeface="Symbol" panose="05050102010706020507" pitchFamily="18" charset="2"/>
                </a:rPr>
                <a:t></a:t>
              </a:r>
              <a:r>
                <a:rPr kumimoji="0" lang="en-US" altLang="zh-CN" sz="2400" b="0" i="0" u="none" strike="noStrike" kern="1200" cap="none" spc="0" normalizeH="0" baseline="0" noProof="0" dirty="0">
                  <a:ln>
                    <a:noFill/>
                  </a:ln>
                  <a:solidFill>
                    <a:srgbClr val="4D4D4D"/>
                  </a:solidFill>
                  <a:effectLst/>
                  <a:uLnTx/>
                  <a:uFillTx/>
                  <a:latin typeface="+mn-lt"/>
                  <a:ea typeface="+mn-ea"/>
                  <a:cs typeface="+mn-ea"/>
                  <a:sym typeface="+mn-lt"/>
                </a:rPr>
                <a:t>n/2</a:t>
              </a:r>
              <a:r>
                <a:rPr kumimoji="0" lang="en-US" altLang="zh-CN" sz="2400" b="0" i="0" u="none" strike="noStrike" kern="1200" cap="none" spc="0" normalizeH="0" baseline="0" noProof="0" dirty="0">
                  <a:ln>
                    <a:noFill/>
                  </a:ln>
                  <a:solidFill>
                    <a:srgbClr val="4D4D4D"/>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个元素起，至第一个元素止，进行反复筛选</a:t>
              </a:r>
              <a:endPar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endParaRPr>
            </a:p>
          </p:txBody>
        </p:sp>
        <p:sp>
          <p:nvSpPr>
            <p:cNvPr id="109605" name="AutoShape 52"/>
            <p:cNvSpPr>
              <a:spLocks noChangeArrowheads="1"/>
            </p:cNvSpPr>
            <p:nvPr/>
          </p:nvSpPr>
          <p:spPr bwMode="auto">
            <a:xfrm>
              <a:off x="2812" y="1894"/>
              <a:ext cx="182" cy="499"/>
            </a:xfrm>
            <a:prstGeom prst="downArrow">
              <a:avLst>
                <a:gd name="adj1" fmla="val 50000"/>
                <a:gd name="adj2" fmla="val 68519"/>
              </a:avLst>
            </a:prstGeom>
            <a:solidFill>
              <a:schemeClr val="accent1"/>
            </a:solidFill>
            <a:ln>
              <a:noFill/>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9606" name="Oval 53"/>
            <p:cNvSpPr>
              <a:spLocks noChangeArrowheads="1"/>
            </p:cNvSpPr>
            <p:nvPr/>
          </p:nvSpPr>
          <p:spPr bwMode="auto">
            <a:xfrm>
              <a:off x="2470" y="2466"/>
              <a:ext cx="897" cy="430"/>
            </a:xfrm>
            <a:prstGeom prst="ellipse">
              <a:avLst/>
            </a:prstGeom>
            <a:solidFill>
              <a:srgbClr val="FF0000"/>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堆</a:t>
              </a:r>
            </a:p>
          </p:txBody>
        </p:sp>
      </p:grpSp>
      <p:sp>
        <p:nvSpPr>
          <p:cNvPr id="40" name="Rectangle 7"/>
          <p:cNvSpPr>
            <a:spLocks noChangeArrowheads="1"/>
          </p:cNvSpPr>
          <p:nvPr/>
        </p:nvSpPr>
        <p:spPr bwMode="auto">
          <a:xfrm>
            <a:off x="876300" y="211138"/>
            <a:ext cx="17526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400" b="0" i="0" u="none" strike="noStrike" kern="0" cap="none" spc="0" normalizeH="0" baseline="0" noProof="0" dirty="0">
                <a:ln>
                  <a:noFill/>
                </a:ln>
                <a:solidFill>
                  <a:schemeClr val="bg1"/>
                </a:solidFill>
                <a:effectLst/>
                <a:uLnTx/>
                <a:uFillTx/>
                <a:latin typeface="+mn-lt"/>
                <a:ea typeface="+mn-ea"/>
                <a:cs typeface="+mn-ea"/>
                <a:sym typeface="+mn-lt"/>
              </a:rPr>
              <a:t>堆排序</a:t>
            </a:r>
          </a:p>
        </p:txBody>
      </p:sp>
      <p:grpSp>
        <p:nvGrpSpPr>
          <p:cNvPr id="126983" name="组合 40"/>
          <p:cNvGrpSpPr/>
          <p:nvPr/>
        </p:nvGrpSpPr>
        <p:grpSpPr>
          <a:xfrm>
            <a:off x="2505075" y="3446463"/>
            <a:ext cx="5421313" cy="2851150"/>
            <a:chOff x="2603498" y="1663402"/>
            <a:chExt cx="5421313" cy="2850853"/>
          </a:xfrm>
        </p:grpSpPr>
        <p:sp>
          <p:nvSpPr>
            <p:cNvPr id="42" name="Rectangle 4"/>
            <p:cNvSpPr>
              <a:spLocks noChangeArrowheads="1"/>
            </p:cNvSpPr>
            <p:nvPr/>
          </p:nvSpPr>
          <p:spPr bwMode="auto">
            <a:xfrm>
              <a:off x="3406773" y="2676121"/>
              <a:ext cx="763588" cy="455565"/>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3" name="Rectangle 5"/>
            <p:cNvSpPr>
              <a:spLocks noChangeArrowheads="1"/>
            </p:cNvSpPr>
            <p:nvPr/>
          </p:nvSpPr>
          <p:spPr bwMode="auto">
            <a:xfrm>
              <a:off x="2603498" y="3603125"/>
              <a:ext cx="674688" cy="438104"/>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26986" name="Group 6"/>
            <p:cNvGrpSpPr/>
            <p:nvPr/>
          </p:nvGrpSpPr>
          <p:grpSpPr>
            <a:xfrm>
              <a:off x="5108573" y="1663402"/>
              <a:ext cx="739775" cy="874713"/>
              <a:chOff x="3610" y="1785"/>
              <a:chExt cx="466" cy="551"/>
            </a:xfrm>
          </p:grpSpPr>
          <p:sp>
            <p:nvSpPr>
              <p:cNvPr id="63"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Rectangle 8"/>
              <p:cNvSpPr>
                <a:spLocks noChangeArrowheads="1"/>
              </p:cNvSpPr>
              <p:nvPr/>
            </p:nvSpPr>
            <p:spPr bwMode="auto">
              <a:xfrm>
                <a:off x="3678" y="1785"/>
                <a:ext cx="285" cy="551"/>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1</a:t>
                </a:r>
              </a:p>
            </p:txBody>
          </p:sp>
        </p:grpSp>
        <p:sp>
          <p:nvSpPr>
            <p:cNvPr id="45" name="Line 9"/>
            <p:cNvSpPr>
              <a:spLocks noChangeShapeType="1"/>
            </p:cNvSpPr>
            <p:nvPr/>
          </p:nvSpPr>
          <p:spPr bwMode="auto">
            <a:xfrm flipV="1">
              <a:off x="3143248" y="3128511"/>
              <a:ext cx="382588" cy="46191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 name="Line 10"/>
            <p:cNvSpPr>
              <a:spLocks noChangeShapeType="1"/>
            </p:cNvSpPr>
            <p:nvPr/>
          </p:nvSpPr>
          <p:spPr bwMode="auto">
            <a:xfrm flipV="1">
              <a:off x="3890961" y="2076109"/>
              <a:ext cx="1287462" cy="606362"/>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7" name="Rectangle 11"/>
            <p:cNvSpPr>
              <a:spLocks noChangeArrowheads="1"/>
            </p:cNvSpPr>
            <p:nvPr/>
          </p:nvSpPr>
          <p:spPr bwMode="auto">
            <a:xfrm>
              <a:off x="3519486" y="2730091"/>
              <a:ext cx="515937" cy="87462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2</a:t>
              </a:r>
            </a:p>
          </p:txBody>
        </p:sp>
        <p:sp>
          <p:nvSpPr>
            <p:cNvPr id="48" name="Rectangle 12"/>
            <p:cNvSpPr>
              <a:spLocks noChangeArrowheads="1"/>
            </p:cNvSpPr>
            <p:nvPr/>
          </p:nvSpPr>
          <p:spPr bwMode="auto">
            <a:xfrm>
              <a:off x="2752723" y="3639633"/>
              <a:ext cx="460375" cy="874622"/>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26991" name="Group 13"/>
            <p:cNvGrpSpPr/>
            <p:nvPr/>
          </p:nvGrpSpPr>
          <p:grpSpPr>
            <a:xfrm>
              <a:off x="4016377" y="3128666"/>
              <a:ext cx="719138" cy="1343026"/>
              <a:chOff x="2922" y="2708"/>
              <a:chExt cx="453" cy="846"/>
            </a:xfrm>
          </p:grpSpPr>
          <p:sp>
            <p:nvSpPr>
              <p:cNvPr id="60" name="Rectangle 14"/>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 name="Rectangle 16"/>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50" name="Rectangle 17"/>
            <p:cNvSpPr>
              <a:spLocks noChangeArrowheads="1"/>
            </p:cNvSpPr>
            <p:nvPr/>
          </p:nvSpPr>
          <p:spPr bwMode="auto">
            <a:xfrm>
              <a:off x="6684961" y="2685646"/>
              <a:ext cx="703262" cy="446041"/>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 name="Rectangle 18"/>
            <p:cNvSpPr>
              <a:spLocks noChangeArrowheads="1"/>
            </p:cNvSpPr>
            <p:nvPr/>
          </p:nvSpPr>
          <p:spPr bwMode="auto">
            <a:xfrm>
              <a:off x="5959473" y="3584077"/>
              <a:ext cx="715963" cy="457152"/>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Rectangle 19"/>
            <p:cNvSpPr>
              <a:spLocks noChangeArrowheads="1"/>
            </p:cNvSpPr>
            <p:nvPr/>
          </p:nvSpPr>
          <p:spPr bwMode="auto">
            <a:xfrm>
              <a:off x="6831011" y="2725328"/>
              <a:ext cx="504825" cy="81112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12</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53" name="Line 20"/>
            <p:cNvSpPr>
              <a:spLocks noChangeShapeType="1"/>
            </p:cNvSpPr>
            <p:nvPr/>
          </p:nvSpPr>
          <p:spPr bwMode="auto">
            <a:xfrm flipV="1">
              <a:off x="6326186" y="3138035"/>
              <a:ext cx="349250" cy="407946"/>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Rectangle 21"/>
            <p:cNvSpPr>
              <a:spLocks noChangeArrowheads="1"/>
            </p:cNvSpPr>
            <p:nvPr/>
          </p:nvSpPr>
          <p:spPr bwMode="auto">
            <a:xfrm>
              <a:off x="6056311" y="3650745"/>
              <a:ext cx="557212" cy="811127"/>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6</a:t>
              </a:r>
            </a:p>
          </p:txBody>
        </p:sp>
        <p:grpSp>
          <p:nvGrpSpPr>
            <p:cNvPr id="126997" name="Group 22"/>
            <p:cNvGrpSpPr/>
            <p:nvPr/>
          </p:nvGrpSpPr>
          <p:grpSpPr>
            <a:xfrm>
              <a:off x="7335836" y="3128668"/>
              <a:ext cx="688975" cy="1325563"/>
              <a:chOff x="5013" y="2708"/>
              <a:chExt cx="434" cy="835"/>
            </a:xfrm>
          </p:grpSpPr>
          <p:sp>
            <p:nvSpPr>
              <p:cNvPr id="57" name="Rectangle 23"/>
              <p:cNvSpPr>
                <a:spLocks noChangeArrowheads="1"/>
              </p:cNvSpPr>
              <p:nvPr/>
            </p:nvSpPr>
            <p:spPr bwMode="auto">
              <a:xfrm>
                <a:off x="5013" y="2989"/>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Rectangle 25"/>
              <p:cNvSpPr>
                <a:spLocks noChangeArrowheads="1"/>
              </p:cNvSpPr>
              <p:nvPr/>
            </p:nvSpPr>
            <p:spPr bwMode="auto">
              <a:xfrm>
                <a:off x="5106" y="3031"/>
                <a:ext cx="291" cy="512"/>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56" name="Line 26"/>
            <p:cNvSpPr>
              <a:spLocks noChangeShapeType="1"/>
            </p:cNvSpPr>
            <p:nvPr/>
          </p:nvSpPr>
          <p:spPr bwMode="auto">
            <a:xfrm flipH="1" flipV="1">
              <a:off x="5848348" y="2111030"/>
              <a:ext cx="1166813" cy="582551"/>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ox(in)">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Oval 2"/>
          <p:cNvSpPr>
            <a:spLocks noChangeArrowheads="1"/>
          </p:cNvSpPr>
          <p:nvPr/>
        </p:nvSpPr>
        <p:spPr bwMode="auto">
          <a:xfrm>
            <a:off x="5788025" y="3076575"/>
            <a:ext cx="2679700" cy="2444750"/>
          </a:xfrm>
          <a:prstGeom prst="ellipse">
            <a:avLst/>
          </a:prstGeom>
          <a:solidFill>
            <a:srgbClr val="FFFFFF"/>
          </a:solidFill>
          <a:ln w="381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25969" name="Group 32"/>
          <p:cNvGrpSpPr/>
          <p:nvPr/>
        </p:nvGrpSpPr>
        <p:grpSpPr bwMode="auto">
          <a:xfrm>
            <a:off x="1545928" y="1675731"/>
            <a:ext cx="825500" cy="4183062"/>
            <a:chOff x="748" y="1394"/>
            <a:chExt cx="520" cy="2635"/>
          </a:xfrm>
          <a:solidFill>
            <a:schemeClr val="accent1">
              <a:lumMod val="60000"/>
              <a:lumOff val="40000"/>
            </a:schemeClr>
          </a:solidFill>
        </p:grpSpPr>
        <p:sp>
          <p:nvSpPr>
            <p:cNvPr id="110617" name="Rectangle 33"/>
            <p:cNvSpPr>
              <a:spLocks noChangeArrowheads="1"/>
            </p:cNvSpPr>
            <p:nvPr/>
          </p:nvSpPr>
          <p:spPr bwMode="auto">
            <a:xfrm>
              <a:off x="752" y="1394"/>
              <a:ext cx="512" cy="2635"/>
            </a:xfrm>
            <a:prstGeom prst="rect">
              <a:avLst/>
            </a:prstGeom>
            <a:grp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18" name="Line 34"/>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19" name="Line 35"/>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20" name="Line 36"/>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21" name="Line 37"/>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22" name="Line 38"/>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23" name="Line 39"/>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0624" name="Rectangle 40"/>
          <p:cNvSpPr>
            <a:spLocks noChangeArrowheads="1"/>
          </p:cNvSpPr>
          <p:nvPr/>
        </p:nvSpPr>
        <p:spPr bwMode="auto">
          <a:xfrm>
            <a:off x="806450" y="1081088"/>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10625" name="Rectangle 41"/>
          <p:cNvSpPr>
            <a:spLocks noChangeArrowheads="1"/>
          </p:cNvSpPr>
          <p:nvPr/>
        </p:nvSpPr>
        <p:spPr bwMode="auto">
          <a:xfrm>
            <a:off x="1738313" y="1766888"/>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  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0626" name="AutoShape 48"/>
          <p:cNvSpPr>
            <a:spLocks noChangeArrowheads="1"/>
          </p:cNvSpPr>
          <p:nvPr/>
        </p:nvSpPr>
        <p:spPr bwMode="auto">
          <a:xfrm rot="18686189">
            <a:off x="7686675" y="2665413"/>
            <a:ext cx="965200" cy="152400"/>
          </a:xfrm>
          <a:prstGeom prst="leftArrow">
            <a:avLst>
              <a:gd name="adj1" fmla="val 50000"/>
              <a:gd name="adj2" fmla="val 158275"/>
            </a:avLst>
          </a:prstGeom>
          <a:solidFill>
            <a:schemeClr val="accent1"/>
          </a:solidFill>
          <a:ln w="9525">
            <a:solidFill>
              <a:schemeClr val="accent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26451" name="Rectangle 51"/>
          <p:cNvSpPr>
            <a:spLocks noChangeArrowheads="1"/>
          </p:cNvSpPr>
          <p:nvPr/>
        </p:nvSpPr>
        <p:spPr bwMode="auto">
          <a:xfrm>
            <a:off x="825500" y="152400"/>
            <a:ext cx="4081463"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无序序列建成堆－</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1</a:t>
            </a:r>
          </a:p>
        </p:txBody>
      </p:sp>
      <p:grpSp>
        <p:nvGrpSpPr>
          <p:cNvPr id="128008" name="组合 40"/>
          <p:cNvGrpSpPr/>
          <p:nvPr/>
        </p:nvGrpSpPr>
        <p:grpSpPr>
          <a:xfrm>
            <a:off x="2682875" y="2395538"/>
            <a:ext cx="5421313" cy="2851150"/>
            <a:chOff x="2603498" y="1663402"/>
            <a:chExt cx="5421313" cy="2850853"/>
          </a:xfrm>
        </p:grpSpPr>
        <p:sp>
          <p:nvSpPr>
            <p:cNvPr id="42" name="Rectangle 4"/>
            <p:cNvSpPr>
              <a:spLocks noChangeArrowheads="1"/>
            </p:cNvSpPr>
            <p:nvPr/>
          </p:nvSpPr>
          <p:spPr bwMode="auto">
            <a:xfrm>
              <a:off x="3406773" y="2676121"/>
              <a:ext cx="763588" cy="455565"/>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3" name="Rectangle 5"/>
            <p:cNvSpPr>
              <a:spLocks noChangeArrowheads="1"/>
            </p:cNvSpPr>
            <p:nvPr/>
          </p:nvSpPr>
          <p:spPr bwMode="auto">
            <a:xfrm>
              <a:off x="2603498" y="3603125"/>
              <a:ext cx="674688" cy="438104"/>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28013" name="Group 6"/>
            <p:cNvGrpSpPr/>
            <p:nvPr/>
          </p:nvGrpSpPr>
          <p:grpSpPr>
            <a:xfrm>
              <a:off x="5108573" y="1663402"/>
              <a:ext cx="739775" cy="874713"/>
              <a:chOff x="3610" y="1785"/>
              <a:chExt cx="466" cy="551"/>
            </a:xfrm>
          </p:grpSpPr>
          <p:sp>
            <p:nvSpPr>
              <p:cNvPr id="63"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Rectangle 8"/>
              <p:cNvSpPr>
                <a:spLocks noChangeArrowheads="1"/>
              </p:cNvSpPr>
              <p:nvPr/>
            </p:nvSpPr>
            <p:spPr bwMode="auto">
              <a:xfrm>
                <a:off x="3678" y="1785"/>
                <a:ext cx="285" cy="551"/>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1</a:t>
                </a:r>
              </a:p>
            </p:txBody>
          </p:sp>
        </p:grpSp>
        <p:sp>
          <p:nvSpPr>
            <p:cNvPr id="45" name="Line 9"/>
            <p:cNvSpPr>
              <a:spLocks noChangeShapeType="1"/>
            </p:cNvSpPr>
            <p:nvPr/>
          </p:nvSpPr>
          <p:spPr bwMode="auto">
            <a:xfrm flipV="1">
              <a:off x="3143248" y="3128511"/>
              <a:ext cx="382588" cy="46191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 name="Line 10"/>
            <p:cNvSpPr>
              <a:spLocks noChangeShapeType="1"/>
            </p:cNvSpPr>
            <p:nvPr/>
          </p:nvSpPr>
          <p:spPr bwMode="auto">
            <a:xfrm flipV="1">
              <a:off x="3890961" y="2076109"/>
              <a:ext cx="1287462" cy="606362"/>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7" name="Rectangle 11"/>
            <p:cNvSpPr>
              <a:spLocks noChangeArrowheads="1"/>
            </p:cNvSpPr>
            <p:nvPr/>
          </p:nvSpPr>
          <p:spPr bwMode="auto">
            <a:xfrm>
              <a:off x="3519486" y="2730091"/>
              <a:ext cx="515937" cy="87462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2</a:t>
              </a:r>
            </a:p>
          </p:txBody>
        </p:sp>
        <p:sp>
          <p:nvSpPr>
            <p:cNvPr id="48" name="Rectangle 12"/>
            <p:cNvSpPr>
              <a:spLocks noChangeArrowheads="1"/>
            </p:cNvSpPr>
            <p:nvPr/>
          </p:nvSpPr>
          <p:spPr bwMode="auto">
            <a:xfrm>
              <a:off x="2752723" y="3639633"/>
              <a:ext cx="460375" cy="874622"/>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28018" name="Group 13"/>
            <p:cNvGrpSpPr/>
            <p:nvPr/>
          </p:nvGrpSpPr>
          <p:grpSpPr>
            <a:xfrm>
              <a:off x="4016377" y="3128666"/>
              <a:ext cx="719138" cy="1343026"/>
              <a:chOff x="2922" y="2708"/>
              <a:chExt cx="453" cy="846"/>
            </a:xfrm>
          </p:grpSpPr>
          <p:sp>
            <p:nvSpPr>
              <p:cNvPr id="60" name="Rectangle 14"/>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 name="Rectangle 16"/>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50" name="Rectangle 17"/>
            <p:cNvSpPr>
              <a:spLocks noChangeArrowheads="1"/>
            </p:cNvSpPr>
            <p:nvPr/>
          </p:nvSpPr>
          <p:spPr bwMode="auto">
            <a:xfrm>
              <a:off x="6684961" y="2685646"/>
              <a:ext cx="703262" cy="446041"/>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 name="Rectangle 18"/>
            <p:cNvSpPr>
              <a:spLocks noChangeArrowheads="1"/>
            </p:cNvSpPr>
            <p:nvPr/>
          </p:nvSpPr>
          <p:spPr bwMode="auto">
            <a:xfrm>
              <a:off x="5959473" y="3584077"/>
              <a:ext cx="715963" cy="457152"/>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Rectangle 19"/>
            <p:cNvSpPr>
              <a:spLocks noChangeArrowheads="1"/>
            </p:cNvSpPr>
            <p:nvPr/>
          </p:nvSpPr>
          <p:spPr bwMode="auto">
            <a:xfrm>
              <a:off x="6831011" y="2725328"/>
              <a:ext cx="434975" cy="81112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dirty="0">
                <a:ln>
                  <a:noFill/>
                </a:ln>
                <a:solidFill>
                  <a:srgbClr val="FF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53" name="Line 20"/>
            <p:cNvSpPr>
              <a:spLocks noChangeShapeType="1"/>
            </p:cNvSpPr>
            <p:nvPr/>
          </p:nvSpPr>
          <p:spPr bwMode="auto">
            <a:xfrm flipV="1">
              <a:off x="6326186" y="3138035"/>
              <a:ext cx="349250" cy="407946"/>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Rectangle 21"/>
            <p:cNvSpPr>
              <a:spLocks noChangeArrowheads="1"/>
            </p:cNvSpPr>
            <p:nvPr/>
          </p:nvSpPr>
          <p:spPr bwMode="auto">
            <a:xfrm>
              <a:off x="6056311" y="3650745"/>
              <a:ext cx="557212" cy="811127"/>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6</a:t>
              </a:r>
            </a:p>
          </p:txBody>
        </p:sp>
        <p:grpSp>
          <p:nvGrpSpPr>
            <p:cNvPr id="128024" name="Group 22"/>
            <p:cNvGrpSpPr/>
            <p:nvPr/>
          </p:nvGrpSpPr>
          <p:grpSpPr>
            <a:xfrm>
              <a:off x="7335836" y="3128668"/>
              <a:ext cx="688975" cy="1350963"/>
              <a:chOff x="5013" y="2708"/>
              <a:chExt cx="434" cy="851"/>
            </a:xfrm>
          </p:grpSpPr>
          <p:sp>
            <p:nvSpPr>
              <p:cNvPr id="57" name="Rectangle 23"/>
              <p:cNvSpPr>
                <a:spLocks noChangeArrowheads="1"/>
              </p:cNvSpPr>
              <p:nvPr/>
            </p:nvSpPr>
            <p:spPr bwMode="auto">
              <a:xfrm>
                <a:off x="5013" y="2989"/>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Rectangle 25"/>
              <p:cNvSpPr>
                <a:spLocks noChangeArrowheads="1"/>
              </p:cNvSpPr>
              <p:nvPr/>
            </p:nvSpPr>
            <p:spPr bwMode="auto">
              <a:xfrm>
                <a:off x="5106" y="3008"/>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56" name="Line 26"/>
            <p:cNvSpPr>
              <a:spLocks noChangeShapeType="1"/>
            </p:cNvSpPr>
            <p:nvPr/>
          </p:nvSpPr>
          <p:spPr bwMode="auto">
            <a:xfrm flipH="1" flipV="1">
              <a:off x="5848348" y="2111030"/>
              <a:ext cx="1166813" cy="582551"/>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26452" name="Rectangle 52"/>
          <p:cNvSpPr>
            <a:spLocks noChangeArrowheads="1"/>
          </p:cNvSpPr>
          <p:nvPr/>
        </p:nvSpPr>
        <p:spPr bwMode="auto">
          <a:xfrm>
            <a:off x="6829425" y="3359150"/>
            <a:ext cx="638175"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3300"/>
                </a:solidFill>
                <a:effectLst/>
                <a:uLnTx/>
                <a:uFillTx/>
                <a:latin typeface="+mn-lt"/>
                <a:ea typeface="+mn-ea"/>
                <a:cs typeface="+mn-ea"/>
                <a:sym typeface="+mn-lt"/>
              </a:rPr>
              <a:t> 8</a:t>
            </a:r>
          </a:p>
        </p:txBody>
      </p:sp>
      <p:sp>
        <p:nvSpPr>
          <p:cNvPr id="1126453" name="Rectangle 53"/>
          <p:cNvSpPr>
            <a:spLocks noChangeArrowheads="1"/>
          </p:cNvSpPr>
          <p:nvPr/>
        </p:nvSpPr>
        <p:spPr bwMode="auto">
          <a:xfrm>
            <a:off x="6043613" y="4273550"/>
            <a:ext cx="69215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3200" b="1" i="0" u="none" strike="noStrike" kern="1200" cap="none" spc="0" normalizeH="0" baseline="0" noProof="0" dirty="0">
                <a:ln>
                  <a:noFill/>
                </a:ln>
                <a:solidFill>
                  <a:srgbClr val="FF3300"/>
                </a:solidFill>
                <a:effectLst/>
                <a:uLnTx/>
                <a:uFillTx/>
                <a:latin typeface="+mn-lt"/>
                <a:ea typeface="+mn-ea"/>
                <a:cs typeface="+mn-ea"/>
                <a:sym typeface="+mn-lt"/>
              </a:rPr>
              <a:t>12</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fill="hold" grpId="0" nodeType="clickEffect">
                                  <p:stCondLst>
                                    <p:cond delay="0"/>
                                  </p:stCondLst>
                                  <p:childTnLst>
                                    <p:animScale>
                                      <p:cBhvr>
                                        <p:cTn id="6" dur="2000" fill="hold"/>
                                        <p:tgtEl>
                                          <p:spTgt spid="1126452"/>
                                        </p:tgtEl>
                                      </p:cBhvr>
                                      <p:by x="150000" y="150000"/>
                                    </p:animScale>
                                  </p:childTnLst>
                                </p:cTn>
                              </p:par>
                            </p:childTnLst>
                          </p:cTn>
                        </p:par>
                      </p:childTnLst>
                    </p:cTn>
                  </p:par>
                  <p:par>
                    <p:cTn id="7" fill="hold">
                      <p:stCondLst>
                        <p:cond delay="indefinite"/>
                      </p:stCondLst>
                      <p:childTnLst>
                        <p:par>
                          <p:cTn id="8" fill="hold">
                            <p:stCondLst>
                              <p:cond delay="0"/>
                            </p:stCondLst>
                            <p:childTnLst>
                              <p:par>
                                <p:cTn id="9" presetID="6" presetClass="emph" presetSubtype="0" fill="hold" grpId="0" nodeType="clickEffect">
                                  <p:stCondLst>
                                    <p:cond delay="0"/>
                                  </p:stCondLst>
                                  <p:childTnLst>
                                    <p:animScale>
                                      <p:cBhvr>
                                        <p:cTn id="10" dur="2000" fill="hold"/>
                                        <p:tgtEl>
                                          <p:spTgt spid="1126453"/>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452" grpId="0"/>
      <p:bldP spid="1126453"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Oval 4"/>
          <p:cNvSpPr>
            <a:spLocks noChangeArrowheads="1"/>
          </p:cNvSpPr>
          <p:nvPr/>
        </p:nvSpPr>
        <p:spPr bwMode="auto">
          <a:xfrm>
            <a:off x="5619750" y="2735263"/>
            <a:ext cx="2679700" cy="3070225"/>
          </a:xfrm>
          <a:prstGeom prst="ellipse">
            <a:avLst/>
          </a:prstGeom>
          <a:solidFill>
            <a:srgbClr val="FFFFFF"/>
          </a:solidFill>
          <a:ln w="381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29027" name="Group 30"/>
          <p:cNvGrpSpPr/>
          <p:nvPr/>
        </p:nvGrpSpPr>
        <p:grpSpPr>
          <a:xfrm>
            <a:off x="1187450" y="1541463"/>
            <a:ext cx="825500" cy="4183062"/>
            <a:chOff x="748" y="1394"/>
            <a:chExt cx="520" cy="2635"/>
          </a:xfrm>
        </p:grpSpPr>
        <p:sp>
          <p:nvSpPr>
            <p:cNvPr id="111643" name="Rectangle 31"/>
            <p:cNvSpPr>
              <a:spLocks noChangeArrowheads="1"/>
            </p:cNvSpPr>
            <p:nvPr/>
          </p:nvSpPr>
          <p:spPr bwMode="auto">
            <a:xfrm>
              <a:off x="752" y="1394"/>
              <a:ext cx="512" cy="2635"/>
            </a:xfrm>
            <a:prstGeom prst="rect">
              <a:avLst/>
            </a:prstGeom>
            <a:solidFill>
              <a:schemeClr val="accent1">
                <a:lumMod val="60000"/>
                <a:lumOff val="40000"/>
              </a:schemeClr>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1644" name="Line 32"/>
            <p:cNvSpPr>
              <a:spLocks noChangeShapeType="1"/>
            </p:cNvSpPr>
            <p:nvPr/>
          </p:nvSpPr>
          <p:spPr bwMode="auto">
            <a:xfrm>
              <a:off x="748" y="1737"/>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1645" name="Line 33"/>
            <p:cNvSpPr>
              <a:spLocks noChangeShapeType="1"/>
            </p:cNvSpPr>
            <p:nvPr/>
          </p:nvSpPr>
          <p:spPr bwMode="auto">
            <a:xfrm>
              <a:off x="748" y="2126"/>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1646" name="Line 34"/>
            <p:cNvSpPr>
              <a:spLocks noChangeShapeType="1"/>
            </p:cNvSpPr>
            <p:nvPr/>
          </p:nvSpPr>
          <p:spPr bwMode="auto">
            <a:xfrm>
              <a:off x="748" y="2517"/>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1647" name="Line 35"/>
            <p:cNvSpPr>
              <a:spLocks noChangeShapeType="1"/>
            </p:cNvSpPr>
            <p:nvPr/>
          </p:nvSpPr>
          <p:spPr bwMode="auto">
            <a:xfrm>
              <a:off x="748" y="2906"/>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1648" name="Line 36"/>
            <p:cNvSpPr>
              <a:spLocks noChangeShapeType="1"/>
            </p:cNvSpPr>
            <p:nvPr/>
          </p:nvSpPr>
          <p:spPr bwMode="auto">
            <a:xfrm>
              <a:off x="748" y="3297"/>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1649" name="Line 37"/>
            <p:cNvSpPr>
              <a:spLocks noChangeShapeType="1"/>
            </p:cNvSpPr>
            <p:nvPr/>
          </p:nvSpPr>
          <p:spPr bwMode="auto">
            <a:xfrm>
              <a:off x="748" y="3686"/>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1650" name="Rectangle 38"/>
          <p:cNvSpPr>
            <a:spLocks noChangeArrowheads="1"/>
          </p:cNvSpPr>
          <p:nvPr/>
        </p:nvSpPr>
        <p:spPr bwMode="auto">
          <a:xfrm>
            <a:off x="447675" y="946150"/>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11651" name="Rectangle 39"/>
          <p:cNvSpPr>
            <a:spLocks noChangeArrowheads="1"/>
          </p:cNvSpPr>
          <p:nvPr/>
        </p:nvSpPr>
        <p:spPr bwMode="auto">
          <a:xfrm>
            <a:off x="1377950" y="1644650"/>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1652" name="AutoShape 40"/>
          <p:cNvSpPr>
            <a:spLocks noChangeArrowheads="1"/>
          </p:cNvSpPr>
          <p:nvPr/>
        </p:nvSpPr>
        <p:spPr bwMode="auto">
          <a:xfrm rot="18686189">
            <a:off x="7345363" y="2873375"/>
            <a:ext cx="965200" cy="152400"/>
          </a:xfrm>
          <a:prstGeom prst="leftArrow">
            <a:avLst>
              <a:gd name="adj1" fmla="val 50000"/>
              <a:gd name="adj2" fmla="val 158275"/>
            </a:avLst>
          </a:prstGeom>
          <a:solidFill>
            <a:schemeClr val="accent1"/>
          </a:solidFill>
          <a:ln w="9525">
            <a:solidFill>
              <a:schemeClr val="accent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36681" name="Rectangle 41"/>
          <p:cNvSpPr>
            <a:spLocks noChangeArrowheads="1"/>
          </p:cNvSpPr>
          <p:nvPr/>
        </p:nvSpPr>
        <p:spPr bwMode="auto">
          <a:xfrm>
            <a:off x="787400" y="161925"/>
            <a:ext cx="4081463"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无序序列建成堆－</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1</a:t>
            </a:r>
          </a:p>
        </p:txBody>
      </p:sp>
      <p:grpSp>
        <p:nvGrpSpPr>
          <p:cNvPr id="129032" name="组合 40"/>
          <p:cNvGrpSpPr/>
          <p:nvPr/>
        </p:nvGrpSpPr>
        <p:grpSpPr>
          <a:xfrm>
            <a:off x="2682875" y="2395538"/>
            <a:ext cx="5421313" cy="2851150"/>
            <a:chOff x="2603498" y="1663402"/>
            <a:chExt cx="5421313" cy="2850853"/>
          </a:xfrm>
        </p:grpSpPr>
        <p:sp>
          <p:nvSpPr>
            <p:cNvPr id="42" name="Rectangle 4"/>
            <p:cNvSpPr>
              <a:spLocks noChangeArrowheads="1"/>
            </p:cNvSpPr>
            <p:nvPr/>
          </p:nvSpPr>
          <p:spPr bwMode="auto">
            <a:xfrm>
              <a:off x="3406773" y="2676121"/>
              <a:ext cx="763588" cy="455565"/>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3" name="Rectangle 5"/>
            <p:cNvSpPr>
              <a:spLocks noChangeArrowheads="1"/>
            </p:cNvSpPr>
            <p:nvPr/>
          </p:nvSpPr>
          <p:spPr bwMode="auto">
            <a:xfrm>
              <a:off x="2603498" y="3603125"/>
              <a:ext cx="674688" cy="438104"/>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29037" name="Group 6"/>
            <p:cNvGrpSpPr/>
            <p:nvPr/>
          </p:nvGrpSpPr>
          <p:grpSpPr>
            <a:xfrm>
              <a:off x="5108573" y="1663402"/>
              <a:ext cx="739775" cy="874713"/>
              <a:chOff x="3610" y="1785"/>
              <a:chExt cx="466" cy="551"/>
            </a:xfrm>
          </p:grpSpPr>
          <p:sp>
            <p:nvSpPr>
              <p:cNvPr id="63"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Rectangle 8"/>
              <p:cNvSpPr>
                <a:spLocks noChangeArrowheads="1"/>
              </p:cNvSpPr>
              <p:nvPr/>
            </p:nvSpPr>
            <p:spPr bwMode="auto">
              <a:xfrm>
                <a:off x="3678" y="1785"/>
                <a:ext cx="285" cy="551"/>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1</a:t>
                </a:r>
              </a:p>
            </p:txBody>
          </p:sp>
        </p:grpSp>
        <p:sp>
          <p:nvSpPr>
            <p:cNvPr id="45" name="Line 9"/>
            <p:cNvSpPr>
              <a:spLocks noChangeShapeType="1"/>
            </p:cNvSpPr>
            <p:nvPr/>
          </p:nvSpPr>
          <p:spPr bwMode="auto">
            <a:xfrm flipV="1">
              <a:off x="3143248" y="3128511"/>
              <a:ext cx="382588" cy="46191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 name="Line 10"/>
            <p:cNvSpPr>
              <a:spLocks noChangeShapeType="1"/>
            </p:cNvSpPr>
            <p:nvPr/>
          </p:nvSpPr>
          <p:spPr bwMode="auto">
            <a:xfrm flipV="1">
              <a:off x="3890961" y="2076109"/>
              <a:ext cx="1287462" cy="606362"/>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7" name="Rectangle 11"/>
            <p:cNvSpPr>
              <a:spLocks noChangeArrowheads="1"/>
            </p:cNvSpPr>
            <p:nvPr/>
          </p:nvSpPr>
          <p:spPr bwMode="auto">
            <a:xfrm>
              <a:off x="3519486" y="2730091"/>
              <a:ext cx="515937" cy="87462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2</a:t>
              </a:r>
            </a:p>
          </p:txBody>
        </p:sp>
        <p:sp>
          <p:nvSpPr>
            <p:cNvPr id="48" name="Rectangle 12"/>
            <p:cNvSpPr>
              <a:spLocks noChangeArrowheads="1"/>
            </p:cNvSpPr>
            <p:nvPr/>
          </p:nvSpPr>
          <p:spPr bwMode="auto">
            <a:xfrm>
              <a:off x="2752723" y="3639633"/>
              <a:ext cx="460375" cy="874622"/>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29042" name="Group 13"/>
            <p:cNvGrpSpPr/>
            <p:nvPr/>
          </p:nvGrpSpPr>
          <p:grpSpPr>
            <a:xfrm>
              <a:off x="4016377" y="3128666"/>
              <a:ext cx="719138" cy="1343026"/>
              <a:chOff x="2922" y="2708"/>
              <a:chExt cx="453" cy="846"/>
            </a:xfrm>
          </p:grpSpPr>
          <p:sp>
            <p:nvSpPr>
              <p:cNvPr id="60" name="Rectangle 14"/>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 name="Rectangle 16"/>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50" name="Rectangle 17"/>
            <p:cNvSpPr>
              <a:spLocks noChangeArrowheads="1"/>
            </p:cNvSpPr>
            <p:nvPr/>
          </p:nvSpPr>
          <p:spPr bwMode="auto">
            <a:xfrm>
              <a:off x="6684961" y="2685646"/>
              <a:ext cx="703262" cy="446041"/>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 name="Rectangle 18"/>
            <p:cNvSpPr>
              <a:spLocks noChangeArrowheads="1"/>
            </p:cNvSpPr>
            <p:nvPr/>
          </p:nvSpPr>
          <p:spPr bwMode="auto">
            <a:xfrm>
              <a:off x="5959473" y="3584077"/>
              <a:ext cx="715963" cy="457152"/>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Rectangle 19"/>
            <p:cNvSpPr>
              <a:spLocks noChangeArrowheads="1"/>
            </p:cNvSpPr>
            <p:nvPr/>
          </p:nvSpPr>
          <p:spPr bwMode="auto">
            <a:xfrm>
              <a:off x="6831011" y="2725328"/>
              <a:ext cx="434975" cy="81112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dirty="0">
                <a:ln>
                  <a:noFill/>
                </a:ln>
                <a:solidFill>
                  <a:srgbClr val="FF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53" name="Line 20"/>
            <p:cNvSpPr>
              <a:spLocks noChangeShapeType="1"/>
            </p:cNvSpPr>
            <p:nvPr/>
          </p:nvSpPr>
          <p:spPr bwMode="auto">
            <a:xfrm flipV="1">
              <a:off x="6326186" y="3138035"/>
              <a:ext cx="349250" cy="407946"/>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Rectangle 21"/>
            <p:cNvSpPr>
              <a:spLocks noChangeArrowheads="1"/>
            </p:cNvSpPr>
            <p:nvPr/>
          </p:nvSpPr>
          <p:spPr bwMode="auto">
            <a:xfrm>
              <a:off x="6056311" y="3650745"/>
              <a:ext cx="557212" cy="811127"/>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6</a:t>
              </a:r>
            </a:p>
          </p:txBody>
        </p:sp>
        <p:grpSp>
          <p:nvGrpSpPr>
            <p:cNvPr id="129048" name="Group 22"/>
            <p:cNvGrpSpPr/>
            <p:nvPr/>
          </p:nvGrpSpPr>
          <p:grpSpPr>
            <a:xfrm>
              <a:off x="7335836" y="3128668"/>
              <a:ext cx="688975" cy="1350963"/>
              <a:chOff x="5013" y="2708"/>
              <a:chExt cx="434" cy="851"/>
            </a:xfrm>
          </p:grpSpPr>
          <p:sp>
            <p:nvSpPr>
              <p:cNvPr id="57" name="Rectangle 23"/>
              <p:cNvSpPr>
                <a:spLocks noChangeArrowheads="1"/>
              </p:cNvSpPr>
              <p:nvPr/>
            </p:nvSpPr>
            <p:spPr bwMode="auto">
              <a:xfrm>
                <a:off x="5013" y="2989"/>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Rectangle 25"/>
              <p:cNvSpPr>
                <a:spLocks noChangeArrowheads="1"/>
              </p:cNvSpPr>
              <p:nvPr/>
            </p:nvSpPr>
            <p:spPr bwMode="auto">
              <a:xfrm>
                <a:off x="5106" y="3008"/>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56" name="Line 26"/>
            <p:cNvSpPr>
              <a:spLocks noChangeShapeType="1"/>
            </p:cNvSpPr>
            <p:nvPr/>
          </p:nvSpPr>
          <p:spPr bwMode="auto">
            <a:xfrm flipH="1" flipV="1">
              <a:off x="5848348" y="2111030"/>
              <a:ext cx="1166813" cy="582551"/>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36660" name="Rectangle 20"/>
          <p:cNvSpPr>
            <a:spLocks noChangeArrowheads="1"/>
          </p:cNvSpPr>
          <p:nvPr/>
        </p:nvSpPr>
        <p:spPr bwMode="auto">
          <a:xfrm>
            <a:off x="6746875" y="3343275"/>
            <a:ext cx="7620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3300"/>
                </a:solidFill>
                <a:effectLst/>
                <a:uLnTx/>
                <a:uFillTx/>
                <a:latin typeface="+mn-lt"/>
                <a:ea typeface="+mn-ea"/>
                <a:cs typeface="+mn-ea"/>
                <a:sym typeface="+mn-lt"/>
              </a:rPr>
              <a:t> 12</a:t>
            </a:r>
          </a:p>
        </p:txBody>
      </p:sp>
      <p:sp>
        <p:nvSpPr>
          <p:cNvPr id="1136662" name="Rectangle 22"/>
          <p:cNvSpPr>
            <a:spLocks noChangeArrowheads="1"/>
          </p:cNvSpPr>
          <p:nvPr/>
        </p:nvSpPr>
        <p:spPr bwMode="auto">
          <a:xfrm>
            <a:off x="6186488" y="4260850"/>
            <a:ext cx="69215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3200" b="1" i="0" u="none" strike="noStrike" kern="1200" cap="none" spc="0" normalizeH="0" baseline="0" noProof="0" dirty="0">
                <a:ln>
                  <a:noFill/>
                </a:ln>
                <a:solidFill>
                  <a:srgbClr val="FF3300"/>
                </a:solidFill>
                <a:effectLst/>
                <a:uLnTx/>
                <a:uFillTx/>
                <a:latin typeface="+mn-lt"/>
                <a:ea typeface="+mn-ea"/>
                <a:cs typeface="+mn-ea"/>
                <a:sym typeface="+mn-lt"/>
              </a:rPr>
              <a:t>8</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fill="hold" grpId="0" nodeType="clickEffect">
                                  <p:stCondLst>
                                    <p:cond delay="0"/>
                                  </p:stCondLst>
                                  <p:childTnLst>
                                    <p:animScale>
                                      <p:cBhvr>
                                        <p:cTn id="6" dur="2000" fill="hold"/>
                                        <p:tgtEl>
                                          <p:spTgt spid="1136660"/>
                                        </p:tgtEl>
                                      </p:cBhvr>
                                      <p:by x="150000" y="150000"/>
                                    </p:animScale>
                                  </p:childTnLst>
                                </p:cTn>
                              </p:par>
                            </p:childTnLst>
                          </p:cTn>
                        </p:par>
                      </p:childTnLst>
                    </p:cTn>
                  </p:par>
                  <p:par>
                    <p:cTn id="7" fill="hold">
                      <p:stCondLst>
                        <p:cond delay="indefinite"/>
                      </p:stCondLst>
                      <p:childTnLst>
                        <p:par>
                          <p:cTn id="8" fill="hold">
                            <p:stCondLst>
                              <p:cond delay="0"/>
                            </p:stCondLst>
                            <p:childTnLst>
                              <p:par>
                                <p:cTn id="9" presetID="4" presetClass="emph" presetSubtype="2" fill="hold" grpId="0" nodeType="clickEffect">
                                  <p:stCondLst>
                                    <p:cond delay="0"/>
                                  </p:stCondLst>
                                  <p:childTnLst>
                                    <p:anim to="1.5" calcmode="lin" valueType="num">
                                      <p:cBhvr override="childStyle">
                                        <p:cTn id="10" dur="2000" fill="hold"/>
                                        <p:tgtEl>
                                          <p:spTgt spid="1136662"/>
                                        </p:tgtEl>
                                        <p:attrNameLst>
                                          <p:attrName>style.fontSize</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660" grpId="0"/>
      <p:bldP spid="1136662"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Oval 4"/>
          <p:cNvSpPr>
            <a:spLocks noChangeArrowheads="1"/>
          </p:cNvSpPr>
          <p:nvPr/>
        </p:nvSpPr>
        <p:spPr bwMode="auto">
          <a:xfrm>
            <a:off x="2720975" y="2570163"/>
            <a:ext cx="2679700" cy="3070225"/>
          </a:xfrm>
          <a:prstGeom prst="ellipse">
            <a:avLst/>
          </a:prstGeom>
          <a:solidFill>
            <a:srgbClr val="FFFFFF"/>
          </a:solidFill>
          <a:ln w="381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0051" name="组合 44"/>
          <p:cNvGrpSpPr/>
          <p:nvPr/>
        </p:nvGrpSpPr>
        <p:grpSpPr>
          <a:xfrm>
            <a:off x="2859088" y="2252663"/>
            <a:ext cx="5421312" cy="2860675"/>
            <a:chOff x="2603498" y="1663402"/>
            <a:chExt cx="5421313" cy="2861468"/>
          </a:xfrm>
        </p:grpSpPr>
        <p:sp>
          <p:nvSpPr>
            <p:cNvPr id="46" name="Rectangle 4"/>
            <p:cNvSpPr>
              <a:spLocks noChangeArrowheads="1"/>
            </p:cNvSpPr>
            <p:nvPr/>
          </p:nvSpPr>
          <p:spPr bwMode="auto">
            <a:xfrm>
              <a:off x="3406773" y="2676508"/>
              <a:ext cx="763587" cy="45573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7" name="Rectangle 5"/>
            <p:cNvSpPr>
              <a:spLocks noChangeArrowheads="1"/>
            </p:cNvSpPr>
            <p:nvPr/>
          </p:nvSpPr>
          <p:spPr bwMode="auto">
            <a:xfrm>
              <a:off x="2603498" y="3603865"/>
              <a:ext cx="674687" cy="438271"/>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0061" name="Group 6"/>
            <p:cNvGrpSpPr/>
            <p:nvPr/>
          </p:nvGrpSpPr>
          <p:grpSpPr>
            <a:xfrm>
              <a:off x="5108573" y="1663402"/>
              <a:ext cx="739775" cy="874713"/>
              <a:chOff x="3610" y="1785"/>
              <a:chExt cx="466" cy="551"/>
            </a:xfrm>
          </p:grpSpPr>
          <p:sp>
            <p:nvSpPr>
              <p:cNvPr id="67"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Rectangle 8"/>
              <p:cNvSpPr>
                <a:spLocks noChangeArrowheads="1"/>
              </p:cNvSpPr>
              <p:nvPr/>
            </p:nvSpPr>
            <p:spPr bwMode="auto">
              <a:xfrm>
                <a:off x="3678" y="1785"/>
                <a:ext cx="285" cy="551"/>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1</a:t>
                </a:r>
              </a:p>
            </p:txBody>
          </p:sp>
        </p:grpSp>
        <p:sp>
          <p:nvSpPr>
            <p:cNvPr id="49" name="Line 9"/>
            <p:cNvSpPr>
              <a:spLocks noChangeShapeType="1"/>
            </p:cNvSpPr>
            <p:nvPr/>
          </p:nvSpPr>
          <p:spPr bwMode="auto">
            <a:xfrm flipV="1">
              <a:off x="3143248" y="3129070"/>
              <a:ext cx="382587" cy="462091"/>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 name="Line 10"/>
            <p:cNvSpPr>
              <a:spLocks noChangeShapeType="1"/>
            </p:cNvSpPr>
            <p:nvPr/>
          </p:nvSpPr>
          <p:spPr bwMode="auto">
            <a:xfrm flipV="1">
              <a:off x="3890960" y="2076266"/>
              <a:ext cx="1287463" cy="60659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 name="Rectangle 11"/>
            <p:cNvSpPr>
              <a:spLocks noChangeArrowheads="1"/>
            </p:cNvSpPr>
            <p:nvPr/>
          </p:nvSpPr>
          <p:spPr bwMode="auto">
            <a:xfrm>
              <a:off x="3519485" y="2730498"/>
              <a:ext cx="515938" cy="873367"/>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2</a:t>
              </a:r>
            </a:p>
          </p:txBody>
        </p:sp>
        <p:sp>
          <p:nvSpPr>
            <p:cNvPr id="52" name="Rectangle 12"/>
            <p:cNvSpPr>
              <a:spLocks noChangeArrowheads="1"/>
            </p:cNvSpPr>
            <p:nvPr/>
          </p:nvSpPr>
          <p:spPr bwMode="auto">
            <a:xfrm>
              <a:off x="2752723" y="3638799"/>
              <a:ext cx="460375" cy="874954"/>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30066" name="Group 13"/>
            <p:cNvGrpSpPr/>
            <p:nvPr/>
          </p:nvGrpSpPr>
          <p:grpSpPr>
            <a:xfrm>
              <a:off x="4016377" y="3128666"/>
              <a:ext cx="719138" cy="1343026"/>
              <a:chOff x="2922" y="2708"/>
              <a:chExt cx="453" cy="846"/>
            </a:xfrm>
          </p:grpSpPr>
          <p:sp>
            <p:nvSpPr>
              <p:cNvPr id="64" name="Rectangle 14"/>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Rectangle 16"/>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54" name="Rectangle 17"/>
            <p:cNvSpPr>
              <a:spLocks noChangeArrowheads="1"/>
            </p:cNvSpPr>
            <p:nvPr/>
          </p:nvSpPr>
          <p:spPr bwMode="auto">
            <a:xfrm>
              <a:off x="6684961" y="2686035"/>
              <a:ext cx="703263" cy="446211"/>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Rectangle 18"/>
            <p:cNvSpPr>
              <a:spLocks noChangeArrowheads="1"/>
            </p:cNvSpPr>
            <p:nvPr/>
          </p:nvSpPr>
          <p:spPr bwMode="auto">
            <a:xfrm>
              <a:off x="5959474" y="3584809"/>
              <a:ext cx="715962" cy="457327"/>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Rectangle 19"/>
            <p:cNvSpPr>
              <a:spLocks noChangeArrowheads="1"/>
            </p:cNvSpPr>
            <p:nvPr/>
          </p:nvSpPr>
          <p:spPr bwMode="auto">
            <a:xfrm>
              <a:off x="6831011" y="2724146"/>
              <a:ext cx="504825" cy="8130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12</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57" name="Line 20"/>
            <p:cNvSpPr>
              <a:spLocks noChangeShapeType="1"/>
            </p:cNvSpPr>
            <p:nvPr/>
          </p:nvSpPr>
          <p:spPr bwMode="auto">
            <a:xfrm flipV="1">
              <a:off x="6326186" y="3138598"/>
              <a:ext cx="349250" cy="408101"/>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Rectangle 21"/>
            <p:cNvSpPr>
              <a:spLocks noChangeArrowheads="1"/>
            </p:cNvSpPr>
            <p:nvPr/>
          </p:nvSpPr>
          <p:spPr bwMode="auto">
            <a:xfrm>
              <a:off x="6056311" y="3649915"/>
              <a:ext cx="557213" cy="87495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6</a:t>
              </a:r>
            </a:p>
          </p:txBody>
        </p:sp>
        <p:grpSp>
          <p:nvGrpSpPr>
            <p:cNvPr id="130072" name="Group 22"/>
            <p:cNvGrpSpPr/>
            <p:nvPr/>
          </p:nvGrpSpPr>
          <p:grpSpPr>
            <a:xfrm>
              <a:off x="7335836" y="3128668"/>
              <a:ext cx="688975" cy="1350963"/>
              <a:chOff x="5013" y="2708"/>
              <a:chExt cx="434" cy="851"/>
            </a:xfrm>
          </p:grpSpPr>
          <p:sp>
            <p:nvSpPr>
              <p:cNvPr id="61" name="Rectangle 23"/>
              <p:cNvSpPr>
                <a:spLocks noChangeArrowheads="1"/>
              </p:cNvSpPr>
              <p:nvPr/>
            </p:nvSpPr>
            <p:spPr bwMode="auto">
              <a:xfrm>
                <a:off x="5013" y="2989"/>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Rectangle 25"/>
              <p:cNvSpPr>
                <a:spLocks noChangeArrowheads="1"/>
              </p:cNvSpPr>
              <p:nvPr/>
            </p:nvSpPr>
            <p:spPr bwMode="auto">
              <a:xfrm>
                <a:off x="5106" y="3008"/>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60" name="Line 26"/>
            <p:cNvSpPr>
              <a:spLocks noChangeShapeType="1"/>
            </p:cNvSpPr>
            <p:nvPr/>
          </p:nvSpPr>
          <p:spPr bwMode="auto">
            <a:xfrm flipH="1" flipV="1">
              <a:off x="5848349" y="2111201"/>
              <a:ext cx="1166812" cy="58277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37676" name="Rectangle 12"/>
          <p:cNvSpPr>
            <a:spLocks noChangeArrowheads="1"/>
          </p:cNvSpPr>
          <p:nvPr/>
        </p:nvSpPr>
        <p:spPr bwMode="auto">
          <a:xfrm>
            <a:off x="3662363" y="3198813"/>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60</a:t>
            </a:r>
          </a:p>
        </p:txBody>
      </p:sp>
      <p:grpSp>
        <p:nvGrpSpPr>
          <p:cNvPr id="128019" name="Group 30"/>
          <p:cNvGrpSpPr/>
          <p:nvPr/>
        </p:nvGrpSpPr>
        <p:grpSpPr bwMode="auto">
          <a:xfrm>
            <a:off x="1402853" y="1720057"/>
            <a:ext cx="825500" cy="4183062"/>
            <a:chOff x="748" y="1394"/>
            <a:chExt cx="520" cy="2635"/>
          </a:xfrm>
          <a:solidFill>
            <a:schemeClr val="accent1">
              <a:lumMod val="60000"/>
              <a:lumOff val="40000"/>
            </a:schemeClr>
          </a:solidFill>
        </p:grpSpPr>
        <p:sp>
          <p:nvSpPr>
            <p:cNvPr id="112667" name="Rectangle 31"/>
            <p:cNvSpPr>
              <a:spLocks noChangeArrowheads="1"/>
            </p:cNvSpPr>
            <p:nvPr/>
          </p:nvSpPr>
          <p:spPr bwMode="auto">
            <a:xfrm>
              <a:off x="752" y="1394"/>
              <a:ext cx="512" cy="2635"/>
            </a:xfrm>
            <a:prstGeom prst="rect">
              <a:avLst/>
            </a:prstGeom>
            <a:grp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2668" name="Line 32"/>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2669" name="Line 33"/>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2670" name="Line 34"/>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2671" name="Line 35"/>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2672" name="Line 36"/>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2673" name="Line 37"/>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2674" name="Rectangle 38"/>
          <p:cNvSpPr>
            <a:spLocks noChangeArrowheads="1"/>
          </p:cNvSpPr>
          <p:nvPr/>
        </p:nvSpPr>
        <p:spPr bwMode="auto">
          <a:xfrm>
            <a:off x="663575" y="1125538"/>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[ 7 ]</a:t>
            </a:r>
          </a:p>
        </p:txBody>
      </p:sp>
      <p:sp>
        <p:nvSpPr>
          <p:cNvPr id="112675" name="Rectangle 39"/>
          <p:cNvSpPr>
            <a:spLocks noChangeArrowheads="1"/>
          </p:cNvSpPr>
          <p:nvPr/>
        </p:nvSpPr>
        <p:spPr bwMode="auto">
          <a:xfrm>
            <a:off x="1647825" y="1824038"/>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37705" name="Rectangle 41"/>
          <p:cNvSpPr>
            <a:spLocks noChangeArrowheads="1"/>
          </p:cNvSpPr>
          <p:nvPr/>
        </p:nvSpPr>
        <p:spPr bwMode="auto">
          <a:xfrm>
            <a:off x="787400" y="142875"/>
            <a:ext cx="4081463"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无序序列建成堆－</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2</a:t>
            </a:r>
          </a:p>
        </p:txBody>
      </p:sp>
      <p:sp>
        <p:nvSpPr>
          <p:cNvPr id="1137715" name="Rectangle 51"/>
          <p:cNvSpPr>
            <a:spLocks noChangeArrowheads="1"/>
          </p:cNvSpPr>
          <p:nvPr/>
        </p:nvSpPr>
        <p:spPr bwMode="auto">
          <a:xfrm>
            <a:off x="4283075" y="4102100"/>
            <a:ext cx="1081088"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70</a:t>
            </a:r>
          </a:p>
        </p:txBody>
      </p:sp>
      <p:sp>
        <p:nvSpPr>
          <p:cNvPr id="69" name="Line 81"/>
          <p:cNvSpPr>
            <a:spLocks noChangeShapeType="1"/>
          </p:cNvSpPr>
          <p:nvPr/>
        </p:nvSpPr>
        <p:spPr bwMode="auto">
          <a:xfrm>
            <a:off x="3109913" y="2336800"/>
            <a:ext cx="547688" cy="693738"/>
          </a:xfrm>
          <a:prstGeom prst="line">
            <a:avLst/>
          </a:prstGeom>
          <a:noFill/>
          <a:ln w="76200">
            <a:solidFill>
              <a:schemeClr val="accent1">
                <a:lumMod val="60000"/>
                <a:lumOff val="40000"/>
              </a:schemeClr>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fill="hold" grpId="0" nodeType="clickEffect">
                                  <p:stCondLst>
                                    <p:cond delay="0"/>
                                  </p:stCondLst>
                                  <p:childTnLst>
                                    <p:animScale>
                                      <p:cBhvr>
                                        <p:cTn id="6" dur="2000" fill="hold"/>
                                        <p:tgtEl>
                                          <p:spTgt spid="1137676"/>
                                        </p:tgtEl>
                                      </p:cBhvr>
                                      <p:by x="150000" y="150000"/>
                                    </p:animScale>
                                  </p:childTnLst>
                                </p:cTn>
                              </p:par>
                            </p:childTnLst>
                          </p:cTn>
                        </p:par>
                      </p:childTnLst>
                    </p:cTn>
                  </p:par>
                  <p:par>
                    <p:cTn id="7" fill="hold">
                      <p:stCondLst>
                        <p:cond delay="indefinite"/>
                      </p:stCondLst>
                      <p:childTnLst>
                        <p:par>
                          <p:cTn id="8" fill="hold">
                            <p:stCondLst>
                              <p:cond delay="0"/>
                            </p:stCondLst>
                            <p:childTnLst>
                              <p:par>
                                <p:cTn id="9" presetID="6" presetClass="emph" presetSubtype="0" fill="hold" grpId="0" nodeType="clickEffect">
                                  <p:stCondLst>
                                    <p:cond delay="0"/>
                                  </p:stCondLst>
                                  <p:childTnLst>
                                    <p:animScale>
                                      <p:cBhvr>
                                        <p:cTn id="10" dur="2000" fill="hold"/>
                                        <p:tgtEl>
                                          <p:spTgt spid="1137715"/>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7676" grpId="0"/>
      <p:bldP spid="1137715"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Oval 43"/>
          <p:cNvSpPr>
            <a:spLocks noChangeArrowheads="1"/>
          </p:cNvSpPr>
          <p:nvPr/>
        </p:nvSpPr>
        <p:spPr bwMode="auto">
          <a:xfrm>
            <a:off x="2679700" y="2511425"/>
            <a:ext cx="2679700" cy="3070225"/>
          </a:xfrm>
          <a:prstGeom prst="ellipse">
            <a:avLst/>
          </a:prstGeom>
          <a:solidFill>
            <a:srgbClr val="FFFFFF"/>
          </a:solidFill>
          <a:ln w="381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29043" name="Group 67"/>
          <p:cNvGrpSpPr/>
          <p:nvPr/>
        </p:nvGrpSpPr>
        <p:grpSpPr bwMode="auto">
          <a:xfrm>
            <a:off x="1362075" y="1373188"/>
            <a:ext cx="825500" cy="4183062"/>
            <a:chOff x="748" y="1394"/>
            <a:chExt cx="520" cy="2635"/>
          </a:xfrm>
          <a:solidFill>
            <a:schemeClr val="accent1">
              <a:lumMod val="60000"/>
              <a:lumOff val="40000"/>
            </a:schemeClr>
          </a:solidFill>
        </p:grpSpPr>
        <p:sp>
          <p:nvSpPr>
            <p:cNvPr id="113691" name="Rectangle 68"/>
            <p:cNvSpPr>
              <a:spLocks noChangeArrowheads="1"/>
            </p:cNvSpPr>
            <p:nvPr/>
          </p:nvSpPr>
          <p:spPr bwMode="auto">
            <a:xfrm>
              <a:off x="752" y="1394"/>
              <a:ext cx="512" cy="2635"/>
            </a:xfrm>
            <a:prstGeom prst="rect">
              <a:avLst/>
            </a:prstGeom>
            <a:grp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3692" name="Line 69"/>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3693" name="Line 70"/>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3694" name="Line 71"/>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3695" name="Line 72"/>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3696" name="Line 73"/>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3697" name="Line 74"/>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3698" name="Rectangle 75"/>
          <p:cNvSpPr>
            <a:spLocks noChangeArrowheads="1"/>
          </p:cNvSpPr>
          <p:nvPr/>
        </p:nvSpPr>
        <p:spPr bwMode="auto">
          <a:xfrm>
            <a:off x="622300" y="777875"/>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13699" name="Rectangle 76"/>
          <p:cNvSpPr>
            <a:spLocks noChangeArrowheads="1"/>
          </p:cNvSpPr>
          <p:nvPr/>
        </p:nvSpPr>
        <p:spPr bwMode="auto">
          <a:xfrm>
            <a:off x="1547813" y="1476375"/>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38765" name="Rectangle 77"/>
          <p:cNvSpPr>
            <a:spLocks noChangeArrowheads="1"/>
          </p:cNvSpPr>
          <p:nvPr/>
        </p:nvSpPr>
        <p:spPr bwMode="auto">
          <a:xfrm>
            <a:off x="787400" y="150813"/>
            <a:ext cx="4081463"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无序序列建成堆－</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2</a:t>
            </a:r>
          </a:p>
        </p:txBody>
      </p:sp>
      <p:sp>
        <p:nvSpPr>
          <p:cNvPr id="113704" name="Line 81"/>
          <p:cNvSpPr>
            <a:spLocks noChangeShapeType="1"/>
          </p:cNvSpPr>
          <p:nvPr/>
        </p:nvSpPr>
        <p:spPr bwMode="auto">
          <a:xfrm>
            <a:off x="3109913" y="2336800"/>
            <a:ext cx="547688" cy="693738"/>
          </a:xfrm>
          <a:prstGeom prst="line">
            <a:avLst/>
          </a:prstGeom>
          <a:noFill/>
          <a:ln w="76200">
            <a:solidFill>
              <a:schemeClr val="accent1">
                <a:lumMod val="60000"/>
                <a:lumOff val="40000"/>
              </a:schemeClr>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1080" name="组合 44"/>
          <p:cNvGrpSpPr/>
          <p:nvPr/>
        </p:nvGrpSpPr>
        <p:grpSpPr>
          <a:xfrm>
            <a:off x="2859088" y="2252663"/>
            <a:ext cx="5421312" cy="2849562"/>
            <a:chOff x="2603498" y="1663402"/>
            <a:chExt cx="5421313" cy="2850853"/>
          </a:xfrm>
        </p:grpSpPr>
        <p:sp>
          <p:nvSpPr>
            <p:cNvPr id="46" name="Rectangle 4"/>
            <p:cNvSpPr>
              <a:spLocks noChangeArrowheads="1"/>
            </p:cNvSpPr>
            <p:nvPr/>
          </p:nvSpPr>
          <p:spPr bwMode="auto">
            <a:xfrm>
              <a:off x="3406773" y="2676686"/>
              <a:ext cx="763587" cy="45581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7" name="Rectangle 5"/>
            <p:cNvSpPr>
              <a:spLocks noChangeArrowheads="1"/>
            </p:cNvSpPr>
            <p:nvPr/>
          </p:nvSpPr>
          <p:spPr bwMode="auto">
            <a:xfrm>
              <a:off x="2603498" y="3602617"/>
              <a:ext cx="674687" cy="43834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1085" name="Group 6"/>
            <p:cNvGrpSpPr/>
            <p:nvPr/>
          </p:nvGrpSpPr>
          <p:grpSpPr>
            <a:xfrm>
              <a:off x="5108573" y="1663402"/>
              <a:ext cx="739775" cy="874713"/>
              <a:chOff x="3610" y="1785"/>
              <a:chExt cx="466" cy="551"/>
            </a:xfrm>
          </p:grpSpPr>
          <p:sp>
            <p:nvSpPr>
              <p:cNvPr id="67"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Rectangle 8"/>
              <p:cNvSpPr>
                <a:spLocks noChangeArrowheads="1"/>
              </p:cNvSpPr>
              <p:nvPr/>
            </p:nvSpPr>
            <p:spPr bwMode="auto">
              <a:xfrm>
                <a:off x="3678" y="1785"/>
                <a:ext cx="285" cy="551"/>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1</a:t>
                </a:r>
              </a:p>
            </p:txBody>
          </p:sp>
        </p:grpSp>
        <p:sp>
          <p:nvSpPr>
            <p:cNvPr id="49" name="Line 9"/>
            <p:cNvSpPr>
              <a:spLocks noChangeShapeType="1"/>
            </p:cNvSpPr>
            <p:nvPr/>
          </p:nvSpPr>
          <p:spPr bwMode="auto">
            <a:xfrm flipV="1">
              <a:off x="3143248" y="3129328"/>
              <a:ext cx="382587" cy="46058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 name="Line 10"/>
            <p:cNvSpPr>
              <a:spLocks noChangeShapeType="1"/>
            </p:cNvSpPr>
            <p:nvPr/>
          </p:nvSpPr>
          <p:spPr bwMode="auto">
            <a:xfrm flipV="1">
              <a:off x="3890960" y="2076339"/>
              <a:ext cx="1287463" cy="6067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 name="Rectangle 11"/>
            <p:cNvSpPr>
              <a:spLocks noChangeArrowheads="1"/>
            </p:cNvSpPr>
            <p:nvPr/>
          </p:nvSpPr>
          <p:spPr bwMode="auto">
            <a:xfrm>
              <a:off x="3519485" y="2730685"/>
              <a:ext cx="515938" cy="87352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2</a:t>
              </a:r>
            </a:p>
          </p:txBody>
        </p:sp>
        <p:sp>
          <p:nvSpPr>
            <p:cNvPr id="52" name="Rectangle 12"/>
            <p:cNvSpPr>
              <a:spLocks noChangeArrowheads="1"/>
            </p:cNvSpPr>
            <p:nvPr/>
          </p:nvSpPr>
          <p:spPr bwMode="auto">
            <a:xfrm>
              <a:off x="2752723" y="3639147"/>
              <a:ext cx="460375" cy="87510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31090" name="Group 13"/>
            <p:cNvGrpSpPr/>
            <p:nvPr/>
          </p:nvGrpSpPr>
          <p:grpSpPr>
            <a:xfrm>
              <a:off x="4016377" y="3128666"/>
              <a:ext cx="719138" cy="1343026"/>
              <a:chOff x="2922" y="2708"/>
              <a:chExt cx="453" cy="846"/>
            </a:xfrm>
          </p:grpSpPr>
          <p:sp>
            <p:nvSpPr>
              <p:cNvPr id="64" name="Rectangle 14"/>
              <p:cNvSpPr>
                <a:spLocks noChangeArrowheads="1"/>
              </p:cNvSpPr>
              <p:nvPr/>
            </p:nvSpPr>
            <p:spPr bwMode="auto">
              <a:xfrm>
                <a:off x="2941" y="2990"/>
                <a:ext cx="434" cy="29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Rectangle 16"/>
              <p:cNvSpPr>
                <a:spLocks noChangeArrowheads="1"/>
              </p:cNvSpPr>
              <p:nvPr/>
            </p:nvSpPr>
            <p:spPr bwMode="auto">
              <a:xfrm>
                <a:off x="3034" y="3009"/>
                <a:ext cx="291" cy="54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54" name="Rectangle 17"/>
            <p:cNvSpPr>
              <a:spLocks noChangeArrowheads="1"/>
            </p:cNvSpPr>
            <p:nvPr/>
          </p:nvSpPr>
          <p:spPr bwMode="auto">
            <a:xfrm>
              <a:off x="6684961" y="2686215"/>
              <a:ext cx="703263" cy="44628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Rectangle 18"/>
            <p:cNvSpPr>
              <a:spLocks noChangeArrowheads="1"/>
            </p:cNvSpPr>
            <p:nvPr/>
          </p:nvSpPr>
          <p:spPr bwMode="auto">
            <a:xfrm>
              <a:off x="5959474" y="3583559"/>
              <a:ext cx="715962" cy="457407"/>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6" name="Rectangle 19"/>
            <p:cNvSpPr>
              <a:spLocks noChangeArrowheads="1"/>
            </p:cNvSpPr>
            <p:nvPr/>
          </p:nvSpPr>
          <p:spPr bwMode="auto">
            <a:xfrm>
              <a:off x="6791324" y="2737038"/>
              <a:ext cx="573087" cy="81316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12</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57" name="Line 20"/>
            <p:cNvSpPr>
              <a:spLocks noChangeShapeType="1"/>
            </p:cNvSpPr>
            <p:nvPr/>
          </p:nvSpPr>
          <p:spPr bwMode="auto">
            <a:xfrm flipV="1">
              <a:off x="6326186" y="3138857"/>
              <a:ext cx="349250" cy="40658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Rectangle 21"/>
            <p:cNvSpPr>
              <a:spLocks noChangeArrowheads="1"/>
            </p:cNvSpPr>
            <p:nvPr/>
          </p:nvSpPr>
          <p:spPr bwMode="auto">
            <a:xfrm>
              <a:off x="6127749" y="3639147"/>
              <a:ext cx="557212" cy="87510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6</a:t>
              </a:r>
            </a:p>
          </p:txBody>
        </p:sp>
        <p:grpSp>
          <p:nvGrpSpPr>
            <p:cNvPr id="131096" name="Group 22"/>
            <p:cNvGrpSpPr/>
            <p:nvPr/>
          </p:nvGrpSpPr>
          <p:grpSpPr>
            <a:xfrm>
              <a:off x="7335836" y="3128668"/>
              <a:ext cx="688975" cy="1350963"/>
              <a:chOff x="5013" y="2708"/>
              <a:chExt cx="434" cy="851"/>
            </a:xfrm>
          </p:grpSpPr>
          <p:sp>
            <p:nvSpPr>
              <p:cNvPr id="61" name="Rectangle 23"/>
              <p:cNvSpPr>
                <a:spLocks noChangeArrowheads="1"/>
              </p:cNvSpPr>
              <p:nvPr/>
            </p:nvSpPr>
            <p:spPr bwMode="auto">
              <a:xfrm>
                <a:off x="5013" y="2995"/>
                <a:ext cx="434" cy="29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Rectangle 25"/>
              <p:cNvSpPr>
                <a:spLocks noChangeArrowheads="1"/>
              </p:cNvSpPr>
              <p:nvPr/>
            </p:nvSpPr>
            <p:spPr bwMode="auto">
              <a:xfrm>
                <a:off x="5106" y="3014"/>
                <a:ext cx="291" cy="54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60" name="Line 26"/>
            <p:cNvSpPr>
              <a:spLocks noChangeShapeType="1"/>
            </p:cNvSpPr>
            <p:nvPr/>
          </p:nvSpPr>
          <p:spPr bwMode="auto">
            <a:xfrm flipH="1" flipV="1">
              <a:off x="5848349" y="2111280"/>
              <a:ext cx="1166812" cy="582876"/>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3674" name="Rectangle 51"/>
          <p:cNvSpPr>
            <a:spLocks noChangeArrowheads="1"/>
          </p:cNvSpPr>
          <p:nvPr/>
        </p:nvSpPr>
        <p:spPr bwMode="auto">
          <a:xfrm>
            <a:off x="3654425" y="3217863"/>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70</a:t>
            </a:r>
          </a:p>
        </p:txBody>
      </p:sp>
      <p:sp>
        <p:nvSpPr>
          <p:cNvPr id="113706" name="Rectangle 83"/>
          <p:cNvSpPr>
            <a:spLocks noChangeArrowheads="1"/>
          </p:cNvSpPr>
          <p:nvPr/>
        </p:nvSpPr>
        <p:spPr bwMode="auto">
          <a:xfrm>
            <a:off x="4241800" y="4103688"/>
            <a:ext cx="1081088"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6600"/>
                </a:solidFill>
                <a:effectLst/>
                <a:uLnTx/>
                <a:uFillTx/>
                <a:latin typeface="+mn-lt"/>
                <a:ea typeface="+mn-ea"/>
                <a:cs typeface="+mn-ea"/>
                <a:sym typeface="+mn-lt"/>
              </a:rPr>
              <a:t> 60</a:t>
            </a:r>
          </a:p>
        </p:txBody>
      </p:sp>
    </p:spTree>
  </p:cSld>
  <p:clrMapOvr>
    <a:masterClrMapping/>
  </p:clrMapOvr>
  <p:transition spd="slow"/>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Oval 46"/>
          <p:cNvSpPr>
            <a:spLocks noChangeArrowheads="1"/>
          </p:cNvSpPr>
          <p:nvPr/>
        </p:nvSpPr>
        <p:spPr bwMode="auto">
          <a:xfrm>
            <a:off x="2232025" y="1992313"/>
            <a:ext cx="6246813" cy="3867150"/>
          </a:xfrm>
          <a:prstGeom prst="ellipse">
            <a:avLst/>
          </a:prstGeom>
          <a:solidFill>
            <a:srgbClr val="FFFFFF"/>
          </a:solidFill>
          <a:ln w="381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0067" name="Group 28"/>
          <p:cNvGrpSpPr/>
          <p:nvPr/>
        </p:nvGrpSpPr>
        <p:grpSpPr bwMode="auto">
          <a:xfrm>
            <a:off x="1187450" y="1412875"/>
            <a:ext cx="825500" cy="4183062"/>
            <a:chOff x="748" y="1394"/>
            <a:chExt cx="520" cy="2635"/>
          </a:xfrm>
          <a:solidFill>
            <a:schemeClr val="accent1">
              <a:lumMod val="60000"/>
              <a:lumOff val="40000"/>
            </a:schemeClr>
          </a:solidFill>
        </p:grpSpPr>
        <p:sp>
          <p:nvSpPr>
            <p:cNvPr id="114715" name="Rectangle 29"/>
            <p:cNvSpPr>
              <a:spLocks noChangeArrowheads="1"/>
            </p:cNvSpPr>
            <p:nvPr/>
          </p:nvSpPr>
          <p:spPr bwMode="auto">
            <a:xfrm>
              <a:off x="752" y="1394"/>
              <a:ext cx="512" cy="2635"/>
            </a:xfrm>
            <a:prstGeom prst="rect">
              <a:avLst/>
            </a:prstGeom>
            <a:grp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4716" name="Line 30"/>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4717" name="Line 31"/>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4718" name="Line 32"/>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4719" name="Line 33"/>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4720" name="Line 34"/>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4721" name="Line 35"/>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4722" name="Rectangle 36"/>
          <p:cNvSpPr>
            <a:spLocks noChangeArrowheads="1"/>
          </p:cNvSpPr>
          <p:nvPr/>
        </p:nvSpPr>
        <p:spPr bwMode="auto">
          <a:xfrm>
            <a:off x="447675" y="817563"/>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14723" name="Rectangle 37"/>
          <p:cNvSpPr>
            <a:spLocks noChangeArrowheads="1"/>
          </p:cNvSpPr>
          <p:nvPr/>
        </p:nvSpPr>
        <p:spPr bwMode="auto">
          <a:xfrm>
            <a:off x="1392238" y="1516063"/>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39750" name="Rectangle 38"/>
          <p:cNvSpPr>
            <a:spLocks noChangeArrowheads="1"/>
          </p:cNvSpPr>
          <p:nvPr/>
        </p:nvSpPr>
        <p:spPr bwMode="auto">
          <a:xfrm>
            <a:off x="866775" y="165100"/>
            <a:ext cx="4081463"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无序序列建成堆－</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3</a:t>
            </a:r>
          </a:p>
        </p:txBody>
      </p:sp>
      <p:grpSp>
        <p:nvGrpSpPr>
          <p:cNvPr id="132103" name="组合 46"/>
          <p:cNvGrpSpPr/>
          <p:nvPr/>
        </p:nvGrpSpPr>
        <p:grpSpPr>
          <a:xfrm>
            <a:off x="2659063" y="2132013"/>
            <a:ext cx="5421312" cy="2862262"/>
            <a:chOff x="2603498" y="1663402"/>
            <a:chExt cx="5421313" cy="2861468"/>
          </a:xfrm>
        </p:grpSpPr>
        <p:sp>
          <p:nvSpPr>
            <p:cNvPr id="48" name="Rectangle 4"/>
            <p:cNvSpPr>
              <a:spLocks noChangeArrowheads="1"/>
            </p:cNvSpPr>
            <p:nvPr/>
          </p:nvSpPr>
          <p:spPr bwMode="auto">
            <a:xfrm>
              <a:off x="3406773" y="2675946"/>
              <a:ext cx="763587" cy="455486"/>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9" name="Rectangle 5"/>
            <p:cNvSpPr>
              <a:spLocks noChangeArrowheads="1"/>
            </p:cNvSpPr>
            <p:nvPr/>
          </p:nvSpPr>
          <p:spPr bwMode="auto">
            <a:xfrm>
              <a:off x="2603498" y="3602789"/>
              <a:ext cx="674687" cy="43802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2108" name="Group 6"/>
            <p:cNvGrpSpPr/>
            <p:nvPr/>
          </p:nvGrpSpPr>
          <p:grpSpPr>
            <a:xfrm>
              <a:off x="5108573" y="1663402"/>
              <a:ext cx="739775" cy="950913"/>
              <a:chOff x="3610" y="1785"/>
              <a:chExt cx="466" cy="599"/>
            </a:xfrm>
          </p:grpSpPr>
          <p:sp>
            <p:nvSpPr>
              <p:cNvPr id="69"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 name="Rectangle 8"/>
              <p:cNvSpPr>
                <a:spLocks noChangeArrowheads="1"/>
              </p:cNvSpPr>
              <p:nvPr/>
            </p:nvSpPr>
            <p:spPr bwMode="auto">
              <a:xfrm>
                <a:off x="3678" y="1785"/>
                <a:ext cx="208" cy="599"/>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1</a:t>
                </a:r>
              </a:p>
            </p:txBody>
          </p:sp>
        </p:grpSp>
        <p:sp>
          <p:nvSpPr>
            <p:cNvPr id="51" name="Line 9"/>
            <p:cNvSpPr>
              <a:spLocks noChangeShapeType="1"/>
            </p:cNvSpPr>
            <p:nvPr/>
          </p:nvSpPr>
          <p:spPr bwMode="auto">
            <a:xfrm flipV="1">
              <a:off x="3143248" y="3128258"/>
              <a:ext cx="382587" cy="46183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10"/>
            <p:cNvSpPr>
              <a:spLocks noChangeShapeType="1"/>
            </p:cNvSpPr>
            <p:nvPr/>
          </p:nvSpPr>
          <p:spPr bwMode="auto">
            <a:xfrm flipV="1">
              <a:off x="3890960" y="2076038"/>
              <a:ext cx="1287463" cy="606257"/>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Rectangle 11"/>
            <p:cNvSpPr>
              <a:spLocks noChangeArrowheads="1"/>
            </p:cNvSpPr>
            <p:nvPr/>
          </p:nvSpPr>
          <p:spPr bwMode="auto">
            <a:xfrm>
              <a:off x="3519485" y="2729906"/>
              <a:ext cx="515938" cy="874469"/>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2</a:t>
              </a:r>
            </a:p>
          </p:txBody>
        </p:sp>
        <p:sp>
          <p:nvSpPr>
            <p:cNvPr id="54" name="Rectangle 12"/>
            <p:cNvSpPr>
              <a:spLocks noChangeArrowheads="1"/>
            </p:cNvSpPr>
            <p:nvPr/>
          </p:nvSpPr>
          <p:spPr bwMode="auto">
            <a:xfrm>
              <a:off x="2752723" y="3639291"/>
              <a:ext cx="460375" cy="87447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32113" name="Group 13"/>
            <p:cNvGrpSpPr/>
            <p:nvPr/>
          </p:nvGrpSpPr>
          <p:grpSpPr>
            <a:xfrm>
              <a:off x="4016377" y="3128666"/>
              <a:ext cx="719138" cy="1343026"/>
              <a:chOff x="2922" y="2708"/>
              <a:chExt cx="453" cy="846"/>
            </a:xfrm>
          </p:grpSpPr>
          <p:sp>
            <p:nvSpPr>
              <p:cNvPr id="66" name="Rectangle 14"/>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Rectangle 16"/>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56" name="Rectangle 17"/>
            <p:cNvSpPr>
              <a:spLocks noChangeArrowheads="1"/>
            </p:cNvSpPr>
            <p:nvPr/>
          </p:nvSpPr>
          <p:spPr bwMode="auto">
            <a:xfrm>
              <a:off x="6684961" y="2685468"/>
              <a:ext cx="703263" cy="4459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Rectangle 18"/>
            <p:cNvSpPr>
              <a:spLocks noChangeArrowheads="1"/>
            </p:cNvSpPr>
            <p:nvPr/>
          </p:nvSpPr>
          <p:spPr bwMode="auto">
            <a:xfrm>
              <a:off x="5959474" y="3583744"/>
              <a:ext cx="715962" cy="45707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Rectangle 19"/>
            <p:cNvSpPr>
              <a:spLocks noChangeArrowheads="1"/>
            </p:cNvSpPr>
            <p:nvPr/>
          </p:nvSpPr>
          <p:spPr bwMode="auto">
            <a:xfrm>
              <a:off x="6772274" y="2725144"/>
              <a:ext cx="477837" cy="81257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12</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59" name="Line 20"/>
            <p:cNvSpPr>
              <a:spLocks noChangeShapeType="1"/>
            </p:cNvSpPr>
            <p:nvPr/>
          </p:nvSpPr>
          <p:spPr bwMode="auto">
            <a:xfrm flipV="1">
              <a:off x="6326186" y="3137780"/>
              <a:ext cx="349250" cy="40787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 name="Rectangle 21"/>
            <p:cNvSpPr>
              <a:spLocks noChangeArrowheads="1"/>
            </p:cNvSpPr>
            <p:nvPr/>
          </p:nvSpPr>
          <p:spPr bwMode="auto">
            <a:xfrm>
              <a:off x="6056311" y="3650401"/>
              <a:ext cx="557213" cy="874469"/>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6</a:t>
              </a:r>
            </a:p>
          </p:txBody>
        </p:sp>
        <p:grpSp>
          <p:nvGrpSpPr>
            <p:cNvPr id="132119" name="Group 22"/>
            <p:cNvGrpSpPr/>
            <p:nvPr/>
          </p:nvGrpSpPr>
          <p:grpSpPr>
            <a:xfrm>
              <a:off x="7335836" y="3128668"/>
              <a:ext cx="688975" cy="1350963"/>
              <a:chOff x="5013" y="2708"/>
              <a:chExt cx="434" cy="851"/>
            </a:xfrm>
          </p:grpSpPr>
          <p:sp>
            <p:nvSpPr>
              <p:cNvPr id="63" name="Rectangle 23"/>
              <p:cNvSpPr>
                <a:spLocks noChangeArrowheads="1"/>
              </p:cNvSpPr>
              <p:nvPr/>
            </p:nvSpPr>
            <p:spPr bwMode="auto">
              <a:xfrm>
                <a:off x="5013" y="2989"/>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Rectangle 25"/>
              <p:cNvSpPr>
                <a:spLocks noChangeArrowheads="1"/>
              </p:cNvSpPr>
              <p:nvPr/>
            </p:nvSpPr>
            <p:spPr bwMode="auto">
              <a:xfrm>
                <a:off x="5106" y="3008"/>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62" name="Line 26"/>
            <p:cNvSpPr>
              <a:spLocks noChangeShapeType="1"/>
            </p:cNvSpPr>
            <p:nvPr/>
          </p:nvSpPr>
          <p:spPr bwMode="auto">
            <a:xfrm flipH="1" flipV="1">
              <a:off x="5848349" y="2110953"/>
              <a:ext cx="1166812" cy="58245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39759" name="Rectangle 47"/>
          <p:cNvSpPr>
            <a:spLocks noChangeArrowheads="1"/>
          </p:cNvSpPr>
          <p:nvPr/>
        </p:nvSpPr>
        <p:spPr bwMode="auto">
          <a:xfrm>
            <a:off x="5145088" y="2084388"/>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30</a:t>
            </a:r>
          </a:p>
        </p:txBody>
      </p:sp>
      <p:sp>
        <p:nvSpPr>
          <p:cNvPr id="72" name="Line 81"/>
          <p:cNvSpPr>
            <a:spLocks noChangeShapeType="1"/>
          </p:cNvSpPr>
          <p:nvPr/>
        </p:nvSpPr>
        <p:spPr bwMode="auto">
          <a:xfrm>
            <a:off x="4789488" y="1216025"/>
            <a:ext cx="547688" cy="693738"/>
          </a:xfrm>
          <a:prstGeom prst="line">
            <a:avLst/>
          </a:prstGeom>
          <a:noFill/>
          <a:ln w="76200">
            <a:solidFill>
              <a:schemeClr val="accent1">
                <a:lumMod val="60000"/>
                <a:lumOff val="40000"/>
              </a:schemeClr>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fill="hold" grpId="0" nodeType="clickEffect">
                                  <p:stCondLst>
                                    <p:cond delay="0"/>
                                  </p:stCondLst>
                                  <p:childTnLst>
                                    <p:animScale>
                                      <p:cBhvr>
                                        <p:cTn id="6" dur="2000" fill="hold"/>
                                        <p:tgtEl>
                                          <p:spTgt spid="1139759"/>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9759"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Oval 4"/>
          <p:cNvSpPr>
            <a:spLocks noChangeArrowheads="1"/>
          </p:cNvSpPr>
          <p:nvPr/>
        </p:nvSpPr>
        <p:spPr bwMode="auto">
          <a:xfrm>
            <a:off x="2268538" y="2009775"/>
            <a:ext cx="6246813" cy="3867150"/>
          </a:xfrm>
          <a:prstGeom prst="ellipse">
            <a:avLst/>
          </a:prstGeom>
          <a:solidFill>
            <a:srgbClr val="FFFFFF"/>
          </a:solidFill>
          <a:ln w="381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3123" name="Group 28"/>
          <p:cNvGrpSpPr/>
          <p:nvPr/>
        </p:nvGrpSpPr>
        <p:grpSpPr>
          <a:xfrm>
            <a:off x="1187450" y="1562100"/>
            <a:ext cx="825500" cy="4183063"/>
            <a:chOff x="748" y="1394"/>
            <a:chExt cx="520" cy="2635"/>
          </a:xfrm>
        </p:grpSpPr>
        <p:sp>
          <p:nvSpPr>
            <p:cNvPr id="115738" name="Rectangle 29"/>
            <p:cNvSpPr>
              <a:spLocks noChangeArrowheads="1"/>
            </p:cNvSpPr>
            <p:nvPr/>
          </p:nvSpPr>
          <p:spPr bwMode="auto">
            <a:xfrm>
              <a:off x="752" y="1394"/>
              <a:ext cx="512" cy="2635"/>
            </a:xfrm>
            <a:prstGeom prst="rect">
              <a:avLst/>
            </a:prstGeom>
            <a:solidFill>
              <a:schemeClr val="accent1">
                <a:lumMod val="60000"/>
                <a:lumOff val="40000"/>
              </a:schemeClr>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5739" name="Line 30"/>
            <p:cNvSpPr>
              <a:spLocks noChangeShapeType="1"/>
            </p:cNvSpPr>
            <p:nvPr/>
          </p:nvSpPr>
          <p:spPr bwMode="auto">
            <a:xfrm>
              <a:off x="748" y="1737"/>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5740" name="Line 31"/>
            <p:cNvSpPr>
              <a:spLocks noChangeShapeType="1"/>
            </p:cNvSpPr>
            <p:nvPr/>
          </p:nvSpPr>
          <p:spPr bwMode="auto">
            <a:xfrm>
              <a:off x="748" y="2126"/>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5741" name="Line 32"/>
            <p:cNvSpPr>
              <a:spLocks noChangeShapeType="1"/>
            </p:cNvSpPr>
            <p:nvPr/>
          </p:nvSpPr>
          <p:spPr bwMode="auto">
            <a:xfrm>
              <a:off x="748" y="2517"/>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5742" name="Line 33"/>
            <p:cNvSpPr>
              <a:spLocks noChangeShapeType="1"/>
            </p:cNvSpPr>
            <p:nvPr/>
          </p:nvSpPr>
          <p:spPr bwMode="auto">
            <a:xfrm>
              <a:off x="748" y="2906"/>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5743" name="Line 34"/>
            <p:cNvSpPr>
              <a:spLocks noChangeShapeType="1"/>
            </p:cNvSpPr>
            <p:nvPr/>
          </p:nvSpPr>
          <p:spPr bwMode="auto">
            <a:xfrm>
              <a:off x="748" y="3297"/>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5744" name="Line 35"/>
            <p:cNvSpPr>
              <a:spLocks noChangeShapeType="1"/>
            </p:cNvSpPr>
            <p:nvPr/>
          </p:nvSpPr>
          <p:spPr bwMode="auto">
            <a:xfrm>
              <a:off x="748" y="3686"/>
              <a:ext cx="52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5745" name="Rectangle 36"/>
          <p:cNvSpPr>
            <a:spLocks noChangeArrowheads="1"/>
          </p:cNvSpPr>
          <p:nvPr/>
        </p:nvSpPr>
        <p:spPr bwMode="auto">
          <a:xfrm>
            <a:off x="447675" y="966788"/>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15746" name="Rectangle 37"/>
          <p:cNvSpPr>
            <a:spLocks noChangeArrowheads="1"/>
          </p:cNvSpPr>
          <p:nvPr/>
        </p:nvSpPr>
        <p:spPr bwMode="auto">
          <a:xfrm>
            <a:off x="1431925" y="1665288"/>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6600"/>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66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40774" name="Rectangle 38"/>
          <p:cNvSpPr>
            <a:spLocks noChangeArrowheads="1"/>
          </p:cNvSpPr>
          <p:nvPr/>
        </p:nvSpPr>
        <p:spPr bwMode="auto">
          <a:xfrm>
            <a:off x="841375" y="139700"/>
            <a:ext cx="4081463"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无序序列建成堆－</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3</a:t>
            </a:r>
          </a:p>
        </p:txBody>
      </p:sp>
      <p:grpSp>
        <p:nvGrpSpPr>
          <p:cNvPr id="133127" name="组合 46"/>
          <p:cNvGrpSpPr/>
          <p:nvPr/>
        </p:nvGrpSpPr>
        <p:grpSpPr>
          <a:xfrm>
            <a:off x="2722563" y="2300288"/>
            <a:ext cx="5421312" cy="2859087"/>
            <a:chOff x="2603498" y="1666579"/>
            <a:chExt cx="5421313" cy="2858291"/>
          </a:xfrm>
        </p:grpSpPr>
        <p:sp>
          <p:nvSpPr>
            <p:cNvPr id="48" name="Rectangle 4"/>
            <p:cNvSpPr>
              <a:spLocks noChangeArrowheads="1"/>
            </p:cNvSpPr>
            <p:nvPr/>
          </p:nvSpPr>
          <p:spPr bwMode="auto">
            <a:xfrm>
              <a:off x="3406773" y="2675948"/>
              <a:ext cx="763587" cy="455485"/>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9" name="Rectangle 5"/>
            <p:cNvSpPr>
              <a:spLocks noChangeArrowheads="1"/>
            </p:cNvSpPr>
            <p:nvPr/>
          </p:nvSpPr>
          <p:spPr bwMode="auto">
            <a:xfrm>
              <a:off x="2603498" y="3602790"/>
              <a:ext cx="674687" cy="43802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3134" name="Group 6"/>
            <p:cNvGrpSpPr/>
            <p:nvPr/>
          </p:nvGrpSpPr>
          <p:grpSpPr>
            <a:xfrm>
              <a:off x="5108573" y="1666579"/>
              <a:ext cx="739775" cy="835026"/>
              <a:chOff x="3610" y="1787"/>
              <a:chExt cx="466" cy="526"/>
            </a:xfrm>
          </p:grpSpPr>
          <p:sp>
            <p:nvSpPr>
              <p:cNvPr id="69"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 name="Rectangle 8"/>
              <p:cNvSpPr>
                <a:spLocks noChangeArrowheads="1"/>
              </p:cNvSpPr>
              <p:nvPr/>
            </p:nvSpPr>
            <p:spPr bwMode="auto">
              <a:xfrm>
                <a:off x="3773" y="2082"/>
                <a:ext cx="170" cy="23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grpSp>
        <p:sp>
          <p:nvSpPr>
            <p:cNvPr id="51" name="Line 9"/>
            <p:cNvSpPr>
              <a:spLocks noChangeShapeType="1"/>
            </p:cNvSpPr>
            <p:nvPr/>
          </p:nvSpPr>
          <p:spPr bwMode="auto">
            <a:xfrm flipV="1">
              <a:off x="3143248" y="3128259"/>
              <a:ext cx="382587" cy="46183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2" name="Line 10"/>
            <p:cNvSpPr>
              <a:spLocks noChangeShapeType="1"/>
            </p:cNvSpPr>
            <p:nvPr/>
          </p:nvSpPr>
          <p:spPr bwMode="auto">
            <a:xfrm flipV="1">
              <a:off x="3890960" y="2076040"/>
              <a:ext cx="1287463" cy="606256"/>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3" name="Rectangle 11"/>
            <p:cNvSpPr>
              <a:spLocks noChangeArrowheads="1"/>
            </p:cNvSpPr>
            <p:nvPr/>
          </p:nvSpPr>
          <p:spPr bwMode="auto">
            <a:xfrm>
              <a:off x="3619498" y="3174284"/>
              <a:ext cx="515937" cy="36502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2</a:t>
              </a:r>
            </a:p>
          </p:txBody>
        </p:sp>
        <p:sp>
          <p:nvSpPr>
            <p:cNvPr id="54" name="Rectangle 12"/>
            <p:cNvSpPr>
              <a:spLocks noChangeArrowheads="1"/>
            </p:cNvSpPr>
            <p:nvPr/>
          </p:nvSpPr>
          <p:spPr bwMode="auto">
            <a:xfrm>
              <a:off x="2752723" y="3639292"/>
              <a:ext cx="460375" cy="874469"/>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33139" name="Group 13"/>
            <p:cNvGrpSpPr/>
            <p:nvPr/>
          </p:nvGrpSpPr>
          <p:grpSpPr>
            <a:xfrm>
              <a:off x="4016377" y="3128666"/>
              <a:ext cx="719138" cy="1343026"/>
              <a:chOff x="2922" y="2708"/>
              <a:chExt cx="453" cy="846"/>
            </a:xfrm>
          </p:grpSpPr>
          <p:sp>
            <p:nvSpPr>
              <p:cNvPr id="66" name="Rectangle 14"/>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Rectangle 16"/>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56" name="Rectangle 17"/>
            <p:cNvSpPr>
              <a:spLocks noChangeArrowheads="1"/>
            </p:cNvSpPr>
            <p:nvPr/>
          </p:nvSpPr>
          <p:spPr bwMode="auto">
            <a:xfrm>
              <a:off x="6684961" y="2685470"/>
              <a:ext cx="703263" cy="4459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 name="Rectangle 18"/>
            <p:cNvSpPr>
              <a:spLocks noChangeArrowheads="1"/>
            </p:cNvSpPr>
            <p:nvPr/>
          </p:nvSpPr>
          <p:spPr bwMode="auto">
            <a:xfrm>
              <a:off x="5959474" y="3583745"/>
              <a:ext cx="715962" cy="45707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8" name="Rectangle 19"/>
            <p:cNvSpPr>
              <a:spLocks noChangeArrowheads="1"/>
            </p:cNvSpPr>
            <p:nvPr/>
          </p:nvSpPr>
          <p:spPr bwMode="auto">
            <a:xfrm>
              <a:off x="6754811" y="2761649"/>
              <a:ext cx="557213" cy="812574"/>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12</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59" name="Line 20"/>
            <p:cNvSpPr>
              <a:spLocks noChangeShapeType="1"/>
            </p:cNvSpPr>
            <p:nvPr/>
          </p:nvSpPr>
          <p:spPr bwMode="auto">
            <a:xfrm flipV="1">
              <a:off x="6326186" y="3137781"/>
              <a:ext cx="349250" cy="40787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 name="Rectangle 21"/>
            <p:cNvSpPr>
              <a:spLocks noChangeArrowheads="1"/>
            </p:cNvSpPr>
            <p:nvPr/>
          </p:nvSpPr>
          <p:spPr bwMode="auto">
            <a:xfrm>
              <a:off x="6118224" y="3650402"/>
              <a:ext cx="557212" cy="87446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6</a:t>
              </a:r>
            </a:p>
          </p:txBody>
        </p:sp>
        <p:grpSp>
          <p:nvGrpSpPr>
            <p:cNvPr id="133145" name="Group 22"/>
            <p:cNvGrpSpPr/>
            <p:nvPr/>
          </p:nvGrpSpPr>
          <p:grpSpPr>
            <a:xfrm>
              <a:off x="7335836" y="3128668"/>
              <a:ext cx="688975" cy="1350963"/>
              <a:chOff x="5013" y="2708"/>
              <a:chExt cx="434" cy="851"/>
            </a:xfrm>
          </p:grpSpPr>
          <p:sp>
            <p:nvSpPr>
              <p:cNvPr id="63" name="Rectangle 23"/>
              <p:cNvSpPr>
                <a:spLocks noChangeArrowheads="1"/>
              </p:cNvSpPr>
              <p:nvPr/>
            </p:nvSpPr>
            <p:spPr bwMode="auto">
              <a:xfrm>
                <a:off x="5013" y="2989"/>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4"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5" name="Rectangle 25"/>
              <p:cNvSpPr>
                <a:spLocks noChangeArrowheads="1"/>
              </p:cNvSpPr>
              <p:nvPr/>
            </p:nvSpPr>
            <p:spPr bwMode="auto">
              <a:xfrm>
                <a:off x="5106" y="3008"/>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62" name="Line 26"/>
            <p:cNvSpPr>
              <a:spLocks noChangeShapeType="1"/>
            </p:cNvSpPr>
            <p:nvPr/>
          </p:nvSpPr>
          <p:spPr bwMode="auto">
            <a:xfrm flipH="1" flipV="1">
              <a:off x="5848349" y="2110955"/>
              <a:ext cx="1166812" cy="58245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40748" name="Rectangle 12"/>
          <p:cNvSpPr>
            <a:spLocks noChangeArrowheads="1"/>
          </p:cNvSpPr>
          <p:nvPr/>
        </p:nvSpPr>
        <p:spPr bwMode="auto">
          <a:xfrm>
            <a:off x="3508375" y="3278188"/>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30</a:t>
            </a:r>
          </a:p>
        </p:txBody>
      </p:sp>
      <p:sp>
        <p:nvSpPr>
          <p:cNvPr id="1140782" name="Rectangle 46"/>
          <p:cNvSpPr>
            <a:spLocks noChangeArrowheads="1"/>
          </p:cNvSpPr>
          <p:nvPr/>
        </p:nvSpPr>
        <p:spPr bwMode="auto">
          <a:xfrm>
            <a:off x="5221288" y="2260600"/>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70</a:t>
            </a:r>
          </a:p>
        </p:txBody>
      </p:sp>
      <p:sp>
        <p:nvSpPr>
          <p:cNvPr id="115757" name="Line 48"/>
          <p:cNvSpPr>
            <a:spLocks noChangeShapeType="1"/>
          </p:cNvSpPr>
          <p:nvPr/>
        </p:nvSpPr>
        <p:spPr bwMode="auto">
          <a:xfrm flipV="1">
            <a:off x="4105275" y="2700338"/>
            <a:ext cx="1122363" cy="601663"/>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1" name="Line 81"/>
          <p:cNvSpPr>
            <a:spLocks noChangeShapeType="1"/>
          </p:cNvSpPr>
          <p:nvPr/>
        </p:nvSpPr>
        <p:spPr bwMode="auto">
          <a:xfrm>
            <a:off x="4789488" y="1216025"/>
            <a:ext cx="547688" cy="693738"/>
          </a:xfrm>
          <a:prstGeom prst="line">
            <a:avLst/>
          </a:prstGeom>
          <a:noFill/>
          <a:ln w="76200">
            <a:solidFill>
              <a:schemeClr val="accent1">
                <a:lumMod val="60000"/>
                <a:lumOff val="40000"/>
              </a:schemeClr>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fill="hold" grpId="0" nodeType="clickEffect">
                                  <p:stCondLst>
                                    <p:cond delay="0"/>
                                  </p:stCondLst>
                                  <p:childTnLst>
                                    <p:animScale>
                                      <p:cBhvr>
                                        <p:cTn id="6" dur="2000" fill="hold"/>
                                        <p:tgtEl>
                                          <p:spTgt spid="1140782"/>
                                        </p:tgtEl>
                                      </p:cBhvr>
                                      <p:by x="150000" y="150000"/>
                                    </p:animScale>
                                  </p:childTnLst>
                                </p:cTn>
                              </p:par>
                            </p:childTnLst>
                          </p:cTn>
                        </p:par>
                      </p:childTnLst>
                    </p:cTn>
                  </p:par>
                  <p:par>
                    <p:cTn id="7" fill="hold">
                      <p:stCondLst>
                        <p:cond delay="indefinite"/>
                      </p:stCondLst>
                      <p:childTnLst>
                        <p:par>
                          <p:cTn id="8" fill="hold">
                            <p:stCondLst>
                              <p:cond delay="0"/>
                            </p:stCondLst>
                            <p:childTnLst>
                              <p:par>
                                <p:cTn id="9" presetID="6" presetClass="emph" presetSubtype="0" fill="hold" grpId="0" nodeType="clickEffect">
                                  <p:stCondLst>
                                    <p:cond delay="0"/>
                                  </p:stCondLst>
                                  <p:childTnLst>
                                    <p:animScale>
                                      <p:cBhvr>
                                        <p:cTn id="10" dur="2000" fill="hold"/>
                                        <p:tgtEl>
                                          <p:spTgt spid="1140748"/>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0748" grpId="0"/>
      <p:bldP spid="1140782"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Oval 4"/>
          <p:cNvSpPr>
            <a:spLocks noChangeArrowheads="1"/>
          </p:cNvSpPr>
          <p:nvPr/>
        </p:nvSpPr>
        <p:spPr bwMode="auto">
          <a:xfrm>
            <a:off x="2268538" y="2168525"/>
            <a:ext cx="6246813" cy="3867150"/>
          </a:xfrm>
          <a:prstGeom prst="ellipse">
            <a:avLst/>
          </a:prstGeom>
          <a:solidFill>
            <a:srgbClr val="FFFFFF"/>
          </a:solidFill>
          <a:ln w="3810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2117" name="Group 28"/>
          <p:cNvGrpSpPr/>
          <p:nvPr/>
        </p:nvGrpSpPr>
        <p:grpSpPr bwMode="auto">
          <a:xfrm>
            <a:off x="1187450" y="1720057"/>
            <a:ext cx="825500" cy="4183062"/>
            <a:chOff x="748" y="1394"/>
            <a:chExt cx="520" cy="2635"/>
          </a:xfrm>
          <a:solidFill>
            <a:schemeClr val="accent1">
              <a:lumMod val="60000"/>
              <a:lumOff val="40000"/>
            </a:schemeClr>
          </a:solidFill>
        </p:grpSpPr>
        <p:sp>
          <p:nvSpPr>
            <p:cNvPr id="116762" name="Rectangle 29"/>
            <p:cNvSpPr>
              <a:spLocks noChangeArrowheads="1"/>
            </p:cNvSpPr>
            <p:nvPr/>
          </p:nvSpPr>
          <p:spPr bwMode="auto">
            <a:xfrm>
              <a:off x="752" y="1394"/>
              <a:ext cx="512" cy="2635"/>
            </a:xfrm>
            <a:prstGeom prst="rect">
              <a:avLst/>
            </a:prstGeom>
            <a:grp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6763" name="Line 30"/>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6764" name="Line 31"/>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6765" name="Line 32"/>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6766" name="Line 33"/>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6767" name="Line 34"/>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6768" name="Line 35"/>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6769" name="Rectangle 36"/>
          <p:cNvSpPr>
            <a:spLocks noChangeArrowheads="1"/>
          </p:cNvSpPr>
          <p:nvPr/>
        </p:nvSpPr>
        <p:spPr bwMode="auto">
          <a:xfrm>
            <a:off x="447675" y="1125538"/>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16770" name="Rectangle 37"/>
          <p:cNvSpPr>
            <a:spLocks noChangeArrowheads="1"/>
          </p:cNvSpPr>
          <p:nvPr/>
        </p:nvSpPr>
        <p:spPr bwMode="auto">
          <a:xfrm>
            <a:off x="1393825" y="1808163"/>
            <a:ext cx="442913" cy="4095750"/>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41798" name="Rectangle 38"/>
          <p:cNvSpPr>
            <a:spLocks noChangeArrowheads="1"/>
          </p:cNvSpPr>
          <p:nvPr/>
        </p:nvSpPr>
        <p:spPr bwMode="auto">
          <a:xfrm>
            <a:off x="811213" y="163513"/>
            <a:ext cx="40830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无序序列建成堆－</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3</a:t>
            </a:r>
          </a:p>
        </p:txBody>
      </p:sp>
      <p:pic>
        <p:nvPicPr>
          <p:cNvPr id="134151" name="Picture 49" descr="back3">
            <a:hlinkClick r:id="rId2" action="ppaction://hlinksldjump"/>
          </p:cNvPr>
          <p:cNvPicPr>
            <a:picLocks noChangeAspect="1"/>
          </p:cNvPicPr>
          <p:nvPr/>
        </p:nvPicPr>
        <p:blipFill>
          <a:blip r:embed="rId3"/>
          <a:stretch>
            <a:fillRect/>
          </a:stretch>
        </p:blipFill>
        <p:spPr>
          <a:xfrm>
            <a:off x="7261225" y="6237288"/>
            <a:ext cx="1657350" cy="503237"/>
          </a:xfrm>
          <a:prstGeom prst="rect">
            <a:avLst/>
          </a:prstGeom>
          <a:noFill/>
          <a:ln w="9525">
            <a:noFill/>
          </a:ln>
        </p:spPr>
      </p:pic>
      <p:sp>
        <p:nvSpPr>
          <p:cNvPr id="1141810" name="AutoShape 50"/>
          <p:cNvSpPr>
            <a:spLocks noChangeArrowheads="1"/>
          </p:cNvSpPr>
          <p:nvPr/>
        </p:nvSpPr>
        <p:spPr bwMode="auto">
          <a:xfrm>
            <a:off x="6035675" y="1303338"/>
            <a:ext cx="2506663" cy="865188"/>
          </a:xfrm>
          <a:prstGeom prst="cloudCallout">
            <a:avLst>
              <a:gd name="adj1" fmla="val -30556"/>
              <a:gd name="adj2" fmla="val 84495"/>
            </a:avLst>
          </a:prstGeom>
          <a:solidFill>
            <a:schemeClr val="accent1">
              <a:lumMod val="60000"/>
              <a:lumOff val="40000"/>
            </a:schemeClr>
          </a:solidFill>
          <a:ln>
            <a:noFill/>
          </a:ln>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1" i="0" u="none" strike="noStrike" kern="1200" cap="none" spc="0" normalizeH="0" baseline="0" noProof="0" dirty="0">
                <a:ln>
                  <a:noFill/>
                </a:ln>
                <a:solidFill>
                  <a:schemeClr val="bg1"/>
                </a:solidFill>
                <a:effectLst/>
                <a:uLnTx/>
                <a:uFillTx/>
                <a:latin typeface="+mn-lt"/>
                <a:ea typeface="+mn-ea"/>
                <a:cs typeface="+mn-ea"/>
                <a:sym typeface="+mn-lt"/>
              </a:rPr>
              <a:t>建堆完毕</a:t>
            </a:r>
          </a:p>
        </p:txBody>
      </p:sp>
      <p:grpSp>
        <p:nvGrpSpPr>
          <p:cNvPr id="134153" name="组合 56"/>
          <p:cNvGrpSpPr/>
          <p:nvPr/>
        </p:nvGrpSpPr>
        <p:grpSpPr>
          <a:xfrm>
            <a:off x="2659063" y="2427288"/>
            <a:ext cx="5421312" cy="2871787"/>
            <a:chOff x="2603498" y="1666579"/>
            <a:chExt cx="5421313" cy="2871788"/>
          </a:xfrm>
        </p:grpSpPr>
        <p:sp>
          <p:nvSpPr>
            <p:cNvPr id="58" name="Rectangle 4"/>
            <p:cNvSpPr>
              <a:spLocks noChangeArrowheads="1"/>
            </p:cNvSpPr>
            <p:nvPr/>
          </p:nvSpPr>
          <p:spPr bwMode="auto">
            <a:xfrm>
              <a:off x="3406773" y="2676229"/>
              <a:ext cx="763587" cy="455612"/>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Rectangle 5"/>
            <p:cNvSpPr>
              <a:spLocks noChangeArrowheads="1"/>
            </p:cNvSpPr>
            <p:nvPr/>
          </p:nvSpPr>
          <p:spPr bwMode="auto">
            <a:xfrm>
              <a:off x="2603498" y="3603330"/>
              <a:ext cx="674687"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4161" name="Group 6"/>
            <p:cNvGrpSpPr/>
            <p:nvPr/>
          </p:nvGrpSpPr>
          <p:grpSpPr>
            <a:xfrm>
              <a:off x="5108573" y="1666579"/>
              <a:ext cx="739775" cy="835026"/>
              <a:chOff x="3610" y="1787"/>
              <a:chExt cx="466" cy="526"/>
            </a:xfrm>
          </p:grpSpPr>
          <p:sp>
            <p:nvSpPr>
              <p:cNvPr id="79"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 name="Rectangle 8"/>
              <p:cNvSpPr>
                <a:spLocks noChangeArrowheads="1"/>
              </p:cNvSpPr>
              <p:nvPr/>
            </p:nvSpPr>
            <p:spPr bwMode="auto">
              <a:xfrm>
                <a:off x="3773" y="2082"/>
                <a:ext cx="170" cy="23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sp>
            <p:nvSpPr>
              <p:cNvPr id="81" name="Rectangle 8"/>
              <p:cNvSpPr>
                <a:spLocks noChangeArrowheads="1"/>
              </p:cNvSpPr>
              <p:nvPr/>
            </p:nvSpPr>
            <p:spPr bwMode="auto">
              <a:xfrm>
                <a:off x="3722" y="1813"/>
                <a:ext cx="286" cy="23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70</a:t>
                </a:r>
              </a:p>
            </p:txBody>
          </p:sp>
        </p:grpSp>
        <p:sp>
          <p:nvSpPr>
            <p:cNvPr id="61" name="Line 9"/>
            <p:cNvSpPr>
              <a:spLocks noChangeShapeType="1"/>
            </p:cNvSpPr>
            <p:nvPr/>
          </p:nvSpPr>
          <p:spPr bwMode="auto">
            <a:xfrm flipV="1">
              <a:off x="3143248" y="3128667"/>
              <a:ext cx="382587" cy="46196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3" name="Rectangle 11"/>
            <p:cNvSpPr>
              <a:spLocks noChangeArrowheads="1"/>
            </p:cNvSpPr>
            <p:nvPr/>
          </p:nvSpPr>
          <p:spPr bwMode="auto">
            <a:xfrm>
              <a:off x="3619498" y="3174705"/>
              <a:ext cx="515937" cy="3651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2</a:t>
              </a:r>
            </a:p>
          </p:txBody>
        </p:sp>
        <p:sp>
          <p:nvSpPr>
            <p:cNvPr id="64" name="Rectangle 12"/>
            <p:cNvSpPr>
              <a:spLocks noChangeArrowheads="1"/>
            </p:cNvSpPr>
            <p:nvPr/>
          </p:nvSpPr>
          <p:spPr bwMode="auto">
            <a:xfrm>
              <a:off x="2752723" y="3639842"/>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34165" name="Group 13"/>
            <p:cNvGrpSpPr/>
            <p:nvPr/>
          </p:nvGrpSpPr>
          <p:grpSpPr>
            <a:xfrm>
              <a:off x="4016377" y="3128666"/>
              <a:ext cx="719138" cy="1409701"/>
              <a:chOff x="2922" y="2708"/>
              <a:chExt cx="453" cy="888"/>
            </a:xfrm>
          </p:grpSpPr>
          <p:sp>
            <p:nvSpPr>
              <p:cNvPr id="76" name="Rectangle 14"/>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8" name="Rectangle 16"/>
              <p:cNvSpPr>
                <a:spLocks noChangeArrowheads="1"/>
              </p:cNvSpPr>
              <p:nvPr/>
            </p:nvSpPr>
            <p:spPr bwMode="auto">
              <a:xfrm>
                <a:off x="3060" y="3365"/>
                <a:ext cx="291" cy="23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66" name="Rectangle 17"/>
            <p:cNvSpPr>
              <a:spLocks noChangeArrowheads="1"/>
            </p:cNvSpPr>
            <p:nvPr/>
          </p:nvSpPr>
          <p:spPr bwMode="auto">
            <a:xfrm>
              <a:off x="6684961" y="2685754"/>
              <a:ext cx="703263" cy="446087"/>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Rectangle 18"/>
            <p:cNvSpPr>
              <a:spLocks noChangeArrowheads="1"/>
            </p:cNvSpPr>
            <p:nvPr/>
          </p:nvSpPr>
          <p:spPr bwMode="auto">
            <a:xfrm>
              <a:off x="5959474" y="3584280"/>
              <a:ext cx="715962"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8" name="Rectangle 19"/>
            <p:cNvSpPr>
              <a:spLocks noChangeArrowheads="1"/>
            </p:cNvSpPr>
            <p:nvPr/>
          </p:nvSpPr>
          <p:spPr bwMode="auto">
            <a:xfrm>
              <a:off x="6754811" y="2761954"/>
              <a:ext cx="557213" cy="81280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12</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69" name="Line 20"/>
            <p:cNvSpPr>
              <a:spLocks noChangeShapeType="1"/>
            </p:cNvSpPr>
            <p:nvPr/>
          </p:nvSpPr>
          <p:spPr bwMode="auto">
            <a:xfrm flipV="1">
              <a:off x="6326186" y="3138192"/>
              <a:ext cx="349250" cy="4079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 name="Rectangle 21"/>
            <p:cNvSpPr>
              <a:spLocks noChangeArrowheads="1"/>
            </p:cNvSpPr>
            <p:nvPr/>
          </p:nvSpPr>
          <p:spPr bwMode="auto">
            <a:xfrm>
              <a:off x="6118224" y="3649367"/>
              <a:ext cx="557212"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6</a:t>
              </a:r>
            </a:p>
          </p:txBody>
        </p:sp>
        <p:grpSp>
          <p:nvGrpSpPr>
            <p:cNvPr id="134171" name="Group 22"/>
            <p:cNvGrpSpPr/>
            <p:nvPr/>
          </p:nvGrpSpPr>
          <p:grpSpPr>
            <a:xfrm>
              <a:off x="7335836" y="3128668"/>
              <a:ext cx="688975" cy="1350963"/>
              <a:chOff x="5013" y="2708"/>
              <a:chExt cx="434" cy="851"/>
            </a:xfrm>
          </p:grpSpPr>
          <p:sp>
            <p:nvSpPr>
              <p:cNvPr id="73" name="Rectangle 23"/>
              <p:cNvSpPr>
                <a:spLocks noChangeArrowheads="1"/>
              </p:cNvSpPr>
              <p:nvPr/>
            </p:nvSpPr>
            <p:spPr bwMode="auto">
              <a:xfrm>
                <a:off x="5013" y="2989"/>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4"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 name="Rectangle 25"/>
              <p:cNvSpPr>
                <a:spLocks noChangeArrowheads="1"/>
              </p:cNvSpPr>
              <p:nvPr/>
            </p:nvSpPr>
            <p:spPr bwMode="auto">
              <a:xfrm>
                <a:off x="5106" y="3008"/>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72" name="Line 26"/>
            <p:cNvSpPr>
              <a:spLocks noChangeShapeType="1"/>
            </p:cNvSpPr>
            <p:nvPr/>
          </p:nvSpPr>
          <p:spPr bwMode="auto">
            <a:xfrm flipH="1" flipV="1">
              <a:off x="5848349" y="2111079"/>
              <a:ext cx="1166812" cy="582612"/>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6745" name="Line 11"/>
          <p:cNvSpPr>
            <a:spLocks noChangeShapeType="1"/>
          </p:cNvSpPr>
          <p:nvPr/>
        </p:nvSpPr>
        <p:spPr bwMode="auto">
          <a:xfrm flipV="1">
            <a:off x="4189413" y="2857500"/>
            <a:ext cx="1008063" cy="57150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41772" name="Rectangle 12"/>
          <p:cNvSpPr>
            <a:spLocks noChangeArrowheads="1"/>
          </p:cNvSpPr>
          <p:nvPr/>
        </p:nvSpPr>
        <p:spPr bwMode="auto">
          <a:xfrm>
            <a:off x="3457575" y="3379788"/>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60</a:t>
            </a:r>
          </a:p>
        </p:txBody>
      </p:sp>
      <p:sp>
        <p:nvSpPr>
          <p:cNvPr id="116749" name="Line 16"/>
          <p:cNvSpPr>
            <a:spLocks noChangeShapeType="1"/>
          </p:cNvSpPr>
          <p:nvPr/>
        </p:nvSpPr>
        <p:spPr bwMode="auto">
          <a:xfrm flipH="1" flipV="1">
            <a:off x="4071938" y="3889375"/>
            <a:ext cx="460375" cy="48260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2" name="Rectangle 48"/>
          <p:cNvSpPr/>
          <p:nvPr/>
        </p:nvSpPr>
        <p:spPr>
          <a:xfrm>
            <a:off x="4071938" y="4287838"/>
            <a:ext cx="939800" cy="560387"/>
          </a:xfrm>
          <a:prstGeom prst="rect">
            <a:avLst/>
          </a:prstGeom>
          <a:noFill/>
          <a:ln w="9525">
            <a:noFill/>
          </a:ln>
        </p:spPr>
        <p:txBody>
          <a:bodyPr lIns="73025" tIns="36512" rIns="73025" bIns="36512">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defTabSz="586105">
              <a:lnSpc>
                <a:spcPct val="100000"/>
              </a:lnSpc>
            </a:pPr>
            <a:r>
              <a:rPr lang="en-US" altLang="zh-CN" sz="3200" b="1" dirty="0">
                <a:solidFill>
                  <a:srgbClr val="FF6600"/>
                </a:solidFill>
                <a:latin typeface="Arial" panose="020B0604020202020204" pitchFamily="34" charset="0"/>
                <a:ea typeface="宋体" panose="02010600030101010101" pitchFamily="2" charset="-122"/>
              </a:rPr>
              <a:t> 30</a:t>
            </a:r>
          </a:p>
        </p:txBody>
      </p:sp>
      <p:sp>
        <p:nvSpPr>
          <p:cNvPr id="83" name="Line 81"/>
          <p:cNvSpPr>
            <a:spLocks noChangeShapeType="1"/>
          </p:cNvSpPr>
          <p:nvPr/>
        </p:nvSpPr>
        <p:spPr bwMode="auto">
          <a:xfrm>
            <a:off x="4649788" y="1633538"/>
            <a:ext cx="547688" cy="693738"/>
          </a:xfrm>
          <a:prstGeom prst="line">
            <a:avLst/>
          </a:prstGeom>
          <a:noFill/>
          <a:ln w="76200">
            <a:solidFill>
              <a:schemeClr val="accent1">
                <a:lumMod val="60000"/>
                <a:lumOff val="40000"/>
              </a:schemeClr>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fill="hold" grpId="0" nodeType="clickEffect">
                                  <p:stCondLst>
                                    <p:cond delay="0"/>
                                  </p:stCondLst>
                                  <p:childTnLst>
                                    <p:animScale>
                                      <p:cBhvr>
                                        <p:cTn id="6" dur="2000" fill="hold"/>
                                        <p:tgtEl>
                                          <p:spTgt spid="1141772"/>
                                        </p:tgtEl>
                                      </p:cBhvr>
                                      <p:by x="150000" y="150000"/>
                                    </p:animScale>
                                  </p:childTnLst>
                                </p:cTn>
                              </p:par>
                            </p:childTnLst>
                          </p:cTn>
                        </p:par>
                      </p:childTnLst>
                    </p:cTn>
                  </p:par>
                  <p:par>
                    <p:cTn id="7" fill="hold">
                      <p:stCondLst>
                        <p:cond delay="indefinite"/>
                      </p:stCondLst>
                      <p:childTnLst>
                        <p:par>
                          <p:cTn id="8" fill="hold">
                            <p:stCondLst>
                              <p:cond delay="0"/>
                            </p:stCondLst>
                            <p:childTnLst>
                              <p:par>
                                <p:cTn id="9" presetID="2" presetClass="entr" presetSubtype="3" fill="hold" grpId="0" nodeType="clickEffect">
                                  <p:stCondLst>
                                    <p:cond delay="0"/>
                                  </p:stCondLst>
                                  <p:childTnLst>
                                    <p:set>
                                      <p:cBhvr>
                                        <p:cTn id="10" dur="1" fill="hold">
                                          <p:stCondLst>
                                            <p:cond delay="0"/>
                                          </p:stCondLst>
                                        </p:cTn>
                                        <p:tgtEl>
                                          <p:spTgt spid="1141810"/>
                                        </p:tgtEl>
                                        <p:attrNameLst>
                                          <p:attrName>style.visibility</p:attrName>
                                        </p:attrNameLst>
                                      </p:cBhvr>
                                      <p:to>
                                        <p:strVal val="visible"/>
                                      </p:to>
                                    </p:set>
                                    <p:anim calcmode="lin" valueType="num">
                                      <p:cBhvr additive="base">
                                        <p:cTn id="11" dur="3000" fill="hold"/>
                                        <p:tgtEl>
                                          <p:spTgt spid="1141810"/>
                                        </p:tgtEl>
                                        <p:attrNameLst>
                                          <p:attrName>ppt_x</p:attrName>
                                        </p:attrNameLst>
                                      </p:cBhvr>
                                      <p:tavLst>
                                        <p:tav tm="0">
                                          <p:val>
                                            <p:strVal val="1+#ppt_w/2"/>
                                          </p:val>
                                        </p:tav>
                                        <p:tav tm="100000">
                                          <p:val>
                                            <p:strVal val="#ppt_x"/>
                                          </p:val>
                                        </p:tav>
                                      </p:tavLst>
                                    </p:anim>
                                    <p:anim calcmode="lin" valueType="num">
                                      <p:cBhvr additive="base">
                                        <p:cTn id="12" dur="3000" fill="hold"/>
                                        <p:tgtEl>
                                          <p:spTgt spid="1141810"/>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6" presetClass="emph" presetSubtype="0" fill="hold" grpId="0" nodeType="clickEffect">
                                  <p:stCondLst>
                                    <p:cond delay="0"/>
                                  </p:stCondLst>
                                  <p:childTnLst>
                                    <p:animScale>
                                      <p:cBhvr>
                                        <p:cTn id="16" dur="2000" fill="hold"/>
                                        <p:tgtEl>
                                          <p:spTgt spid="8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1810" grpId="0" animBg="1"/>
      <p:bldP spid="1141772" grpId="0"/>
      <p:bldP spid="82"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2790" name="Rectangle 6"/>
          <p:cNvSpPr>
            <a:spLocks noChangeArrowheads="1"/>
          </p:cNvSpPr>
          <p:nvPr/>
        </p:nvSpPr>
        <p:spPr bwMode="auto">
          <a:xfrm>
            <a:off x="301625" y="3575050"/>
            <a:ext cx="8424863" cy="1881188"/>
          </a:xfrm>
          <a:prstGeom prst="rect">
            <a:avLst/>
          </a:prstGeom>
          <a:solidFill>
            <a:srgbClr val="E2D9EB"/>
          </a:solidFill>
          <a:ln w="38100">
            <a:noFill/>
            <a:miter lim="800000"/>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20000"/>
              </a:spcBef>
              <a:spcAft>
                <a:spcPct val="0"/>
              </a:spcAft>
              <a:buClr>
                <a:schemeClr val="accent2"/>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输出堆顶元素后，以堆中</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最后一个元素</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替代之</a:t>
            </a:r>
          </a:p>
          <a:p>
            <a:pPr marL="0" marR="0" lvl="0" indent="0" algn="l" defTabSz="914400" rtl="0" eaLnBrk="1" fontAlgn="base" latinLnBrk="0" hangingPunct="1">
              <a:lnSpc>
                <a:spcPct val="125000"/>
              </a:lnSpc>
              <a:spcBef>
                <a:spcPct val="20000"/>
              </a:spcBef>
              <a:spcAft>
                <a:spcPct val="0"/>
              </a:spcAft>
              <a:buClr>
                <a:schemeClr val="accent2"/>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将根结点与左、右子树根结点比较，并</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与大者交换</a:t>
            </a:r>
          </a:p>
          <a:p>
            <a:pPr marL="0" marR="0" lvl="0" indent="0" algn="l" defTabSz="914400" rtl="0" eaLnBrk="1" fontAlgn="base" latinLnBrk="0" hangingPunct="1">
              <a:lnSpc>
                <a:spcPct val="125000"/>
              </a:lnSpc>
              <a:spcBef>
                <a:spcPct val="20000"/>
              </a:spcBef>
              <a:spcAft>
                <a:spcPct val="0"/>
              </a:spcAft>
              <a:buClr>
                <a:schemeClr val="accent2"/>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重复</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直至叶子结点，得到新的堆</a:t>
            </a:r>
          </a:p>
        </p:txBody>
      </p:sp>
      <p:sp>
        <p:nvSpPr>
          <p:cNvPr id="117763" name="Rectangle 7"/>
          <p:cNvSpPr>
            <a:spLocks noChangeArrowheads="1"/>
          </p:cNvSpPr>
          <p:nvPr/>
        </p:nvSpPr>
        <p:spPr bwMode="auto">
          <a:xfrm>
            <a:off x="327025" y="1638300"/>
            <a:ext cx="8424863" cy="631825"/>
          </a:xfrm>
          <a:prstGeom prst="rect">
            <a:avLst/>
          </a:prstGeom>
          <a:solidFill>
            <a:srgbClr val="EAEAEA"/>
          </a:solidFill>
          <a:ln w="38100">
            <a:noFill/>
            <a:miter lim="800000"/>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如何在输出堆顶元素后</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调整</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，使之成为新堆？</a:t>
            </a:r>
          </a:p>
        </p:txBody>
      </p:sp>
      <p:grpSp>
        <p:nvGrpSpPr>
          <p:cNvPr id="2" name="Group 8"/>
          <p:cNvGrpSpPr/>
          <p:nvPr/>
        </p:nvGrpSpPr>
        <p:grpSpPr>
          <a:xfrm>
            <a:off x="4143375" y="2395538"/>
            <a:ext cx="989013" cy="939800"/>
            <a:chOff x="2608" y="1160"/>
            <a:chExt cx="623" cy="592"/>
          </a:xfrm>
        </p:grpSpPr>
        <p:sp>
          <p:nvSpPr>
            <p:cNvPr id="117765" name="AutoShape 9"/>
            <p:cNvSpPr>
              <a:spLocks noChangeArrowheads="1"/>
            </p:cNvSpPr>
            <p:nvPr/>
          </p:nvSpPr>
          <p:spPr bwMode="auto">
            <a:xfrm>
              <a:off x="2608" y="1160"/>
              <a:ext cx="181" cy="592"/>
            </a:xfrm>
            <a:prstGeom prst="downArrow">
              <a:avLst>
                <a:gd name="adj1" fmla="val 50000"/>
                <a:gd name="adj2" fmla="val 81738"/>
              </a:avLst>
            </a:prstGeom>
            <a:solidFill>
              <a:schemeClr val="accent1"/>
            </a:solidFill>
            <a:ln>
              <a:noFill/>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7766" name="Text Box 10"/>
            <p:cNvSpPr txBox="1">
              <a:spLocks noChangeArrowheads="1"/>
            </p:cNvSpPr>
            <p:nvPr/>
          </p:nvSpPr>
          <p:spPr bwMode="auto">
            <a:xfrm>
              <a:off x="2843" y="1208"/>
              <a:ext cx="388" cy="544"/>
            </a:xfrm>
            <a:prstGeom prst="rect">
              <a:avLst/>
            </a:prstGeom>
            <a:noFill/>
            <a:ln>
              <a:noFill/>
            </a:ln>
          </p:spPr>
          <p:txBody>
            <a:bodyPr vert="eaVert">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筛选</a:t>
              </a:r>
            </a:p>
          </p:txBody>
        </p:sp>
      </p:grpSp>
      <p:sp>
        <p:nvSpPr>
          <p:cNvPr id="1142796" name="Rectangle 12"/>
          <p:cNvSpPr>
            <a:spLocks noChangeArrowheads="1"/>
          </p:cNvSpPr>
          <p:nvPr/>
        </p:nvSpPr>
        <p:spPr bwMode="auto">
          <a:xfrm>
            <a:off x="785813" y="1603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142790">
                                            <p:bg/>
                                          </p:spTgt>
                                        </p:tgtEl>
                                        <p:attrNameLst>
                                          <p:attrName>style.visibility</p:attrName>
                                        </p:attrNameLst>
                                      </p:cBhvr>
                                      <p:to>
                                        <p:strVal val="visible"/>
                                      </p:to>
                                    </p:set>
                                    <p:animEffect transition="in" filter="box(in)">
                                      <p:cBhvr>
                                        <p:cTn id="12" dur="500"/>
                                        <p:tgtEl>
                                          <p:spTgt spid="1142790">
                                            <p:bg/>
                                          </p:spTgt>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142790">
                                            <p:txEl>
                                              <p:pRg st="0" end="0"/>
                                            </p:txEl>
                                          </p:spTgt>
                                        </p:tgtEl>
                                        <p:attrNameLst>
                                          <p:attrName>style.visibility</p:attrName>
                                        </p:attrNameLst>
                                      </p:cBhvr>
                                      <p:to>
                                        <p:strVal val="visible"/>
                                      </p:to>
                                    </p:set>
                                    <p:animEffect transition="in" filter="box(in)">
                                      <p:cBhvr>
                                        <p:cTn id="17" dur="500"/>
                                        <p:tgtEl>
                                          <p:spTgt spid="114279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1142790">
                                            <p:txEl>
                                              <p:pRg st="1" end="1"/>
                                            </p:txEl>
                                          </p:spTgt>
                                        </p:tgtEl>
                                        <p:attrNameLst>
                                          <p:attrName>style.visibility</p:attrName>
                                        </p:attrNameLst>
                                      </p:cBhvr>
                                      <p:to>
                                        <p:strVal val="visible"/>
                                      </p:to>
                                    </p:set>
                                    <p:animEffect transition="in" filter="box(in)">
                                      <p:cBhvr>
                                        <p:cTn id="22" dur="500"/>
                                        <p:tgtEl>
                                          <p:spTgt spid="114279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142790">
                                            <p:txEl>
                                              <p:pRg st="2" end="2"/>
                                            </p:txEl>
                                          </p:spTgt>
                                        </p:tgtEl>
                                        <p:attrNameLst>
                                          <p:attrName>style.visibility</p:attrName>
                                        </p:attrNameLst>
                                      </p:cBhvr>
                                      <p:to>
                                        <p:strVal val="visible"/>
                                      </p:to>
                                    </p:set>
                                    <p:animEffect transition="in" filter="box(in)">
                                      <p:cBhvr>
                                        <p:cTn id="27" dur="500"/>
                                        <p:tgtEl>
                                          <p:spTgt spid="114279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2790" grpId="0" build="p"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6194" name="Group 29"/>
          <p:cNvGrpSpPr/>
          <p:nvPr/>
        </p:nvGrpSpPr>
        <p:grpSpPr>
          <a:xfrm>
            <a:off x="1290638" y="1477963"/>
            <a:ext cx="693737" cy="4183062"/>
            <a:chOff x="748" y="1394"/>
            <a:chExt cx="437" cy="2635"/>
          </a:xfrm>
        </p:grpSpPr>
        <p:sp>
          <p:nvSpPr>
            <p:cNvPr id="118810" name="Rectangle 30"/>
            <p:cNvSpPr>
              <a:spLocks noChangeArrowheads="1"/>
            </p:cNvSpPr>
            <p:nvPr/>
          </p:nvSpPr>
          <p:spPr bwMode="auto">
            <a:xfrm>
              <a:off x="752" y="1394"/>
              <a:ext cx="433" cy="2635"/>
            </a:xfrm>
            <a:prstGeom prst="rect">
              <a:avLst/>
            </a:prstGeom>
            <a:solidFill>
              <a:schemeClr val="accent1">
                <a:lumMod val="60000"/>
                <a:lumOff val="40000"/>
              </a:schemeClr>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8811" name="Line 31"/>
            <p:cNvSpPr>
              <a:spLocks noChangeShapeType="1"/>
            </p:cNvSpPr>
            <p:nvPr/>
          </p:nvSpPr>
          <p:spPr bwMode="auto">
            <a:xfrm>
              <a:off x="748" y="1737"/>
              <a:ext cx="437"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8812" name="Line 32"/>
            <p:cNvSpPr>
              <a:spLocks noChangeShapeType="1"/>
            </p:cNvSpPr>
            <p:nvPr/>
          </p:nvSpPr>
          <p:spPr bwMode="auto">
            <a:xfrm>
              <a:off x="748" y="2126"/>
              <a:ext cx="437"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8813" name="Line 33"/>
            <p:cNvSpPr>
              <a:spLocks noChangeShapeType="1"/>
            </p:cNvSpPr>
            <p:nvPr/>
          </p:nvSpPr>
          <p:spPr bwMode="auto">
            <a:xfrm>
              <a:off x="748" y="2517"/>
              <a:ext cx="437"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8814" name="Line 34"/>
            <p:cNvSpPr>
              <a:spLocks noChangeShapeType="1"/>
            </p:cNvSpPr>
            <p:nvPr/>
          </p:nvSpPr>
          <p:spPr bwMode="auto">
            <a:xfrm>
              <a:off x="748" y="2906"/>
              <a:ext cx="437"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8815" name="Line 35"/>
            <p:cNvSpPr>
              <a:spLocks noChangeShapeType="1"/>
            </p:cNvSpPr>
            <p:nvPr/>
          </p:nvSpPr>
          <p:spPr bwMode="auto">
            <a:xfrm>
              <a:off x="748" y="3297"/>
              <a:ext cx="437"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8816" name="Line 36"/>
            <p:cNvSpPr>
              <a:spLocks noChangeShapeType="1"/>
            </p:cNvSpPr>
            <p:nvPr/>
          </p:nvSpPr>
          <p:spPr bwMode="auto">
            <a:xfrm>
              <a:off x="748" y="3686"/>
              <a:ext cx="437"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8817" name="Rectangle 37"/>
          <p:cNvSpPr>
            <a:spLocks noChangeArrowheads="1"/>
          </p:cNvSpPr>
          <p:nvPr/>
        </p:nvSpPr>
        <p:spPr bwMode="auto">
          <a:xfrm>
            <a:off x="538163" y="1522413"/>
            <a:ext cx="612775"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[ 7 ]</a:t>
            </a:r>
          </a:p>
        </p:txBody>
      </p:sp>
      <p:sp>
        <p:nvSpPr>
          <p:cNvPr id="118818" name="Rectangle 38"/>
          <p:cNvSpPr>
            <a:spLocks noChangeArrowheads="1"/>
          </p:cNvSpPr>
          <p:nvPr/>
        </p:nvSpPr>
        <p:spPr bwMode="auto">
          <a:xfrm>
            <a:off x="1441450" y="1581150"/>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6600"/>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grpSp>
        <p:nvGrpSpPr>
          <p:cNvPr id="6" name="Group 49"/>
          <p:cNvGrpSpPr/>
          <p:nvPr/>
        </p:nvGrpSpPr>
        <p:grpSpPr>
          <a:xfrm>
            <a:off x="2143125" y="1817688"/>
            <a:ext cx="490538" cy="3619500"/>
            <a:chOff x="1333" y="630"/>
            <a:chExt cx="355" cy="2280"/>
          </a:xfrm>
        </p:grpSpPr>
        <p:sp>
          <p:nvSpPr>
            <p:cNvPr id="118828" name="Line 50"/>
            <p:cNvSpPr>
              <a:spLocks noChangeShapeType="1"/>
            </p:cNvSpPr>
            <p:nvPr/>
          </p:nvSpPr>
          <p:spPr bwMode="auto">
            <a:xfrm>
              <a:off x="1672" y="630"/>
              <a:ext cx="1" cy="2271"/>
            </a:xfrm>
            <a:prstGeom prst="line">
              <a:avLst/>
            </a:prstGeom>
            <a:noFill/>
            <a:ln w="38100">
              <a:solidFill>
                <a:srgbClr val="FF0000"/>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8829" name="Line 51"/>
            <p:cNvSpPr>
              <a:spLocks noChangeShapeType="1"/>
            </p:cNvSpPr>
            <p:nvPr/>
          </p:nvSpPr>
          <p:spPr bwMode="auto">
            <a:xfrm>
              <a:off x="1333" y="630"/>
              <a:ext cx="355" cy="0"/>
            </a:xfrm>
            <a:prstGeom prst="line">
              <a:avLst/>
            </a:prstGeom>
            <a:noFill/>
            <a:ln w="381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8830" name="Line 52"/>
            <p:cNvSpPr>
              <a:spLocks noChangeShapeType="1"/>
            </p:cNvSpPr>
            <p:nvPr/>
          </p:nvSpPr>
          <p:spPr bwMode="auto">
            <a:xfrm flipV="1">
              <a:off x="1338" y="2901"/>
              <a:ext cx="350" cy="9"/>
            </a:xfrm>
            <a:prstGeom prst="line">
              <a:avLst/>
            </a:prstGeom>
            <a:noFill/>
            <a:ln w="381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43861" name="Rectangle 53"/>
          <p:cNvSpPr>
            <a:spLocks noChangeArrowheads="1"/>
          </p:cNvSpPr>
          <p:nvPr/>
        </p:nvSpPr>
        <p:spPr bwMode="auto">
          <a:xfrm>
            <a:off x="835025" y="152400"/>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1</a:t>
            </a:r>
          </a:p>
        </p:txBody>
      </p:sp>
      <p:grpSp>
        <p:nvGrpSpPr>
          <p:cNvPr id="136199" name="组合 48"/>
          <p:cNvGrpSpPr/>
          <p:nvPr/>
        </p:nvGrpSpPr>
        <p:grpSpPr>
          <a:xfrm>
            <a:off x="2916238" y="2417763"/>
            <a:ext cx="5421312" cy="2846387"/>
            <a:chOff x="2603498" y="1666579"/>
            <a:chExt cx="5421313" cy="2847676"/>
          </a:xfrm>
        </p:grpSpPr>
        <p:sp>
          <p:nvSpPr>
            <p:cNvPr id="50" name="Rectangle 4"/>
            <p:cNvSpPr>
              <a:spLocks noChangeArrowheads="1"/>
            </p:cNvSpPr>
            <p:nvPr/>
          </p:nvSpPr>
          <p:spPr bwMode="auto">
            <a:xfrm>
              <a:off x="3406773" y="2676686"/>
              <a:ext cx="763587" cy="45581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 name="Rectangle 5"/>
            <p:cNvSpPr>
              <a:spLocks noChangeArrowheads="1"/>
            </p:cNvSpPr>
            <p:nvPr/>
          </p:nvSpPr>
          <p:spPr bwMode="auto">
            <a:xfrm>
              <a:off x="2603498" y="3602617"/>
              <a:ext cx="674687" cy="43834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36203" name="Group 6"/>
            <p:cNvGrpSpPr/>
            <p:nvPr/>
          </p:nvGrpSpPr>
          <p:grpSpPr>
            <a:xfrm>
              <a:off x="5108573" y="1666579"/>
              <a:ext cx="739775" cy="844551"/>
              <a:chOff x="3610" y="1787"/>
              <a:chExt cx="466" cy="532"/>
            </a:xfrm>
          </p:grpSpPr>
          <p:sp>
            <p:nvSpPr>
              <p:cNvPr id="71" name="Rectangle 7"/>
              <p:cNvSpPr>
                <a:spLocks noChangeArrowheads="1"/>
              </p:cNvSpPr>
              <p:nvPr/>
            </p:nvSpPr>
            <p:spPr bwMode="auto">
              <a:xfrm>
                <a:off x="3610" y="1787"/>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2" name="Rectangle 8"/>
              <p:cNvSpPr>
                <a:spLocks noChangeArrowheads="1"/>
              </p:cNvSpPr>
              <p:nvPr/>
            </p:nvSpPr>
            <p:spPr bwMode="auto">
              <a:xfrm>
                <a:off x="3678" y="2088"/>
                <a:ext cx="246" cy="231"/>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1</a:t>
                </a:r>
              </a:p>
            </p:txBody>
          </p:sp>
        </p:grpSp>
        <p:sp>
          <p:nvSpPr>
            <p:cNvPr id="53" name="Line 9"/>
            <p:cNvSpPr>
              <a:spLocks noChangeShapeType="1"/>
            </p:cNvSpPr>
            <p:nvPr/>
          </p:nvSpPr>
          <p:spPr bwMode="auto">
            <a:xfrm flipV="1">
              <a:off x="3143248" y="3129328"/>
              <a:ext cx="382587" cy="46058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 name="Line 10"/>
            <p:cNvSpPr>
              <a:spLocks noChangeShapeType="1"/>
            </p:cNvSpPr>
            <p:nvPr/>
          </p:nvSpPr>
          <p:spPr bwMode="auto">
            <a:xfrm flipV="1">
              <a:off x="3890960" y="2076339"/>
              <a:ext cx="1287463" cy="6067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 name="Rectangle 11"/>
            <p:cNvSpPr>
              <a:spLocks noChangeArrowheads="1"/>
            </p:cNvSpPr>
            <p:nvPr/>
          </p:nvSpPr>
          <p:spPr bwMode="auto">
            <a:xfrm>
              <a:off x="3519485" y="2730686"/>
              <a:ext cx="515938" cy="87352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2</a:t>
              </a:r>
            </a:p>
          </p:txBody>
        </p:sp>
        <p:sp>
          <p:nvSpPr>
            <p:cNvPr id="56" name="Rectangle 12"/>
            <p:cNvSpPr>
              <a:spLocks noChangeArrowheads="1"/>
            </p:cNvSpPr>
            <p:nvPr/>
          </p:nvSpPr>
          <p:spPr bwMode="auto">
            <a:xfrm>
              <a:off x="2752723" y="3639147"/>
              <a:ext cx="460375" cy="87510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36208" name="Group 13"/>
            <p:cNvGrpSpPr/>
            <p:nvPr/>
          </p:nvGrpSpPr>
          <p:grpSpPr>
            <a:xfrm>
              <a:off x="4016377" y="3128666"/>
              <a:ext cx="719138" cy="1343026"/>
              <a:chOff x="2922" y="2708"/>
              <a:chExt cx="453" cy="846"/>
            </a:xfrm>
          </p:grpSpPr>
          <p:sp>
            <p:nvSpPr>
              <p:cNvPr id="68" name="Rectangle 14"/>
              <p:cNvSpPr>
                <a:spLocks noChangeArrowheads="1"/>
              </p:cNvSpPr>
              <p:nvPr/>
            </p:nvSpPr>
            <p:spPr bwMode="auto">
              <a:xfrm>
                <a:off x="2941" y="2990"/>
                <a:ext cx="434" cy="29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9" name="Line 15"/>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 name="Rectangle 16"/>
              <p:cNvSpPr>
                <a:spLocks noChangeArrowheads="1"/>
              </p:cNvSpPr>
              <p:nvPr/>
            </p:nvSpPr>
            <p:spPr bwMode="auto">
              <a:xfrm>
                <a:off x="3034" y="3009"/>
                <a:ext cx="291" cy="54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sp>
          <p:nvSpPr>
            <p:cNvPr id="58" name="Rectangle 17"/>
            <p:cNvSpPr>
              <a:spLocks noChangeArrowheads="1"/>
            </p:cNvSpPr>
            <p:nvPr/>
          </p:nvSpPr>
          <p:spPr bwMode="auto">
            <a:xfrm>
              <a:off x="6684961" y="2686216"/>
              <a:ext cx="703263" cy="44628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9" name="Rectangle 18"/>
            <p:cNvSpPr>
              <a:spLocks noChangeArrowheads="1"/>
            </p:cNvSpPr>
            <p:nvPr/>
          </p:nvSpPr>
          <p:spPr bwMode="auto">
            <a:xfrm>
              <a:off x="5959474" y="3583559"/>
              <a:ext cx="715962" cy="457407"/>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 name="Rectangle 19"/>
            <p:cNvSpPr>
              <a:spLocks noChangeArrowheads="1"/>
            </p:cNvSpPr>
            <p:nvPr/>
          </p:nvSpPr>
          <p:spPr bwMode="auto">
            <a:xfrm>
              <a:off x="6831011" y="2724333"/>
              <a:ext cx="504825" cy="81316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12</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3</a:t>
              </a:r>
            </a:p>
          </p:txBody>
        </p:sp>
        <p:sp>
          <p:nvSpPr>
            <p:cNvPr id="61" name="Line 20"/>
            <p:cNvSpPr>
              <a:spLocks noChangeShapeType="1"/>
            </p:cNvSpPr>
            <p:nvPr/>
          </p:nvSpPr>
          <p:spPr bwMode="auto">
            <a:xfrm flipV="1">
              <a:off x="6326186" y="3138857"/>
              <a:ext cx="349250" cy="40658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 name="Rectangle 21"/>
            <p:cNvSpPr>
              <a:spLocks noChangeArrowheads="1"/>
            </p:cNvSpPr>
            <p:nvPr/>
          </p:nvSpPr>
          <p:spPr bwMode="auto">
            <a:xfrm>
              <a:off x="6056311" y="3650264"/>
              <a:ext cx="557213" cy="81158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6</a:t>
              </a:r>
            </a:p>
          </p:txBody>
        </p:sp>
        <p:grpSp>
          <p:nvGrpSpPr>
            <p:cNvPr id="136214" name="Group 22"/>
            <p:cNvGrpSpPr/>
            <p:nvPr/>
          </p:nvGrpSpPr>
          <p:grpSpPr>
            <a:xfrm>
              <a:off x="7335836" y="3128668"/>
              <a:ext cx="688975" cy="1325563"/>
              <a:chOff x="5013" y="2708"/>
              <a:chExt cx="434" cy="835"/>
            </a:xfrm>
          </p:grpSpPr>
          <p:sp>
            <p:nvSpPr>
              <p:cNvPr id="65" name="Rectangle 23"/>
              <p:cNvSpPr>
                <a:spLocks noChangeArrowheads="1"/>
              </p:cNvSpPr>
              <p:nvPr/>
            </p:nvSpPr>
            <p:spPr bwMode="auto">
              <a:xfrm>
                <a:off x="5013" y="2995"/>
                <a:ext cx="434" cy="29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6" name="Line 24"/>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7" name="Rectangle 25"/>
              <p:cNvSpPr>
                <a:spLocks noChangeArrowheads="1"/>
              </p:cNvSpPr>
              <p:nvPr/>
            </p:nvSpPr>
            <p:spPr bwMode="auto">
              <a:xfrm>
                <a:off x="5106" y="3037"/>
                <a:ext cx="291" cy="506"/>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grpSp>
        <p:sp>
          <p:nvSpPr>
            <p:cNvPr id="64" name="Line 26"/>
            <p:cNvSpPr>
              <a:spLocks noChangeShapeType="1"/>
            </p:cNvSpPr>
            <p:nvPr/>
          </p:nvSpPr>
          <p:spPr bwMode="auto">
            <a:xfrm flipH="1" flipV="1">
              <a:off x="5848349" y="2111280"/>
              <a:ext cx="1166812" cy="582876"/>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43855" name="Rectangle 47"/>
          <p:cNvSpPr>
            <a:spLocks noChangeArrowheads="1"/>
          </p:cNvSpPr>
          <p:nvPr/>
        </p:nvSpPr>
        <p:spPr bwMode="auto">
          <a:xfrm>
            <a:off x="5410200" y="2376488"/>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70</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fill="hold" grpId="0" nodeType="clickEffect">
                                  <p:stCondLst>
                                    <p:cond delay="0"/>
                                  </p:stCondLst>
                                  <p:childTnLst>
                                    <p:animScale>
                                      <p:cBhvr>
                                        <p:cTn id="6" dur="2000" fill="hold"/>
                                        <p:tgtEl>
                                          <p:spTgt spid="1143855"/>
                                        </p:tgtEl>
                                      </p:cBhvr>
                                      <p:by x="150000" y="150000"/>
                                    </p:animScale>
                                  </p:childTnLst>
                                </p:cTn>
                              </p:par>
                            </p:childTnLst>
                          </p:cTn>
                        </p:par>
                      </p:childTnLst>
                    </p:cTn>
                  </p:par>
                  <p:par>
                    <p:cTn id="7" fill="hold">
                      <p:stCondLst>
                        <p:cond delay="indefinite"/>
                      </p:stCondLst>
                      <p:childTnLst>
                        <p:par>
                          <p:cTn id="8" fill="hold">
                            <p:stCondLst>
                              <p:cond delay="0"/>
                            </p:stCondLst>
                            <p:childTnLst>
                              <p:par>
                                <p:cTn id="9" presetID="54" presetClass="entr" presetSubtype="0" accel="10000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p:cTn id="11" dur="500" fill="hold"/>
                                        <p:tgtEl>
                                          <p:spTgt spid="6"/>
                                        </p:tgtEl>
                                        <p:attrNameLst>
                                          <p:attrName>ppt_w</p:attrName>
                                        </p:attrNameLst>
                                      </p:cBhvr>
                                      <p:tavLst>
                                        <p:tav tm="0">
                                          <p:val>
                                            <p:strVal val="#ppt_w*0.05"/>
                                          </p:val>
                                        </p:tav>
                                        <p:tav tm="100000">
                                          <p:val>
                                            <p:strVal val="#ppt_w"/>
                                          </p:val>
                                        </p:tav>
                                      </p:tavLst>
                                    </p:anim>
                                    <p:anim calcmode="lin" valueType="num">
                                      <p:cBhvr>
                                        <p:cTn id="12" dur="500" fill="hold"/>
                                        <p:tgtEl>
                                          <p:spTgt spid="6"/>
                                        </p:tgtEl>
                                        <p:attrNameLst>
                                          <p:attrName>ppt_h</p:attrName>
                                        </p:attrNameLst>
                                      </p:cBhvr>
                                      <p:tavLst>
                                        <p:tav tm="0">
                                          <p:val>
                                            <p:strVal val="#ppt_h"/>
                                          </p:val>
                                        </p:tav>
                                        <p:tav tm="100000">
                                          <p:val>
                                            <p:strVal val="#ppt_h"/>
                                          </p:val>
                                        </p:tav>
                                      </p:tavLst>
                                    </p:anim>
                                    <p:anim calcmode="lin" valueType="num">
                                      <p:cBhvr>
                                        <p:cTn id="13" dur="500" fill="hold"/>
                                        <p:tgtEl>
                                          <p:spTgt spid="6"/>
                                        </p:tgtEl>
                                        <p:attrNameLst>
                                          <p:attrName>ppt_x</p:attrName>
                                        </p:attrNameLst>
                                      </p:cBhvr>
                                      <p:tavLst>
                                        <p:tav tm="0">
                                          <p:val>
                                            <p:strVal val="#ppt_x-.2"/>
                                          </p:val>
                                        </p:tav>
                                        <p:tav tm="100000">
                                          <p:val>
                                            <p:strVal val="#ppt_x"/>
                                          </p:val>
                                        </p:tav>
                                      </p:tavLst>
                                    </p:anim>
                                    <p:anim calcmode="lin" valueType="num">
                                      <p:cBhvr>
                                        <p:cTn id="14" dur="500" fill="hold"/>
                                        <p:tgtEl>
                                          <p:spTgt spid="6"/>
                                        </p:tgtEl>
                                        <p:attrNameLst>
                                          <p:attrName>ppt_y</p:attrName>
                                        </p:attrNameLst>
                                      </p:cBhvr>
                                      <p:tavLst>
                                        <p:tav tm="0">
                                          <p:val>
                                            <p:strVal val="#ppt_y"/>
                                          </p:val>
                                        </p:tav>
                                        <p:tav tm="100000">
                                          <p:val>
                                            <p:strVal val="#ppt_y"/>
                                          </p:val>
                                        </p:tav>
                                      </p:tavLst>
                                    </p:anim>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3855"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4836" name="Rectangle 4"/>
          <p:cNvSpPr>
            <a:spLocks noChangeArrowheads="1"/>
          </p:cNvSpPr>
          <p:nvPr/>
        </p:nvSpPr>
        <p:spPr bwMode="auto">
          <a:xfrm>
            <a:off x="862013" y="187325"/>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1</a:t>
            </a:r>
          </a:p>
        </p:txBody>
      </p:sp>
      <p:sp>
        <p:nvSpPr>
          <p:cNvPr id="119811" name="Rectangle 5"/>
          <p:cNvSpPr>
            <a:spLocks noChangeArrowheads="1"/>
          </p:cNvSpPr>
          <p:nvPr/>
        </p:nvSpPr>
        <p:spPr bwMode="auto">
          <a:xfrm>
            <a:off x="3482975" y="3154363"/>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12" name="Rectangle 6"/>
          <p:cNvSpPr>
            <a:spLocks noChangeArrowheads="1"/>
          </p:cNvSpPr>
          <p:nvPr/>
        </p:nvSpPr>
        <p:spPr bwMode="auto">
          <a:xfrm>
            <a:off x="2679700" y="4081463"/>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13" name="Rectangle 9"/>
          <p:cNvSpPr>
            <a:spLocks noChangeArrowheads="1"/>
          </p:cNvSpPr>
          <p:nvPr/>
        </p:nvSpPr>
        <p:spPr bwMode="auto">
          <a:xfrm>
            <a:off x="5292725" y="2141538"/>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bg1"/>
                </a:solidFill>
                <a:effectLst/>
                <a:uLnTx/>
                <a:uFillTx/>
                <a:latin typeface="+mn-lt"/>
                <a:ea typeface="+mn-ea"/>
                <a:cs typeface="+mn-ea"/>
                <a:sym typeface="+mn-lt"/>
              </a:rPr>
              <a:t> </a:t>
            </a:r>
          </a:p>
        </p:txBody>
      </p:sp>
      <p:sp>
        <p:nvSpPr>
          <p:cNvPr id="119814" name="Line 10"/>
          <p:cNvSpPr>
            <a:spLocks noChangeShapeType="1"/>
          </p:cNvSpPr>
          <p:nvPr/>
        </p:nvSpPr>
        <p:spPr bwMode="auto">
          <a:xfrm flipV="1">
            <a:off x="3219450" y="3487738"/>
            <a:ext cx="454025" cy="58102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15" name="Line 11"/>
          <p:cNvSpPr>
            <a:spLocks noChangeShapeType="1"/>
          </p:cNvSpPr>
          <p:nvPr/>
        </p:nvSpPr>
        <p:spPr bwMode="auto">
          <a:xfrm flipV="1">
            <a:off x="3967163" y="2486025"/>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16" name="Rectangle 12"/>
          <p:cNvSpPr>
            <a:spLocks noChangeArrowheads="1"/>
          </p:cNvSpPr>
          <p:nvPr/>
        </p:nvSpPr>
        <p:spPr bwMode="auto">
          <a:xfrm>
            <a:off x="3560763" y="3019425"/>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chemeClr val="bg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chemeClr val="bg1"/>
                </a:solidFill>
                <a:effectLst/>
                <a:uLnTx/>
                <a:uFillTx/>
                <a:latin typeface="+mn-lt"/>
                <a:ea typeface="+mn-ea"/>
                <a:cs typeface="+mn-ea"/>
                <a:sym typeface="+mn-lt"/>
              </a:rPr>
              <a:t>60</a:t>
            </a:r>
          </a:p>
        </p:txBody>
      </p:sp>
      <p:sp>
        <p:nvSpPr>
          <p:cNvPr id="119817" name="Rectangle 13"/>
          <p:cNvSpPr>
            <a:spLocks noChangeArrowheads="1"/>
          </p:cNvSpPr>
          <p:nvPr/>
        </p:nvSpPr>
        <p:spPr bwMode="auto">
          <a:xfrm>
            <a:off x="2828925" y="4068763"/>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a:t>
            </a:r>
          </a:p>
        </p:txBody>
      </p:sp>
      <p:grpSp>
        <p:nvGrpSpPr>
          <p:cNvPr id="137226" name="Group 14"/>
          <p:cNvGrpSpPr/>
          <p:nvPr/>
        </p:nvGrpSpPr>
        <p:grpSpPr>
          <a:xfrm>
            <a:off x="4081463" y="3471863"/>
            <a:ext cx="730250" cy="1477962"/>
            <a:chOff x="2915" y="2623"/>
            <a:chExt cx="460" cy="931"/>
          </a:xfrm>
        </p:grpSpPr>
        <p:sp>
          <p:nvSpPr>
            <p:cNvPr id="119819" name="Rectangle 15"/>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20" name="Line 16"/>
            <p:cNvSpPr>
              <a:spLocks noChangeShapeType="1"/>
            </p:cNvSpPr>
            <p:nvPr/>
          </p:nvSpPr>
          <p:spPr bwMode="auto">
            <a:xfrm flipH="1" flipV="1">
              <a:off x="2915" y="2623"/>
              <a:ext cx="273" cy="34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21" name="Rectangle 17"/>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19822" name="Rectangle 18"/>
          <p:cNvSpPr>
            <a:spLocks noChangeArrowheads="1"/>
          </p:cNvSpPr>
          <p:nvPr/>
        </p:nvSpPr>
        <p:spPr bwMode="auto">
          <a:xfrm>
            <a:off x="6761163" y="3163888"/>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23" name="Rectangle 19"/>
          <p:cNvSpPr>
            <a:spLocks noChangeArrowheads="1"/>
          </p:cNvSpPr>
          <p:nvPr/>
        </p:nvSpPr>
        <p:spPr bwMode="auto">
          <a:xfrm>
            <a:off x="6035675" y="4062413"/>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24" name="Rectangle 20"/>
          <p:cNvSpPr>
            <a:spLocks noChangeArrowheads="1"/>
          </p:cNvSpPr>
          <p:nvPr/>
        </p:nvSpPr>
        <p:spPr bwMode="auto">
          <a:xfrm>
            <a:off x="6856413" y="3175000"/>
            <a:ext cx="1100138"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800" b="1"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119825" name="Line 21"/>
          <p:cNvSpPr>
            <a:spLocks noChangeShapeType="1"/>
          </p:cNvSpPr>
          <p:nvPr/>
        </p:nvSpPr>
        <p:spPr bwMode="auto">
          <a:xfrm flipV="1">
            <a:off x="6402388" y="3609975"/>
            <a:ext cx="344488" cy="41433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26" name="Rectangle 22"/>
          <p:cNvSpPr>
            <a:spLocks noChangeArrowheads="1"/>
          </p:cNvSpPr>
          <p:nvPr/>
        </p:nvSpPr>
        <p:spPr bwMode="auto">
          <a:xfrm>
            <a:off x="6184900" y="4097338"/>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8</a:t>
            </a:r>
          </a:p>
        </p:txBody>
      </p:sp>
      <p:sp>
        <p:nvSpPr>
          <p:cNvPr id="119827" name="Rectangle 24"/>
          <p:cNvSpPr>
            <a:spLocks noChangeArrowheads="1"/>
          </p:cNvSpPr>
          <p:nvPr/>
        </p:nvSpPr>
        <p:spPr bwMode="auto">
          <a:xfrm>
            <a:off x="7412038" y="4052888"/>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28" name="Line 25"/>
          <p:cNvSpPr>
            <a:spLocks noChangeShapeType="1"/>
          </p:cNvSpPr>
          <p:nvPr/>
        </p:nvSpPr>
        <p:spPr bwMode="auto">
          <a:xfrm flipH="1" flipV="1">
            <a:off x="7448550" y="3598863"/>
            <a:ext cx="355600" cy="43497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29" name="Rectangle 26"/>
          <p:cNvSpPr>
            <a:spLocks noChangeArrowheads="1"/>
          </p:cNvSpPr>
          <p:nvPr/>
        </p:nvSpPr>
        <p:spPr bwMode="auto">
          <a:xfrm>
            <a:off x="7559675" y="4083050"/>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19830" name="Line 27"/>
          <p:cNvSpPr>
            <a:spLocks noChangeShapeType="1"/>
          </p:cNvSpPr>
          <p:nvPr/>
        </p:nvSpPr>
        <p:spPr bwMode="auto">
          <a:xfrm flipH="1" flipV="1">
            <a:off x="5899150" y="2471738"/>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31" name="Rectangle 29"/>
          <p:cNvSpPr>
            <a:spLocks noChangeArrowheads="1"/>
          </p:cNvSpPr>
          <p:nvPr/>
        </p:nvSpPr>
        <p:spPr bwMode="auto">
          <a:xfrm>
            <a:off x="1193800" y="1347788"/>
            <a:ext cx="812800" cy="4183063"/>
          </a:xfrm>
          <a:prstGeom prst="rect">
            <a:avLst/>
          </a:prstGeom>
          <a:solidFill>
            <a:schemeClr val="accent1">
              <a:lumMod val="60000"/>
              <a:lumOff val="40000"/>
            </a:schemeClr>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32" name="Line 30"/>
          <p:cNvSpPr>
            <a:spLocks noChangeShapeType="1"/>
          </p:cNvSpPr>
          <p:nvPr/>
        </p:nvSpPr>
        <p:spPr bwMode="auto">
          <a:xfrm>
            <a:off x="1187450" y="189230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33" name="Line 31"/>
          <p:cNvSpPr>
            <a:spLocks noChangeShapeType="1"/>
          </p:cNvSpPr>
          <p:nvPr/>
        </p:nvSpPr>
        <p:spPr bwMode="auto">
          <a:xfrm>
            <a:off x="1187450" y="25098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34" name="Line 32"/>
          <p:cNvSpPr>
            <a:spLocks noChangeShapeType="1"/>
          </p:cNvSpPr>
          <p:nvPr/>
        </p:nvSpPr>
        <p:spPr bwMode="auto">
          <a:xfrm>
            <a:off x="1187450" y="313055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35" name="Line 33"/>
          <p:cNvSpPr>
            <a:spLocks noChangeShapeType="1"/>
          </p:cNvSpPr>
          <p:nvPr/>
        </p:nvSpPr>
        <p:spPr bwMode="auto">
          <a:xfrm>
            <a:off x="1187450" y="37480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36" name="Line 34"/>
          <p:cNvSpPr>
            <a:spLocks noChangeShapeType="1"/>
          </p:cNvSpPr>
          <p:nvPr/>
        </p:nvSpPr>
        <p:spPr bwMode="auto">
          <a:xfrm>
            <a:off x="1187450" y="436880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37" name="Line 35"/>
          <p:cNvSpPr>
            <a:spLocks noChangeShapeType="1"/>
          </p:cNvSpPr>
          <p:nvPr/>
        </p:nvSpPr>
        <p:spPr bwMode="auto">
          <a:xfrm>
            <a:off x="1187450" y="49863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38" name="Rectangle 36"/>
          <p:cNvSpPr>
            <a:spLocks noChangeArrowheads="1"/>
          </p:cNvSpPr>
          <p:nvPr/>
        </p:nvSpPr>
        <p:spPr bwMode="auto">
          <a:xfrm>
            <a:off x="447675" y="752475"/>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[ 7 ]</a:t>
            </a:r>
          </a:p>
        </p:txBody>
      </p:sp>
      <p:sp>
        <p:nvSpPr>
          <p:cNvPr id="119839" name="Rectangle 38"/>
          <p:cNvSpPr>
            <a:spLocks noChangeArrowheads="1"/>
          </p:cNvSpPr>
          <p:nvPr/>
        </p:nvSpPr>
        <p:spPr bwMode="auto">
          <a:xfrm>
            <a:off x="6884988" y="3609975"/>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19840" name="Rectangle 39"/>
          <p:cNvSpPr>
            <a:spLocks noChangeArrowheads="1"/>
          </p:cNvSpPr>
          <p:nvPr/>
        </p:nvSpPr>
        <p:spPr bwMode="auto">
          <a:xfrm>
            <a:off x="6084888" y="4529138"/>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19841" name="Line 40"/>
          <p:cNvSpPr>
            <a:spLocks noChangeShapeType="1"/>
          </p:cNvSpPr>
          <p:nvPr/>
        </p:nvSpPr>
        <p:spPr bwMode="auto">
          <a:xfrm>
            <a:off x="2679700" y="2471738"/>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42" name="Rectangle 41"/>
          <p:cNvSpPr>
            <a:spLocks noChangeArrowheads="1"/>
          </p:cNvSpPr>
          <p:nvPr/>
        </p:nvSpPr>
        <p:spPr bwMode="auto">
          <a:xfrm>
            <a:off x="3635375" y="359251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Tx/>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2</a:t>
            </a:r>
          </a:p>
        </p:txBody>
      </p:sp>
      <p:sp>
        <p:nvSpPr>
          <p:cNvPr id="119843" name="Rectangle 42"/>
          <p:cNvSpPr>
            <a:spLocks noChangeArrowheads="1"/>
          </p:cNvSpPr>
          <p:nvPr/>
        </p:nvSpPr>
        <p:spPr bwMode="auto">
          <a:xfrm>
            <a:off x="4138613" y="3954463"/>
            <a:ext cx="1081088"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chemeClr val="bg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p:txBody>
      </p:sp>
      <p:sp>
        <p:nvSpPr>
          <p:cNvPr id="119844" name="Rectangle 43"/>
          <p:cNvSpPr>
            <a:spLocks noChangeArrowheads="1"/>
          </p:cNvSpPr>
          <p:nvPr/>
        </p:nvSpPr>
        <p:spPr bwMode="auto">
          <a:xfrm>
            <a:off x="4271963" y="452913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nvGrpSpPr>
          <p:cNvPr id="137250" name="Group 66"/>
          <p:cNvGrpSpPr/>
          <p:nvPr/>
        </p:nvGrpSpPr>
        <p:grpSpPr>
          <a:xfrm>
            <a:off x="5184775" y="2136775"/>
            <a:ext cx="739775" cy="457200"/>
            <a:chOff x="3266" y="924"/>
            <a:chExt cx="466" cy="288"/>
          </a:xfrm>
        </p:grpSpPr>
        <p:sp>
          <p:nvSpPr>
            <p:cNvPr id="119846" name="Rectangle 8"/>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19847" name="Rectangle 44"/>
            <p:cNvSpPr>
              <a:spLocks noChangeArrowheads="1"/>
            </p:cNvSpPr>
            <p:nvPr/>
          </p:nvSpPr>
          <p:spPr bwMode="auto">
            <a:xfrm>
              <a:off x="3331" y="924"/>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bg1"/>
                  </a:solidFill>
                  <a:effectLst/>
                  <a:uLnTx/>
                  <a:uFillTx/>
                  <a:latin typeface="+mn-lt"/>
                  <a:ea typeface="+mn-ea"/>
                  <a:cs typeface="+mn-ea"/>
                  <a:sym typeface="+mn-lt"/>
                </a:rPr>
                <a:t>10</a:t>
              </a:r>
            </a:p>
          </p:txBody>
        </p:sp>
      </p:grpSp>
      <p:sp>
        <p:nvSpPr>
          <p:cNvPr id="119848" name="Rectangle 45"/>
          <p:cNvSpPr>
            <a:spLocks noChangeArrowheads="1"/>
          </p:cNvSpPr>
          <p:nvPr/>
        </p:nvSpPr>
        <p:spPr bwMode="auto">
          <a:xfrm>
            <a:off x="5287963" y="2584450"/>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Tx/>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sp>
        <p:nvSpPr>
          <p:cNvPr id="119849" name="Rectangle 37"/>
          <p:cNvSpPr>
            <a:spLocks noChangeArrowheads="1"/>
          </p:cNvSpPr>
          <p:nvPr/>
        </p:nvSpPr>
        <p:spPr bwMode="auto">
          <a:xfrm>
            <a:off x="1431925" y="1450975"/>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9850" name="Rectangle 53"/>
          <p:cNvSpPr>
            <a:spLocks noChangeArrowheads="1"/>
          </p:cNvSpPr>
          <p:nvPr/>
        </p:nvSpPr>
        <p:spPr bwMode="auto">
          <a:xfrm>
            <a:off x="7370763" y="405606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19851" name="Rectangle 54"/>
          <p:cNvSpPr>
            <a:spLocks noChangeArrowheads="1"/>
          </p:cNvSpPr>
          <p:nvPr/>
        </p:nvSpPr>
        <p:spPr bwMode="auto">
          <a:xfrm>
            <a:off x="1209675" y="502920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19852" name="Rectangle 55"/>
          <p:cNvSpPr>
            <a:spLocks noChangeArrowheads="1"/>
          </p:cNvSpPr>
          <p:nvPr/>
        </p:nvSpPr>
        <p:spPr bwMode="auto">
          <a:xfrm>
            <a:off x="1209675" y="1450975"/>
            <a:ext cx="688975" cy="354013"/>
          </a:xfrm>
          <a:prstGeom prst="rect">
            <a:avLst/>
          </a:prstGeom>
          <a:solidFill>
            <a:schemeClr val="accent1">
              <a:lumMod val="60000"/>
              <a:lumOff val="40000"/>
            </a:schemeClr>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grpSp>
        <p:nvGrpSpPr>
          <p:cNvPr id="4" name="Group 61"/>
          <p:cNvGrpSpPr/>
          <p:nvPr/>
        </p:nvGrpSpPr>
        <p:grpSpPr>
          <a:xfrm>
            <a:off x="1303338" y="3449638"/>
            <a:ext cx="7396162" cy="2543175"/>
            <a:chOff x="821" y="1751"/>
            <a:chExt cx="4659" cy="1602"/>
          </a:xfrm>
        </p:grpSpPr>
        <p:sp>
          <p:nvSpPr>
            <p:cNvPr id="119854" name="Rectangle 59"/>
            <p:cNvSpPr>
              <a:spLocks noChangeArrowheads="1"/>
            </p:cNvSpPr>
            <p:nvPr/>
          </p:nvSpPr>
          <p:spPr bwMode="auto">
            <a:xfrm>
              <a:off x="821" y="2364"/>
              <a:ext cx="771" cy="989"/>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9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119855" name="Rectangle 60"/>
            <p:cNvSpPr>
              <a:spLocks noChangeArrowheads="1"/>
            </p:cNvSpPr>
            <p:nvPr/>
          </p:nvSpPr>
          <p:spPr bwMode="auto">
            <a:xfrm>
              <a:off x="4709" y="1751"/>
              <a:ext cx="771" cy="989"/>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9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p>
          </p:txBody>
        </p:sp>
      </p:grpSp>
      <p:grpSp>
        <p:nvGrpSpPr>
          <p:cNvPr id="5" name="Group 86"/>
          <p:cNvGrpSpPr/>
          <p:nvPr/>
        </p:nvGrpSpPr>
        <p:grpSpPr>
          <a:xfrm>
            <a:off x="1423988" y="1452563"/>
            <a:ext cx="4475162" cy="2141537"/>
            <a:chOff x="902" y="501"/>
            <a:chExt cx="2819" cy="1349"/>
          </a:xfrm>
        </p:grpSpPr>
        <p:grpSp>
          <p:nvGrpSpPr>
            <p:cNvPr id="137259" name="Group 73"/>
            <p:cNvGrpSpPr/>
            <p:nvPr/>
          </p:nvGrpSpPr>
          <p:grpSpPr>
            <a:xfrm>
              <a:off x="2194" y="1562"/>
              <a:ext cx="466" cy="288"/>
              <a:chOff x="3266" y="924"/>
              <a:chExt cx="466" cy="288"/>
            </a:xfrm>
          </p:grpSpPr>
          <p:sp>
            <p:nvSpPr>
              <p:cNvPr id="119858" name="Rectangle 74"/>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59" name="Rectangle 75"/>
              <p:cNvSpPr>
                <a:spLocks noChangeArrowheads="1"/>
              </p:cNvSpPr>
              <p:nvPr/>
            </p:nvSpPr>
            <p:spPr bwMode="auto">
              <a:xfrm>
                <a:off x="3331" y="924"/>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0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37260" name="Group 85"/>
            <p:cNvGrpSpPr/>
            <p:nvPr/>
          </p:nvGrpSpPr>
          <p:grpSpPr>
            <a:xfrm>
              <a:off x="902" y="501"/>
              <a:ext cx="2819" cy="1221"/>
              <a:chOff x="902" y="501"/>
              <a:chExt cx="2819" cy="1221"/>
            </a:xfrm>
          </p:grpSpPr>
          <p:grpSp>
            <p:nvGrpSpPr>
              <p:cNvPr id="137261" name="Group 82"/>
              <p:cNvGrpSpPr/>
              <p:nvPr/>
            </p:nvGrpSpPr>
            <p:grpSpPr>
              <a:xfrm>
                <a:off x="2691" y="916"/>
                <a:ext cx="1030" cy="806"/>
                <a:chOff x="2691" y="916"/>
                <a:chExt cx="1030" cy="806"/>
              </a:xfrm>
            </p:grpSpPr>
            <p:grpSp>
              <p:nvGrpSpPr>
                <p:cNvPr id="137264" name="Group 67"/>
                <p:cNvGrpSpPr/>
                <p:nvPr/>
              </p:nvGrpSpPr>
              <p:grpSpPr>
                <a:xfrm>
                  <a:off x="3255" y="916"/>
                  <a:ext cx="466" cy="288"/>
                  <a:chOff x="3266" y="924"/>
                  <a:chExt cx="466" cy="288"/>
                </a:xfrm>
              </p:grpSpPr>
              <p:sp>
                <p:nvSpPr>
                  <p:cNvPr id="119863" name="Rectangle 68"/>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64" name="Rectangle 69"/>
                  <p:cNvSpPr>
                    <a:spLocks noChangeArrowheads="1"/>
                  </p:cNvSpPr>
                  <p:nvPr/>
                </p:nvSpPr>
                <p:spPr bwMode="auto">
                  <a:xfrm>
                    <a:off x="3331" y="924"/>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p:txBody>
              </p:sp>
            </p:grpSp>
            <p:grpSp>
              <p:nvGrpSpPr>
                <p:cNvPr id="137265" name="Group 70"/>
                <p:cNvGrpSpPr/>
                <p:nvPr/>
              </p:nvGrpSpPr>
              <p:grpSpPr>
                <a:xfrm>
                  <a:off x="2691" y="1434"/>
                  <a:ext cx="466" cy="288"/>
                  <a:chOff x="3266" y="924"/>
                  <a:chExt cx="466" cy="288"/>
                </a:xfrm>
              </p:grpSpPr>
              <p:sp>
                <p:nvSpPr>
                  <p:cNvPr id="119866" name="Rectangle 71"/>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67" name="Rectangle 72"/>
                  <p:cNvSpPr>
                    <a:spLocks noChangeArrowheads="1"/>
                  </p:cNvSpPr>
                  <p:nvPr/>
                </p:nvSpPr>
                <p:spPr bwMode="auto">
                  <a:xfrm>
                    <a:off x="3331" y="924"/>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grpSp>
          </p:grpSp>
          <p:sp>
            <p:nvSpPr>
              <p:cNvPr id="119868" name="Text Box 83"/>
              <p:cNvSpPr txBox="1">
                <a:spLocks noChangeArrowheads="1"/>
              </p:cNvSpPr>
              <p:nvPr/>
            </p:nvSpPr>
            <p:spPr bwMode="auto">
              <a:xfrm>
                <a:off x="902" y="501"/>
                <a:ext cx="260" cy="192"/>
              </a:xfrm>
              <a:prstGeom prst="rect">
                <a:avLst/>
              </a:prstGeom>
              <a:solidFill>
                <a:schemeClr val="accent1">
                  <a:lumMod val="60000"/>
                  <a:lumOff val="40000"/>
                </a:schemeClr>
              </a:solidFill>
              <a:ln>
                <a:noFill/>
              </a:ln>
            </p:spPr>
            <p:txBody>
              <a:bodyPr lIns="0" tIns="0" rIns="0" bIns="0">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p:txBody>
          </p:sp>
          <p:sp>
            <p:nvSpPr>
              <p:cNvPr id="119869" name="Text Box 84"/>
              <p:cNvSpPr txBox="1">
                <a:spLocks noChangeArrowheads="1"/>
              </p:cNvSpPr>
              <p:nvPr/>
            </p:nvSpPr>
            <p:spPr bwMode="auto">
              <a:xfrm>
                <a:off x="902" y="916"/>
                <a:ext cx="260" cy="192"/>
              </a:xfrm>
              <a:prstGeom prst="rect">
                <a:avLst/>
              </a:prstGeom>
              <a:solidFill>
                <a:schemeClr val="accent1">
                  <a:lumMod val="60000"/>
                  <a:lumOff val="40000"/>
                </a:schemeClr>
              </a:solidFill>
              <a:ln>
                <a:noFill/>
              </a:ln>
            </p:spPr>
            <p:txBody>
              <a:bodyPr lIns="0" tIns="0" rIns="0" bIns="0">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20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grpSp>
        <p:nvGrpSpPr>
          <p:cNvPr id="11" name="Group 89"/>
          <p:cNvGrpSpPr/>
          <p:nvPr/>
        </p:nvGrpSpPr>
        <p:grpSpPr bwMode="auto">
          <a:xfrm>
            <a:off x="1495425" y="2124075"/>
            <a:ext cx="2681288" cy="2378075"/>
            <a:chOff x="942" y="916"/>
            <a:chExt cx="1689" cy="1498"/>
          </a:xfrm>
          <a:solidFill>
            <a:schemeClr val="accent1">
              <a:lumMod val="60000"/>
              <a:lumOff val="40000"/>
            </a:schemeClr>
          </a:solidFill>
        </p:grpSpPr>
        <p:grpSp>
          <p:nvGrpSpPr>
            <p:cNvPr id="135212" name="Group 76"/>
            <p:cNvGrpSpPr/>
            <p:nvPr/>
          </p:nvGrpSpPr>
          <p:grpSpPr bwMode="auto">
            <a:xfrm>
              <a:off x="1647" y="2126"/>
              <a:ext cx="466" cy="288"/>
              <a:chOff x="3266" y="924"/>
              <a:chExt cx="466" cy="288"/>
            </a:xfrm>
            <a:grpFill/>
          </p:grpSpPr>
          <p:sp>
            <p:nvSpPr>
              <p:cNvPr id="119872" name="Rectangle 77"/>
              <p:cNvSpPr>
                <a:spLocks noChangeArrowheads="1"/>
              </p:cNvSpPr>
              <p:nvPr/>
            </p:nvSpPr>
            <p:spPr bwMode="auto">
              <a:xfrm>
                <a:off x="3266" y="929"/>
                <a:ext cx="466" cy="28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73" name="Rectangle 78"/>
              <p:cNvSpPr>
                <a:spLocks noChangeArrowheads="1"/>
              </p:cNvSpPr>
              <p:nvPr/>
            </p:nvSpPr>
            <p:spPr bwMode="auto">
              <a:xfrm>
                <a:off x="3331" y="924"/>
                <a:ext cx="325" cy="238"/>
              </a:xfrm>
              <a:prstGeom prst="rect">
                <a:avLst/>
              </a:prstGeom>
              <a:solidFill>
                <a:srgbClr val="6C4C8F"/>
              </a:solid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grpSp>
        <p:sp>
          <p:nvSpPr>
            <p:cNvPr id="119874" name="Text Box 87"/>
            <p:cNvSpPr txBox="1">
              <a:spLocks noChangeArrowheads="1"/>
            </p:cNvSpPr>
            <p:nvPr/>
          </p:nvSpPr>
          <p:spPr bwMode="auto">
            <a:xfrm>
              <a:off x="942" y="1650"/>
              <a:ext cx="260" cy="192"/>
            </a:xfrm>
            <a:prstGeom prst="rect">
              <a:avLst/>
            </a:prstGeom>
            <a:grpFill/>
            <a:ln>
              <a:noFill/>
            </a:ln>
          </p:spPr>
          <p:txBody>
            <a:bodyPr lIns="0" tIns="0" rIns="0" bIns="0">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19875" name="Text Box 88"/>
            <p:cNvSpPr txBox="1">
              <a:spLocks noChangeArrowheads="1"/>
            </p:cNvSpPr>
            <p:nvPr/>
          </p:nvSpPr>
          <p:spPr bwMode="auto">
            <a:xfrm>
              <a:off x="942" y="916"/>
              <a:ext cx="260" cy="192"/>
            </a:xfrm>
            <a:prstGeom prst="rect">
              <a:avLst/>
            </a:prstGeom>
            <a:grpFill/>
            <a:ln>
              <a:noFill/>
            </a:ln>
          </p:spPr>
          <p:txBody>
            <a:bodyPr lIns="0" tIns="0" rIns="0" bIns="0">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p:txBody>
        </p:sp>
        <p:grpSp>
          <p:nvGrpSpPr>
            <p:cNvPr id="135215" name="Group 79"/>
            <p:cNvGrpSpPr/>
            <p:nvPr/>
          </p:nvGrpSpPr>
          <p:grpSpPr bwMode="auto">
            <a:xfrm>
              <a:off x="2165" y="1550"/>
              <a:ext cx="466" cy="288"/>
              <a:chOff x="3266" y="924"/>
              <a:chExt cx="466" cy="288"/>
            </a:xfrm>
            <a:grpFill/>
          </p:grpSpPr>
          <p:sp>
            <p:nvSpPr>
              <p:cNvPr id="119877" name="Rectangle 80"/>
              <p:cNvSpPr>
                <a:spLocks noChangeArrowheads="1"/>
              </p:cNvSpPr>
              <p:nvPr/>
            </p:nvSpPr>
            <p:spPr bwMode="auto">
              <a:xfrm>
                <a:off x="3266" y="929"/>
                <a:ext cx="466" cy="28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9878" name="Rectangle 81"/>
              <p:cNvSpPr>
                <a:spLocks noChangeArrowheads="1"/>
              </p:cNvSpPr>
              <p:nvPr/>
            </p:nvSpPr>
            <p:spPr bwMode="auto">
              <a:xfrm>
                <a:off x="3331" y="924"/>
                <a:ext cx="325" cy="238"/>
              </a:xfrm>
              <a:prstGeom prst="rect">
                <a:avLst/>
              </a:prstGeom>
              <a:solidFill>
                <a:srgbClr val="6C4C8F"/>
              </a:solid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p:txBody>
          </p:sp>
        </p:gr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4)">
                                      <p:cBhvr>
                                        <p:cTn id="7" dur="2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500" fill="hold"/>
                                        <p:tgtEl>
                                          <p:spTgt spid="11"/>
                                        </p:tgtEl>
                                        <p:attrNameLst>
                                          <p:attrName>ppt_x</p:attrName>
                                        </p:attrNameLst>
                                      </p:cBhvr>
                                      <p:tavLst>
                                        <p:tav tm="0">
                                          <p:val>
                                            <p:strVal val="#ppt_x"/>
                                          </p:val>
                                        </p:tav>
                                        <p:tav tm="100000">
                                          <p:val>
                                            <p:strVal val="#ppt_x"/>
                                          </p:val>
                                        </p:tav>
                                      </p:tavLst>
                                    </p:anim>
                                    <p:anim calcmode="lin" valueType="num">
                                      <p:cBhvr additive="base">
                                        <p:cTn id="19"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4" name="Rectangle 4"/>
          <p:cNvSpPr>
            <a:spLocks noChangeArrowheads="1"/>
          </p:cNvSpPr>
          <p:nvPr/>
        </p:nvSpPr>
        <p:spPr bwMode="auto">
          <a:xfrm>
            <a:off x="833438" y="1603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2</a:t>
            </a:r>
          </a:p>
        </p:txBody>
      </p:sp>
      <p:sp>
        <p:nvSpPr>
          <p:cNvPr id="120835" name="Rectangle 5"/>
          <p:cNvSpPr>
            <a:spLocks noChangeArrowheads="1"/>
          </p:cNvSpPr>
          <p:nvPr/>
        </p:nvSpPr>
        <p:spPr bwMode="auto">
          <a:xfrm>
            <a:off x="3586163" y="3224213"/>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36" name="Rectangle 6"/>
          <p:cNvSpPr>
            <a:spLocks noChangeArrowheads="1"/>
          </p:cNvSpPr>
          <p:nvPr/>
        </p:nvSpPr>
        <p:spPr bwMode="auto">
          <a:xfrm>
            <a:off x="2782888" y="4151313"/>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37" name="Rectangle 7"/>
          <p:cNvSpPr>
            <a:spLocks noChangeArrowheads="1"/>
          </p:cNvSpPr>
          <p:nvPr/>
        </p:nvSpPr>
        <p:spPr bwMode="auto">
          <a:xfrm>
            <a:off x="5395913" y="2211388"/>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20838" name="Line 8"/>
          <p:cNvSpPr>
            <a:spLocks noChangeShapeType="1"/>
          </p:cNvSpPr>
          <p:nvPr/>
        </p:nvSpPr>
        <p:spPr bwMode="auto">
          <a:xfrm flipV="1">
            <a:off x="3322638" y="3679825"/>
            <a:ext cx="282575" cy="4587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39" name="Line 9"/>
          <p:cNvSpPr>
            <a:spLocks noChangeShapeType="1"/>
          </p:cNvSpPr>
          <p:nvPr/>
        </p:nvSpPr>
        <p:spPr bwMode="auto">
          <a:xfrm flipV="1">
            <a:off x="4070350" y="2555875"/>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40" name="Rectangle 10"/>
          <p:cNvSpPr>
            <a:spLocks noChangeArrowheads="1"/>
          </p:cNvSpPr>
          <p:nvPr/>
        </p:nvSpPr>
        <p:spPr bwMode="auto">
          <a:xfrm>
            <a:off x="3663950" y="3089275"/>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p:txBody>
      </p:sp>
      <p:sp>
        <p:nvSpPr>
          <p:cNvPr id="120841" name="Rectangle 11"/>
          <p:cNvSpPr>
            <a:spLocks noChangeArrowheads="1"/>
          </p:cNvSpPr>
          <p:nvPr/>
        </p:nvSpPr>
        <p:spPr bwMode="auto">
          <a:xfrm>
            <a:off x="2932113" y="4138613"/>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38250" name="Group 12"/>
          <p:cNvGrpSpPr/>
          <p:nvPr/>
        </p:nvGrpSpPr>
        <p:grpSpPr>
          <a:xfrm>
            <a:off x="4225925" y="3686175"/>
            <a:ext cx="688975" cy="1333500"/>
            <a:chOff x="2941" y="2714"/>
            <a:chExt cx="434" cy="840"/>
          </a:xfrm>
        </p:grpSpPr>
        <p:sp>
          <p:nvSpPr>
            <p:cNvPr id="120843"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44" name="Line 14"/>
            <p:cNvSpPr>
              <a:spLocks noChangeShapeType="1"/>
            </p:cNvSpPr>
            <p:nvPr/>
          </p:nvSpPr>
          <p:spPr bwMode="auto">
            <a:xfrm flipH="1" flipV="1">
              <a:off x="3019" y="2714"/>
              <a:ext cx="169" cy="25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45"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20846" name="Rectangle 16"/>
          <p:cNvSpPr>
            <a:spLocks noChangeArrowheads="1"/>
          </p:cNvSpPr>
          <p:nvPr/>
        </p:nvSpPr>
        <p:spPr bwMode="auto">
          <a:xfrm>
            <a:off x="6864350" y="3233738"/>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47" name="Rectangle 17"/>
          <p:cNvSpPr>
            <a:spLocks noChangeArrowheads="1"/>
          </p:cNvSpPr>
          <p:nvPr/>
        </p:nvSpPr>
        <p:spPr bwMode="auto">
          <a:xfrm>
            <a:off x="6138863" y="4132263"/>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48" name="Rectangle 18"/>
          <p:cNvSpPr>
            <a:spLocks noChangeArrowheads="1"/>
          </p:cNvSpPr>
          <p:nvPr/>
        </p:nvSpPr>
        <p:spPr bwMode="auto">
          <a:xfrm>
            <a:off x="6959600" y="3244850"/>
            <a:ext cx="1100138"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dirty="0">
                <a:ln>
                  <a:noFill/>
                </a:ln>
                <a:solidFill>
                  <a:schemeClr val="bg1"/>
                </a:solidFill>
                <a:effectLst/>
                <a:uLnTx/>
                <a:uFillTx/>
                <a:latin typeface="+mn-lt"/>
                <a:ea typeface="+mn-ea"/>
                <a:cs typeface="+mn-ea"/>
                <a:sym typeface="+mn-lt"/>
              </a:rPr>
              <a:t> 12</a:t>
            </a:r>
          </a:p>
        </p:txBody>
      </p:sp>
      <p:sp>
        <p:nvSpPr>
          <p:cNvPr id="120849" name="Line 19"/>
          <p:cNvSpPr>
            <a:spLocks noChangeShapeType="1"/>
          </p:cNvSpPr>
          <p:nvPr/>
        </p:nvSpPr>
        <p:spPr bwMode="auto">
          <a:xfrm flipV="1">
            <a:off x="6505575" y="3714750"/>
            <a:ext cx="349250" cy="37941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50" name="Rectangle 20"/>
          <p:cNvSpPr>
            <a:spLocks noChangeArrowheads="1"/>
          </p:cNvSpPr>
          <p:nvPr/>
        </p:nvSpPr>
        <p:spPr bwMode="auto">
          <a:xfrm>
            <a:off x="6288088" y="4167188"/>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8</a:t>
            </a:r>
          </a:p>
        </p:txBody>
      </p:sp>
      <p:sp>
        <p:nvSpPr>
          <p:cNvPr id="120851" name="Rectangle 21"/>
          <p:cNvSpPr>
            <a:spLocks noChangeArrowheads="1"/>
          </p:cNvSpPr>
          <p:nvPr/>
        </p:nvSpPr>
        <p:spPr bwMode="auto">
          <a:xfrm>
            <a:off x="7515225" y="4122738"/>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52" name="Line 22"/>
          <p:cNvSpPr>
            <a:spLocks noChangeShapeType="1"/>
          </p:cNvSpPr>
          <p:nvPr/>
        </p:nvSpPr>
        <p:spPr bwMode="auto">
          <a:xfrm flipH="1" flipV="1">
            <a:off x="7583488" y="3695700"/>
            <a:ext cx="323850" cy="4079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53" name="Rectangle 23"/>
          <p:cNvSpPr>
            <a:spLocks noChangeArrowheads="1"/>
          </p:cNvSpPr>
          <p:nvPr/>
        </p:nvSpPr>
        <p:spPr bwMode="auto">
          <a:xfrm>
            <a:off x="7662863" y="4152900"/>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20854" name="Line 24"/>
          <p:cNvSpPr>
            <a:spLocks noChangeShapeType="1"/>
          </p:cNvSpPr>
          <p:nvPr/>
        </p:nvSpPr>
        <p:spPr bwMode="auto">
          <a:xfrm flipH="1" flipV="1">
            <a:off x="6002338" y="2541588"/>
            <a:ext cx="1173163" cy="66516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55" name="Rectangle 25"/>
          <p:cNvSpPr>
            <a:spLocks noChangeArrowheads="1"/>
          </p:cNvSpPr>
          <p:nvPr/>
        </p:nvSpPr>
        <p:spPr bwMode="auto">
          <a:xfrm>
            <a:off x="1296988" y="1417638"/>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56" name="Line 26"/>
          <p:cNvSpPr>
            <a:spLocks noChangeShapeType="1"/>
          </p:cNvSpPr>
          <p:nvPr/>
        </p:nvSpPr>
        <p:spPr bwMode="auto">
          <a:xfrm>
            <a:off x="1290638" y="196215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57" name="Line 27"/>
          <p:cNvSpPr>
            <a:spLocks noChangeShapeType="1"/>
          </p:cNvSpPr>
          <p:nvPr/>
        </p:nvSpPr>
        <p:spPr bwMode="auto">
          <a:xfrm>
            <a:off x="1290638" y="25796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58" name="Line 28"/>
          <p:cNvSpPr>
            <a:spLocks noChangeShapeType="1"/>
          </p:cNvSpPr>
          <p:nvPr/>
        </p:nvSpPr>
        <p:spPr bwMode="auto">
          <a:xfrm>
            <a:off x="1290638" y="320040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59" name="Line 29"/>
          <p:cNvSpPr>
            <a:spLocks noChangeShapeType="1"/>
          </p:cNvSpPr>
          <p:nvPr/>
        </p:nvSpPr>
        <p:spPr bwMode="auto">
          <a:xfrm>
            <a:off x="1290638" y="38179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60" name="Line 30"/>
          <p:cNvSpPr>
            <a:spLocks noChangeShapeType="1"/>
          </p:cNvSpPr>
          <p:nvPr/>
        </p:nvSpPr>
        <p:spPr bwMode="auto">
          <a:xfrm>
            <a:off x="1290638" y="443865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61" name="Line 31"/>
          <p:cNvSpPr>
            <a:spLocks noChangeShapeType="1"/>
          </p:cNvSpPr>
          <p:nvPr/>
        </p:nvSpPr>
        <p:spPr bwMode="auto">
          <a:xfrm>
            <a:off x="1290638" y="50561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62" name="Rectangle 32"/>
          <p:cNvSpPr>
            <a:spLocks noChangeArrowheads="1"/>
          </p:cNvSpPr>
          <p:nvPr/>
        </p:nvSpPr>
        <p:spPr bwMode="auto">
          <a:xfrm>
            <a:off x="550863" y="822325"/>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20863" name="Rectangle 33"/>
          <p:cNvSpPr>
            <a:spLocks noChangeArrowheads="1"/>
          </p:cNvSpPr>
          <p:nvPr/>
        </p:nvSpPr>
        <p:spPr bwMode="auto">
          <a:xfrm>
            <a:off x="6988175" y="3679825"/>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20864" name="Rectangle 34"/>
          <p:cNvSpPr>
            <a:spLocks noChangeArrowheads="1"/>
          </p:cNvSpPr>
          <p:nvPr/>
        </p:nvSpPr>
        <p:spPr bwMode="auto">
          <a:xfrm>
            <a:off x="6188075" y="4598988"/>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20865" name="Line 35"/>
          <p:cNvSpPr>
            <a:spLocks noChangeShapeType="1"/>
          </p:cNvSpPr>
          <p:nvPr/>
        </p:nvSpPr>
        <p:spPr bwMode="auto">
          <a:xfrm>
            <a:off x="2782888" y="2541588"/>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66" name="Rectangle 36"/>
          <p:cNvSpPr>
            <a:spLocks noChangeArrowheads="1"/>
          </p:cNvSpPr>
          <p:nvPr/>
        </p:nvSpPr>
        <p:spPr bwMode="auto">
          <a:xfrm>
            <a:off x="3738563" y="366236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20867" name="Rectangle 37"/>
          <p:cNvSpPr>
            <a:spLocks noChangeArrowheads="1"/>
          </p:cNvSpPr>
          <p:nvPr/>
        </p:nvSpPr>
        <p:spPr bwMode="auto">
          <a:xfrm>
            <a:off x="4241800" y="4024313"/>
            <a:ext cx="1081088"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p:txBody>
      </p:sp>
      <p:sp>
        <p:nvSpPr>
          <p:cNvPr id="120868" name="Rectangle 38"/>
          <p:cNvSpPr>
            <a:spLocks noChangeArrowheads="1"/>
          </p:cNvSpPr>
          <p:nvPr/>
        </p:nvSpPr>
        <p:spPr bwMode="auto">
          <a:xfrm>
            <a:off x="4375150" y="459898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38274" name="Group 39"/>
          <p:cNvGrpSpPr/>
          <p:nvPr/>
        </p:nvGrpSpPr>
        <p:grpSpPr>
          <a:xfrm>
            <a:off x="5287963" y="2206625"/>
            <a:ext cx="739775" cy="457200"/>
            <a:chOff x="3266" y="924"/>
            <a:chExt cx="466" cy="288"/>
          </a:xfrm>
        </p:grpSpPr>
        <p:sp>
          <p:nvSpPr>
            <p:cNvPr id="120870"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71" name="Rectangle 41"/>
            <p:cNvSpPr>
              <a:spLocks noChangeArrowheads="1"/>
            </p:cNvSpPr>
            <p:nvPr/>
          </p:nvSpPr>
          <p:spPr bwMode="auto">
            <a:xfrm>
              <a:off x="3331" y="924"/>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p:txBody>
        </p:sp>
      </p:grpSp>
      <p:sp>
        <p:nvSpPr>
          <p:cNvPr id="120872" name="Rectangle 42"/>
          <p:cNvSpPr>
            <a:spLocks noChangeArrowheads="1"/>
          </p:cNvSpPr>
          <p:nvPr/>
        </p:nvSpPr>
        <p:spPr bwMode="auto">
          <a:xfrm>
            <a:off x="5391150" y="2654300"/>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1</a:t>
            </a:r>
          </a:p>
        </p:txBody>
      </p:sp>
      <p:sp>
        <p:nvSpPr>
          <p:cNvPr id="120873" name="Rectangle 43"/>
          <p:cNvSpPr>
            <a:spLocks noChangeArrowheads="1"/>
          </p:cNvSpPr>
          <p:nvPr/>
        </p:nvSpPr>
        <p:spPr bwMode="auto">
          <a:xfrm>
            <a:off x="1535113" y="1520825"/>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20874" name="Rectangle 44"/>
          <p:cNvSpPr>
            <a:spLocks noChangeArrowheads="1"/>
          </p:cNvSpPr>
          <p:nvPr/>
        </p:nvSpPr>
        <p:spPr bwMode="auto">
          <a:xfrm>
            <a:off x="7473950" y="412591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0875" name="Rectangle 45"/>
          <p:cNvSpPr>
            <a:spLocks noChangeArrowheads="1"/>
          </p:cNvSpPr>
          <p:nvPr/>
        </p:nvSpPr>
        <p:spPr bwMode="auto">
          <a:xfrm>
            <a:off x="1312863" y="509905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grpSp>
        <p:nvGrpSpPr>
          <p:cNvPr id="138279" name="Group 47"/>
          <p:cNvGrpSpPr/>
          <p:nvPr/>
        </p:nvGrpSpPr>
        <p:grpSpPr>
          <a:xfrm>
            <a:off x="1377950" y="3508375"/>
            <a:ext cx="7378700" cy="2584450"/>
            <a:chOff x="803" y="1744"/>
            <a:chExt cx="4648" cy="1628"/>
          </a:xfrm>
        </p:grpSpPr>
        <p:sp>
          <p:nvSpPr>
            <p:cNvPr id="120877" name="Rectangle 48"/>
            <p:cNvSpPr>
              <a:spLocks noChangeArrowheads="1"/>
            </p:cNvSpPr>
            <p:nvPr/>
          </p:nvSpPr>
          <p:spPr bwMode="auto">
            <a:xfrm>
              <a:off x="803" y="2383"/>
              <a:ext cx="771" cy="989"/>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9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120878" name="Rectangle 49"/>
            <p:cNvSpPr>
              <a:spLocks noChangeArrowheads="1"/>
            </p:cNvSpPr>
            <p:nvPr/>
          </p:nvSpPr>
          <p:spPr bwMode="auto">
            <a:xfrm>
              <a:off x="4680" y="1744"/>
              <a:ext cx="771" cy="989"/>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9600" b="1" i="0" u="none" strike="noStrike" kern="1200" cap="none" spc="0" normalizeH="0" baseline="0" noProof="0" dirty="0">
                  <a:ln>
                    <a:noFill/>
                  </a:ln>
                  <a:solidFill>
                    <a:srgbClr val="FF00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p>
          </p:txBody>
        </p:sp>
      </p:grpSp>
      <p:grpSp>
        <p:nvGrpSpPr>
          <p:cNvPr id="5" name="Group 77"/>
          <p:cNvGrpSpPr/>
          <p:nvPr/>
        </p:nvGrpSpPr>
        <p:grpSpPr>
          <a:xfrm>
            <a:off x="2166938" y="1739900"/>
            <a:ext cx="579437" cy="2994025"/>
            <a:chOff x="1328" y="630"/>
            <a:chExt cx="365" cy="1886"/>
          </a:xfrm>
        </p:grpSpPr>
        <p:sp>
          <p:nvSpPr>
            <p:cNvPr id="120880" name="Line 74"/>
            <p:cNvSpPr>
              <a:spLocks noChangeShapeType="1"/>
            </p:cNvSpPr>
            <p:nvPr/>
          </p:nvSpPr>
          <p:spPr bwMode="auto">
            <a:xfrm>
              <a:off x="1673" y="650"/>
              <a:ext cx="0" cy="1866"/>
            </a:xfrm>
            <a:prstGeom prst="line">
              <a:avLst/>
            </a:prstGeom>
            <a:noFill/>
            <a:ln w="76200">
              <a:solidFill>
                <a:srgbClr val="FF0000"/>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81" name="Line 75"/>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0882" name="Line 76"/>
            <p:cNvSpPr>
              <a:spLocks noChangeShapeType="1"/>
            </p:cNvSpPr>
            <p:nvPr/>
          </p:nvSpPr>
          <p:spPr bwMode="auto">
            <a:xfrm>
              <a:off x="1328" y="2516"/>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4" presetClass="entr" presetSubtype="0" accel="10000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strVal val="#ppt_w*0.05"/>
                                          </p:val>
                                        </p:tav>
                                        <p:tav tm="100000">
                                          <p:val>
                                            <p:strVal val="#ppt_w"/>
                                          </p:val>
                                        </p:tav>
                                      </p:tavLst>
                                    </p:anim>
                                    <p:anim calcmode="lin" valueType="num">
                                      <p:cBhvr>
                                        <p:cTn id="8" dur="500" fill="hold"/>
                                        <p:tgtEl>
                                          <p:spTgt spid="5"/>
                                        </p:tgtEl>
                                        <p:attrNameLst>
                                          <p:attrName>ppt_h</p:attrName>
                                        </p:attrNameLst>
                                      </p:cBhvr>
                                      <p:tavLst>
                                        <p:tav tm="0">
                                          <p:val>
                                            <p:strVal val="#ppt_h"/>
                                          </p:val>
                                        </p:tav>
                                        <p:tav tm="100000">
                                          <p:val>
                                            <p:strVal val="#ppt_h"/>
                                          </p:val>
                                        </p:tav>
                                      </p:tavLst>
                                    </p:anim>
                                    <p:anim calcmode="lin" valueType="num">
                                      <p:cBhvr>
                                        <p:cTn id="9" dur="500" fill="hold"/>
                                        <p:tgtEl>
                                          <p:spTgt spid="5"/>
                                        </p:tgtEl>
                                        <p:attrNameLst>
                                          <p:attrName>ppt_x</p:attrName>
                                        </p:attrNameLst>
                                      </p:cBhvr>
                                      <p:tavLst>
                                        <p:tav tm="0">
                                          <p:val>
                                            <p:strVal val="#ppt_x-.2"/>
                                          </p:val>
                                        </p:tav>
                                        <p:tav tm="100000">
                                          <p:val>
                                            <p:strVal val="#ppt_x"/>
                                          </p:val>
                                        </p:tav>
                                      </p:tavLst>
                                    </p:anim>
                                    <p:anim calcmode="lin" valueType="num">
                                      <p:cBhvr>
                                        <p:cTn id="10" dur="500" fill="hold"/>
                                        <p:tgtEl>
                                          <p:spTgt spid="5"/>
                                        </p:tgtEl>
                                        <p:attrNameLst>
                                          <p:attrName>ppt_y</p:attrName>
                                        </p:attrNameLst>
                                      </p:cBhvr>
                                      <p:tavLst>
                                        <p:tav tm="0">
                                          <p:val>
                                            <p:strVal val="#ppt_y"/>
                                          </p:val>
                                        </p:tav>
                                        <p:tav tm="100000">
                                          <p:val>
                                            <p:strVal val="#ppt_y"/>
                                          </p:val>
                                        </p:tav>
                                      </p:tavLst>
                                    </p:anim>
                                    <p:animEffect transition="in" filter="fad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8932" name="Rectangle 4"/>
          <p:cNvSpPr>
            <a:spLocks noChangeArrowheads="1"/>
          </p:cNvSpPr>
          <p:nvPr/>
        </p:nvSpPr>
        <p:spPr bwMode="auto">
          <a:xfrm>
            <a:off x="796925" y="1730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2</a:t>
            </a:r>
          </a:p>
        </p:txBody>
      </p:sp>
      <p:sp>
        <p:nvSpPr>
          <p:cNvPr id="121859" name="Rectangle 5"/>
          <p:cNvSpPr>
            <a:spLocks noChangeArrowheads="1"/>
          </p:cNvSpPr>
          <p:nvPr/>
        </p:nvSpPr>
        <p:spPr bwMode="auto">
          <a:xfrm>
            <a:off x="3802063" y="3270250"/>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60" name="Rectangle 6"/>
          <p:cNvSpPr>
            <a:spLocks noChangeArrowheads="1"/>
          </p:cNvSpPr>
          <p:nvPr/>
        </p:nvSpPr>
        <p:spPr bwMode="auto">
          <a:xfrm>
            <a:off x="2998788" y="4197350"/>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61" name="Rectangle 7"/>
          <p:cNvSpPr>
            <a:spLocks noChangeArrowheads="1"/>
          </p:cNvSpPr>
          <p:nvPr/>
        </p:nvSpPr>
        <p:spPr bwMode="auto">
          <a:xfrm>
            <a:off x="5611813" y="2257425"/>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21862" name="Line 8"/>
          <p:cNvSpPr>
            <a:spLocks noChangeShapeType="1"/>
          </p:cNvSpPr>
          <p:nvPr/>
        </p:nvSpPr>
        <p:spPr bwMode="auto">
          <a:xfrm flipV="1">
            <a:off x="3538538" y="3738563"/>
            <a:ext cx="274638" cy="446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63" name="Line 9"/>
          <p:cNvSpPr>
            <a:spLocks noChangeShapeType="1"/>
          </p:cNvSpPr>
          <p:nvPr/>
        </p:nvSpPr>
        <p:spPr bwMode="auto">
          <a:xfrm flipV="1">
            <a:off x="4286250" y="2601913"/>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64" name="Rectangle 10"/>
          <p:cNvSpPr>
            <a:spLocks noChangeArrowheads="1"/>
          </p:cNvSpPr>
          <p:nvPr/>
        </p:nvSpPr>
        <p:spPr bwMode="auto">
          <a:xfrm>
            <a:off x="3879850" y="3135313"/>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40</a:t>
            </a:r>
          </a:p>
        </p:txBody>
      </p:sp>
      <p:sp>
        <p:nvSpPr>
          <p:cNvPr id="121865" name="Rectangle 11"/>
          <p:cNvSpPr>
            <a:spLocks noChangeArrowheads="1"/>
          </p:cNvSpPr>
          <p:nvPr/>
        </p:nvSpPr>
        <p:spPr bwMode="auto">
          <a:xfrm>
            <a:off x="3138488" y="4227513"/>
            <a:ext cx="460375"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39274" name="Group 12"/>
          <p:cNvGrpSpPr/>
          <p:nvPr/>
        </p:nvGrpSpPr>
        <p:grpSpPr>
          <a:xfrm>
            <a:off x="4441825" y="3732213"/>
            <a:ext cx="688975" cy="1333500"/>
            <a:chOff x="2941" y="2714"/>
            <a:chExt cx="434" cy="840"/>
          </a:xfrm>
        </p:grpSpPr>
        <p:sp>
          <p:nvSpPr>
            <p:cNvPr id="121867"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68" name="Line 14"/>
            <p:cNvSpPr>
              <a:spLocks noChangeShapeType="1"/>
            </p:cNvSpPr>
            <p:nvPr/>
          </p:nvSpPr>
          <p:spPr bwMode="auto">
            <a:xfrm flipH="1" flipV="1">
              <a:off x="3011" y="2714"/>
              <a:ext cx="177" cy="25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69"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21870" name="Rectangle 16"/>
          <p:cNvSpPr>
            <a:spLocks noChangeArrowheads="1"/>
          </p:cNvSpPr>
          <p:nvPr/>
        </p:nvSpPr>
        <p:spPr bwMode="auto">
          <a:xfrm>
            <a:off x="7080250" y="3279775"/>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71" name="Rectangle 17"/>
          <p:cNvSpPr>
            <a:spLocks noChangeArrowheads="1"/>
          </p:cNvSpPr>
          <p:nvPr/>
        </p:nvSpPr>
        <p:spPr bwMode="auto">
          <a:xfrm>
            <a:off x="6354763" y="4178300"/>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72" name="Rectangle 18"/>
          <p:cNvSpPr>
            <a:spLocks noChangeArrowheads="1"/>
          </p:cNvSpPr>
          <p:nvPr/>
        </p:nvSpPr>
        <p:spPr bwMode="auto">
          <a:xfrm>
            <a:off x="7204075" y="3333750"/>
            <a:ext cx="555625" cy="35560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dirty="0">
                <a:ln>
                  <a:noFill/>
                </a:ln>
                <a:solidFill>
                  <a:schemeClr val="bg1"/>
                </a:solidFill>
                <a:effectLst/>
                <a:uLnTx/>
                <a:uFillTx/>
                <a:latin typeface="+mn-lt"/>
                <a:ea typeface="+mn-ea"/>
                <a:cs typeface="+mn-ea"/>
                <a:sym typeface="+mn-lt"/>
              </a:rPr>
              <a:t> 12</a:t>
            </a:r>
          </a:p>
        </p:txBody>
      </p:sp>
      <p:sp>
        <p:nvSpPr>
          <p:cNvPr id="121873" name="Line 19"/>
          <p:cNvSpPr>
            <a:spLocks noChangeShapeType="1"/>
          </p:cNvSpPr>
          <p:nvPr/>
        </p:nvSpPr>
        <p:spPr bwMode="auto">
          <a:xfrm flipV="1">
            <a:off x="6721475" y="3738563"/>
            <a:ext cx="349250" cy="40163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74" name="Rectangle 20"/>
          <p:cNvSpPr>
            <a:spLocks noChangeArrowheads="1"/>
          </p:cNvSpPr>
          <p:nvPr/>
        </p:nvSpPr>
        <p:spPr bwMode="auto">
          <a:xfrm>
            <a:off x="6503988" y="4213225"/>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21875" name="Rectangle 21"/>
          <p:cNvSpPr>
            <a:spLocks noChangeArrowheads="1"/>
          </p:cNvSpPr>
          <p:nvPr/>
        </p:nvSpPr>
        <p:spPr bwMode="auto">
          <a:xfrm>
            <a:off x="7731125" y="4168775"/>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76" name="Line 22"/>
          <p:cNvSpPr>
            <a:spLocks noChangeShapeType="1"/>
          </p:cNvSpPr>
          <p:nvPr/>
        </p:nvSpPr>
        <p:spPr bwMode="auto">
          <a:xfrm flipH="1" flipV="1">
            <a:off x="7770813" y="3732213"/>
            <a:ext cx="352425" cy="41751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77" name="Rectangle 23"/>
          <p:cNvSpPr>
            <a:spLocks noChangeArrowheads="1"/>
          </p:cNvSpPr>
          <p:nvPr/>
        </p:nvSpPr>
        <p:spPr bwMode="auto">
          <a:xfrm>
            <a:off x="7878763" y="4198938"/>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21878" name="Line 24"/>
          <p:cNvSpPr>
            <a:spLocks noChangeShapeType="1"/>
          </p:cNvSpPr>
          <p:nvPr/>
        </p:nvSpPr>
        <p:spPr bwMode="auto">
          <a:xfrm flipH="1" flipV="1">
            <a:off x="6218238" y="2587625"/>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79" name="Rectangle 25"/>
          <p:cNvSpPr>
            <a:spLocks noChangeArrowheads="1"/>
          </p:cNvSpPr>
          <p:nvPr/>
        </p:nvSpPr>
        <p:spPr bwMode="auto">
          <a:xfrm>
            <a:off x="1512888" y="1463675"/>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80" name="Line 26"/>
          <p:cNvSpPr>
            <a:spLocks noChangeShapeType="1"/>
          </p:cNvSpPr>
          <p:nvPr/>
        </p:nvSpPr>
        <p:spPr bwMode="auto">
          <a:xfrm>
            <a:off x="1506538" y="20081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81" name="Line 27"/>
          <p:cNvSpPr>
            <a:spLocks noChangeShapeType="1"/>
          </p:cNvSpPr>
          <p:nvPr/>
        </p:nvSpPr>
        <p:spPr bwMode="auto">
          <a:xfrm>
            <a:off x="1506538" y="26257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82" name="Line 28"/>
          <p:cNvSpPr>
            <a:spLocks noChangeShapeType="1"/>
          </p:cNvSpPr>
          <p:nvPr/>
        </p:nvSpPr>
        <p:spPr bwMode="auto">
          <a:xfrm>
            <a:off x="1506538" y="32464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83" name="Line 29"/>
          <p:cNvSpPr>
            <a:spLocks noChangeShapeType="1"/>
          </p:cNvSpPr>
          <p:nvPr/>
        </p:nvSpPr>
        <p:spPr bwMode="auto">
          <a:xfrm>
            <a:off x="1506538" y="3863975"/>
            <a:ext cx="81915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84" name="Line 30"/>
          <p:cNvSpPr>
            <a:spLocks noChangeShapeType="1"/>
          </p:cNvSpPr>
          <p:nvPr/>
        </p:nvSpPr>
        <p:spPr bwMode="auto">
          <a:xfrm>
            <a:off x="1506538" y="4484688"/>
            <a:ext cx="81915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85" name="Line 31"/>
          <p:cNvSpPr>
            <a:spLocks noChangeShapeType="1"/>
          </p:cNvSpPr>
          <p:nvPr/>
        </p:nvSpPr>
        <p:spPr bwMode="auto">
          <a:xfrm>
            <a:off x="1506538" y="51022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86" name="Rectangle 32"/>
          <p:cNvSpPr>
            <a:spLocks noChangeArrowheads="1"/>
          </p:cNvSpPr>
          <p:nvPr/>
        </p:nvSpPr>
        <p:spPr bwMode="auto">
          <a:xfrm>
            <a:off x="766763" y="868363"/>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21887" name="Rectangle 33"/>
          <p:cNvSpPr>
            <a:spLocks noChangeArrowheads="1"/>
          </p:cNvSpPr>
          <p:nvPr/>
        </p:nvSpPr>
        <p:spPr bwMode="auto">
          <a:xfrm>
            <a:off x="7204075" y="3725863"/>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21888" name="Rectangle 34"/>
          <p:cNvSpPr>
            <a:spLocks noChangeArrowheads="1"/>
          </p:cNvSpPr>
          <p:nvPr/>
        </p:nvSpPr>
        <p:spPr bwMode="auto">
          <a:xfrm>
            <a:off x="6403975" y="4645025"/>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21889" name="Line 35"/>
          <p:cNvSpPr>
            <a:spLocks noChangeShapeType="1"/>
          </p:cNvSpPr>
          <p:nvPr/>
        </p:nvSpPr>
        <p:spPr bwMode="auto">
          <a:xfrm>
            <a:off x="2998788" y="2587625"/>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90" name="Rectangle 36"/>
          <p:cNvSpPr>
            <a:spLocks noChangeArrowheads="1"/>
          </p:cNvSpPr>
          <p:nvPr/>
        </p:nvSpPr>
        <p:spPr bwMode="auto">
          <a:xfrm>
            <a:off x="3954463" y="3708400"/>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21891" name="Rectangle 37"/>
          <p:cNvSpPr>
            <a:spLocks noChangeArrowheads="1"/>
          </p:cNvSpPr>
          <p:nvPr/>
        </p:nvSpPr>
        <p:spPr bwMode="auto">
          <a:xfrm>
            <a:off x="4457700" y="4070350"/>
            <a:ext cx="1081088"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p:txBody>
      </p:sp>
      <p:sp>
        <p:nvSpPr>
          <p:cNvPr id="121892" name="Rectangle 38"/>
          <p:cNvSpPr>
            <a:spLocks noChangeArrowheads="1"/>
          </p:cNvSpPr>
          <p:nvPr/>
        </p:nvSpPr>
        <p:spPr bwMode="auto">
          <a:xfrm>
            <a:off x="4591050" y="464502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39298" name="Group 39"/>
          <p:cNvGrpSpPr/>
          <p:nvPr/>
        </p:nvGrpSpPr>
        <p:grpSpPr>
          <a:xfrm>
            <a:off x="5503863" y="2260600"/>
            <a:ext cx="742950" cy="449263"/>
            <a:chOff x="3266" y="929"/>
            <a:chExt cx="468" cy="283"/>
          </a:xfrm>
        </p:grpSpPr>
        <p:sp>
          <p:nvSpPr>
            <p:cNvPr id="121894"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1895" name="Rectangle 41"/>
            <p:cNvSpPr>
              <a:spLocks noChangeArrowheads="1"/>
            </p:cNvSpPr>
            <p:nvPr/>
          </p:nvSpPr>
          <p:spPr bwMode="auto">
            <a:xfrm>
              <a:off x="3409" y="971"/>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p:txBody>
        </p:sp>
      </p:grpSp>
      <p:sp>
        <p:nvSpPr>
          <p:cNvPr id="121896" name="Rectangle 42"/>
          <p:cNvSpPr>
            <a:spLocks noChangeArrowheads="1"/>
          </p:cNvSpPr>
          <p:nvPr/>
        </p:nvSpPr>
        <p:spPr bwMode="auto">
          <a:xfrm>
            <a:off x="5681663" y="274002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sp>
        <p:nvSpPr>
          <p:cNvPr id="121897" name="Rectangle 43"/>
          <p:cNvSpPr>
            <a:spLocks noChangeArrowheads="1"/>
          </p:cNvSpPr>
          <p:nvPr/>
        </p:nvSpPr>
        <p:spPr bwMode="auto">
          <a:xfrm>
            <a:off x="1751013" y="1566863"/>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21898" name="Rectangle 44"/>
          <p:cNvSpPr>
            <a:spLocks noChangeArrowheads="1"/>
          </p:cNvSpPr>
          <p:nvPr/>
        </p:nvSpPr>
        <p:spPr bwMode="auto">
          <a:xfrm>
            <a:off x="7689850" y="417195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1899" name="Rectangle 45"/>
          <p:cNvSpPr>
            <a:spLocks noChangeArrowheads="1"/>
          </p:cNvSpPr>
          <p:nvPr/>
        </p:nvSpPr>
        <p:spPr bwMode="auto">
          <a:xfrm>
            <a:off x="1528763" y="5145088"/>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1900" name="Rectangle 52"/>
          <p:cNvSpPr>
            <a:spLocks noChangeArrowheads="1"/>
          </p:cNvSpPr>
          <p:nvPr/>
        </p:nvSpPr>
        <p:spPr bwMode="auto">
          <a:xfrm>
            <a:off x="6354763" y="41687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1901" name="Rectangle 53"/>
          <p:cNvSpPr>
            <a:spLocks noChangeArrowheads="1"/>
          </p:cNvSpPr>
          <p:nvPr/>
        </p:nvSpPr>
        <p:spPr bwMode="auto">
          <a:xfrm>
            <a:off x="1528763" y="460375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47" name="Rectangle 11"/>
          <p:cNvSpPr>
            <a:spLocks noChangeArrowheads="1"/>
          </p:cNvSpPr>
          <p:nvPr/>
        </p:nvSpPr>
        <p:spPr bwMode="auto">
          <a:xfrm>
            <a:off x="3184525" y="4670425"/>
            <a:ext cx="460375"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spTree>
  </p:cSld>
  <p:clrMapOvr>
    <a:masterClrMapping/>
  </p:clrMapOvr>
  <p:transition spd="slow"/>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9956" name="Rectangle 4"/>
          <p:cNvSpPr>
            <a:spLocks noChangeArrowheads="1"/>
          </p:cNvSpPr>
          <p:nvPr/>
        </p:nvSpPr>
        <p:spPr bwMode="auto">
          <a:xfrm>
            <a:off x="833438" y="144463"/>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2</a:t>
            </a:r>
          </a:p>
        </p:txBody>
      </p:sp>
      <p:sp>
        <p:nvSpPr>
          <p:cNvPr id="122883" name="Rectangle 5"/>
          <p:cNvSpPr>
            <a:spLocks noChangeArrowheads="1"/>
          </p:cNvSpPr>
          <p:nvPr/>
        </p:nvSpPr>
        <p:spPr bwMode="auto">
          <a:xfrm>
            <a:off x="3730625" y="3414713"/>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884" name="Rectangle 6"/>
          <p:cNvSpPr>
            <a:spLocks noChangeArrowheads="1"/>
          </p:cNvSpPr>
          <p:nvPr/>
        </p:nvSpPr>
        <p:spPr bwMode="auto">
          <a:xfrm>
            <a:off x="2927350" y="4341813"/>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885" name="Rectangle 7"/>
          <p:cNvSpPr>
            <a:spLocks noChangeArrowheads="1"/>
          </p:cNvSpPr>
          <p:nvPr/>
        </p:nvSpPr>
        <p:spPr bwMode="auto">
          <a:xfrm>
            <a:off x="5540375" y="2401888"/>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22886" name="Line 8"/>
          <p:cNvSpPr>
            <a:spLocks noChangeShapeType="1"/>
          </p:cNvSpPr>
          <p:nvPr/>
        </p:nvSpPr>
        <p:spPr bwMode="auto">
          <a:xfrm flipV="1">
            <a:off x="3467100" y="3900488"/>
            <a:ext cx="277813" cy="42862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887" name="Line 9"/>
          <p:cNvSpPr>
            <a:spLocks noChangeShapeType="1"/>
          </p:cNvSpPr>
          <p:nvPr/>
        </p:nvSpPr>
        <p:spPr bwMode="auto">
          <a:xfrm flipV="1">
            <a:off x="4214813" y="2746375"/>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888" name="Rectangle 10"/>
          <p:cNvSpPr>
            <a:spLocks noChangeArrowheads="1"/>
          </p:cNvSpPr>
          <p:nvPr/>
        </p:nvSpPr>
        <p:spPr bwMode="auto">
          <a:xfrm>
            <a:off x="3808413" y="3279775"/>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6600"/>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30</a:t>
            </a:r>
          </a:p>
        </p:txBody>
      </p:sp>
      <p:sp>
        <p:nvSpPr>
          <p:cNvPr id="122889" name="Rectangle 11"/>
          <p:cNvSpPr>
            <a:spLocks noChangeArrowheads="1"/>
          </p:cNvSpPr>
          <p:nvPr/>
        </p:nvSpPr>
        <p:spPr bwMode="auto">
          <a:xfrm>
            <a:off x="3090863" y="4371975"/>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40298" name="Group 12"/>
          <p:cNvGrpSpPr/>
          <p:nvPr/>
        </p:nvGrpSpPr>
        <p:grpSpPr>
          <a:xfrm>
            <a:off x="4370388" y="3876675"/>
            <a:ext cx="688975" cy="1333500"/>
            <a:chOff x="2941" y="2714"/>
            <a:chExt cx="434" cy="840"/>
          </a:xfrm>
        </p:grpSpPr>
        <p:sp>
          <p:nvSpPr>
            <p:cNvPr id="122891"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892" name="Line 14"/>
            <p:cNvSpPr>
              <a:spLocks noChangeShapeType="1"/>
            </p:cNvSpPr>
            <p:nvPr/>
          </p:nvSpPr>
          <p:spPr bwMode="auto">
            <a:xfrm flipH="1" flipV="1">
              <a:off x="3030" y="2714"/>
              <a:ext cx="158" cy="25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893"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22894" name="Rectangle 16"/>
          <p:cNvSpPr>
            <a:spLocks noChangeArrowheads="1"/>
          </p:cNvSpPr>
          <p:nvPr/>
        </p:nvSpPr>
        <p:spPr bwMode="auto">
          <a:xfrm>
            <a:off x="7008813" y="3424238"/>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895" name="Rectangle 17"/>
          <p:cNvSpPr>
            <a:spLocks noChangeArrowheads="1"/>
          </p:cNvSpPr>
          <p:nvPr/>
        </p:nvSpPr>
        <p:spPr bwMode="auto">
          <a:xfrm>
            <a:off x="6283325" y="4322763"/>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896" name="Rectangle 18"/>
          <p:cNvSpPr>
            <a:spLocks noChangeArrowheads="1"/>
          </p:cNvSpPr>
          <p:nvPr/>
        </p:nvSpPr>
        <p:spPr bwMode="auto">
          <a:xfrm>
            <a:off x="7073900" y="3508375"/>
            <a:ext cx="514350"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800" b="1"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122897" name="Line 19"/>
          <p:cNvSpPr>
            <a:spLocks noChangeShapeType="1"/>
          </p:cNvSpPr>
          <p:nvPr/>
        </p:nvSpPr>
        <p:spPr bwMode="auto">
          <a:xfrm flipV="1">
            <a:off x="6650038" y="3846513"/>
            <a:ext cx="358775" cy="43815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898" name="Rectangle 20"/>
          <p:cNvSpPr>
            <a:spLocks noChangeArrowheads="1"/>
          </p:cNvSpPr>
          <p:nvPr/>
        </p:nvSpPr>
        <p:spPr bwMode="auto">
          <a:xfrm>
            <a:off x="6432550" y="4357688"/>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22899" name="Rectangle 21"/>
          <p:cNvSpPr>
            <a:spLocks noChangeArrowheads="1"/>
          </p:cNvSpPr>
          <p:nvPr/>
        </p:nvSpPr>
        <p:spPr bwMode="auto">
          <a:xfrm>
            <a:off x="7659688" y="4313238"/>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00" name="Line 22"/>
          <p:cNvSpPr>
            <a:spLocks noChangeShapeType="1"/>
          </p:cNvSpPr>
          <p:nvPr/>
        </p:nvSpPr>
        <p:spPr bwMode="auto">
          <a:xfrm flipH="1" flipV="1">
            <a:off x="7712075" y="3889375"/>
            <a:ext cx="339725" cy="40481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01" name="Rectangle 23"/>
          <p:cNvSpPr>
            <a:spLocks noChangeArrowheads="1"/>
          </p:cNvSpPr>
          <p:nvPr/>
        </p:nvSpPr>
        <p:spPr bwMode="auto">
          <a:xfrm>
            <a:off x="7807325" y="4343400"/>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7</a:t>
            </a:r>
          </a:p>
        </p:txBody>
      </p:sp>
      <p:sp>
        <p:nvSpPr>
          <p:cNvPr id="122902" name="Line 24"/>
          <p:cNvSpPr>
            <a:spLocks noChangeShapeType="1"/>
          </p:cNvSpPr>
          <p:nvPr/>
        </p:nvSpPr>
        <p:spPr bwMode="auto">
          <a:xfrm flipH="1" flipV="1">
            <a:off x="6146800" y="2732088"/>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03" name="Rectangle 25"/>
          <p:cNvSpPr>
            <a:spLocks noChangeArrowheads="1"/>
          </p:cNvSpPr>
          <p:nvPr/>
        </p:nvSpPr>
        <p:spPr bwMode="auto">
          <a:xfrm>
            <a:off x="1441450" y="1608138"/>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04" name="Line 26"/>
          <p:cNvSpPr>
            <a:spLocks noChangeShapeType="1"/>
          </p:cNvSpPr>
          <p:nvPr/>
        </p:nvSpPr>
        <p:spPr bwMode="auto">
          <a:xfrm>
            <a:off x="1435100" y="215265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05" name="Line 27"/>
          <p:cNvSpPr>
            <a:spLocks noChangeShapeType="1"/>
          </p:cNvSpPr>
          <p:nvPr/>
        </p:nvSpPr>
        <p:spPr bwMode="auto">
          <a:xfrm>
            <a:off x="1435100" y="27701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06" name="Line 28"/>
          <p:cNvSpPr>
            <a:spLocks noChangeShapeType="1"/>
          </p:cNvSpPr>
          <p:nvPr/>
        </p:nvSpPr>
        <p:spPr bwMode="auto">
          <a:xfrm>
            <a:off x="1435100" y="339090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07" name="Line 29"/>
          <p:cNvSpPr>
            <a:spLocks noChangeShapeType="1"/>
          </p:cNvSpPr>
          <p:nvPr/>
        </p:nvSpPr>
        <p:spPr bwMode="auto">
          <a:xfrm>
            <a:off x="1435100" y="40084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08" name="Line 30"/>
          <p:cNvSpPr>
            <a:spLocks noChangeShapeType="1"/>
          </p:cNvSpPr>
          <p:nvPr/>
        </p:nvSpPr>
        <p:spPr bwMode="auto">
          <a:xfrm>
            <a:off x="1435100" y="462915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09" name="Line 31"/>
          <p:cNvSpPr>
            <a:spLocks noChangeShapeType="1"/>
          </p:cNvSpPr>
          <p:nvPr/>
        </p:nvSpPr>
        <p:spPr bwMode="auto">
          <a:xfrm>
            <a:off x="1435100" y="52466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10" name="Rectangle 32"/>
          <p:cNvSpPr>
            <a:spLocks noChangeArrowheads="1"/>
          </p:cNvSpPr>
          <p:nvPr/>
        </p:nvSpPr>
        <p:spPr bwMode="auto">
          <a:xfrm>
            <a:off x="695325" y="1012825"/>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22911" name="Rectangle 33"/>
          <p:cNvSpPr>
            <a:spLocks noChangeArrowheads="1"/>
          </p:cNvSpPr>
          <p:nvPr/>
        </p:nvSpPr>
        <p:spPr bwMode="auto">
          <a:xfrm>
            <a:off x="7132638" y="3870325"/>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22912" name="Rectangle 34"/>
          <p:cNvSpPr>
            <a:spLocks noChangeArrowheads="1"/>
          </p:cNvSpPr>
          <p:nvPr/>
        </p:nvSpPr>
        <p:spPr bwMode="auto">
          <a:xfrm>
            <a:off x="6464300" y="4860925"/>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 6</a:t>
            </a:r>
          </a:p>
        </p:txBody>
      </p:sp>
      <p:sp>
        <p:nvSpPr>
          <p:cNvPr id="122913" name="Line 35"/>
          <p:cNvSpPr>
            <a:spLocks noChangeShapeType="1"/>
          </p:cNvSpPr>
          <p:nvPr/>
        </p:nvSpPr>
        <p:spPr bwMode="auto">
          <a:xfrm>
            <a:off x="2927350" y="2732088"/>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14" name="Rectangle 36"/>
          <p:cNvSpPr>
            <a:spLocks noChangeArrowheads="1"/>
          </p:cNvSpPr>
          <p:nvPr/>
        </p:nvSpPr>
        <p:spPr bwMode="auto">
          <a:xfrm>
            <a:off x="3883025" y="385286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22915" name="Rectangle 37"/>
          <p:cNvSpPr>
            <a:spLocks noChangeArrowheads="1"/>
          </p:cNvSpPr>
          <p:nvPr/>
        </p:nvSpPr>
        <p:spPr bwMode="auto">
          <a:xfrm>
            <a:off x="4587875" y="4371975"/>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FF3300"/>
                </a:solidFill>
                <a:effectLst/>
                <a:uLnTx/>
                <a:uFillTx/>
                <a:latin typeface="+mn-lt"/>
                <a:ea typeface="+mn-ea"/>
                <a:cs typeface="+mn-ea"/>
                <a:sym typeface="+mn-lt"/>
              </a:rPr>
              <a:t>8</a:t>
            </a:r>
          </a:p>
        </p:txBody>
      </p:sp>
      <p:sp>
        <p:nvSpPr>
          <p:cNvPr id="122916" name="Rectangle 38"/>
          <p:cNvSpPr>
            <a:spLocks noChangeArrowheads="1"/>
          </p:cNvSpPr>
          <p:nvPr/>
        </p:nvSpPr>
        <p:spPr bwMode="auto">
          <a:xfrm>
            <a:off x="4519613" y="487362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5</a:t>
            </a:r>
          </a:p>
        </p:txBody>
      </p:sp>
      <p:grpSp>
        <p:nvGrpSpPr>
          <p:cNvPr id="140322" name="Group 39"/>
          <p:cNvGrpSpPr/>
          <p:nvPr/>
        </p:nvGrpSpPr>
        <p:grpSpPr>
          <a:xfrm>
            <a:off x="5432425" y="2405063"/>
            <a:ext cx="739775" cy="449262"/>
            <a:chOff x="3266" y="929"/>
            <a:chExt cx="466" cy="283"/>
          </a:xfrm>
        </p:grpSpPr>
        <p:sp>
          <p:nvSpPr>
            <p:cNvPr id="122918"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2919" name="Rectangle 41"/>
            <p:cNvSpPr>
              <a:spLocks noChangeArrowheads="1"/>
            </p:cNvSpPr>
            <p:nvPr/>
          </p:nvSpPr>
          <p:spPr bwMode="auto">
            <a:xfrm>
              <a:off x="3368" y="963"/>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40</a:t>
              </a:r>
            </a:p>
          </p:txBody>
        </p:sp>
      </p:grpSp>
      <p:sp>
        <p:nvSpPr>
          <p:cNvPr id="122920" name="Rectangle 42"/>
          <p:cNvSpPr>
            <a:spLocks noChangeArrowheads="1"/>
          </p:cNvSpPr>
          <p:nvPr/>
        </p:nvSpPr>
        <p:spPr bwMode="auto">
          <a:xfrm>
            <a:off x="5621338" y="288766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sp>
        <p:nvSpPr>
          <p:cNvPr id="122921" name="Rectangle 43"/>
          <p:cNvSpPr>
            <a:spLocks noChangeArrowheads="1"/>
          </p:cNvSpPr>
          <p:nvPr/>
        </p:nvSpPr>
        <p:spPr bwMode="auto">
          <a:xfrm>
            <a:off x="1679575" y="1711325"/>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22922" name="Rectangle 44"/>
          <p:cNvSpPr>
            <a:spLocks noChangeArrowheads="1"/>
          </p:cNvSpPr>
          <p:nvPr/>
        </p:nvSpPr>
        <p:spPr bwMode="auto">
          <a:xfrm>
            <a:off x="7618413" y="431641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2923" name="Rectangle 45"/>
          <p:cNvSpPr>
            <a:spLocks noChangeArrowheads="1"/>
          </p:cNvSpPr>
          <p:nvPr/>
        </p:nvSpPr>
        <p:spPr bwMode="auto">
          <a:xfrm>
            <a:off x="1457325" y="528955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2924" name="Rectangle 49"/>
          <p:cNvSpPr>
            <a:spLocks noChangeArrowheads="1"/>
          </p:cNvSpPr>
          <p:nvPr/>
        </p:nvSpPr>
        <p:spPr bwMode="auto">
          <a:xfrm>
            <a:off x="6283325" y="431323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2925" name="Rectangle 50"/>
          <p:cNvSpPr>
            <a:spLocks noChangeArrowheads="1"/>
          </p:cNvSpPr>
          <p:nvPr/>
        </p:nvSpPr>
        <p:spPr bwMode="auto">
          <a:xfrm>
            <a:off x="1457325" y="4748213"/>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Tree>
  </p:cSld>
  <p:clrMapOvr>
    <a:masterClrMapping/>
  </p:clrMapOvr>
  <p:transition spd="slow"/>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3028" name="Rectangle 4"/>
          <p:cNvSpPr>
            <a:spLocks noChangeArrowheads="1"/>
          </p:cNvSpPr>
          <p:nvPr/>
        </p:nvSpPr>
        <p:spPr bwMode="auto">
          <a:xfrm>
            <a:off x="876300" y="188913"/>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3</a:t>
            </a:r>
          </a:p>
        </p:txBody>
      </p:sp>
      <p:sp>
        <p:nvSpPr>
          <p:cNvPr id="123907" name="Rectangle 5"/>
          <p:cNvSpPr>
            <a:spLocks noChangeArrowheads="1"/>
          </p:cNvSpPr>
          <p:nvPr/>
        </p:nvSpPr>
        <p:spPr bwMode="auto">
          <a:xfrm>
            <a:off x="3632200" y="3335338"/>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08" name="Rectangle 6"/>
          <p:cNvSpPr>
            <a:spLocks noChangeArrowheads="1"/>
          </p:cNvSpPr>
          <p:nvPr/>
        </p:nvSpPr>
        <p:spPr bwMode="auto">
          <a:xfrm>
            <a:off x="2828925" y="4262438"/>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09" name="Rectangle 7"/>
          <p:cNvSpPr>
            <a:spLocks noChangeArrowheads="1"/>
          </p:cNvSpPr>
          <p:nvPr/>
        </p:nvSpPr>
        <p:spPr bwMode="auto">
          <a:xfrm>
            <a:off x="5441950" y="2322513"/>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23910" name="Line 8"/>
          <p:cNvSpPr>
            <a:spLocks noChangeShapeType="1"/>
          </p:cNvSpPr>
          <p:nvPr/>
        </p:nvSpPr>
        <p:spPr bwMode="auto">
          <a:xfrm flipV="1">
            <a:off x="3368675" y="3803650"/>
            <a:ext cx="269875" cy="446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11" name="Line 9"/>
          <p:cNvSpPr>
            <a:spLocks noChangeShapeType="1"/>
          </p:cNvSpPr>
          <p:nvPr/>
        </p:nvSpPr>
        <p:spPr bwMode="auto">
          <a:xfrm flipV="1">
            <a:off x="4116388" y="2667000"/>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12" name="Rectangle 10"/>
          <p:cNvSpPr>
            <a:spLocks noChangeArrowheads="1"/>
          </p:cNvSpPr>
          <p:nvPr/>
        </p:nvSpPr>
        <p:spPr bwMode="auto">
          <a:xfrm>
            <a:off x="3709988" y="3200400"/>
            <a:ext cx="747713"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6600"/>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30</a:t>
            </a:r>
          </a:p>
        </p:txBody>
      </p:sp>
      <p:sp>
        <p:nvSpPr>
          <p:cNvPr id="123913" name="Rectangle 11"/>
          <p:cNvSpPr>
            <a:spLocks noChangeArrowheads="1"/>
          </p:cNvSpPr>
          <p:nvPr/>
        </p:nvSpPr>
        <p:spPr bwMode="auto">
          <a:xfrm>
            <a:off x="2992438" y="4335463"/>
            <a:ext cx="460375"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p:txBody>
      </p:sp>
      <p:grpSp>
        <p:nvGrpSpPr>
          <p:cNvPr id="141322" name="Group 12"/>
          <p:cNvGrpSpPr/>
          <p:nvPr/>
        </p:nvGrpSpPr>
        <p:grpSpPr>
          <a:xfrm>
            <a:off x="4271963" y="3821113"/>
            <a:ext cx="688975" cy="1311275"/>
            <a:chOff x="2941" y="2728"/>
            <a:chExt cx="434" cy="826"/>
          </a:xfrm>
        </p:grpSpPr>
        <p:sp>
          <p:nvSpPr>
            <p:cNvPr id="123915"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16" name="Line 14"/>
            <p:cNvSpPr>
              <a:spLocks noChangeShapeType="1"/>
            </p:cNvSpPr>
            <p:nvPr/>
          </p:nvSpPr>
          <p:spPr bwMode="auto">
            <a:xfrm flipH="1" flipV="1">
              <a:off x="3035" y="2728"/>
              <a:ext cx="153" cy="244"/>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17"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23918" name="Rectangle 16"/>
          <p:cNvSpPr>
            <a:spLocks noChangeArrowheads="1"/>
          </p:cNvSpPr>
          <p:nvPr/>
        </p:nvSpPr>
        <p:spPr bwMode="auto">
          <a:xfrm>
            <a:off x="6910388" y="3344863"/>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19" name="Rectangle 17"/>
          <p:cNvSpPr>
            <a:spLocks noChangeArrowheads="1"/>
          </p:cNvSpPr>
          <p:nvPr/>
        </p:nvSpPr>
        <p:spPr bwMode="auto">
          <a:xfrm>
            <a:off x="6184900" y="4243388"/>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20" name="Rectangle 18"/>
          <p:cNvSpPr>
            <a:spLocks noChangeArrowheads="1"/>
          </p:cNvSpPr>
          <p:nvPr/>
        </p:nvSpPr>
        <p:spPr bwMode="auto">
          <a:xfrm>
            <a:off x="7005638" y="3416300"/>
            <a:ext cx="514350" cy="3635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800" b="1"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123921" name="Line 19"/>
          <p:cNvSpPr>
            <a:spLocks noChangeShapeType="1"/>
          </p:cNvSpPr>
          <p:nvPr/>
        </p:nvSpPr>
        <p:spPr bwMode="auto">
          <a:xfrm flipV="1">
            <a:off x="6551613" y="3790950"/>
            <a:ext cx="358775" cy="41433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22" name="Rectangle 20"/>
          <p:cNvSpPr>
            <a:spLocks noChangeArrowheads="1"/>
          </p:cNvSpPr>
          <p:nvPr/>
        </p:nvSpPr>
        <p:spPr bwMode="auto">
          <a:xfrm>
            <a:off x="6334125" y="4278313"/>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23923" name="Rectangle 21"/>
          <p:cNvSpPr>
            <a:spLocks noChangeArrowheads="1"/>
          </p:cNvSpPr>
          <p:nvPr/>
        </p:nvSpPr>
        <p:spPr bwMode="auto">
          <a:xfrm>
            <a:off x="7561263" y="4233863"/>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24" name="Line 22"/>
          <p:cNvSpPr>
            <a:spLocks noChangeShapeType="1"/>
          </p:cNvSpPr>
          <p:nvPr/>
        </p:nvSpPr>
        <p:spPr bwMode="auto">
          <a:xfrm flipH="1" flipV="1">
            <a:off x="7613650" y="3802063"/>
            <a:ext cx="339725" cy="41275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25" name="Rectangle 23"/>
          <p:cNvSpPr>
            <a:spLocks noChangeArrowheads="1"/>
          </p:cNvSpPr>
          <p:nvPr/>
        </p:nvSpPr>
        <p:spPr bwMode="auto">
          <a:xfrm>
            <a:off x="7708900" y="4264025"/>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23926" name="Line 24"/>
          <p:cNvSpPr>
            <a:spLocks noChangeShapeType="1"/>
          </p:cNvSpPr>
          <p:nvPr/>
        </p:nvSpPr>
        <p:spPr bwMode="auto">
          <a:xfrm flipH="1" flipV="1">
            <a:off x="6048375" y="2652713"/>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27" name="Rectangle 25"/>
          <p:cNvSpPr>
            <a:spLocks noChangeArrowheads="1"/>
          </p:cNvSpPr>
          <p:nvPr/>
        </p:nvSpPr>
        <p:spPr bwMode="auto">
          <a:xfrm>
            <a:off x="1343025" y="1528763"/>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28" name="Line 26"/>
          <p:cNvSpPr>
            <a:spLocks noChangeShapeType="1"/>
          </p:cNvSpPr>
          <p:nvPr/>
        </p:nvSpPr>
        <p:spPr bwMode="auto">
          <a:xfrm>
            <a:off x="1336675" y="20732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29" name="Line 27"/>
          <p:cNvSpPr>
            <a:spLocks noChangeShapeType="1"/>
          </p:cNvSpPr>
          <p:nvPr/>
        </p:nvSpPr>
        <p:spPr bwMode="auto">
          <a:xfrm>
            <a:off x="1336675" y="26908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30" name="Line 28"/>
          <p:cNvSpPr>
            <a:spLocks noChangeShapeType="1"/>
          </p:cNvSpPr>
          <p:nvPr/>
        </p:nvSpPr>
        <p:spPr bwMode="auto">
          <a:xfrm>
            <a:off x="1336675" y="33115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31" name="Line 29"/>
          <p:cNvSpPr>
            <a:spLocks noChangeShapeType="1"/>
          </p:cNvSpPr>
          <p:nvPr/>
        </p:nvSpPr>
        <p:spPr bwMode="auto">
          <a:xfrm>
            <a:off x="1336675" y="392906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32" name="Line 30"/>
          <p:cNvSpPr>
            <a:spLocks noChangeShapeType="1"/>
          </p:cNvSpPr>
          <p:nvPr/>
        </p:nvSpPr>
        <p:spPr bwMode="auto">
          <a:xfrm>
            <a:off x="1336675" y="45497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33" name="Line 31"/>
          <p:cNvSpPr>
            <a:spLocks noChangeShapeType="1"/>
          </p:cNvSpPr>
          <p:nvPr/>
        </p:nvSpPr>
        <p:spPr bwMode="auto">
          <a:xfrm>
            <a:off x="1336675" y="51673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34" name="Rectangle 32"/>
          <p:cNvSpPr>
            <a:spLocks noChangeArrowheads="1"/>
          </p:cNvSpPr>
          <p:nvPr/>
        </p:nvSpPr>
        <p:spPr bwMode="auto">
          <a:xfrm>
            <a:off x="596900" y="933450"/>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23935" name="Rectangle 33"/>
          <p:cNvSpPr>
            <a:spLocks noChangeArrowheads="1"/>
          </p:cNvSpPr>
          <p:nvPr/>
        </p:nvSpPr>
        <p:spPr bwMode="auto">
          <a:xfrm>
            <a:off x="7034213" y="3790950"/>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23936" name="Rectangle 34"/>
          <p:cNvSpPr>
            <a:spLocks noChangeArrowheads="1"/>
          </p:cNvSpPr>
          <p:nvPr/>
        </p:nvSpPr>
        <p:spPr bwMode="auto">
          <a:xfrm>
            <a:off x="6234113" y="4710113"/>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23937" name="Line 35"/>
          <p:cNvSpPr>
            <a:spLocks noChangeShapeType="1"/>
          </p:cNvSpPr>
          <p:nvPr/>
        </p:nvSpPr>
        <p:spPr bwMode="auto">
          <a:xfrm>
            <a:off x="2828925" y="2652713"/>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38" name="Rectangle 36"/>
          <p:cNvSpPr>
            <a:spLocks noChangeArrowheads="1"/>
          </p:cNvSpPr>
          <p:nvPr/>
        </p:nvSpPr>
        <p:spPr bwMode="auto">
          <a:xfrm>
            <a:off x="3784600" y="377348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23939" name="Rectangle 37"/>
          <p:cNvSpPr>
            <a:spLocks noChangeArrowheads="1"/>
          </p:cNvSpPr>
          <p:nvPr/>
        </p:nvSpPr>
        <p:spPr bwMode="auto">
          <a:xfrm>
            <a:off x="4505325" y="4306888"/>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FF3300"/>
                </a:solidFill>
                <a:effectLst/>
                <a:uLnTx/>
                <a:uFillTx/>
                <a:latin typeface="+mn-lt"/>
                <a:ea typeface="+mn-ea"/>
                <a:cs typeface="+mn-ea"/>
                <a:sym typeface="+mn-lt"/>
              </a:rPr>
              <a:t>8</a:t>
            </a:r>
          </a:p>
        </p:txBody>
      </p:sp>
      <p:sp>
        <p:nvSpPr>
          <p:cNvPr id="123940" name="Rectangle 38"/>
          <p:cNvSpPr>
            <a:spLocks noChangeArrowheads="1"/>
          </p:cNvSpPr>
          <p:nvPr/>
        </p:nvSpPr>
        <p:spPr bwMode="auto">
          <a:xfrm>
            <a:off x="4421188" y="471011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41346" name="Group 39"/>
          <p:cNvGrpSpPr/>
          <p:nvPr/>
        </p:nvGrpSpPr>
        <p:grpSpPr>
          <a:xfrm>
            <a:off x="5334000" y="2327275"/>
            <a:ext cx="739775" cy="449263"/>
            <a:chOff x="3266" y="929"/>
            <a:chExt cx="466" cy="283"/>
          </a:xfrm>
        </p:grpSpPr>
        <p:sp>
          <p:nvSpPr>
            <p:cNvPr id="123942"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43" name="Rectangle 41"/>
            <p:cNvSpPr>
              <a:spLocks noChangeArrowheads="1"/>
            </p:cNvSpPr>
            <p:nvPr/>
          </p:nvSpPr>
          <p:spPr bwMode="auto">
            <a:xfrm>
              <a:off x="3387" y="937"/>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40</a:t>
              </a:r>
            </a:p>
          </p:txBody>
        </p:sp>
      </p:grpSp>
      <p:sp>
        <p:nvSpPr>
          <p:cNvPr id="123944" name="Rectangle 42"/>
          <p:cNvSpPr>
            <a:spLocks noChangeArrowheads="1"/>
          </p:cNvSpPr>
          <p:nvPr/>
        </p:nvSpPr>
        <p:spPr bwMode="auto">
          <a:xfrm>
            <a:off x="5535613" y="279558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sp>
        <p:nvSpPr>
          <p:cNvPr id="123945" name="Rectangle 43"/>
          <p:cNvSpPr>
            <a:spLocks noChangeArrowheads="1"/>
          </p:cNvSpPr>
          <p:nvPr/>
        </p:nvSpPr>
        <p:spPr bwMode="auto">
          <a:xfrm>
            <a:off x="1581150" y="1631950"/>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40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10</a:t>
            </a:r>
          </a:p>
        </p:txBody>
      </p:sp>
      <p:sp>
        <p:nvSpPr>
          <p:cNvPr id="123946" name="Rectangle 44"/>
          <p:cNvSpPr>
            <a:spLocks noChangeArrowheads="1"/>
          </p:cNvSpPr>
          <p:nvPr/>
        </p:nvSpPr>
        <p:spPr bwMode="auto">
          <a:xfrm>
            <a:off x="7519988" y="423703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3947" name="Rectangle 45"/>
          <p:cNvSpPr>
            <a:spLocks noChangeArrowheads="1"/>
          </p:cNvSpPr>
          <p:nvPr/>
        </p:nvSpPr>
        <p:spPr bwMode="auto">
          <a:xfrm>
            <a:off x="1358900" y="521017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3948" name="Rectangle 49"/>
          <p:cNvSpPr>
            <a:spLocks noChangeArrowheads="1"/>
          </p:cNvSpPr>
          <p:nvPr/>
        </p:nvSpPr>
        <p:spPr bwMode="auto">
          <a:xfrm>
            <a:off x="6184900" y="423386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3949" name="Rectangle 50"/>
          <p:cNvSpPr>
            <a:spLocks noChangeArrowheads="1"/>
          </p:cNvSpPr>
          <p:nvPr/>
        </p:nvSpPr>
        <p:spPr bwMode="auto">
          <a:xfrm>
            <a:off x="1358900" y="4668838"/>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grpSp>
        <p:nvGrpSpPr>
          <p:cNvPr id="141353" name="Group 51"/>
          <p:cNvGrpSpPr/>
          <p:nvPr/>
        </p:nvGrpSpPr>
        <p:grpSpPr>
          <a:xfrm>
            <a:off x="2257425" y="1851025"/>
            <a:ext cx="579438" cy="2247900"/>
            <a:chOff x="1328" y="630"/>
            <a:chExt cx="365" cy="1416"/>
          </a:xfrm>
        </p:grpSpPr>
        <p:sp>
          <p:nvSpPr>
            <p:cNvPr id="123951" name="Line 52"/>
            <p:cNvSpPr>
              <a:spLocks noChangeShapeType="1"/>
            </p:cNvSpPr>
            <p:nvPr/>
          </p:nvSpPr>
          <p:spPr bwMode="auto">
            <a:xfrm>
              <a:off x="1673" y="650"/>
              <a:ext cx="0" cy="1390"/>
            </a:xfrm>
            <a:prstGeom prst="line">
              <a:avLst/>
            </a:prstGeom>
            <a:noFill/>
            <a:ln w="76200">
              <a:solidFill>
                <a:srgbClr val="FF0000"/>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52" name="Line 53"/>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3953" name="Line 54"/>
            <p:cNvSpPr>
              <a:spLocks noChangeShapeType="1"/>
            </p:cNvSpPr>
            <p:nvPr/>
          </p:nvSpPr>
          <p:spPr bwMode="auto">
            <a:xfrm>
              <a:off x="1328" y="2046"/>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1" name="Rectangle 11"/>
          <p:cNvSpPr>
            <a:spLocks noChangeArrowheads="1"/>
          </p:cNvSpPr>
          <p:nvPr/>
        </p:nvSpPr>
        <p:spPr bwMode="auto">
          <a:xfrm>
            <a:off x="3052763" y="4724400"/>
            <a:ext cx="460375" cy="3651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spTree>
  </p:cSld>
  <p:clrMapOvr>
    <a:masterClrMapping/>
  </p:clrMapOvr>
  <p:transition spd="slow"/>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0980" name="Rectangle 4"/>
          <p:cNvSpPr>
            <a:spLocks noChangeArrowheads="1"/>
          </p:cNvSpPr>
          <p:nvPr/>
        </p:nvSpPr>
        <p:spPr bwMode="auto">
          <a:xfrm>
            <a:off x="809625" y="1603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3</a:t>
            </a:r>
          </a:p>
        </p:txBody>
      </p:sp>
      <p:sp>
        <p:nvSpPr>
          <p:cNvPr id="124931" name="Rectangle 5"/>
          <p:cNvSpPr>
            <a:spLocks noChangeArrowheads="1"/>
          </p:cNvSpPr>
          <p:nvPr/>
        </p:nvSpPr>
        <p:spPr bwMode="auto">
          <a:xfrm>
            <a:off x="3730625" y="3270250"/>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32" name="Rectangle 6"/>
          <p:cNvSpPr>
            <a:spLocks noChangeArrowheads="1"/>
          </p:cNvSpPr>
          <p:nvPr/>
        </p:nvSpPr>
        <p:spPr bwMode="auto">
          <a:xfrm>
            <a:off x="2927350" y="4197350"/>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33" name="Rectangle 7"/>
          <p:cNvSpPr>
            <a:spLocks noChangeArrowheads="1"/>
          </p:cNvSpPr>
          <p:nvPr/>
        </p:nvSpPr>
        <p:spPr bwMode="auto">
          <a:xfrm>
            <a:off x="5540375" y="2257425"/>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24934" name="Line 8"/>
          <p:cNvSpPr>
            <a:spLocks noChangeShapeType="1"/>
          </p:cNvSpPr>
          <p:nvPr/>
        </p:nvSpPr>
        <p:spPr bwMode="auto">
          <a:xfrm flipV="1">
            <a:off x="3467100" y="3738563"/>
            <a:ext cx="255588" cy="446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35" name="Line 9"/>
          <p:cNvSpPr>
            <a:spLocks noChangeShapeType="1"/>
          </p:cNvSpPr>
          <p:nvPr/>
        </p:nvSpPr>
        <p:spPr bwMode="auto">
          <a:xfrm flipV="1">
            <a:off x="4214813" y="2601913"/>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36" name="Rectangle 10"/>
          <p:cNvSpPr>
            <a:spLocks noChangeArrowheads="1"/>
          </p:cNvSpPr>
          <p:nvPr/>
        </p:nvSpPr>
        <p:spPr bwMode="auto">
          <a:xfrm>
            <a:off x="3808413" y="3135313"/>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30</a:t>
            </a:r>
          </a:p>
        </p:txBody>
      </p:sp>
      <p:sp>
        <p:nvSpPr>
          <p:cNvPr id="124937" name="Rectangle 11"/>
          <p:cNvSpPr>
            <a:spLocks noChangeArrowheads="1"/>
          </p:cNvSpPr>
          <p:nvPr/>
        </p:nvSpPr>
        <p:spPr bwMode="auto">
          <a:xfrm>
            <a:off x="3076575" y="4184650"/>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p>
        </p:txBody>
      </p:sp>
      <p:grpSp>
        <p:nvGrpSpPr>
          <p:cNvPr id="142346" name="Group 12"/>
          <p:cNvGrpSpPr/>
          <p:nvPr/>
        </p:nvGrpSpPr>
        <p:grpSpPr>
          <a:xfrm>
            <a:off x="4370388" y="3767138"/>
            <a:ext cx="688975" cy="1298575"/>
            <a:chOff x="2941" y="2736"/>
            <a:chExt cx="434" cy="818"/>
          </a:xfrm>
        </p:grpSpPr>
        <p:sp>
          <p:nvSpPr>
            <p:cNvPr id="124939"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40" name="Line 14"/>
            <p:cNvSpPr>
              <a:spLocks noChangeShapeType="1"/>
            </p:cNvSpPr>
            <p:nvPr/>
          </p:nvSpPr>
          <p:spPr bwMode="auto">
            <a:xfrm flipH="1" flipV="1">
              <a:off x="3019" y="2736"/>
              <a:ext cx="169" cy="236"/>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41"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24942" name="Rectangle 16"/>
          <p:cNvSpPr>
            <a:spLocks noChangeArrowheads="1"/>
          </p:cNvSpPr>
          <p:nvPr/>
        </p:nvSpPr>
        <p:spPr bwMode="auto">
          <a:xfrm>
            <a:off x="7008813" y="3279775"/>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43" name="Rectangle 17"/>
          <p:cNvSpPr>
            <a:spLocks noChangeArrowheads="1"/>
          </p:cNvSpPr>
          <p:nvPr/>
        </p:nvSpPr>
        <p:spPr bwMode="auto">
          <a:xfrm>
            <a:off x="6283325" y="4178300"/>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44" name="Rectangle 18"/>
          <p:cNvSpPr>
            <a:spLocks noChangeArrowheads="1"/>
          </p:cNvSpPr>
          <p:nvPr/>
        </p:nvSpPr>
        <p:spPr bwMode="auto">
          <a:xfrm>
            <a:off x="7104063" y="3321050"/>
            <a:ext cx="514350" cy="3508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800" b="1"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124945" name="Line 19"/>
          <p:cNvSpPr>
            <a:spLocks noChangeShapeType="1"/>
          </p:cNvSpPr>
          <p:nvPr/>
        </p:nvSpPr>
        <p:spPr bwMode="auto">
          <a:xfrm flipV="1">
            <a:off x="6650038" y="3725863"/>
            <a:ext cx="403225" cy="41433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46" name="Rectangle 20"/>
          <p:cNvSpPr>
            <a:spLocks noChangeArrowheads="1"/>
          </p:cNvSpPr>
          <p:nvPr/>
        </p:nvSpPr>
        <p:spPr bwMode="auto">
          <a:xfrm>
            <a:off x="6432550" y="4213225"/>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24947" name="Rectangle 21"/>
          <p:cNvSpPr>
            <a:spLocks noChangeArrowheads="1"/>
          </p:cNvSpPr>
          <p:nvPr/>
        </p:nvSpPr>
        <p:spPr bwMode="auto">
          <a:xfrm>
            <a:off x="7659688" y="4168775"/>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48" name="Line 22"/>
          <p:cNvSpPr>
            <a:spLocks noChangeShapeType="1"/>
          </p:cNvSpPr>
          <p:nvPr/>
        </p:nvSpPr>
        <p:spPr bwMode="auto">
          <a:xfrm flipH="1" flipV="1">
            <a:off x="7699375" y="3725863"/>
            <a:ext cx="352425" cy="42386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49" name="Rectangle 23"/>
          <p:cNvSpPr>
            <a:spLocks noChangeArrowheads="1"/>
          </p:cNvSpPr>
          <p:nvPr/>
        </p:nvSpPr>
        <p:spPr bwMode="auto">
          <a:xfrm>
            <a:off x="7807325" y="4198938"/>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24950" name="Line 24"/>
          <p:cNvSpPr>
            <a:spLocks noChangeShapeType="1"/>
          </p:cNvSpPr>
          <p:nvPr/>
        </p:nvSpPr>
        <p:spPr bwMode="auto">
          <a:xfrm flipH="1" flipV="1">
            <a:off x="6146800" y="2587625"/>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51" name="Rectangle 25"/>
          <p:cNvSpPr>
            <a:spLocks noChangeArrowheads="1"/>
          </p:cNvSpPr>
          <p:nvPr/>
        </p:nvSpPr>
        <p:spPr bwMode="auto">
          <a:xfrm>
            <a:off x="1441450" y="1463675"/>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52" name="Line 26"/>
          <p:cNvSpPr>
            <a:spLocks noChangeShapeType="1"/>
          </p:cNvSpPr>
          <p:nvPr/>
        </p:nvSpPr>
        <p:spPr bwMode="auto">
          <a:xfrm>
            <a:off x="1435100" y="20081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53" name="Line 27"/>
          <p:cNvSpPr>
            <a:spLocks noChangeShapeType="1"/>
          </p:cNvSpPr>
          <p:nvPr/>
        </p:nvSpPr>
        <p:spPr bwMode="auto">
          <a:xfrm>
            <a:off x="1435100" y="26257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54" name="Line 28"/>
          <p:cNvSpPr>
            <a:spLocks noChangeShapeType="1"/>
          </p:cNvSpPr>
          <p:nvPr/>
        </p:nvSpPr>
        <p:spPr bwMode="auto">
          <a:xfrm>
            <a:off x="1435100" y="32464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55" name="Line 29"/>
          <p:cNvSpPr>
            <a:spLocks noChangeShapeType="1"/>
          </p:cNvSpPr>
          <p:nvPr/>
        </p:nvSpPr>
        <p:spPr bwMode="auto">
          <a:xfrm>
            <a:off x="1435100" y="38639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56" name="Line 30"/>
          <p:cNvSpPr>
            <a:spLocks noChangeShapeType="1"/>
          </p:cNvSpPr>
          <p:nvPr/>
        </p:nvSpPr>
        <p:spPr bwMode="auto">
          <a:xfrm>
            <a:off x="1435100" y="44846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57" name="Line 31"/>
          <p:cNvSpPr>
            <a:spLocks noChangeShapeType="1"/>
          </p:cNvSpPr>
          <p:nvPr/>
        </p:nvSpPr>
        <p:spPr bwMode="auto">
          <a:xfrm>
            <a:off x="1435100" y="51022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58" name="Rectangle 32"/>
          <p:cNvSpPr>
            <a:spLocks noChangeArrowheads="1"/>
          </p:cNvSpPr>
          <p:nvPr/>
        </p:nvSpPr>
        <p:spPr bwMode="auto">
          <a:xfrm>
            <a:off x="695325" y="868363"/>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24959" name="Rectangle 33"/>
          <p:cNvSpPr>
            <a:spLocks noChangeArrowheads="1"/>
          </p:cNvSpPr>
          <p:nvPr/>
        </p:nvSpPr>
        <p:spPr bwMode="auto">
          <a:xfrm>
            <a:off x="7132638" y="3725863"/>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24960" name="Rectangle 34"/>
          <p:cNvSpPr>
            <a:spLocks noChangeArrowheads="1"/>
          </p:cNvSpPr>
          <p:nvPr/>
        </p:nvSpPr>
        <p:spPr bwMode="auto">
          <a:xfrm>
            <a:off x="6332538" y="4645025"/>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24961" name="Line 35"/>
          <p:cNvSpPr>
            <a:spLocks noChangeShapeType="1"/>
          </p:cNvSpPr>
          <p:nvPr/>
        </p:nvSpPr>
        <p:spPr bwMode="auto">
          <a:xfrm>
            <a:off x="2927350" y="2587625"/>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62" name="Rectangle 36"/>
          <p:cNvSpPr>
            <a:spLocks noChangeArrowheads="1"/>
          </p:cNvSpPr>
          <p:nvPr/>
        </p:nvSpPr>
        <p:spPr bwMode="auto">
          <a:xfrm>
            <a:off x="3883025" y="3708400"/>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24963" name="Rectangle 37"/>
          <p:cNvSpPr>
            <a:spLocks noChangeArrowheads="1"/>
          </p:cNvSpPr>
          <p:nvPr/>
        </p:nvSpPr>
        <p:spPr bwMode="auto">
          <a:xfrm>
            <a:off x="4443413" y="4213225"/>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24964" name="Rectangle 38"/>
          <p:cNvSpPr>
            <a:spLocks noChangeArrowheads="1"/>
          </p:cNvSpPr>
          <p:nvPr/>
        </p:nvSpPr>
        <p:spPr bwMode="auto">
          <a:xfrm>
            <a:off x="4519613" y="464502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42370" name="Group 39"/>
          <p:cNvGrpSpPr/>
          <p:nvPr/>
        </p:nvGrpSpPr>
        <p:grpSpPr>
          <a:xfrm>
            <a:off x="5432425" y="2252663"/>
            <a:ext cx="739775" cy="457200"/>
            <a:chOff x="3266" y="924"/>
            <a:chExt cx="466" cy="288"/>
          </a:xfrm>
        </p:grpSpPr>
        <p:sp>
          <p:nvSpPr>
            <p:cNvPr id="124966"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4967" name="Rectangle 41"/>
            <p:cNvSpPr>
              <a:spLocks noChangeArrowheads="1"/>
            </p:cNvSpPr>
            <p:nvPr/>
          </p:nvSpPr>
          <p:spPr bwMode="auto">
            <a:xfrm>
              <a:off x="3331" y="924"/>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p:txBody>
        </p:sp>
      </p:grpSp>
      <p:sp>
        <p:nvSpPr>
          <p:cNvPr id="124968" name="Rectangle 42"/>
          <p:cNvSpPr>
            <a:spLocks noChangeArrowheads="1"/>
          </p:cNvSpPr>
          <p:nvPr/>
        </p:nvSpPr>
        <p:spPr bwMode="auto">
          <a:xfrm>
            <a:off x="5535613" y="270033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1</a:t>
            </a:r>
          </a:p>
        </p:txBody>
      </p:sp>
      <p:sp>
        <p:nvSpPr>
          <p:cNvPr id="124969" name="Rectangle 43"/>
          <p:cNvSpPr>
            <a:spLocks noChangeArrowheads="1"/>
          </p:cNvSpPr>
          <p:nvPr/>
        </p:nvSpPr>
        <p:spPr bwMode="auto">
          <a:xfrm>
            <a:off x="1679575" y="1566863"/>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10</a:t>
            </a:r>
          </a:p>
        </p:txBody>
      </p:sp>
      <p:sp>
        <p:nvSpPr>
          <p:cNvPr id="124970" name="Rectangle 44"/>
          <p:cNvSpPr>
            <a:spLocks noChangeArrowheads="1"/>
          </p:cNvSpPr>
          <p:nvPr/>
        </p:nvSpPr>
        <p:spPr bwMode="auto">
          <a:xfrm>
            <a:off x="7618413" y="417195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4971" name="Rectangle 45"/>
          <p:cNvSpPr>
            <a:spLocks noChangeArrowheads="1"/>
          </p:cNvSpPr>
          <p:nvPr/>
        </p:nvSpPr>
        <p:spPr bwMode="auto">
          <a:xfrm>
            <a:off x="1457325" y="5145088"/>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4972" name="Rectangle 49"/>
          <p:cNvSpPr>
            <a:spLocks noChangeArrowheads="1"/>
          </p:cNvSpPr>
          <p:nvPr/>
        </p:nvSpPr>
        <p:spPr bwMode="auto">
          <a:xfrm>
            <a:off x="6283325" y="41687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4973" name="Rectangle 50"/>
          <p:cNvSpPr>
            <a:spLocks noChangeArrowheads="1"/>
          </p:cNvSpPr>
          <p:nvPr/>
        </p:nvSpPr>
        <p:spPr bwMode="auto">
          <a:xfrm>
            <a:off x="1457325" y="4538663"/>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4974" name="Rectangle 55"/>
          <p:cNvSpPr>
            <a:spLocks noChangeArrowheads="1"/>
          </p:cNvSpPr>
          <p:nvPr/>
        </p:nvSpPr>
        <p:spPr bwMode="auto">
          <a:xfrm>
            <a:off x="4362450" y="417195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24975" name="Rectangle 56"/>
          <p:cNvSpPr>
            <a:spLocks noChangeArrowheads="1"/>
          </p:cNvSpPr>
          <p:nvPr/>
        </p:nvSpPr>
        <p:spPr bwMode="auto">
          <a:xfrm>
            <a:off x="1457325" y="3863975"/>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Tree>
  </p:cSld>
  <p:clrMapOvr>
    <a:masterClrMapping/>
  </p:clrMapOvr>
  <p:transition spd="slow"/>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4052" name="Rectangle 4"/>
          <p:cNvSpPr>
            <a:spLocks noChangeArrowheads="1"/>
          </p:cNvSpPr>
          <p:nvPr/>
        </p:nvSpPr>
        <p:spPr bwMode="auto">
          <a:xfrm>
            <a:off x="833438" y="144463"/>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3</a:t>
            </a:r>
          </a:p>
        </p:txBody>
      </p:sp>
      <p:sp>
        <p:nvSpPr>
          <p:cNvPr id="125955" name="Rectangle 5"/>
          <p:cNvSpPr>
            <a:spLocks noChangeArrowheads="1"/>
          </p:cNvSpPr>
          <p:nvPr/>
        </p:nvSpPr>
        <p:spPr bwMode="auto">
          <a:xfrm>
            <a:off x="3562350" y="3182938"/>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56" name="Rectangle 6"/>
          <p:cNvSpPr>
            <a:spLocks noChangeArrowheads="1"/>
          </p:cNvSpPr>
          <p:nvPr/>
        </p:nvSpPr>
        <p:spPr bwMode="auto">
          <a:xfrm>
            <a:off x="2759075" y="4110038"/>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57" name="Rectangle 7"/>
          <p:cNvSpPr>
            <a:spLocks noChangeArrowheads="1"/>
          </p:cNvSpPr>
          <p:nvPr/>
        </p:nvSpPr>
        <p:spPr bwMode="auto">
          <a:xfrm>
            <a:off x="5372100" y="2170113"/>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25958" name="Line 8"/>
          <p:cNvSpPr>
            <a:spLocks noChangeShapeType="1"/>
          </p:cNvSpPr>
          <p:nvPr/>
        </p:nvSpPr>
        <p:spPr bwMode="auto">
          <a:xfrm flipV="1">
            <a:off x="3298825" y="3651250"/>
            <a:ext cx="263525" cy="446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59" name="Line 9"/>
          <p:cNvSpPr>
            <a:spLocks noChangeShapeType="1"/>
          </p:cNvSpPr>
          <p:nvPr/>
        </p:nvSpPr>
        <p:spPr bwMode="auto">
          <a:xfrm flipV="1">
            <a:off x="4046538" y="2514600"/>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60" name="Rectangle 10"/>
          <p:cNvSpPr>
            <a:spLocks noChangeArrowheads="1"/>
          </p:cNvSpPr>
          <p:nvPr/>
        </p:nvSpPr>
        <p:spPr bwMode="auto">
          <a:xfrm>
            <a:off x="3640138" y="3048000"/>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10</a:t>
            </a:r>
          </a:p>
        </p:txBody>
      </p:sp>
      <p:sp>
        <p:nvSpPr>
          <p:cNvPr id="125961" name="Rectangle 11"/>
          <p:cNvSpPr>
            <a:spLocks noChangeArrowheads="1"/>
          </p:cNvSpPr>
          <p:nvPr/>
        </p:nvSpPr>
        <p:spPr bwMode="auto">
          <a:xfrm>
            <a:off x="2908300" y="4097338"/>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p>
        </p:txBody>
      </p:sp>
      <p:grpSp>
        <p:nvGrpSpPr>
          <p:cNvPr id="143370" name="Group 12"/>
          <p:cNvGrpSpPr/>
          <p:nvPr/>
        </p:nvGrpSpPr>
        <p:grpSpPr>
          <a:xfrm>
            <a:off x="4202113" y="3638550"/>
            <a:ext cx="688975" cy="1339850"/>
            <a:chOff x="2941" y="2710"/>
            <a:chExt cx="434" cy="844"/>
          </a:xfrm>
        </p:grpSpPr>
        <p:sp>
          <p:nvSpPr>
            <p:cNvPr id="125963"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64" name="Line 14"/>
            <p:cNvSpPr>
              <a:spLocks noChangeShapeType="1"/>
            </p:cNvSpPr>
            <p:nvPr/>
          </p:nvSpPr>
          <p:spPr bwMode="auto">
            <a:xfrm flipH="1" flipV="1">
              <a:off x="3019" y="2710"/>
              <a:ext cx="169" cy="262"/>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65"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25966" name="Rectangle 16"/>
          <p:cNvSpPr>
            <a:spLocks noChangeArrowheads="1"/>
          </p:cNvSpPr>
          <p:nvPr/>
        </p:nvSpPr>
        <p:spPr bwMode="auto">
          <a:xfrm>
            <a:off x="6840538" y="3192463"/>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67" name="Rectangle 17"/>
          <p:cNvSpPr>
            <a:spLocks noChangeArrowheads="1"/>
          </p:cNvSpPr>
          <p:nvPr/>
        </p:nvSpPr>
        <p:spPr bwMode="auto">
          <a:xfrm>
            <a:off x="6115050" y="4090988"/>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68" name="Rectangle 18"/>
          <p:cNvSpPr>
            <a:spLocks noChangeArrowheads="1"/>
          </p:cNvSpPr>
          <p:nvPr/>
        </p:nvSpPr>
        <p:spPr bwMode="auto">
          <a:xfrm>
            <a:off x="6935788" y="3203575"/>
            <a:ext cx="1100138"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800" b="1"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125969" name="Line 19"/>
          <p:cNvSpPr>
            <a:spLocks noChangeShapeType="1"/>
          </p:cNvSpPr>
          <p:nvPr/>
        </p:nvSpPr>
        <p:spPr bwMode="auto">
          <a:xfrm flipV="1">
            <a:off x="6481763" y="3621088"/>
            <a:ext cx="373063" cy="4318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70" name="Rectangle 20"/>
          <p:cNvSpPr>
            <a:spLocks noChangeArrowheads="1"/>
          </p:cNvSpPr>
          <p:nvPr/>
        </p:nvSpPr>
        <p:spPr bwMode="auto">
          <a:xfrm>
            <a:off x="6264275" y="4125913"/>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25971" name="Rectangle 21"/>
          <p:cNvSpPr>
            <a:spLocks noChangeArrowheads="1"/>
          </p:cNvSpPr>
          <p:nvPr/>
        </p:nvSpPr>
        <p:spPr bwMode="auto">
          <a:xfrm>
            <a:off x="7491413" y="4081463"/>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72" name="Line 22"/>
          <p:cNvSpPr>
            <a:spLocks noChangeShapeType="1"/>
          </p:cNvSpPr>
          <p:nvPr/>
        </p:nvSpPr>
        <p:spPr bwMode="auto">
          <a:xfrm flipH="1" flipV="1">
            <a:off x="7543800" y="3638550"/>
            <a:ext cx="339725" cy="42386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73" name="Rectangle 23"/>
          <p:cNvSpPr>
            <a:spLocks noChangeArrowheads="1"/>
          </p:cNvSpPr>
          <p:nvPr/>
        </p:nvSpPr>
        <p:spPr bwMode="auto">
          <a:xfrm>
            <a:off x="7639050" y="4111625"/>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25974" name="Line 24"/>
          <p:cNvSpPr>
            <a:spLocks noChangeShapeType="1"/>
          </p:cNvSpPr>
          <p:nvPr/>
        </p:nvSpPr>
        <p:spPr bwMode="auto">
          <a:xfrm flipH="1" flipV="1">
            <a:off x="5978525" y="2500313"/>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75" name="Rectangle 25"/>
          <p:cNvSpPr>
            <a:spLocks noChangeArrowheads="1"/>
          </p:cNvSpPr>
          <p:nvPr/>
        </p:nvSpPr>
        <p:spPr bwMode="auto">
          <a:xfrm>
            <a:off x="1273175" y="1376363"/>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76" name="Line 26"/>
          <p:cNvSpPr>
            <a:spLocks noChangeShapeType="1"/>
          </p:cNvSpPr>
          <p:nvPr/>
        </p:nvSpPr>
        <p:spPr bwMode="auto">
          <a:xfrm>
            <a:off x="1266825" y="19208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77" name="Line 27"/>
          <p:cNvSpPr>
            <a:spLocks noChangeShapeType="1"/>
          </p:cNvSpPr>
          <p:nvPr/>
        </p:nvSpPr>
        <p:spPr bwMode="auto">
          <a:xfrm>
            <a:off x="1266825" y="25384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78" name="Line 28"/>
          <p:cNvSpPr>
            <a:spLocks noChangeShapeType="1"/>
          </p:cNvSpPr>
          <p:nvPr/>
        </p:nvSpPr>
        <p:spPr bwMode="auto">
          <a:xfrm>
            <a:off x="1266825" y="31591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79" name="Line 29"/>
          <p:cNvSpPr>
            <a:spLocks noChangeShapeType="1"/>
          </p:cNvSpPr>
          <p:nvPr/>
        </p:nvSpPr>
        <p:spPr bwMode="auto">
          <a:xfrm>
            <a:off x="1266825" y="377666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80" name="Line 30"/>
          <p:cNvSpPr>
            <a:spLocks noChangeShapeType="1"/>
          </p:cNvSpPr>
          <p:nvPr/>
        </p:nvSpPr>
        <p:spPr bwMode="auto">
          <a:xfrm>
            <a:off x="1266825" y="43973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81" name="Line 31"/>
          <p:cNvSpPr>
            <a:spLocks noChangeShapeType="1"/>
          </p:cNvSpPr>
          <p:nvPr/>
        </p:nvSpPr>
        <p:spPr bwMode="auto">
          <a:xfrm>
            <a:off x="1266825" y="50149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82" name="Rectangle 32"/>
          <p:cNvSpPr>
            <a:spLocks noChangeArrowheads="1"/>
          </p:cNvSpPr>
          <p:nvPr/>
        </p:nvSpPr>
        <p:spPr bwMode="auto">
          <a:xfrm>
            <a:off x="527050" y="781050"/>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25983" name="Rectangle 33"/>
          <p:cNvSpPr>
            <a:spLocks noChangeArrowheads="1"/>
          </p:cNvSpPr>
          <p:nvPr/>
        </p:nvSpPr>
        <p:spPr bwMode="auto">
          <a:xfrm>
            <a:off x="6964363" y="3638550"/>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25984" name="Rectangle 34"/>
          <p:cNvSpPr>
            <a:spLocks noChangeArrowheads="1"/>
          </p:cNvSpPr>
          <p:nvPr/>
        </p:nvSpPr>
        <p:spPr bwMode="auto">
          <a:xfrm>
            <a:off x="6164263" y="4557713"/>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25985" name="Line 35"/>
          <p:cNvSpPr>
            <a:spLocks noChangeShapeType="1"/>
          </p:cNvSpPr>
          <p:nvPr/>
        </p:nvSpPr>
        <p:spPr bwMode="auto">
          <a:xfrm>
            <a:off x="2759075" y="2500313"/>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86" name="Rectangle 36"/>
          <p:cNvSpPr>
            <a:spLocks noChangeArrowheads="1"/>
          </p:cNvSpPr>
          <p:nvPr/>
        </p:nvSpPr>
        <p:spPr bwMode="auto">
          <a:xfrm>
            <a:off x="3714750" y="362108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25987" name="Rectangle 37"/>
          <p:cNvSpPr>
            <a:spLocks noChangeArrowheads="1"/>
          </p:cNvSpPr>
          <p:nvPr/>
        </p:nvSpPr>
        <p:spPr bwMode="auto">
          <a:xfrm>
            <a:off x="4275138" y="4125913"/>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25988" name="Rectangle 38"/>
          <p:cNvSpPr>
            <a:spLocks noChangeArrowheads="1"/>
          </p:cNvSpPr>
          <p:nvPr/>
        </p:nvSpPr>
        <p:spPr bwMode="auto">
          <a:xfrm>
            <a:off x="4351338" y="455771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43394" name="Group 39"/>
          <p:cNvGrpSpPr/>
          <p:nvPr/>
        </p:nvGrpSpPr>
        <p:grpSpPr>
          <a:xfrm>
            <a:off x="5264150" y="2165350"/>
            <a:ext cx="739775" cy="457200"/>
            <a:chOff x="3266" y="924"/>
            <a:chExt cx="466" cy="288"/>
          </a:xfrm>
        </p:grpSpPr>
        <p:sp>
          <p:nvSpPr>
            <p:cNvPr id="125990"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5991" name="Rectangle 41"/>
            <p:cNvSpPr>
              <a:spLocks noChangeArrowheads="1"/>
            </p:cNvSpPr>
            <p:nvPr/>
          </p:nvSpPr>
          <p:spPr bwMode="auto">
            <a:xfrm>
              <a:off x="3331" y="924"/>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30</a:t>
              </a:r>
            </a:p>
          </p:txBody>
        </p:sp>
      </p:grpSp>
      <p:sp>
        <p:nvSpPr>
          <p:cNvPr id="125992" name="Rectangle 42"/>
          <p:cNvSpPr>
            <a:spLocks noChangeArrowheads="1"/>
          </p:cNvSpPr>
          <p:nvPr/>
        </p:nvSpPr>
        <p:spPr bwMode="auto">
          <a:xfrm>
            <a:off x="5367338" y="261302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1</a:t>
            </a:r>
          </a:p>
        </p:txBody>
      </p:sp>
      <p:sp>
        <p:nvSpPr>
          <p:cNvPr id="125993" name="Rectangle 43"/>
          <p:cNvSpPr>
            <a:spLocks noChangeArrowheads="1"/>
          </p:cNvSpPr>
          <p:nvPr/>
        </p:nvSpPr>
        <p:spPr bwMode="auto">
          <a:xfrm>
            <a:off x="1511300" y="1479550"/>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10</a:t>
            </a:r>
          </a:p>
        </p:txBody>
      </p:sp>
      <p:sp>
        <p:nvSpPr>
          <p:cNvPr id="125994" name="Rectangle 44"/>
          <p:cNvSpPr>
            <a:spLocks noChangeArrowheads="1"/>
          </p:cNvSpPr>
          <p:nvPr/>
        </p:nvSpPr>
        <p:spPr bwMode="auto">
          <a:xfrm>
            <a:off x="7450138" y="408463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5995" name="Rectangle 45"/>
          <p:cNvSpPr>
            <a:spLocks noChangeArrowheads="1"/>
          </p:cNvSpPr>
          <p:nvPr/>
        </p:nvSpPr>
        <p:spPr bwMode="auto">
          <a:xfrm>
            <a:off x="1289050" y="505777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5996" name="Rectangle 49"/>
          <p:cNvSpPr>
            <a:spLocks noChangeArrowheads="1"/>
          </p:cNvSpPr>
          <p:nvPr/>
        </p:nvSpPr>
        <p:spPr bwMode="auto">
          <a:xfrm>
            <a:off x="6115050" y="408146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5997" name="Rectangle 50"/>
          <p:cNvSpPr>
            <a:spLocks noChangeArrowheads="1"/>
          </p:cNvSpPr>
          <p:nvPr/>
        </p:nvSpPr>
        <p:spPr bwMode="auto">
          <a:xfrm>
            <a:off x="1289050" y="4451350"/>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5998" name="Rectangle 51"/>
          <p:cNvSpPr>
            <a:spLocks noChangeArrowheads="1"/>
          </p:cNvSpPr>
          <p:nvPr/>
        </p:nvSpPr>
        <p:spPr bwMode="auto">
          <a:xfrm>
            <a:off x="4194175" y="408463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25999" name="Rectangle 52"/>
          <p:cNvSpPr>
            <a:spLocks noChangeArrowheads="1"/>
          </p:cNvSpPr>
          <p:nvPr/>
        </p:nvSpPr>
        <p:spPr bwMode="auto">
          <a:xfrm>
            <a:off x="1289050" y="3776663"/>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Tree>
  </p:cSld>
  <p:clrMapOvr>
    <a:masterClrMapping/>
  </p:clrMapOvr>
  <p:transition spd="slow"/>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6" name="Rectangle 4"/>
          <p:cNvSpPr>
            <a:spLocks noChangeArrowheads="1"/>
          </p:cNvSpPr>
          <p:nvPr/>
        </p:nvSpPr>
        <p:spPr bwMode="auto">
          <a:xfrm>
            <a:off x="862013" y="1603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4</a:t>
            </a:r>
          </a:p>
        </p:txBody>
      </p:sp>
      <p:sp>
        <p:nvSpPr>
          <p:cNvPr id="126979" name="Rectangle 5"/>
          <p:cNvSpPr>
            <a:spLocks noChangeArrowheads="1"/>
          </p:cNvSpPr>
          <p:nvPr/>
        </p:nvSpPr>
        <p:spPr bwMode="auto">
          <a:xfrm>
            <a:off x="3632200" y="3335338"/>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80" name="Rectangle 6"/>
          <p:cNvSpPr>
            <a:spLocks noChangeArrowheads="1"/>
          </p:cNvSpPr>
          <p:nvPr/>
        </p:nvSpPr>
        <p:spPr bwMode="auto">
          <a:xfrm>
            <a:off x="2828925" y="4262438"/>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81" name="Rectangle 7"/>
          <p:cNvSpPr>
            <a:spLocks noChangeArrowheads="1"/>
          </p:cNvSpPr>
          <p:nvPr/>
        </p:nvSpPr>
        <p:spPr bwMode="auto">
          <a:xfrm>
            <a:off x="5441950" y="2322513"/>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26982" name="Line 8"/>
          <p:cNvSpPr>
            <a:spLocks noChangeShapeType="1"/>
          </p:cNvSpPr>
          <p:nvPr/>
        </p:nvSpPr>
        <p:spPr bwMode="auto">
          <a:xfrm flipV="1">
            <a:off x="3368675" y="3790950"/>
            <a:ext cx="327025" cy="4587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83" name="Line 9"/>
          <p:cNvSpPr>
            <a:spLocks noChangeShapeType="1"/>
          </p:cNvSpPr>
          <p:nvPr/>
        </p:nvSpPr>
        <p:spPr bwMode="auto">
          <a:xfrm flipV="1">
            <a:off x="4116388" y="2667000"/>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84" name="Rectangle 10"/>
          <p:cNvSpPr>
            <a:spLocks noChangeArrowheads="1"/>
          </p:cNvSpPr>
          <p:nvPr/>
        </p:nvSpPr>
        <p:spPr bwMode="auto">
          <a:xfrm>
            <a:off x="3709988" y="3200400"/>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26985" name="Rectangle 11"/>
          <p:cNvSpPr>
            <a:spLocks noChangeArrowheads="1"/>
          </p:cNvSpPr>
          <p:nvPr/>
        </p:nvSpPr>
        <p:spPr bwMode="auto">
          <a:xfrm>
            <a:off x="3035300" y="4325938"/>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FF3300"/>
                </a:solidFill>
                <a:effectLst/>
                <a:uLnTx/>
                <a:uFillTx/>
                <a:latin typeface="+mn-lt"/>
                <a:ea typeface="+mn-ea"/>
                <a:cs typeface="+mn-ea"/>
                <a:sym typeface="+mn-lt"/>
              </a:rPr>
              <a:t>8</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144394" name="Group 12"/>
          <p:cNvGrpSpPr/>
          <p:nvPr/>
        </p:nvGrpSpPr>
        <p:grpSpPr>
          <a:xfrm>
            <a:off x="4271963" y="3773488"/>
            <a:ext cx="688975" cy="1357312"/>
            <a:chOff x="2941" y="2699"/>
            <a:chExt cx="434" cy="855"/>
          </a:xfrm>
        </p:grpSpPr>
        <p:sp>
          <p:nvSpPr>
            <p:cNvPr id="126987"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88" name="Line 14"/>
            <p:cNvSpPr>
              <a:spLocks noChangeShapeType="1"/>
            </p:cNvSpPr>
            <p:nvPr/>
          </p:nvSpPr>
          <p:spPr bwMode="auto">
            <a:xfrm flipH="1" flipV="1">
              <a:off x="2964" y="2699"/>
              <a:ext cx="224" cy="27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89"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26990" name="Rectangle 16"/>
          <p:cNvSpPr>
            <a:spLocks noChangeArrowheads="1"/>
          </p:cNvSpPr>
          <p:nvPr/>
        </p:nvSpPr>
        <p:spPr bwMode="auto">
          <a:xfrm>
            <a:off x="6910388" y="3344863"/>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91" name="Rectangle 17"/>
          <p:cNvSpPr>
            <a:spLocks noChangeArrowheads="1"/>
          </p:cNvSpPr>
          <p:nvPr/>
        </p:nvSpPr>
        <p:spPr bwMode="auto">
          <a:xfrm>
            <a:off x="6184900" y="4243388"/>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92" name="Rectangle 18"/>
          <p:cNvSpPr>
            <a:spLocks noChangeArrowheads="1"/>
          </p:cNvSpPr>
          <p:nvPr/>
        </p:nvSpPr>
        <p:spPr bwMode="auto">
          <a:xfrm>
            <a:off x="6991350" y="3416300"/>
            <a:ext cx="446088" cy="3508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800" b="1"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126993" name="Line 19"/>
          <p:cNvSpPr>
            <a:spLocks noChangeShapeType="1"/>
          </p:cNvSpPr>
          <p:nvPr/>
        </p:nvSpPr>
        <p:spPr bwMode="auto">
          <a:xfrm flipV="1">
            <a:off x="6551613" y="3800475"/>
            <a:ext cx="373063" cy="40481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94" name="Rectangle 20"/>
          <p:cNvSpPr>
            <a:spLocks noChangeArrowheads="1"/>
          </p:cNvSpPr>
          <p:nvPr/>
        </p:nvSpPr>
        <p:spPr bwMode="auto">
          <a:xfrm>
            <a:off x="6334125" y="4278313"/>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26995" name="Rectangle 21"/>
          <p:cNvSpPr>
            <a:spLocks noChangeArrowheads="1"/>
          </p:cNvSpPr>
          <p:nvPr/>
        </p:nvSpPr>
        <p:spPr bwMode="auto">
          <a:xfrm>
            <a:off x="7599363" y="4233863"/>
            <a:ext cx="598488"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96" name="Line 22"/>
          <p:cNvSpPr>
            <a:spLocks noChangeShapeType="1"/>
          </p:cNvSpPr>
          <p:nvPr/>
        </p:nvSpPr>
        <p:spPr bwMode="auto">
          <a:xfrm flipH="1" flipV="1">
            <a:off x="7600950" y="3790950"/>
            <a:ext cx="352425" cy="42386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97" name="Rectangle 23"/>
          <p:cNvSpPr>
            <a:spLocks noChangeArrowheads="1"/>
          </p:cNvSpPr>
          <p:nvPr/>
        </p:nvSpPr>
        <p:spPr bwMode="auto">
          <a:xfrm>
            <a:off x="7708900" y="4264025"/>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26998" name="Line 24"/>
          <p:cNvSpPr>
            <a:spLocks noChangeShapeType="1"/>
          </p:cNvSpPr>
          <p:nvPr/>
        </p:nvSpPr>
        <p:spPr bwMode="auto">
          <a:xfrm flipH="1" flipV="1">
            <a:off x="6048375" y="2652713"/>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6999" name="Rectangle 25"/>
          <p:cNvSpPr>
            <a:spLocks noChangeArrowheads="1"/>
          </p:cNvSpPr>
          <p:nvPr/>
        </p:nvSpPr>
        <p:spPr bwMode="auto">
          <a:xfrm>
            <a:off x="1343025" y="1528763"/>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00" name="Line 26"/>
          <p:cNvSpPr>
            <a:spLocks noChangeShapeType="1"/>
          </p:cNvSpPr>
          <p:nvPr/>
        </p:nvSpPr>
        <p:spPr bwMode="auto">
          <a:xfrm>
            <a:off x="1336675" y="20732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01" name="Line 27"/>
          <p:cNvSpPr>
            <a:spLocks noChangeShapeType="1"/>
          </p:cNvSpPr>
          <p:nvPr/>
        </p:nvSpPr>
        <p:spPr bwMode="auto">
          <a:xfrm>
            <a:off x="1336675" y="26908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02" name="Line 28"/>
          <p:cNvSpPr>
            <a:spLocks noChangeShapeType="1"/>
          </p:cNvSpPr>
          <p:nvPr/>
        </p:nvSpPr>
        <p:spPr bwMode="auto">
          <a:xfrm>
            <a:off x="1336675" y="33115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03" name="Line 29"/>
          <p:cNvSpPr>
            <a:spLocks noChangeShapeType="1"/>
          </p:cNvSpPr>
          <p:nvPr/>
        </p:nvSpPr>
        <p:spPr bwMode="auto">
          <a:xfrm>
            <a:off x="1336675" y="392906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04" name="Line 30"/>
          <p:cNvSpPr>
            <a:spLocks noChangeShapeType="1"/>
          </p:cNvSpPr>
          <p:nvPr/>
        </p:nvSpPr>
        <p:spPr bwMode="auto">
          <a:xfrm>
            <a:off x="1336675" y="45497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05" name="Line 31"/>
          <p:cNvSpPr>
            <a:spLocks noChangeShapeType="1"/>
          </p:cNvSpPr>
          <p:nvPr/>
        </p:nvSpPr>
        <p:spPr bwMode="auto">
          <a:xfrm>
            <a:off x="1336675" y="51673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06" name="Rectangle 32"/>
          <p:cNvSpPr>
            <a:spLocks noChangeArrowheads="1"/>
          </p:cNvSpPr>
          <p:nvPr/>
        </p:nvSpPr>
        <p:spPr bwMode="auto">
          <a:xfrm>
            <a:off x="596900" y="933450"/>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27007" name="Rectangle 33"/>
          <p:cNvSpPr>
            <a:spLocks noChangeArrowheads="1"/>
          </p:cNvSpPr>
          <p:nvPr/>
        </p:nvSpPr>
        <p:spPr bwMode="auto">
          <a:xfrm>
            <a:off x="7034213" y="3790950"/>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27008" name="Rectangle 34"/>
          <p:cNvSpPr>
            <a:spLocks noChangeArrowheads="1"/>
          </p:cNvSpPr>
          <p:nvPr/>
        </p:nvSpPr>
        <p:spPr bwMode="auto">
          <a:xfrm>
            <a:off x="6234113" y="4710113"/>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27009" name="Line 35"/>
          <p:cNvSpPr>
            <a:spLocks noChangeShapeType="1"/>
          </p:cNvSpPr>
          <p:nvPr/>
        </p:nvSpPr>
        <p:spPr bwMode="auto">
          <a:xfrm>
            <a:off x="2828925" y="2652713"/>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10" name="Rectangle 36"/>
          <p:cNvSpPr>
            <a:spLocks noChangeArrowheads="1"/>
          </p:cNvSpPr>
          <p:nvPr/>
        </p:nvSpPr>
        <p:spPr bwMode="auto">
          <a:xfrm>
            <a:off x="3784600" y="377348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27011" name="Rectangle 37"/>
          <p:cNvSpPr>
            <a:spLocks noChangeArrowheads="1"/>
          </p:cNvSpPr>
          <p:nvPr/>
        </p:nvSpPr>
        <p:spPr bwMode="auto">
          <a:xfrm>
            <a:off x="4344988" y="4278313"/>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27012" name="Rectangle 38"/>
          <p:cNvSpPr>
            <a:spLocks noChangeArrowheads="1"/>
          </p:cNvSpPr>
          <p:nvPr/>
        </p:nvSpPr>
        <p:spPr bwMode="auto">
          <a:xfrm>
            <a:off x="4421188" y="471011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44418" name="Group 39"/>
          <p:cNvGrpSpPr/>
          <p:nvPr/>
        </p:nvGrpSpPr>
        <p:grpSpPr>
          <a:xfrm>
            <a:off x="5334000" y="2327275"/>
            <a:ext cx="739775" cy="449263"/>
            <a:chOff x="3266" y="929"/>
            <a:chExt cx="466" cy="283"/>
          </a:xfrm>
        </p:grpSpPr>
        <p:sp>
          <p:nvSpPr>
            <p:cNvPr id="127014"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15" name="Rectangle 41"/>
            <p:cNvSpPr>
              <a:spLocks noChangeArrowheads="1"/>
            </p:cNvSpPr>
            <p:nvPr/>
          </p:nvSpPr>
          <p:spPr bwMode="auto">
            <a:xfrm>
              <a:off x="3393" y="942"/>
              <a:ext cx="267" cy="24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30</a:t>
              </a:r>
            </a:p>
          </p:txBody>
        </p:sp>
      </p:grpSp>
      <p:sp>
        <p:nvSpPr>
          <p:cNvPr id="127016" name="Rectangle 42"/>
          <p:cNvSpPr>
            <a:spLocks noChangeArrowheads="1"/>
          </p:cNvSpPr>
          <p:nvPr/>
        </p:nvSpPr>
        <p:spPr bwMode="auto">
          <a:xfrm>
            <a:off x="5516563" y="276542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sp>
        <p:nvSpPr>
          <p:cNvPr id="127017" name="Rectangle 43"/>
          <p:cNvSpPr>
            <a:spLocks noChangeArrowheads="1"/>
          </p:cNvSpPr>
          <p:nvPr/>
        </p:nvSpPr>
        <p:spPr bwMode="auto">
          <a:xfrm>
            <a:off x="1581150" y="1631950"/>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10</a:t>
            </a:r>
          </a:p>
        </p:txBody>
      </p:sp>
      <p:sp>
        <p:nvSpPr>
          <p:cNvPr id="127018" name="Rectangle 44"/>
          <p:cNvSpPr>
            <a:spLocks noChangeArrowheads="1"/>
          </p:cNvSpPr>
          <p:nvPr/>
        </p:nvSpPr>
        <p:spPr bwMode="auto">
          <a:xfrm>
            <a:off x="7613650" y="4249738"/>
            <a:ext cx="584200" cy="4508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7019" name="Rectangle 45"/>
          <p:cNvSpPr>
            <a:spLocks noChangeArrowheads="1"/>
          </p:cNvSpPr>
          <p:nvPr/>
        </p:nvSpPr>
        <p:spPr bwMode="auto">
          <a:xfrm>
            <a:off x="1358900" y="521017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7020" name="Rectangle 46"/>
          <p:cNvSpPr>
            <a:spLocks noChangeArrowheads="1"/>
          </p:cNvSpPr>
          <p:nvPr/>
        </p:nvSpPr>
        <p:spPr bwMode="auto">
          <a:xfrm>
            <a:off x="6213475" y="4249738"/>
            <a:ext cx="687388" cy="458788"/>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60</a:t>
            </a:r>
          </a:p>
        </p:txBody>
      </p:sp>
      <p:sp>
        <p:nvSpPr>
          <p:cNvPr id="127021" name="Rectangle 47"/>
          <p:cNvSpPr>
            <a:spLocks noChangeArrowheads="1"/>
          </p:cNvSpPr>
          <p:nvPr/>
        </p:nvSpPr>
        <p:spPr bwMode="auto">
          <a:xfrm>
            <a:off x="1358900" y="4603750"/>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7022" name="Rectangle 48"/>
          <p:cNvSpPr>
            <a:spLocks noChangeArrowheads="1"/>
          </p:cNvSpPr>
          <p:nvPr/>
        </p:nvSpPr>
        <p:spPr bwMode="auto">
          <a:xfrm>
            <a:off x="4278313" y="4237038"/>
            <a:ext cx="682625" cy="4635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27023" name="Rectangle 49"/>
          <p:cNvSpPr>
            <a:spLocks noChangeArrowheads="1"/>
          </p:cNvSpPr>
          <p:nvPr/>
        </p:nvSpPr>
        <p:spPr bwMode="auto">
          <a:xfrm>
            <a:off x="1358900" y="3929063"/>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grpSp>
        <p:nvGrpSpPr>
          <p:cNvPr id="144427" name="Group 54"/>
          <p:cNvGrpSpPr/>
          <p:nvPr/>
        </p:nvGrpSpPr>
        <p:grpSpPr>
          <a:xfrm>
            <a:off x="2265363" y="1851025"/>
            <a:ext cx="584200" cy="1817688"/>
            <a:chOff x="1333" y="630"/>
            <a:chExt cx="368" cy="1145"/>
          </a:xfrm>
        </p:grpSpPr>
        <p:sp>
          <p:nvSpPr>
            <p:cNvPr id="127025" name="Line 51"/>
            <p:cNvSpPr>
              <a:spLocks noChangeShapeType="1"/>
            </p:cNvSpPr>
            <p:nvPr/>
          </p:nvSpPr>
          <p:spPr bwMode="auto">
            <a:xfrm>
              <a:off x="1673" y="650"/>
              <a:ext cx="0" cy="1118"/>
            </a:xfrm>
            <a:prstGeom prst="line">
              <a:avLst/>
            </a:prstGeom>
            <a:noFill/>
            <a:ln w="76200">
              <a:solidFill>
                <a:srgbClr val="FF0000"/>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26" name="Line 52"/>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7027" name="Line 53"/>
            <p:cNvSpPr>
              <a:spLocks noChangeShapeType="1"/>
            </p:cNvSpPr>
            <p:nvPr/>
          </p:nvSpPr>
          <p:spPr bwMode="auto">
            <a:xfrm>
              <a:off x="1341" y="1775"/>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spd="slow"/>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100" name="Rectangle 4"/>
          <p:cNvSpPr>
            <a:spLocks noChangeArrowheads="1"/>
          </p:cNvSpPr>
          <p:nvPr/>
        </p:nvSpPr>
        <p:spPr bwMode="auto">
          <a:xfrm>
            <a:off x="771525" y="1603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4</a:t>
            </a:r>
          </a:p>
        </p:txBody>
      </p:sp>
      <p:sp>
        <p:nvSpPr>
          <p:cNvPr id="128003" name="Rectangle 5"/>
          <p:cNvSpPr>
            <a:spLocks noChangeArrowheads="1"/>
          </p:cNvSpPr>
          <p:nvPr/>
        </p:nvSpPr>
        <p:spPr bwMode="auto">
          <a:xfrm>
            <a:off x="3806825" y="3182938"/>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04" name="Rectangle 6"/>
          <p:cNvSpPr>
            <a:spLocks noChangeArrowheads="1"/>
          </p:cNvSpPr>
          <p:nvPr/>
        </p:nvSpPr>
        <p:spPr bwMode="auto">
          <a:xfrm>
            <a:off x="3003550" y="4110038"/>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05" name="Rectangle 7"/>
          <p:cNvSpPr>
            <a:spLocks noChangeArrowheads="1"/>
          </p:cNvSpPr>
          <p:nvPr/>
        </p:nvSpPr>
        <p:spPr bwMode="auto">
          <a:xfrm>
            <a:off x="5616575" y="2170113"/>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28006" name="Line 8"/>
          <p:cNvSpPr>
            <a:spLocks noChangeShapeType="1"/>
          </p:cNvSpPr>
          <p:nvPr/>
        </p:nvSpPr>
        <p:spPr bwMode="auto">
          <a:xfrm flipV="1">
            <a:off x="3543300" y="3621088"/>
            <a:ext cx="277813" cy="47625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07" name="Line 9"/>
          <p:cNvSpPr>
            <a:spLocks noChangeShapeType="1"/>
          </p:cNvSpPr>
          <p:nvPr/>
        </p:nvSpPr>
        <p:spPr bwMode="auto">
          <a:xfrm flipV="1">
            <a:off x="4291013" y="2514600"/>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08" name="Rectangle 10"/>
          <p:cNvSpPr>
            <a:spLocks noChangeArrowheads="1"/>
          </p:cNvSpPr>
          <p:nvPr/>
        </p:nvSpPr>
        <p:spPr bwMode="auto">
          <a:xfrm>
            <a:off x="3884613" y="3048000"/>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28009" name="Rectangle 11"/>
          <p:cNvSpPr>
            <a:spLocks noChangeArrowheads="1"/>
          </p:cNvSpPr>
          <p:nvPr/>
        </p:nvSpPr>
        <p:spPr bwMode="auto">
          <a:xfrm>
            <a:off x="3152775" y="4097338"/>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p>
        </p:txBody>
      </p:sp>
      <p:grpSp>
        <p:nvGrpSpPr>
          <p:cNvPr id="145418" name="Group 12"/>
          <p:cNvGrpSpPr/>
          <p:nvPr/>
        </p:nvGrpSpPr>
        <p:grpSpPr>
          <a:xfrm>
            <a:off x="4446588" y="3648075"/>
            <a:ext cx="688975" cy="1330325"/>
            <a:chOff x="2941" y="2716"/>
            <a:chExt cx="434" cy="838"/>
          </a:xfrm>
        </p:grpSpPr>
        <p:sp>
          <p:nvSpPr>
            <p:cNvPr id="128011"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12" name="Line 14"/>
            <p:cNvSpPr>
              <a:spLocks noChangeShapeType="1"/>
            </p:cNvSpPr>
            <p:nvPr/>
          </p:nvSpPr>
          <p:spPr bwMode="auto">
            <a:xfrm flipH="1" flipV="1">
              <a:off x="3009" y="2716"/>
              <a:ext cx="179" cy="256"/>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13"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28014" name="Rectangle 16"/>
          <p:cNvSpPr>
            <a:spLocks noChangeArrowheads="1"/>
          </p:cNvSpPr>
          <p:nvPr/>
        </p:nvSpPr>
        <p:spPr bwMode="auto">
          <a:xfrm>
            <a:off x="7085013" y="3192463"/>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15" name="Rectangle 17"/>
          <p:cNvSpPr>
            <a:spLocks noChangeArrowheads="1"/>
          </p:cNvSpPr>
          <p:nvPr/>
        </p:nvSpPr>
        <p:spPr bwMode="auto">
          <a:xfrm>
            <a:off x="6359525" y="4090988"/>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16" name="Rectangle 18"/>
          <p:cNvSpPr>
            <a:spLocks noChangeArrowheads="1"/>
          </p:cNvSpPr>
          <p:nvPr/>
        </p:nvSpPr>
        <p:spPr bwMode="auto">
          <a:xfrm>
            <a:off x="7180263" y="3203575"/>
            <a:ext cx="1100138"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800" b="1"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128017" name="Line 19"/>
          <p:cNvSpPr>
            <a:spLocks noChangeShapeType="1"/>
          </p:cNvSpPr>
          <p:nvPr/>
        </p:nvSpPr>
        <p:spPr bwMode="auto">
          <a:xfrm flipV="1">
            <a:off x="6726238" y="3648075"/>
            <a:ext cx="403225" cy="404813"/>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18" name="Rectangle 20"/>
          <p:cNvSpPr>
            <a:spLocks noChangeArrowheads="1"/>
          </p:cNvSpPr>
          <p:nvPr/>
        </p:nvSpPr>
        <p:spPr bwMode="auto">
          <a:xfrm>
            <a:off x="6508750" y="4125913"/>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28019" name="Rectangle 21"/>
          <p:cNvSpPr>
            <a:spLocks noChangeArrowheads="1"/>
          </p:cNvSpPr>
          <p:nvPr/>
        </p:nvSpPr>
        <p:spPr bwMode="auto">
          <a:xfrm>
            <a:off x="7735888" y="4081463"/>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20" name="Line 22"/>
          <p:cNvSpPr>
            <a:spLocks noChangeShapeType="1"/>
          </p:cNvSpPr>
          <p:nvPr/>
        </p:nvSpPr>
        <p:spPr bwMode="auto">
          <a:xfrm flipH="1" flipV="1">
            <a:off x="7775575" y="3641725"/>
            <a:ext cx="352425" cy="420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21" name="Rectangle 23"/>
          <p:cNvSpPr>
            <a:spLocks noChangeArrowheads="1"/>
          </p:cNvSpPr>
          <p:nvPr/>
        </p:nvSpPr>
        <p:spPr bwMode="auto">
          <a:xfrm>
            <a:off x="7883525" y="4111625"/>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28022" name="Line 24"/>
          <p:cNvSpPr>
            <a:spLocks noChangeShapeType="1"/>
          </p:cNvSpPr>
          <p:nvPr/>
        </p:nvSpPr>
        <p:spPr bwMode="auto">
          <a:xfrm flipH="1" flipV="1">
            <a:off x="6223000" y="2500313"/>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23" name="Rectangle 25"/>
          <p:cNvSpPr>
            <a:spLocks noChangeArrowheads="1"/>
          </p:cNvSpPr>
          <p:nvPr/>
        </p:nvSpPr>
        <p:spPr bwMode="auto">
          <a:xfrm>
            <a:off x="1517650" y="1376363"/>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24" name="Line 26"/>
          <p:cNvSpPr>
            <a:spLocks noChangeShapeType="1"/>
          </p:cNvSpPr>
          <p:nvPr/>
        </p:nvSpPr>
        <p:spPr bwMode="auto">
          <a:xfrm>
            <a:off x="1511300" y="19208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25" name="Line 27"/>
          <p:cNvSpPr>
            <a:spLocks noChangeShapeType="1"/>
          </p:cNvSpPr>
          <p:nvPr/>
        </p:nvSpPr>
        <p:spPr bwMode="auto">
          <a:xfrm>
            <a:off x="1511300" y="25384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26" name="Line 28"/>
          <p:cNvSpPr>
            <a:spLocks noChangeShapeType="1"/>
          </p:cNvSpPr>
          <p:nvPr/>
        </p:nvSpPr>
        <p:spPr bwMode="auto">
          <a:xfrm>
            <a:off x="1511300" y="31591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27" name="Line 29"/>
          <p:cNvSpPr>
            <a:spLocks noChangeShapeType="1"/>
          </p:cNvSpPr>
          <p:nvPr/>
        </p:nvSpPr>
        <p:spPr bwMode="auto">
          <a:xfrm>
            <a:off x="1511300" y="377666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28" name="Line 30"/>
          <p:cNvSpPr>
            <a:spLocks noChangeShapeType="1"/>
          </p:cNvSpPr>
          <p:nvPr/>
        </p:nvSpPr>
        <p:spPr bwMode="auto">
          <a:xfrm>
            <a:off x="1511300" y="43973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29" name="Line 31"/>
          <p:cNvSpPr>
            <a:spLocks noChangeShapeType="1"/>
          </p:cNvSpPr>
          <p:nvPr/>
        </p:nvSpPr>
        <p:spPr bwMode="auto">
          <a:xfrm>
            <a:off x="1511300" y="50149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30" name="Rectangle 32"/>
          <p:cNvSpPr>
            <a:spLocks noChangeArrowheads="1"/>
          </p:cNvSpPr>
          <p:nvPr/>
        </p:nvSpPr>
        <p:spPr bwMode="auto">
          <a:xfrm>
            <a:off x="771525" y="781050"/>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28031" name="Rectangle 33"/>
          <p:cNvSpPr>
            <a:spLocks noChangeArrowheads="1"/>
          </p:cNvSpPr>
          <p:nvPr/>
        </p:nvSpPr>
        <p:spPr bwMode="auto">
          <a:xfrm>
            <a:off x="7208838" y="3638550"/>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28032" name="Rectangle 34"/>
          <p:cNvSpPr>
            <a:spLocks noChangeArrowheads="1"/>
          </p:cNvSpPr>
          <p:nvPr/>
        </p:nvSpPr>
        <p:spPr bwMode="auto">
          <a:xfrm>
            <a:off x="6408738" y="4557713"/>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28033" name="Line 35"/>
          <p:cNvSpPr>
            <a:spLocks noChangeShapeType="1"/>
          </p:cNvSpPr>
          <p:nvPr/>
        </p:nvSpPr>
        <p:spPr bwMode="auto">
          <a:xfrm>
            <a:off x="3003550" y="2500313"/>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34" name="Rectangle 36"/>
          <p:cNvSpPr>
            <a:spLocks noChangeArrowheads="1"/>
          </p:cNvSpPr>
          <p:nvPr/>
        </p:nvSpPr>
        <p:spPr bwMode="auto">
          <a:xfrm>
            <a:off x="3959225" y="362108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28035" name="Rectangle 37"/>
          <p:cNvSpPr>
            <a:spLocks noChangeArrowheads="1"/>
          </p:cNvSpPr>
          <p:nvPr/>
        </p:nvSpPr>
        <p:spPr bwMode="auto">
          <a:xfrm>
            <a:off x="4519613" y="4125913"/>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28036" name="Rectangle 38"/>
          <p:cNvSpPr>
            <a:spLocks noChangeArrowheads="1"/>
          </p:cNvSpPr>
          <p:nvPr/>
        </p:nvSpPr>
        <p:spPr bwMode="auto">
          <a:xfrm>
            <a:off x="4595813" y="455771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45442" name="Group 39"/>
          <p:cNvGrpSpPr/>
          <p:nvPr/>
        </p:nvGrpSpPr>
        <p:grpSpPr>
          <a:xfrm>
            <a:off x="5508625" y="2173288"/>
            <a:ext cx="774700" cy="449262"/>
            <a:chOff x="3266" y="929"/>
            <a:chExt cx="488" cy="283"/>
          </a:xfrm>
        </p:grpSpPr>
        <p:sp>
          <p:nvSpPr>
            <p:cNvPr id="128038"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8039" name="Rectangle 41"/>
            <p:cNvSpPr>
              <a:spLocks noChangeArrowheads="1"/>
            </p:cNvSpPr>
            <p:nvPr/>
          </p:nvSpPr>
          <p:spPr bwMode="auto">
            <a:xfrm>
              <a:off x="3429" y="951"/>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p:txBody>
        </p:sp>
      </p:grpSp>
      <p:sp>
        <p:nvSpPr>
          <p:cNvPr id="128040" name="Rectangle 42"/>
          <p:cNvSpPr>
            <a:spLocks noChangeArrowheads="1"/>
          </p:cNvSpPr>
          <p:nvPr/>
        </p:nvSpPr>
        <p:spPr bwMode="auto">
          <a:xfrm>
            <a:off x="5713413" y="261302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sp>
        <p:nvSpPr>
          <p:cNvPr id="128041" name="Rectangle 43"/>
          <p:cNvSpPr>
            <a:spLocks noChangeArrowheads="1"/>
          </p:cNvSpPr>
          <p:nvPr/>
        </p:nvSpPr>
        <p:spPr bwMode="auto">
          <a:xfrm>
            <a:off x="1755775" y="1479550"/>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10</a:t>
            </a:r>
          </a:p>
        </p:txBody>
      </p:sp>
      <p:sp>
        <p:nvSpPr>
          <p:cNvPr id="128042" name="Rectangle 44"/>
          <p:cNvSpPr>
            <a:spLocks noChangeArrowheads="1"/>
          </p:cNvSpPr>
          <p:nvPr/>
        </p:nvSpPr>
        <p:spPr bwMode="auto">
          <a:xfrm>
            <a:off x="7694613" y="408463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8043" name="Rectangle 45"/>
          <p:cNvSpPr>
            <a:spLocks noChangeArrowheads="1"/>
          </p:cNvSpPr>
          <p:nvPr/>
        </p:nvSpPr>
        <p:spPr bwMode="auto">
          <a:xfrm>
            <a:off x="1533525" y="505777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8044" name="Rectangle 46"/>
          <p:cNvSpPr>
            <a:spLocks noChangeArrowheads="1"/>
          </p:cNvSpPr>
          <p:nvPr/>
        </p:nvSpPr>
        <p:spPr bwMode="auto">
          <a:xfrm>
            <a:off x="6359525" y="408146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8045" name="Rectangle 47"/>
          <p:cNvSpPr>
            <a:spLocks noChangeArrowheads="1"/>
          </p:cNvSpPr>
          <p:nvPr/>
        </p:nvSpPr>
        <p:spPr bwMode="auto">
          <a:xfrm>
            <a:off x="1533525" y="4451350"/>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8046" name="Rectangle 48"/>
          <p:cNvSpPr>
            <a:spLocks noChangeArrowheads="1"/>
          </p:cNvSpPr>
          <p:nvPr/>
        </p:nvSpPr>
        <p:spPr bwMode="auto">
          <a:xfrm>
            <a:off x="4438650" y="408463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28047" name="Rectangle 49"/>
          <p:cNvSpPr>
            <a:spLocks noChangeArrowheads="1"/>
          </p:cNvSpPr>
          <p:nvPr/>
        </p:nvSpPr>
        <p:spPr bwMode="auto">
          <a:xfrm>
            <a:off x="1533525" y="3776663"/>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28048" name="Rectangle 54"/>
          <p:cNvSpPr>
            <a:spLocks noChangeArrowheads="1"/>
          </p:cNvSpPr>
          <p:nvPr/>
        </p:nvSpPr>
        <p:spPr bwMode="auto">
          <a:xfrm>
            <a:off x="2990850" y="408146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28049" name="Rectangle 55"/>
          <p:cNvSpPr>
            <a:spLocks noChangeArrowheads="1"/>
          </p:cNvSpPr>
          <p:nvPr/>
        </p:nvSpPr>
        <p:spPr bwMode="auto">
          <a:xfrm>
            <a:off x="1533525" y="320516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Tree>
  </p:cSld>
  <p:clrMapOvr>
    <a:masterClrMapping/>
  </p:clrMapOvr>
  <p:transition spd="slow"/>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24" name="Rectangle 4"/>
          <p:cNvSpPr>
            <a:spLocks noChangeArrowheads="1"/>
          </p:cNvSpPr>
          <p:nvPr/>
        </p:nvSpPr>
        <p:spPr bwMode="auto">
          <a:xfrm>
            <a:off x="790575" y="1603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5</a:t>
            </a:r>
          </a:p>
        </p:txBody>
      </p:sp>
      <p:sp>
        <p:nvSpPr>
          <p:cNvPr id="129027" name="Rectangle 5"/>
          <p:cNvSpPr>
            <a:spLocks noChangeArrowheads="1"/>
          </p:cNvSpPr>
          <p:nvPr/>
        </p:nvSpPr>
        <p:spPr bwMode="auto">
          <a:xfrm>
            <a:off x="3789363" y="3341688"/>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28" name="Rectangle 6"/>
          <p:cNvSpPr>
            <a:spLocks noChangeArrowheads="1"/>
          </p:cNvSpPr>
          <p:nvPr/>
        </p:nvSpPr>
        <p:spPr bwMode="auto">
          <a:xfrm>
            <a:off x="2986088" y="4268788"/>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29" name="Rectangle 7"/>
          <p:cNvSpPr>
            <a:spLocks noChangeArrowheads="1"/>
          </p:cNvSpPr>
          <p:nvPr/>
        </p:nvSpPr>
        <p:spPr bwMode="auto">
          <a:xfrm>
            <a:off x="5599113" y="2328863"/>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29030" name="Line 8"/>
          <p:cNvSpPr>
            <a:spLocks noChangeShapeType="1"/>
          </p:cNvSpPr>
          <p:nvPr/>
        </p:nvSpPr>
        <p:spPr bwMode="auto">
          <a:xfrm flipV="1">
            <a:off x="3525838" y="3797300"/>
            <a:ext cx="320675" cy="4587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31" name="Line 9"/>
          <p:cNvSpPr>
            <a:spLocks noChangeShapeType="1"/>
          </p:cNvSpPr>
          <p:nvPr/>
        </p:nvSpPr>
        <p:spPr bwMode="auto">
          <a:xfrm flipV="1">
            <a:off x="4273550" y="2673350"/>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32" name="Rectangle 10"/>
          <p:cNvSpPr>
            <a:spLocks noChangeArrowheads="1"/>
          </p:cNvSpPr>
          <p:nvPr/>
        </p:nvSpPr>
        <p:spPr bwMode="auto">
          <a:xfrm>
            <a:off x="3867150" y="3206750"/>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chemeClr val="bg1"/>
                </a:solidFill>
                <a:effectLst/>
                <a:uLnTx/>
                <a:uFillTx/>
                <a:latin typeface="+mn-lt"/>
                <a:ea typeface="+mn-ea"/>
                <a:cs typeface="+mn-ea"/>
                <a:sym typeface="+mn-lt"/>
              </a:rPr>
              <a:t>10</a:t>
            </a:r>
          </a:p>
        </p:txBody>
      </p:sp>
      <p:sp>
        <p:nvSpPr>
          <p:cNvPr id="129033" name="Rectangle 11"/>
          <p:cNvSpPr>
            <a:spLocks noChangeArrowheads="1"/>
          </p:cNvSpPr>
          <p:nvPr/>
        </p:nvSpPr>
        <p:spPr bwMode="auto">
          <a:xfrm>
            <a:off x="3135313" y="4256088"/>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p>
        </p:txBody>
      </p:sp>
      <p:grpSp>
        <p:nvGrpSpPr>
          <p:cNvPr id="146442" name="Group 12"/>
          <p:cNvGrpSpPr/>
          <p:nvPr/>
        </p:nvGrpSpPr>
        <p:grpSpPr>
          <a:xfrm>
            <a:off x="4429125" y="3798888"/>
            <a:ext cx="688975" cy="1339850"/>
            <a:chOff x="2941" y="2710"/>
            <a:chExt cx="434" cy="844"/>
          </a:xfrm>
        </p:grpSpPr>
        <p:sp>
          <p:nvSpPr>
            <p:cNvPr id="129035"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36" name="Line 14"/>
            <p:cNvSpPr>
              <a:spLocks noChangeShapeType="1"/>
            </p:cNvSpPr>
            <p:nvPr/>
          </p:nvSpPr>
          <p:spPr bwMode="auto">
            <a:xfrm flipH="1" flipV="1">
              <a:off x="2987" y="2710"/>
              <a:ext cx="201" cy="262"/>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37"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29038" name="Rectangle 16"/>
          <p:cNvSpPr>
            <a:spLocks noChangeArrowheads="1"/>
          </p:cNvSpPr>
          <p:nvPr/>
        </p:nvSpPr>
        <p:spPr bwMode="auto">
          <a:xfrm>
            <a:off x="7067550" y="3351213"/>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39" name="Rectangle 17"/>
          <p:cNvSpPr>
            <a:spLocks noChangeArrowheads="1"/>
          </p:cNvSpPr>
          <p:nvPr/>
        </p:nvSpPr>
        <p:spPr bwMode="auto">
          <a:xfrm>
            <a:off x="6342063" y="4249738"/>
            <a:ext cx="715963" cy="457200"/>
          </a:xfrm>
          <a:prstGeom prst="rect">
            <a:avLst/>
          </a:prstGeom>
          <a:solidFill>
            <a:srgbClr val="E2D9EB"/>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40" name="Rectangle 18"/>
          <p:cNvSpPr>
            <a:spLocks noChangeArrowheads="1"/>
          </p:cNvSpPr>
          <p:nvPr/>
        </p:nvSpPr>
        <p:spPr bwMode="auto">
          <a:xfrm>
            <a:off x="7307263" y="3362325"/>
            <a:ext cx="234950"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29041" name="Line 19"/>
          <p:cNvSpPr>
            <a:spLocks noChangeShapeType="1"/>
          </p:cNvSpPr>
          <p:nvPr/>
        </p:nvSpPr>
        <p:spPr bwMode="auto">
          <a:xfrm flipV="1">
            <a:off x="6708775" y="3798888"/>
            <a:ext cx="373063" cy="41275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42" name="Rectangle 20"/>
          <p:cNvSpPr>
            <a:spLocks noChangeArrowheads="1"/>
          </p:cNvSpPr>
          <p:nvPr/>
        </p:nvSpPr>
        <p:spPr bwMode="auto">
          <a:xfrm>
            <a:off x="6491288" y="4284663"/>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29043" name="Rectangle 21"/>
          <p:cNvSpPr>
            <a:spLocks noChangeArrowheads="1"/>
          </p:cNvSpPr>
          <p:nvPr/>
        </p:nvSpPr>
        <p:spPr bwMode="auto">
          <a:xfrm>
            <a:off x="7718425" y="4240213"/>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44" name="Line 22"/>
          <p:cNvSpPr>
            <a:spLocks noChangeShapeType="1"/>
          </p:cNvSpPr>
          <p:nvPr/>
        </p:nvSpPr>
        <p:spPr bwMode="auto">
          <a:xfrm flipH="1" flipV="1">
            <a:off x="7718425" y="3798888"/>
            <a:ext cx="392113" cy="42227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45" name="Rectangle 23"/>
          <p:cNvSpPr>
            <a:spLocks noChangeArrowheads="1"/>
          </p:cNvSpPr>
          <p:nvPr/>
        </p:nvSpPr>
        <p:spPr bwMode="auto">
          <a:xfrm>
            <a:off x="7866063" y="4270375"/>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29046" name="Line 24"/>
          <p:cNvSpPr>
            <a:spLocks noChangeShapeType="1"/>
          </p:cNvSpPr>
          <p:nvPr/>
        </p:nvSpPr>
        <p:spPr bwMode="auto">
          <a:xfrm flipH="1" flipV="1">
            <a:off x="6205538" y="2659063"/>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47" name="Rectangle 25"/>
          <p:cNvSpPr>
            <a:spLocks noChangeArrowheads="1"/>
          </p:cNvSpPr>
          <p:nvPr/>
        </p:nvSpPr>
        <p:spPr bwMode="auto">
          <a:xfrm>
            <a:off x="1500188" y="1535113"/>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48" name="Line 26"/>
          <p:cNvSpPr>
            <a:spLocks noChangeShapeType="1"/>
          </p:cNvSpPr>
          <p:nvPr/>
        </p:nvSpPr>
        <p:spPr bwMode="auto">
          <a:xfrm>
            <a:off x="1493838" y="20796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49" name="Line 27"/>
          <p:cNvSpPr>
            <a:spLocks noChangeShapeType="1"/>
          </p:cNvSpPr>
          <p:nvPr/>
        </p:nvSpPr>
        <p:spPr bwMode="auto">
          <a:xfrm>
            <a:off x="1493838" y="269716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50" name="Line 28"/>
          <p:cNvSpPr>
            <a:spLocks noChangeShapeType="1"/>
          </p:cNvSpPr>
          <p:nvPr/>
        </p:nvSpPr>
        <p:spPr bwMode="auto">
          <a:xfrm>
            <a:off x="1493838" y="33178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51" name="Line 29"/>
          <p:cNvSpPr>
            <a:spLocks noChangeShapeType="1"/>
          </p:cNvSpPr>
          <p:nvPr/>
        </p:nvSpPr>
        <p:spPr bwMode="auto">
          <a:xfrm>
            <a:off x="1493838" y="39354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52" name="Line 30"/>
          <p:cNvSpPr>
            <a:spLocks noChangeShapeType="1"/>
          </p:cNvSpPr>
          <p:nvPr/>
        </p:nvSpPr>
        <p:spPr bwMode="auto">
          <a:xfrm>
            <a:off x="1493838" y="45561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53" name="Line 31"/>
          <p:cNvSpPr>
            <a:spLocks noChangeShapeType="1"/>
          </p:cNvSpPr>
          <p:nvPr/>
        </p:nvSpPr>
        <p:spPr bwMode="auto">
          <a:xfrm>
            <a:off x="1493838" y="517366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54" name="Rectangle 32"/>
          <p:cNvSpPr>
            <a:spLocks noChangeArrowheads="1"/>
          </p:cNvSpPr>
          <p:nvPr/>
        </p:nvSpPr>
        <p:spPr bwMode="auto">
          <a:xfrm>
            <a:off x="754063" y="1022350"/>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[ 7 ]</a:t>
            </a:r>
          </a:p>
        </p:txBody>
      </p:sp>
      <p:sp>
        <p:nvSpPr>
          <p:cNvPr id="129055" name="Rectangle 33"/>
          <p:cNvSpPr>
            <a:spLocks noChangeArrowheads="1"/>
          </p:cNvSpPr>
          <p:nvPr/>
        </p:nvSpPr>
        <p:spPr bwMode="auto">
          <a:xfrm>
            <a:off x="7191375" y="3797300"/>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29056" name="Rectangle 34"/>
          <p:cNvSpPr>
            <a:spLocks noChangeArrowheads="1"/>
          </p:cNvSpPr>
          <p:nvPr/>
        </p:nvSpPr>
        <p:spPr bwMode="auto">
          <a:xfrm>
            <a:off x="6391275" y="4716463"/>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29057" name="Line 35"/>
          <p:cNvSpPr>
            <a:spLocks noChangeShapeType="1"/>
          </p:cNvSpPr>
          <p:nvPr/>
        </p:nvSpPr>
        <p:spPr bwMode="auto">
          <a:xfrm>
            <a:off x="2986088" y="2659063"/>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58" name="Rectangle 36"/>
          <p:cNvSpPr>
            <a:spLocks noChangeArrowheads="1"/>
          </p:cNvSpPr>
          <p:nvPr/>
        </p:nvSpPr>
        <p:spPr bwMode="auto">
          <a:xfrm>
            <a:off x="3941763" y="377983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29059" name="Rectangle 37"/>
          <p:cNvSpPr>
            <a:spLocks noChangeArrowheads="1"/>
          </p:cNvSpPr>
          <p:nvPr/>
        </p:nvSpPr>
        <p:spPr bwMode="auto">
          <a:xfrm>
            <a:off x="4502150" y="4284663"/>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29060" name="Rectangle 38"/>
          <p:cNvSpPr>
            <a:spLocks noChangeArrowheads="1"/>
          </p:cNvSpPr>
          <p:nvPr/>
        </p:nvSpPr>
        <p:spPr bwMode="auto">
          <a:xfrm>
            <a:off x="4578350" y="471646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46466" name="Group 39"/>
          <p:cNvGrpSpPr/>
          <p:nvPr/>
        </p:nvGrpSpPr>
        <p:grpSpPr>
          <a:xfrm>
            <a:off x="5491163" y="2324100"/>
            <a:ext cx="739775" cy="457200"/>
            <a:chOff x="3266" y="924"/>
            <a:chExt cx="466" cy="288"/>
          </a:xfrm>
        </p:grpSpPr>
        <p:sp>
          <p:nvSpPr>
            <p:cNvPr id="129062"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63" name="Rectangle 41"/>
            <p:cNvSpPr>
              <a:spLocks noChangeArrowheads="1"/>
            </p:cNvSpPr>
            <p:nvPr/>
          </p:nvSpPr>
          <p:spPr bwMode="auto">
            <a:xfrm>
              <a:off x="3331" y="924"/>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12</a:t>
              </a:r>
            </a:p>
          </p:txBody>
        </p:sp>
      </p:grpSp>
      <p:sp>
        <p:nvSpPr>
          <p:cNvPr id="129064" name="Rectangle 42"/>
          <p:cNvSpPr>
            <a:spLocks noChangeArrowheads="1"/>
          </p:cNvSpPr>
          <p:nvPr/>
        </p:nvSpPr>
        <p:spPr bwMode="auto">
          <a:xfrm>
            <a:off x="5594350" y="277177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1</a:t>
            </a:r>
          </a:p>
        </p:txBody>
      </p:sp>
      <p:sp>
        <p:nvSpPr>
          <p:cNvPr id="129065" name="Rectangle 43"/>
          <p:cNvSpPr>
            <a:spLocks noChangeArrowheads="1"/>
          </p:cNvSpPr>
          <p:nvPr/>
        </p:nvSpPr>
        <p:spPr bwMode="auto">
          <a:xfrm>
            <a:off x="1738313" y="1638300"/>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12</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10</a:t>
            </a:r>
          </a:p>
        </p:txBody>
      </p:sp>
      <p:sp>
        <p:nvSpPr>
          <p:cNvPr id="129066" name="Rectangle 44"/>
          <p:cNvSpPr>
            <a:spLocks noChangeArrowheads="1"/>
          </p:cNvSpPr>
          <p:nvPr/>
        </p:nvSpPr>
        <p:spPr bwMode="auto">
          <a:xfrm>
            <a:off x="7677150" y="424338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9067" name="Rectangle 45"/>
          <p:cNvSpPr>
            <a:spLocks noChangeArrowheads="1"/>
          </p:cNvSpPr>
          <p:nvPr/>
        </p:nvSpPr>
        <p:spPr bwMode="auto">
          <a:xfrm>
            <a:off x="1516063" y="521652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29068" name="Rectangle 46"/>
          <p:cNvSpPr>
            <a:spLocks noChangeArrowheads="1"/>
          </p:cNvSpPr>
          <p:nvPr/>
        </p:nvSpPr>
        <p:spPr bwMode="auto">
          <a:xfrm>
            <a:off x="6342063" y="424021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9069" name="Rectangle 47"/>
          <p:cNvSpPr>
            <a:spLocks noChangeArrowheads="1"/>
          </p:cNvSpPr>
          <p:nvPr/>
        </p:nvSpPr>
        <p:spPr bwMode="auto">
          <a:xfrm>
            <a:off x="1516063" y="4610100"/>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29070" name="Rectangle 48"/>
          <p:cNvSpPr>
            <a:spLocks noChangeArrowheads="1"/>
          </p:cNvSpPr>
          <p:nvPr/>
        </p:nvSpPr>
        <p:spPr bwMode="auto">
          <a:xfrm>
            <a:off x="4421188" y="424338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29071" name="Rectangle 49"/>
          <p:cNvSpPr>
            <a:spLocks noChangeArrowheads="1"/>
          </p:cNvSpPr>
          <p:nvPr/>
        </p:nvSpPr>
        <p:spPr bwMode="auto">
          <a:xfrm>
            <a:off x="1516063" y="3935413"/>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29072" name="Rectangle 50"/>
          <p:cNvSpPr>
            <a:spLocks noChangeArrowheads="1"/>
          </p:cNvSpPr>
          <p:nvPr/>
        </p:nvSpPr>
        <p:spPr bwMode="auto">
          <a:xfrm>
            <a:off x="2973388" y="424021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29073" name="Rectangle 51"/>
          <p:cNvSpPr>
            <a:spLocks noChangeArrowheads="1"/>
          </p:cNvSpPr>
          <p:nvPr/>
        </p:nvSpPr>
        <p:spPr bwMode="auto">
          <a:xfrm>
            <a:off x="1516063" y="336391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grpSp>
        <p:nvGrpSpPr>
          <p:cNvPr id="4" name="Group 52"/>
          <p:cNvGrpSpPr/>
          <p:nvPr/>
        </p:nvGrpSpPr>
        <p:grpSpPr>
          <a:xfrm>
            <a:off x="2409825" y="1693863"/>
            <a:ext cx="584200" cy="1276350"/>
            <a:chOff x="1333" y="630"/>
            <a:chExt cx="368" cy="1145"/>
          </a:xfrm>
        </p:grpSpPr>
        <p:sp>
          <p:nvSpPr>
            <p:cNvPr id="129075" name="Line 53"/>
            <p:cNvSpPr>
              <a:spLocks noChangeShapeType="1"/>
            </p:cNvSpPr>
            <p:nvPr/>
          </p:nvSpPr>
          <p:spPr bwMode="auto">
            <a:xfrm>
              <a:off x="1673" y="650"/>
              <a:ext cx="0" cy="1118"/>
            </a:xfrm>
            <a:prstGeom prst="line">
              <a:avLst/>
            </a:prstGeom>
            <a:noFill/>
            <a:ln w="76200">
              <a:solidFill>
                <a:srgbClr val="FF0000"/>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76" name="Line 54"/>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9077" name="Line 55"/>
            <p:cNvSpPr>
              <a:spLocks noChangeShapeType="1"/>
            </p:cNvSpPr>
            <p:nvPr/>
          </p:nvSpPr>
          <p:spPr bwMode="auto">
            <a:xfrm>
              <a:off x="1341" y="1775"/>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9172" name="Rectangle 4"/>
          <p:cNvSpPr>
            <a:spLocks noChangeArrowheads="1"/>
          </p:cNvSpPr>
          <p:nvPr/>
        </p:nvSpPr>
        <p:spPr bwMode="auto">
          <a:xfrm>
            <a:off x="862013" y="1603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5</a:t>
            </a:r>
          </a:p>
        </p:txBody>
      </p:sp>
      <p:sp>
        <p:nvSpPr>
          <p:cNvPr id="130051" name="Rectangle 5"/>
          <p:cNvSpPr>
            <a:spLocks noChangeArrowheads="1"/>
          </p:cNvSpPr>
          <p:nvPr/>
        </p:nvSpPr>
        <p:spPr bwMode="auto">
          <a:xfrm>
            <a:off x="3730625" y="3414713"/>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52" name="Rectangle 6"/>
          <p:cNvSpPr>
            <a:spLocks noChangeArrowheads="1"/>
          </p:cNvSpPr>
          <p:nvPr/>
        </p:nvSpPr>
        <p:spPr bwMode="auto">
          <a:xfrm>
            <a:off x="2927350" y="4341813"/>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53" name="Rectangle 7"/>
          <p:cNvSpPr>
            <a:spLocks noChangeArrowheads="1"/>
          </p:cNvSpPr>
          <p:nvPr/>
        </p:nvSpPr>
        <p:spPr bwMode="auto">
          <a:xfrm>
            <a:off x="5540375" y="2401888"/>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30054" name="Line 8"/>
          <p:cNvSpPr>
            <a:spLocks noChangeShapeType="1"/>
          </p:cNvSpPr>
          <p:nvPr/>
        </p:nvSpPr>
        <p:spPr bwMode="auto">
          <a:xfrm flipV="1">
            <a:off x="3467100" y="3748088"/>
            <a:ext cx="454025" cy="58102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55" name="Line 9"/>
          <p:cNvSpPr>
            <a:spLocks noChangeShapeType="1"/>
          </p:cNvSpPr>
          <p:nvPr/>
        </p:nvSpPr>
        <p:spPr bwMode="auto">
          <a:xfrm flipV="1">
            <a:off x="4214813" y="2746375"/>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56" name="Rectangle 10"/>
          <p:cNvSpPr>
            <a:spLocks noChangeArrowheads="1"/>
          </p:cNvSpPr>
          <p:nvPr/>
        </p:nvSpPr>
        <p:spPr bwMode="auto">
          <a:xfrm>
            <a:off x="3808413" y="3279775"/>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10</a:t>
            </a:r>
          </a:p>
        </p:txBody>
      </p:sp>
      <p:sp>
        <p:nvSpPr>
          <p:cNvPr id="130057" name="Rectangle 11"/>
          <p:cNvSpPr>
            <a:spLocks noChangeArrowheads="1"/>
          </p:cNvSpPr>
          <p:nvPr/>
        </p:nvSpPr>
        <p:spPr bwMode="auto">
          <a:xfrm>
            <a:off x="3076575" y="4329113"/>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p>
        </p:txBody>
      </p:sp>
      <p:grpSp>
        <p:nvGrpSpPr>
          <p:cNvPr id="147466" name="Group 12"/>
          <p:cNvGrpSpPr/>
          <p:nvPr/>
        </p:nvGrpSpPr>
        <p:grpSpPr>
          <a:xfrm>
            <a:off x="4329113" y="3732213"/>
            <a:ext cx="730250" cy="1477962"/>
            <a:chOff x="2915" y="2623"/>
            <a:chExt cx="460" cy="931"/>
          </a:xfrm>
        </p:grpSpPr>
        <p:sp>
          <p:nvSpPr>
            <p:cNvPr id="130059"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60" name="Line 14"/>
            <p:cNvSpPr>
              <a:spLocks noChangeShapeType="1"/>
            </p:cNvSpPr>
            <p:nvPr/>
          </p:nvSpPr>
          <p:spPr bwMode="auto">
            <a:xfrm flipH="1" flipV="1">
              <a:off x="2915" y="2623"/>
              <a:ext cx="273" cy="34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61"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30062" name="Rectangle 16"/>
          <p:cNvSpPr>
            <a:spLocks noChangeArrowheads="1"/>
          </p:cNvSpPr>
          <p:nvPr/>
        </p:nvSpPr>
        <p:spPr bwMode="auto">
          <a:xfrm>
            <a:off x="7008813" y="3424238"/>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63" name="Rectangle 17"/>
          <p:cNvSpPr>
            <a:spLocks noChangeArrowheads="1"/>
          </p:cNvSpPr>
          <p:nvPr/>
        </p:nvSpPr>
        <p:spPr bwMode="auto">
          <a:xfrm>
            <a:off x="6283325" y="4322763"/>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64" name="Rectangle 18"/>
          <p:cNvSpPr>
            <a:spLocks noChangeArrowheads="1"/>
          </p:cNvSpPr>
          <p:nvPr/>
        </p:nvSpPr>
        <p:spPr bwMode="auto">
          <a:xfrm>
            <a:off x="7104063" y="3435350"/>
            <a:ext cx="1100138"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a:ln>
                  <a:noFill/>
                </a:ln>
                <a:solidFill>
                  <a:srgbClr val="FF3300"/>
                </a:solidFill>
                <a:effectLst/>
                <a:uLnTx/>
                <a:uFillTx/>
                <a:latin typeface="+mn-lt"/>
                <a:ea typeface="+mn-ea"/>
                <a:cs typeface="+mn-ea"/>
                <a:sym typeface="+mn-lt"/>
              </a:rPr>
              <a:t> 8</a:t>
            </a:r>
          </a:p>
        </p:txBody>
      </p:sp>
      <p:sp>
        <p:nvSpPr>
          <p:cNvPr id="130065" name="Line 19"/>
          <p:cNvSpPr>
            <a:spLocks noChangeShapeType="1"/>
          </p:cNvSpPr>
          <p:nvPr/>
        </p:nvSpPr>
        <p:spPr bwMode="auto">
          <a:xfrm flipV="1">
            <a:off x="6650038" y="3675063"/>
            <a:ext cx="474663" cy="6096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66" name="Rectangle 20"/>
          <p:cNvSpPr>
            <a:spLocks noChangeArrowheads="1"/>
          </p:cNvSpPr>
          <p:nvPr/>
        </p:nvSpPr>
        <p:spPr bwMode="auto">
          <a:xfrm>
            <a:off x="6432550" y="4357688"/>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30067" name="Rectangle 21"/>
          <p:cNvSpPr>
            <a:spLocks noChangeArrowheads="1"/>
          </p:cNvSpPr>
          <p:nvPr/>
        </p:nvSpPr>
        <p:spPr bwMode="auto">
          <a:xfrm>
            <a:off x="7659688" y="4313238"/>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68" name="Line 22"/>
          <p:cNvSpPr>
            <a:spLocks noChangeShapeType="1"/>
          </p:cNvSpPr>
          <p:nvPr/>
        </p:nvSpPr>
        <p:spPr bwMode="auto">
          <a:xfrm flipH="1" flipV="1">
            <a:off x="7618413" y="3740150"/>
            <a:ext cx="433388" cy="55403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69" name="Rectangle 23"/>
          <p:cNvSpPr>
            <a:spLocks noChangeArrowheads="1"/>
          </p:cNvSpPr>
          <p:nvPr/>
        </p:nvSpPr>
        <p:spPr bwMode="auto">
          <a:xfrm>
            <a:off x="7807325" y="4343400"/>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30070" name="Line 24"/>
          <p:cNvSpPr>
            <a:spLocks noChangeShapeType="1"/>
          </p:cNvSpPr>
          <p:nvPr/>
        </p:nvSpPr>
        <p:spPr bwMode="auto">
          <a:xfrm flipH="1" flipV="1">
            <a:off x="6146800" y="2732088"/>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71" name="Rectangle 25"/>
          <p:cNvSpPr>
            <a:spLocks noChangeArrowheads="1"/>
          </p:cNvSpPr>
          <p:nvPr/>
        </p:nvSpPr>
        <p:spPr bwMode="auto">
          <a:xfrm>
            <a:off x="1441450" y="1608138"/>
            <a:ext cx="812800" cy="4183063"/>
          </a:xfrm>
          <a:prstGeom prst="rect">
            <a:avLst/>
          </a:prstGeom>
          <a:solidFill>
            <a:srgbClr val="6C4C8F"/>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72" name="Line 26"/>
          <p:cNvSpPr>
            <a:spLocks noChangeShapeType="1"/>
          </p:cNvSpPr>
          <p:nvPr/>
        </p:nvSpPr>
        <p:spPr bwMode="auto">
          <a:xfrm>
            <a:off x="1435100" y="215265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73" name="Line 27"/>
          <p:cNvSpPr>
            <a:spLocks noChangeShapeType="1"/>
          </p:cNvSpPr>
          <p:nvPr/>
        </p:nvSpPr>
        <p:spPr bwMode="auto">
          <a:xfrm>
            <a:off x="1435100" y="27701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74" name="Line 28"/>
          <p:cNvSpPr>
            <a:spLocks noChangeShapeType="1"/>
          </p:cNvSpPr>
          <p:nvPr/>
        </p:nvSpPr>
        <p:spPr bwMode="auto">
          <a:xfrm>
            <a:off x="1435100" y="339090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75" name="Line 29"/>
          <p:cNvSpPr>
            <a:spLocks noChangeShapeType="1"/>
          </p:cNvSpPr>
          <p:nvPr/>
        </p:nvSpPr>
        <p:spPr bwMode="auto">
          <a:xfrm>
            <a:off x="1435100" y="40084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76" name="Line 30"/>
          <p:cNvSpPr>
            <a:spLocks noChangeShapeType="1"/>
          </p:cNvSpPr>
          <p:nvPr/>
        </p:nvSpPr>
        <p:spPr bwMode="auto">
          <a:xfrm>
            <a:off x="1435100" y="462915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77" name="Line 31"/>
          <p:cNvSpPr>
            <a:spLocks noChangeShapeType="1"/>
          </p:cNvSpPr>
          <p:nvPr/>
        </p:nvSpPr>
        <p:spPr bwMode="auto">
          <a:xfrm>
            <a:off x="1435100" y="52466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78" name="Rectangle 32"/>
          <p:cNvSpPr>
            <a:spLocks noChangeArrowheads="1"/>
          </p:cNvSpPr>
          <p:nvPr/>
        </p:nvSpPr>
        <p:spPr bwMode="auto">
          <a:xfrm>
            <a:off x="695325" y="1022350"/>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CC0000"/>
                </a:solidFill>
                <a:effectLst/>
                <a:uLnTx/>
                <a:uFillTx/>
                <a:latin typeface="+mn-lt"/>
                <a:ea typeface="+mn-ea"/>
                <a:cs typeface="+mn-ea"/>
                <a:sym typeface="+mn-lt"/>
              </a:rPr>
              <a:t>[ 7 ]</a:t>
            </a:r>
          </a:p>
        </p:txBody>
      </p:sp>
      <p:sp>
        <p:nvSpPr>
          <p:cNvPr id="130079" name="Rectangle 33"/>
          <p:cNvSpPr>
            <a:spLocks noChangeArrowheads="1"/>
          </p:cNvSpPr>
          <p:nvPr/>
        </p:nvSpPr>
        <p:spPr bwMode="auto">
          <a:xfrm>
            <a:off x="7132638" y="3870325"/>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30080" name="Rectangle 34"/>
          <p:cNvSpPr>
            <a:spLocks noChangeArrowheads="1"/>
          </p:cNvSpPr>
          <p:nvPr/>
        </p:nvSpPr>
        <p:spPr bwMode="auto">
          <a:xfrm>
            <a:off x="6332538" y="4789488"/>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30081" name="Line 35"/>
          <p:cNvSpPr>
            <a:spLocks noChangeShapeType="1"/>
          </p:cNvSpPr>
          <p:nvPr/>
        </p:nvSpPr>
        <p:spPr bwMode="auto">
          <a:xfrm>
            <a:off x="2927350" y="2732088"/>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82" name="Rectangle 36"/>
          <p:cNvSpPr>
            <a:spLocks noChangeArrowheads="1"/>
          </p:cNvSpPr>
          <p:nvPr/>
        </p:nvSpPr>
        <p:spPr bwMode="auto">
          <a:xfrm>
            <a:off x="3883025" y="385286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30083" name="Rectangle 37"/>
          <p:cNvSpPr>
            <a:spLocks noChangeArrowheads="1"/>
          </p:cNvSpPr>
          <p:nvPr/>
        </p:nvSpPr>
        <p:spPr bwMode="auto">
          <a:xfrm>
            <a:off x="4443413" y="4357688"/>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30084" name="Rectangle 38"/>
          <p:cNvSpPr>
            <a:spLocks noChangeArrowheads="1"/>
          </p:cNvSpPr>
          <p:nvPr/>
        </p:nvSpPr>
        <p:spPr bwMode="auto">
          <a:xfrm>
            <a:off x="4519613" y="478948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47490" name="Group 39"/>
          <p:cNvGrpSpPr/>
          <p:nvPr/>
        </p:nvGrpSpPr>
        <p:grpSpPr>
          <a:xfrm>
            <a:off x="5432425" y="2405063"/>
            <a:ext cx="739775" cy="449262"/>
            <a:chOff x="3266" y="929"/>
            <a:chExt cx="466" cy="283"/>
          </a:xfrm>
        </p:grpSpPr>
        <p:sp>
          <p:nvSpPr>
            <p:cNvPr id="130086"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0087" name="Rectangle 41"/>
            <p:cNvSpPr>
              <a:spLocks noChangeArrowheads="1"/>
            </p:cNvSpPr>
            <p:nvPr/>
          </p:nvSpPr>
          <p:spPr bwMode="auto">
            <a:xfrm>
              <a:off x="3387" y="942"/>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p:txBody>
        </p:sp>
      </p:grpSp>
      <p:sp>
        <p:nvSpPr>
          <p:cNvPr id="130088" name="Rectangle 42"/>
          <p:cNvSpPr>
            <a:spLocks noChangeArrowheads="1"/>
          </p:cNvSpPr>
          <p:nvPr/>
        </p:nvSpPr>
        <p:spPr bwMode="auto">
          <a:xfrm>
            <a:off x="5535613" y="2844800"/>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1</a:t>
            </a:r>
          </a:p>
        </p:txBody>
      </p:sp>
      <p:sp>
        <p:nvSpPr>
          <p:cNvPr id="130089" name="Rectangle 43"/>
          <p:cNvSpPr>
            <a:spLocks noChangeArrowheads="1"/>
          </p:cNvSpPr>
          <p:nvPr/>
        </p:nvSpPr>
        <p:spPr bwMode="auto">
          <a:xfrm>
            <a:off x="1679575" y="1711325"/>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a:t>
            </a:r>
          </a:p>
        </p:txBody>
      </p:sp>
      <p:sp>
        <p:nvSpPr>
          <p:cNvPr id="130090" name="Rectangle 44"/>
          <p:cNvSpPr>
            <a:spLocks noChangeArrowheads="1"/>
          </p:cNvSpPr>
          <p:nvPr/>
        </p:nvSpPr>
        <p:spPr bwMode="auto">
          <a:xfrm>
            <a:off x="7618413" y="431641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0091" name="Rectangle 45"/>
          <p:cNvSpPr>
            <a:spLocks noChangeArrowheads="1"/>
          </p:cNvSpPr>
          <p:nvPr/>
        </p:nvSpPr>
        <p:spPr bwMode="auto">
          <a:xfrm>
            <a:off x="1457325" y="528955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0092" name="Rectangle 46"/>
          <p:cNvSpPr>
            <a:spLocks noChangeArrowheads="1"/>
          </p:cNvSpPr>
          <p:nvPr/>
        </p:nvSpPr>
        <p:spPr bwMode="auto">
          <a:xfrm>
            <a:off x="6283325" y="431323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0093" name="Rectangle 47"/>
          <p:cNvSpPr>
            <a:spLocks noChangeArrowheads="1"/>
          </p:cNvSpPr>
          <p:nvPr/>
        </p:nvSpPr>
        <p:spPr bwMode="auto">
          <a:xfrm>
            <a:off x="1457325" y="4683125"/>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0094" name="Rectangle 48"/>
          <p:cNvSpPr>
            <a:spLocks noChangeArrowheads="1"/>
          </p:cNvSpPr>
          <p:nvPr/>
        </p:nvSpPr>
        <p:spPr bwMode="auto">
          <a:xfrm>
            <a:off x="4362450" y="431641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0095" name="Rectangle 49"/>
          <p:cNvSpPr>
            <a:spLocks noChangeArrowheads="1"/>
          </p:cNvSpPr>
          <p:nvPr/>
        </p:nvSpPr>
        <p:spPr bwMode="auto">
          <a:xfrm>
            <a:off x="1457325" y="4008438"/>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0096" name="Rectangle 50"/>
          <p:cNvSpPr>
            <a:spLocks noChangeArrowheads="1"/>
          </p:cNvSpPr>
          <p:nvPr/>
        </p:nvSpPr>
        <p:spPr bwMode="auto">
          <a:xfrm>
            <a:off x="2914650" y="431323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0097" name="Rectangle 51"/>
          <p:cNvSpPr>
            <a:spLocks noChangeArrowheads="1"/>
          </p:cNvSpPr>
          <p:nvPr/>
        </p:nvSpPr>
        <p:spPr bwMode="auto">
          <a:xfrm>
            <a:off x="1457325" y="3436938"/>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0098" name="Rectangle 56"/>
          <p:cNvSpPr>
            <a:spLocks noChangeArrowheads="1"/>
          </p:cNvSpPr>
          <p:nvPr/>
        </p:nvSpPr>
        <p:spPr bwMode="auto">
          <a:xfrm>
            <a:off x="6942138" y="3414713"/>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sp>
        <p:nvSpPr>
          <p:cNvPr id="130099" name="Rectangle 57"/>
          <p:cNvSpPr>
            <a:spLocks noChangeArrowheads="1"/>
          </p:cNvSpPr>
          <p:nvPr/>
        </p:nvSpPr>
        <p:spPr bwMode="auto">
          <a:xfrm>
            <a:off x="1463675" y="2846388"/>
            <a:ext cx="796925"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spTree>
  </p:cSld>
  <p:clrMapOvr>
    <a:masterClrMapping/>
  </p:clrMapOvr>
  <p:transition spd="slow"/>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4292" name="Rectangle 4"/>
          <p:cNvSpPr>
            <a:spLocks noChangeArrowheads="1"/>
          </p:cNvSpPr>
          <p:nvPr/>
        </p:nvSpPr>
        <p:spPr bwMode="auto">
          <a:xfrm>
            <a:off x="844550" y="1603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5</a:t>
            </a:r>
          </a:p>
        </p:txBody>
      </p:sp>
      <p:sp>
        <p:nvSpPr>
          <p:cNvPr id="131075" name="Rectangle 5"/>
          <p:cNvSpPr>
            <a:spLocks noChangeArrowheads="1"/>
          </p:cNvSpPr>
          <p:nvPr/>
        </p:nvSpPr>
        <p:spPr bwMode="auto">
          <a:xfrm>
            <a:off x="3730625" y="3559175"/>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76" name="Rectangle 6"/>
          <p:cNvSpPr>
            <a:spLocks noChangeArrowheads="1"/>
          </p:cNvSpPr>
          <p:nvPr/>
        </p:nvSpPr>
        <p:spPr bwMode="auto">
          <a:xfrm>
            <a:off x="2927350" y="4486275"/>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77" name="Rectangle 7"/>
          <p:cNvSpPr>
            <a:spLocks noChangeArrowheads="1"/>
          </p:cNvSpPr>
          <p:nvPr/>
        </p:nvSpPr>
        <p:spPr bwMode="auto">
          <a:xfrm>
            <a:off x="5540375" y="2546350"/>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31078" name="Line 8"/>
          <p:cNvSpPr>
            <a:spLocks noChangeShapeType="1"/>
          </p:cNvSpPr>
          <p:nvPr/>
        </p:nvSpPr>
        <p:spPr bwMode="auto">
          <a:xfrm flipV="1">
            <a:off x="3467100" y="4033838"/>
            <a:ext cx="376238" cy="43973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79" name="Line 9"/>
          <p:cNvSpPr>
            <a:spLocks noChangeShapeType="1"/>
          </p:cNvSpPr>
          <p:nvPr/>
        </p:nvSpPr>
        <p:spPr bwMode="auto">
          <a:xfrm flipV="1">
            <a:off x="4214813" y="2890838"/>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80" name="Rectangle 10"/>
          <p:cNvSpPr>
            <a:spLocks noChangeArrowheads="1"/>
          </p:cNvSpPr>
          <p:nvPr/>
        </p:nvSpPr>
        <p:spPr bwMode="auto">
          <a:xfrm>
            <a:off x="3808413" y="3424238"/>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FF3300"/>
                </a:solidFill>
                <a:effectLst/>
                <a:uLnTx/>
                <a:uFillTx/>
                <a:latin typeface="+mn-lt"/>
                <a:ea typeface="+mn-ea"/>
                <a:cs typeface="+mn-ea"/>
                <a:sym typeface="+mn-lt"/>
              </a:rPr>
              <a:t>10</a:t>
            </a:r>
          </a:p>
        </p:txBody>
      </p:sp>
      <p:sp>
        <p:nvSpPr>
          <p:cNvPr id="131081" name="Rectangle 11"/>
          <p:cNvSpPr>
            <a:spLocks noChangeArrowheads="1"/>
          </p:cNvSpPr>
          <p:nvPr/>
        </p:nvSpPr>
        <p:spPr bwMode="auto">
          <a:xfrm>
            <a:off x="3076575" y="4473575"/>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p>
        </p:txBody>
      </p:sp>
      <p:grpSp>
        <p:nvGrpSpPr>
          <p:cNvPr id="148490" name="Group 12"/>
          <p:cNvGrpSpPr/>
          <p:nvPr/>
        </p:nvGrpSpPr>
        <p:grpSpPr>
          <a:xfrm>
            <a:off x="4370388" y="3990975"/>
            <a:ext cx="688975" cy="1363663"/>
            <a:chOff x="2941" y="2695"/>
            <a:chExt cx="434" cy="859"/>
          </a:xfrm>
        </p:grpSpPr>
        <p:sp>
          <p:nvSpPr>
            <p:cNvPr id="131083"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84" name="Line 14"/>
            <p:cNvSpPr>
              <a:spLocks noChangeShapeType="1"/>
            </p:cNvSpPr>
            <p:nvPr/>
          </p:nvSpPr>
          <p:spPr bwMode="auto">
            <a:xfrm flipH="1" flipV="1">
              <a:off x="2987" y="2695"/>
              <a:ext cx="201" cy="277"/>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85"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31086" name="Rectangle 16"/>
          <p:cNvSpPr>
            <a:spLocks noChangeArrowheads="1"/>
          </p:cNvSpPr>
          <p:nvPr/>
        </p:nvSpPr>
        <p:spPr bwMode="auto">
          <a:xfrm>
            <a:off x="7008813" y="3568700"/>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87" name="Rectangle 17"/>
          <p:cNvSpPr>
            <a:spLocks noChangeArrowheads="1"/>
          </p:cNvSpPr>
          <p:nvPr/>
        </p:nvSpPr>
        <p:spPr bwMode="auto">
          <a:xfrm>
            <a:off x="6283325" y="4467225"/>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88" name="Rectangle 18"/>
          <p:cNvSpPr>
            <a:spLocks noChangeArrowheads="1"/>
          </p:cNvSpPr>
          <p:nvPr/>
        </p:nvSpPr>
        <p:spPr bwMode="auto">
          <a:xfrm>
            <a:off x="7104063" y="3579813"/>
            <a:ext cx="1100138"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a:ln>
                  <a:noFill/>
                </a:ln>
                <a:solidFill>
                  <a:srgbClr val="FF3300"/>
                </a:solidFill>
                <a:effectLst/>
                <a:uLnTx/>
                <a:uFillTx/>
                <a:latin typeface="+mn-lt"/>
                <a:ea typeface="+mn-ea"/>
                <a:cs typeface="+mn-ea"/>
                <a:sym typeface="+mn-lt"/>
              </a:rPr>
              <a:t> 8</a:t>
            </a:r>
          </a:p>
        </p:txBody>
      </p:sp>
      <p:sp>
        <p:nvSpPr>
          <p:cNvPr id="131089" name="Line 19"/>
          <p:cNvSpPr>
            <a:spLocks noChangeShapeType="1"/>
          </p:cNvSpPr>
          <p:nvPr/>
        </p:nvSpPr>
        <p:spPr bwMode="auto">
          <a:xfrm flipV="1">
            <a:off x="6650038" y="3819525"/>
            <a:ext cx="474663" cy="6096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90" name="Rectangle 20"/>
          <p:cNvSpPr>
            <a:spLocks noChangeArrowheads="1"/>
          </p:cNvSpPr>
          <p:nvPr/>
        </p:nvSpPr>
        <p:spPr bwMode="auto">
          <a:xfrm>
            <a:off x="6432550" y="4502150"/>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31091" name="Rectangle 21"/>
          <p:cNvSpPr>
            <a:spLocks noChangeArrowheads="1"/>
          </p:cNvSpPr>
          <p:nvPr/>
        </p:nvSpPr>
        <p:spPr bwMode="auto">
          <a:xfrm>
            <a:off x="7659688" y="4457700"/>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92" name="Line 22"/>
          <p:cNvSpPr>
            <a:spLocks noChangeShapeType="1"/>
          </p:cNvSpPr>
          <p:nvPr/>
        </p:nvSpPr>
        <p:spPr bwMode="auto">
          <a:xfrm flipH="1" flipV="1">
            <a:off x="7618413" y="3884613"/>
            <a:ext cx="433388" cy="55403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93" name="Rectangle 23"/>
          <p:cNvSpPr>
            <a:spLocks noChangeArrowheads="1"/>
          </p:cNvSpPr>
          <p:nvPr/>
        </p:nvSpPr>
        <p:spPr bwMode="auto">
          <a:xfrm>
            <a:off x="7807325" y="4487863"/>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31094" name="Line 24"/>
          <p:cNvSpPr>
            <a:spLocks noChangeShapeType="1"/>
          </p:cNvSpPr>
          <p:nvPr/>
        </p:nvSpPr>
        <p:spPr bwMode="auto">
          <a:xfrm flipH="1" flipV="1">
            <a:off x="6146800" y="2876550"/>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95" name="Rectangle 25"/>
          <p:cNvSpPr>
            <a:spLocks noChangeArrowheads="1"/>
          </p:cNvSpPr>
          <p:nvPr/>
        </p:nvSpPr>
        <p:spPr bwMode="auto">
          <a:xfrm>
            <a:off x="1441450" y="1752600"/>
            <a:ext cx="812800" cy="4183063"/>
          </a:xfrm>
          <a:prstGeom prst="rect">
            <a:avLst/>
          </a:prstGeom>
          <a:solidFill>
            <a:schemeClr val="accent1">
              <a:lumMod val="60000"/>
              <a:lumOff val="40000"/>
            </a:schemeClr>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96" name="Line 26"/>
          <p:cNvSpPr>
            <a:spLocks noChangeShapeType="1"/>
          </p:cNvSpPr>
          <p:nvPr/>
        </p:nvSpPr>
        <p:spPr bwMode="auto">
          <a:xfrm>
            <a:off x="1435100" y="22971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97" name="Line 27"/>
          <p:cNvSpPr>
            <a:spLocks noChangeShapeType="1"/>
          </p:cNvSpPr>
          <p:nvPr/>
        </p:nvSpPr>
        <p:spPr bwMode="auto">
          <a:xfrm>
            <a:off x="1435100" y="291465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98" name="Line 28"/>
          <p:cNvSpPr>
            <a:spLocks noChangeShapeType="1"/>
          </p:cNvSpPr>
          <p:nvPr/>
        </p:nvSpPr>
        <p:spPr bwMode="auto">
          <a:xfrm>
            <a:off x="1435100" y="353536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099" name="Line 29"/>
          <p:cNvSpPr>
            <a:spLocks noChangeShapeType="1"/>
          </p:cNvSpPr>
          <p:nvPr/>
        </p:nvSpPr>
        <p:spPr bwMode="auto">
          <a:xfrm>
            <a:off x="1435100" y="415290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100" name="Line 30"/>
          <p:cNvSpPr>
            <a:spLocks noChangeShapeType="1"/>
          </p:cNvSpPr>
          <p:nvPr/>
        </p:nvSpPr>
        <p:spPr bwMode="auto">
          <a:xfrm>
            <a:off x="1435100" y="47736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101" name="Line 31"/>
          <p:cNvSpPr>
            <a:spLocks noChangeShapeType="1"/>
          </p:cNvSpPr>
          <p:nvPr/>
        </p:nvSpPr>
        <p:spPr bwMode="auto">
          <a:xfrm>
            <a:off x="1435100" y="5391150"/>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102" name="Rectangle 32"/>
          <p:cNvSpPr>
            <a:spLocks noChangeArrowheads="1"/>
          </p:cNvSpPr>
          <p:nvPr/>
        </p:nvSpPr>
        <p:spPr bwMode="auto">
          <a:xfrm>
            <a:off x="695325" y="1157288"/>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31103" name="Rectangle 33"/>
          <p:cNvSpPr>
            <a:spLocks noChangeArrowheads="1"/>
          </p:cNvSpPr>
          <p:nvPr/>
        </p:nvSpPr>
        <p:spPr bwMode="auto">
          <a:xfrm>
            <a:off x="7132638" y="4014788"/>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31104" name="Rectangle 34"/>
          <p:cNvSpPr>
            <a:spLocks noChangeArrowheads="1"/>
          </p:cNvSpPr>
          <p:nvPr/>
        </p:nvSpPr>
        <p:spPr bwMode="auto">
          <a:xfrm>
            <a:off x="6332538" y="4933950"/>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31105" name="Line 35"/>
          <p:cNvSpPr>
            <a:spLocks noChangeShapeType="1"/>
          </p:cNvSpPr>
          <p:nvPr/>
        </p:nvSpPr>
        <p:spPr bwMode="auto">
          <a:xfrm>
            <a:off x="2927350" y="2876550"/>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106" name="Rectangle 36"/>
          <p:cNvSpPr>
            <a:spLocks noChangeArrowheads="1"/>
          </p:cNvSpPr>
          <p:nvPr/>
        </p:nvSpPr>
        <p:spPr bwMode="auto">
          <a:xfrm>
            <a:off x="3883025" y="399732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31107" name="Rectangle 37"/>
          <p:cNvSpPr>
            <a:spLocks noChangeArrowheads="1"/>
          </p:cNvSpPr>
          <p:nvPr/>
        </p:nvSpPr>
        <p:spPr bwMode="auto">
          <a:xfrm>
            <a:off x="4443413" y="4502150"/>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31108" name="Rectangle 38"/>
          <p:cNvSpPr>
            <a:spLocks noChangeArrowheads="1"/>
          </p:cNvSpPr>
          <p:nvPr/>
        </p:nvSpPr>
        <p:spPr bwMode="auto">
          <a:xfrm>
            <a:off x="4519613" y="4933950"/>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48514" name="Group 39"/>
          <p:cNvGrpSpPr/>
          <p:nvPr/>
        </p:nvGrpSpPr>
        <p:grpSpPr>
          <a:xfrm>
            <a:off x="5432425" y="2549525"/>
            <a:ext cx="739775" cy="449263"/>
            <a:chOff x="3266" y="929"/>
            <a:chExt cx="466" cy="283"/>
          </a:xfrm>
        </p:grpSpPr>
        <p:sp>
          <p:nvSpPr>
            <p:cNvPr id="131110"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1111" name="Rectangle 41"/>
            <p:cNvSpPr>
              <a:spLocks noChangeArrowheads="1"/>
            </p:cNvSpPr>
            <p:nvPr/>
          </p:nvSpPr>
          <p:spPr bwMode="auto">
            <a:xfrm>
              <a:off x="3449" y="942"/>
              <a:ext cx="267" cy="24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p:txBody>
        </p:sp>
      </p:grpSp>
      <p:sp>
        <p:nvSpPr>
          <p:cNvPr id="131112" name="Rectangle 42"/>
          <p:cNvSpPr>
            <a:spLocks noChangeArrowheads="1"/>
          </p:cNvSpPr>
          <p:nvPr/>
        </p:nvSpPr>
        <p:spPr bwMode="auto">
          <a:xfrm>
            <a:off x="5676900" y="303053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sp>
        <p:nvSpPr>
          <p:cNvPr id="131113" name="Rectangle 43"/>
          <p:cNvSpPr>
            <a:spLocks noChangeArrowheads="1"/>
          </p:cNvSpPr>
          <p:nvPr/>
        </p:nvSpPr>
        <p:spPr bwMode="auto">
          <a:xfrm>
            <a:off x="1651000" y="1855788"/>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10</a:t>
            </a:r>
          </a:p>
        </p:txBody>
      </p:sp>
      <p:sp>
        <p:nvSpPr>
          <p:cNvPr id="131114" name="Rectangle 44"/>
          <p:cNvSpPr>
            <a:spLocks noChangeArrowheads="1"/>
          </p:cNvSpPr>
          <p:nvPr/>
        </p:nvSpPr>
        <p:spPr bwMode="auto">
          <a:xfrm>
            <a:off x="7618413" y="44608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1115" name="Rectangle 45"/>
          <p:cNvSpPr>
            <a:spLocks noChangeArrowheads="1"/>
          </p:cNvSpPr>
          <p:nvPr/>
        </p:nvSpPr>
        <p:spPr bwMode="auto">
          <a:xfrm>
            <a:off x="1457325" y="5434013"/>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1116" name="Rectangle 46"/>
          <p:cNvSpPr>
            <a:spLocks noChangeArrowheads="1"/>
          </p:cNvSpPr>
          <p:nvPr/>
        </p:nvSpPr>
        <p:spPr bwMode="auto">
          <a:xfrm>
            <a:off x="6283325" y="44577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1117" name="Rectangle 47"/>
          <p:cNvSpPr>
            <a:spLocks noChangeArrowheads="1"/>
          </p:cNvSpPr>
          <p:nvPr/>
        </p:nvSpPr>
        <p:spPr bwMode="auto">
          <a:xfrm>
            <a:off x="1457325" y="4827588"/>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1118" name="Rectangle 48"/>
          <p:cNvSpPr>
            <a:spLocks noChangeArrowheads="1"/>
          </p:cNvSpPr>
          <p:nvPr/>
        </p:nvSpPr>
        <p:spPr bwMode="auto">
          <a:xfrm>
            <a:off x="4362450" y="44608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1119" name="Rectangle 49"/>
          <p:cNvSpPr>
            <a:spLocks noChangeArrowheads="1"/>
          </p:cNvSpPr>
          <p:nvPr/>
        </p:nvSpPr>
        <p:spPr bwMode="auto">
          <a:xfrm>
            <a:off x="1457325" y="4152900"/>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1120" name="Rectangle 50"/>
          <p:cNvSpPr>
            <a:spLocks noChangeArrowheads="1"/>
          </p:cNvSpPr>
          <p:nvPr/>
        </p:nvSpPr>
        <p:spPr bwMode="auto">
          <a:xfrm>
            <a:off x="2914650" y="44577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1121" name="Rectangle 51"/>
          <p:cNvSpPr>
            <a:spLocks noChangeArrowheads="1"/>
          </p:cNvSpPr>
          <p:nvPr/>
        </p:nvSpPr>
        <p:spPr bwMode="auto">
          <a:xfrm>
            <a:off x="1457325" y="35814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1122" name="Rectangle 52"/>
          <p:cNvSpPr>
            <a:spLocks noChangeArrowheads="1"/>
          </p:cNvSpPr>
          <p:nvPr/>
        </p:nvSpPr>
        <p:spPr bwMode="auto">
          <a:xfrm>
            <a:off x="6942138" y="35591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sp>
        <p:nvSpPr>
          <p:cNvPr id="131123" name="Rectangle 53"/>
          <p:cNvSpPr>
            <a:spLocks noChangeArrowheads="1"/>
          </p:cNvSpPr>
          <p:nvPr/>
        </p:nvSpPr>
        <p:spPr bwMode="auto">
          <a:xfrm>
            <a:off x="1463675" y="2990850"/>
            <a:ext cx="757238"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spTree>
  </p:cSld>
  <p:clrMapOvr>
    <a:masterClrMapping/>
  </p:clrMapOvr>
  <p:transition spd="slow"/>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5316" name="Rectangle 4"/>
          <p:cNvSpPr>
            <a:spLocks noChangeArrowheads="1"/>
          </p:cNvSpPr>
          <p:nvPr/>
        </p:nvSpPr>
        <p:spPr bwMode="auto">
          <a:xfrm>
            <a:off x="760413" y="160338"/>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5</a:t>
            </a:r>
          </a:p>
        </p:txBody>
      </p:sp>
      <p:sp>
        <p:nvSpPr>
          <p:cNvPr id="132099" name="Rectangle 5"/>
          <p:cNvSpPr>
            <a:spLocks noChangeArrowheads="1"/>
          </p:cNvSpPr>
          <p:nvPr/>
        </p:nvSpPr>
        <p:spPr bwMode="auto">
          <a:xfrm>
            <a:off x="3482975" y="3486150"/>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00" name="Rectangle 6"/>
          <p:cNvSpPr>
            <a:spLocks noChangeArrowheads="1"/>
          </p:cNvSpPr>
          <p:nvPr/>
        </p:nvSpPr>
        <p:spPr bwMode="auto">
          <a:xfrm>
            <a:off x="2679700" y="4413250"/>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01" name="Rectangle 7"/>
          <p:cNvSpPr>
            <a:spLocks noChangeArrowheads="1"/>
          </p:cNvSpPr>
          <p:nvPr/>
        </p:nvSpPr>
        <p:spPr bwMode="auto">
          <a:xfrm>
            <a:off x="5292725" y="2473325"/>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32102" name="Line 8"/>
          <p:cNvSpPr>
            <a:spLocks noChangeShapeType="1"/>
          </p:cNvSpPr>
          <p:nvPr/>
        </p:nvSpPr>
        <p:spPr bwMode="auto">
          <a:xfrm flipV="1">
            <a:off x="3219450" y="3924300"/>
            <a:ext cx="295275" cy="47625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03" name="Line 9"/>
          <p:cNvSpPr>
            <a:spLocks noChangeShapeType="1"/>
          </p:cNvSpPr>
          <p:nvPr/>
        </p:nvSpPr>
        <p:spPr bwMode="auto">
          <a:xfrm flipV="1">
            <a:off x="3967163" y="2817813"/>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04" name="Rectangle 10"/>
          <p:cNvSpPr>
            <a:spLocks noChangeArrowheads="1"/>
          </p:cNvSpPr>
          <p:nvPr/>
        </p:nvSpPr>
        <p:spPr bwMode="auto">
          <a:xfrm>
            <a:off x="3633788" y="3363913"/>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FF3300"/>
                </a:solidFill>
                <a:effectLst/>
                <a:uLnTx/>
                <a:uFillTx/>
                <a:latin typeface="+mn-lt"/>
                <a:ea typeface="+mn-ea"/>
                <a:cs typeface="+mn-ea"/>
                <a:sym typeface="+mn-lt"/>
              </a:rPr>
              <a:t>8</a:t>
            </a:r>
          </a:p>
        </p:txBody>
      </p:sp>
      <p:sp>
        <p:nvSpPr>
          <p:cNvPr id="132105" name="Rectangle 11"/>
          <p:cNvSpPr>
            <a:spLocks noChangeArrowheads="1"/>
          </p:cNvSpPr>
          <p:nvPr/>
        </p:nvSpPr>
        <p:spPr bwMode="auto">
          <a:xfrm>
            <a:off x="2828925" y="4400550"/>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p>
        </p:txBody>
      </p:sp>
      <p:grpSp>
        <p:nvGrpSpPr>
          <p:cNvPr id="149514" name="Group 12"/>
          <p:cNvGrpSpPr/>
          <p:nvPr/>
        </p:nvGrpSpPr>
        <p:grpSpPr>
          <a:xfrm>
            <a:off x="4122738" y="3917950"/>
            <a:ext cx="688975" cy="1363663"/>
            <a:chOff x="2941" y="2695"/>
            <a:chExt cx="434" cy="859"/>
          </a:xfrm>
        </p:grpSpPr>
        <p:sp>
          <p:nvSpPr>
            <p:cNvPr id="132107"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08" name="Line 14"/>
            <p:cNvSpPr>
              <a:spLocks noChangeShapeType="1"/>
            </p:cNvSpPr>
            <p:nvPr/>
          </p:nvSpPr>
          <p:spPr bwMode="auto">
            <a:xfrm flipH="1" flipV="1">
              <a:off x="3009" y="2695"/>
              <a:ext cx="179" cy="277"/>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09"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32110" name="Rectangle 16"/>
          <p:cNvSpPr>
            <a:spLocks noChangeArrowheads="1"/>
          </p:cNvSpPr>
          <p:nvPr/>
        </p:nvSpPr>
        <p:spPr bwMode="auto">
          <a:xfrm>
            <a:off x="6761163" y="3495675"/>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11" name="Rectangle 17"/>
          <p:cNvSpPr>
            <a:spLocks noChangeArrowheads="1"/>
          </p:cNvSpPr>
          <p:nvPr/>
        </p:nvSpPr>
        <p:spPr bwMode="auto">
          <a:xfrm>
            <a:off x="6035675" y="4394200"/>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12" name="Rectangle 18"/>
          <p:cNvSpPr>
            <a:spLocks noChangeArrowheads="1"/>
          </p:cNvSpPr>
          <p:nvPr/>
        </p:nvSpPr>
        <p:spPr bwMode="auto">
          <a:xfrm>
            <a:off x="6856413" y="3506788"/>
            <a:ext cx="1100138"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a:ln>
                  <a:noFill/>
                </a:ln>
                <a:solidFill>
                  <a:srgbClr val="FF3300"/>
                </a:solidFill>
                <a:effectLst/>
                <a:uLnTx/>
                <a:uFillTx/>
                <a:latin typeface="+mn-lt"/>
                <a:ea typeface="+mn-ea"/>
                <a:cs typeface="+mn-ea"/>
                <a:sym typeface="+mn-lt"/>
              </a:rPr>
              <a:t> 8</a:t>
            </a:r>
          </a:p>
        </p:txBody>
      </p:sp>
      <p:sp>
        <p:nvSpPr>
          <p:cNvPr id="132113" name="Line 19"/>
          <p:cNvSpPr>
            <a:spLocks noChangeShapeType="1"/>
          </p:cNvSpPr>
          <p:nvPr/>
        </p:nvSpPr>
        <p:spPr bwMode="auto">
          <a:xfrm flipV="1">
            <a:off x="6402388" y="3746500"/>
            <a:ext cx="474663" cy="6096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14" name="Rectangle 20"/>
          <p:cNvSpPr>
            <a:spLocks noChangeArrowheads="1"/>
          </p:cNvSpPr>
          <p:nvPr/>
        </p:nvSpPr>
        <p:spPr bwMode="auto">
          <a:xfrm>
            <a:off x="6184900" y="4429125"/>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32115" name="Rectangle 21"/>
          <p:cNvSpPr>
            <a:spLocks noChangeArrowheads="1"/>
          </p:cNvSpPr>
          <p:nvPr/>
        </p:nvSpPr>
        <p:spPr bwMode="auto">
          <a:xfrm>
            <a:off x="7412038" y="4384675"/>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16" name="Line 22"/>
          <p:cNvSpPr>
            <a:spLocks noChangeShapeType="1"/>
          </p:cNvSpPr>
          <p:nvPr/>
        </p:nvSpPr>
        <p:spPr bwMode="auto">
          <a:xfrm flipH="1" flipV="1">
            <a:off x="7370763" y="3811588"/>
            <a:ext cx="433388" cy="55403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17" name="Rectangle 23"/>
          <p:cNvSpPr>
            <a:spLocks noChangeArrowheads="1"/>
          </p:cNvSpPr>
          <p:nvPr/>
        </p:nvSpPr>
        <p:spPr bwMode="auto">
          <a:xfrm>
            <a:off x="7559675" y="4414838"/>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32118" name="Line 24"/>
          <p:cNvSpPr>
            <a:spLocks noChangeShapeType="1"/>
          </p:cNvSpPr>
          <p:nvPr/>
        </p:nvSpPr>
        <p:spPr bwMode="auto">
          <a:xfrm flipH="1" flipV="1">
            <a:off x="5899150" y="2803525"/>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19" name="Rectangle 25"/>
          <p:cNvSpPr>
            <a:spLocks noChangeArrowheads="1"/>
          </p:cNvSpPr>
          <p:nvPr/>
        </p:nvSpPr>
        <p:spPr bwMode="auto">
          <a:xfrm>
            <a:off x="1193800" y="1679575"/>
            <a:ext cx="812800" cy="4183063"/>
          </a:xfrm>
          <a:prstGeom prst="rect">
            <a:avLst/>
          </a:prstGeom>
          <a:solidFill>
            <a:schemeClr val="accent1">
              <a:lumMod val="60000"/>
              <a:lumOff val="40000"/>
            </a:schemeClr>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20" name="Line 26"/>
          <p:cNvSpPr>
            <a:spLocks noChangeShapeType="1"/>
          </p:cNvSpPr>
          <p:nvPr/>
        </p:nvSpPr>
        <p:spPr bwMode="auto">
          <a:xfrm>
            <a:off x="1187450" y="22240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21" name="Line 27"/>
          <p:cNvSpPr>
            <a:spLocks noChangeShapeType="1"/>
          </p:cNvSpPr>
          <p:nvPr/>
        </p:nvSpPr>
        <p:spPr bwMode="auto">
          <a:xfrm>
            <a:off x="1187450" y="28416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22" name="Line 28"/>
          <p:cNvSpPr>
            <a:spLocks noChangeShapeType="1"/>
          </p:cNvSpPr>
          <p:nvPr/>
        </p:nvSpPr>
        <p:spPr bwMode="auto">
          <a:xfrm>
            <a:off x="1187450" y="34623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23" name="Line 29"/>
          <p:cNvSpPr>
            <a:spLocks noChangeShapeType="1"/>
          </p:cNvSpPr>
          <p:nvPr/>
        </p:nvSpPr>
        <p:spPr bwMode="auto">
          <a:xfrm>
            <a:off x="1187450" y="40798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24" name="Line 30"/>
          <p:cNvSpPr>
            <a:spLocks noChangeShapeType="1"/>
          </p:cNvSpPr>
          <p:nvPr/>
        </p:nvSpPr>
        <p:spPr bwMode="auto">
          <a:xfrm>
            <a:off x="1187450" y="47005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25" name="Line 31"/>
          <p:cNvSpPr>
            <a:spLocks noChangeShapeType="1"/>
          </p:cNvSpPr>
          <p:nvPr/>
        </p:nvSpPr>
        <p:spPr bwMode="auto">
          <a:xfrm>
            <a:off x="1187450" y="53181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26" name="Rectangle 32"/>
          <p:cNvSpPr>
            <a:spLocks noChangeArrowheads="1"/>
          </p:cNvSpPr>
          <p:nvPr/>
        </p:nvSpPr>
        <p:spPr bwMode="auto">
          <a:xfrm>
            <a:off x="447675" y="1084263"/>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32127" name="Rectangle 33"/>
          <p:cNvSpPr>
            <a:spLocks noChangeArrowheads="1"/>
          </p:cNvSpPr>
          <p:nvPr/>
        </p:nvSpPr>
        <p:spPr bwMode="auto">
          <a:xfrm>
            <a:off x="6884988" y="3941763"/>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32128" name="Rectangle 34"/>
          <p:cNvSpPr>
            <a:spLocks noChangeArrowheads="1"/>
          </p:cNvSpPr>
          <p:nvPr/>
        </p:nvSpPr>
        <p:spPr bwMode="auto">
          <a:xfrm>
            <a:off x="6084888" y="4860925"/>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32129" name="Line 35"/>
          <p:cNvSpPr>
            <a:spLocks noChangeShapeType="1"/>
          </p:cNvSpPr>
          <p:nvPr/>
        </p:nvSpPr>
        <p:spPr bwMode="auto">
          <a:xfrm>
            <a:off x="2679700" y="2803525"/>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30" name="Rectangle 36"/>
          <p:cNvSpPr>
            <a:spLocks noChangeArrowheads="1"/>
          </p:cNvSpPr>
          <p:nvPr/>
        </p:nvSpPr>
        <p:spPr bwMode="auto">
          <a:xfrm>
            <a:off x="3692525" y="3967163"/>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2</a:t>
            </a:r>
          </a:p>
        </p:txBody>
      </p:sp>
      <p:sp>
        <p:nvSpPr>
          <p:cNvPr id="132131" name="Rectangle 37"/>
          <p:cNvSpPr>
            <a:spLocks noChangeArrowheads="1"/>
          </p:cNvSpPr>
          <p:nvPr/>
        </p:nvSpPr>
        <p:spPr bwMode="auto">
          <a:xfrm>
            <a:off x="4195763" y="4429125"/>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32132" name="Rectangle 38"/>
          <p:cNvSpPr>
            <a:spLocks noChangeArrowheads="1"/>
          </p:cNvSpPr>
          <p:nvPr/>
        </p:nvSpPr>
        <p:spPr bwMode="auto">
          <a:xfrm>
            <a:off x="4271963" y="486092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49538" name="Group 39"/>
          <p:cNvGrpSpPr/>
          <p:nvPr/>
        </p:nvGrpSpPr>
        <p:grpSpPr>
          <a:xfrm>
            <a:off x="5184775" y="2476500"/>
            <a:ext cx="739775" cy="449263"/>
            <a:chOff x="3266" y="929"/>
            <a:chExt cx="466" cy="283"/>
          </a:xfrm>
        </p:grpSpPr>
        <p:sp>
          <p:nvSpPr>
            <p:cNvPr id="132134"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2135" name="Rectangle 41"/>
            <p:cNvSpPr>
              <a:spLocks noChangeArrowheads="1"/>
            </p:cNvSpPr>
            <p:nvPr/>
          </p:nvSpPr>
          <p:spPr bwMode="auto">
            <a:xfrm>
              <a:off x="3387" y="969"/>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10</a:t>
              </a:r>
            </a:p>
          </p:txBody>
        </p:sp>
      </p:grpSp>
      <p:sp>
        <p:nvSpPr>
          <p:cNvPr id="132136" name="Rectangle 42"/>
          <p:cNvSpPr>
            <a:spLocks noChangeArrowheads="1"/>
          </p:cNvSpPr>
          <p:nvPr/>
        </p:nvSpPr>
        <p:spPr bwMode="auto">
          <a:xfrm>
            <a:off x="5402263" y="2940050"/>
            <a:ext cx="5143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dirty="0">
                <a:ln>
                  <a:noFill/>
                </a:ln>
                <a:solidFill>
                  <a:srgbClr val="CC0000"/>
                </a:solidFill>
                <a:effectLst/>
                <a:uLnTx/>
                <a:uFillTx/>
                <a:latin typeface="+mn-lt"/>
                <a:ea typeface="+mn-ea"/>
                <a:cs typeface="+mn-ea"/>
                <a:sym typeface="+mn-lt"/>
              </a:rPr>
              <a:t>1</a:t>
            </a:r>
          </a:p>
        </p:txBody>
      </p:sp>
      <p:sp>
        <p:nvSpPr>
          <p:cNvPr id="132137" name="Rectangle 43"/>
          <p:cNvSpPr>
            <a:spLocks noChangeArrowheads="1"/>
          </p:cNvSpPr>
          <p:nvPr/>
        </p:nvSpPr>
        <p:spPr bwMode="auto">
          <a:xfrm>
            <a:off x="1431925" y="1782763"/>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a:t>
            </a:r>
          </a:p>
        </p:txBody>
      </p:sp>
      <p:sp>
        <p:nvSpPr>
          <p:cNvPr id="132138" name="Rectangle 44"/>
          <p:cNvSpPr>
            <a:spLocks noChangeArrowheads="1"/>
          </p:cNvSpPr>
          <p:nvPr/>
        </p:nvSpPr>
        <p:spPr bwMode="auto">
          <a:xfrm>
            <a:off x="7370763" y="438785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2139" name="Rectangle 45"/>
          <p:cNvSpPr>
            <a:spLocks noChangeArrowheads="1"/>
          </p:cNvSpPr>
          <p:nvPr/>
        </p:nvSpPr>
        <p:spPr bwMode="auto">
          <a:xfrm>
            <a:off x="1209675" y="5360988"/>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2140" name="Rectangle 46"/>
          <p:cNvSpPr>
            <a:spLocks noChangeArrowheads="1"/>
          </p:cNvSpPr>
          <p:nvPr/>
        </p:nvSpPr>
        <p:spPr bwMode="auto">
          <a:xfrm>
            <a:off x="6035675" y="43846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2141" name="Rectangle 47"/>
          <p:cNvSpPr>
            <a:spLocks noChangeArrowheads="1"/>
          </p:cNvSpPr>
          <p:nvPr/>
        </p:nvSpPr>
        <p:spPr bwMode="auto">
          <a:xfrm>
            <a:off x="1209675" y="4754563"/>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2142" name="Rectangle 48"/>
          <p:cNvSpPr>
            <a:spLocks noChangeArrowheads="1"/>
          </p:cNvSpPr>
          <p:nvPr/>
        </p:nvSpPr>
        <p:spPr bwMode="auto">
          <a:xfrm>
            <a:off x="4114800" y="438785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2143" name="Rectangle 49"/>
          <p:cNvSpPr>
            <a:spLocks noChangeArrowheads="1"/>
          </p:cNvSpPr>
          <p:nvPr/>
        </p:nvSpPr>
        <p:spPr bwMode="auto">
          <a:xfrm>
            <a:off x="1209675" y="4079875"/>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2144" name="Rectangle 50"/>
          <p:cNvSpPr>
            <a:spLocks noChangeArrowheads="1"/>
          </p:cNvSpPr>
          <p:nvPr/>
        </p:nvSpPr>
        <p:spPr bwMode="auto">
          <a:xfrm>
            <a:off x="2667000" y="43846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2145" name="Rectangle 51"/>
          <p:cNvSpPr>
            <a:spLocks noChangeArrowheads="1"/>
          </p:cNvSpPr>
          <p:nvPr/>
        </p:nvSpPr>
        <p:spPr bwMode="auto">
          <a:xfrm>
            <a:off x="1209675" y="35083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2146" name="Rectangle 52"/>
          <p:cNvSpPr>
            <a:spLocks noChangeArrowheads="1"/>
          </p:cNvSpPr>
          <p:nvPr/>
        </p:nvSpPr>
        <p:spPr bwMode="auto">
          <a:xfrm>
            <a:off x="6694488" y="348615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sp>
        <p:nvSpPr>
          <p:cNvPr id="132147" name="Rectangle 53"/>
          <p:cNvSpPr>
            <a:spLocks noChangeArrowheads="1"/>
          </p:cNvSpPr>
          <p:nvPr/>
        </p:nvSpPr>
        <p:spPr bwMode="auto">
          <a:xfrm>
            <a:off x="1216025" y="2917825"/>
            <a:ext cx="757238"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spTree>
  </p:cSld>
  <p:clrMapOvr>
    <a:masterClrMapping/>
  </p:clrMapOvr>
  <p:transition spd="slow"/>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2244" name="Rectangle 4"/>
          <p:cNvSpPr>
            <a:spLocks noChangeArrowheads="1"/>
          </p:cNvSpPr>
          <p:nvPr/>
        </p:nvSpPr>
        <p:spPr bwMode="auto">
          <a:xfrm>
            <a:off x="896938" y="144463"/>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6</a:t>
            </a:r>
          </a:p>
        </p:txBody>
      </p:sp>
      <p:sp>
        <p:nvSpPr>
          <p:cNvPr id="133123" name="Rectangle 5"/>
          <p:cNvSpPr>
            <a:spLocks noChangeArrowheads="1"/>
          </p:cNvSpPr>
          <p:nvPr/>
        </p:nvSpPr>
        <p:spPr bwMode="auto">
          <a:xfrm>
            <a:off x="3638550" y="3238500"/>
            <a:ext cx="763588" cy="45561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24" name="Rectangle 6"/>
          <p:cNvSpPr>
            <a:spLocks noChangeArrowheads="1"/>
          </p:cNvSpPr>
          <p:nvPr/>
        </p:nvSpPr>
        <p:spPr bwMode="auto">
          <a:xfrm>
            <a:off x="2835275" y="4165600"/>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25" name="Rectangle 7"/>
          <p:cNvSpPr>
            <a:spLocks noChangeArrowheads="1"/>
          </p:cNvSpPr>
          <p:nvPr/>
        </p:nvSpPr>
        <p:spPr bwMode="auto">
          <a:xfrm>
            <a:off x="5448300" y="2225675"/>
            <a:ext cx="214313" cy="366713"/>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33126" name="Line 8"/>
          <p:cNvSpPr>
            <a:spLocks noChangeShapeType="1"/>
          </p:cNvSpPr>
          <p:nvPr/>
        </p:nvSpPr>
        <p:spPr bwMode="auto">
          <a:xfrm flipV="1">
            <a:off x="3375025" y="3571875"/>
            <a:ext cx="454025" cy="58102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27" name="Line 9"/>
          <p:cNvSpPr>
            <a:spLocks noChangeShapeType="1"/>
          </p:cNvSpPr>
          <p:nvPr/>
        </p:nvSpPr>
        <p:spPr bwMode="auto">
          <a:xfrm flipV="1">
            <a:off x="4122738" y="2570163"/>
            <a:ext cx="1260475" cy="6746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28" name="Rectangle 10"/>
          <p:cNvSpPr>
            <a:spLocks noChangeArrowheads="1"/>
          </p:cNvSpPr>
          <p:nvPr/>
        </p:nvSpPr>
        <p:spPr bwMode="auto">
          <a:xfrm>
            <a:off x="3716338" y="3103563"/>
            <a:ext cx="939800" cy="5667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33129" name="Rectangle 11"/>
          <p:cNvSpPr>
            <a:spLocks noChangeArrowheads="1"/>
          </p:cNvSpPr>
          <p:nvPr/>
        </p:nvSpPr>
        <p:spPr bwMode="auto">
          <a:xfrm>
            <a:off x="2984500" y="4152900"/>
            <a:ext cx="460375"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p>
        </p:txBody>
      </p:sp>
      <p:grpSp>
        <p:nvGrpSpPr>
          <p:cNvPr id="150538" name="Group 12"/>
          <p:cNvGrpSpPr/>
          <p:nvPr/>
        </p:nvGrpSpPr>
        <p:grpSpPr>
          <a:xfrm>
            <a:off x="4237038" y="3556000"/>
            <a:ext cx="730250" cy="1477963"/>
            <a:chOff x="2915" y="2623"/>
            <a:chExt cx="460" cy="931"/>
          </a:xfrm>
        </p:grpSpPr>
        <p:sp>
          <p:nvSpPr>
            <p:cNvPr id="133131" name="Rectangle 13"/>
            <p:cNvSpPr>
              <a:spLocks noChangeArrowheads="1"/>
            </p:cNvSpPr>
            <p:nvPr/>
          </p:nvSpPr>
          <p:spPr bwMode="auto">
            <a:xfrm>
              <a:off x="2941" y="2984"/>
              <a:ext cx="434" cy="299"/>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32" name="Line 14"/>
            <p:cNvSpPr>
              <a:spLocks noChangeShapeType="1"/>
            </p:cNvSpPr>
            <p:nvPr/>
          </p:nvSpPr>
          <p:spPr bwMode="auto">
            <a:xfrm flipH="1" flipV="1">
              <a:off x="2915" y="2623"/>
              <a:ext cx="273" cy="34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33"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33134" name="Rectangle 16"/>
          <p:cNvSpPr>
            <a:spLocks noChangeArrowheads="1"/>
          </p:cNvSpPr>
          <p:nvPr/>
        </p:nvSpPr>
        <p:spPr bwMode="auto">
          <a:xfrm>
            <a:off x="6916738" y="3248025"/>
            <a:ext cx="703263" cy="446088"/>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35" name="Rectangle 17"/>
          <p:cNvSpPr>
            <a:spLocks noChangeArrowheads="1"/>
          </p:cNvSpPr>
          <p:nvPr/>
        </p:nvSpPr>
        <p:spPr bwMode="auto">
          <a:xfrm>
            <a:off x="6191250" y="4146550"/>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36" name="Rectangle 18"/>
          <p:cNvSpPr>
            <a:spLocks noChangeArrowheads="1"/>
          </p:cNvSpPr>
          <p:nvPr/>
        </p:nvSpPr>
        <p:spPr bwMode="auto">
          <a:xfrm>
            <a:off x="7011988" y="3259138"/>
            <a:ext cx="1100138" cy="34766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a:ln>
                  <a:noFill/>
                </a:ln>
                <a:solidFill>
                  <a:srgbClr val="FF3300"/>
                </a:solidFill>
                <a:effectLst/>
                <a:uLnTx/>
                <a:uFillTx/>
                <a:latin typeface="+mn-lt"/>
                <a:ea typeface="+mn-ea"/>
                <a:cs typeface="+mn-ea"/>
                <a:sym typeface="+mn-lt"/>
              </a:rPr>
              <a:t> 8</a:t>
            </a:r>
          </a:p>
        </p:txBody>
      </p:sp>
      <p:sp>
        <p:nvSpPr>
          <p:cNvPr id="133137" name="Line 19"/>
          <p:cNvSpPr>
            <a:spLocks noChangeShapeType="1"/>
          </p:cNvSpPr>
          <p:nvPr/>
        </p:nvSpPr>
        <p:spPr bwMode="auto">
          <a:xfrm flipV="1">
            <a:off x="6557963" y="3498850"/>
            <a:ext cx="474663" cy="6096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38" name="Rectangle 20"/>
          <p:cNvSpPr>
            <a:spLocks noChangeArrowheads="1"/>
          </p:cNvSpPr>
          <p:nvPr/>
        </p:nvSpPr>
        <p:spPr bwMode="auto">
          <a:xfrm>
            <a:off x="6340475" y="4181475"/>
            <a:ext cx="692150"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33139" name="Rectangle 21"/>
          <p:cNvSpPr>
            <a:spLocks noChangeArrowheads="1"/>
          </p:cNvSpPr>
          <p:nvPr/>
        </p:nvSpPr>
        <p:spPr bwMode="auto">
          <a:xfrm>
            <a:off x="7567613" y="4137025"/>
            <a:ext cx="688975" cy="47466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40" name="Line 22"/>
          <p:cNvSpPr>
            <a:spLocks noChangeShapeType="1"/>
          </p:cNvSpPr>
          <p:nvPr/>
        </p:nvSpPr>
        <p:spPr bwMode="auto">
          <a:xfrm flipH="1" flipV="1">
            <a:off x="7526338" y="3563938"/>
            <a:ext cx="433388" cy="55403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41" name="Rectangle 23"/>
          <p:cNvSpPr>
            <a:spLocks noChangeArrowheads="1"/>
          </p:cNvSpPr>
          <p:nvPr/>
        </p:nvSpPr>
        <p:spPr bwMode="auto">
          <a:xfrm>
            <a:off x="7715250" y="4167188"/>
            <a:ext cx="461963" cy="874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33142" name="Line 24"/>
          <p:cNvSpPr>
            <a:spLocks noChangeShapeType="1"/>
          </p:cNvSpPr>
          <p:nvPr/>
        </p:nvSpPr>
        <p:spPr bwMode="auto">
          <a:xfrm flipH="1" flipV="1">
            <a:off x="6054725" y="2555875"/>
            <a:ext cx="1192213" cy="700088"/>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43" name="Rectangle 25"/>
          <p:cNvSpPr>
            <a:spLocks noChangeArrowheads="1"/>
          </p:cNvSpPr>
          <p:nvPr/>
        </p:nvSpPr>
        <p:spPr bwMode="auto">
          <a:xfrm>
            <a:off x="1349375" y="1431925"/>
            <a:ext cx="812800" cy="4183063"/>
          </a:xfrm>
          <a:prstGeom prst="rect">
            <a:avLst/>
          </a:prstGeom>
          <a:solidFill>
            <a:schemeClr val="accent1">
              <a:lumMod val="60000"/>
              <a:lumOff val="40000"/>
            </a:schemeClr>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44" name="Line 26"/>
          <p:cNvSpPr>
            <a:spLocks noChangeShapeType="1"/>
          </p:cNvSpPr>
          <p:nvPr/>
        </p:nvSpPr>
        <p:spPr bwMode="auto">
          <a:xfrm>
            <a:off x="1343025" y="19764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45" name="Line 27"/>
          <p:cNvSpPr>
            <a:spLocks noChangeShapeType="1"/>
          </p:cNvSpPr>
          <p:nvPr/>
        </p:nvSpPr>
        <p:spPr bwMode="auto">
          <a:xfrm>
            <a:off x="1343025" y="25939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46" name="Line 28"/>
          <p:cNvSpPr>
            <a:spLocks noChangeShapeType="1"/>
          </p:cNvSpPr>
          <p:nvPr/>
        </p:nvSpPr>
        <p:spPr bwMode="auto">
          <a:xfrm>
            <a:off x="1343025" y="32146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47" name="Line 29"/>
          <p:cNvSpPr>
            <a:spLocks noChangeShapeType="1"/>
          </p:cNvSpPr>
          <p:nvPr/>
        </p:nvSpPr>
        <p:spPr bwMode="auto">
          <a:xfrm>
            <a:off x="1343025" y="383222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48" name="Line 30"/>
          <p:cNvSpPr>
            <a:spLocks noChangeShapeType="1"/>
          </p:cNvSpPr>
          <p:nvPr/>
        </p:nvSpPr>
        <p:spPr bwMode="auto">
          <a:xfrm>
            <a:off x="1343025" y="44529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49" name="Line 31"/>
          <p:cNvSpPr>
            <a:spLocks noChangeShapeType="1"/>
          </p:cNvSpPr>
          <p:nvPr/>
        </p:nvSpPr>
        <p:spPr bwMode="auto">
          <a:xfrm>
            <a:off x="1343025" y="5070475"/>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50" name="Rectangle 32"/>
          <p:cNvSpPr>
            <a:spLocks noChangeArrowheads="1"/>
          </p:cNvSpPr>
          <p:nvPr/>
        </p:nvSpPr>
        <p:spPr bwMode="auto">
          <a:xfrm>
            <a:off x="603250" y="836613"/>
            <a:ext cx="612775" cy="471011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33151" name="Rectangle 33"/>
          <p:cNvSpPr>
            <a:spLocks noChangeArrowheads="1"/>
          </p:cNvSpPr>
          <p:nvPr/>
        </p:nvSpPr>
        <p:spPr bwMode="auto">
          <a:xfrm>
            <a:off x="7040563" y="3694113"/>
            <a:ext cx="5667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33152" name="Rectangle 34"/>
          <p:cNvSpPr>
            <a:spLocks noChangeArrowheads="1"/>
          </p:cNvSpPr>
          <p:nvPr/>
        </p:nvSpPr>
        <p:spPr bwMode="auto">
          <a:xfrm>
            <a:off x="6240463" y="4613275"/>
            <a:ext cx="557213"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33153" name="Line 35"/>
          <p:cNvSpPr>
            <a:spLocks noChangeShapeType="1"/>
          </p:cNvSpPr>
          <p:nvPr/>
        </p:nvSpPr>
        <p:spPr bwMode="auto">
          <a:xfrm>
            <a:off x="2835275" y="2555875"/>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54" name="Rectangle 36"/>
          <p:cNvSpPr>
            <a:spLocks noChangeArrowheads="1"/>
          </p:cNvSpPr>
          <p:nvPr/>
        </p:nvSpPr>
        <p:spPr bwMode="auto">
          <a:xfrm>
            <a:off x="3790950" y="3676650"/>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33155" name="Rectangle 37"/>
          <p:cNvSpPr>
            <a:spLocks noChangeArrowheads="1"/>
          </p:cNvSpPr>
          <p:nvPr/>
        </p:nvSpPr>
        <p:spPr bwMode="auto">
          <a:xfrm>
            <a:off x="4351338" y="4181475"/>
            <a:ext cx="3762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33156" name="Rectangle 38"/>
          <p:cNvSpPr>
            <a:spLocks noChangeArrowheads="1"/>
          </p:cNvSpPr>
          <p:nvPr/>
        </p:nvSpPr>
        <p:spPr bwMode="auto">
          <a:xfrm>
            <a:off x="4427538" y="4613275"/>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50562" name="Group 39"/>
          <p:cNvGrpSpPr/>
          <p:nvPr/>
        </p:nvGrpSpPr>
        <p:grpSpPr>
          <a:xfrm>
            <a:off x="5340350" y="2220913"/>
            <a:ext cx="739775" cy="457200"/>
            <a:chOff x="3266" y="924"/>
            <a:chExt cx="466" cy="288"/>
          </a:xfrm>
        </p:grpSpPr>
        <p:sp>
          <p:nvSpPr>
            <p:cNvPr id="133158"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59" name="Rectangle 41"/>
            <p:cNvSpPr>
              <a:spLocks noChangeArrowheads="1"/>
            </p:cNvSpPr>
            <p:nvPr/>
          </p:nvSpPr>
          <p:spPr bwMode="auto">
            <a:xfrm>
              <a:off x="3331" y="924"/>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10</a:t>
              </a:r>
            </a:p>
          </p:txBody>
        </p:sp>
      </p:grpSp>
      <p:sp>
        <p:nvSpPr>
          <p:cNvPr id="133160" name="Rectangle 42"/>
          <p:cNvSpPr>
            <a:spLocks noChangeArrowheads="1"/>
          </p:cNvSpPr>
          <p:nvPr/>
        </p:nvSpPr>
        <p:spPr bwMode="auto">
          <a:xfrm>
            <a:off x="5443538" y="2668588"/>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1</a:t>
            </a:r>
          </a:p>
        </p:txBody>
      </p:sp>
      <p:sp>
        <p:nvSpPr>
          <p:cNvPr id="133161" name="Rectangle 43"/>
          <p:cNvSpPr>
            <a:spLocks noChangeArrowheads="1"/>
          </p:cNvSpPr>
          <p:nvPr/>
        </p:nvSpPr>
        <p:spPr bwMode="auto">
          <a:xfrm>
            <a:off x="1587500" y="1535113"/>
            <a:ext cx="442913" cy="4094163"/>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10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a:t>
            </a:r>
          </a:p>
        </p:txBody>
      </p:sp>
      <p:sp>
        <p:nvSpPr>
          <p:cNvPr id="133162" name="Rectangle 44"/>
          <p:cNvSpPr>
            <a:spLocks noChangeArrowheads="1"/>
          </p:cNvSpPr>
          <p:nvPr/>
        </p:nvSpPr>
        <p:spPr bwMode="auto">
          <a:xfrm>
            <a:off x="7526338" y="41402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3163" name="Rectangle 45"/>
          <p:cNvSpPr>
            <a:spLocks noChangeArrowheads="1"/>
          </p:cNvSpPr>
          <p:nvPr/>
        </p:nvSpPr>
        <p:spPr bwMode="auto">
          <a:xfrm>
            <a:off x="1365250" y="5113338"/>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3164" name="Rectangle 46"/>
          <p:cNvSpPr>
            <a:spLocks noChangeArrowheads="1"/>
          </p:cNvSpPr>
          <p:nvPr/>
        </p:nvSpPr>
        <p:spPr bwMode="auto">
          <a:xfrm>
            <a:off x="6191250" y="413702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3165" name="Rectangle 47"/>
          <p:cNvSpPr>
            <a:spLocks noChangeArrowheads="1"/>
          </p:cNvSpPr>
          <p:nvPr/>
        </p:nvSpPr>
        <p:spPr bwMode="auto">
          <a:xfrm>
            <a:off x="1365250" y="4506913"/>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3166" name="Rectangle 48"/>
          <p:cNvSpPr>
            <a:spLocks noChangeArrowheads="1"/>
          </p:cNvSpPr>
          <p:nvPr/>
        </p:nvSpPr>
        <p:spPr bwMode="auto">
          <a:xfrm>
            <a:off x="4270375" y="41402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3167" name="Rectangle 49"/>
          <p:cNvSpPr>
            <a:spLocks noChangeArrowheads="1"/>
          </p:cNvSpPr>
          <p:nvPr/>
        </p:nvSpPr>
        <p:spPr bwMode="auto">
          <a:xfrm>
            <a:off x="1365250" y="3832225"/>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3168" name="Rectangle 50"/>
          <p:cNvSpPr>
            <a:spLocks noChangeArrowheads="1"/>
          </p:cNvSpPr>
          <p:nvPr/>
        </p:nvSpPr>
        <p:spPr bwMode="auto">
          <a:xfrm>
            <a:off x="2822575" y="413702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3169" name="Rectangle 51"/>
          <p:cNvSpPr>
            <a:spLocks noChangeArrowheads="1"/>
          </p:cNvSpPr>
          <p:nvPr/>
        </p:nvSpPr>
        <p:spPr bwMode="auto">
          <a:xfrm>
            <a:off x="1365250" y="326072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3170" name="Rectangle 52"/>
          <p:cNvSpPr>
            <a:spLocks noChangeArrowheads="1"/>
          </p:cNvSpPr>
          <p:nvPr/>
        </p:nvSpPr>
        <p:spPr bwMode="auto">
          <a:xfrm>
            <a:off x="6850063" y="32385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sp>
        <p:nvSpPr>
          <p:cNvPr id="133171" name="Rectangle 53"/>
          <p:cNvSpPr>
            <a:spLocks noChangeArrowheads="1"/>
          </p:cNvSpPr>
          <p:nvPr/>
        </p:nvSpPr>
        <p:spPr bwMode="auto">
          <a:xfrm>
            <a:off x="1371600" y="2670175"/>
            <a:ext cx="757238"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grpSp>
        <p:nvGrpSpPr>
          <p:cNvPr id="4" name="Group 54"/>
          <p:cNvGrpSpPr/>
          <p:nvPr/>
        </p:nvGrpSpPr>
        <p:grpSpPr>
          <a:xfrm>
            <a:off x="2259013" y="1590675"/>
            <a:ext cx="584200" cy="638175"/>
            <a:chOff x="1333" y="630"/>
            <a:chExt cx="368" cy="1145"/>
          </a:xfrm>
        </p:grpSpPr>
        <p:sp>
          <p:nvSpPr>
            <p:cNvPr id="133173" name="Line 55"/>
            <p:cNvSpPr>
              <a:spLocks noChangeShapeType="1"/>
            </p:cNvSpPr>
            <p:nvPr/>
          </p:nvSpPr>
          <p:spPr bwMode="auto">
            <a:xfrm>
              <a:off x="1673" y="650"/>
              <a:ext cx="0" cy="1119"/>
            </a:xfrm>
            <a:prstGeom prst="line">
              <a:avLst/>
            </a:prstGeom>
            <a:noFill/>
            <a:ln w="76200">
              <a:solidFill>
                <a:srgbClr val="FF0000"/>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74" name="Line 56"/>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3175" name="Line 57"/>
            <p:cNvSpPr>
              <a:spLocks noChangeShapeType="1"/>
            </p:cNvSpPr>
            <p:nvPr/>
          </p:nvSpPr>
          <p:spPr bwMode="auto">
            <a:xfrm>
              <a:off x="1341" y="1775"/>
              <a:ext cx="360" cy="0"/>
            </a:xfrm>
            <a:prstGeom prst="line">
              <a:avLst/>
            </a:prstGeom>
            <a:noFill/>
            <a:ln w="76200">
              <a:solidFill>
                <a:srgbClr val="FF0000"/>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4)">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3268" name="Rectangle 4"/>
          <p:cNvSpPr>
            <a:spLocks noChangeArrowheads="1"/>
          </p:cNvSpPr>
          <p:nvPr/>
        </p:nvSpPr>
        <p:spPr bwMode="auto">
          <a:xfrm>
            <a:off x="866775" y="174625"/>
            <a:ext cx="3436938"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堆的重新调整－</a:t>
            </a:r>
            <a:r>
              <a:rPr kumimoji="0" lang="en-US" altLang="zh-CN" sz="2800" b="0" i="0" u="none" strike="noStrike" kern="0" cap="none" spc="0" normalizeH="0" baseline="0" noProof="0" dirty="0">
                <a:ln>
                  <a:noFill/>
                </a:ln>
                <a:solidFill>
                  <a:schemeClr val="bg1"/>
                </a:solidFill>
                <a:effectLst/>
                <a:uLnTx/>
                <a:uFillTx/>
                <a:latin typeface="+mn-lt"/>
                <a:ea typeface="+mn-ea"/>
                <a:cs typeface="+mn-ea"/>
                <a:sym typeface="+mn-lt"/>
              </a:rPr>
              <a:t>6</a:t>
            </a:r>
          </a:p>
        </p:txBody>
      </p:sp>
      <p:sp>
        <p:nvSpPr>
          <p:cNvPr id="134147" name="Rectangle 5"/>
          <p:cNvSpPr>
            <a:spLocks noChangeArrowheads="1"/>
          </p:cNvSpPr>
          <p:nvPr/>
        </p:nvSpPr>
        <p:spPr bwMode="auto">
          <a:xfrm>
            <a:off x="3757613" y="3414713"/>
            <a:ext cx="763588" cy="454025"/>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48" name="Rectangle 6"/>
          <p:cNvSpPr>
            <a:spLocks noChangeArrowheads="1"/>
          </p:cNvSpPr>
          <p:nvPr/>
        </p:nvSpPr>
        <p:spPr bwMode="auto">
          <a:xfrm>
            <a:off x="2954338" y="4341813"/>
            <a:ext cx="674688" cy="43815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49" name="Rectangle 7"/>
          <p:cNvSpPr>
            <a:spLocks noChangeArrowheads="1"/>
          </p:cNvSpPr>
          <p:nvPr/>
        </p:nvSpPr>
        <p:spPr bwMode="auto">
          <a:xfrm>
            <a:off x="5567363" y="2401888"/>
            <a:ext cx="214313" cy="365125"/>
          </a:xfrm>
          <a:prstGeom prst="rect">
            <a:avLst/>
          </a:prstGeom>
          <a:noFill/>
          <a:ln>
            <a:noFill/>
          </a:ln>
        </p:spPr>
        <p:txBody>
          <a:bodyPr wrap="none"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sp>
        <p:nvSpPr>
          <p:cNvPr id="134150" name="Line 8"/>
          <p:cNvSpPr>
            <a:spLocks noChangeShapeType="1"/>
          </p:cNvSpPr>
          <p:nvPr/>
        </p:nvSpPr>
        <p:spPr bwMode="auto">
          <a:xfrm flipV="1">
            <a:off x="3494088" y="3748088"/>
            <a:ext cx="454025" cy="58102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51" name="Line 9"/>
          <p:cNvSpPr>
            <a:spLocks noChangeShapeType="1"/>
          </p:cNvSpPr>
          <p:nvPr/>
        </p:nvSpPr>
        <p:spPr bwMode="auto">
          <a:xfrm flipV="1">
            <a:off x="4241800" y="2744788"/>
            <a:ext cx="1260475" cy="67627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52" name="Rectangle 10"/>
          <p:cNvSpPr>
            <a:spLocks noChangeArrowheads="1"/>
          </p:cNvSpPr>
          <p:nvPr/>
        </p:nvSpPr>
        <p:spPr bwMode="auto">
          <a:xfrm>
            <a:off x="3835400" y="3278188"/>
            <a:ext cx="939800" cy="5683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a:ln>
                  <a:noFill/>
                </a:ln>
                <a:solidFill>
                  <a:srgbClr val="FF3300"/>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34153" name="Rectangle 11"/>
          <p:cNvSpPr>
            <a:spLocks noChangeArrowheads="1"/>
          </p:cNvSpPr>
          <p:nvPr/>
        </p:nvSpPr>
        <p:spPr bwMode="auto">
          <a:xfrm>
            <a:off x="3103563" y="4329113"/>
            <a:ext cx="460375" cy="8731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400" b="1"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4 </a:t>
            </a: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p>
        </p:txBody>
      </p:sp>
      <p:grpSp>
        <p:nvGrpSpPr>
          <p:cNvPr id="151562" name="Group 12"/>
          <p:cNvGrpSpPr/>
          <p:nvPr/>
        </p:nvGrpSpPr>
        <p:grpSpPr>
          <a:xfrm>
            <a:off x="4356100" y="3732213"/>
            <a:ext cx="730250" cy="1476375"/>
            <a:chOff x="2915" y="2623"/>
            <a:chExt cx="460" cy="931"/>
          </a:xfrm>
        </p:grpSpPr>
        <p:sp>
          <p:nvSpPr>
            <p:cNvPr id="134155" name="Rectangle 13"/>
            <p:cNvSpPr>
              <a:spLocks noChangeArrowheads="1"/>
            </p:cNvSpPr>
            <p:nvPr/>
          </p:nvSpPr>
          <p:spPr bwMode="auto">
            <a:xfrm>
              <a:off x="2941" y="2984"/>
              <a:ext cx="434" cy="29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56" name="Line 14"/>
            <p:cNvSpPr>
              <a:spLocks noChangeShapeType="1"/>
            </p:cNvSpPr>
            <p:nvPr/>
          </p:nvSpPr>
          <p:spPr bwMode="auto">
            <a:xfrm flipH="1" flipV="1">
              <a:off x="2915" y="2623"/>
              <a:ext cx="273" cy="349"/>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57" name="Rectangle 15"/>
            <p:cNvSpPr>
              <a:spLocks noChangeArrowheads="1"/>
            </p:cNvSpPr>
            <p:nvPr/>
          </p:nvSpPr>
          <p:spPr bwMode="auto">
            <a:xfrm>
              <a:off x="3034" y="3003"/>
              <a:ext cx="291" cy="551"/>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9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endPar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endParaRPr>
            </a:p>
          </p:txBody>
        </p:sp>
      </p:grpSp>
      <p:sp>
        <p:nvSpPr>
          <p:cNvPr id="134158" name="Rectangle 16"/>
          <p:cNvSpPr>
            <a:spLocks noChangeArrowheads="1"/>
          </p:cNvSpPr>
          <p:nvPr/>
        </p:nvSpPr>
        <p:spPr bwMode="auto">
          <a:xfrm>
            <a:off x="7035800" y="3424238"/>
            <a:ext cx="703263" cy="4445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59" name="Rectangle 17"/>
          <p:cNvSpPr>
            <a:spLocks noChangeArrowheads="1"/>
          </p:cNvSpPr>
          <p:nvPr/>
        </p:nvSpPr>
        <p:spPr bwMode="auto">
          <a:xfrm>
            <a:off x="6310313" y="4322763"/>
            <a:ext cx="715963" cy="457200"/>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60" name="Rectangle 18"/>
          <p:cNvSpPr>
            <a:spLocks noChangeArrowheads="1"/>
          </p:cNvSpPr>
          <p:nvPr/>
        </p:nvSpPr>
        <p:spPr bwMode="auto">
          <a:xfrm>
            <a:off x="7131050" y="3433763"/>
            <a:ext cx="1100138" cy="34925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1" i="0" u="none" strike="noStrike" kern="1200" cap="none" spc="0" normalizeH="0" baseline="0" noProof="0">
                <a:ln>
                  <a:noFill/>
                </a:ln>
                <a:solidFill>
                  <a:srgbClr val="FF3300"/>
                </a:solidFill>
                <a:effectLst/>
                <a:uLnTx/>
                <a:uFillTx/>
                <a:latin typeface="+mn-lt"/>
                <a:ea typeface="+mn-ea"/>
                <a:cs typeface="+mn-ea"/>
                <a:sym typeface="+mn-lt"/>
              </a:rPr>
              <a:t> 8</a:t>
            </a:r>
          </a:p>
        </p:txBody>
      </p:sp>
      <p:sp>
        <p:nvSpPr>
          <p:cNvPr id="134161" name="Line 19"/>
          <p:cNvSpPr>
            <a:spLocks noChangeShapeType="1"/>
          </p:cNvSpPr>
          <p:nvPr/>
        </p:nvSpPr>
        <p:spPr bwMode="auto">
          <a:xfrm flipV="1">
            <a:off x="6677025" y="3675063"/>
            <a:ext cx="474663" cy="6096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62" name="Rectangle 20"/>
          <p:cNvSpPr>
            <a:spLocks noChangeArrowheads="1"/>
          </p:cNvSpPr>
          <p:nvPr/>
        </p:nvSpPr>
        <p:spPr bwMode="auto">
          <a:xfrm>
            <a:off x="6459538" y="4357688"/>
            <a:ext cx="692150" cy="3651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60</a:t>
            </a:r>
          </a:p>
        </p:txBody>
      </p:sp>
      <p:sp>
        <p:nvSpPr>
          <p:cNvPr id="134163" name="Rectangle 21"/>
          <p:cNvSpPr>
            <a:spLocks noChangeArrowheads="1"/>
          </p:cNvSpPr>
          <p:nvPr/>
        </p:nvSpPr>
        <p:spPr bwMode="auto">
          <a:xfrm>
            <a:off x="7686675" y="4313238"/>
            <a:ext cx="688975" cy="473075"/>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64" name="Line 22"/>
          <p:cNvSpPr>
            <a:spLocks noChangeShapeType="1"/>
          </p:cNvSpPr>
          <p:nvPr/>
        </p:nvSpPr>
        <p:spPr bwMode="auto">
          <a:xfrm flipH="1" flipV="1">
            <a:off x="7645400" y="3738563"/>
            <a:ext cx="433388" cy="555625"/>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65" name="Rectangle 23"/>
          <p:cNvSpPr>
            <a:spLocks noChangeArrowheads="1"/>
          </p:cNvSpPr>
          <p:nvPr/>
        </p:nvSpPr>
        <p:spPr bwMode="auto">
          <a:xfrm>
            <a:off x="7834313" y="4341813"/>
            <a:ext cx="461963" cy="87630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10</a:t>
            </a: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7</a:t>
            </a:r>
          </a:p>
        </p:txBody>
      </p:sp>
      <p:sp>
        <p:nvSpPr>
          <p:cNvPr id="134166" name="Line 24"/>
          <p:cNvSpPr>
            <a:spLocks noChangeShapeType="1"/>
          </p:cNvSpPr>
          <p:nvPr/>
        </p:nvSpPr>
        <p:spPr bwMode="auto">
          <a:xfrm flipH="1" flipV="1">
            <a:off x="6173788" y="2732088"/>
            <a:ext cx="1192213" cy="698500"/>
          </a:xfrm>
          <a:prstGeom prst="line">
            <a:avLst/>
          </a:prstGeom>
          <a:noFill/>
          <a:ln w="12700">
            <a:solidFill>
              <a:schemeClr val="tx1"/>
            </a:solidFill>
            <a:round/>
            <a:headEnd type="stealth" w="med" len="lg"/>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67" name="Rectangle 25"/>
          <p:cNvSpPr>
            <a:spLocks noChangeArrowheads="1"/>
          </p:cNvSpPr>
          <p:nvPr/>
        </p:nvSpPr>
        <p:spPr bwMode="auto">
          <a:xfrm>
            <a:off x="1468438" y="1608138"/>
            <a:ext cx="812800" cy="4181475"/>
          </a:xfrm>
          <a:prstGeom prst="rect">
            <a:avLst/>
          </a:prstGeom>
          <a:solidFill>
            <a:schemeClr val="accent1">
              <a:lumMod val="60000"/>
              <a:lumOff val="40000"/>
            </a:schemeClr>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68" name="Line 26"/>
          <p:cNvSpPr>
            <a:spLocks noChangeShapeType="1"/>
          </p:cNvSpPr>
          <p:nvPr/>
        </p:nvSpPr>
        <p:spPr bwMode="auto">
          <a:xfrm>
            <a:off x="1462088" y="215106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69" name="Line 27"/>
          <p:cNvSpPr>
            <a:spLocks noChangeShapeType="1"/>
          </p:cNvSpPr>
          <p:nvPr/>
        </p:nvSpPr>
        <p:spPr bwMode="auto">
          <a:xfrm>
            <a:off x="1462088" y="27701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70" name="Line 28"/>
          <p:cNvSpPr>
            <a:spLocks noChangeShapeType="1"/>
          </p:cNvSpPr>
          <p:nvPr/>
        </p:nvSpPr>
        <p:spPr bwMode="auto">
          <a:xfrm>
            <a:off x="1462088" y="338931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71" name="Line 29"/>
          <p:cNvSpPr>
            <a:spLocks noChangeShapeType="1"/>
          </p:cNvSpPr>
          <p:nvPr/>
        </p:nvSpPr>
        <p:spPr bwMode="auto">
          <a:xfrm>
            <a:off x="1462088" y="400843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72" name="Line 30"/>
          <p:cNvSpPr>
            <a:spLocks noChangeShapeType="1"/>
          </p:cNvSpPr>
          <p:nvPr/>
        </p:nvSpPr>
        <p:spPr bwMode="auto">
          <a:xfrm>
            <a:off x="1462088" y="4627563"/>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73" name="Line 31"/>
          <p:cNvSpPr>
            <a:spLocks noChangeShapeType="1"/>
          </p:cNvSpPr>
          <p:nvPr/>
        </p:nvSpPr>
        <p:spPr bwMode="auto">
          <a:xfrm>
            <a:off x="1462088" y="5246688"/>
            <a:ext cx="825500" cy="0"/>
          </a:xfrm>
          <a:prstGeom prst="line">
            <a:avLst/>
          </a:prstGeom>
          <a:noFill/>
          <a:ln w="127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74" name="Rectangle 32"/>
          <p:cNvSpPr>
            <a:spLocks noChangeArrowheads="1"/>
          </p:cNvSpPr>
          <p:nvPr/>
        </p:nvSpPr>
        <p:spPr bwMode="auto">
          <a:xfrm>
            <a:off x="722313" y="1011238"/>
            <a:ext cx="612775" cy="4711700"/>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[ 1 ]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[ 2 ]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[ 3 ]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[ 4 ]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[ 5 ]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[ 6 ]</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CC0000"/>
                </a:solidFill>
                <a:effectLst/>
                <a:uLnTx/>
                <a:uFillTx/>
                <a:latin typeface="+mn-lt"/>
                <a:ea typeface="+mn-ea"/>
                <a:cs typeface="+mn-ea"/>
                <a:sym typeface="+mn-lt"/>
              </a:rPr>
              <a:t>[ 7 ]</a:t>
            </a:r>
          </a:p>
        </p:txBody>
      </p:sp>
      <p:sp>
        <p:nvSpPr>
          <p:cNvPr id="134175" name="Rectangle 33"/>
          <p:cNvSpPr>
            <a:spLocks noChangeArrowheads="1"/>
          </p:cNvSpPr>
          <p:nvPr/>
        </p:nvSpPr>
        <p:spPr bwMode="auto">
          <a:xfrm>
            <a:off x="7159625" y="3868738"/>
            <a:ext cx="566738" cy="368300"/>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3</a:t>
            </a:r>
          </a:p>
        </p:txBody>
      </p:sp>
      <p:sp>
        <p:nvSpPr>
          <p:cNvPr id="134176" name="Rectangle 34"/>
          <p:cNvSpPr>
            <a:spLocks noChangeArrowheads="1"/>
          </p:cNvSpPr>
          <p:nvPr/>
        </p:nvSpPr>
        <p:spPr bwMode="auto">
          <a:xfrm>
            <a:off x="6359525" y="4789488"/>
            <a:ext cx="557213" cy="3651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 6</a:t>
            </a:r>
          </a:p>
        </p:txBody>
      </p:sp>
      <p:sp>
        <p:nvSpPr>
          <p:cNvPr id="134177" name="Line 35"/>
          <p:cNvSpPr>
            <a:spLocks noChangeShapeType="1"/>
          </p:cNvSpPr>
          <p:nvPr/>
        </p:nvSpPr>
        <p:spPr bwMode="auto">
          <a:xfrm>
            <a:off x="2954338" y="2732088"/>
            <a:ext cx="803275" cy="533400"/>
          </a:xfrm>
          <a:prstGeom prst="line">
            <a:avLst/>
          </a:prstGeom>
          <a:no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78" name="Rectangle 36"/>
          <p:cNvSpPr>
            <a:spLocks noChangeArrowheads="1"/>
          </p:cNvSpPr>
          <p:nvPr/>
        </p:nvSpPr>
        <p:spPr bwMode="auto">
          <a:xfrm>
            <a:off x="3910013" y="3852863"/>
            <a:ext cx="515938" cy="3651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2</a:t>
            </a:r>
          </a:p>
        </p:txBody>
      </p:sp>
      <p:sp>
        <p:nvSpPr>
          <p:cNvPr id="134179" name="Rectangle 37"/>
          <p:cNvSpPr>
            <a:spLocks noChangeArrowheads="1"/>
          </p:cNvSpPr>
          <p:nvPr/>
        </p:nvSpPr>
        <p:spPr bwMode="auto">
          <a:xfrm>
            <a:off x="4470400" y="4357688"/>
            <a:ext cx="376238" cy="3651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rgbClr val="FF3300"/>
                </a:solidFill>
                <a:effectLst/>
                <a:uLnTx/>
                <a:uFillTx/>
                <a:latin typeface="+mn-lt"/>
                <a:ea typeface="+mn-ea"/>
                <a:cs typeface="+mn-ea"/>
                <a:sym typeface="+mn-lt"/>
              </a:rPr>
              <a:t>8</a:t>
            </a:r>
          </a:p>
        </p:txBody>
      </p:sp>
      <p:sp>
        <p:nvSpPr>
          <p:cNvPr id="134180" name="Rectangle 38"/>
          <p:cNvSpPr>
            <a:spLocks noChangeArrowheads="1"/>
          </p:cNvSpPr>
          <p:nvPr/>
        </p:nvSpPr>
        <p:spPr bwMode="auto">
          <a:xfrm>
            <a:off x="4546600" y="4789488"/>
            <a:ext cx="515938" cy="365125"/>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5</a:t>
            </a:r>
          </a:p>
        </p:txBody>
      </p:sp>
      <p:grpSp>
        <p:nvGrpSpPr>
          <p:cNvPr id="151586" name="Group 39"/>
          <p:cNvGrpSpPr/>
          <p:nvPr/>
        </p:nvGrpSpPr>
        <p:grpSpPr>
          <a:xfrm>
            <a:off x="5459413" y="2405063"/>
            <a:ext cx="776287" cy="449262"/>
            <a:chOff x="3266" y="929"/>
            <a:chExt cx="489" cy="283"/>
          </a:xfrm>
        </p:grpSpPr>
        <p:sp>
          <p:nvSpPr>
            <p:cNvPr id="134182" name="Rectangle 40"/>
            <p:cNvSpPr>
              <a:spLocks noChangeArrowheads="1"/>
            </p:cNvSpPr>
            <p:nvPr/>
          </p:nvSpPr>
          <p:spPr bwMode="auto">
            <a:xfrm>
              <a:off x="3266" y="929"/>
              <a:ext cx="466" cy="283"/>
            </a:xfrm>
            <a:prstGeom prst="rect">
              <a:avLst/>
            </a:prstGeom>
            <a:solidFill>
              <a:schemeClr val="accent1"/>
            </a:solidFill>
            <a:ln w="12700">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4183" name="Rectangle 41"/>
            <p:cNvSpPr>
              <a:spLocks noChangeArrowheads="1"/>
            </p:cNvSpPr>
            <p:nvPr/>
          </p:nvSpPr>
          <p:spPr bwMode="auto">
            <a:xfrm>
              <a:off x="3430" y="951"/>
              <a:ext cx="325" cy="238"/>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3300"/>
                  </a:solidFill>
                  <a:effectLst/>
                  <a:uLnTx/>
                  <a:uFillTx/>
                  <a:latin typeface="+mn-lt"/>
                  <a:ea typeface="+mn-ea"/>
                  <a:cs typeface="+mn-ea"/>
                  <a:sym typeface="+mn-lt"/>
                </a:rPr>
                <a:t>8</a:t>
              </a:r>
            </a:p>
          </p:txBody>
        </p:sp>
      </p:grpSp>
      <p:sp>
        <p:nvSpPr>
          <p:cNvPr id="134184" name="Rectangle 42"/>
          <p:cNvSpPr>
            <a:spLocks noChangeArrowheads="1"/>
          </p:cNvSpPr>
          <p:nvPr/>
        </p:nvSpPr>
        <p:spPr bwMode="auto">
          <a:xfrm>
            <a:off x="5651500" y="2870200"/>
            <a:ext cx="515938" cy="366713"/>
          </a:xfrm>
          <a:prstGeom prst="rect">
            <a:avLst/>
          </a:prstGeom>
          <a:noFill/>
          <a:ln>
            <a:noFill/>
          </a:ln>
        </p:spPr>
        <p:txBody>
          <a:bodyPr lIns="73025" tIns="36512" rIns="73025" bIns="36512">
            <a:spAutoFit/>
          </a:bodyPr>
          <a:lstStyle>
            <a:lvl1pPr defTabSz="586105">
              <a:defRPr sz="2800" b="1">
                <a:solidFill>
                  <a:schemeClr val="tx1"/>
                </a:solidFill>
                <a:latin typeface="Times New Roman" panose="02020603050405020304" pitchFamily="18" charset="0"/>
                <a:ea typeface="楷体_GB2312" pitchFamily="49" charset="-122"/>
              </a:defRPr>
            </a:lvl1pPr>
            <a:lvl2pPr defTabSz="586105">
              <a:defRPr sz="2800" b="1">
                <a:solidFill>
                  <a:schemeClr val="tx1"/>
                </a:solidFill>
                <a:latin typeface="Times New Roman" panose="02020603050405020304" pitchFamily="18" charset="0"/>
                <a:ea typeface="楷体_GB2312" pitchFamily="49" charset="-122"/>
              </a:defRPr>
            </a:lvl2pPr>
            <a:lvl3pPr defTabSz="586105">
              <a:defRPr sz="2800" b="1">
                <a:solidFill>
                  <a:schemeClr val="tx1"/>
                </a:solidFill>
                <a:latin typeface="Times New Roman" panose="02020603050405020304" pitchFamily="18" charset="0"/>
                <a:ea typeface="楷体_GB2312" pitchFamily="49" charset="-122"/>
              </a:defRPr>
            </a:lvl3pPr>
            <a:lvl4pPr defTabSz="586105">
              <a:defRPr sz="2800" b="1">
                <a:solidFill>
                  <a:schemeClr val="tx1"/>
                </a:solidFill>
                <a:latin typeface="Times New Roman" panose="02020603050405020304" pitchFamily="18" charset="0"/>
                <a:ea typeface="楷体_GB2312" pitchFamily="49" charset="-122"/>
              </a:defRPr>
            </a:lvl4pPr>
            <a:lvl5pPr defTabSz="586105">
              <a:defRPr sz="2800" b="1">
                <a:solidFill>
                  <a:schemeClr val="tx1"/>
                </a:solidFill>
                <a:latin typeface="Times New Roman" panose="02020603050405020304" pitchFamily="18" charset="0"/>
                <a:ea typeface="楷体_GB2312" pitchFamily="49" charset="-122"/>
              </a:defRPr>
            </a:lvl5pPr>
            <a:lvl6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586105"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586105"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900" b="1"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1900" b="1" i="0" u="none" strike="noStrike" kern="1200" cap="none" spc="0" normalizeH="0" baseline="0" noProof="0">
                <a:ln>
                  <a:noFill/>
                </a:ln>
                <a:solidFill>
                  <a:srgbClr val="CC0000"/>
                </a:solidFill>
                <a:effectLst/>
                <a:uLnTx/>
                <a:uFillTx/>
                <a:latin typeface="+mn-lt"/>
                <a:ea typeface="+mn-ea"/>
                <a:cs typeface="+mn-ea"/>
                <a:sym typeface="+mn-lt"/>
              </a:rPr>
              <a:t>1</a:t>
            </a:r>
          </a:p>
        </p:txBody>
      </p:sp>
      <p:sp>
        <p:nvSpPr>
          <p:cNvPr id="134185" name="Rectangle 43"/>
          <p:cNvSpPr>
            <a:spLocks noChangeArrowheads="1"/>
          </p:cNvSpPr>
          <p:nvPr/>
        </p:nvSpPr>
        <p:spPr bwMode="auto">
          <a:xfrm>
            <a:off x="1706563" y="1709738"/>
            <a:ext cx="442913" cy="4095750"/>
          </a:xfrm>
          <a:prstGeom prst="rect">
            <a:avLst/>
          </a:prstGeom>
          <a:noFill/>
          <a:ln>
            <a:noFill/>
          </a:ln>
        </p:spPr>
        <p:txBody>
          <a:bodyPr wrap="none" lIns="92075" tIns="46038" rIns="92075" bIns="46038">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rgbClr val="FF3300"/>
                </a:solidFill>
                <a:effectLst/>
                <a:uLnTx/>
                <a:uFillTx/>
                <a:latin typeface="+mn-lt"/>
                <a:ea typeface="+mn-ea"/>
                <a:cs typeface="+mn-ea"/>
                <a:sym typeface="+mn-lt"/>
              </a:rPr>
              <a:t>30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CN" sz="20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a:t>
            </a:r>
          </a:p>
        </p:txBody>
      </p:sp>
      <p:sp>
        <p:nvSpPr>
          <p:cNvPr id="134186" name="Rectangle 44"/>
          <p:cNvSpPr>
            <a:spLocks noChangeArrowheads="1"/>
          </p:cNvSpPr>
          <p:nvPr/>
        </p:nvSpPr>
        <p:spPr bwMode="auto">
          <a:xfrm>
            <a:off x="7645400" y="4316413"/>
            <a:ext cx="769938"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4187" name="Rectangle 45"/>
          <p:cNvSpPr>
            <a:spLocks noChangeArrowheads="1"/>
          </p:cNvSpPr>
          <p:nvPr/>
        </p:nvSpPr>
        <p:spPr bwMode="auto">
          <a:xfrm>
            <a:off x="1484313" y="5287963"/>
            <a:ext cx="803275" cy="4762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70</a:t>
            </a:r>
          </a:p>
        </p:txBody>
      </p:sp>
      <p:sp>
        <p:nvSpPr>
          <p:cNvPr id="134188" name="Rectangle 46"/>
          <p:cNvSpPr>
            <a:spLocks noChangeArrowheads="1"/>
          </p:cNvSpPr>
          <p:nvPr/>
        </p:nvSpPr>
        <p:spPr bwMode="auto">
          <a:xfrm>
            <a:off x="6310313" y="4313238"/>
            <a:ext cx="769938"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4189" name="Rectangle 47"/>
          <p:cNvSpPr>
            <a:spLocks noChangeArrowheads="1"/>
          </p:cNvSpPr>
          <p:nvPr/>
        </p:nvSpPr>
        <p:spPr bwMode="auto">
          <a:xfrm>
            <a:off x="1484313" y="4681538"/>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134190" name="Rectangle 48"/>
          <p:cNvSpPr>
            <a:spLocks noChangeArrowheads="1"/>
          </p:cNvSpPr>
          <p:nvPr/>
        </p:nvSpPr>
        <p:spPr bwMode="auto">
          <a:xfrm>
            <a:off x="4389438" y="4316413"/>
            <a:ext cx="769938"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4191" name="Rectangle 49"/>
          <p:cNvSpPr>
            <a:spLocks noChangeArrowheads="1"/>
          </p:cNvSpPr>
          <p:nvPr/>
        </p:nvSpPr>
        <p:spPr bwMode="auto">
          <a:xfrm>
            <a:off x="1484313" y="4008438"/>
            <a:ext cx="796925" cy="6191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134192" name="Rectangle 50"/>
          <p:cNvSpPr>
            <a:spLocks noChangeArrowheads="1"/>
          </p:cNvSpPr>
          <p:nvPr/>
        </p:nvSpPr>
        <p:spPr bwMode="auto">
          <a:xfrm>
            <a:off x="2941638" y="4313238"/>
            <a:ext cx="769938"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4193" name="Rectangle 51"/>
          <p:cNvSpPr>
            <a:spLocks noChangeArrowheads="1"/>
          </p:cNvSpPr>
          <p:nvPr/>
        </p:nvSpPr>
        <p:spPr bwMode="auto">
          <a:xfrm>
            <a:off x="1484313" y="3436938"/>
            <a:ext cx="769938"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30</a:t>
            </a:r>
          </a:p>
        </p:txBody>
      </p:sp>
      <p:sp>
        <p:nvSpPr>
          <p:cNvPr id="134194" name="Rectangle 52"/>
          <p:cNvSpPr>
            <a:spLocks noChangeArrowheads="1"/>
          </p:cNvSpPr>
          <p:nvPr/>
        </p:nvSpPr>
        <p:spPr bwMode="auto">
          <a:xfrm>
            <a:off x="6969125" y="3414713"/>
            <a:ext cx="769938"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sp>
        <p:nvSpPr>
          <p:cNvPr id="134195" name="Rectangle 53"/>
          <p:cNvSpPr>
            <a:spLocks noChangeArrowheads="1"/>
          </p:cNvSpPr>
          <p:nvPr/>
        </p:nvSpPr>
        <p:spPr bwMode="auto">
          <a:xfrm>
            <a:off x="1490663" y="2846388"/>
            <a:ext cx="757238"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12</a:t>
            </a:r>
          </a:p>
        </p:txBody>
      </p:sp>
      <p:sp>
        <p:nvSpPr>
          <p:cNvPr id="134196" name="Rectangle 58"/>
          <p:cNvSpPr>
            <a:spLocks noChangeArrowheads="1"/>
          </p:cNvSpPr>
          <p:nvPr/>
        </p:nvSpPr>
        <p:spPr bwMode="auto">
          <a:xfrm>
            <a:off x="3751263" y="3376613"/>
            <a:ext cx="769938" cy="4762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a:t>
            </a:r>
          </a:p>
        </p:txBody>
      </p:sp>
      <p:sp>
        <p:nvSpPr>
          <p:cNvPr id="134197" name="Rectangle 59"/>
          <p:cNvSpPr>
            <a:spLocks noChangeArrowheads="1"/>
          </p:cNvSpPr>
          <p:nvPr/>
        </p:nvSpPr>
        <p:spPr bwMode="auto">
          <a:xfrm>
            <a:off x="1517650" y="2151063"/>
            <a:ext cx="736600" cy="5810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a:t>
            </a:r>
          </a:p>
        </p:txBody>
      </p:sp>
    </p:spTree>
  </p:cSld>
  <p:clrMapOvr>
    <a:masterClrMapping/>
  </p:clrMapOvr>
  <p:transition spd="slow"/>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8873" name="Rectangle 329"/>
          <p:cNvSpPr>
            <a:spLocks noChangeArrowheads="1"/>
          </p:cNvSpPr>
          <p:nvPr/>
        </p:nvSpPr>
        <p:spPr bwMode="auto">
          <a:xfrm>
            <a:off x="827088" y="188913"/>
            <a:ext cx="24384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152579" name="椭圆 4"/>
          <p:cNvSpPr/>
          <p:nvPr/>
        </p:nvSpPr>
        <p:spPr>
          <a:xfrm>
            <a:off x="976313" y="4919663"/>
            <a:ext cx="95250"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52580" name="椭圆 5"/>
          <p:cNvSpPr/>
          <p:nvPr/>
        </p:nvSpPr>
        <p:spPr>
          <a:xfrm>
            <a:off x="306388" y="4929188"/>
            <a:ext cx="95250"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52581" name="椭圆 11"/>
          <p:cNvSpPr/>
          <p:nvPr/>
        </p:nvSpPr>
        <p:spPr>
          <a:xfrm>
            <a:off x="301625" y="2562225"/>
            <a:ext cx="96838"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8" name="矩形 7"/>
          <p:cNvSpPr>
            <a:spLocks noChangeArrowheads="1"/>
          </p:cNvSpPr>
          <p:nvPr/>
        </p:nvSpPr>
        <p:spPr bwMode="auto">
          <a:xfrm>
            <a:off x="0" y="2673350"/>
            <a:ext cx="9140825" cy="2339975"/>
          </a:xfrm>
          <a:prstGeom prst="rect">
            <a:avLst/>
          </a:prstGeom>
          <a:solidFill>
            <a:srgbClr val="F2F2F2"/>
          </a:solidFill>
          <a:ln>
            <a:noFill/>
          </a:ln>
        </p:spPr>
        <p:txBody>
          <a:bodyPr lIns="4248000" rIns="252000" anchor="ctr"/>
          <a:lstStyle/>
          <a:p>
            <a:pPr marL="0" marR="0" lvl="0" indent="0" algn="just" defTabSz="914400" rtl="0" eaLnBrk="1" fontAlgn="base" latinLnBrk="0" hangingPunct="1">
              <a:lnSpc>
                <a:spcPct val="130000"/>
              </a:lnSpc>
              <a:spcBef>
                <a:spcPts val="600"/>
              </a:spcBef>
              <a:spcAft>
                <a:spcPts val="600"/>
              </a:spcAft>
              <a:buClrTx/>
              <a:buSzTx/>
              <a:buFont typeface="Arial" panose="020B0604020202020204" pitchFamily="34" charset="0"/>
              <a:buNone/>
              <a:defRPr/>
            </a:pPr>
            <a:endParaRPr kumimoji="0" lang="zh-CN" altLang="en-US" sz="2800" b="1"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9" name="圆角矩形 15"/>
          <p:cNvSpPr>
            <a:spLocks noChangeArrowheads="1"/>
          </p:cNvSpPr>
          <p:nvPr/>
        </p:nvSpPr>
        <p:spPr bwMode="auto">
          <a:xfrm>
            <a:off x="331788" y="2559050"/>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2584" name="椭圆 9"/>
          <p:cNvSpPr/>
          <p:nvPr/>
        </p:nvSpPr>
        <p:spPr>
          <a:xfrm>
            <a:off x="971550" y="2552700"/>
            <a:ext cx="96838"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1" name="圆角矩形 15"/>
          <p:cNvSpPr>
            <a:spLocks noChangeArrowheads="1"/>
          </p:cNvSpPr>
          <p:nvPr/>
        </p:nvSpPr>
        <p:spPr bwMode="auto">
          <a:xfrm>
            <a:off x="1001713" y="2549525"/>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48874" name="Rectangle 330"/>
          <p:cNvSpPr>
            <a:spLocks noChangeArrowheads="1"/>
          </p:cNvSpPr>
          <p:nvPr/>
        </p:nvSpPr>
        <p:spPr bwMode="auto">
          <a:xfrm>
            <a:off x="2686050" y="2774950"/>
            <a:ext cx="3960813" cy="217328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15000"/>
              </a:lnSpc>
              <a:spcBef>
                <a:spcPct val="2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rgbClr val="FF0000"/>
                </a:solidFill>
                <a:effectLst/>
                <a:uLnTx/>
                <a:uFillTx/>
                <a:latin typeface="+mn-lt"/>
                <a:ea typeface="+mn-ea"/>
                <a:cs typeface="+mn-ea"/>
                <a:sym typeface="+mn-lt"/>
              </a:rPr>
              <a:t>时间效率：</a:t>
            </a:r>
            <a:r>
              <a:rPr kumimoji="0" lang="en-US" altLang="zh-CN" sz="2600" b="0" i="0" u="none" strike="noStrike" kern="1200" cap="none" spc="0" normalizeH="0" baseline="0" noProof="0" dirty="0">
                <a:ln>
                  <a:noFill/>
                </a:ln>
                <a:solidFill>
                  <a:schemeClr val="tx2"/>
                </a:solidFill>
                <a:effectLst/>
                <a:uLnTx/>
                <a:uFillTx/>
                <a:latin typeface="+mn-lt"/>
                <a:ea typeface="+mn-ea"/>
                <a:cs typeface="+mn-ea"/>
                <a:sym typeface="+mn-lt"/>
              </a:rPr>
              <a:t>O(nlog</a:t>
            </a:r>
            <a:r>
              <a:rPr kumimoji="0" lang="en-US" altLang="zh-CN" sz="2600" b="0" i="0" u="none" strike="noStrike" kern="1200" cap="none" spc="0" normalizeH="0" baseline="-30000" noProof="0" dirty="0">
                <a:ln>
                  <a:noFill/>
                </a:ln>
                <a:solidFill>
                  <a:schemeClr val="tx2"/>
                </a:solidFill>
                <a:effectLst/>
                <a:uLnTx/>
                <a:uFillTx/>
                <a:latin typeface="+mn-lt"/>
                <a:ea typeface="+mn-ea"/>
                <a:cs typeface="+mn-ea"/>
                <a:sym typeface="+mn-lt"/>
              </a:rPr>
              <a:t>2</a:t>
            </a:r>
            <a:r>
              <a:rPr kumimoji="0" lang="en-US" altLang="zh-CN" sz="2600" b="0" i="0" u="none" strike="noStrike" kern="1200" cap="none" spc="0" normalizeH="0" baseline="0" noProof="0" dirty="0">
                <a:ln>
                  <a:noFill/>
                </a:ln>
                <a:solidFill>
                  <a:schemeClr val="tx2"/>
                </a:solidFill>
                <a:effectLst/>
                <a:uLnTx/>
                <a:uFillTx/>
                <a:latin typeface="+mn-lt"/>
                <a:ea typeface="+mn-ea"/>
                <a:cs typeface="+mn-ea"/>
                <a:sym typeface="+mn-lt"/>
              </a:rPr>
              <a:t>n) </a:t>
            </a:r>
          </a:p>
          <a:p>
            <a:pPr marL="0" marR="0" lvl="0" indent="0" algn="l" defTabSz="914400" rtl="0" eaLnBrk="1" fontAlgn="base" latinLnBrk="0" hangingPunct="1">
              <a:lnSpc>
                <a:spcPct val="115000"/>
              </a:lnSpc>
              <a:spcBef>
                <a:spcPct val="2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rgbClr val="FF0000"/>
                </a:solidFill>
                <a:effectLst/>
                <a:uLnTx/>
                <a:uFillTx/>
                <a:latin typeface="+mn-lt"/>
                <a:ea typeface="+mn-ea"/>
                <a:cs typeface="+mn-ea"/>
                <a:sym typeface="+mn-lt"/>
              </a:rPr>
              <a:t>空间效率：</a:t>
            </a:r>
            <a:r>
              <a:rPr kumimoji="0" lang="en-US" altLang="zh-CN" sz="2600" b="0" i="0" u="none" strike="noStrike" kern="1200" cap="none" spc="0" normalizeH="0" baseline="0" noProof="0" dirty="0">
                <a:ln>
                  <a:noFill/>
                </a:ln>
                <a:solidFill>
                  <a:schemeClr val="tx2"/>
                </a:solidFill>
                <a:effectLst/>
                <a:uLnTx/>
                <a:uFillTx/>
                <a:latin typeface="+mn-lt"/>
                <a:ea typeface="+mn-ea"/>
                <a:cs typeface="+mn-ea"/>
                <a:sym typeface="+mn-lt"/>
              </a:rPr>
              <a:t>O</a:t>
            </a:r>
            <a:r>
              <a:rPr kumimoji="0" lang="zh-CN" altLang="en-US" sz="2600" b="0" i="0" u="none" strike="noStrike" kern="1200" cap="none" spc="0" normalizeH="0" baseline="0" noProof="0" dirty="0">
                <a:ln>
                  <a:noFill/>
                </a:ln>
                <a:solidFill>
                  <a:schemeClr val="tx2"/>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2"/>
                </a:solidFill>
                <a:effectLst/>
                <a:uLnTx/>
                <a:uFillTx/>
                <a:latin typeface="+mn-lt"/>
                <a:ea typeface="+mn-ea"/>
                <a:cs typeface="+mn-ea"/>
                <a:sym typeface="+mn-lt"/>
              </a:rPr>
              <a:t>1</a:t>
            </a:r>
            <a:r>
              <a:rPr kumimoji="0" lang="zh-CN" altLang="en-US" sz="2600" b="0" i="0" u="none" strike="noStrike" kern="1200" cap="none" spc="0" normalizeH="0" baseline="0" noProof="0" dirty="0">
                <a:ln>
                  <a:noFill/>
                </a:ln>
                <a:solidFill>
                  <a:schemeClr val="tx2"/>
                </a:solidFill>
                <a:effectLst/>
                <a:uLnTx/>
                <a:uFillTx/>
                <a:latin typeface="+mn-lt"/>
                <a:ea typeface="+mn-ea"/>
                <a:cs typeface="+mn-ea"/>
                <a:sym typeface="+mn-lt"/>
              </a:rPr>
              <a:t>）</a:t>
            </a:r>
          </a:p>
          <a:p>
            <a:pPr marL="0" marR="0" lvl="0" indent="0" algn="l" defTabSz="914400" rtl="0" eaLnBrk="1" fontAlgn="base" latinLnBrk="0" hangingPunct="1">
              <a:lnSpc>
                <a:spcPct val="115000"/>
              </a:lnSpc>
              <a:spcBef>
                <a:spcPct val="2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rgbClr val="FF0000"/>
                </a:solidFill>
                <a:effectLst/>
                <a:uLnTx/>
                <a:uFillTx/>
                <a:latin typeface="+mn-lt"/>
                <a:ea typeface="+mn-ea"/>
                <a:cs typeface="+mn-ea"/>
                <a:sym typeface="+mn-lt"/>
              </a:rPr>
              <a:t>稳 定 性：</a:t>
            </a:r>
            <a:r>
              <a:rPr kumimoji="0" lang="zh-CN" altLang="en-US" sz="2600" b="0" i="0" u="none" strike="noStrike" kern="1200" cap="none" spc="0" normalizeH="0" baseline="0" noProof="0" dirty="0">
                <a:ln>
                  <a:noFill/>
                </a:ln>
                <a:solidFill>
                  <a:schemeClr val="tx2"/>
                </a:solidFill>
                <a:effectLst/>
                <a:uLnTx/>
                <a:uFillTx/>
                <a:latin typeface="+mn-lt"/>
                <a:ea typeface="+mn-ea"/>
                <a:cs typeface="+mn-ea"/>
                <a:sym typeface="+mn-lt"/>
              </a:rPr>
              <a:t>不稳定</a:t>
            </a:r>
          </a:p>
          <a:p>
            <a:pPr marL="0" marR="0" lvl="0" indent="0" algn="l" defTabSz="914400" rtl="0" eaLnBrk="1" fontAlgn="base" latinLnBrk="0" hangingPunct="1">
              <a:lnSpc>
                <a:spcPct val="115000"/>
              </a:lnSpc>
              <a:spcBef>
                <a:spcPct val="2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rgbClr val="4D4D4D"/>
                </a:solidFill>
                <a:effectLst/>
                <a:uLnTx/>
                <a:uFillTx/>
                <a:latin typeface="+mn-lt"/>
                <a:ea typeface="+mn-ea"/>
                <a:cs typeface="+mn-ea"/>
                <a:sym typeface="+mn-lt"/>
              </a:rPr>
              <a:t>适用于</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n </a:t>
            </a:r>
            <a:r>
              <a:rPr kumimoji="0" lang="zh-CN" altLang="en-US" sz="2600" b="0" i="0" u="none" strike="noStrike" kern="1200" cap="none" spc="0" normalizeH="0" baseline="0" noProof="0" dirty="0">
                <a:ln>
                  <a:noFill/>
                </a:ln>
                <a:solidFill>
                  <a:srgbClr val="FF3300"/>
                </a:solidFill>
                <a:effectLst/>
                <a:uLnTx/>
                <a:uFillTx/>
                <a:latin typeface="+mn-lt"/>
                <a:ea typeface="+mn-ea"/>
                <a:cs typeface="+mn-ea"/>
                <a:sym typeface="+mn-lt"/>
              </a:rPr>
              <a:t>较大</a:t>
            </a:r>
            <a:r>
              <a:rPr kumimoji="0" lang="zh-CN" altLang="en-US" sz="2600" b="0" i="0" u="none" strike="noStrike" kern="1200" cap="none" spc="0" normalizeH="0" baseline="0" noProof="0" dirty="0">
                <a:ln>
                  <a:noFill/>
                </a:ln>
                <a:solidFill>
                  <a:srgbClr val="4D4D4D"/>
                </a:solidFill>
                <a:effectLst/>
                <a:uLnTx/>
                <a:uFillTx/>
                <a:latin typeface="+mn-lt"/>
                <a:ea typeface="+mn-ea"/>
                <a:cs typeface="+mn-ea"/>
                <a:sym typeface="+mn-lt"/>
              </a:rPr>
              <a:t>的情况</a:t>
            </a:r>
          </a:p>
        </p:txBody>
      </p:sp>
    </p:spTree>
  </p:cSld>
  <p:clrMapOvr>
    <a:masterClrMapping/>
  </p:clrMapOvr>
  <p:transition>
    <p:checker dir="ver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74887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74887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74887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748874">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8874" grpId="0" build="p"/>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11266" name="矩形: 圆角 16"/>
          <p:cNvSpPr>
            <a:spLocks noChangeArrowheads="1"/>
          </p:cNvSpPr>
          <p:nvPr/>
        </p:nvSpPr>
        <p:spPr bwMode="auto">
          <a:xfrm>
            <a:off x="2830513" y="4501833"/>
            <a:ext cx="4432300" cy="504825"/>
          </a:xfrm>
          <a:prstGeom prst="roundRect">
            <a:avLst>
              <a:gd name="adj" fmla="val 16667"/>
            </a:avLst>
          </a:prstGeom>
          <a:solidFill>
            <a:srgbClr val="9476B6"/>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1885950" y="4501833"/>
            <a:ext cx="839788" cy="504825"/>
          </a:xfrm>
          <a:prstGeom prst="roundRect">
            <a:avLst>
              <a:gd name="adj" fmla="val 16667"/>
            </a:avLst>
          </a:prstGeom>
          <a:solidFill>
            <a:schemeClr val="accent1"/>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sp>
        <p:nvSpPr>
          <p:cNvPr id="14" name="文本框 13"/>
          <p:cNvSpPr txBox="1"/>
          <p:nvPr/>
        </p:nvSpPr>
        <p:spPr>
          <a:xfrm>
            <a:off x="2005013" y="2205990"/>
            <a:ext cx="720725" cy="4523105"/>
          </a:xfrm>
          <a:prstGeom prst="rect">
            <a:avLst/>
          </a:prstGeom>
          <a:noFill/>
        </p:spPr>
        <p:txBody>
          <a:bodyPr>
            <a:spAutoFit/>
          </a:bodyPr>
          <a:lstStyle/>
          <a:p>
            <a:pPr marR="0" defTabSz="914400">
              <a:lnSpc>
                <a:spcPct val="150000"/>
              </a:lnSpc>
              <a:buClrTx/>
              <a:buSzTx/>
              <a:buFontTx/>
              <a:buNone/>
              <a:defRPr/>
            </a:pPr>
            <a:r>
              <a:rPr kumimoji="0" lang="en-US" altLang="zh-CN" sz="2400" b="0" kern="1200" cap="none" spc="0" normalizeH="0" baseline="0" noProof="0" dirty="0">
                <a:solidFill>
                  <a:schemeClr val="tx1"/>
                </a:solidFill>
                <a:latin typeface="+mn-lt"/>
                <a:ea typeface="+mn-ea"/>
                <a:cs typeface="+mn-ea"/>
                <a:sym typeface="+mn-lt"/>
              </a:rPr>
              <a:t>8.1</a:t>
            </a:r>
            <a:endParaRPr kumimoji="0" lang="zh-CN" altLang="en-US" sz="24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8.2</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8.3</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8.4</a:t>
            </a:r>
          </a:p>
          <a:p>
            <a:pPr marR="0" defTabSz="914400">
              <a:lnSpc>
                <a:spcPct val="150000"/>
              </a:lnSpc>
              <a:buClrTx/>
              <a:buSzTx/>
              <a:buFontTx/>
              <a:buNone/>
              <a:defRPr/>
            </a:pPr>
            <a:r>
              <a:rPr kumimoji="0" lang="en-US" altLang="zh-CN" sz="2400" b="0" kern="1200" cap="none" spc="0" normalizeH="0" baseline="0" noProof="0" dirty="0">
                <a:solidFill>
                  <a:schemeClr val="bg1"/>
                </a:solidFill>
                <a:latin typeface="+mn-lt"/>
                <a:ea typeface="+mn-ea"/>
                <a:cs typeface="+mn-ea"/>
                <a:sym typeface="+mn-lt"/>
              </a:rPr>
              <a:t>8.5</a:t>
            </a:r>
            <a:endParaRPr kumimoji="0" lang="en-US" altLang="zh-CN"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8.6</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8.7</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8.8</a:t>
            </a:r>
          </a:p>
        </p:txBody>
      </p:sp>
      <p:sp>
        <p:nvSpPr>
          <p:cNvPr id="15" name="文本框 14"/>
          <p:cNvSpPr txBox="1"/>
          <p:nvPr/>
        </p:nvSpPr>
        <p:spPr>
          <a:xfrm>
            <a:off x="2843530" y="2205990"/>
            <a:ext cx="4177665" cy="4523105"/>
          </a:xfrm>
          <a:prstGeom prst="rect">
            <a:avLst/>
          </a:prstGeom>
          <a:noFill/>
        </p:spPr>
        <p:txBody>
          <a:bodyPr wrap="square">
            <a:spAutoFit/>
          </a:bodyPr>
          <a:lstStyle/>
          <a:p>
            <a:pPr marR="0" defTabSz="914400">
              <a:lnSpc>
                <a:spcPct val="150000"/>
              </a:lnSpc>
              <a:buClrTx/>
              <a:buSzTx/>
              <a:buFontTx/>
              <a:buNone/>
              <a:defRPr/>
            </a:pPr>
            <a:r>
              <a:rPr kumimoji="0" lang="zh-CN" altLang="en-US" sz="2400" b="0" kern="1200" cap="none" spc="0" normalizeH="0" baseline="0" noProof="0" dirty="0">
                <a:solidFill>
                  <a:schemeClr val="bg1"/>
                </a:solidFill>
                <a:latin typeface="+mn-lt"/>
                <a:ea typeface="+mn-ea"/>
                <a:cs typeface="+mn-ea"/>
                <a:sym typeface="+mn-lt"/>
              </a:rPr>
              <a:t>　</a:t>
            </a:r>
            <a:r>
              <a:rPr kumimoji="0" lang="zh-CN" altLang="en-US" sz="2400" b="0" kern="1200" cap="none" spc="0" normalizeH="0" baseline="0" noProof="0" dirty="0">
                <a:solidFill>
                  <a:schemeClr val="tx1"/>
                </a:solidFill>
                <a:latin typeface="+mn-lt"/>
                <a:ea typeface="+mn-ea"/>
                <a:cs typeface="+mn-ea"/>
                <a:sym typeface="+mn-lt"/>
              </a:rPr>
              <a:t>概述</a:t>
            </a:r>
            <a:endParaRPr kumimoji="0" lang="zh-CN" altLang="en-US" sz="24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插入排序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交换排序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选择排序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a:t>
            </a:r>
            <a:r>
              <a:rPr kumimoji="0" lang="zh-CN" altLang="en-US" sz="2400" b="0" kern="1200" cap="none" spc="0" normalizeH="0" baseline="0" noProof="0" dirty="0">
                <a:solidFill>
                  <a:schemeClr val="bg1"/>
                </a:solidFill>
                <a:latin typeface="+mn-lt"/>
                <a:ea typeface="+mn-ea"/>
                <a:cs typeface="+mn-ea"/>
                <a:sym typeface="+mn-lt"/>
              </a:rPr>
              <a:t>归并排序</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基数排序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外部排序（考试不作要求）</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    </a:t>
            </a:r>
            <a:r>
              <a:rPr kumimoji="0" lang="zh-CN" altLang="en-US" sz="2400" b="0" kern="1200" cap="none" spc="0" normalizeH="0" baseline="0" noProof="0" dirty="0">
                <a:solidFill>
                  <a:srgbClr val="000000">
                    <a:lumMod val="95000"/>
                    <a:lumOff val="5000"/>
                  </a:srgbClr>
                </a:solidFill>
                <a:latin typeface="+mn-lt"/>
                <a:ea typeface="+mn-ea"/>
                <a:cs typeface="+mn-ea"/>
                <a:sym typeface="+mn-lt"/>
              </a:rPr>
              <a:t>LeetCode算法题</a:t>
            </a:r>
          </a:p>
        </p:txBody>
      </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transition spd="slow"/>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355"/>
          <p:cNvSpPr>
            <a:spLocks noChangeArrowheads="1"/>
          </p:cNvSpPr>
          <p:nvPr/>
        </p:nvSpPr>
        <p:spPr bwMode="auto">
          <a:xfrm>
            <a:off x="900113" y="168275"/>
            <a:ext cx="6156325" cy="6858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归并排序</a:t>
            </a:r>
          </a:p>
        </p:txBody>
      </p:sp>
      <p:sp>
        <p:nvSpPr>
          <p:cNvPr id="959847" name="Rectangle 359"/>
          <p:cNvSpPr>
            <a:spLocks noChangeArrowheads="1"/>
          </p:cNvSpPr>
          <p:nvPr/>
        </p:nvSpPr>
        <p:spPr bwMode="auto">
          <a:xfrm>
            <a:off x="179388" y="1144588"/>
            <a:ext cx="8964613" cy="523875"/>
          </a:xfrm>
          <a:prstGeom prst="rect">
            <a:avLst/>
          </a:prstGeom>
          <a:noFill/>
          <a:ln w="57150">
            <a:noFill/>
            <a:miter lim="800000"/>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归并：将两个或两个以上的有序表组合成一个新有序表</a:t>
            </a:r>
          </a:p>
        </p:txBody>
      </p:sp>
      <p:sp>
        <p:nvSpPr>
          <p:cNvPr id="959848" name="Rectangle 360"/>
          <p:cNvSpPr>
            <a:spLocks noChangeArrowheads="1"/>
          </p:cNvSpPr>
          <p:nvPr/>
        </p:nvSpPr>
        <p:spPr bwMode="auto">
          <a:xfrm>
            <a:off x="368300" y="1960563"/>
            <a:ext cx="8524875" cy="519113"/>
          </a:xfrm>
          <a:prstGeom prst="rect">
            <a:avLst/>
          </a:prstGeom>
          <a:solidFill>
            <a:schemeClr val="accent1">
              <a:lumMod val="60000"/>
              <a:lumOff val="4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rPr>
              <a:t>2-</a:t>
            </a: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路归并排序</a:t>
            </a:r>
          </a:p>
        </p:txBody>
      </p:sp>
      <p:sp>
        <p:nvSpPr>
          <p:cNvPr id="959849" name="Rectangle 361"/>
          <p:cNvSpPr>
            <a:spLocks noChangeArrowheads="1"/>
          </p:cNvSpPr>
          <p:nvPr/>
        </p:nvSpPr>
        <p:spPr bwMode="auto">
          <a:xfrm>
            <a:off x="395288" y="2636838"/>
            <a:ext cx="8497888" cy="2994025"/>
          </a:xfrm>
          <a:prstGeom prst="rect">
            <a:avLst/>
          </a:prstGeom>
          <a:solidFill>
            <a:schemeClr val="bg2">
              <a:lumMod val="20000"/>
              <a:lumOff val="8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排序过程</a:t>
            </a:r>
          </a:p>
          <a:p>
            <a:pPr marL="342900" marR="0" lvl="0" indent="-342900" algn="l" defTabSz="914400" rtl="0" eaLnBrk="0" fontAlgn="base" latinLnBrk="0" hangingPunct="0">
              <a:lnSpc>
                <a:spcPct val="125000"/>
              </a:lnSpc>
              <a:spcBef>
                <a:spcPct val="20000"/>
              </a:spcBef>
              <a:spcAft>
                <a:spcPct val="0"/>
              </a:spcAft>
              <a:buClr>
                <a:schemeClr val="accent2"/>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初始序列看成</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个</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有序子序列，每个子序列长度为</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1</a:t>
            </a:r>
          </a:p>
          <a:p>
            <a:pPr marL="342900" marR="0" lvl="0" indent="-342900" algn="l" defTabSz="914400" rtl="0" eaLnBrk="0" fontAlgn="base" latinLnBrk="0" hangingPunct="0">
              <a:lnSpc>
                <a:spcPct val="125000"/>
              </a:lnSpc>
              <a:spcBef>
                <a:spcPct val="20000"/>
              </a:spcBef>
              <a:spcAft>
                <a:spcPct val="0"/>
              </a:spcAft>
              <a:buClr>
                <a:schemeClr val="accent2"/>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两两合并</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，得到 </a:t>
            </a:r>
            <a:r>
              <a:rPr kumimoji="0" lang="zh-CN" altLang="en-US" sz="2800" b="0" i="0" u="none" strike="noStrike" kern="1200" cap="none" spc="0" normalizeH="0" baseline="0" noProof="0" dirty="0">
                <a:ln>
                  <a:noFill/>
                </a:ln>
                <a:solidFill>
                  <a:srgbClr val="4D4D4D"/>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800" b="0" i="0" u="none" strike="noStrike" kern="1200" cap="none" spc="0" normalizeH="0" baseline="0" noProof="0" dirty="0">
                <a:ln>
                  <a:noFill/>
                </a:ln>
                <a:solidFill>
                  <a:srgbClr val="4D4D4D"/>
                </a:solidFill>
                <a:effectLst/>
                <a:uLnTx/>
                <a:uFillTx/>
                <a:latin typeface="+mn-lt"/>
                <a:ea typeface="+mn-ea"/>
                <a:cs typeface="+mn-ea"/>
                <a:sym typeface="+mn-lt"/>
              </a:rPr>
              <a:t>n/2</a:t>
            </a:r>
            <a:r>
              <a:rPr kumimoji="0" lang="en-US" altLang="zh-CN" sz="2800" b="1" i="0" u="none" strike="noStrike" kern="1200" cap="none" spc="0" normalizeH="0" baseline="0" noProof="0" dirty="0">
                <a:ln>
                  <a:noFill/>
                </a:ln>
                <a:solidFill>
                  <a:srgbClr val="4D4D4D"/>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800" b="0" i="0" u="none" strike="noStrike" kern="1200" cap="none" spc="0" normalizeH="0" baseline="0" noProof="0" dirty="0">
                <a:ln>
                  <a:noFill/>
                </a:ln>
                <a:solidFill>
                  <a:srgbClr val="4D4D4D"/>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个长度为</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或</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的有序子序列</a:t>
            </a:r>
          </a:p>
          <a:p>
            <a:pPr marL="342900" marR="0" lvl="0" indent="-342900" algn="l" defTabSz="914400" rtl="0" eaLnBrk="0" fontAlgn="base" latinLnBrk="0" hangingPunct="0">
              <a:lnSpc>
                <a:spcPct val="125000"/>
              </a:lnSpc>
              <a:spcBef>
                <a:spcPct val="20000"/>
              </a:spcBef>
              <a:spcAft>
                <a:spcPct val="0"/>
              </a:spcAft>
              <a:buClr>
                <a:schemeClr val="accent2"/>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再两两合并，重复直至得到</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一个</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长度为</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的有序序列为止</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959847"/>
                                        </p:tgtEl>
                                        <p:attrNameLst>
                                          <p:attrName>style.visibility</p:attrName>
                                        </p:attrNameLst>
                                      </p:cBhvr>
                                      <p:to>
                                        <p:strVal val="visible"/>
                                      </p:to>
                                    </p:set>
                                    <p:animEffect transition="in" filter="box(in)">
                                      <p:cBhvr>
                                        <p:cTn id="7" dur="500"/>
                                        <p:tgtEl>
                                          <p:spTgt spid="959847"/>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959848"/>
                                        </p:tgtEl>
                                        <p:attrNameLst>
                                          <p:attrName>style.visibility</p:attrName>
                                        </p:attrNameLst>
                                      </p:cBhvr>
                                      <p:to>
                                        <p:strVal val="visible"/>
                                      </p:to>
                                    </p:set>
                                    <p:animEffect transition="in" filter="box(in)">
                                      <p:cBhvr>
                                        <p:cTn id="12" dur="500"/>
                                        <p:tgtEl>
                                          <p:spTgt spid="959848"/>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959849"/>
                                        </p:tgtEl>
                                        <p:attrNameLst>
                                          <p:attrName>style.visibility</p:attrName>
                                        </p:attrNameLst>
                                      </p:cBhvr>
                                      <p:to>
                                        <p:strVal val="visible"/>
                                      </p:to>
                                    </p:set>
                                    <p:animEffect transition="in" filter="box(in)">
                                      <p:cBhvr>
                                        <p:cTn id="17" dur="500"/>
                                        <p:tgtEl>
                                          <p:spTgt spid="9598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9847" grpId="0"/>
      <p:bldP spid="959848" grpId="0" animBg="1"/>
      <p:bldP spid="959849"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368550"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55670"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8" name="AutoShape 32"/>
          <p:cNvSpPr>
            <a:spLocks noChangeArrowheads="1"/>
          </p:cNvSpPr>
          <p:nvPr/>
        </p:nvSpPr>
        <p:spPr bwMode="auto">
          <a:xfrm>
            <a:off x="2651125"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FFC000"/>
              </a:solidFill>
              <a:effectLst/>
              <a:uLnTx/>
              <a:uFillTx/>
              <a:latin typeface="+mn-lt"/>
              <a:ea typeface="+mn-ea"/>
              <a:cs typeface="+mn-ea"/>
              <a:sym typeface="+mn-lt"/>
            </a:endParaRPr>
          </a:p>
        </p:txBody>
      </p:sp>
      <p:sp>
        <p:nvSpPr>
          <p:cNvPr id="137249" name="AutoShape 33"/>
          <p:cNvSpPr>
            <a:spLocks noChangeArrowheads="1"/>
          </p:cNvSpPr>
          <p:nvPr/>
        </p:nvSpPr>
        <p:spPr bwMode="auto">
          <a:xfrm>
            <a:off x="2646363"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2674938"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1" name="Text Box 35"/>
          <p:cNvSpPr txBox="1">
            <a:spLocks noChangeArrowheads="1"/>
          </p:cNvSpPr>
          <p:nvPr/>
        </p:nvSpPr>
        <p:spPr bwMode="auto">
          <a:xfrm>
            <a:off x="2736850"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
        <p:nvSpPr>
          <p:cNvPr id="137252" name="Text Box 36"/>
          <p:cNvSpPr txBox="1">
            <a:spLocks noChangeArrowheads="1"/>
          </p:cNvSpPr>
          <p:nvPr/>
        </p:nvSpPr>
        <p:spPr bwMode="auto">
          <a:xfrm>
            <a:off x="2736850"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2787650"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Tree>
  </p:cSld>
  <p:clrMapOvr>
    <a:masterClrMapping/>
  </p:clrMapOvr>
  <p:transition>
    <p:wipe dir="d"/>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530475"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56694"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2646363"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2674938"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2" name="Text Box 36"/>
          <p:cNvSpPr txBox="1">
            <a:spLocks noChangeArrowheads="1"/>
          </p:cNvSpPr>
          <p:nvPr/>
        </p:nvSpPr>
        <p:spPr bwMode="auto">
          <a:xfrm>
            <a:off x="2736850"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2787650"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608263"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41" name="AutoShape 32"/>
          <p:cNvSpPr>
            <a:spLocks noChangeArrowheads="1"/>
          </p:cNvSpPr>
          <p:nvPr/>
        </p:nvSpPr>
        <p:spPr bwMode="auto">
          <a:xfrm>
            <a:off x="2651125"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FFC000"/>
              </a:solidFill>
              <a:effectLst/>
              <a:uLnTx/>
              <a:uFillTx/>
              <a:latin typeface="+mn-lt"/>
              <a:ea typeface="+mn-ea"/>
              <a:cs typeface="+mn-ea"/>
              <a:sym typeface="+mn-lt"/>
            </a:endParaRPr>
          </a:p>
        </p:txBody>
      </p:sp>
      <p:sp>
        <p:nvSpPr>
          <p:cNvPr id="42" name="Text Box 35"/>
          <p:cNvSpPr txBox="1">
            <a:spLocks noChangeArrowheads="1"/>
          </p:cNvSpPr>
          <p:nvPr/>
        </p:nvSpPr>
        <p:spPr bwMode="auto">
          <a:xfrm>
            <a:off x="2736850"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Tree>
  </p:cSld>
  <p:clrMapOvr>
    <a:masterClrMapping/>
  </p:clrMapOvr>
  <p:transition>
    <p:wipe dir="d"/>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530475"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57718"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3424238"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3402013"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2" name="Text Box 36"/>
          <p:cNvSpPr txBox="1">
            <a:spLocks noChangeArrowheads="1"/>
          </p:cNvSpPr>
          <p:nvPr/>
        </p:nvSpPr>
        <p:spPr bwMode="auto">
          <a:xfrm>
            <a:off x="3514725"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3514725"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608263"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AutoShape 32"/>
          <p:cNvSpPr>
            <a:spLocks noChangeArrowheads="1"/>
          </p:cNvSpPr>
          <p:nvPr/>
        </p:nvSpPr>
        <p:spPr bwMode="auto">
          <a:xfrm>
            <a:off x="2651125"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FFC000"/>
              </a:solidFill>
              <a:effectLst/>
              <a:uLnTx/>
              <a:uFillTx/>
              <a:latin typeface="+mn-lt"/>
              <a:ea typeface="+mn-ea"/>
              <a:cs typeface="+mn-ea"/>
              <a:sym typeface="+mn-lt"/>
            </a:endParaRPr>
          </a:p>
        </p:txBody>
      </p:sp>
      <p:sp>
        <p:nvSpPr>
          <p:cNvPr id="42" name="Text Box 35"/>
          <p:cNvSpPr txBox="1">
            <a:spLocks noChangeArrowheads="1"/>
          </p:cNvSpPr>
          <p:nvPr/>
        </p:nvSpPr>
        <p:spPr bwMode="auto">
          <a:xfrm>
            <a:off x="2736850"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Tree>
  </p:cSld>
  <p:clrMapOvr>
    <a:masterClrMapping/>
  </p:clrMapOvr>
  <p:transition>
    <p:wipe dir="d"/>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530475"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58742"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3424238"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3402013"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2" name="Text Box 36"/>
          <p:cNvSpPr txBox="1">
            <a:spLocks noChangeArrowheads="1"/>
          </p:cNvSpPr>
          <p:nvPr/>
        </p:nvSpPr>
        <p:spPr bwMode="auto">
          <a:xfrm>
            <a:off x="3514725"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3514725"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608263"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Text Box 10"/>
          <p:cNvSpPr txBox="1">
            <a:spLocks noChangeArrowheads="1"/>
          </p:cNvSpPr>
          <p:nvPr/>
        </p:nvSpPr>
        <p:spPr bwMode="auto">
          <a:xfrm>
            <a:off x="326707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2" name="AutoShape 32"/>
          <p:cNvSpPr>
            <a:spLocks noChangeArrowheads="1"/>
          </p:cNvSpPr>
          <p:nvPr/>
        </p:nvSpPr>
        <p:spPr bwMode="auto">
          <a:xfrm>
            <a:off x="2651125"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FFC000"/>
              </a:solidFill>
              <a:effectLst/>
              <a:uLnTx/>
              <a:uFillTx/>
              <a:latin typeface="+mn-lt"/>
              <a:ea typeface="+mn-ea"/>
              <a:cs typeface="+mn-ea"/>
              <a:sym typeface="+mn-lt"/>
            </a:endParaRPr>
          </a:p>
        </p:txBody>
      </p:sp>
      <p:sp>
        <p:nvSpPr>
          <p:cNvPr id="43" name="Text Box 35"/>
          <p:cNvSpPr txBox="1">
            <a:spLocks noChangeArrowheads="1"/>
          </p:cNvSpPr>
          <p:nvPr/>
        </p:nvSpPr>
        <p:spPr bwMode="auto">
          <a:xfrm>
            <a:off x="2736850"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Tree>
  </p:cSld>
  <p:clrMapOvr>
    <a:masterClrMapping/>
  </p:clrMapOvr>
  <p:transition>
    <p:wipe dir="d"/>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530475"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59766"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8" name="AutoShape 32"/>
          <p:cNvSpPr>
            <a:spLocks noChangeArrowheads="1"/>
          </p:cNvSpPr>
          <p:nvPr/>
        </p:nvSpPr>
        <p:spPr bwMode="auto">
          <a:xfrm>
            <a:off x="3429000"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FFC000"/>
              </a:solidFill>
              <a:effectLst/>
              <a:uLnTx/>
              <a:uFillTx/>
              <a:latin typeface="+mn-lt"/>
              <a:ea typeface="+mn-ea"/>
              <a:cs typeface="+mn-ea"/>
              <a:sym typeface="+mn-lt"/>
            </a:endParaRPr>
          </a:p>
        </p:txBody>
      </p:sp>
      <p:sp>
        <p:nvSpPr>
          <p:cNvPr id="137249" name="AutoShape 33"/>
          <p:cNvSpPr>
            <a:spLocks noChangeArrowheads="1"/>
          </p:cNvSpPr>
          <p:nvPr/>
        </p:nvSpPr>
        <p:spPr bwMode="auto">
          <a:xfrm>
            <a:off x="3424238"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4194175"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1" name="Text Box 35"/>
          <p:cNvSpPr txBox="1">
            <a:spLocks noChangeArrowheads="1"/>
          </p:cNvSpPr>
          <p:nvPr/>
        </p:nvSpPr>
        <p:spPr bwMode="auto">
          <a:xfrm>
            <a:off x="3514725"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
        <p:nvSpPr>
          <p:cNvPr id="137252" name="Text Box 36"/>
          <p:cNvSpPr txBox="1">
            <a:spLocks noChangeArrowheads="1"/>
          </p:cNvSpPr>
          <p:nvPr/>
        </p:nvSpPr>
        <p:spPr bwMode="auto">
          <a:xfrm>
            <a:off x="3514725"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4306888"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608263"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Text Box 10"/>
          <p:cNvSpPr txBox="1">
            <a:spLocks noChangeArrowheads="1"/>
          </p:cNvSpPr>
          <p:nvPr/>
        </p:nvSpPr>
        <p:spPr bwMode="auto">
          <a:xfrm>
            <a:off x="326707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2" name="Text Box 9"/>
          <p:cNvSpPr txBox="1">
            <a:spLocks noChangeArrowheads="1"/>
          </p:cNvSpPr>
          <p:nvPr/>
        </p:nvSpPr>
        <p:spPr bwMode="auto">
          <a:xfrm>
            <a:off x="4040188"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Tree>
  </p:cSld>
  <p:clrMapOvr>
    <a:masterClrMapping/>
  </p:clrMapOvr>
  <p:transition>
    <p:wipe dir="d"/>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530475"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60790"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8" name="AutoShape 32"/>
          <p:cNvSpPr>
            <a:spLocks noChangeArrowheads="1"/>
          </p:cNvSpPr>
          <p:nvPr/>
        </p:nvSpPr>
        <p:spPr bwMode="auto">
          <a:xfrm>
            <a:off x="4148138"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3424238"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4986338"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1" name="Text Box 35"/>
          <p:cNvSpPr txBox="1">
            <a:spLocks noChangeArrowheads="1"/>
          </p:cNvSpPr>
          <p:nvPr/>
        </p:nvSpPr>
        <p:spPr bwMode="auto">
          <a:xfrm>
            <a:off x="4235450"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
        <p:nvSpPr>
          <p:cNvPr id="137252" name="Text Box 36"/>
          <p:cNvSpPr txBox="1">
            <a:spLocks noChangeArrowheads="1"/>
          </p:cNvSpPr>
          <p:nvPr/>
        </p:nvSpPr>
        <p:spPr bwMode="auto">
          <a:xfrm>
            <a:off x="3514725"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5099050"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608263"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Text Box 10"/>
          <p:cNvSpPr txBox="1">
            <a:spLocks noChangeArrowheads="1"/>
          </p:cNvSpPr>
          <p:nvPr/>
        </p:nvSpPr>
        <p:spPr bwMode="auto">
          <a:xfrm>
            <a:off x="326707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2" name="Text Box 9"/>
          <p:cNvSpPr txBox="1">
            <a:spLocks noChangeArrowheads="1"/>
          </p:cNvSpPr>
          <p:nvPr/>
        </p:nvSpPr>
        <p:spPr bwMode="auto">
          <a:xfrm>
            <a:off x="4040188"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Tree>
  </p:cSld>
  <p:clrMapOvr>
    <a:masterClrMapping/>
  </p:clrMapOvr>
  <p:transition>
    <p:wipe dir="d"/>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530475"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61814"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8" name="AutoShape 32"/>
          <p:cNvSpPr>
            <a:spLocks noChangeArrowheads="1"/>
          </p:cNvSpPr>
          <p:nvPr/>
        </p:nvSpPr>
        <p:spPr bwMode="auto">
          <a:xfrm>
            <a:off x="4148138"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3424238"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4986338"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1" name="Text Box 35"/>
          <p:cNvSpPr txBox="1">
            <a:spLocks noChangeArrowheads="1"/>
          </p:cNvSpPr>
          <p:nvPr/>
        </p:nvSpPr>
        <p:spPr bwMode="auto">
          <a:xfrm>
            <a:off x="4235450"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
        <p:nvSpPr>
          <p:cNvPr id="137252" name="Text Box 36"/>
          <p:cNvSpPr txBox="1">
            <a:spLocks noChangeArrowheads="1"/>
          </p:cNvSpPr>
          <p:nvPr/>
        </p:nvSpPr>
        <p:spPr bwMode="auto">
          <a:xfrm>
            <a:off x="3514725"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5099050"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608263"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Text Box 10"/>
          <p:cNvSpPr txBox="1">
            <a:spLocks noChangeArrowheads="1"/>
          </p:cNvSpPr>
          <p:nvPr/>
        </p:nvSpPr>
        <p:spPr bwMode="auto">
          <a:xfrm>
            <a:off x="326707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2" name="Text Box 9"/>
          <p:cNvSpPr txBox="1">
            <a:spLocks noChangeArrowheads="1"/>
          </p:cNvSpPr>
          <p:nvPr/>
        </p:nvSpPr>
        <p:spPr bwMode="auto">
          <a:xfrm>
            <a:off x="4040188"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3" name="Text Box 11"/>
          <p:cNvSpPr txBox="1">
            <a:spLocks noChangeArrowheads="1"/>
          </p:cNvSpPr>
          <p:nvPr/>
        </p:nvSpPr>
        <p:spPr bwMode="auto">
          <a:xfrm>
            <a:off x="4803775" y="48863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Tree>
  </p:cSld>
  <p:clrMapOvr>
    <a:masterClrMapping/>
  </p:clrMapOvr>
  <p:transition>
    <p:wipe dir="d"/>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530475"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62838"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8" name="AutoShape 32"/>
          <p:cNvSpPr>
            <a:spLocks noChangeArrowheads="1"/>
          </p:cNvSpPr>
          <p:nvPr/>
        </p:nvSpPr>
        <p:spPr bwMode="auto">
          <a:xfrm>
            <a:off x="4940300"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3424238"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5707063"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1" name="Text Box 35"/>
          <p:cNvSpPr txBox="1">
            <a:spLocks noChangeArrowheads="1"/>
          </p:cNvSpPr>
          <p:nvPr/>
        </p:nvSpPr>
        <p:spPr bwMode="auto">
          <a:xfrm>
            <a:off x="5027613"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
        <p:nvSpPr>
          <p:cNvPr id="137252" name="Text Box 36"/>
          <p:cNvSpPr txBox="1">
            <a:spLocks noChangeArrowheads="1"/>
          </p:cNvSpPr>
          <p:nvPr/>
        </p:nvSpPr>
        <p:spPr bwMode="auto">
          <a:xfrm>
            <a:off x="3514725"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5819775"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608263"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Text Box 10"/>
          <p:cNvSpPr txBox="1">
            <a:spLocks noChangeArrowheads="1"/>
          </p:cNvSpPr>
          <p:nvPr/>
        </p:nvSpPr>
        <p:spPr bwMode="auto">
          <a:xfrm>
            <a:off x="326707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2" name="Text Box 9"/>
          <p:cNvSpPr txBox="1">
            <a:spLocks noChangeArrowheads="1"/>
          </p:cNvSpPr>
          <p:nvPr/>
        </p:nvSpPr>
        <p:spPr bwMode="auto">
          <a:xfrm>
            <a:off x="4040188"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3" name="Text Box 11"/>
          <p:cNvSpPr txBox="1">
            <a:spLocks noChangeArrowheads="1"/>
          </p:cNvSpPr>
          <p:nvPr/>
        </p:nvSpPr>
        <p:spPr bwMode="auto">
          <a:xfrm>
            <a:off x="4803775" y="48863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Tree>
  </p:cSld>
  <p:clrMapOvr>
    <a:masterClrMapping/>
  </p:clrMapOvr>
  <p:transition>
    <p:wipe dir="d"/>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530475"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63862"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8" name="AutoShape 32"/>
          <p:cNvSpPr>
            <a:spLocks noChangeArrowheads="1"/>
          </p:cNvSpPr>
          <p:nvPr/>
        </p:nvSpPr>
        <p:spPr bwMode="auto">
          <a:xfrm>
            <a:off x="4940300"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3424238"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5707063"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1" name="Text Box 35"/>
          <p:cNvSpPr txBox="1">
            <a:spLocks noChangeArrowheads="1"/>
          </p:cNvSpPr>
          <p:nvPr/>
        </p:nvSpPr>
        <p:spPr bwMode="auto">
          <a:xfrm>
            <a:off x="5027613"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
        <p:nvSpPr>
          <p:cNvPr id="137252" name="Text Box 36"/>
          <p:cNvSpPr txBox="1">
            <a:spLocks noChangeArrowheads="1"/>
          </p:cNvSpPr>
          <p:nvPr/>
        </p:nvSpPr>
        <p:spPr bwMode="auto">
          <a:xfrm>
            <a:off x="3514725"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5819775"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608263"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Text Box 10"/>
          <p:cNvSpPr txBox="1">
            <a:spLocks noChangeArrowheads="1"/>
          </p:cNvSpPr>
          <p:nvPr/>
        </p:nvSpPr>
        <p:spPr bwMode="auto">
          <a:xfrm>
            <a:off x="326707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2" name="Text Box 9"/>
          <p:cNvSpPr txBox="1">
            <a:spLocks noChangeArrowheads="1"/>
          </p:cNvSpPr>
          <p:nvPr/>
        </p:nvSpPr>
        <p:spPr bwMode="auto">
          <a:xfrm>
            <a:off x="4040188"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3" name="Text Box 11"/>
          <p:cNvSpPr txBox="1">
            <a:spLocks noChangeArrowheads="1"/>
          </p:cNvSpPr>
          <p:nvPr/>
        </p:nvSpPr>
        <p:spPr bwMode="auto">
          <a:xfrm>
            <a:off x="4803775" y="48863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4" name="Text Box 17"/>
          <p:cNvSpPr txBox="1">
            <a:spLocks noChangeArrowheads="1"/>
          </p:cNvSpPr>
          <p:nvPr/>
        </p:nvSpPr>
        <p:spPr bwMode="auto">
          <a:xfrm>
            <a:off x="5505450" y="48879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Tree>
  </p:cSld>
  <p:clrMapOvr>
    <a:masterClrMapping/>
  </p:clrMapOvr>
  <p:transition>
    <p:wipe dir="d"/>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471613"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497013"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633913"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870325"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3103563"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235902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3113088"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23622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88461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635500"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497013"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876675"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3109913"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2365375"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3119438"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530475"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890963"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857250"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863600"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64886" name="组合 1"/>
          <p:cNvGrpSpPr/>
          <p:nvPr/>
        </p:nvGrpSpPr>
        <p:grpSpPr>
          <a:xfrm>
            <a:off x="2378075"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477963"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881063"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8" name="AutoShape 32"/>
          <p:cNvSpPr>
            <a:spLocks noChangeArrowheads="1"/>
          </p:cNvSpPr>
          <p:nvPr/>
        </p:nvSpPr>
        <p:spPr bwMode="auto">
          <a:xfrm>
            <a:off x="4940300"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4143375"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6426200"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1" name="Text Box 35"/>
          <p:cNvSpPr txBox="1">
            <a:spLocks noChangeArrowheads="1"/>
          </p:cNvSpPr>
          <p:nvPr/>
        </p:nvSpPr>
        <p:spPr bwMode="auto">
          <a:xfrm>
            <a:off x="5027613"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
        <p:nvSpPr>
          <p:cNvPr id="137252" name="Text Box 36"/>
          <p:cNvSpPr txBox="1">
            <a:spLocks noChangeArrowheads="1"/>
          </p:cNvSpPr>
          <p:nvPr/>
        </p:nvSpPr>
        <p:spPr bwMode="auto">
          <a:xfrm>
            <a:off x="4235450"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6538913"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608263"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Text Box 10"/>
          <p:cNvSpPr txBox="1">
            <a:spLocks noChangeArrowheads="1"/>
          </p:cNvSpPr>
          <p:nvPr/>
        </p:nvSpPr>
        <p:spPr bwMode="auto">
          <a:xfrm>
            <a:off x="326707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2" name="Text Box 9"/>
          <p:cNvSpPr txBox="1">
            <a:spLocks noChangeArrowheads="1"/>
          </p:cNvSpPr>
          <p:nvPr/>
        </p:nvSpPr>
        <p:spPr bwMode="auto">
          <a:xfrm>
            <a:off x="4040188"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3" name="Text Box 11"/>
          <p:cNvSpPr txBox="1">
            <a:spLocks noChangeArrowheads="1"/>
          </p:cNvSpPr>
          <p:nvPr/>
        </p:nvSpPr>
        <p:spPr bwMode="auto">
          <a:xfrm>
            <a:off x="4803775" y="48863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4" name="Text Box 17"/>
          <p:cNvSpPr txBox="1">
            <a:spLocks noChangeArrowheads="1"/>
          </p:cNvSpPr>
          <p:nvPr/>
        </p:nvSpPr>
        <p:spPr bwMode="auto">
          <a:xfrm>
            <a:off x="5505450" y="48879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Tree>
  </p:cSld>
  <p:clrMapOvr>
    <a:masterClrMapping/>
  </p:clrMapOvr>
  <p:transition>
    <p:wipe dir="d"/>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082675"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108075"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24497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481388"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2714625"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1970088"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2724150"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197326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495675"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24656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108075"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487738"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2720975"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1976438"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2730500"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141538"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502025"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468313"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474663"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108075"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65910" name="组合 1"/>
          <p:cNvGrpSpPr/>
          <p:nvPr/>
        </p:nvGrpSpPr>
        <p:grpSpPr>
          <a:xfrm>
            <a:off x="1989138"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089025"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492125"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8" name="AutoShape 32"/>
          <p:cNvSpPr>
            <a:spLocks noChangeArrowheads="1"/>
          </p:cNvSpPr>
          <p:nvPr/>
        </p:nvSpPr>
        <p:spPr bwMode="auto">
          <a:xfrm>
            <a:off x="4551363"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4546600"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6757988"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1" name="Text Box 35"/>
          <p:cNvSpPr txBox="1">
            <a:spLocks noChangeArrowheads="1"/>
          </p:cNvSpPr>
          <p:nvPr/>
        </p:nvSpPr>
        <p:spPr bwMode="auto">
          <a:xfrm>
            <a:off x="4638675"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
        <p:nvSpPr>
          <p:cNvPr id="137252" name="Text Box 36"/>
          <p:cNvSpPr txBox="1">
            <a:spLocks noChangeArrowheads="1"/>
          </p:cNvSpPr>
          <p:nvPr/>
        </p:nvSpPr>
        <p:spPr bwMode="auto">
          <a:xfrm>
            <a:off x="4638675"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6870700"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21932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Text Box 10"/>
          <p:cNvSpPr txBox="1">
            <a:spLocks noChangeArrowheads="1"/>
          </p:cNvSpPr>
          <p:nvPr/>
        </p:nvSpPr>
        <p:spPr bwMode="auto">
          <a:xfrm>
            <a:off x="2878138"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2" name="Text Box 9"/>
          <p:cNvSpPr txBox="1">
            <a:spLocks noChangeArrowheads="1"/>
          </p:cNvSpPr>
          <p:nvPr/>
        </p:nvSpPr>
        <p:spPr bwMode="auto">
          <a:xfrm>
            <a:off x="3651250"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3" name="Text Box 11"/>
          <p:cNvSpPr txBox="1">
            <a:spLocks noChangeArrowheads="1"/>
          </p:cNvSpPr>
          <p:nvPr/>
        </p:nvSpPr>
        <p:spPr bwMode="auto">
          <a:xfrm>
            <a:off x="4414838" y="48863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4" name="Text Box 17"/>
          <p:cNvSpPr txBox="1">
            <a:spLocks noChangeArrowheads="1"/>
          </p:cNvSpPr>
          <p:nvPr/>
        </p:nvSpPr>
        <p:spPr bwMode="auto">
          <a:xfrm>
            <a:off x="5116513" y="48879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5" name="Text Box 19"/>
          <p:cNvSpPr txBox="1">
            <a:spLocks noChangeArrowheads="1"/>
          </p:cNvSpPr>
          <p:nvPr/>
        </p:nvSpPr>
        <p:spPr bwMode="auto">
          <a:xfrm>
            <a:off x="584517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6" name="Text Box 46"/>
          <p:cNvSpPr txBox="1">
            <a:spLocks noChangeArrowheads="1"/>
          </p:cNvSpPr>
          <p:nvPr/>
        </p:nvSpPr>
        <p:spPr bwMode="auto">
          <a:xfrm>
            <a:off x="5314950" y="1855788"/>
            <a:ext cx="3273425" cy="1477963"/>
          </a:xfrm>
          <a:prstGeom prst="rect">
            <a:avLst/>
          </a:prstGeom>
          <a:solidFill>
            <a:srgbClr val="CCCCFF"/>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B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表的元素都已移入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C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表，只需将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表的剩余部分移入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C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表即可</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Tree>
  </p:cSld>
  <p:clrMapOvr>
    <a:masterClrMapping/>
  </p:clrMapOvr>
  <p:transition>
    <p:wipe dir="d"/>
  </p:transition>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p:cNvSpPr txBox="1">
            <a:spLocks noChangeArrowheads="1"/>
          </p:cNvSpPr>
          <p:nvPr/>
        </p:nvSpPr>
        <p:spPr bwMode="auto">
          <a:xfrm>
            <a:off x="1082675" y="1536700"/>
            <a:ext cx="3889375"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a:t>
            </a:r>
          </a:p>
        </p:txBody>
      </p:sp>
      <p:sp>
        <p:nvSpPr>
          <p:cNvPr id="137220" name="Rectangle 4"/>
          <p:cNvSpPr>
            <a:spLocks noChangeArrowheads="1"/>
          </p:cNvSpPr>
          <p:nvPr/>
        </p:nvSpPr>
        <p:spPr bwMode="auto">
          <a:xfrm>
            <a:off x="1108075" y="1874838"/>
            <a:ext cx="3887788" cy="604838"/>
          </a:xfrm>
          <a:prstGeom prst="rect">
            <a:avLst/>
          </a:prstGeom>
          <a:solidFill>
            <a:schemeClr val="accent1">
              <a:lumMod val="20000"/>
              <a:lumOff val="8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1" name="Line 5"/>
          <p:cNvSpPr>
            <a:spLocks noChangeShapeType="1"/>
          </p:cNvSpPr>
          <p:nvPr/>
        </p:nvSpPr>
        <p:spPr bwMode="auto">
          <a:xfrm flipH="1">
            <a:off x="4244975"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2" name="Line 6"/>
          <p:cNvSpPr>
            <a:spLocks noChangeShapeType="1"/>
          </p:cNvSpPr>
          <p:nvPr/>
        </p:nvSpPr>
        <p:spPr bwMode="auto">
          <a:xfrm flipH="1">
            <a:off x="3481388" y="1866900"/>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3" name="Line 7"/>
          <p:cNvSpPr>
            <a:spLocks noChangeShapeType="1"/>
          </p:cNvSpPr>
          <p:nvPr/>
        </p:nvSpPr>
        <p:spPr bwMode="auto">
          <a:xfrm flipH="1">
            <a:off x="2714625" y="1890713"/>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4" name="Line 8"/>
          <p:cNvSpPr>
            <a:spLocks noChangeShapeType="1"/>
          </p:cNvSpPr>
          <p:nvPr/>
        </p:nvSpPr>
        <p:spPr bwMode="auto">
          <a:xfrm flipH="1">
            <a:off x="1970088" y="186848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25" name="Text Box 9"/>
          <p:cNvSpPr txBox="1">
            <a:spLocks noChangeArrowheads="1"/>
          </p:cNvSpPr>
          <p:nvPr/>
        </p:nvSpPr>
        <p:spPr bwMode="auto">
          <a:xfrm>
            <a:off x="2724150" y="194945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6" name="Text Box 10"/>
          <p:cNvSpPr txBox="1">
            <a:spLocks noChangeArrowheads="1"/>
          </p:cNvSpPr>
          <p:nvPr/>
        </p:nvSpPr>
        <p:spPr bwMode="auto">
          <a:xfrm>
            <a:off x="197326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7" name="Text Box 11"/>
          <p:cNvSpPr txBox="1">
            <a:spLocks noChangeArrowheads="1"/>
          </p:cNvSpPr>
          <p:nvPr/>
        </p:nvSpPr>
        <p:spPr bwMode="auto">
          <a:xfrm>
            <a:off x="3495675"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8" name="Text Box 12"/>
          <p:cNvSpPr txBox="1">
            <a:spLocks noChangeArrowheads="1"/>
          </p:cNvSpPr>
          <p:nvPr/>
        </p:nvSpPr>
        <p:spPr bwMode="auto">
          <a:xfrm>
            <a:off x="4246563" y="19383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29" name="Rectangle 13"/>
          <p:cNvSpPr>
            <a:spLocks noChangeArrowheads="1"/>
          </p:cNvSpPr>
          <p:nvPr/>
        </p:nvSpPr>
        <p:spPr bwMode="auto">
          <a:xfrm>
            <a:off x="1108075" y="3302000"/>
            <a:ext cx="3170238" cy="628650"/>
          </a:xfrm>
          <a:prstGeom prst="rect">
            <a:avLst/>
          </a:prstGeom>
          <a:solidFill>
            <a:schemeClr val="accent1">
              <a:lumMod val="40000"/>
              <a:lumOff val="6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0" name="Line 14"/>
          <p:cNvSpPr>
            <a:spLocks noChangeShapeType="1"/>
          </p:cNvSpPr>
          <p:nvPr/>
        </p:nvSpPr>
        <p:spPr bwMode="auto">
          <a:xfrm flipH="1">
            <a:off x="3487738" y="3322638"/>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1" name="Line 15"/>
          <p:cNvSpPr>
            <a:spLocks noChangeShapeType="1"/>
          </p:cNvSpPr>
          <p:nvPr/>
        </p:nvSpPr>
        <p:spPr bwMode="auto">
          <a:xfrm flipH="1">
            <a:off x="2720975" y="331787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2" name="Line 16"/>
          <p:cNvSpPr>
            <a:spLocks noChangeShapeType="1"/>
          </p:cNvSpPr>
          <p:nvPr/>
        </p:nvSpPr>
        <p:spPr bwMode="auto">
          <a:xfrm flipH="1">
            <a:off x="1976438" y="3324225"/>
            <a:ext cx="0" cy="604838"/>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3" name="Text Box 17"/>
          <p:cNvSpPr txBox="1">
            <a:spLocks noChangeArrowheads="1"/>
          </p:cNvSpPr>
          <p:nvPr/>
        </p:nvSpPr>
        <p:spPr bwMode="auto">
          <a:xfrm>
            <a:off x="2730500" y="33893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76</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4" name="Text Box 18"/>
          <p:cNvSpPr txBox="1">
            <a:spLocks noChangeArrowheads="1"/>
          </p:cNvSpPr>
          <p:nvPr/>
        </p:nvSpPr>
        <p:spPr bwMode="auto">
          <a:xfrm>
            <a:off x="2141538" y="34051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7</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5" name="Text Box 19"/>
          <p:cNvSpPr txBox="1">
            <a:spLocks noChangeArrowheads="1"/>
          </p:cNvSpPr>
          <p:nvPr/>
        </p:nvSpPr>
        <p:spPr bwMode="auto">
          <a:xfrm>
            <a:off x="3502025" y="33782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37236" name="Text Box 20"/>
          <p:cNvSpPr txBox="1">
            <a:spLocks noChangeArrowheads="1"/>
          </p:cNvSpPr>
          <p:nvPr/>
        </p:nvSpPr>
        <p:spPr bwMode="auto">
          <a:xfrm>
            <a:off x="468313" y="185578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A</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7" name="Text Box 21"/>
          <p:cNvSpPr txBox="1">
            <a:spLocks noChangeArrowheads="1"/>
          </p:cNvSpPr>
          <p:nvPr/>
        </p:nvSpPr>
        <p:spPr bwMode="auto">
          <a:xfrm>
            <a:off x="474663" y="3302000"/>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B</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38" name="Rectangle 22"/>
          <p:cNvSpPr>
            <a:spLocks noChangeArrowheads="1"/>
          </p:cNvSpPr>
          <p:nvPr/>
        </p:nvSpPr>
        <p:spPr bwMode="auto">
          <a:xfrm>
            <a:off x="1108075" y="4827588"/>
            <a:ext cx="6042025" cy="546100"/>
          </a:xfrm>
          <a:prstGeom prst="rect">
            <a:avLst/>
          </a:prstGeom>
          <a:solidFill>
            <a:schemeClr val="accent1">
              <a:lumMod val="60000"/>
              <a:lumOff val="40000"/>
            </a:schemeClr>
          </a:solidFill>
          <a:ln w="9525">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66934" name="组合 1"/>
          <p:cNvGrpSpPr/>
          <p:nvPr/>
        </p:nvGrpSpPr>
        <p:grpSpPr>
          <a:xfrm>
            <a:off x="1989138" y="4827588"/>
            <a:ext cx="4495800" cy="546100"/>
            <a:chOff x="2208213" y="5047456"/>
            <a:chExt cx="4495800" cy="557212"/>
          </a:xfrm>
        </p:grpSpPr>
        <p:sp>
          <p:nvSpPr>
            <p:cNvPr id="137239" name="Line 23"/>
            <p:cNvSpPr>
              <a:spLocks noChangeShapeType="1"/>
            </p:cNvSpPr>
            <p:nvPr/>
          </p:nvSpPr>
          <p:spPr bwMode="auto">
            <a:xfrm>
              <a:off x="3732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0" name="Line 24"/>
            <p:cNvSpPr>
              <a:spLocks noChangeShapeType="1"/>
            </p:cNvSpPr>
            <p:nvPr/>
          </p:nvSpPr>
          <p:spPr bwMode="auto">
            <a:xfrm>
              <a:off x="2208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1" name="Line 25"/>
            <p:cNvSpPr>
              <a:spLocks noChangeShapeType="1"/>
            </p:cNvSpPr>
            <p:nvPr/>
          </p:nvSpPr>
          <p:spPr bwMode="auto">
            <a:xfrm>
              <a:off x="2970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2" name="Line 26"/>
            <p:cNvSpPr>
              <a:spLocks noChangeShapeType="1"/>
            </p:cNvSpPr>
            <p:nvPr/>
          </p:nvSpPr>
          <p:spPr bwMode="auto">
            <a:xfrm>
              <a:off x="4494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3" name="Line 27"/>
            <p:cNvSpPr>
              <a:spLocks noChangeShapeType="1"/>
            </p:cNvSpPr>
            <p:nvPr/>
          </p:nvSpPr>
          <p:spPr bwMode="auto">
            <a:xfrm>
              <a:off x="52562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4" name="Line 28"/>
            <p:cNvSpPr>
              <a:spLocks noChangeShapeType="1"/>
            </p:cNvSpPr>
            <p:nvPr/>
          </p:nvSpPr>
          <p:spPr bwMode="auto">
            <a:xfrm>
              <a:off x="5942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5" name="Line 29"/>
            <p:cNvSpPr>
              <a:spLocks noChangeShapeType="1"/>
            </p:cNvSpPr>
            <p:nvPr/>
          </p:nvSpPr>
          <p:spPr bwMode="auto">
            <a:xfrm>
              <a:off x="6704013" y="5047456"/>
              <a:ext cx="0" cy="557212"/>
            </a:xfrm>
            <a:prstGeom prst="line">
              <a:avLst/>
            </a:prstGeom>
            <a:noFill/>
            <a:ln w="952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37246" name="Text Box 30"/>
          <p:cNvSpPr txBox="1">
            <a:spLocks noChangeArrowheads="1"/>
          </p:cNvSpPr>
          <p:nvPr/>
        </p:nvSpPr>
        <p:spPr bwMode="auto">
          <a:xfrm>
            <a:off x="1089025" y="4427538"/>
            <a:ext cx="608806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0             1             2             3	      4             5            6             7      </a:t>
            </a:r>
          </a:p>
        </p:txBody>
      </p:sp>
      <p:sp>
        <p:nvSpPr>
          <p:cNvPr id="137247" name="Text Box 31"/>
          <p:cNvSpPr txBox="1">
            <a:spLocks noChangeArrowheads="1"/>
          </p:cNvSpPr>
          <p:nvPr/>
        </p:nvSpPr>
        <p:spPr bwMode="auto">
          <a:xfrm>
            <a:off x="492125"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C</a:t>
            </a:r>
            <a:endParaRPr kumimoji="0" lang="en-US" altLang="zh-CN" sz="1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8" name="AutoShape 32"/>
          <p:cNvSpPr>
            <a:spLocks noChangeArrowheads="1"/>
          </p:cNvSpPr>
          <p:nvPr/>
        </p:nvSpPr>
        <p:spPr bwMode="auto">
          <a:xfrm>
            <a:off x="4551363" y="1354138"/>
            <a:ext cx="112713" cy="538163"/>
          </a:xfrm>
          <a:prstGeom prst="downArrow">
            <a:avLst>
              <a:gd name="adj1" fmla="val 50000"/>
              <a:gd name="adj2" fmla="val 119322"/>
            </a:avLst>
          </a:prstGeom>
          <a:solidFill>
            <a:srgbClr val="FFC000"/>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49" name="AutoShape 33"/>
          <p:cNvSpPr>
            <a:spLocks noChangeArrowheads="1"/>
          </p:cNvSpPr>
          <p:nvPr/>
        </p:nvSpPr>
        <p:spPr bwMode="auto">
          <a:xfrm>
            <a:off x="4546600" y="2757488"/>
            <a:ext cx="112713" cy="538163"/>
          </a:xfrm>
          <a:prstGeom prst="downArrow">
            <a:avLst>
              <a:gd name="adj1" fmla="val 50000"/>
              <a:gd name="adj2" fmla="val 119321"/>
            </a:avLst>
          </a:prstGeom>
          <a:solidFill>
            <a:schemeClr val="accent2"/>
          </a:solidFill>
          <a:ln w="9525">
            <a:no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0" name="AutoShape 34"/>
          <p:cNvSpPr>
            <a:spLocks noChangeArrowheads="1"/>
          </p:cNvSpPr>
          <p:nvPr/>
        </p:nvSpPr>
        <p:spPr bwMode="auto">
          <a:xfrm>
            <a:off x="6757988" y="4221163"/>
            <a:ext cx="112713" cy="538163"/>
          </a:xfrm>
          <a:prstGeom prst="downArrow">
            <a:avLst>
              <a:gd name="adj1" fmla="val 50000"/>
              <a:gd name="adj2" fmla="val 119322"/>
            </a:avLst>
          </a:prstGeom>
          <a:solidFill>
            <a:srgbClr val="FF0000"/>
          </a:solidFill>
          <a:ln w="9525">
            <a:solidFill>
              <a:srgbClr val="FF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7251" name="Text Box 35"/>
          <p:cNvSpPr txBox="1">
            <a:spLocks noChangeArrowheads="1"/>
          </p:cNvSpPr>
          <p:nvPr/>
        </p:nvSpPr>
        <p:spPr bwMode="auto">
          <a:xfrm>
            <a:off x="4638675"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rgbClr val="FFC000"/>
                </a:solidFill>
                <a:effectLst/>
                <a:uLnTx/>
                <a:uFillTx/>
                <a:latin typeface="+mn-lt"/>
                <a:ea typeface="+mn-ea"/>
                <a:cs typeface="+mn-ea"/>
                <a:sym typeface="+mn-lt"/>
              </a:rPr>
              <a:t>i</a:t>
            </a:r>
            <a:endParaRPr kumimoji="0" lang="en-US" altLang="zh-CN" sz="1400" b="1" i="0" u="none" strike="noStrike" kern="1200" cap="none" spc="0" normalizeH="0" baseline="0" noProof="0" dirty="0">
              <a:ln>
                <a:noFill/>
              </a:ln>
              <a:solidFill>
                <a:srgbClr val="FFC000"/>
              </a:solidFill>
              <a:effectLst/>
              <a:uLnTx/>
              <a:uFillTx/>
              <a:latin typeface="+mn-lt"/>
              <a:ea typeface="+mn-ea"/>
              <a:cs typeface="+mn-ea"/>
              <a:sym typeface="+mn-lt"/>
            </a:endParaRPr>
          </a:p>
        </p:txBody>
      </p:sp>
      <p:sp>
        <p:nvSpPr>
          <p:cNvPr id="137252" name="Text Box 36"/>
          <p:cNvSpPr txBox="1">
            <a:spLocks noChangeArrowheads="1"/>
          </p:cNvSpPr>
          <p:nvPr/>
        </p:nvSpPr>
        <p:spPr bwMode="auto">
          <a:xfrm>
            <a:off x="4638675" y="263207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accent2"/>
                </a:solidFill>
                <a:effectLst/>
                <a:uLnTx/>
                <a:uFillTx/>
                <a:latin typeface="+mn-lt"/>
                <a:ea typeface="+mn-ea"/>
                <a:cs typeface="+mn-ea"/>
                <a:sym typeface="+mn-lt"/>
              </a:rPr>
              <a:t>j</a:t>
            </a:r>
            <a:endParaRPr kumimoji="0" lang="en-US" altLang="zh-CN" sz="1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37253" name="Text Box 37"/>
          <p:cNvSpPr txBox="1">
            <a:spLocks noChangeArrowheads="1"/>
          </p:cNvSpPr>
          <p:nvPr/>
        </p:nvSpPr>
        <p:spPr bwMode="auto">
          <a:xfrm>
            <a:off x="6870700" y="4144963"/>
            <a:ext cx="481013"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rgbClr val="FF0000"/>
                </a:solidFill>
                <a:effectLst/>
                <a:uLnTx/>
                <a:uFillTx/>
                <a:latin typeface="+mn-lt"/>
                <a:ea typeface="+mn-ea"/>
                <a:cs typeface="+mn-ea"/>
                <a:sym typeface="+mn-lt"/>
              </a:rPr>
              <a:t>k</a:t>
            </a:r>
          </a:p>
        </p:txBody>
      </p:sp>
      <p:sp>
        <p:nvSpPr>
          <p:cNvPr id="39"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
        <p:nvSpPr>
          <p:cNvPr id="40" name="Text Box 18"/>
          <p:cNvSpPr txBox="1">
            <a:spLocks noChangeArrowheads="1"/>
          </p:cNvSpPr>
          <p:nvPr/>
        </p:nvSpPr>
        <p:spPr bwMode="auto">
          <a:xfrm>
            <a:off x="221932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1" name="Text Box 10"/>
          <p:cNvSpPr txBox="1">
            <a:spLocks noChangeArrowheads="1"/>
          </p:cNvSpPr>
          <p:nvPr/>
        </p:nvSpPr>
        <p:spPr bwMode="auto">
          <a:xfrm>
            <a:off x="2878138"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13</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2" name="Text Box 9"/>
          <p:cNvSpPr txBox="1">
            <a:spLocks noChangeArrowheads="1"/>
          </p:cNvSpPr>
          <p:nvPr/>
        </p:nvSpPr>
        <p:spPr bwMode="auto">
          <a:xfrm>
            <a:off x="3651250" y="488156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49</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3" name="Text Box 11"/>
          <p:cNvSpPr txBox="1">
            <a:spLocks noChangeArrowheads="1"/>
          </p:cNvSpPr>
          <p:nvPr/>
        </p:nvSpPr>
        <p:spPr bwMode="auto">
          <a:xfrm>
            <a:off x="4414838" y="4886325"/>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65</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4" name="Text Box 17"/>
          <p:cNvSpPr txBox="1">
            <a:spLocks noChangeArrowheads="1"/>
          </p:cNvSpPr>
          <p:nvPr/>
        </p:nvSpPr>
        <p:spPr bwMode="auto">
          <a:xfrm>
            <a:off x="5116513" y="4887913"/>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76</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5" name="Text Box 19"/>
          <p:cNvSpPr txBox="1">
            <a:spLocks noChangeArrowheads="1"/>
          </p:cNvSpPr>
          <p:nvPr/>
        </p:nvSpPr>
        <p:spPr bwMode="auto">
          <a:xfrm>
            <a:off x="5845175"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80</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7" name="Text Box 12"/>
          <p:cNvSpPr txBox="1">
            <a:spLocks noChangeArrowheads="1"/>
          </p:cNvSpPr>
          <p:nvPr/>
        </p:nvSpPr>
        <p:spPr bwMode="auto">
          <a:xfrm>
            <a:off x="6573838" y="48974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97</a:t>
            </a:r>
            <a:endParaRPr kumimoji="0" lang="en-US" altLang="zh-CN" sz="1400" b="1" i="0" u="none" strike="noStrike" kern="1200" cap="none" spc="0" normalizeH="0" baseline="0" noProof="0" dirty="0">
              <a:ln>
                <a:noFill/>
              </a:ln>
              <a:solidFill>
                <a:schemeClr val="bg1"/>
              </a:solidFill>
              <a:effectLst/>
              <a:uLnTx/>
              <a:uFillTx/>
              <a:latin typeface="+mn-lt"/>
              <a:ea typeface="+mn-ea"/>
              <a:cs typeface="+mn-ea"/>
              <a:sym typeface="+mn-lt"/>
            </a:endParaRPr>
          </a:p>
        </p:txBody>
      </p:sp>
    </p:spTree>
  </p:cSld>
  <p:clrMapOvr>
    <a:masterClrMapping/>
  </p:clrMapOvr>
  <p:transition>
    <p:wipe dir="d"/>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bwMode="auto">
          <a:xfrm>
            <a:off x="0" y="1895475"/>
            <a:ext cx="9144000" cy="388937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094658" name="Text Box 2"/>
          <p:cNvSpPr txBox="1">
            <a:spLocks noChangeArrowheads="1"/>
          </p:cNvSpPr>
          <p:nvPr/>
        </p:nvSpPr>
        <p:spPr bwMode="auto">
          <a:xfrm>
            <a:off x="857250" y="1341438"/>
            <a:ext cx="492125" cy="460375"/>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例</a:t>
            </a:r>
          </a:p>
        </p:txBody>
      </p:sp>
      <p:sp>
        <p:nvSpPr>
          <p:cNvPr id="1094659" name="Text Box 3"/>
          <p:cNvSpPr txBox="1">
            <a:spLocks noChangeArrowheads="1"/>
          </p:cNvSpPr>
          <p:nvPr/>
        </p:nvSpPr>
        <p:spPr bwMode="auto">
          <a:xfrm>
            <a:off x="911225" y="2100263"/>
            <a:ext cx="7315200" cy="461963"/>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初始关键字：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   [38]   [65]   [97]   [76]   [13]   [27]</a:t>
            </a:r>
          </a:p>
        </p:txBody>
      </p:sp>
      <p:grpSp>
        <p:nvGrpSpPr>
          <p:cNvPr id="2" name="Group 4"/>
          <p:cNvGrpSpPr/>
          <p:nvPr/>
        </p:nvGrpSpPr>
        <p:grpSpPr>
          <a:xfrm>
            <a:off x="3403600" y="2498725"/>
            <a:ext cx="3649663" cy="211138"/>
            <a:chOff x="2466" y="763"/>
            <a:chExt cx="2299" cy="133"/>
          </a:xfrm>
        </p:grpSpPr>
        <p:grpSp>
          <p:nvGrpSpPr>
            <p:cNvPr id="167959" name="Group 5"/>
            <p:cNvGrpSpPr/>
            <p:nvPr/>
          </p:nvGrpSpPr>
          <p:grpSpPr>
            <a:xfrm>
              <a:off x="2466" y="763"/>
              <a:ext cx="409" cy="115"/>
              <a:chOff x="2466" y="763"/>
              <a:chExt cx="409" cy="115"/>
            </a:xfrm>
          </p:grpSpPr>
          <p:sp>
            <p:nvSpPr>
              <p:cNvPr id="151558" name="Line 6"/>
              <p:cNvSpPr>
                <a:spLocks noChangeShapeType="1"/>
              </p:cNvSpPr>
              <p:nvPr/>
            </p:nvSpPr>
            <p:spPr bwMode="auto">
              <a:xfrm>
                <a:off x="2467" y="767"/>
                <a:ext cx="1" cy="111"/>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59" name="Line 7"/>
              <p:cNvSpPr>
                <a:spLocks noChangeShapeType="1"/>
              </p:cNvSpPr>
              <p:nvPr/>
            </p:nvSpPr>
            <p:spPr bwMode="auto">
              <a:xfrm>
                <a:off x="2466" y="878"/>
                <a:ext cx="389" cy="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60" name="Line 8"/>
              <p:cNvSpPr>
                <a:spLocks noChangeShapeType="1"/>
              </p:cNvSpPr>
              <p:nvPr/>
            </p:nvSpPr>
            <p:spPr bwMode="auto">
              <a:xfrm>
                <a:off x="2874" y="763"/>
                <a:ext cx="1" cy="111"/>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67960" name="Group 9"/>
            <p:cNvGrpSpPr/>
            <p:nvPr/>
          </p:nvGrpSpPr>
          <p:grpSpPr>
            <a:xfrm>
              <a:off x="3449" y="781"/>
              <a:ext cx="409" cy="115"/>
              <a:chOff x="2697" y="763"/>
              <a:chExt cx="409" cy="115"/>
            </a:xfrm>
          </p:grpSpPr>
          <p:sp>
            <p:nvSpPr>
              <p:cNvPr id="151562" name="Line 10"/>
              <p:cNvSpPr>
                <a:spLocks noChangeShapeType="1"/>
              </p:cNvSpPr>
              <p:nvPr/>
            </p:nvSpPr>
            <p:spPr bwMode="auto">
              <a:xfrm>
                <a:off x="2698" y="767"/>
                <a:ext cx="1" cy="111"/>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63" name="Line 11"/>
              <p:cNvSpPr>
                <a:spLocks noChangeShapeType="1"/>
              </p:cNvSpPr>
              <p:nvPr/>
            </p:nvSpPr>
            <p:spPr bwMode="auto">
              <a:xfrm>
                <a:off x="2697" y="878"/>
                <a:ext cx="389" cy="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64" name="Line 12"/>
              <p:cNvSpPr>
                <a:spLocks noChangeShapeType="1"/>
              </p:cNvSpPr>
              <p:nvPr/>
            </p:nvSpPr>
            <p:spPr bwMode="auto">
              <a:xfrm>
                <a:off x="3105" y="763"/>
                <a:ext cx="1" cy="111"/>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67961" name="Group 13"/>
            <p:cNvGrpSpPr/>
            <p:nvPr/>
          </p:nvGrpSpPr>
          <p:grpSpPr>
            <a:xfrm>
              <a:off x="4356" y="781"/>
              <a:ext cx="409" cy="115"/>
              <a:chOff x="2816" y="763"/>
              <a:chExt cx="409" cy="115"/>
            </a:xfrm>
          </p:grpSpPr>
          <p:sp>
            <p:nvSpPr>
              <p:cNvPr id="151566" name="Line 14"/>
              <p:cNvSpPr>
                <a:spLocks noChangeShapeType="1"/>
              </p:cNvSpPr>
              <p:nvPr/>
            </p:nvSpPr>
            <p:spPr bwMode="auto">
              <a:xfrm>
                <a:off x="2817" y="767"/>
                <a:ext cx="1" cy="111"/>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67" name="Line 15"/>
              <p:cNvSpPr>
                <a:spLocks noChangeShapeType="1"/>
              </p:cNvSpPr>
              <p:nvPr/>
            </p:nvSpPr>
            <p:spPr bwMode="auto">
              <a:xfrm>
                <a:off x="2816" y="878"/>
                <a:ext cx="389" cy="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68" name="Line 16"/>
              <p:cNvSpPr>
                <a:spLocks noChangeShapeType="1"/>
              </p:cNvSpPr>
              <p:nvPr/>
            </p:nvSpPr>
            <p:spPr bwMode="auto">
              <a:xfrm>
                <a:off x="3224" y="763"/>
                <a:ext cx="1" cy="111"/>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1094673" name="Text Box 17"/>
          <p:cNvSpPr txBox="1">
            <a:spLocks noChangeArrowheads="1"/>
          </p:cNvSpPr>
          <p:nvPr/>
        </p:nvSpPr>
        <p:spPr bwMode="auto">
          <a:xfrm>
            <a:off x="885825" y="3028950"/>
            <a:ext cx="7315200" cy="461963"/>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一趟归并后：    </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[38      49]   [65     97]   [13      76]   [27]</a:t>
            </a:r>
          </a:p>
        </p:txBody>
      </p:sp>
      <p:grpSp>
        <p:nvGrpSpPr>
          <p:cNvPr id="6" name="Group 18"/>
          <p:cNvGrpSpPr/>
          <p:nvPr/>
        </p:nvGrpSpPr>
        <p:grpSpPr>
          <a:xfrm>
            <a:off x="3856038" y="3432175"/>
            <a:ext cx="3946525" cy="158750"/>
            <a:chOff x="2656" y="1378"/>
            <a:chExt cx="2486" cy="100"/>
          </a:xfrm>
        </p:grpSpPr>
        <p:grpSp>
          <p:nvGrpSpPr>
            <p:cNvPr id="167951" name="Group 19"/>
            <p:cNvGrpSpPr/>
            <p:nvPr/>
          </p:nvGrpSpPr>
          <p:grpSpPr>
            <a:xfrm>
              <a:off x="2656" y="1378"/>
              <a:ext cx="778" cy="100"/>
              <a:chOff x="2656" y="1378"/>
              <a:chExt cx="778" cy="100"/>
            </a:xfrm>
          </p:grpSpPr>
          <p:sp>
            <p:nvSpPr>
              <p:cNvPr id="151572" name="Line 20"/>
              <p:cNvSpPr>
                <a:spLocks noChangeShapeType="1"/>
              </p:cNvSpPr>
              <p:nvPr/>
            </p:nvSpPr>
            <p:spPr bwMode="auto">
              <a:xfrm>
                <a:off x="2656" y="1378"/>
                <a:ext cx="0" cy="10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73" name="Line 21"/>
              <p:cNvSpPr>
                <a:spLocks noChangeShapeType="1"/>
              </p:cNvSpPr>
              <p:nvPr/>
            </p:nvSpPr>
            <p:spPr bwMode="auto">
              <a:xfrm>
                <a:off x="2656" y="1478"/>
                <a:ext cx="778" cy="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74" name="Line 22"/>
              <p:cNvSpPr>
                <a:spLocks noChangeShapeType="1"/>
              </p:cNvSpPr>
              <p:nvPr/>
            </p:nvSpPr>
            <p:spPr bwMode="auto">
              <a:xfrm flipV="1">
                <a:off x="3434" y="1378"/>
                <a:ext cx="0" cy="10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67952" name="Group 23"/>
            <p:cNvGrpSpPr/>
            <p:nvPr/>
          </p:nvGrpSpPr>
          <p:grpSpPr>
            <a:xfrm>
              <a:off x="4217" y="1378"/>
              <a:ext cx="925" cy="100"/>
              <a:chOff x="2877" y="1371"/>
              <a:chExt cx="925" cy="100"/>
            </a:xfrm>
          </p:grpSpPr>
          <p:sp>
            <p:nvSpPr>
              <p:cNvPr id="151576" name="Line 24"/>
              <p:cNvSpPr>
                <a:spLocks noChangeShapeType="1"/>
              </p:cNvSpPr>
              <p:nvPr/>
            </p:nvSpPr>
            <p:spPr bwMode="auto">
              <a:xfrm>
                <a:off x="2877" y="1371"/>
                <a:ext cx="0" cy="10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77" name="Line 25"/>
              <p:cNvSpPr>
                <a:spLocks noChangeShapeType="1"/>
              </p:cNvSpPr>
              <p:nvPr/>
            </p:nvSpPr>
            <p:spPr bwMode="auto">
              <a:xfrm>
                <a:off x="2877" y="1471"/>
                <a:ext cx="925" cy="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78" name="Line 26"/>
              <p:cNvSpPr>
                <a:spLocks noChangeShapeType="1"/>
              </p:cNvSpPr>
              <p:nvPr/>
            </p:nvSpPr>
            <p:spPr bwMode="auto">
              <a:xfrm flipV="1">
                <a:off x="3802" y="1371"/>
                <a:ext cx="0" cy="10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1094683" name="Text Box 27"/>
          <p:cNvSpPr txBox="1">
            <a:spLocks noChangeArrowheads="1"/>
          </p:cNvSpPr>
          <p:nvPr/>
        </p:nvSpPr>
        <p:spPr bwMode="auto">
          <a:xfrm>
            <a:off x="827088" y="3973513"/>
            <a:ext cx="7366000" cy="461963"/>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二趟归并后：    </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[38       49    65       97]   [13      27     76]</a:t>
            </a:r>
          </a:p>
        </p:txBody>
      </p:sp>
      <p:grpSp>
        <p:nvGrpSpPr>
          <p:cNvPr id="9" name="Group 28"/>
          <p:cNvGrpSpPr/>
          <p:nvPr/>
        </p:nvGrpSpPr>
        <p:grpSpPr>
          <a:xfrm>
            <a:off x="4491038" y="4378325"/>
            <a:ext cx="2635250" cy="176213"/>
            <a:chOff x="3237" y="1973"/>
            <a:chExt cx="1660" cy="111"/>
          </a:xfrm>
        </p:grpSpPr>
        <p:sp>
          <p:nvSpPr>
            <p:cNvPr id="151581" name="Line 29"/>
            <p:cNvSpPr>
              <a:spLocks noChangeShapeType="1"/>
            </p:cNvSpPr>
            <p:nvPr/>
          </p:nvSpPr>
          <p:spPr bwMode="auto">
            <a:xfrm>
              <a:off x="3237" y="1984"/>
              <a:ext cx="0" cy="10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82" name="Line 30"/>
            <p:cNvSpPr>
              <a:spLocks noChangeShapeType="1"/>
            </p:cNvSpPr>
            <p:nvPr/>
          </p:nvSpPr>
          <p:spPr bwMode="auto">
            <a:xfrm>
              <a:off x="3240" y="2084"/>
              <a:ext cx="1657" cy="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1583" name="Line 31"/>
            <p:cNvSpPr>
              <a:spLocks noChangeShapeType="1"/>
            </p:cNvSpPr>
            <p:nvPr/>
          </p:nvSpPr>
          <p:spPr bwMode="auto">
            <a:xfrm flipV="1">
              <a:off x="4897" y="1973"/>
              <a:ext cx="0" cy="100"/>
            </a:xfrm>
            <a:prstGeom prst="line">
              <a:avLst/>
            </a:prstGeom>
            <a:noFill/>
            <a:ln w="9525">
              <a:solidFill>
                <a:srgbClr val="FF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094688" name="Text Box 32"/>
          <p:cNvSpPr txBox="1">
            <a:spLocks noChangeArrowheads="1"/>
          </p:cNvSpPr>
          <p:nvPr/>
        </p:nvSpPr>
        <p:spPr bwMode="auto">
          <a:xfrm>
            <a:off x="838200" y="4883150"/>
            <a:ext cx="7315200" cy="461963"/>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三趟归并后：    </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[13       27    38       49     65      76     97]</a:t>
            </a:r>
          </a:p>
        </p:txBody>
      </p:sp>
      <p:sp>
        <p:nvSpPr>
          <p:cNvPr id="34"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将两个顺序表合并成一个有序表</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grpId="0" nodeType="clickEffect">
                                  <p:stCondLst>
                                    <p:cond delay="0"/>
                                  </p:stCondLst>
                                  <p:childTnLst>
                                    <p:set>
                                      <p:cBhvr>
                                        <p:cTn id="6" dur="1" fill="hold">
                                          <p:stCondLst>
                                            <p:cond delay="0"/>
                                          </p:stCondLst>
                                        </p:cTn>
                                        <p:tgtEl>
                                          <p:spTgt spid="1094658">
                                            <p:txEl>
                                              <p:pRg st="0" end="0"/>
                                            </p:txEl>
                                          </p:spTgt>
                                        </p:tgtEl>
                                        <p:attrNameLst>
                                          <p:attrName>style.visibility</p:attrName>
                                        </p:attrNameLst>
                                      </p:cBhvr>
                                      <p:to>
                                        <p:strVal val="visible"/>
                                      </p:to>
                                    </p:set>
                                    <p:animEffect transition="in" filter="box(out)">
                                      <p:cBhvr>
                                        <p:cTn id="7" dur="500"/>
                                        <p:tgtEl>
                                          <p:spTgt spid="1094658">
                                            <p:txEl>
                                              <p:pRg st="0" end="0"/>
                                            </p:txEl>
                                          </p:spTgt>
                                        </p:tgtEl>
                                      </p:cBhvr>
                                    </p:animEffect>
                                  </p:childTnLst>
                                  <p:subTnLst>
                                    <p:audio>
                                      <p:cMediaNode>
                                        <p:cTn display="0" masterRel="sameClick">
                                          <p:stCondLst>
                                            <p:cond evt="begin" delay="0">
                                              <p:tn val="5"/>
                                            </p:cond>
                                          </p:stCondLst>
                                          <p:endCondLst>
                                            <p:cond evt="onStopAudio" delay="0">
                                              <p:tgtEl>
                                                <p:sldTgt/>
                                              </p:tgtEl>
                                            </p:cond>
                                          </p:endCondLst>
                                        </p:cTn>
                                        <p:tgtEl>
                                          <p:sndTgt r:embed="rId2" name="CAMERA.WAV"/>
                                        </p:tgtEl>
                                      </p:cMediaNode>
                                    </p:audio>
                                  </p:subTnLst>
                                </p:cTn>
                              </p:par>
                            </p:childTnLst>
                          </p:cTn>
                        </p:par>
                      </p:childTnLst>
                    </p:cTn>
                  </p:par>
                  <p:par>
                    <p:cTn id="8" fill="hold">
                      <p:stCondLst>
                        <p:cond delay="indefinite"/>
                      </p:stCondLst>
                      <p:childTnLst>
                        <p:par>
                          <p:cTn id="9" fill="hold">
                            <p:stCondLst>
                              <p:cond delay="0"/>
                            </p:stCondLst>
                            <p:childTnLst>
                              <p:par>
                                <p:cTn id="10" presetID="4" presetClass="entr" presetSubtype="32" fill="hold" grpId="0" nodeType="clickEffect">
                                  <p:stCondLst>
                                    <p:cond delay="0"/>
                                  </p:stCondLst>
                                  <p:childTnLst>
                                    <p:set>
                                      <p:cBhvr>
                                        <p:cTn id="11" dur="1" fill="hold">
                                          <p:stCondLst>
                                            <p:cond delay="0"/>
                                          </p:stCondLst>
                                        </p:cTn>
                                        <p:tgtEl>
                                          <p:spTgt spid="1094659">
                                            <p:txEl>
                                              <p:pRg st="0" end="0"/>
                                            </p:txEl>
                                          </p:spTgt>
                                        </p:tgtEl>
                                        <p:attrNameLst>
                                          <p:attrName>style.visibility</p:attrName>
                                        </p:attrNameLst>
                                      </p:cBhvr>
                                      <p:to>
                                        <p:strVal val="visible"/>
                                      </p:to>
                                    </p:set>
                                    <p:animEffect transition="in" filter="box(out)">
                                      <p:cBhvr>
                                        <p:cTn id="12" dur="500"/>
                                        <p:tgtEl>
                                          <p:spTgt spid="1094659">
                                            <p:txEl>
                                              <p:pRg st="0" end="0"/>
                                            </p:txEl>
                                          </p:spTgt>
                                        </p:tgtEl>
                                      </p:cBhvr>
                                    </p:animEffect>
                                  </p:childTnLst>
                                  <p:subTnLst>
                                    <p:audio>
                                      <p:cMediaNode>
                                        <p:cTn display="0" masterRel="sameClick">
                                          <p:stCondLst>
                                            <p:cond evt="begin" delay="0">
                                              <p:tn val="10"/>
                                            </p:cond>
                                          </p:stCondLst>
                                          <p:endCondLst>
                                            <p:cond evt="onStopAudio" delay="0">
                                              <p:tgtEl>
                                                <p:sldTgt/>
                                              </p:tgtEl>
                                            </p:cond>
                                          </p:endCondLst>
                                        </p:cTn>
                                        <p:tgtEl>
                                          <p:sndTgt r:embed="rId2" name="CAMERA.WAV"/>
                                        </p:tgtEl>
                                      </p:cMediaNode>
                                    </p:audio>
                                  </p:subTnLst>
                                </p:cTn>
                              </p:par>
                            </p:childTnLst>
                          </p:cTn>
                        </p:par>
                      </p:childTnLst>
                    </p:cTn>
                  </p:par>
                  <p:par>
                    <p:cTn id="13" fill="hold">
                      <p:stCondLst>
                        <p:cond delay="indefinite"/>
                      </p:stCondLst>
                      <p:childTnLst>
                        <p:par>
                          <p:cTn id="14" fill="hold">
                            <p:stCondLst>
                              <p:cond delay="0"/>
                            </p:stCondLst>
                            <p:childTnLst>
                              <p:par>
                                <p:cTn id="15" presetID="4" presetClass="entr" presetSubtype="32"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box(out)">
                                      <p:cBhvr>
                                        <p:cTn id="17" dur="500"/>
                                        <p:tgtEl>
                                          <p:spTgt spid="2"/>
                                        </p:tgtEl>
                                      </p:cBhvr>
                                    </p:animEffect>
                                  </p:childTnLst>
                                  <p:subTnLst>
                                    <p:audio>
                                      <p:cMediaNode>
                                        <p:cTn display="0" masterRel="sameClick">
                                          <p:stCondLst>
                                            <p:cond evt="begin" delay="0">
                                              <p:tn val="15"/>
                                            </p:cond>
                                          </p:stCondLst>
                                          <p:endCondLst>
                                            <p:cond evt="onStopAudio" delay="0">
                                              <p:tgtEl>
                                                <p:sldTgt/>
                                              </p:tgtEl>
                                            </p:cond>
                                          </p:endCondLst>
                                        </p:cTn>
                                        <p:tgtEl>
                                          <p:sndTgt r:embed="rId2" name="CAMERA.WAV"/>
                                        </p:tgtEl>
                                      </p:cMediaNode>
                                    </p:audio>
                                  </p:subTnLst>
                                </p:cTn>
                              </p:par>
                            </p:childTnLst>
                          </p:cTn>
                        </p:par>
                      </p:childTnLst>
                    </p:cTn>
                  </p:par>
                  <p:par>
                    <p:cTn id="18" fill="hold">
                      <p:stCondLst>
                        <p:cond delay="indefinite"/>
                      </p:stCondLst>
                      <p:childTnLst>
                        <p:par>
                          <p:cTn id="19" fill="hold">
                            <p:stCondLst>
                              <p:cond delay="0"/>
                            </p:stCondLst>
                            <p:childTnLst>
                              <p:par>
                                <p:cTn id="20" presetID="4" presetClass="entr" presetSubtype="32" fill="hold" grpId="0" nodeType="clickEffect">
                                  <p:stCondLst>
                                    <p:cond delay="0"/>
                                  </p:stCondLst>
                                  <p:childTnLst>
                                    <p:set>
                                      <p:cBhvr>
                                        <p:cTn id="21" dur="1" fill="hold">
                                          <p:stCondLst>
                                            <p:cond delay="0"/>
                                          </p:stCondLst>
                                        </p:cTn>
                                        <p:tgtEl>
                                          <p:spTgt spid="1094673">
                                            <p:txEl>
                                              <p:pRg st="0" end="0"/>
                                            </p:txEl>
                                          </p:spTgt>
                                        </p:tgtEl>
                                        <p:attrNameLst>
                                          <p:attrName>style.visibility</p:attrName>
                                        </p:attrNameLst>
                                      </p:cBhvr>
                                      <p:to>
                                        <p:strVal val="visible"/>
                                      </p:to>
                                    </p:set>
                                    <p:animEffect transition="in" filter="box(out)">
                                      <p:cBhvr>
                                        <p:cTn id="22" dur="500"/>
                                        <p:tgtEl>
                                          <p:spTgt spid="1094673">
                                            <p:txEl>
                                              <p:pRg st="0" end="0"/>
                                            </p:txEl>
                                          </p:spTgt>
                                        </p:tgtEl>
                                      </p:cBhvr>
                                    </p:animEffect>
                                  </p:childTnLst>
                                  <p:subTnLst>
                                    <p:audio>
                                      <p:cMediaNode>
                                        <p:cTn display="0" masterRel="sameClick">
                                          <p:stCondLst>
                                            <p:cond evt="begin" delay="0">
                                              <p:tn val="20"/>
                                            </p:cond>
                                          </p:stCondLst>
                                          <p:endCondLst>
                                            <p:cond evt="onStopAudio" delay="0">
                                              <p:tgtEl>
                                                <p:sldTgt/>
                                              </p:tgtEl>
                                            </p:cond>
                                          </p:endCondLst>
                                        </p:cTn>
                                        <p:tgtEl>
                                          <p:sndTgt r:embed="rId2" name="CAMERA.WAV"/>
                                        </p:tgtEl>
                                      </p:cMediaNode>
                                    </p:audio>
                                  </p:subTnLst>
                                </p:cTn>
                              </p:par>
                            </p:childTnLst>
                          </p:cTn>
                        </p:par>
                      </p:childTnLst>
                    </p:cTn>
                  </p:par>
                  <p:par>
                    <p:cTn id="23" fill="hold">
                      <p:stCondLst>
                        <p:cond delay="indefinite"/>
                      </p:stCondLst>
                      <p:childTnLst>
                        <p:par>
                          <p:cTn id="24" fill="hold">
                            <p:stCondLst>
                              <p:cond delay="0"/>
                            </p:stCondLst>
                            <p:childTnLst>
                              <p:par>
                                <p:cTn id="25" presetID="4" presetClass="entr" presetSubtype="32"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out)">
                                      <p:cBhvr>
                                        <p:cTn id="27" dur="500"/>
                                        <p:tgtEl>
                                          <p:spTgt spid="6"/>
                                        </p:tgtEl>
                                      </p:cBhvr>
                                    </p:animEffect>
                                  </p:childTnLst>
                                  <p:subTnLst>
                                    <p:audio>
                                      <p:cMediaNode>
                                        <p:cTn display="0" masterRel="sameClick">
                                          <p:stCondLst>
                                            <p:cond evt="begin" delay="0">
                                              <p:tn val="25"/>
                                            </p:cond>
                                          </p:stCondLst>
                                          <p:endCondLst>
                                            <p:cond evt="onStopAudio" delay="0">
                                              <p:tgtEl>
                                                <p:sldTgt/>
                                              </p:tgtEl>
                                            </p:cond>
                                          </p:endCondLst>
                                        </p:cTn>
                                        <p:tgtEl>
                                          <p:sndTgt r:embed="rId2" name="CAMERA.WAV"/>
                                        </p:tgtEl>
                                      </p:cMediaNode>
                                    </p:audio>
                                  </p:subTnLst>
                                </p:cTn>
                              </p:par>
                            </p:childTnLst>
                          </p:cTn>
                        </p:par>
                      </p:childTnLst>
                    </p:cTn>
                  </p:par>
                  <p:par>
                    <p:cTn id="28" fill="hold">
                      <p:stCondLst>
                        <p:cond delay="indefinite"/>
                      </p:stCondLst>
                      <p:childTnLst>
                        <p:par>
                          <p:cTn id="29" fill="hold">
                            <p:stCondLst>
                              <p:cond delay="0"/>
                            </p:stCondLst>
                            <p:childTnLst>
                              <p:par>
                                <p:cTn id="30" presetID="4" presetClass="entr" presetSubtype="32" fill="hold" grpId="0" nodeType="clickEffect">
                                  <p:stCondLst>
                                    <p:cond delay="0"/>
                                  </p:stCondLst>
                                  <p:childTnLst>
                                    <p:set>
                                      <p:cBhvr>
                                        <p:cTn id="31" dur="1" fill="hold">
                                          <p:stCondLst>
                                            <p:cond delay="0"/>
                                          </p:stCondLst>
                                        </p:cTn>
                                        <p:tgtEl>
                                          <p:spTgt spid="1094683">
                                            <p:txEl>
                                              <p:pRg st="0" end="0"/>
                                            </p:txEl>
                                          </p:spTgt>
                                        </p:tgtEl>
                                        <p:attrNameLst>
                                          <p:attrName>style.visibility</p:attrName>
                                        </p:attrNameLst>
                                      </p:cBhvr>
                                      <p:to>
                                        <p:strVal val="visible"/>
                                      </p:to>
                                    </p:set>
                                    <p:animEffect transition="in" filter="box(out)">
                                      <p:cBhvr>
                                        <p:cTn id="32" dur="500"/>
                                        <p:tgtEl>
                                          <p:spTgt spid="1094683">
                                            <p:txEl>
                                              <p:pRg st="0" end="0"/>
                                            </p:txEl>
                                          </p:spTgt>
                                        </p:tgtEl>
                                      </p:cBhvr>
                                    </p:animEffect>
                                  </p:childTnLst>
                                  <p:subTnLst>
                                    <p:audio>
                                      <p:cMediaNode>
                                        <p:cTn display="0" masterRel="sameClick">
                                          <p:stCondLst>
                                            <p:cond evt="begin" delay="0">
                                              <p:tn val="30"/>
                                            </p:cond>
                                          </p:stCondLst>
                                          <p:endCondLst>
                                            <p:cond evt="onStopAudio" delay="0">
                                              <p:tgtEl>
                                                <p:sldTgt/>
                                              </p:tgtEl>
                                            </p:cond>
                                          </p:endCondLst>
                                        </p:cTn>
                                        <p:tgtEl>
                                          <p:sndTgt r:embed="rId2" name="CAMERA.WAV"/>
                                        </p:tgtEl>
                                      </p:cMediaNode>
                                    </p:audio>
                                  </p:subTnLst>
                                </p:cTn>
                              </p:par>
                            </p:childTnLst>
                          </p:cTn>
                        </p:par>
                      </p:childTnLst>
                    </p:cTn>
                  </p:par>
                  <p:par>
                    <p:cTn id="33" fill="hold">
                      <p:stCondLst>
                        <p:cond delay="indefinite"/>
                      </p:stCondLst>
                      <p:childTnLst>
                        <p:par>
                          <p:cTn id="34" fill="hold">
                            <p:stCondLst>
                              <p:cond delay="0"/>
                            </p:stCondLst>
                            <p:childTnLst>
                              <p:par>
                                <p:cTn id="35" presetID="4" presetClass="entr" presetSubtype="32"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box(out)">
                                      <p:cBhvr>
                                        <p:cTn id="37" dur="500"/>
                                        <p:tgtEl>
                                          <p:spTgt spid="9"/>
                                        </p:tgtEl>
                                      </p:cBhvr>
                                    </p:animEffect>
                                  </p:childTnLst>
                                  <p:subTnLst>
                                    <p:audio>
                                      <p:cMediaNode>
                                        <p:cTn display="0" masterRel="sameClick">
                                          <p:stCondLst>
                                            <p:cond evt="begin" delay="0">
                                              <p:tn val="35"/>
                                            </p:cond>
                                          </p:stCondLst>
                                          <p:endCondLst>
                                            <p:cond evt="onStopAudio" delay="0">
                                              <p:tgtEl>
                                                <p:sldTgt/>
                                              </p:tgtEl>
                                            </p:cond>
                                          </p:endCondLst>
                                        </p:cTn>
                                        <p:tgtEl>
                                          <p:sndTgt r:embed="rId2" name="CAMERA.WAV"/>
                                        </p:tgtEl>
                                      </p:cMediaNode>
                                    </p:audio>
                                  </p:subTnLst>
                                </p:cTn>
                              </p:par>
                            </p:childTnLst>
                          </p:cTn>
                        </p:par>
                      </p:childTnLst>
                    </p:cTn>
                  </p:par>
                  <p:par>
                    <p:cTn id="38" fill="hold">
                      <p:stCondLst>
                        <p:cond delay="indefinite"/>
                      </p:stCondLst>
                      <p:childTnLst>
                        <p:par>
                          <p:cTn id="39" fill="hold">
                            <p:stCondLst>
                              <p:cond delay="0"/>
                            </p:stCondLst>
                            <p:childTnLst>
                              <p:par>
                                <p:cTn id="40" presetID="4" presetClass="entr" presetSubtype="32" fill="hold" grpId="0" nodeType="clickEffect">
                                  <p:stCondLst>
                                    <p:cond delay="0"/>
                                  </p:stCondLst>
                                  <p:childTnLst>
                                    <p:set>
                                      <p:cBhvr>
                                        <p:cTn id="41" dur="1" fill="hold">
                                          <p:stCondLst>
                                            <p:cond delay="0"/>
                                          </p:stCondLst>
                                        </p:cTn>
                                        <p:tgtEl>
                                          <p:spTgt spid="1094688">
                                            <p:txEl>
                                              <p:pRg st="0" end="0"/>
                                            </p:txEl>
                                          </p:spTgt>
                                        </p:tgtEl>
                                        <p:attrNameLst>
                                          <p:attrName>style.visibility</p:attrName>
                                        </p:attrNameLst>
                                      </p:cBhvr>
                                      <p:to>
                                        <p:strVal val="visible"/>
                                      </p:to>
                                    </p:set>
                                    <p:animEffect transition="in" filter="box(out)">
                                      <p:cBhvr>
                                        <p:cTn id="42" dur="500"/>
                                        <p:tgtEl>
                                          <p:spTgt spid="1094688">
                                            <p:txEl>
                                              <p:pRg st="0" end="0"/>
                                            </p:txEl>
                                          </p:spTgt>
                                        </p:tgtEl>
                                      </p:cBhvr>
                                    </p:animEffect>
                                  </p:childTnLst>
                                  <p:subTnLst>
                                    <p:audio>
                                      <p:cMediaNode>
                                        <p:cTn display="0" masterRel="sameClick">
                                          <p:stCondLst>
                                            <p:cond evt="begin" delay="0">
                                              <p:tn val="40"/>
                                            </p:cond>
                                          </p:stCondLst>
                                          <p:endCondLst>
                                            <p:cond evt="onStopAudio" delay="0">
                                              <p:tgtEl>
                                                <p:sldTgt/>
                                              </p:tgtEl>
                                            </p:cond>
                                          </p:endCondLst>
                                        </p:cTn>
                                        <p:tgtEl>
                                          <p:sndTgt r:embed="rId2"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4658" grpId="0" build="p"/>
      <p:bldP spid="1094659" grpId="0" build="p"/>
      <p:bldP spid="1094673" grpId="0" build="p"/>
      <p:bldP spid="1094683" grpId="0" build="p"/>
      <p:bldP spid="1094688" grpId="0" build="p"/>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bwMode="auto">
          <a:xfrm>
            <a:off x="-13265" y="913944"/>
            <a:ext cx="9144000" cy="208300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Times New Roman" panose="02020603050405020304" pitchFamily="18" charset="0"/>
              <a:ea typeface="仿宋_GB2312" pitchFamily="49" charset="-122"/>
              <a:cs typeface="+mn-cs"/>
            </a:endParaRPr>
          </a:p>
        </p:txBody>
      </p:sp>
      <p:sp>
        <p:nvSpPr>
          <p:cNvPr id="34"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ea"/>
                <a:sym typeface="+mn-lt"/>
              </a:rPr>
              <a:t>两个有序子序列的归并</a:t>
            </a:r>
          </a:p>
        </p:txBody>
      </p:sp>
      <p:sp>
        <p:nvSpPr>
          <p:cNvPr id="5" name="文本框 4"/>
          <p:cNvSpPr txBox="1"/>
          <p:nvPr/>
        </p:nvSpPr>
        <p:spPr>
          <a:xfrm>
            <a:off x="323528" y="980728"/>
            <a:ext cx="8568952" cy="1938992"/>
          </a:xfrm>
          <a:prstGeom prst="rect">
            <a:avLst/>
          </a:prstGeom>
          <a:noFill/>
        </p:spPr>
        <p:txBody>
          <a:bodyPr wrap="square">
            <a:spAutoFit/>
          </a:bodyPr>
          <a:lstStyle/>
          <a:p>
            <a:pPr marL="0" lvl="0" indent="269875">
              <a:spcBef>
                <a:spcPct val="0"/>
              </a:spcBef>
              <a:buFont typeface="Wingdings" panose="05000000000000000000" pitchFamily="2" charset="2"/>
              <a:buChar char="l"/>
            </a:pPr>
            <a:r>
              <a:rPr lang="zh-CN" altLang="en-US" sz="2000" b="1" dirty="0">
                <a:latin typeface="楷体" panose="02010609060101010101" pitchFamily="49" charset="-122"/>
                <a:ea typeface="楷体" panose="02010609060101010101" pitchFamily="49" charset="-122"/>
              </a:rPr>
              <a:t>设两个有序表存放在同一数组中相邻的位置上：</a:t>
            </a:r>
            <a:r>
              <a:rPr lang="en-US" altLang="zh-CN" sz="2000" b="1" dirty="0">
                <a:solidFill>
                  <a:srgbClr val="FF0000"/>
                </a:solidFill>
                <a:latin typeface="楷体" panose="02010609060101010101" pitchFamily="49" charset="-122"/>
                <a:ea typeface="楷体" panose="02010609060101010101" pitchFamily="49" charset="-122"/>
              </a:rPr>
              <a:t>R[</a:t>
            </a:r>
            <a:r>
              <a:rPr lang="en-US" altLang="zh-CN" sz="2000" b="1" dirty="0" err="1">
                <a:solidFill>
                  <a:srgbClr val="FF0000"/>
                </a:solidFill>
                <a:latin typeface="楷体" panose="02010609060101010101" pitchFamily="49" charset="-122"/>
                <a:ea typeface="楷体" panose="02010609060101010101" pitchFamily="49" charset="-122"/>
              </a:rPr>
              <a:t>low..mid</a:t>
            </a:r>
            <a:r>
              <a:rPr lang="en-US" altLang="zh-CN" sz="2000" b="1" dirty="0">
                <a:solidFill>
                  <a:srgbClr val="FF0000"/>
                </a:solidFill>
                <a:latin typeface="楷体" panose="02010609060101010101" pitchFamily="49" charset="-122"/>
                <a:ea typeface="楷体" panose="02010609060101010101" pitchFamily="49" charset="-122"/>
              </a:rPr>
              <a:t>]</a:t>
            </a:r>
            <a:r>
              <a:rPr lang="zh-CN" altLang="en-US" sz="2000" b="1" dirty="0">
                <a:solidFill>
                  <a:srgbClr val="FF0000"/>
                </a:solidFill>
                <a:latin typeface="楷体" panose="02010609060101010101" pitchFamily="49" charset="-122"/>
                <a:ea typeface="楷体" panose="02010609060101010101" pitchFamily="49" charset="-122"/>
              </a:rPr>
              <a:t>和</a:t>
            </a:r>
            <a:r>
              <a:rPr lang="en-US" altLang="zh-CN" sz="2000" b="1" dirty="0">
                <a:solidFill>
                  <a:srgbClr val="FF0000"/>
                </a:solidFill>
                <a:latin typeface="楷体" panose="02010609060101010101" pitchFamily="49" charset="-122"/>
                <a:ea typeface="楷体" panose="02010609060101010101" pitchFamily="49" charset="-122"/>
              </a:rPr>
              <a:t>R[mid + 1..high]</a:t>
            </a:r>
            <a:endParaRPr lang="en-US" altLang="zh-CN" sz="2000" b="1" dirty="0">
              <a:latin typeface="楷体" panose="02010609060101010101" pitchFamily="49" charset="-122"/>
              <a:ea typeface="楷体" panose="02010609060101010101" pitchFamily="49" charset="-122"/>
            </a:endParaRPr>
          </a:p>
          <a:p>
            <a:pPr marL="0" lvl="0" indent="269875">
              <a:spcBef>
                <a:spcPct val="0"/>
              </a:spcBef>
              <a:buFont typeface="Wingdings" panose="05000000000000000000" pitchFamily="2" charset="2"/>
              <a:buChar char="l"/>
            </a:pPr>
            <a:r>
              <a:rPr lang="zh-CN" altLang="en-US" sz="2000" b="1" dirty="0">
                <a:latin typeface="楷体" panose="02010609060101010101" pitchFamily="49" charset="-122"/>
                <a:ea typeface="楷体" panose="02010609060101010101" pitchFamily="49" charset="-122"/>
              </a:rPr>
              <a:t>每次分别从两个表中取出一个记录进行关键字的比较，将较小者放入</a:t>
            </a:r>
            <a:r>
              <a:rPr lang="en-US" altLang="zh-CN" sz="2000" b="1" dirty="0">
                <a:solidFill>
                  <a:srgbClr val="FF0000"/>
                </a:solidFill>
                <a:latin typeface="楷体" panose="02010609060101010101" pitchFamily="49" charset="-122"/>
                <a:ea typeface="楷体" panose="02010609060101010101" pitchFamily="49" charset="-122"/>
              </a:rPr>
              <a:t>T[1ow..high]</a:t>
            </a:r>
            <a:r>
              <a:rPr lang="zh-CN" altLang="en-US" sz="2000" b="1" dirty="0">
                <a:solidFill>
                  <a:srgbClr val="FF0000"/>
                </a:solidFill>
                <a:latin typeface="楷体" panose="02010609060101010101" pitchFamily="49" charset="-122"/>
                <a:ea typeface="楷体" panose="02010609060101010101" pitchFamily="49" charset="-122"/>
              </a:rPr>
              <a:t>中</a:t>
            </a:r>
            <a:endParaRPr lang="en-US" altLang="zh-CN" sz="2000" b="1" dirty="0">
              <a:solidFill>
                <a:srgbClr val="FF0000"/>
              </a:solidFill>
              <a:latin typeface="楷体" panose="02010609060101010101" pitchFamily="49" charset="-122"/>
              <a:ea typeface="楷体" panose="02010609060101010101" pitchFamily="49" charset="-122"/>
            </a:endParaRPr>
          </a:p>
          <a:p>
            <a:pPr marL="0" lvl="0" indent="269875">
              <a:spcBef>
                <a:spcPct val="0"/>
              </a:spcBef>
              <a:buFont typeface="Wingdings" panose="05000000000000000000" pitchFamily="2" charset="2"/>
              <a:buChar char="l"/>
            </a:pPr>
            <a:r>
              <a:rPr lang="zh-CN" altLang="en-US" sz="2000" b="1" dirty="0">
                <a:solidFill>
                  <a:srgbClr val="FF0000"/>
                </a:solidFill>
                <a:latin typeface="楷体" panose="02010609060101010101" pitchFamily="49" charset="-122"/>
                <a:ea typeface="楷体" panose="02010609060101010101" pitchFamily="49" charset="-122"/>
              </a:rPr>
              <a:t>重复</a:t>
            </a:r>
            <a:r>
              <a:rPr lang="zh-CN" altLang="en-US" sz="2000" b="1" dirty="0">
                <a:latin typeface="楷体" panose="02010609060101010101" pitchFamily="49" charset="-122"/>
                <a:ea typeface="楷体" panose="02010609060101010101" pitchFamily="49" charset="-122"/>
              </a:rPr>
              <a:t>此过程，直至其中一个表为空，最后将另一非空表中余下的部分直接复制到</a:t>
            </a:r>
            <a:r>
              <a:rPr lang="en-US" altLang="zh-CN" sz="2000" b="1" dirty="0">
                <a:solidFill>
                  <a:srgbClr val="FF0000"/>
                </a:solidFill>
                <a:latin typeface="楷体" panose="02010609060101010101" pitchFamily="49" charset="-122"/>
                <a:ea typeface="楷体" panose="02010609060101010101" pitchFamily="49" charset="-122"/>
              </a:rPr>
              <a:t>T</a:t>
            </a:r>
            <a:r>
              <a:rPr lang="zh-CN" altLang="en-US" sz="2000" b="1" dirty="0">
                <a:latin typeface="楷体" panose="02010609060101010101" pitchFamily="49" charset="-122"/>
                <a:ea typeface="楷体" panose="02010609060101010101" pitchFamily="49" charset="-122"/>
              </a:rPr>
              <a:t>中</a:t>
            </a:r>
          </a:p>
        </p:txBody>
      </p:sp>
      <p:sp>
        <p:nvSpPr>
          <p:cNvPr id="7" name="矩形 6"/>
          <p:cNvSpPr/>
          <p:nvPr/>
        </p:nvSpPr>
        <p:spPr bwMode="auto">
          <a:xfrm>
            <a:off x="-13265" y="3284984"/>
            <a:ext cx="9144000" cy="3312368"/>
          </a:xfrm>
          <a:prstGeom prst="rect">
            <a:avLst/>
          </a:prstGeom>
          <a:solidFill>
            <a:srgbClr val="EBEBEB"/>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void Merge(</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RedType</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R[],</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RedType</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&amp;T[],int </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low,int</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mid,int</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high)</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i</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low;j</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=mid+1;k=low;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r>
              <a:rPr kumimoji="1" lang="en-US" altLang="zh-CN"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while(</a:t>
            </a:r>
            <a:r>
              <a:rPr kumimoji="1" lang="en-US" altLang="zh-CN" sz="2000" b="0" i="0" u="none" strike="noStrike" kern="1200" cap="none" spc="0" normalizeH="0" baseline="0" noProof="0" dirty="0" err="1">
                <a:ln>
                  <a:noFill/>
                </a:ln>
                <a:solidFill>
                  <a:srgbClr val="FF0000"/>
                </a:solidFill>
                <a:effectLst/>
                <a:uLnTx/>
                <a:uFillTx/>
                <a:latin typeface="Times New Roman" panose="02020603050405020304" pitchFamily="18" charset="0"/>
                <a:ea typeface="仿宋_GB2312" pitchFamily="49" charset="-122"/>
                <a:cs typeface="+mn-cs"/>
              </a:rPr>
              <a:t>i</a:t>
            </a:r>
            <a:r>
              <a:rPr kumimoji="1" lang="en-US" altLang="zh-CN"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&lt;=mid&amp;&amp;j&lt;=high) 	//</a:t>
            </a:r>
            <a:r>
              <a:rPr kumimoji="1" lang="zh-CN" altLang="en-US"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将</a:t>
            </a:r>
            <a:r>
              <a:rPr kumimoji="1" lang="en-US" altLang="zh-CN"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R</a:t>
            </a:r>
            <a:r>
              <a:rPr kumimoji="1" lang="zh-CN" altLang="en-US"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中记录由小到大地并入</a:t>
            </a:r>
            <a:r>
              <a:rPr kumimoji="1" lang="en-US" altLang="zh-CN"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T</a:t>
            </a:r>
            <a:r>
              <a:rPr kumimoji="1" lang="zh-CN" altLang="en-US"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中</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zh-CN" altLang="en-US"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   </a:t>
            </a:r>
            <a:r>
              <a:rPr kumimoji="1" lang="en-US" altLang="zh-CN"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  if(R[</a:t>
            </a:r>
            <a:r>
              <a:rPr kumimoji="1" lang="en-US" altLang="zh-CN" sz="2000" b="0" i="0" u="none" strike="noStrike" kern="1200" cap="none" spc="0" normalizeH="0" baseline="0" noProof="0" dirty="0" err="1">
                <a:ln>
                  <a:noFill/>
                </a:ln>
                <a:solidFill>
                  <a:srgbClr val="FF0000"/>
                </a:solidFill>
                <a:effectLst/>
                <a:uLnTx/>
                <a:uFillTx/>
                <a:latin typeface="Times New Roman" panose="02020603050405020304" pitchFamily="18" charset="0"/>
                <a:ea typeface="仿宋_GB2312" pitchFamily="49" charset="-122"/>
                <a:cs typeface="+mn-cs"/>
              </a:rPr>
              <a:t>i</a:t>
            </a:r>
            <a:r>
              <a:rPr kumimoji="1" lang="en-US" altLang="zh-CN"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].key&lt;=R[j].key) T[k]=R[</a:t>
            </a:r>
            <a:r>
              <a:rPr kumimoji="1" lang="en-US" altLang="zh-CN" sz="2000" b="0" i="0" u="none" strike="noStrike" kern="1200" cap="none" spc="0" normalizeH="0" baseline="0" noProof="0" dirty="0" err="1">
                <a:ln>
                  <a:noFill/>
                </a:ln>
                <a:solidFill>
                  <a:srgbClr val="FF0000"/>
                </a:solidFill>
                <a:effectLst/>
                <a:uLnTx/>
                <a:uFillTx/>
                <a:latin typeface="Times New Roman" panose="02020603050405020304" pitchFamily="18" charset="0"/>
                <a:ea typeface="仿宋_GB2312" pitchFamily="49" charset="-122"/>
                <a:cs typeface="+mn-cs"/>
              </a:rPr>
              <a:t>i</a:t>
            </a:r>
            <a:r>
              <a:rPr kumimoji="1" lang="en-US" altLang="zh-CN"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      else T[k]=R[</a:t>
            </a:r>
            <a:r>
              <a:rPr kumimoji="1" lang="en-US" altLang="zh-CN" sz="2000" b="0" i="0" u="none" strike="noStrike" kern="1200" cap="none" spc="0" normalizeH="0" baseline="0" noProof="0" dirty="0" err="1">
                <a:ln>
                  <a:noFill/>
                </a:ln>
                <a:solidFill>
                  <a:srgbClr val="FF0000"/>
                </a:solidFill>
                <a:effectLst/>
                <a:uLnTx/>
                <a:uFillTx/>
                <a:latin typeface="Times New Roman" panose="02020603050405020304" pitchFamily="18" charset="0"/>
                <a:ea typeface="仿宋_GB2312" pitchFamily="49" charset="-122"/>
                <a:cs typeface="+mn-cs"/>
              </a:rPr>
              <a:t>j++</a:t>
            </a:r>
            <a:r>
              <a:rPr kumimoji="1" lang="en-US" altLang="zh-CN" sz="2000" b="0" i="0" u="none" strike="noStrike" kern="1200" cap="none" spc="0" normalizeH="0" baseline="0" noProof="0" dirty="0">
                <a:ln>
                  <a:noFill/>
                </a:ln>
                <a:solidFill>
                  <a:srgbClr val="FF0000"/>
                </a:solidFill>
                <a:effectLst/>
                <a:uLnTx/>
                <a:uFillTx/>
                <a:latin typeface="Times New Roman" panose="02020603050405020304" pitchFamily="18" charset="0"/>
                <a:ea typeface="仿宋_GB2312" pitchFamily="49" charset="-122"/>
                <a:cs typeface="+mn-cs"/>
              </a:rPr>
              <a:t>];    }			</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while(</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i</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&lt;=mid) T[k++]=R[</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i</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将剩余的</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R[</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low..mid</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复制到</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T</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中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while(j&lt;=high) T[k++]=R[</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j++</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将剩余的</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R[</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j.high</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复制到</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T</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中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p>
        </p:txBody>
      </p:sp>
      <p:cxnSp>
        <p:nvCxnSpPr>
          <p:cNvPr id="8" name="直接连接符 7"/>
          <p:cNvCxnSpPr/>
          <p:nvPr/>
        </p:nvCxnSpPr>
        <p:spPr bwMode="auto">
          <a:xfrm>
            <a:off x="-13265" y="3140968"/>
            <a:ext cx="9144000" cy="0"/>
          </a:xfrm>
          <a:prstGeom prst="line">
            <a:avLst/>
          </a:prstGeom>
          <a:solidFill>
            <a:schemeClr val="accent1"/>
          </a:solidFill>
          <a:ln w="28575" cap="flat" cmpd="sng" algn="ctr">
            <a:solidFill>
              <a:srgbClr val="C00000"/>
            </a:solidFill>
            <a:prstDash val="dash"/>
            <a:round/>
            <a:headEnd type="none" w="med" len="med"/>
            <a:tailEnd type="none" w="med" len="med"/>
          </a:ln>
        </p:spPr>
      </p:cxnSp>
    </p:spTree>
  </p:cSld>
  <p:clrMapOvr>
    <a:masterClrMapping/>
  </p:clrMapOvr>
  <p:transition spd="slow"/>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bwMode="auto">
          <a:xfrm>
            <a:off x="-9162" y="847159"/>
            <a:ext cx="9144000" cy="2149793"/>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Times New Roman" panose="02020603050405020304" pitchFamily="18" charset="0"/>
              <a:ea typeface="仿宋_GB2312" pitchFamily="49" charset="-122"/>
              <a:cs typeface="+mn-cs"/>
            </a:endParaRPr>
          </a:p>
        </p:txBody>
      </p:sp>
      <p:sp>
        <p:nvSpPr>
          <p:cNvPr id="34" name="Rectangle 329"/>
          <p:cNvSpPr>
            <a:spLocks noChangeArrowheads="1"/>
          </p:cNvSpPr>
          <p:nvPr/>
        </p:nvSpPr>
        <p:spPr bwMode="auto">
          <a:xfrm>
            <a:off x="827088" y="144463"/>
            <a:ext cx="5616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ea"/>
                <a:sym typeface="+mn-lt"/>
              </a:rPr>
              <a:t>归并排序（递归）</a:t>
            </a:r>
          </a:p>
        </p:txBody>
      </p:sp>
      <p:sp>
        <p:nvSpPr>
          <p:cNvPr id="5" name="文本框 4"/>
          <p:cNvSpPr txBox="1"/>
          <p:nvPr/>
        </p:nvSpPr>
        <p:spPr>
          <a:xfrm>
            <a:off x="107504" y="980728"/>
            <a:ext cx="8928992" cy="1938992"/>
          </a:xfrm>
          <a:prstGeom prst="rect">
            <a:avLst/>
          </a:prstGeom>
          <a:noFill/>
        </p:spPr>
        <p:txBody>
          <a:bodyPr wrap="square">
            <a:spAutoFit/>
          </a:bodyPr>
          <a:lstStyle/>
          <a:p>
            <a:pPr marL="0" marR="0" lvl="0" indent="269875" algn="l" defTabSz="914400" rtl="0" eaLnBrk="0" fontAlgn="base" latinLnBrk="0" hangingPunct="0">
              <a:lnSpc>
                <a:spcPct val="100000"/>
              </a:lnSpc>
              <a:spcBef>
                <a:spcPct val="0"/>
              </a:spcBef>
              <a:spcAft>
                <a:spcPct val="0"/>
              </a:spcAft>
              <a:buClrTx/>
              <a:buSzTx/>
              <a:buFont typeface="Wingdings" panose="05000000000000000000" pitchFamily="2" charset="2"/>
              <a:buChar char="l"/>
              <a:defRPr/>
            </a:pP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2-</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路归并排序将</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R[</a:t>
            </a:r>
            <a:r>
              <a:rPr kumimoji="0" lang="en-US" altLang="zh-CN" sz="2000" b="0" i="0" u="none" strike="noStrike" kern="1200" cap="none" spc="0" normalizeH="0" baseline="0" noProof="0" dirty="0" err="1">
                <a:ln>
                  <a:noFill/>
                </a:ln>
                <a:solidFill>
                  <a:srgbClr val="000000"/>
                </a:solidFill>
                <a:effectLst/>
                <a:uLnTx/>
                <a:uFillTx/>
                <a:latin typeface="楷体" panose="02010609060101010101" pitchFamily="49" charset="-122"/>
                <a:ea typeface="楷体" panose="02010609060101010101" pitchFamily="49" charset="-122"/>
                <a:cs typeface="+mn-cs"/>
              </a:rPr>
              <a:t>low..high</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中的记录归并排序后放入</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T[</a:t>
            </a:r>
            <a:r>
              <a:rPr kumimoji="0" lang="en-US" altLang="zh-CN" sz="2000" b="0" i="0" u="none" strike="noStrike" kern="1200" cap="none" spc="0" normalizeH="0" baseline="0" noProof="0" dirty="0" err="1">
                <a:ln>
                  <a:noFill/>
                </a:ln>
                <a:solidFill>
                  <a:srgbClr val="000000"/>
                </a:solidFill>
                <a:effectLst/>
                <a:uLnTx/>
                <a:uFillTx/>
                <a:latin typeface="楷体" panose="02010609060101010101" pitchFamily="49" charset="-122"/>
                <a:ea typeface="楷体" panose="02010609060101010101" pitchFamily="49" charset="-122"/>
                <a:cs typeface="+mn-cs"/>
              </a:rPr>
              <a:t>low..high</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中。当序列长度等于</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1</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时，递归结束，否则：</a:t>
            </a:r>
          </a:p>
          <a:p>
            <a:pPr marL="0" marR="0" lvl="0" indent="269875" algn="l" defTabSz="914400" rtl="0" eaLnBrk="0" fontAlgn="base" latinLnBrk="0" hangingPunct="0">
              <a:lnSpc>
                <a:spcPct val="100000"/>
              </a:lnSpc>
              <a:spcBef>
                <a:spcPct val="0"/>
              </a:spcBef>
              <a:spcAft>
                <a:spcPct val="0"/>
              </a:spcAft>
              <a:buClrTx/>
              <a:buSzTx/>
              <a:buFont typeface="Wingdings" panose="05000000000000000000" pitchFamily="2" charset="2"/>
              <a:buChar char="l"/>
              <a:defRPr/>
            </a:pP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① 将当前序列一分为二，求出分裂点</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mid = (</a:t>
            </a:r>
            <a:r>
              <a:rPr kumimoji="0" lang="en-US" altLang="zh-CN" sz="2000" b="0" i="0" u="none" strike="noStrike" kern="1200" cap="none" spc="0" normalizeH="0" baseline="0" noProof="0" dirty="0" err="1">
                <a:ln>
                  <a:noFill/>
                </a:ln>
                <a:solidFill>
                  <a:srgbClr val="000000"/>
                </a:solidFill>
                <a:effectLst/>
                <a:uLnTx/>
                <a:uFillTx/>
                <a:latin typeface="楷体" panose="02010609060101010101" pitchFamily="49" charset="-122"/>
                <a:ea typeface="楷体" panose="02010609060101010101" pitchFamily="49" charset="-122"/>
                <a:cs typeface="+mn-cs"/>
              </a:rPr>
              <a:t>low+high</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)/2</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a:t>
            </a:r>
          </a:p>
          <a:p>
            <a:pPr marL="0" marR="0" lvl="0" indent="269875" algn="l" defTabSz="914400" rtl="0" eaLnBrk="0" fontAlgn="base" latinLnBrk="0" hangingPunct="0">
              <a:lnSpc>
                <a:spcPct val="100000"/>
              </a:lnSpc>
              <a:spcBef>
                <a:spcPct val="0"/>
              </a:spcBef>
              <a:spcAft>
                <a:spcPct val="0"/>
              </a:spcAft>
              <a:buClrTx/>
              <a:buSzTx/>
              <a:buFont typeface="Wingdings" panose="05000000000000000000" pitchFamily="2" charset="2"/>
              <a:buChar char="l"/>
              <a:defRPr/>
            </a:pP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② 对子序列</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R[</a:t>
            </a:r>
            <a:r>
              <a:rPr kumimoji="0" lang="en-US" altLang="zh-CN" sz="2000" b="0" i="0" u="none" strike="noStrike" kern="1200" cap="none" spc="0" normalizeH="0" baseline="0" noProof="0" dirty="0" err="1">
                <a:ln>
                  <a:noFill/>
                </a:ln>
                <a:solidFill>
                  <a:srgbClr val="000000"/>
                </a:solidFill>
                <a:effectLst/>
                <a:uLnTx/>
                <a:uFillTx/>
                <a:latin typeface="楷体" panose="02010609060101010101" pitchFamily="49" charset="-122"/>
                <a:ea typeface="楷体" panose="02010609060101010101" pitchFamily="49" charset="-122"/>
                <a:cs typeface="+mn-cs"/>
              </a:rPr>
              <a:t>low..mid</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递归，结果放入</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S[</a:t>
            </a:r>
            <a:r>
              <a:rPr kumimoji="0" lang="en-US" altLang="zh-CN" sz="2000" b="0" i="0" u="none" strike="noStrike" kern="1200" cap="none" spc="0" normalizeH="0" baseline="0" noProof="0" dirty="0" err="1">
                <a:ln>
                  <a:noFill/>
                </a:ln>
                <a:solidFill>
                  <a:srgbClr val="000000"/>
                </a:solidFill>
                <a:effectLst/>
                <a:uLnTx/>
                <a:uFillTx/>
                <a:latin typeface="楷体" panose="02010609060101010101" pitchFamily="49" charset="-122"/>
                <a:ea typeface="楷体" panose="02010609060101010101" pitchFamily="49" charset="-122"/>
                <a:cs typeface="+mn-cs"/>
              </a:rPr>
              <a:t>low..mid</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中；</a:t>
            </a:r>
          </a:p>
          <a:p>
            <a:pPr marL="0" marR="0" lvl="0" indent="269875" algn="l" defTabSz="914400" rtl="0" eaLnBrk="0" fontAlgn="base" latinLnBrk="0" hangingPunct="0">
              <a:lnSpc>
                <a:spcPct val="100000"/>
              </a:lnSpc>
              <a:spcBef>
                <a:spcPct val="0"/>
              </a:spcBef>
              <a:spcAft>
                <a:spcPct val="0"/>
              </a:spcAft>
              <a:buClrTx/>
              <a:buSzTx/>
              <a:buFont typeface="Wingdings" panose="05000000000000000000" pitchFamily="2" charset="2"/>
              <a:buChar char="l"/>
              <a:defRPr/>
            </a:pP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③ 对子序列</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R[mid + 1..high]</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递归，结果放入</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S[mid + 1..high]</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中；</a:t>
            </a:r>
          </a:p>
          <a:p>
            <a:pPr marL="0" marR="0" lvl="0" indent="269875" algn="l" defTabSz="914400" rtl="0" eaLnBrk="0" fontAlgn="base" latinLnBrk="0" hangingPunct="0">
              <a:lnSpc>
                <a:spcPct val="100000"/>
              </a:lnSpc>
              <a:spcBef>
                <a:spcPct val="0"/>
              </a:spcBef>
              <a:spcAft>
                <a:spcPct val="0"/>
              </a:spcAft>
              <a:buClrTx/>
              <a:buSzTx/>
              <a:buFont typeface="Wingdings" panose="05000000000000000000" pitchFamily="2" charset="2"/>
              <a:buChar char="l"/>
              <a:defRPr/>
            </a:pP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④ 调用算法</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Merge</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，将</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S[</a:t>
            </a:r>
            <a:r>
              <a:rPr kumimoji="0" lang="en-US" altLang="zh-CN" sz="2000" b="0" i="0" u="none" strike="noStrike" kern="1200" cap="none" spc="0" normalizeH="0" baseline="0" noProof="0" dirty="0" err="1">
                <a:ln>
                  <a:noFill/>
                </a:ln>
                <a:solidFill>
                  <a:srgbClr val="000000"/>
                </a:solidFill>
                <a:effectLst/>
                <a:uLnTx/>
                <a:uFillTx/>
                <a:latin typeface="楷体" panose="02010609060101010101" pitchFamily="49" charset="-122"/>
                <a:ea typeface="楷体" panose="02010609060101010101" pitchFamily="49" charset="-122"/>
                <a:cs typeface="+mn-cs"/>
              </a:rPr>
              <a:t>low..mid</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和</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S[mid + 1..high]</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归并</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T[</a:t>
            </a:r>
            <a:r>
              <a:rPr kumimoji="0" lang="en-US" altLang="zh-CN" sz="2000" b="0" i="0" u="none" strike="noStrike" kern="1200" cap="none" spc="0" normalizeH="0" baseline="0" noProof="0" dirty="0" err="1">
                <a:ln>
                  <a:noFill/>
                </a:ln>
                <a:solidFill>
                  <a:srgbClr val="000000"/>
                </a:solidFill>
                <a:effectLst/>
                <a:uLnTx/>
                <a:uFillTx/>
                <a:latin typeface="楷体" panose="02010609060101010101" pitchFamily="49" charset="-122"/>
                <a:ea typeface="楷体" panose="02010609060101010101" pitchFamily="49" charset="-122"/>
                <a:cs typeface="+mn-cs"/>
              </a:rPr>
              <a:t>low..high</a:t>
            </a:r>
            <a:r>
              <a:rPr kumimoji="0" lang="en-US" altLang="zh-CN"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a:t>
            </a:r>
            <a:r>
              <a:rPr kumimoji="0" lang="zh-CN" altLang="en-US" sz="2000" b="0" i="0" u="none" strike="noStrike" kern="1200" cap="none" spc="0" normalizeH="0" baseline="0" noProof="0" dirty="0">
                <a:ln>
                  <a:noFill/>
                </a:ln>
                <a:solidFill>
                  <a:srgbClr val="000000"/>
                </a:solidFill>
                <a:effectLst/>
                <a:uLnTx/>
                <a:uFillTx/>
                <a:latin typeface="楷体" panose="02010609060101010101" pitchFamily="49" charset="-122"/>
                <a:ea typeface="楷体" panose="02010609060101010101" pitchFamily="49" charset="-122"/>
                <a:cs typeface="+mn-cs"/>
              </a:rPr>
              <a:t>。</a:t>
            </a:r>
          </a:p>
        </p:txBody>
      </p:sp>
      <p:sp>
        <p:nvSpPr>
          <p:cNvPr id="7" name="矩形 6"/>
          <p:cNvSpPr/>
          <p:nvPr/>
        </p:nvSpPr>
        <p:spPr bwMode="auto">
          <a:xfrm>
            <a:off x="0" y="3170133"/>
            <a:ext cx="9144000" cy="3630502"/>
          </a:xfrm>
          <a:prstGeom prst="rect">
            <a:avLst/>
          </a:prstGeom>
          <a:solidFill>
            <a:srgbClr val="EBEBEB"/>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void </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MSort</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RedType</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R[],</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RedType</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&amp;T[],int </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low,int</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high)</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if(low==high) T[low]=R[low];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else</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mid=(</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low+high</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)/2;    	//</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将当前序列一分为二，求出分裂点</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mid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MSort</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R,S,low,mid</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//R[</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low..mid</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递归，结果放入</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S[</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low..mid</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MSort</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(R,S,mid+1,high);//R[mid+1..high]</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递归，结果放入</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S[mid+1..high]</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Merge(</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S,T,low,mid,high</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将</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S[</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low..mid</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和</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S[mid+1..high]</a:t>
            </a:r>
            <a:r>
              <a:rPr kumimoji="1" lang="zh-CN" alt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归并到</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T[</a:t>
            </a:r>
            <a:r>
              <a:rPr kumimoji="1" lang="en-US" altLang="zh-CN" sz="2000" b="0" i="0" u="none" strike="noStrike" kern="1200" cap="none" spc="0" normalizeH="0" baseline="0" noProof="0" dirty="0" err="1">
                <a:ln>
                  <a:noFill/>
                </a:ln>
                <a:solidFill>
                  <a:srgbClr val="000000"/>
                </a:solidFill>
                <a:effectLst/>
                <a:uLnTx/>
                <a:uFillTx/>
                <a:latin typeface="Times New Roman" panose="02020603050405020304" pitchFamily="18" charset="0"/>
                <a:ea typeface="仿宋_GB2312" pitchFamily="49" charset="-122"/>
                <a:cs typeface="+mn-cs"/>
              </a:rPr>
              <a:t>low..high</a:t>
            </a: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						</a:t>
            </a:r>
          </a:p>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en-US" altLang="zh-CN" sz="2000" b="0" i="0" u="none" strike="noStrike" kern="1200" cap="none" spc="0" normalizeH="0" baseline="0" noProof="0" dirty="0">
                <a:ln>
                  <a:noFill/>
                </a:ln>
                <a:solidFill>
                  <a:srgbClr val="000000"/>
                </a:solidFill>
                <a:effectLst/>
                <a:uLnTx/>
                <a:uFillTx/>
                <a:latin typeface="Times New Roman" panose="02020603050405020304" pitchFamily="18" charset="0"/>
                <a:ea typeface="仿宋_GB2312" pitchFamily="49" charset="-122"/>
                <a:cs typeface="+mn-cs"/>
              </a:rPr>
              <a:t>} </a:t>
            </a:r>
          </a:p>
        </p:txBody>
      </p:sp>
      <p:cxnSp>
        <p:nvCxnSpPr>
          <p:cNvPr id="2" name="直接连接符 1"/>
          <p:cNvCxnSpPr/>
          <p:nvPr/>
        </p:nvCxnSpPr>
        <p:spPr bwMode="auto">
          <a:xfrm>
            <a:off x="-13265" y="3140968"/>
            <a:ext cx="9144000" cy="0"/>
          </a:xfrm>
          <a:prstGeom prst="line">
            <a:avLst/>
          </a:prstGeom>
          <a:solidFill>
            <a:schemeClr val="accent1"/>
          </a:solidFill>
          <a:ln w="28575" cap="flat" cmpd="sng" algn="ctr">
            <a:solidFill>
              <a:srgbClr val="C00000"/>
            </a:solidFill>
            <a:prstDash val="dash"/>
            <a:round/>
            <a:headEnd type="none" w="med" len="med"/>
            <a:tailEnd type="none" w="med" len="med"/>
          </a:ln>
        </p:spPr>
      </p:cxnSp>
    </p:spTree>
  </p:cSld>
  <p:clrMapOvr>
    <a:masterClrMapping/>
  </p:clrMapOvr>
  <p:transition spd="slow"/>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6708" name="Rectangle 4"/>
          <p:cNvSpPr>
            <a:spLocks noChangeArrowheads="1"/>
          </p:cNvSpPr>
          <p:nvPr/>
        </p:nvSpPr>
        <p:spPr bwMode="auto">
          <a:xfrm>
            <a:off x="900113" y="165100"/>
            <a:ext cx="24384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
        <p:nvSpPr>
          <p:cNvPr id="5" name="Rectangle 27"/>
          <p:cNvSpPr>
            <a:spLocks noChangeArrowheads="1"/>
          </p:cNvSpPr>
          <p:nvPr/>
        </p:nvSpPr>
        <p:spPr bwMode="auto">
          <a:xfrm>
            <a:off x="1325563" y="3716338"/>
            <a:ext cx="1766888" cy="1092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Tx/>
              <a:buNone/>
              <a:defRPr/>
            </a:pPr>
            <a:r>
              <a:rPr kumimoji="0" lang="zh-CN" altLang="en-US" sz="2600" b="0" i="0" u="none" strike="noStrike" kern="1200" cap="none" spc="0" normalizeH="0" baseline="0" noProof="0" dirty="0">
                <a:ln>
                  <a:noFill/>
                </a:ln>
                <a:solidFill>
                  <a:srgbClr val="4F81BD"/>
                </a:solidFill>
                <a:effectLst/>
                <a:uLnTx/>
                <a:uFillTx/>
                <a:latin typeface="+mn-lt"/>
                <a:ea typeface="+mn-ea"/>
                <a:cs typeface="+mn-ea"/>
                <a:sym typeface="+mn-lt"/>
              </a:rPr>
              <a:t>时间效率：</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O(nlog2n) </a:t>
            </a:r>
          </a:p>
        </p:txBody>
      </p:sp>
      <p:grpSp>
        <p:nvGrpSpPr>
          <p:cNvPr id="6" name="组合 5"/>
          <p:cNvGrpSpPr/>
          <p:nvPr/>
        </p:nvGrpSpPr>
        <p:grpSpPr>
          <a:xfrm>
            <a:off x="6261100" y="2230438"/>
            <a:ext cx="1123950" cy="1122362"/>
            <a:chOff x="5220629" y="1628425"/>
            <a:chExt cx="1123570" cy="1123570"/>
          </a:xfrm>
        </p:grpSpPr>
        <p:sp>
          <p:nvSpPr>
            <p:cNvPr id="7" name="i$liḋe-Oval 6"/>
            <p:cNvSpPr/>
            <p:nvPr/>
          </p:nvSpPr>
          <p:spPr>
            <a:xfrm>
              <a:off x="5220629" y="1628425"/>
              <a:ext cx="1123570" cy="1123570"/>
            </a:xfrm>
            <a:prstGeom prst="ellipse">
              <a:avLst/>
            </a:prstGeom>
            <a:solidFill>
              <a:schemeClr val="bg2">
                <a:lumMod val="75000"/>
              </a:scheme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Arial" panose="020B0604020202020204" pitchFamily="34" charset="0"/>
                <a:ea typeface="+mn-ea"/>
                <a:cs typeface="+mn-cs"/>
                <a:sym typeface="Arial" panose="020B0604020202020204" pitchFamily="34" charset="0"/>
              </a:endParaRPr>
            </a:p>
          </p:txBody>
        </p:sp>
        <p:sp>
          <p:nvSpPr>
            <p:cNvPr id="8" name="i$liḋe-Freeform: Shape 7"/>
            <p:cNvSpPr/>
            <p:nvPr/>
          </p:nvSpPr>
          <p:spPr bwMode="auto">
            <a:xfrm>
              <a:off x="5487239" y="1916071"/>
              <a:ext cx="590350" cy="548277"/>
            </a:xfrm>
            <a:custGeom>
              <a:avLst/>
              <a:gdLst>
                <a:gd name="T0" fmla="*/ 142 w 241"/>
                <a:gd name="T1" fmla="*/ 137 h 224"/>
                <a:gd name="T2" fmla="*/ 150 w 241"/>
                <a:gd name="T3" fmla="*/ 97 h 224"/>
                <a:gd name="T4" fmla="*/ 132 w 241"/>
                <a:gd name="T5" fmla="*/ 115 h 224"/>
                <a:gd name="T6" fmla="*/ 110 w 241"/>
                <a:gd name="T7" fmla="*/ 115 h 224"/>
                <a:gd name="T8" fmla="*/ 110 w 241"/>
                <a:gd name="T9" fmla="*/ 92 h 224"/>
                <a:gd name="T10" fmla="*/ 127 w 241"/>
                <a:gd name="T11" fmla="*/ 74 h 224"/>
                <a:gd name="T12" fmla="*/ 88 w 241"/>
                <a:gd name="T13" fmla="*/ 83 h 224"/>
                <a:gd name="T14" fmla="*/ 78 w 241"/>
                <a:gd name="T15" fmla="*/ 120 h 224"/>
                <a:gd name="T16" fmla="*/ 3 w 241"/>
                <a:gd name="T17" fmla="*/ 195 h 224"/>
                <a:gd name="T18" fmla="*/ 3 w 241"/>
                <a:gd name="T19" fmla="*/ 206 h 224"/>
                <a:gd name="T20" fmla="*/ 19 w 241"/>
                <a:gd name="T21" fmla="*/ 222 h 224"/>
                <a:gd name="T22" fmla="*/ 25 w 241"/>
                <a:gd name="T23" fmla="*/ 224 h 224"/>
                <a:gd name="T24" fmla="*/ 30 w 241"/>
                <a:gd name="T25" fmla="*/ 222 h 224"/>
                <a:gd name="T26" fmla="*/ 105 w 241"/>
                <a:gd name="T27" fmla="*/ 147 h 224"/>
                <a:gd name="T28" fmla="*/ 142 w 241"/>
                <a:gd name="T29" fmla="*/ 137 h 224"/>
                <a:gd name="T30" fmla="*/ 27 w 241"/>
                <a:gd name="T31" fmla="*/ 206 h 224"/>
                <a:gd name="T32" fmla="*/ 19 w 241"/>
                <a:gd name="T33" fmla="*/ 206 h 224"/>
                <a:gd name="T34" fmla="*/ 19 w 241"/>
                <a:gd name="T35" fmla="*/ 198 h 224"/>
                <a:gd name="T36" fmla="*/ 27 w 241"/>
                <a:gd name="T37" fmla="*/ 198 h 224"/>
                <a:gd name="T38" fmla="*/ 27 w 241"/>
                <a:gd name="T39" fmla="*/ 206 h 224"/>
                <a:gd name="T40" fmla="*/ 236 w 241"/>
                <a:gd name="T41" fmla="*/ 0 h 224"/>
                <a:gd name="T42" fmla="*/ 19 w 241"/>
                <a:gd name="T43" fmla="*/ 0 h 224"/>
                <a:gd name="T44" fmla="*/ 14 w 241"/>
                <a:gd name="T45" fmla="*/ 5 h 224"/>
                <a:gd name="T46" fmla="*/ 14 w 241"/>
                <a:gd name="T47" fmla="*/ 171 h 224"/>
                <a:gd name="T48" fmla="*/ 38 w 241"/>
                <a:gd name="T49" fmla="*/ 147 h 224"/>
                <a:gd name="T50" fmla="*/ 38 w 241"/>
                <a:gd name="T51" fmla="*/ 48 h 224"/>
                <a:gd name="T52" fmla="*/ 217 w 241"/>
                <a:gd name="T53" fmla="*/ 48 h 224"/>
                <a:gd name="T54" fmla="*/ 217 w 241"/>
                <a:gd name="T55" fmla="*/ 170 h 224"/>
                <a:gd name="T56" fmla="*/ 95 w 241"/>
                <a:gd name="T57" fmla="*/ 170 h 224"/>
                <a:gd name="T58" fmla="*/ 72 w 241"/>
                <a:gd name="T59" fmla="*/ 193 h 224"/>
                <a:gd name="T60" fmla="*/ 222 w 241"/>
                <a:gd name="T61" fmla="*/ 193 h 224"/>
                <a:gd name="T62" fmla="*/ 241 w 241"/>
                <a:gd name="T63" fmla="*/ 175 h 224"/>
                <a:gd name="T64" fmla="*/ 241 w 241"/>
                <a:gd name="T65" fmla="*/ 5 h 224"/>
                <a:gd name="T66" fmla="*/ 236 w 241"/>
                <a:gd name="T67" fmla="*/ 0 h 224"/>
                <a:gd name="T68" fmla="*/ 47 w 241"/>
                <a:gd name="T69" fmla="*/ 32 h 224"/>
                <a:gd name="T70" fmla="*/ 39 w 241"/>
                <a:gd name="T71" fmla="*/ 24 h 224"/>
                <a:gd name="T72" fmla="*/ 47 w 241"/>
                <a:gd name="T73" fmla="*/ 15 h 224"/>
                <a:gd name="T74" fmla="*/ 55 w 241"/>
                <a:gd name="T75" fmla="*/ 24 h 224"/>
                <a:gd name="T76" fmla="*/ 47 w 241"/>
                <a:gd name="T77" fmla="*/ 32 h 224"/>
                <a:gd name="T78" fmla="*/ 77 w 241"/>
                <a:gd name="T79" fmla="*/ 32 h 224"/>
                <a:gd name="T80" fmla="*/ 69 w 241"/>
                <a:gd name="T81" fmla="*/ 24 h 224"/>
                <a:gd name="T82" fmla="*/ 77 w 241"/>
                <a:gd name="T83" fmla="*/ 15 h 224"/>
                <a:gd name="T84" fmla="*/ 85 w 241"/>
                <a:gd name="T85" fmla="*/ 24 h 224"/>
                <a:gd name="T86" fmla="*/ 77 w 241"/>
                <a:gd name="T87" fmla="*/ 3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1" h="224">
                  <a:moveTo>
                    <a:pt x="142" y="137"/>
                  </a:moveTo>
                  <a:cubicBezTo>
                    <a:pt x="153" y="126"/>
                    <a:pt x="155" y="110"/>
                    <a:pt x="150" y="97"/>
                  </a:cubicBezTo>
                  <a:cubicBezTo>
                    <a:pt x="132" y="115"/>
                    <a:pt x="132" y="115"/>
                    <a:pt x="132" y="115"/>
                  </a:cubicBezTo>
                  <a:cubicBezTo>
                    <a:pt x="126" y="121"/>
                    <a:pt x="116" y="121"/>
                    <a:pt x="110" y="115"/>
                  </a:cubicBezTo>
                  <a:cubicBezTo>
                    <a:pt x="104" y="108"/>
                    <a:pt x="104" y="98"/>
                    <a:pt x="110" y="92"/>
                  </a:cubicBezTo>
                  <a:cubicBezTo>
                    <a:pt x="127" y="74"/>
                    <a:pt x="127" y="74"/>
                    <a:pt x="127" y="74"/>
                  </a:cubicBezTo>
                  <a:cubicBezTo>
                    <a:pt x="114" y="70"/>
                    <a:pt x="99" y="73"/>
                    <a:pt x="88" y="83"/>
                  </a:cubicBezTo>
                  <a:cubicBezTo>
                    <a:pt x="78" y="93"/>
                    <a:pt x="75" y="107"/>
                    <a:pt x="78" y="120"/>
                  </a:cubicBezTo>
                  <a:cubicBezTo>
                    <a:pt x="3" y="195"/>
                    <a:pt x="3" y="195"/>
                    <a:pt x="3" y="195"/>
                  </a:cubicBezTo>
                  <a:cubicBezTo>
                    <a:pt x="0" y="198"/>
                    <a:pt x="0" y="203"/>
                    <a:pt x="3" y="206"/>
                  </a:cubicBezTo>
                  <a:cubicBezTo>
                    <a:pt x="19" y="222"/>
                    <a:pt x="19" y="222"/>
                    <a:pt x="19" y="222"/>
                  </a:cubicBezTo>
                  <a:cubicBezTo>
                    <a:pt x="21" y="223"/>
                    <a:pt x="23" y="224"/>
                    <a:pt x="25" y="224"/>
                  </a:cubicBezTo>
                  <a:cubicBezTo>
                    <a:pt x="27" y="224"/>
                    <a:pt x="29" y="223"/>
                    <a:pt x="30" y="222"/>
                  </a:cubicBezTo>
                  <a:cubicBezTo>
                    <a:pt x="105" y="147"/>
                    <a:pt x="105" y="147"/>
                    <a:pt x="105" y="147"/>
                  </a:cubicBezTo>
                  <a:cubicBezTo>
                    <a:pt x="118" y="150"/>
                    <a:pt x="132" y="147"/>
                    <a:pt x="142" y="137"/>
                  </a:cubicBezTo>
                  <a:close/>
                  <a:moveTo>
                    <a:pt x="27" y="206"/>
                  </a:moveTo>
                  <a:cubicBezTo>
                    <a:pt x="25" y="208"/>
                    <a:pt x="21" y="208"/>
                    <a:pt x="19" y="206"/>
                  </a:cubicBezTo>
                  <a:cubicBezTo>
                    <a:pt x="17" y="204"/>
                    <a:pt x="17" y="200"/>
                    <a:pt x="19" y="198"/>
                  </a:cubicBezTo>
                  <a:cubicBezTo>
                    <a:pt x="21" y="195"/>
                    <a:pt x="25" y="195"/>
                    <a:pt x="27" y="198"/>
                  </a:cubicBezTo>
                  <a:cubicBezTo>
                    <a:pt x="30" y="200"/>
                    <a:pt x="30" y="204"/>
                    <a:pt x="27" y="206"/>
                  </a:cubicBezTo>
                  <a:close/>
                  <a:moveTo>
                    <a:pt x="236" y="0"/>
                  </a:moveTo>
                  <a:cubicBezTo>
                    <a:pt x="19" y="0"/>
                    <a:pt x="19" y="0"/>
                    <a:pt x="19" y="0"/>
                  </a:cubicBezTo>
                  <a:cubicBezTo>
                    <a:pt x="16" y="0"/>
                    <a:pt x="14" y="2"/>
                    <a:pt x="14" y="5"/>
                  </a:cubicBezTo>
                  <a:cubicBezTo>
                    <a:pt x="14" y="171"/>
                    <a:pt x="14" y="171"/>
                    <a:pt x="14" y="171"/>
                  </a:cubicBezTo>
                  <a:cubicBezTo>
                    <a:pt x="38" y="147"/>
                    <a:pt x="38" y="147"/>
                    <a:pt x="38" y="147"/>
                  </a:cubicBezTo>
                  <a:cubicBezTo>
                    <a:pt x="38" y="48"/>
                    <a:pt x="38" y="48"/>
                    <a:pt x="38" y="48"/>
                  </a:cubicBezTo>
                  <a:cubicBezTo>
                    <a:pt x="217" y="48"/>
                    <a:pt x="217" y="48"/>
                    <a:pt x="217" y="48"/>
                  </a:cubicBezTo>
                  <a:cubicBezTo>
                    <a:pt x="217" y="170"/>
                    <a:pt x="217" y="170"/>
                    <a:pt x="217" y="170"/>
                  </a:cubicBezTo>
                  <a:cubicBezTo>
                    <a:pt x="95" y="170"/>
                    <a:pt x="95" y="170"/>
                    <a:pt x="95" y="170"/>
                  </a:cubicBezTo>
                  <a:cubicBezTo>
                    <a:pt x="72" y="193"/>
                    <a:pt x="72" y="193"/>
                    <a:pt x="72" y="193"/>
                  </a:cubicBezTo>
                  <a:cubicBezTo>
                    <a:pt x="222" y="193"/>
                    <a:pt x="222" y="193"/>
                    <a:pt x="222" y="193"/>
                  </a:cubicBezTo>
                  <a:cubicBezTo>
                    <a:pt x="233" y="193"/>
                    <a:pt x="241" y="185"/>
                    <a:pt x="241" y="175"/>
                  </a:cubicBezTo>
                  <a:cubicBezTo>
                    <a:pt x="241" y="5"/>
                    <a:pt x="241" y="5"/>
                    <a:pt x="241" y="5"/>
                  </a:cubicBezTo>
                  <a:cubicBezTo>
                    <a:pt x="241" y="2"/>
                    <a:pt x="239" y="0"/>
                    <a:pt x="236" y="0"/>
                  </a:cubicBezTo>
                  <a:close/>
                  <a:moveTo>
                    <a:pt x="47" y="32"/>
                  </a:moveTo>
                  <a:cubicBezTo>
                    <a:pt x="42" y="32"/>
                    <a:pt x="39" y="28"/>
                    <a:pt x="39" y="24"/>
                  </a:cubicBezTo>
                  <a:cubicBezTo>
                    <a:pt x="39" y="19"/>
                    <a:pt x="42" y="15"/>
                    <a:pt x="47" y="15"/>
                  </a:cubicBezTo>
                  <a:cubicBezTo>
                    <a:pt x="52" y="15"/>
                    <a:pt x="55" y="19"/>
                    <a:pt x="55" y="24"/>
                  </a:cubicBezTo>
                  <a:cubicBezTo>
                    <a:pt x="55" y="28"/>
                    <a:pt x="52" y="32"/>
                    <a:pt x="47" y="32"/>
                  </a:cubicBezTo>
                  <a:close/>
                  <a:moveTo>
                    <a:pt x="77" y="32"/>
                  </a:moveTo>
                  <a:cubicBezTo>
                    <a:pt x="72" y="32"/>
                    <a:pt x="69" y="28"/>
                    <a:pt x="69" y="24"/>
                  </a:cubicBezTo>
                  <a:cubicBezTo>
                    <a:pt x="69" y="19"/>
                    <a:pt x="72" y="15"/>
                    <a:pt x="77" y="15"/>
                  </a:cubicBezTo>
                  <a:cubicBezTo>
                    <a:pt x="81" y="15"/>
                    <a:pt x="85" y="19"/>
                    <a:pt x="85" y="24"/>
                  </a:cubicBezTo>
                  <a:cubicBezTo>
                    <a:pt x="85" y="28"/>
                    <a:pt x="81" y="32"/>
                    <a:pt x="77" y="32"/>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9" name="组合 8"/>
          <p:cNvGrpSpPr/>
          <p:nvPr/>
        </p:nvGrpSpPr>
        <p:grpSpPr>
          <a:xfrm>
            <a:off x="3813175" y="2230438"/>
            <a:ext cx="1123950" cy="1122362"/>
            <a:chOff x="2772357" y="1628425"/>
            <a:chExt cx="1123570" cy="1123570"/>
          </a:xfrm>
        </p:grpSpPr>
        <p:sp>
          <p:nvSpPr>
            <p:cNvPr id="10" name="i$liḋe-Oval 8"/>
            <p:cNvSpPr/>
            <p:nvPr/>
          </p:nvSpPr>
          <p:spPr>
            <a:xfrm>
              <a:off x="2772357" y="1628425"/>
              <a:ext cx="1123570" cy="1123570"/>
            </a:xfrm>
            <a:prstGeom prst="ellipse">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Arial" panose="020B0604020202020204" pitchFamily="34" charset="0"/>
                <a:ea typeface="+mn-ea"/>
                <a:cs typeface="+mn-cs"/>
                <a:sym typeface="Arial" panose="020B0604020202020204" pitchFamily="34" charset="0"/>
              </a:endParaRPr>
            </a:p>
          </p:txBody>
        </p:sp>
        <p:sp>
          <p:nvSpPr>
            <p:cNvPr id="11" name="i$liḋe-Freeform: Shape 9"/>
            <p:cNvSpPr/>
            <p:nvPr/>
          </p:nvSpPr>
          <p:spPr bwMode="auto">
            <a:xfrm>
              <a:off x="3054836" y="1951034"/>
              <a:ext cx="558611" cy="478352"/>
            </a:xfrm>
            <a:custGeom>
              <a:avLst/>
              <a:gdLst>
                <a:gd name="T0" fmla="*/ 223 w 228"/>
                <a:gd name="T1" fmla="*/ 0 h 196"/>
                <a:gd name="T2" fmla="*/ 210 w 228"/>
                <a:gd name="T3" fmla="*/ 0 h 196"/>
                <a:gd name="T4" fmla="*/ 205 w 228"/>
                <a:gd name="T5" fmla="*/ 5 h 196"/>
                <a:gd name="T6" fmla="*/ 205 w 228"/>
                <a:gd name="T7" fmla="*/ 10 h 196"/>
                <a:gd name="T8" fmla="*/ 20 w 228"/>
                <a:gd name="T9" fmla="*/ 42 h 196"/>
                <a:gd name="T10" fmla="*/ 20 w 228"/>
                <a:gd name="T11" fmla="*/ 40 h 196"/>
                <a:gd name="T12" fmla="*/ 15 w 228"/>
                <a:gd name="T13" fmla="*/ 35 h 196"/>
                <a:gd name="T14" fmla="*/ 5 w 228"/>
                <a:gd name="T15" fmla="*/ 35 h 196"/>
                <a:gd name="T16" fmla="*/ 0 w 228"/>
                <a:gd name="T17" fmla="*/ 40 h 196"/>
                <a:gd name="T18" fmla="*/ 0 w 228"/>
                <a:gd name="T19" fmla="*/ 45 h 196"/>
                <a:gd name="T20" fmla="*/ 0 w 228"/>
                <a:gd name="T21" fmla="*/ 135 h 196"/>
                <a:gd name="T22" fmla="*/ 0 w 228"/>
                <a:gd name="T23" fmla="*/ 140 h 196"/>
                <a:gd name="T24" fmla="*/ 5 w 228"/>
                <a:gd name="T25" fmla="*/ 145 h 196"/>
                <a:gd name="T26" fmla="*/ 15 w 228"/>
                <a:gd name="T27" fmla="*/ 145 h 196"/>
                <a:gd name="T28" fmla="*/ 20 w 228"/>
                <a:gd name="T29" fmla="*/ 140 h 196"/>
                <a:gd name="T30" fmla="*/ 20 w 228"/>
                <a:gd name="T31" fmla="*/ 138 h 196"/>
                <a:gd name="T32" fmla="*/ 70 w 228"/>
                <a:gd name="T33" fmla="*/ 147 h 196"/>
                <a:gd name="T34" fmla="*/ 70 w 228"/>
                <a:gd name="T35" fmla="*/ 148 h 196"/>
                <a:gd name="T36" fmla="*/ 117 w 228"/>
                <a:gd name="T37" fmla="*/ 196 h 196"/>
                <a:gd name="T38" fmla="*/ 162 w 228"/>
                <a:gd name="T39" fmla="*/ 162 h 196"/>
                <a:gd name="T40" fmla="*/ 205 w 228"/>
                <a:gd name="T41" fmla="*/ 170 h 196"/>
                <a:gd name="T42" fmla="*/ 205 w 228"/>
                <a:gd name="T43" fmla="*/ 175 h 196"/>
                <a:gd name="T44" fmla="*/ 210 w 228"/>
                <a:gd name="T45" fmla="*/ 180 h 196"/>
                <a:gd name="T46" fmla="*/ 223 w 228"/>
                <a:gd name="T47" fmla="*/ 180 h 196"/>
                <a:gd name="T48" fmla="*/ 228 w 228"/>
                <a:gd name="T49" fmla="*/ 175 h 196"/>
                <a:gd name="T50" fmla="*/ 228 w 228"/>
                <a:gd name="T51" fmla="*/ 5 h 196"/>
                <a:gd name="T52" fmla="*/ 223 w 228"/>
                <a:gd name="T53" fmla="*/ 0 h 196"/>
                <a:gd name="T54" fmla="*/ 117 w 228"/>
                <a:gd name="T55" fmla="*/ 177 h 196"/>
                <a:gd name="T56" fmla="*/ 89 w 228"/>
                <a:gd name="T57" fmla="*/ 150 h 196"/>
                <a:gd name="T58" fmla="*/ 143 w 228"/>
                <a:gd name="T59" fmla="*/ 159 h 196"/>
                <a:gd name="T60" fmla="*/ 117 w 228"/>
                <a:gd name="T61" fmla="*/ 177 h 196"/>
                <a:gd name="T62" fmla="*/ 199 w 228"/>
                <a:gd name="T63" fmla="*/ 53 h 196"/>
                <a:gd name="T64" fmla="*/ 31 w 228"/>
                <a:gd name="T65" fmla="*/ 76 h 196"/>
                <a:gd name="T66" fmla="*/ 30 w 228"/>
                <a:gd name="T67" fmla="*/ 76 h 196"/>
                <a:gd name="T68" fmla="*/ 23 w 228"/>
                <a:gd name="T69" fmla="*/ 70 h 196"/>
                <a:gd name="T70" fmla="*/ 29 w 228"/>
                <a:gd name="T71" fmla="*/ 62 h 196"/>
                <a:gd name="T72" fmla="*/ 197 w 228"/>
                <a:gd name="T73" fmla="*/ 39 h 196"/>
                <a:gd name="T74" fmla="*/ 205 w 228"/>
                <a:gd name="T75" fmla="*/ 45 h 196"/>
                <a:gd name="T76" fmla="*/ 199 w 228"/>
                <a:gd name="T77" fmla="*/ 5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196">
                  <a:moveTo>
                    <a:pt x="223" y="0"/>
                  </a:moveTo>
                  <a:cubicBezTo>
                    <a:pt x="210" y="0"/>
                    <a:pt x="210" y="0"/>
                    <a:pt x="210" y="0"/>
                  </a:cubicBezTo>
                  <a:cubicBezTo>
                    <a:pt x="207" y="0"/>
                    <a:pt x="205" y="2"/>
                    <a:pt x="205" y="5"/>
                  </a:cubicBezTo>
                  <a:cubicBezTo>
                    <a:pt x="205" y="10"/>
                    <a:pt x="205" y="10"/>
                    <a:pt x="205" y="10"/>
                  </a:cubicBezTo>
                  <a:cubicBezTo>
                    <a:pt x="20" y="42"/>
                    <a:pt x="20" y="42"/>
                    <a:pt x="20" y="42"/>
                  </a:cubicBezTo>
                  <a:cubicBezTo>
                    <a:pt x="20" y="40"/>
                    <a:pt x="20" y="40"/>
                    <a:pt x="20" y="40"/>
                  </a:cubicBezTo>
                  <a:cubicBezTo>
                    <a:pt x="20" y="37"/>
                    <a:pt x="18" y="35"/>
                    <a:pt x="15" y="35"/>
                  </a:cubicBezTo>
                  <a:cubicBezTo>
                    <a:pt x="5" y="35"/>
                    <a:pt x="5" y="35"/>
                    <a:pt x="5" y="35"/>
                  </a:cubicBezTo>
                  <a:cubicBezTo>
                    <a:pt x="2" y="35"/>
                    <a:pt x="0" y="37"/>
                    <a:pt x="0" y="40"/>
                  </a:cubicBezTo>
                  <a:cubicBezTo>
                    <a:pt x="0" y="45"/>
                    <a:pt x="0" y="45"/>
                    <a:pt x="0" y="45"/>
                  </a:cubicBezTo>
                  <a:cubicBezTo>
                    <a:pt x="0" y="135"/>
                    <a:pt x="0" y="135"/>
                    <a:pt x="0" y="135"/>
                  </a:cubicBezTo>
                  <a:cubicBezTo>
                    <a:pt x="0" y="140"/>
                    <a:pt x="0" y="140"/>
                    <a:pt x="0" y="140"/>
                  </a:cubicBezTo>
                  <a:cubicBezTo>
                    <a:pt x="0" y="143"/>
                    <a:pt x="2" y="145"/>
                    <a:pt x="5" y="145"/>
                  </a:cubicBezTo>
                  <a:cubicBezTo>
                    <a:pt x="15" y="145"/>
                    <a:pt x="15" y="145"/>
                    <a:pt x="15" y="145"/>
                  </a:cubicBezTo>
                  <a:cubicBezTo>
                    <a:pt x="18" y="145"/>
                    <a:pt x="20" y="143"/>
                    <a:pt x="20" y="140"/>
                  </a:cubicBezTo>
                  <a:cubicBezTo>
                    <a:pt x="20" y="138"/>
                    <a:pt x="20" y="138"/>
                    <a:pt x="20" y="138"/>
                  </a:cubicBezTo>
                  <a:cubicBezTo>
                    <a:pt x="70" y="147"/>
                    <a:pt x="70" y="147"/>
                    <a:pt x="70" y="147"/>
                  </a:cubicBezTo>
                  <a:cubicBezTo>
                    <a:pt x="70" y="147"/>
                    <a:pt x="70" y="148"/>
                    <a:pt x="70" y="148"/>
                  </a:cubicBezTo>
                  <a:cubicBezTo>
                    <a:pt x="70" y="175"/>
                    <a:pt x="91" y="196"/>
                    <a:pt x="117" y="196"/>
                  </a:cubicBezTo>
                  <a:cubicBezTo>
                    <a:pt x="138" y="196"/>
                    <a:pt x="156" y="182"/>
                    <a:pt x="162" y="162"/>
                  </a:cubicBezTo>
                  <a:cubicBezTo>
                    <a:pt x="205" y="170"/>
                    <a:pt x="205" y="170"/>
                    <a:pt x="205" y="170"/>
                  </a:cubicBezTo>
                  <a:cubicBezTo>
                    <a:pt x="205" y="175"/>
                    <a:pt x="205" y="175"/>
                    <a:pt x="205" y="175"/>
                  </a:cubicBezTo>
                  <a:cubicBezTo>
                    <a:pt x="205" y="178"/>
                    <a:pt x="207" y="180"/>
                    <a:pt x="210" y="180"/>
                  </a:cubicBezTo>
                  <a:cubicBezTo>
                    <a:pt x="223" y="180"/>
                    <a:pt x="223" y="180"/>
                    <a:pt x="223" y="180"/>
                  </a:cubicBezTo>
                  <a:cubicBezTo>
                    <a:pt x="226" y="180"/>
                    <a:pt x="228" y="178"/>
                    <a:pt x="228" y="175"/>
                  </a:cubicBezTo>
                  <a:cubicBezTo>
                    <a:pt x="228" y="5"/>
                    <a:pt x="228" y="5"/>
                    <a:pt x="228" y="5"/>
                  </a:cubicBezTo>
                  <a:cubicBezTo>
                    <a:pt x="228" y="2"/>
                    <a:pt x="226" y="0"/>
                    <a:pt x="223" y="0"/>
                  </a:cubicBezTo>
                  <a:moveTo>
                    <a:pt x="117" y="177"/>
                  </a:moveTo>
                  <a:cubicBezTo>
                    <a:pt x="102" y="177"/>
                    <a:pt x="90" y="165"/>
                    <a:pt x="89" y="150"/>
                  </a:cubicBezTo>
                  <a:cubicBezTo>
                    <a:pt x="143" y="159"/>
                    <a:pt x="143" y="159"/>
                    <a:pt x="143" y="159"/>
                  </a:cubicBezTo>
                  <a:cubicBezTo>
                    <a:pt x="139" y="170"/>
                    <a:pt x="129" y="177"/>
                    <a:pt x="117" y="177"/>
                  </a:cubicBezTo>
                  <a:moveTo>
                    <a:pt x="199" y="53"/>
                  </a:moveTo>
                  <a:cubicBezTo>
                    <a:pt x="31" y="76"/>
                    <a:pt x="31" y="76"/>
                    <a:pt x="31" y="76"/>
                  </a:cubicBezTo>
                  <a:cubicBezTo>
                    <a:pt x="30" y="76"/>
                    <a:pt x="30" y="76"/>
                    <a:pt x="30" y="76"/>
                  </a:cubicBezTo>
                  <a:cubicBezTo>
                    <a:pt x="26" y="76"/>
                    <a:pt x="23" y="73"/>
                    <a:pt x="23" y="70"/>
                  </a:cubicBezTo>
                  <a:cubicBezTo>
                    <a:pt x="22" y="66"/>
                    <a:pt x="25" y="62"/>
                    <a:pt x="29" y="62"/>
                  </a:cubicBezTo>
                  <a:cubicBezTo>
                    <a:pt x="197" y="39"/>
                    <a:pt x="197" y="39"/>
                    <a:pt x="197" y="39"/>
                  </a:cubicBezTo>
                  <a:cubicBezTo>
                    <a:pt x="201" y="38"/>
                    <a:pt x="204" y="41"/>
                    <a:pt x="205" y="45"/>
                  </a:cubicBezTo>
                  <a:cubicBezTo>
                    <a:pt x="205" y="49"/>
                    <a:pt x="203" y="52"/>
                    <a:pt x="199" y="53"/>
                  </a:cubicBezTo>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12" name="组合 11"/>
          <p:cNvGrpSpPr/>
          <p:nvPr/>
        </p:nvGrpSpPr>
        <p:grpSpPr>
          <a:xfrm>
            <a:off x="1465263" y="2249488"/>
            <a:ext cx="1123950" cy="1122362"/>
            <a:chOff x="424651" y="1647340"/>
            <a:chExt cx="1123570" cy="1123570"/>
          </a:xfrm>
        </p:grpSpPr>
        <p:sp>
          <p:nvSpPr>
            <p:cNvPr id="13" name="i$liḋe-Oval 10"/>
            <p:cNvSpPr/>
            <p:nvPr/>
          </p:nvSpPr>
          <p:spPr>
            <a:xfrm>
              <a:off x="424651" y="1647340"/>
              <a:ext cx="1123570" cy="1123570"/>
            </a:xfrm>
            <a:prstGeom prst="ellipse">
              <a:avLst/>
            </a:pr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Arial" panose="020B0604020202020204" pitchFamily="34" charset="0"/>
                <a:ea typeface="+mn-ea"/>
                <a:cs typeface="+mn-cs"/>
                <a:sym typeface="Arial" panose="020B0604020202020204" pitchFamily="34" charset="0"/>
              </a:endParaRPr>
            </a:p>
          </p:txBody>
        </p:sp>
        <p:sp>
          <p:nvSpPr>
            <p:cNvPr id="14" name="i$liḋe-Freeform: Shape 11"/>
            <p:cNvSpPr/>
            <p:nvPr/>
          </p:nvSpPr>
          <p:spPr bwMode="auto">
            <a:xfrm>
              <a:off x="692847" y="1876186"/>
              <a:ext cx="587176" cy="665878"/>
            </a:xfrm>
            <a:custGeom>
              <a:avLst/>
              <a:gdLst>
                <a:gd name="T0" fmla="*/ 62 w 240"/>
                <a:gd name="T1" fmla="*/ 49 h 272"/>
                <a:gd name="T2" fmla="*/ 35 w 240"/>
                <a:gd name="T3" fmla="*/ 35 h 272"/>
                <a:gd name="T4" fmla="*/ 49 w 240"/>
                <a:gd name="T5" fmla="*/ 62 h 272"/>
                <a:gd name="T6" fmla="*/ 62 w 240"/>
                <a:gd name="T7" fmla="*/ 62 h 272"/>
                <a:gd name="T8" fmla="*/ 9 w 240"/>
                <a:gd name="T9" fmla="*/ 111 h 272"/>
                <a:gd name="T10" fmla="*/ 9 w 240"/>
                <a:gd name="T11" fmla="*/ 130 h 272"/>
                <a:gd name="T12" fmla="*/ 38 w 240"/>
                <a:gd name="T13" fmla="*/ 120 h 272"/>
                <a:gd name="T14" fmla="*/ 120 w 240"/>
                <a:gd name="T15" fmla="*/ 38 h 272"/>
                <a:gd name="T16" fmla="*/ 129 w 240"/>
                <a:gd name="T17" fmla="*/ 10 h 272"/>
                <a:gd name="T18" fmla="*/ 111 w 240"/>
                <a:gd name="T19" fmla="*/ 10 h 272"/>
                <a:gd name="T20" fmla="*/ 120 w 240"/>
                <a:gd name="T21" fmla="*/ 38 h 272"/>
                <a:gd name="T22" fmla="*/ 107 w 240"/>
                <a:gd name="T23" fmla="*/ 272 h 272"/>
                <a:gd name="T24" fmla="*/ 153 w 240"/>
                <a:gd name="T25" fmla="*/ 253 h 272"/>
                <a:gd name="T26" fmla="*/ 87 w 240"/>
                <a:gd name="T27" fmla="*/ 244 h 272"/>
                <a:gd name="T28" fmla="*/ 205 w 240"/>
                <a:gd name="T29" fmla="*/ 35 h 272"/>
                <a:gd name="T30" fmla="*/ 178 w 240"/>
                <a:gd name="T31" fmla="*/ 49 h 272"/>
                <a:gd name="T32" fmla="*/ 185 w 240"/>
                <a:gd name="T33" fmla="*/ 65 h 272"/>
                <a:gd name="T34" fmla="*/ 205 w 240"/>
                <a:gd name="T35" fmla="*/ 49 h 272"/>
                <a:gd name="T36" fmla="*/ 120 w 240"/>
                <a:gd name="T37" fmla="*/ 49 h 272"/>
                <a:gd name="T38" fmla="*/ 61 w 240"/>
                <a:gd name="T39" fmla="*/ 156 h 272"/>
                <a:gd name="T40" fmla="*/ 78 w 240"/>
                <a:gd name="T41" fmla="*/ 186 h 272"/>
                <a:gd name="T42" fmla="*/ 75 w 240"/>
                <a:gd name="T43" fmla="*/ 199 h 272"/>
                <a:gd name="T44" fmla="*/ 69 w 240"/>
                <a:gd name="T45" fmla="*/ 229 h 272"/>
                <a:gd name="T46" fmla="*/ 166 w 240"/>
                <a:gd name="T47" fmla="*/ 235 h 272"/>
                <a:gd name="T48" fmla="*/ 171 w 240"/>
                <a:gd name="T49" fmla="*/ 204 h 272"/>
                <a:gd name="T50" fmla="*/ 162 w 240"/>
                <a:gd name="T51" fmla="*/ 199 h 272"/>
                <a:gd name="T52" fmla="*/ 178 w 240"/>
                <a:gd name="T53" fmla="*/ 158 h 272"/>
                <a:gd name="T54" fmla="*/ 120 w 240"/>
                <a:gd name="T55" fmla="*/ 49 h 272"/>
                <a:gd name="T56" fmla="*/ 117 w 240"/>
                <a:gd name="T57" fmla="*/ 136 h 272"/>
                <a:gd name="T58" fmla="*/ 120 w 240"/>
                <a:gd name="T59" fmla="*/ 170 h 272"/>
                <a:gd name="T60" fmla="*/ 143 w 240"/>
                <a:gd name="T61" fmla="*/ 186 h 272"/>
                <a:gd name="T62" fmla="*/ 127 w 240"/>
                <a:gd name="T63" fmla="*/ 199 h 272"/>
                <a:gd name="T64" fmla="*/ 141 w 240"/>
                <a:gd name="T65" fmla="*/ 136 h 272"/>
                <a:gd name="T66" fmla="*/ 141 w 240"/>
                <a:gd name="T67" fmla="*/ 107 h 272"/>
                <a:gd name="T68" fmla="*/ 125 w 240"/>
                <a:gd name="T69" fmla="*/ 127 h 272"/>
                <a:gd name="T70" fmla="*/ 111 w 240"/>
                <a:gd name="T71" fmla="*/ 111 h 272"/>
                <a:gd name="T72" fmla="*/ 85 w 240"/>
                <a:gd name="T73" fmla="*/ 122 h 272"/>
                <a:gd name="T74" fmla="*/ 107 w 240"/>
                <a:gd name="T75" fmla="*/ 136 h 272"/>
                <a:gd name="T76" fmla="*/ 97 w 240"/>
                <a:gd name="T77" fmla="*/ 199 h 272"/>
                <a:gd name="T78" fmla="*/ 78 w 240"/>
                <a:gd name="T79" fmla="*/ 147 h 272"/>
                <a:gd name="T80" fmla="*/ 77 w 240"/>
                <a:gd name="T81" fmla="*/ 146 h 272"/>
                <a:gd name="T82" fmla="*/ 120 w 240"/>
                <a:gd name="T83" fmla="*/ 68 h 272"/>
                <a:gd name="T84" fmla="*/ 162 w 240"/>
                <a:gd name="T85" fmla="*/ 147 h 272"/>
                <a:gd name="T86" fmla="*/ 138 w 240"/>
                <a:gd name="T87" fmla="*/ 117 h 272"/>
                <a:gd name="T88" fmla="*/ 147 w 240"/>
                <a:gd name="T89" fmla="*/ 122 h 272"/>
                <a:gd name="T90" fmla="*/ 135 w 240"/>
                <a:gd name="T91" fmla="*/ 127 h 272"/>
                <a:gd name="T92" fmla="*/ 100 w 240"/>
                <a:gd name="T93" fmla="*/ 127 h 272"/>
                <a:gd name="T94" fmla="*/ 100 w 240"/>
                <a:gd name="T95" fmla="*/ 116 h 272"/>
                <a:gd name="T96" fmla="*/ 107 w 240"/>
                <a:gd name="T97" fmla="*/ 127 h 272"/>
                <a:gd name="T98" fmla="*/ 212 w 240"/>
                <a:gd name="T99" fmla="*/ 111 h 272"/>
                <a:gd name="T100" fmla="*/ 212 w 240"/>
                <a:gd name="T101" fmla="*/ 130 h 272"/>
                <a:gd name="T102" fmla="*/ 240 w 240"/>
                <a:gd name="T103" fmla="*/ 12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0" h="272">
                  <a:moveTo>
                    <a:pt x="62" y="62"/>
                  </a:moveTo>
                  <a:cubicBezTo>
                    <a:pt x="66" y="58"/>
                    <a:pt x="66" y="52"/>
                    <a:pt x="62" y="49"/>
                  </a:cubicBezTo>
                  <a:cubicBezTo>
                    <a:pt x="49" y="35"/>
                    <a:pt x="49" y="35"/>
                    <a:pt x="49" y="35"/>
                  </a:cubicBezTo>
                  <a:cubicBezTo>
                    <a:pt x="45" y="32"/>
                    <a:pt x="39" y="32"/>
                    <a:pt x="35" y="35"/>
                  </a:cubicBezTo>
                  <a:cubicBezTo>
                    <a:pt x="32" y="39"/>
                    <a:pt x="32" y="45"/>
                    <a:pt x="35" y="49"/>
                  </a:cubicBezTo>
                  <a:cubicBezTo>
                    <a:pt x="49" y="62"/>
                    <a:pt x="49" y="62"/>
                    <a:pt x="49" y="62"/>
                  </a:cubicBezTo>
                  <a:cubicBezTo>
                    <a:pt x="50" y="64"/>
                    <a:pt x="53" y="65"/>
                    <a:pt x="55" y="65"/>
                  </a:cubicBezTo>
                  <a:cubicBezTo>
                    <a:pt x="58" y="65"/>
                    <a:pt x="60" y="64"/>
                    <a:pt x="62" y="62"/>
                  </a:cubicBezTo>
                  <a:moveTo>
                    <a:pt x="28" y="111"/>
                  </a:moveTo>
                  <a:cubicBezTo>
                    <a:pt x="9" y="111"/>
                    <a:pt x="9" y="111"/>
                    <a:pt x="9" y="111"/>
                  </a:cubicBezTo>
                  <a:cubicBezTo>
                    <a:pt x="4" y="111"/>
                    <a:pt x="0" y="115"/>
                    <a:pt x="0" y="120"/>
                  </a:cubicBezTo>
                  <a:cubicBezTo>
                    <a:pt x="0" y="125"/>
                    <a:pt x="4" y="130"/>
                    <a:pt x="9" y="130"/>
                  </a:cubicBezTo>
                  <a:cubicBezTo>
                    <a:pt x="28" y="130"/>
                    <a:pt x="28" y="130"/>
                    <a:pt x="28" y="130"/>
                  </a:cubicBezTo>
                  <a:cubicBezTo>
                    <a:pt x="34" y="130"/>
                    <a:pt x="38" y="125"/>
                    <a:pt x="38" y="120"/>
                  </a:cubicBezTo>
                  <a:cubicBezTo>
                    <a:pt x="38" y="115"/>
                    <a:pt x="34" y="111"/>
                    <a:pt x="28" y="111"/>
                  </a:cubicBezTo>
                  <a:moveTo>
                    <a:pt x="120" y="38"/>
                  </a:moveTo>
                  <a:cubicBezTo>
                    <a:pt x="125" y="38"/>
                    <a:pt x="129" y="34"/>
                    <a:pt x="129" y="29"/>
                  </a:cubicBezTo>
                  <a:cubicBezTo>
                    <a:pt x="129" y="10"/>
                    <a:pt x="129" y="10"/>
                    <a:pt x="129" y="10"/>
                  </a:cubicBezTo>
                  <a:cubicBezTo>
                    <a:pt x="129" y="4"/>
                    <a:pt x="125" y="0"/>
                    <a:pt x="120" y="0"/>
                  </a:cubicBezTo>
                  <a:cubicBezTo>
                    <a:pt x="115" y="0"/>
                    <a:pt x="111" y="4"/>
                    <a:pt x="111" y="10"/>
                  </a:cubicBezTo>
                  <a:cubicBezTo>
                    <a:pt x="111" y="29"/>
                    <a:pt x="111" y="29"/>
                    <a:pt x="111" y="29"/>
                  </a:cubicBezTo>
                  <a:cubicBezTo>
                    <a:pt x="111" y="34"/>
                    <a:pt x="115" y="38"/>
                    <a:pt x="120" y="38"/>
                  </a:cubicBezTo>
                  <a:moveTo>
                    <a:pt x="87" y="253"/>
                  </a:moveTo>
                  <a:cubicBezTo>
                    <a:pt x="87" y="264"/>
                    <a:pt x="96" y="272"/>
                    <a:pt x="107" y="272"/>
                  </a:cubicBezTo>
                  <a:cubicBezTo>
                    <a:pt x="133" y="272"/>
                    <a:pt x="133" y="272"/>
                    <a:pt x="133" y="272"/>
                  </a:cubicBezTo>
                  <a:cubicBezTo>
                    <a:pt x="144" y="272"/>
                    <a:pt x="153" y="264"/>
                    <a:pt x="153" y="253"/>
                  </a:cubicBezTo>
                  <a:cubicBezTo>
                    <a:pt x="153" y="244"/>
                    <a:pt x="153" y="244"/>
                    <a:pt x="153" y="244"/>
                  </a:cubicBezTo>
                  <a:cubicBezTo>
                    <a:pt x="87" y="244"/>
                    <a:pt x="87" y="244"/>
                    <a:pt x="87" y="244"/>
                  </a:cubicBezTo>
                  <a:cubicBezTo>
                    <a:pt x="87" y="253"/>
                    <a:pt x="87" y="253"/>
                    <a:pt x="87" y="253"/>
                  </a:cubicBezTo>
                  <a:close/>
                  <a:moveTo>
                    <a:pt x="205" y="35"/>
                  </a:moveTo>
                  <a:cubicBezTo>
                    <a:pt x="201" y="32"/>
                    <a:pt x="195" y="32"/>
                    <a:pt x="192" y="35"/>
                  </a:cubicBezTo>
                  <a:cubicBezTo>
                    <a:pt x="178" y="49"/>
                    <a:pt x="178" y="49"/>
                    <a:pt x="178" y="49"/>
                  </a:cubicBezTo>
                  <a:cubicBezTo>
                    <a:pt x="174" y="52"/>
                    <a:pt x="174" y="58"/>
                    <a:pt x="178" y="62"/>
                  </a:cubicBezTo>
                  <a:cubicBezTo>
                    <a:pt x="180" y="64"/>
                    <a:pt x="182" y="65"/>
                    <a:pt x="185" y="65"/>
                  </a:cubicBezTo>
                  <a:cubicBezTo>
                    <a:pt x="187" y="65"/>
                    <a:pt x="190" y="64"/>
                    <a:pt x="192" y="62"/>
                  </a:cubicBezTo>
                  <a:cubicBezTo>
                    <a:pt x="205" y="49"/>
                    <a:pt x="205" y="49"/>
                    <a:pt x="205" y="49"/>
                  </a:cubicBezTo>
                  <a:cubicBezTo>
                    <a:pt x="209" y="45"/>
                    <a:pt x="209" y="39"/>
                    <a:pt x="205" y="35"/>
                  </a:cubicBezTo>
                  <a:moveTo>
                    <a:pt x="120" y="49"/>
                  </a:moveTo>
                  <a:cubicBezTo>
                    <a:pt x="81" y="49"/>
                    <a:pt x="50" y="80"/>
                    <a:pt x="50" y="118"/>
                  </a:cubicBezTo>
                  <a:cubicBezTo>
                    <a:pt x="50" y="132"/>
                    <a:pt x="54" y="145"/>
                    <a:pt x="61" y="156"/>
                  </a:cubicBezTo>
                  <a:cubicBezTo>
                    <a:pt x="62" y="157"/>
                    <a:pt x="62" y="158"/>
                    <a:pt x="62" y="158"/>
                  </a:cubicBezTo>
                  <a:cubicBezTo>
                    <a:pt x="75" y="176"/>
                    <a:pt x="78" y="182"/>
                    <a:pt x="78" y="186"/>
                  </a:cubicBezTo>
                  <a:cubicBezTo>
                    <a:pt x="78" y="199"/>
                    <a:pt x="78" y="199"/>
                    <a:pt x="78" y="199"/>
                  </a:cubicBezTo>
                  <a:cubicBezTo>
                    <a:pt x="75" y="199"/>
                    <a:pt x="75" y="199"/>
                    <a:pt x="75" y="199"/>
                  </a:cubicBezTo>
                  <a:cubicBezTo>
                    <a:pt x="71" y="199"/>
                    <a:pt x="69" y="200"/>
                    <a:pt x="69" y="204"/>
                  </a:cubicBezTo>
                  <a:cubicBezTo>
                    <a:pt x="69" y="229"/>
                    <a:pt x="69" y="229"/>
                    <a:pt x="69" y="229"/>
                  </a:cubicBezTo>
                  <a:cubicBezTo>
                    <a:pt x="69" y="233"/>
                    <a:pt x="71" y="235"/>
                    <a:pt x="75" y="235"/>
                  </a:cubicBezTo>
                  <a:cubicBezTo>
                    <a:pt x="166" y="235"/>
                    <a:pt x="166" y="235"/>
                    <a:pt x="166" y="235"/>
                  </a:cubicBezTo>
                  <a:cubicBezTo>
                    <a:pt x="169" y="235"/>
                    <a:pt x="171" y="233"/>
                    <a:pt x="171" y="229"/>
                  </a:cubicBezTo>
                  <a:cubicBezTo>
                    <a:pt x="171" y="204"/>
                    <a:pt x="171" y="204"/>
                    <a:pt x="171" y="204"/>
                  </a:cubicBezTo>
                  <a:cubicBezTo>
                    <a:pt x="171" y="200"/>
                    <a:pt x="169" y="199"/>
                    <a:pt x="166" y="199"/>
                  </a:cubicBezTo>
                  <a:cubicBezTo>
                    <a:pt x="162" y="199"/>
                    <a:pt x="162" y="199"/>
                    <a:pt x="162" y="199"/>
                  </a:cubicBezTo>
                  <a:cubicBezTo>
                    <a:pt x="162" y="186"/>
                    <a:pt x="162" y="186"/>
                    <a:pt x="162" y="186"/>
                  </a:cubicBezTo>
                  <a:cubicBezTo>
                    <a:pt x="162" y="183"/>
                    <a:pt x="163" y="178"/>
                    <a:pt x="178" y="158"/>
                  </a:cubicBezTo>
                  <a:cubicBezTo>
                    <a:pt x="186" y="146"/>
                    <a:pt x="190" y="133"/>
                    <a:pt x="190" y="118"/>
                  </a:cubicBezTo>
                  <a:cubicBezTo>
                    <a:pt x="190" y="80"/>
                    <a:pt x="159" y="49"/>
                    <a:pt x="120" y="49"/>
                  </a:cubicBezTo>
                  <a:moveTo>
                    <a:pt x="120" y="170"/>
                  </a:moveTo>
                  <a:cubicBezTo>
                    <a:pt x="117" y="136"/>
                    <a:pt x="117" y="136"/>
                    <a:pt x="117" y="136"/>
                  </a:cubicBezTo>
                  <a:cubicBezTo>
                    <a:pt x="124" y="136"/>
                    <a:pt x="124" y="136"/>
                    <a:pt x="124" y="136"/>
                  </a:cubicBezTo>
                  <a:lnTo>
                    <a:pt x="120" y="170"/>
                  </a:lnTo>
                  <a:close/>
                  <a:moveTo>
                    <a:pt x="162" y="147"/>
                  </a:moveTo>
                  <a:cubicBezTo>
                    <a:pt x="147" y="168"/>
                    <a:pt x="143" y="176"/>
                    <a:pt x="143" y="186"/>
                  </a:cubicBezTo>
                  <a:cubicBezTo>
                    <a:pt x="143" y="199"/>
                    <a:pt x="143" y="199"/>
                    <a:pt x="143" y="199"/>
                  </a:cubicBezTo>
                  <a:cubicBezTo>
                    <a:pt x="127" y="199"/>
                    <a:pt x="127" y="199"/>
                    <a:pt x="127" y="199"/>
                  </a:cubicBezTo>
                  <a:cubicBezTo>
                    <a:pt x="134" y="136"/>
                    <a:pt x="134" y="136"/>
                    <a:pt x="134" y="136"/>
                  </a:cubicBezTo>
                  <a:cubicBezTo>
                    <a:pt x="141" y="136"/>
                    <a:pt x="141" y="136"/>
                    <a:pt x="141" y="136"/>
                  </a:cubicBezTo>
                  <a:cubicBezTo>
                    <a:pt x="149" y="136"/>
                    <a:pt x="156" y="130"/>
                    <a:pt x="156" y="122"/>
                  </a:cubicBezTo>
                  <a:cubicBezTo>
                    <a:pt x="156" y="113"/>
                    <a:pt x="149" y="107"/>
                    <a:pt x="141" y="107"/>
                  </a:cubicBezTo>
                  <a:cubicBezTo>
                    <a:pt x="137" y="107"/>
                    <a:pt x="134" y="108"/>
                    <a:pt x="131" y="111"/>
                  </a:cubicBezTo>
                  <a:cubicBezTo>
                    <a:pt x="127" y="115"/>
                    <a:pt x="125" y="122"/>
                    <a:pt x="125" y="127"/>
                  </a:cubicBezTo>
                  <a:cubicBezTo>
                    <a:pt x="116" y="127"/>
                    <a:pt x="116" y="127"/>
                    <a:pt x="116" y="127"/>
                  </a:cubicBezTo>
                  <a:cubicBezTo>
                    <a:pt x="116" y="122"/>
                    <a:pt x="115" y="116"/>
                    <a:pt x="111" y="111"/>
                  </a:cubicBezTo>
                  <a:cubicBezTo>
                    <a:pt x="108" y="108"/>
                    <a:pt x="104" y="107"/>
                    <a:pt x="100" y="107"/>
                  </a:cubicBezTo>
                  <a:cubicBezTo>
                    <a:pt x="92" y="107"/>
                    <a:pt x="85" y="113"/>
                    <a:pt x="85" y="122"/>
                  </a:cubicBezTo>
                  <a:cubicBezTo>
                    <a:pt x="85" y="130"/>
                    <a:pt x="92" y="136"/>
                    <a:pt x="100" y="136"/>
                  </a:cubicBezTo>
                  <a:cubicBezTo>
                    <a:pt x="107" y="136"/>
                    <a:pt x="107" y="136"/>
                    <a:pt x="107" y="136"/>
                  </a:cubicBezTo>
                  <a:cubicBezTo>
                    <a:pt x="114" y="199"/>
                    <a:pt x="114" y="199"/>
                    <a:pt x="114" y="199"/>
                  </a:cubicBezTo>
                  <a:cubicBezTo>
                    <a:pt x="97" y="199"/>
                    <a:pt x="97" y="199"/>
                    <a:pt x="97" y="199"/>
                  </a:cubicBezTo>
                  <a:cubicBezTo>
                    <a:pt x="97" y="186"/>
                    <a:pt x="97" y="186"/>
                    <a:pt x="97" y="186"/>
                  </a:cubicBezTo>
                  <a:cubicBezTo>
                    <a:pt x="97" y="177"/>
                    <a:pt x="93" y="168"/>
                    <a:pt x="78" y="147"/>
                  </a:cubicBezTo>
                  <a:cubicBezTo>
                    <a:pt x="78" y="147"/>
                    <a:pt x="78" y="147"/>
                    <a:pt x="78" y="147"/>
                  </a:cubicBezTo>
                  <a:cubicBezTo>
                    <a:pt x="77" y="146"/>
                    <a:pt x="77" y="146"/>
                    <a:pt x="77" y="146"/>
                  </a:cubicBezTo>
                  <a:cubicBezTo>
                    <a:pt x="71" y="138"/>
                    <a:pt x="68" y="128"/>
                    <a:pt x="68" y="118"/>
                  </a:cubicBezTo>
                  <a:cubicBezTo>
                    <a:pt x="68" y="91"/>
                    <a:pt x="92" y="68"/>
                    <a:pt x="120" y="68"/>
                  </a:cubicBezTo>
                  <a:cubicBezTo>
                    <a:pt x="148" y="68"/>
                    <a:pt x="172" y="91"/>
                    <a:pt x="172" y="118"/>
                  </a:cubicBezTo>
                  <a:cubicBezTo>
                    <a:pt x="172" y="129"/>
                    <a:pt x="168" y="139"/>
                    <a:pt x="162" y="147"/>
                  </a:cubicBezTo>
                  <a:moveTo>
                    <a:pt x="135" y="127"/>
                  </a:moveTo>
                  <a:cubicBezTo>
                    <a:pt x="135" y="124"/>
                    <a:pt x="136" y="119"/>
                    <a:pt x="138" y="117"/>
                  </a:cubicBezTo>
                  <a:cubicBezTo>
                    <a:pt x="139" y="116"/>
                    <a:pt x="140" y="116"/>
                    <a:pt x="141" y="116"/>
                  </a:cubicBezTo>
                  <a:cubicBezTo>
                    <a:pt x="144" y="116"/>
                    <a:pt x="147" y="119"/>
                    <a:pt x="147" y="122"/>
                  </a:cubicBezTo>
                  <a:cubicBezTo>
                    <a:pt x="147" y="125"/>
                    <a:pt x="144" y="127"/>
                    <a:pt x="141" y="127"/>
                  </a:cubicBezTo>
                  <a:cubicBezTo>
                    <a:pt x="135" y="127"/>
                    <a:pt x="135" y="127"/>
                    <a:pt x="135" y="127"/>
                  </a:cubicBezTo>
                  <a:close/>
                  <a:moveTo>
                    <a:pt x="107" y="127"/>
                  </a:moveTo>
                  <a:cubicBezTo>
                    <a:pt x="100" y="127"/>
                    <a:pt x="100" y="127"/>
                    <a:pt x="100" y="127"/>
                  </a:cubicBezTo>
                  <a:cubicBezTo>
                    <a:pt x="97" y="127"/>
                    <a:pt x="94" y="125"/>
                    <a:pt x="94" y="122"/>
                  </a:cubicBezTo>
                  <a:cubicBezTo>
                    <a:pt x="94" y="119"/>
                    <a:pt x="97" y="116"/>
                    <a:pt x="100" y="116"/>
                  </a:cubicBezTo>
                  <a:cubicBezTo>
                    <a:pt x="102" y="116"/>
                    <a:pt x="103" y="117"/>
                    <a:pt x="104" y="118"/>
                  </a:cubicBezTo>
                  <a:cubicBezTo>
                    <a:pt x="106" y="120"/>
                    <a:pt x="107" y="124"/>
                    <a:pt x="107" y="127"/>
                  </a:cubicBezTo>
                  <a:moveTo>
                    <a:pt x="231" y="111"/>
                  </a:moveTo>
                  <a:cubicBezTo>
                    <a:pt x="212" y="111"/>
                    <a:pt x="212" y="111"/>
                    <a:pt x="212" y="111"/>
                  </a:cubicBezTo>
                  <a:cubicBezTo>
                    <a:pt x="206" y="111"/>
                    <a:pt x="202" y="115"/>
                    <a:pt x="202" y="120"/>
                  </a:cubicBezTo>
                  <a:cubicBezTo>
                    <a:pt x="202" y="125"/>
                    <a:pt x="206" y="130"/>
                    <a:pt x="212" y="130"/>
                  </a:cubicBezTo>
                  <a:cubicBezTo>
                    <a:pt x="231" y="130"/>
                    <a:pt x="231" y="130"/>
                    <a:pt x="231" y="130"/>
                  </a:cubicBezTo>
                  <a:cubicBezTo>
                    <a:pt x="236" y="130"/>
                    <a:pt x="240" y="125"/>
                    <a:pt x="240" y="120"/>
                  </a:cubicBezTo>
                  <a:cubicBezTo>
                    <a:pt x="240" y="115"/>
                    <a:pt x="236" y="111"/>
                    <a:pt x="231" y="111"/>
                  </a:cubicBezTo>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sp>
        <p:nvSpPr>
          <p:cNvPr id="15" name="Rectangle 27"/>
          <p:cNvSpPr>
            <a:spLocks noChangeArrowheads="1"/>
          </p:cNvSpPr>
          <p:nvPr/>
        </p:nvSpPr>
        <p:spPr bwMode="auto">
          <a:xfrm>
            <a:off x="3648075" y="3730625"/>
            <a:ext cx="1662113" cy="1092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Tx/>
              <a:buNone/>
              <a:defRPr/>
            </a:pPr>
            <a:r>
              <a:rPr kumimoji="0" lang="zh-CN" altLang="en-US" sz="2600" b="0" i="0" u="none" strike="noStrike" kern="1200" cap="none" spc="0" normalizeH="0" baseline="0" noProof="0" dirty="0">
                <a:ln>
                  <a:noFill/>
                </a:ln>
                <a:solidFill>
                  <a:srgbClr val="FF0000"/>
                </a:solidFill>
                <a:effectLst/>
                <a:uLnTx/>
                <a:uFillTx/>
                <a:latin typeface="+mn-lt"/>
                <a:ea typeface="+mn-ea"/>
                <a:cs typeface="+mn-ea"/>
                <a:sym typeface="+mn-lt"/>
              </a:rPr>
              <a:t>空间效率：</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O</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16" name="Rectangle 27"/>
          <p:cNvSpPr>
            <a:spLocks noChangeArrowheads="1"/>
          </p:cNvSpPr>
          <p:nvPr/>
        </p:nvSpPr>
        <p:spPr bwMode="auto">
          <a:xfrm>
            <a:off x="6070600" y="3730625"/>
            <a:ext cx="1582738" cy="1092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Tx/>
              <a:buNone/>
              <a:defRPr/>
            </a:pPr>
            <a:r>
              <a:rPr kumimoji="0" lang="zh-CN" altLang="en-US" sz="2600" b="0" i="0" u="none" strike="noStrike" kern="1200" cap="none" spc="0" normalizeH="0" baseline="0" noProof="0" dirty="0">
                <a:ln>
                  <a:noFill/>
                </a:ln>
                <a:solidFill>
                  <a:srgbClr val="717171"/>
                </a:solidFill>
                <a:effectLst/>
                <a:uLnTx/>
                <a:uFillTx/>
                <a:latin typeface="+mn-lt"/>
                <a:ea typeface="+mn-ea"/>
                <a:cs typeface="+mn-ea"/>
                <a:sym typeface="+mn-lt"/>
              </a:rPr>
              <a:t>稳 定 性：</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稳定</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ox(in)">
                                      <p:cBhvr>
                                        <p:cTn id="7" dur="500"/>
                                        <p:tgtEl>
                                          <p:spTgt spid="12"/>
                                        </p:tgtEl>
                                      </p:cBhvr>
                                    </p:animEffect>
                                  </p:childTnLst>
                                </p:cTn>
                              </p:par>
                            </p:childTnLst>
                          </p:cTn>
                        </p:par>
                        <p:par>
                          <p:cTn id="8" fill="hold">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5">
                                            <p:txEl>
                                              <p:pRg st="0" end="0"/>
                                            </p:txEl>
                                          </p:spTgt>
                                        </p:tgtEl>
                                        <p:attrNameLst>
                                          <p:attrName>style.visibility</p:attrName>
                                        </p:attrNameLst>
                                      </p:cBhvr>
                                      <p:to>
                                        <p:strVal val="visible"/>
                                      </p:to>
                                    </p:set>
                                    <p:animEffect transition="in" filter="box(in)">
                                      <p:cBhvr>
                                        <p:cTn id="11" dur="500"/>
                                        <p:tgtEl>
                                          <p:spTgt spid="5">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4" presetClass="entr" presetSubtype="16" fill="hold" nodeType="click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box(in)">
                                      <p:cBhvr>
                                        <p:cTn id="16" dur="500"/>
                                        <p:tgtEl>
                                          <p:spTgt spid="9"/>
                                        </p:tgtEl>
                                      </p:cBhvr>
                                    </p:animEffect>
                                  </p:childTnLst>
                                </p:cTn>
                              </p:par>
                            </p:childTnLst>
                          </p:cTn>
                        </p:par>
                        <p:par>
                          <p:cTn id="17" fill="hold">
                            <p:stCondLst>
                              <p:cond delay="500"/>
                            </p:stCondLst>
                            <p:childTnLst>
                              <p:par>
                                <p:cTn id="18" presetID="4" presetClass="entr" presetSubtype="16" fill="hold" grpId="0" nodeType="afterEffect">
                                  <p:stCondLst>
                                    <p:cond delay="0"/>
                                  </p:stCondLst>
                                  <p:childTnLst>
                                    <p:set>
                                      <p:cBhvr>
                                        <p:cTn id="19" dur="1" fill="hold">
                                          <p:stCondLst>
                                            <p:cond delay="0"/>
                                          </p:stCondLst>
                                        </p:cTn>
                                        <p:tgtEl>
                                          <p:spTgt spid="15">
                                            <p:txEl>
                                              <p:pRg st="0" end="0"/>
                                            </p:txEl>
                                          </p:spTgt>
                                        </p:tgtEl>
                                        <p:attrNameLst>
                                          <p:attrName>style.visibility</p:attrName>
                                        </p:attrNameLst>
                                      </p:cBhvr>
                                      <p:to>
                                        <p:strVal val="visible"/>
                                      </p:to>
                                    </p:set>
                                    <p:animEffect transition="in" filter="box(in)">
                                      <p:cBhvr>
                                        <p:cTn id="20" dur="500"/>
                                        <p:tgtEl>
                                          <p:spTgt spid="15">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box(in)">
                                      <p:cBhvr>
                                        <p:cTn id="25" dur="500"/>
                                        <p:tgtEl>
                                          <p:spTgt spid="6"/>
                                        </p:tgtEl>
                                      </p:cBhvr>
                                    </p:animEffect>
                                  </p:childTnLst>
                                </p:cTn>
                              </p:par>
                            </p:childTnLst>
                          </p:cTn>
                        </p:par>
                        <p:par>
                          <p:cTn id="26" fill="hold">
                            <p:stCondLst>
                              <p:cond delay="500"/>
                            </p:stCondLst>
                            <p:childTnLst>
                              <p:par>
                                <p:cTn id="27" presetID="4" presetClass="entr" presetSubtype="16" fill="hold" grpId="0" nodeType="afterEffect">
                                  <p:stCondLst>
                                    <p:cond delay="0"/>
                                  </p:stCondLst>
                                  <p:childTnLst>
                                    <p:set>
                                      <p:cBhvr>
                                        <p:cTn id="28" dur="1" fill="hold">
                                          <p:stCondLst>
                                            <p:cond delay="0"/>
                                          </p:stCondLst>
                                        </p:cTn>
                                        <p:tgtEl>
                                          <p:spTgt spid="16">
                                            <p:txEl>
                                              <p:pRg st="0" end="0"/>
                                            </p:txEl>
                                          </p:spTgt>
                                        </p:tgtEl>
                                        <p:attrNameLst>
                                          <p:attrName>style.visibility</p:attrName>
                                        </p:attrNameLst>
                                      </p:cBhvr>
                                      <p:to>
                                        <p:strVal val="visible"/>
                                      </p:to>
                                    </p:set>
                                    <p:animEffect transition="in" filter="box(in)">
                                      <p:cBhvr>
                                        <p:cTn id="29" dur="500"/>
                                        <p:tgtEl>
                                          <p:spTgt spid="1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15" grpId="0" build="p"/>
      <p:bldP spid="16" grpId="0" build="p"/>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bwMode="auto">
          <a:xfrm>
            <a:off x="611188" y="2133600"/>
            <a:ext cx="7772400" cy="395922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69987" name="矩形 1"/>
          <p:cNvSpPr/>
          <p:nvPr/>
        </p:nvSpPr>
        <p:spPr>
          <a:xfrm>
            <a:off x="611188" y="1268413"/>
            <a:ext cx="7772400" cy="576262"/>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168388" name="Rectangle 4"/>
          <p:cNvSpPr>
            <a:spLocks noChangeArrowheads="1"/>
          </p:cNvSpPr>
          <p:nvPr/>
        </p:nvSpPr>
        <p:spPr bwMode="auto">
          <a:xfrm>
            <a:off x="611188" y="1268413"/>
            <a:ext cx="7772400" cy="4611688"/>
          </a:xfrm>
          <a:prstGeom prst="rect">
            <a:avLst/>
          </a:prstGeom>
          <a:noFill/>
          <a:ln w="9525">
            <a:noFill/>
            <a:miter lim="800000"/>
          </a:ln>
          <a:effectLst/>
        </p:spPr>
        <p:txBody>
          <a:bodyPr/>
          <a:lstStyle/>
          <a:p>
            <a:pPr marL="342900" marR="0" lvl="0" indent="-342900" algn="l" defTabSz="914400" rtl="0" eaLnBrk="0" fontAlgn="base" latinLnBrk="0" hangingPunct="0">
              <a:lnSpc>
                <a:spcPct val="125000"/>
              </a:lnSpc>
              <a:spcBef>
                <a:spcPct val="20000"/>
              </a:spcBef>
              <a:spcAft>
                <a:spcPct val="0"/>
              </a:spcAft>
              <a:buClrTx/>
              <a:buSzTx/>
              <a:buFontTx/>
              <a:buChar char="•"/>
              <a:defRPr/>
            </a:pPr>
            <a:r>
              <a:rPr kumimoji="1" lang="zh-CN" altLang="en-US" sz="2400" b="0" i="0" u="none" strike="noStrike" kern="1200" cap="none" spc="0" normalizeH="0" baseline="0" noProof="0" dirty="0">
                <a:ln>
                  <a:noFill/>
                </a:ln>
                <a:solidFill>
                  <a:schemeClr val="bg1"/>
                </a:solidFill>
                <a:effectLst/>
                <a:uLnTx/>
                <a:uFillTx/>
                <a:latin typeface="+mn-lt"/>
                <a:ea typeface="+mn-ea"/>
                <a:cs typeface="+mn-ea"/>
                <a:sym typeface="+mn-lt"/>
              </a:rPr>
              <a:t>以扑克牌排序为例。每张扑克牌有两个“排序码”：</a:t>
            </a:r>
            <a:endParaRPr kumimoji="1"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0" fontAlgn="base" latinLnBrk="0" hangingPunct="0">
              <a:lnSpc>
                <a:spcPct val="125000"/>
              </a:lnSpc>
              <a:spcBef>
                <a:spcPct val="20000"/>
              </a:spcBef>
              <a:spcAft>
                <a:spcPct val="0"/>
              </a:spcAft>
              <a:buClrTx/>
              <a:buSzTx/>
              <a:buFontTx/>
              <a:buNone/>
              <a:defRPr/>
            </a:pPr>
            <a:endParaRPr kumimoji="1" lang="en-US" altLang="zh-CN" sz="2400" b="0" i="0" u="none" strike="noStrike" kern="1200" cap="none" spc="0" normalizeH="0" baseline="0" noProof="0" dirty="0">
              <a:ln>
                <a:noFill/>
              </a:ln>
              <a:solidFill>
                <a:srgbClr val="006600"/>
              </a:solidFill>
              <a:effectLst/>
              <a:uLnTx/>
              <a:uFillTx/>
              <a:latin typeface="+mn-lt"/>
              <a:ea typeface="+mn-ea"/>
              <a:cs typeface="+mn-ea"/>
              <a:sym typeface="+mn-lt"/>
            </a:endParaRPr>
          </a:p>
          <a:p>
            <a:pPr marL="457200" marR="0" lvl="1" indent="0" algn="l" defTabSz="914400" rtl="0" eaLnBrk="0" fontAlgn="base" latinLnBrk="0" hangingPunct="0">
              <a:lnSpc>
                <a:spcPct val="125000"/>
              </a:lnSpc>
              <a:spcBef>
                <a:spcPct val="20000"/>
              </a:spcBef>
              <a:spcAft>
                <a:spcPct val="0"/>
              </a:spcAft>
              <a:buClrTx/>
              <a:buSzTx/>
              <a:buFontTx/>
              <a:buNone/>
              <a:defRPr/>
            </a:pPr>
            <a:r>
              <a:rPr kumimoji="1" lang="zh-CN" altLang="en-US" sz="2400" b="0" i="0" u="none" strike="noStrike" kern="1200" cap="none" spc="0" normalizeH="0" baseline="0" noProof="0" dirty="0">
                <a:ln>
                  <a:noFill/>
                </a:ln>
                <a:solidFill>
                  <a:schemeClr val="tx2"/>
                </a:solidFill>
                <a:effectLst/>
                <a:uLnTx/>
                <a:uFillTx/>
                <a:latin typeface="+mn-lt"/>
                <a:ea typeface="+mn-ea"/>
                <a:cs typeface="+mn-ea"/>
                <a:sym typeface="+mn-lt"/>
              </a:rPr>
              <a:t>花色</a:t>
            </a:r>
            <a:r>
              <a:rPr kumimoji="1" lang="zh-CN" altLang="en-US" sz="2400" b="0" i="0" u="none" strike="noStrike" kern="1200" cap="none" spc="0" normalizeH="0" baseline="0" noProof="0" dirty="0">
                <a:ln>
                  <a:noFill/>
                </a:ln>
                <a:solidFill>
                  <a:srgbClr val="006600"/>
                </a:solidFill>
                <a:effectLst/>
                <a:uLnTx/>
                <a:uFillTx/>
                <a:latin typeface="+mn-lt"/>
                <a:ea typeface="+mn-ea"/>
                <a:cs typeface="+mn-ea"/>
                <a:sym typeface="+mn-lt"/>
              </a:rPr>
              <a:t>和</a:t>
            </a:r>
            <a:r>
              <a:rPr kumimoji="1" lang="zh-CN" altLang="en-US" sz="2400" b="0" i="0" u="none" strike="noStrike" kern="1200" cap="none" spc="0" normalizeH="0" baseline="0" noProof="0" dirty="0">
                <a:ln>
                  <a:noFill/>
                </a:ln>
                <a:solidFill>
                  <a:schemeClr val="tx2"/>
                </a:solidFill>
                <a:effectLst/>
                <a:uLnTx/>
                <a:uFillTx/>
                <a:latin typeface="+mn-lt"/>
                <a:ea typeface="+mn-ea"/>
                <a:cs typeface="+mn-ea"/>
                <a:sym typeface="+mn-lt"/>
              </a:rPr>
              <a:t>面值</a:t>
            </a:r>
            <a:r>
              <a:rPr kumimoji="1" lang="zh-CN" altLang="en-US" sz="2400" b="0" i="0" u="none" strike="noStrike" kern="1200" cap="none" spc="0" normalizeH="0" baseline="0" noProof="0" dirty="0">
                <a:ln>
                  <a:noFill/>
                </a:ln>
                <a:solidFill>
                  <a:srgbClr val="006600"/>
                </a:solidFill>
                <a:effectLst/>
                <a:uLnTx/>
                <a:uFillTx/>
                <a:latin typeface="+mn-lt"/>
                <a:ea typeface="+mn-ea"/>
                <a:cs typeface="+mn-ea"/>
                <a:sym typeface="+mn-lt"/>
              </a:rPr>
              <a:t>。其有序关系为：</a:t>
            </a:r>
          </a:p>
          <a:p>
            <a:pPr marL="742950" marR="0" lvl="1" indent="-285750" algn="just" defTabSz="914400" rtl="0" eaLnBrk="0" fontAlgn="base" latinLnBrk="0" hangingPunct="0">
              <a:lnSpc>
                <a:spcPct val="125000"/>
              </a:lnSpc>
              <a:spcBef>
                <a:spcPct val="0"/>
              </a:spcBef>
              <a:spcAft>
                <a:spcPct val="0"/>
              </a:spcAft>
              <a:buClr>
                <a:srgbClr val="FF7C80"/>
              </a:buClr>
              <a:buSzPct val="50000"/>
              <a:buFont typeface="Wingdings" panose="05000000000000000000" pitchFamily="2" charset="2"/>
              <a:buChar char="u"/>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zh-CN" altLang="en-US" sz="2400" b="0" i="0" u="none" strike="noStrike" kern="1200" cap="none" spc="0" normalizeH="0" baseline="0" noProof="0" dirty="0">
                <a:ln>
                  <a:noFill/>
                </a:ln>
                <a:solidFill>
                  <a:srgbClr val="006600"/>
                </a:solidFill>
                <a:effectLst/>
                <a:uLnTx/>
                <a:uFillTx/>
                <a:latin typeface="+mn-lt"/>
                <a:ea typeface="+mn-ea"/>
                <a:cs typeface="+mn-ea"/>
                <a:sym typeface="+mn-lt"/>
              </a:rPr>
              <a:t>花色：</a:t>
            </a:r>
            <a:r>
              <a:rPr kumimoji="1" lang="zh-CN" altLang="en-US" sz="2400" b="1" i="0" u="none" strike="noStrike" kern="1200" cap="none" spc="0" normalizeH="0" baseline="0" noProof="0" dirty="0">
                <a:ln>
                  <a:noFill/>
                </a:ln>
                <a:solidFill>
                  <a:schemeClr val="tx1"/>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 </a:t>
            </a:r>
            <a:r>
              <a:rPr kumimoji="1" lang="zh-CN" altLang="en-US" sz="2400" b="0" i="0" u="none" strike="noStrike" kern="1200" cap="none" spc="0" normalizeH="0" baseline="0" noProof="0" dirty="0">
                <a:ln>
                  <a:noFill/>
                </a:ln>
                <a:solidFill>
                  <a:schemeClr val="tx1"/>
                </a:solidFill>
                <a:effectLst/>
                <a:uLnTx/>
                <a:uFillTx/>
                <a:latin typeface="楷体_GB2312" pitchFamily="49" charset="-122"/>
                <a:ea typeface="楷体_GB2312" pitchFamily="49" charset="-122"/>
                <a:cs typeface="+mn-cs"/>
                <a:sym typeface="Symbol" panose="05050102010706020507" pitchFamily="18" charset="2"/>
              </a:rPr>
              <a:t></a:t>
            </a:r>
            <a:r>
              <a:rPr kumimoji="1" lang="zh-CN" altLang="en-US" sz="2400" b="0" i="0" u="none" strike="noStrike" kern="1200" cap="none" spc="0" normalizeH="0" baseline="0" noProof="0" dirty="0">
                <a:ln>
                  <a:noFill/>
                </a:ln>
                <a:solidFill>
                  <a:schemeClr val="accent2"/>
                </a:solidFill>
                <a:effectLst/>
                <a:uLnTx/>
                <a:uFillTx/>
                <a:latin typeface="楷体_GB2312" pitchFamily="49" charset="-122"/>
                <a:ea typeface="楷体_GB2312" pitchFamily="49" charset="-122"/>
                <a:cs typeface="+mn-cs"/>
                <a:sym typeface="+mn-ea"/>
              </a:rPr>
              <a:t> </a:t>
            </a:r>
            <a:r>
              <a:rPr kumimoji="1" lang="zh-CN" altLang="en-US" sz="2400" b="0" i="0" u="none" strike="noStrike" kern="1200" cap="none" spc="0" normalizeH="0" baseline="0" noProof="0" dirty="0">
                <a:ln>
                  <a:noFill/>
                </a:ln>
                <a:solidFill>
                  <a:schemeClr val="accent2"/>
                </a:solidFill>
                <a:effectLst/>
                <a:uLnTx/>
                <a:uFillTx/>
                <a:latin typeface="楷体_GB2312" pitchFamily="49" charset="-122"/>
                <a:ea typeface="楷体_GB2312" pitchFamily="49" charset="-122"/>
                <a:cs typeface="+mn-cs"/>
                <a:sym typeface="Symbol" panose="05050102010706020507" pitchFamily="18" charset="2"/>
              </a:rPr>
              <a:t></a:t>
            </a:r>
            <a:r>
              <a:rPr kumimoji="1" lang="zh-CN" altLang="en-US" sz="2400" b="0" i="0" u="none" strike="noStrike" kern="1200" cap="none" spc="0" normalizeH="0" baseline="0" noProof="0" dirty="0">
                <a:ln>
                  <a:noFill/>
                </a:ln>
                <a:solidFill>
                  <a:schemeClr val="accent2"/>
                </a:solidFill>
                <a:effectLst/>
                <a:uLnTx/>
                <a:uFillTx/>
                <a:latin typeface="楷体_GB2312" pitchFamily="49" charset="-122"/>
                <a:ea typeface="楷体_GB2312" pitchFamily="49" charset="-122"/>
                <a:cs typeface="+mn-cs"/>
                <a:sym typeface="+mn-ea"/>
              </a:rPr>
              <a:t> </a:t>
            </a:r>
            <a:r>
              <a:rPr kumimoji="1" lang="zh-CN" altLang="en-US" sz="2400" b="0"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sym typeface="Symbol" panose="05050102010706020507" pitchFamily="18" charset="2"/>
              </a:rPr>
              <a:t></a:t>
            </a:r>
            <a:r>
              <a:rPr kumimoji="1" lang="zh-CN" altLang="en-US" sz="2400" b="0" i="0" u="none" strike="noStrike" kern="1200" cap="none" spc="0" normalizeH="0" baseline="0" noProof="0" dirty="0">
                <a:ln>
                  <a:noFill/>
                </a:ln>
                <a:solidFill>
                  <a:schemeClr val="accent2"/>
                </a:solidFill>
                <a:effectLst/>
                <a:uLnTx/>
                <a:uFillTx/>
                <a:latin typeface="楷体_GB2312" pitchFamily="49" charset="-122"/>
                <a:ea typeface="楷体_GB2312" pitchFamily="49" charset="-122"/>
                <a:cs typeface="+mn-cs"/>
                <a:sym typeface="+mn-ea"/>
              </a:rPr>
              <a:t> </a:t>
            </a:r>
            <a:r>
              <a:rPr kumimoji="1" lang="zh-CN" altLang="en-US" sz="2400" b="0" i="0" u="none" strike="noStrike" kern="1200" cap="none" spc="0" normalizeH="0" baseline="0" noProof="0" dirty="0">
                <a:ln>
                  <a:noFill/>
                </a:ln>
                <a:solidFill>
                  <a:schemeClr val="accent2"/>
                </a:solidFill>
                <a:effectLst/>
                <a:uLnTx/>
                <a:uFillTx/>
                <a:latin typeface="楷体_GB2312" pitchFamily="49" charset="-122"/>
                <a:ea typeface="楷体_GB2312" pitchFamily="49" charset="-122"/>
                <a:cs typeface="+mn-cs"/>
                <a:sym typeface="Symbol" panose="05050102010706020507" pitchFamily="18" charset="2"/>
              </a:rPr>
              <a:t></a:t>
            </a:r>
            <a:r>
              <a:rPr kumimoji="1" lang="zh-CN" altLang="en-US" sz="2400" b="0" i="0" u="none" strike="noStrike" kern="1200" cap="none" spc="0" normalizeH="0" baseline="0" noProof="0" dirty="0">
                <a:ln>
                  <a:noFill/>
                </a:ln>
                <a:solidFill>
                  <a:schemeClr val="accent2"/>
                </a:solidFill>
                <a:effectLst/>
                <a:uLnTx/>
                <a:uFillTx/>
                <a:latin typeface="楷体_GB2312" pitchFamily="49" charset="-122"/>
                <a:ea typeface="楷体_GB2312" pitchFamily="49" charset="-122"/>
                <a:cs typeface="+mn-cs"/>
                <a:sym typeface="+mn-ea"/>
              </a:rPr>
              <a:t> </a:t>
            </a:r>
            <a:r>
              <a:rPr kumimoji="1" lang="zh-CN" altLang="en-US" sz="2400" b="0"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sym typeface="Symbol" panose="05050102010706020507" pitchFamily="18" charset="2"/>
              </a:rPr>
              <a:t></a:t>
            </a:r>
            <a:r>
              <a:rPr kumimoji="1" lang="zh-CN" altLang="en-US" sz="2400" b="0" i="0" u="none" strike="noStrike" kern="1200" cap="none" spc="0" normalizeH="0" baseline="0" noProof="0" dirty="0">
                <a:ln>
                  <a:noFill/>
                </a:ln>
                <a:solidFill>
                  <a:schemeClr val="accent2"/>
                </a:solidFill>
                <a:effectLst/>
                <a:uLnTx/>
                <a:uFillTx/>
                <a:latin typeface="楷体_GB2312" pitchFamily="49" charset="-122"/>
                <a:ea typeface="楷体_GB2312" pitchFamily="49" charset="-122"/>
                <a:cs typeface="+mn-cs"/>
                <a:sym typeface="+mn-ea"/>
              </a:rPr>
              <a:t> </a:t>
            </a:r>
            <a:r>
              <a:rPr kumimoji="1" lang="zh-CN" altLang="en-US" sz="2400" b="0" i="0" u="none" strike="noStrike" kern="1200" cap="none" spc="0" normalizeH="0" baseline="0" noProof="0" dirty="0">
                <a:ln>
                  <a:noFill/>
                </a:ln>
                <a:solidFill>
                  <a:schemeClr val="accent2"/>
                </a:solidFill>
                <a:effectLst/>
                <a:uLnTx/>
                <a:uFillTx/>
                <a:latin typeface="楷体_GB2312" pitchFamily="49" charset="-122"/>
                <a:ea typeface="楷体_GB2312" pitchFamily="49" charset="-122"/>
                <a:cs typeface="+mn-cs"/>
                <a:sym typeface="Symbol" panose="05050102010706020507" pitchFamily="18" charset="2"/>
              </a:rPr>
              <a:t></a:t>
            </a:r>
            <a:r>
              <a:rPr kumimoji="1" lang="zh-CN" altLang="en-US" sz="2400" b="0" i="0" u="none" strike="noStrike" kern="1200" cap="none" spc="0" normalizeH="0" baseline="0" noProof="0" dirty="0">
                <a:ln>
                  <a:noFill/>
                </a:ln>
                <a:solidFill>
                  <a:schemeClr val="accent2"/>
                </a:solidFill>
                <a:effectLst/>
                <a:uLnTx/>
                <a:uFillTx/>
                <a:latin typeface="楷体_GB2312" pitchFamily="49" charset="-122"/>
                <a:ea typeface="楷体_GB2312" pitchFamily="49" charset="-122"/>
                <a:cs typeface="+mn-cs"/>
                <a:sym typeface="+mn-ea"/>
              </a:rPr>
              <a:t> </a:t>
            </a:r>
            <a:r>
              <a:rPr kumimoji="1" lang="zh-CN" altLang="en-US" sz="2400" b="0" i="0" u="none" strike="noStrike" kern="1200" cap="none" spc="0" normalizeH="0" baseline="0" noProof="0" dirty="0">
                <a:ln>
                  <a:noFill/>
                </a:ln>
                <a:solidFill>
                  <a:schemeClr val="tx1"/>
                </a:solidFill>
                <a:effectLst/>
                <a:uLnTx/>
                <a:uFillTx/>
                <a:latin typeface="楷体_GB2312" pitchFamily="49" charset="-122"/>
                <a:ea typeface="楷体_GB2312" pitchFamily="49" charset="-122"/>
                <a:cs typeface="+mn-cs"/>
                <a:sym typeface="Symbol" panose="05050102010706020507" pitchFamily="18" charset="2"/>
              </a:rPr>
              <a:t></a:t>
            </a:r>
            <a:endParaRPr kumimoji="1" lang="zh-CN" altLang="en-US" sz="2400" b="0" i="0" u="none" strike="noStrike" kern="1200" cap="none" spc="0" normalizeH="0" baseline="0" noProof="0" dirty="0">
              <a:ln>
                <a:noFill/>
              </a:ln>
              <a:solidFill>
                <a:schemeClr val="tx1"/>
              </a:solidFill>
              <a:effectLst/>
              <a:uLnTx/>
              <a:uFillTx/>
              <a:latin typeface="楷体_GB2312" pitchFamily="49" charset="-122"/>
              <a:ea typeface="楷体_GB2312" pitchFamily="49" charset="-122"/>
              <a:cs typeface="+mn-cs"/>
              <a:sym typeface="+mn-ea"/>
            </a:endParaRPr>
          </a:p>
          <a:p>
            <a:pPr marL="742950" marR="0" lvl="1" indent="-285750" algn="just" defTabSz="914400" rtl="0" eaLnBrk="0" fontAlgn="base" latinLnBrk="0" hangingPunct="0">
              <a:lnSpc>
                <a:spcPct val="125000"/>
              </a:lnSpc>
              <a:spcBef>
                <a:spcPct val="20000"/>
              </a:spcBef>
              <a:spcAft>
                <a:spcPct val="0"/>
              </a:spcAft>
              <a:buClr>
                <a:srgbClr val="FF7C80"/>
              </a:buClr>
              <a:buSzPct val="50000"/>
              <a:buFont typeface="Wingdings" panose="05000000000000000000" pitchFamily="2" charset="2"/>
              <a:buChar char="u"/>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zh-CN" altLang="en-US" sz="2400" b="0" i="0" u="none" strike="noStrike" kern="1200" cap="none" spc="0" normalizeH="0" baseline="0" noProof="0" dirty="0">
                <a:ln>
                  <a:noFill/>
                </a:ln>
                <a:solidFill>
                  <a:srgbClr val="006600"/>
                </a:solidFill>
                <a:effectLst/>
                <a:uLnTx/>
                <a:uFillTx/>
                <a:latin typeface="+mn-lt"/>
                <a:ea typeface="+mn-ea"/>
                <a:cs typeface="+mn-ea"/>
                <a:sym typeface="+mn-lt"/>
              </a:rPr>
              <a:t>面值：</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2</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5</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6</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7</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8</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9</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10</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J</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Q</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K</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 &lt; </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A</a:t>
            </a:r>
          </a:p>
          <a:p>
            <a:pPr marL="342900" marR="0" lvl="0" indent="-342900" algn="l" defTabSz="914400" rtl="0" eaLnBrk="0" fontAlgn="base" latinLnBrk="0" hangingPunct="0">
              <a:lnSpc>
                <a:spcPct val="125000"/>
              </a:lnSpc>
              <a:spcBef>
                <a:spcPct val="20000"/>
              </a:spcBef>
              <a:spcAft>
                <a:spcPct val="0"/>
              </a:spcAft>
              <a:buClr>
                <a:srgbClr val="FF7C80"/>
              </a:buClr>
              <a:buSzPct val="50000"/>
              <a:buFontTx/>
              <a:buNone/>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可以把所有扑克牌排成以下次序：</a:t>
            </a:r>
          </a:p>
          <a:p>
            <a:pPr marL="742950" marR="0" lvl="1" indent="-285750" algn="l" defTabSz="914400" rtl="0" eaLnBrk="0" fontAlgn="base" latinLnBrk="0" hangingPunct="0">
              <a:lnSpc>
                <a:spcPct val="125000"/>
              </a:lnSpc>
              <a:spcBef>
                <a:spcPct val="20000"/>
              </a:spcBef>
              <a:spcAft>
                <a:spcPct val="0"/>
              </a:spcAft>
              <a:buClr>
                <a:schemeClr val="tx1"/>
              </a:buClr>
              <a:buSzTx/>
              <a:buFontTx/>
              <a:buNone/>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zh-CN" altLang="en-US" sz="2400" b="1" i="0" u="none" strike="noStrike" kern="1200" cap="none" spc="0" normalizeH="0" baseline="0" noProof="0" dirty="0">
                <a:ln>
                  <a:noFill/>
                </a:ln>
                <a:solidFill>
                  <a:schemeClr val="tx1"/>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a:t>
            </a:r>
            <a:r>
              <a:rPr kumimoji="1" lang="zh-CN" altLang="en-US"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2</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 </a:t>
            </a:r>
            <a:r>
              <a:rPr kumimoji="1" lang="zh-CN" altLang="en-US" sz="2400" b="1" i="0" u="none" strike="noStrike" kern="1200" cap="none" spc="0" normalizeH="0" baseline="0" noProof="0" dirty="0">
                <a:ln>
                  <a:noFill/>
                </a:ln>
                <a:solidFill>
                  <a:schemeClr val="tx1"/>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A</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1" i="0" u="none" strike="noStrike" kern="1200" cap="none" spc="0" normalizeH="0" baseline="0" noProof="0" dirty="0">
                <a:ln>
                  <a:noFill/>
                </a:ln>
                <a:solidFill>
                  <a:srgbClr val="CC0000"/>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2</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 </a:t>
            </a:r>
            <a:r>
              <a:rPr kumimoji="1" lang="en-US" altLang="zh-CN" sz="2400" b="1" i="0" u="none" strike="noStrike" kern="1200" cap="none" spc="0" normalizeH="0" baseline="0" noProof="0" dirty="0">
                <a:ln>
                  <a:noFill/>
                </a:ln>
                <a:solidFill>
                  <a:srgbClr val="CC0000"/>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A</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1" i="0" u="none" strike="noStrike" kern="1200" cap="none" spc="0" normalizeH="0" baseline="0" noProof="0" dirty="0">
                <a:ln>
                  <a:noFill/>
                </a:ln>
                <a:solidFill>
                  <a:srgbClr val="CC0000"/>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2</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 </a:t>
            </a:r>
            <a:r>
              <a:rPr kumimoji="1" lang="en-US" altLang="zh-CN" sz="2400" b="1" i="0" u="none" strike="noStrike" kern="1200" cap="none" spc="0" normalizeH="0" baseline="0" noProof="0" dirty="0">
                <a:ln>
                  <a:noFill/>
                </a:ln>
                <a:solidFill>
                  <a:srgbClr val="CC0000"/>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A</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1" i="0" u="none" strike="noStrike" kern="1200" cap="none" spc="0" normalizeH="0" baseline="0" noProof="0" dirty="0">
                <a:ln>
                  <a:noFill/>
                </a:ln>
                <a:solidFill>
                  <a:schemeClr val="tx1"/>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2</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 </a:t>
            </a:r>
            <a:r>
              <a:rPr kumimoji="1" lang="en-US" altLang="zh-CN" sz="2400" b="1" i="0" u="none" strike="noStrike" kern="1200" cap="none" spc="0" normalizeH="0" baseline="0" noProof="0" dirty="0">
                <a:ln>
                  <a:noFill/>
                </a:ln>
                <a:solidFill>
                  <a:schemeClr val="tx1"/>
                </a:solidFill>
                <a:effectLst>
                  <a:outerShdw blurRad="38100" dist="38100" dir="2700000" algn="tl">
                    <a:srgbClr val="C0C0C0"/>
                  </a:outerShdw>
                </a:effectLst>
                <a:uLnTx/>
                <a:uFillTx/>
                <a:latin typeface="楷体_GB2312" pitchFamily="49" charset="-122"/>
                <a:ea typeface="楷体_GB2312" pitchFamily="49" charset="-122"/>
                <a:cs typeface="+mn-cs"/>
                <a:sym typeface="Symbol" panose="05050102010706020507" pitchFamily="18" charset="2"/>
              </a:rPr>
              <a:t></a:t>
            </a:r>
            <a:r>
              <a:rPr kumimoji="1" lang="en-US" altLang="zh-CN" sz="2400" b="0" i="0" u="none" strike="noStrike" kern="1200" cap="none" spc="0" normalizeH="0" baseline="0" noProof="0" dirty="0">
                <a:ln>
                  <a:noFill/>
                </a:ln>
                <a:solidFill>
                  <a:schemeClr val="bg2"/>
                </a:solidFill>
                <a:effectLst/>
                <a:uLnTx/>
                <a:uFillTx/>
                <a:latin typeface="+mn-lt"/>
                <a:ea typeface="+mn-ea"/>
                <a:cs typeface="+mn-ea"/>
                <a:sym typeface="+mn-lt"/>
              </a:rPr>
              <a:t> </a:t>
            </a:r>
            <a:r>
              <a:rPr kumimoji="1"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A  </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花色相同的情况下，比较面值。</a:t>
            </a:r>
          </a:p>
        </p:txBody>
      </p:sp>
      <p:sp>
        <p:nvSpPr>
          <p:cNvPr id="4" name="Rectangle 4"/>
          <p:cNvSpPr>
            <a:spLocks noChangeArrowheads="1"/>
          </p:cNvSpPr>
          <p:nvPr/>
        </p:nvSpPr>
        <p:spPr bwMode="auto">
          <a:xfrm>
            <a:off x="900113" y="165100"/>
            <a:ext cx="24384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spTree>
  </p:cSld>
  <p:clrMapOvr>
    <a:masterClrMapping/>
  </p:clrMapOvr>
  <p:transition spd="slow"/>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11266" name="矩形: 圆角 16"/>
          <p:cNvSpPr>
            <a:spLocks noChangeArrowheads="1"/>
          </p:cNvSpPr>
          <p:nvPr/>
        </p:nvSpPr>
        <p:spPr bwMode="auto">
          <a:xfrm>
            <a:off x="2830513" y="5075873"/>
            <a:ext cx="4432300" cy="504825"/>
          </a:xfrm>
          <a:prstGeom prst="roundRect">
            <a:avLst>
              <a:gd name="adj" fmla="val 16667"/>
            </a:avLst>
          </a:prstGeom>
          <a:solidFill>
            <a:srgbClr val="9476B6"/>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1885950" y="5075873"/>
            <a:ext cx="839788" cy="504825"/>
          </a:xfrm>
          <a:prstGeom prst="roundRect">
            <a:avLst>
              <a:gd name="adj" fmla="val 16667"/>
            </a:avLst>
          </a:prstGeom>
          <a:solidFill>
            <a:schemeClr val="accent1"/>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sp>
        <p:nvSpPr>
          <p:cNvPr id="14" name="文本框 13"/>
          <p:cNvSpPr txBox="1"/>
          <p:nvPr/>
        </p:nvSpPr>
        <p:spPr>
          <a:xfrm>
            <a:off x="2005013" y="2205990"/>
            <a:ext cx="720725" cy="4523105"/>
          </a:xfrm>
          <a:prstGeom prst="rect">
            <a:avLst/>
          </a:prstGeom>
          <a:noFill/>
        </p:spPr>
        <p:txBody>
          <a:bodyPr>
            <a:spAutoFit/>
          </a:bodyPr>
          <a:lstStyle/>
          <a:p>
            <a:pPr marR="0" defTabSz="914400">
              <a:lnSpc>
                <a:spcPct val="150000"/>
              </a:lnSpc>
              <a:buClrTx/>
              <a:buSzTx/>
              <a:buFontTx/>
              <a:buNone/>
              <a:defRPr/>
            </a:pPr>
            <a:r>
              <a:rPr kumimoji="0" lang="en-US" altLang="zh-CN" sz="2400" b="0" kern="1200" cap="none" spc="0" normalizeH="0" baseline="0" noProof="0" dirty="0">
                <a:solidFill>
                  <a:schemeClr val="tx1"/>
                </a:solidFill>
                <a:latin typeface="+mn-lt"/>
                <a:ea typeface="+mn-ea"/>
                <a:cs typeface="+mn-ea"/>
                <a:sym typeface="+mn-lt"/>
              </a:rPr>
              <a:t>8.1</a:t>
            </a:r>
            <a:endParaRPr kumimoji="0" lang="zh-CN" altLang="en-US" sz="24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8.2</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8.3</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8.4</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8.5</a:t>
            </a:r>
          </a:p>
          <a:p>
            <a:pPr marR="0" defTabSz="914400">
              <a:lnSpc>
                <a:spcPct val="150000"/>
              </a:lnSpc>
              <a:buClrTx/>
              <a:buSzTx/>
              <a:buFontTx/>
              <a:buNone/>
              <a:defRPr/>
            </a:pPr>
            <a:r>
              <a:rPr kumimoji="0" lang="en-US" altLang="zh-CN" sz="2400" b="0" kern="1200" cap="none" spc="0" normalizeH="0" baseline="0" noProof="0" dirty="0">
                <a:solidFill>
                  <a:schemeClr val="bg1"/>
                </a:solidFill>
                <a:latin typeface="+mn-lt"/>
                <a:ea typeface="+mn-ea"/>
                <a:cs typeface="+mn-ea"/>
                <a:sym typeface="+mn-lt"/>
              </a:rPr>
              <a:t>8.6</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8.7</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8.8</a:t>
            </a:r>
          </a:p>
        </p:txBody>
      </p:sp>
      <p:sp>
        <p:nvSpPr>
          <p:cNvPr id="15" name="文本框 14"/>
          <p:cNvSpPr txBox="1"/>
          <p:nvPr/>
        </p:nvSpPr>
        <p:spPr>
          <a:xfrm>
            <a:off x="2843530" y="2205990"/>
            <a:ext cx="4177665" cy="4523105"/>
          </a:xfrm>
          <a:prstGeom prst="rect">
            <a:avLst/>
          </a:prstGeom>
          <a:noFill/>
        </p:spPr>
        <p:txBody>
          <a:bodyPr wrap="square">
            <a:spAutoFit/>
          </a:bodyPr>
          <a:lstStyle/>
          <a:p>
            <a:pPr marR="0" defTabSz="914400">
              <a:lnSpc>
                <a:spcPct val="150000"/>
              </a:lnSpc>
              <a:buClrTx/>
              <a:buSzTx/>
              <a:buFontTx/>
              <a:buNone/>
              <a:defRPr/>
            </a:pPr>
            <a:r>
              <a:rPr kumimoji="0" lang="zh-CN" altLang="en-US" sz="2400" b="0" kern="1200" cap="none" spc="0" normalizeH="0" baseline="0" noProof="0" dirty="0">
                <a:solidFill>
                  <a:schemeClr val="bg1"/>
                </a:solidFill>
                <a:latin typeface="+mn-lt"/>
                <a:ea typeface="+mn-ea"/>
                <a:cs typeface="+mn-ea"/>
                <a:sym typeface="+mn-lt"/>
              </a:rPr>
              <a:t>　</a:t>
            </a:r>
            <a:r>
              <a:rPr kumimoji="0" lang="zh-CN" altLang="en-US" sz="2400" b="0" kern="1200" cap="none" spc="0" normalizeH="0" baseline="0" noProof="0" dirty="0">
                <a:solidFill>
                  <a:schemeClr val="tx1"/>
                </a:solidFill>
                <a:latin typeface="+mn-lt"/>
                <a:ea typeface="+mn-ea"/>
                <a:cs typeface="+mn-ea"/>
                <a:sym typeface="+mn-lt"/>
              </a:rPr>
              <a:t>概述</a:t>
            </a:r>
            <a:endParaRPr kumimoji="0" lang="zh-CN" altLang="en-US" sz="24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插入排序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交换排序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选择排序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归并排序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a:t>
            </a:r>
            <a:r>
              <a:rPr kumimoji="0" lang="zh-CN" altLang="en-US" sz="2400" b="0" kern="1200" cap="none" spc="0" normalizeH="0" baseline="0" noProof="0" dirty="0">
                <a:solidFill>
                  <a:schemeClr val="bg1"/>
                </a:solidFill>
                <a:latin typeface="+mn-lt"/>
                <a:ea typeface="+mn-ea"/>
                <a:cs typeface="+mn-ea"/>
                <a:sym typeface="+mn-lt"/>
              </a:rPr>
              <a:t>基数排序</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外部排序（考试不作要求）</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    </a:t>
            </a:r>
            <a:r>
              <a:rPr kumimoji="0" lang="zh-CN" altLang="en-US" sz="2400" b="0" kern="1200" cap="none" spc="0" normalizeH="0" baseline="0" noProof="0" dirty="0">
                <a:solidFill>
                  <a:srgbClr val="000000">
                    <a:lumMod val="95000"/>
                    <a:lumOff val="5000"/>
                  </a:srgbClr>
                </a:solidFill>
                <a:latin typeface="+mn-lt"/>
                <a:ea typeface="+mn-ea"/>
                <a:cs typeface="+mn-ea"/>
                <a:sym typeface="+mn-lt"/>
              </a:rPr>
              <a:t>LeetCode算法题</a:t>
            </a:r>
          </a:p>
        </p:txBody>
      </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transition spd="slow"/>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4"/>
          <p:cNvSpPr>
            <a:spLocks noChangeArrowheads="1"/>
          </p:cNvSpPr>
          <p:nvPr/>
        </p:nvSpPr>
        <p:spPr bwMode="auto">
          <a:xfrm>
            <a:off x="827088" y="166688"/>
            <a:ext cx="5800725" cy="6858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基数排序</a:t>
            </a:r>
          </a:p>
        </p:txBody>
      </p:sp>
      <p:sp>
        <p:nvSpPr>
          <p:cNvPr id="1169415" name="Rectangle 7"/>
          <p:cNvSpPr>
            <a:spLocks noChangeArrowheads="1"/>
          </p:cNvSpPr>
          <p:nvPr/>
        </p:nvSpPr>
        <p:spPr bwMode="auto">
          <a:xfrm>
            <a:off x="468313" y="1062038"/>
            <a:ext cx="8174038" cy="1293813"/>
          </a:xfrm>
          <a:prstGeom prst="roundRect">
            <a:avLst>
              <a:gd name="adj" fmla="val 11059"/>
            </a:avLst>
          </a:prstGeom>
          <a:solidFill>
            <a:schemeClr val="accent1">
              <a:lumMod val="60000"/>
              <a:lumOff val="40000"/>
            </a:schemeClr>
          </a:solidFill>
          <a:ln w="57150">
            <a:noFill/>
            <a:miter lim="800000"/>
          </a:ln>
          <a:effectLst/>
        </p:spPr>
        <p:txBody>
          <a:bodyPr>
            <a:spAutoFit/>
          </a:bodyPr>
          <a:lstStyle/>
          <a:p>
            <a:pPr marL="342900" marR="0" lvl="0" indent="-342900" algn="l" defTabSz="914400" rtl="0" eaLnBrk="0" fontAlgn="base" latinLnBrk="0" hangingPunct="0">
              <a:lnSpc>
                <a:spcPct val="125000"/>
              </a:lnSpc>
              <a:spcBef>
                <a:spcPct val="20000"/>
              </a:spcBef>
              <a:spcAft>
                <a:spcPct val="0"/>
              </a:spcAft>
              <a:buClrTx/>
              <a:buSzTx/>
              <a:buFontTx/>
              <a:buNone/>
              <a:defRPr/>
            </a:pPr>
            <a:r>
              <a:rPr kumimoji="1" lang="zh-CN" altLang="en-US" sz="2800" b="0" i="0" u="none" strike="noStrike" kern="1200" cap="none" spc="0" normalizeH="0" baseline="0" noProof="0" dirty="0">
                <a:ln>
                  <a:noFill/>
                </a:ln>
                <a:solidFill>
                  <a:schemeClr val="bg1"/>
                </a:solidFill>
                <a:effectLst/>
                <a:uLnTx/>
                <a:uFillTx/>
                <a:latin typeface="+mn-lt"/>
                <a:ea typeface="+mn-ea"/>
                <a:cs typeface="+mn-ea"/>
                <a:sym typeface="+mn-lt"/>
              </a:rPr>
              <a:t>前面的排序方法主要通过关键字值之间的比较和移动而基数排序不需要关键字之间的比较。</a:t>
            </a:r>
          </a:p>
        </p:txBody>
      </p:sp>
      <p:sp>
        <p:nvSpPr>
          <p:cNvPr id="1169418" name="Text Box 10"/>
          <p:cNvSpPr txBox="1">
            <a:spLocks noChangeArrowheads="1"/>
          </p:cNvSpPr>
          <p:nvPr/>
        </p:nvSpPr>
        <p:spPr bwMode="auto">
          <a:xfrm>
            <a:off x="457200" y="2560638"/>
            <a:ext cx="8185150" cy="3822700"/>
          </a:xfrm>
          <a:prstGeom prst="roundRect">
            <a:avLst>
              <a:gd name="adj" fmla="val 2956"/>
            </a:avLst>
          </a:prstGeom>
          <a:solidFill>
            <a:srgbClr val="EBEBEB"/>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对</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张扑克牌按以下次序排序：</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3200" b="1" i="0" u="none" strike="noStrike" kern="1200" cap="none" spc="0" normalizeH="0" baseline="0" noProof="0" dirty="0">
                <a:ln>
                  <a:noFill/>
                </a:ln>
                <a:solidFill>
                  <a:schemeClr val="tx1"/>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2&lt;</a:t>
            </a:r>
            <a:r>
              <a:rPr kumimoji="0" lang="zh-CN" altLang="en-US" sz="3200" b="1" i="0" u="none" strike="noStrike" kern="1200" cap="none" spc="0" normalizeH="0" baseline="0" noProof="0" dirty="0">
                <a:ln>
                  <a:noFill/>
                </a:ln>
                <a:solidFill>
                  <a:schemeClr val="tx1"/>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3&lt;……&lt;</a:t>
            </a:r>
            <a:r>
              <a:rPr kumimoji="0" lang="zh-CN" altLang="en-US" sz="3200" b="1" i="0" u="none" strike="noStrike" kern="1200" cap="none" spc="0" normalizeH="0" baseline="0" noProof="0" dirty="0">
                <a:ln>
                  <a:noFill/>
                </a:ln>
                <a:solidFill>
                  <a:schemeClr val="tx1"/>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A&lt;</a:t>
            </a:r>
            <a:r>
              <a:rPr kumimoji="0" lang="en-US" altLang="zh-CN" sz="3200" b="1" i="0" u="none" strike="noStrike" kern="1200" cap="none" spc="0" normalizeH="0" baseline="0" noProof="0" dirty="0">
                <a:ln>
                  <a:noFill/>
                </a:ln>
                <a:solidFill>
                  <a:srgbClr val="FF3300"/>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2&lt;</a:t>
            </a:r>
            <a:r>
              <a:rPr kumimoji="0" lang="en-US" altLang="zh-CN" sz="3200" b="1" i="0" u="none" strike="noStrike" kern="1200" cap="none" spc="0" normalizeH="0" baseline="0" noProof="0" dirty="0">
                <a:ln>
                  <a:noFill/>
                </a:ln>
                <a:solidFill>
                  <a:srgbClr val="FF3300"/>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3&lt;……&lt;</a:t>
            </a:r>
            <a:r>
              <a:rPr kumimoji="0" lang="en-US" altLang="zh-CN" sz="3200" b="1" i="0" u="none" strike="noStrike" kern="1200" cap="none" spc="0" normalizeH="0" baseline="0" noProof="0" dirty="0">
                <a:ln>
                  <a:noFill/>
                </a:ln>
                <a:solidFill>
                  <a:srgbClr val="FF3300"/>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A&lt;</a:t>
            </a:r>
            <a:endParaRPr kumimoji="0" lang="en-US" altLang="zh-CN" sz="3200" b="0" i="0" u="none" strike="noStrike" kern="1200" cap="none" spc="0" normalizeH="0" baseline="0" noProof="0" dirty="0">
              <a:ln>
                <a:noFill/>
              </a:ln>
              <a:solidFill>
                <a:srgbClr val="FF3300"/>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3300"/>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2&lt;</a:t>
            </a:r>
            <a:r>
              <a:rPr kumimoji="0" lang="en-US" altLang="zh-CN" sz="3200" b="1" i="0" u="none" strike="noStrike" kern="1200" cap="none" spc="0" normalizeH="0" baseline="0" noProof="0" dirty="0">
                <a:ln>
                  <a:noFill/>
                </a:ln>
                <a:solidFill>
                  <a:srgbClr val="FF3300"/>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3&lt;……&lt;</a:t>
            </a:r>
            <a:r>
              <a:rPr kumimoji="0" lang="en-US" altLang="zh-CN" sz="3200" b="1" i="0" u="none" strike="noStrike" kern="1200" cap="none" spc="0" normalizeH="0" baseline="0" noProof="0" dirty="0">
                <a:ln>
                  <a:noFill/>
                </a:ln>
                <a:solidFill>
                  <a:srgbClr val="FF3300"/>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A&lt;</a:t>
            </a:r>
            <a:r>
              <a:rPr kumimoji="0" lang="en-US" altLang="zh-CN" sz="3200" b="1" i="0" u="none" strike="noStrike" kern="1200" cap="none" spc="0" normalizeH="0" baseline="0" noProof="0" dirty="0">
                <a:ln>
                  <a:noFill/>
                </a:ln>
                <a:solidFill>
                  <a:schemeClr val="tx1"/>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2&lt;</a:t>
            </a:r>
            <a:r>
              <a:rPr kumimoji="0" lang="en-US" altLang="zh-CN" sz="3200" b="1" i="0" u="none" strike="noStrike" kern="1200" cap="none" spc="0" normalizeH="0" baseline="0" noProof="0" dirty="0">
                <a:ln>
                  <a:noFill/>
                </a:ln>
                <a:solidFill>
                  <a:schemeClr val="tx1"/>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3&lt;……&lt;</a:t>
            </a:r>
            <a:r>
              <a:rPr kumimoji="0" lang="en-US" altLang="zh-CN" sz="3200" b="1" i="0" u="none" strike="noStrike" kern="1200" cap="none" spc="0" normalizeH="0" baseline="0" noProof="0" dirty="0">
                <a:ln>
                  <a:noFill/>
                </a:ln>
                <a:solidFill>
                  <a:schemeClr val="tx1"/>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A</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两个关键字：花色（ </a:t>
            </a:r>
            <a:r>
              <a:rPr kumimoji="0" lang="zh-CN" altLang="en-US" sz="3200" b="1" i="0" u="none" strike="noStrike" kern="1200" cap="none" spc="0" normalizeH="0" baseline="0" noProof="0" dirty="0">
                <a:ln>
                  <a:noFill/>
                </a:ln>
                <a:solidFill>
                  <a:schemeClr val="tx1"/>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&lt;</a:t>
            </a:r>
            <a:r>
              <a:rPr kumimoji="0" lang="en-US" altLang="zh-CN" sz="3200" b="1" i="0" u="none" strike="noStrike" kern="1200" cap="none" spc="0" normalizeH="0" baseline="0" noProof="0" dirty="0">
                <a:ln>
                  <a:noFill/>
                </a:ln>
                <a:solidFill>
                  <a:srgbClr val="FF3300"/>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&lt;</a:t>
            </a:r>
            <a:r>
              <a:rPr kumimoji="0" lang="en-US" altLang="zh-CN" sz="3200" b="1" i="0" u="none" strike="noStrike" kern="1200" cap="none" spc="0" normalizeH="0" baseline="0" noProof="0" dirty="0">
                <a:ln>
                  <a:noFill/>
                </a:ln>
                <a:solidFill>
                  <a:srgbClr val="FF3300"/>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&lt;</a:t>
            </a:r>
            <a:r>
              <a:rPr kumimoji="0" lang="en-US" altLang="zh-CN" sz="3200" b="1" i="0" u="none" strike="noStrike" kern="1200" cap="none" spc="0" normalizeH="0" baseline="0" noProof="0" dirty="0">
                <a:ln>
                  <a:noFill/>
                </a:ln>
                <a:solidFill>
                  <a:schemeClr val="tx1"/>
                </a:solidFill>
                <a:effectLst/>
                <a:uLnTx/>
                <a:uFillTx/>
                <a:latin typeface="华文楷体" panose="02010600040101010101" pitchFamily="2" charset="-122"/>
                <a:ea typeface="华文楷体" panose="02010600040101010101" pitchFamily="2" charset="-122"/>
                <a:cs typeface="+mn-cs"/>
                <a:sym typeface="Symbol" panose="05050102010706020507" pitchFamily="18" charset="2"/>
              </a:rPr>
              <a:t> </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                        面值（</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2&lt;3&lt;……&lt;A</a:t>
            </a: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并且“花色”地位高于“面值”</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169418">
                                            <p:bg/>
                                          </p:spTgt>
                                        </p:tgtEl>
                                        <p:attrNameLst>
                                          <p:attrName>style.visibility</p:attrName>
                                        </p:attrNameLst>
                                      </p:cBhvr>
                                      <p:to>
                                        <p:strVal val="visible"/>
                                      </p:to>
                                    </p:set>
                                    <p:anim calcmode="lin" valueType="num">
                                      <p:cBhvr additive="base">
                                        <p:cTn id="7" dur="500" fill="hold"/>
                                        <p:tgtEl>
                                          <p:spTgt spid="1169418">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169418">
                                            <p:bg/>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169418">
                                            <p:txEl>
                                              <p:pRg st="0" end="0"/>
                                            </p:txEl>
                                          </p:spTgt>
                                        </p:tgtEl>
                                        <p:attrNameLst>
                                          <p:attrName>style.visibility</p:attrName>
                                        </p:attrNameLst>
                                      </p:cBhvr>
                                      <p:to>
                                        <p:strVal val="visible"/>
                                      </p:to>
                                    </p:set>
                                    <p:anim calcmode="lin" valueType="num">
                                      <p:cBhvr additive="base">
                                        <p:cTn id="13" dur="500" fill="hold"/>
                                        <p:tgtEl>
                                          <p:spTgt spid="1169418">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69418">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1"/>
                                            </p:cond>
                                          </p:stCondLst>
                                          <p:endCondLst>
                                            <p:cond evt="onStopAudio" delay="0">
                                              <p:tgtEl>
                                                <p:sldTgt/>
                                              </p:tgtEl>
                                            </p:cond>
                                          </p:endCondLst>
                                        </p:cTn>
                                        <p:tgtEl>
                                          <p:sndTgt r:embed="rId2" name="WHOOSH.WAV"/>
                                        </p:tgtEl>
                                      </p:cMediaNode>
                                    </p:audio>
                                  </p:sub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169418">
                                            <p:txEl>
                                              <p:pRg st="1" end="1"/>
                                            </p:txEl>
                                          </p:spTgt>
                                        </p:tgtEl>
                                        <p:attrNameLst>
                                          <p:attrName>style.visibility</p:attrName>
                                        </p:attrNameLst>
                                      </p:cBhvr>
                                      <p:to>
                                        <p:strVal val="visible"/>
                                      </p:to>
                                    </p:set>
                                    <p:anim calcmode="lin" valueType="num">
                                      <p:cBhvr additive="base">
                                        <p:cTn id="19" dur="500" fill="hold"/>
                                        <p:tgtEl>
                                          <p:spTgt spid="1169418">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169418">
                                            <p:txEl>
                                              <p:pRg st="1" end="1"/>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2" name="WHOOSH.WAV"/>
                                        </p:tgtEl>
                                      </p:cMediaNode>
                                    </p:audio>
                                  </p:sub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1169418">
                                            <p:txEl>
                                              <p:pRg st="2" end="2"/>
                                            </p:txEl>
                                          </p:spTgt>
                                        </p:tgtEl>
                                        <p:attrNameLst>
                                          <p:attrName>style.visibility</p:attrName>
                                        </p:attrNameLst>
                                      </p:cBhvr>
                                      <p:to>
                                        <p:strVal val="visible"/>
                                      </p:to>
                                    </p:set>
                                    <p:anim calcmode="lin" valueType="num">
                                      <p:cBhvr additive="base">
                                        <p:cTn id="25" dur="500" fill="hold"/>
                                        <p:tgtEl>
                                          <p:spTgt spid="1169418">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169418">
                                            <p:txEl>
                                              <p:pRg st="2" end="2"/>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3"/>
                                            </p:cond>
                                          </p:stCondLst>
                                          <p:endCondLst>
                                            <p:cond evt="onStopAudio" delay="0">
                                              <p:tgtEl>
                                                <p:sldTgt/>
                                              </p:tgtEl>
                                            </p:cond>
                                          </p:endCondLst>
                                        </p:cTn>
                                        <p:tgtEl>
                                          <p:sndTgt r:embed="rId2" name="WHOOSH.WAV"/>
                                        </p:tgtEl>
                                      </p:cMediaNode>
                                    </p:audio>
                                  </p:sub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1169418">
                                            <p:txEl>
                                              <p:pRg st="3" end="3"/>
                                            </p:txEl>
                                          </p:spTgt>
                                        </p:tgtEl>
                                        <p:attrNameLst>
                                          <p:attrName>style.visibility</p:attrName>
                                        </p:attrNameLst>
                                      </p:cBhvr>
                                      <p:to>
                                        <p:strVal val="visible"/>
                                      </p:to>
                                    </p:set>
                                    <p:anim calcmode="lin" valueType="num">
                                      <p:cBhvr additive="base">
                                        <p:cTn id="31" dur="500" fill="hold"/>
                                        <p:tgtEl>
                                          <p:spTgt spid="1169418">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1169418">
                                            <p:txEl>
                                              <p:pRg st="3" end="3"/>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9"/>
                                            </p:cond>
                                          </p:stCondLst>
                                          <p:endCondLst>
                                            <p:cond evt="onStopAudio" delay="0">
                                              <p:tgtEl>
                                                <p:sldTgt/>
                                              </p:tgtEl>
                                            </p:cond>
                                          </p:endCondLst>
                                        </p:cTn>
                                        <p:tgtEl>
                                          <p:sndTgt r:embed="rId2" name="WHOOSH.WAV"/>
                                        </p:tgtEl>
                                      </p:cMediaNode>
                                    </p:audio>
                                  </p:sub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1169418">
                                            <p:txEl>
                                              <p:pRg st="4" end="4"/>
                                            </p:txEl>
                                          </p:spTgt>
                                        </p:tgtEl>
                                        <p:attrNameLst>
                                          <p:attrName>style.visibility</p:attrName>
                                        </p:attrNameLst>
                                      </p:cBhvr>
                                      <p:to>
                                        <p:strVal val="visible"/>
                                      </p:to>
                                    </p:set>
                                    <p:anim calcmode="lin" valueType="num">
                                      <p:cBhvr additive="base">
                                        <p:cTn id="37" dur="500" fill="hold"/>
                                        <p:tgtEl>
                                          <p:spTgt spid="1169418">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1169418">
                                            <p:txEl>
                                              <p:pRg st="4" end="4"/>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5"/>
                                            </p:cond>
                                          </p:stCondLst>
                                          <p:endCondLst>
                                            <p:cond evt="onStopAudio" delay="0">
                                              <p:tgtEl>
                                                <p:sldTgt/>
                                              </p:tgtEl>
                                            </p:cond>
                                          </p:endCondLst>
                                        </p:cTn>
                                        <p:tgtEl>
                                          <p:sndTgt r:embed="rId2" name="WHOOSH.WAV"/>
                                        </p:tgtEl>
                                      </p:cMediaNode>
                                    </p:audio>
                                  </p:sub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1169418">
                                            <p:txEl>
                                              <p:pRg st="5" end="5"/>
                                            </p:txEl>
                                          </p:spTgt>
                                        </p:tgtEl>
                                        <p:attrNameLst>
                                          <p:attrName>style.visibility</p:attrName>
                                        </p:attrNameLst>
                                      </p:cBhvr>
                                      <p:to>
                                        <p:strVal val="visible"/>
                                      </p:to>
                                    </p:set>
                                    <p:anim calcmode="lin" valueType="num">
                                      <p:cBhvr additive="base">
                                        <p:cTn id="43" dur="500" fill="hold"/>
                                        <p:tgtEl>
                                          <p:spTgt spid="1169418">
                                            <p:txEl>
                                              <p:pRg st="5" end="5"/>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169418">
                                            <p:txEl>
                                              <p:pRg st="5" end="5"/>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1"/>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9418" grpId="0" build="p"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3508" name="Rectangle 4"/>
          <p:cNvSpPr>
            <a:spLocks noChangeArrowheads="1"/>
          </p:cNvSpPr>
          <p:nvPr/>
        </p:nvSpPr>
        <p:spPr bwMode="auto">
          <a:xfrm>
            <a:off x="566738" y="1182688"/>
            <a:ext cx="2865438" cy="517525"/>
          </a:xfrm>
          <a:prstGeom prst="rect">
            <a:avLst/>
          </a:prstGeom>
          <a:noFill/>
          <a:ln w="9525">
            <a:noFill/>
            <a:miter lim="800000"/>
          </a:ln>
          <a:effectLst/>
        </p:spPr>
        <p:txBody>
          <a:bodyPr/>
          <a:lstStyle/>
          <a:p>
            <a:pPr marL="342900" marR="0" lvl="0" indent="-342900" algn="l" defTabSz="914400" rtl="0" eaLnBrk="1" fontAlgn="base" latinLnBrk="0" hangingPunct="1">
              <a:lnSpc>
                <a:spcPct val="100000"/>
              </a:lnSpc>
              <a:spcBef>
                <a:spcPct val="50000"/>
              </a:spcBef>
              <a:spcAft>
                <a:spcPct val="0"/>
              </a:spcAft>
              <a:buClrTx/>
              <a:buSzTx/>
              <a:buFontTx/>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多关键字排序</a:t>
            </a:r>
          </a:p>
        </p:txBody>
      </p:sp>
      <p:sp>
        <p:nvSpPr>
          <p:cNvPr id="1173510" name="Rectangle 6"/>
          <p:cNvSpPr>
            <a:spLocks noChangeArrowheads="1"/>
          </p:cNvSpPr>
          <p:nvPr/>
        </p:nvSpPr>
        <p:spPr bwMode="auto">
          <a:xfrm>
            <a:off x="846138" y="1944688"/>
            <a:ext cx="7816850" cy="1452563"/>
          </a:xfrm>
          <a:prstGeom prst="rect">
            <a:avLst/>
          </a:prstGeom>
          <a:noFill/>
          <a:ln w="9525">
            <a:noFill/>
            <a:miter lim="800000"/>
          </a:ln>
          <a:effectLst/>
        </p:spPr>
        <p:txBody>
          <a:bodyPr>
            <a:spAutoFit/>
          </a:bodyPr>
          <a:lstStyle/>
          <a:p>
            <a:pPr marL="457200" marR="0" lvl="1" indent="0" algn="l" defTabSz="914400" rtl="0" eaLnBrk="1" fontAlgn="base" latinLnBrk="0" hangingPunct="1">
              <a:lnSpc>
                <a:spcPct val="100000"/>
              </a:lnSpc>
              <a:spcBef>
                <a:spcPct val="20000"/>
              </a:spcBef>
              <a:spcAft>
                <a:spcPct val="0"/>
              </a:spcAft>
              <a:buClr>
                <a:srgbClr val="009900"/>
              </a:buClr>
              <a:buSzPct val="50000"/>
              <a:buFontTx/>
              <a:buNone/>
              <a:defRPr/>
            </a:pPr>
            <a:r>
              <a:rPr kumimoji="1" lang="zh-CN" altLang="en-US" sz="2600" b="0" i="0" u="none" strike="noStrike" kern="1200" cap="none" spc="0" normalizeH="0" baseline="0" noProof="0" dirty="0">
                <a:ln>
                  <a:noFill/>
                </a:ln>
                <a:solidFill>
                  <a:schemeClr val="tx1"/>
                </a:solidFill>
                <a:effectLst/>
                <a:uLnTx/>
                <a:uFillTx/>
                <a:latin typeface="+mn-lt"/>
                <a:ea typeface="+mn-ea"/>
                <a:cs typeface="+mn-ea"/>
                <a:sym typeface="+mn-lt"/>
              </a:rPr>
              <a:t>最高位优先</a:t>
            </a:r>
            <a:r>
              <a:rPr kumimoji="1" lang="en-US" altLang="zh-CN" sz="2600" b="0" i="0" u="none" strike="noStrike" kern="1200" cap="none" spc="0" normalizeH="0" baseline="0" noProof="0" dirty="0">
                <a:ln>
                  <a:noFill/>
                </a:ln>
                <a:solidFill>
                  <a:srgbClr val="FF3300"/>
                </a:solidFill>
                <a:effectLst/>
                <a:uLnTx/>
                <a:uFillTx/>
                <a:latin typeface="+mn-lt"/>
                <a:ea typeface="+mn-ea"/>
                <a:cs typeface="+mn-ea"/>
                <a:sym typeface="+mn-lt"/>
              </a:rPr>
              <a:t>MSD </a:t>
            </a:r>
            <a:r>
              <a:rPr kumimoji="1" lang="en-US" altLang="zh-CN" sz="26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en-US" altLang="zh-CN" sz="2600" b="0" i="0" u="none" strike="noStrike" kern="1200" cap="none" spc="0" normalizeH="0" baseline="0" noProof="0" dirty="0">
                <a:ln>
                  <a:noFill/>
                </a:ln>
                <a:solidFill>
                  <a:srgbClr val="FF3300"/>
                </a:solidFill>
                <a:effectLst/>
                <a:uLnTx/>
                <a:uFillTx/>
                <a:latin typeface="+mn-lt"/>
                <a:ea typeface="+mn-ea"/>
                <a:cs typeface="+mn-ea"/>
                <a:sym typeface="+mn-lt"/>
              </a:rPr>
              <a:t>Most Significant Digit first </a:t>
            </a:r>
            <a:r>
              <a:rPr kumimoji="1"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p>
          <a:p>
            <a:pPr marL="457200" marR="0" lvl="1" indent="0" algn="l" defTabSz="914400" rtl="0" eaLnBrk="1" fontAlgn="base" latinLnBrk="0" hangingPunct="1">
              <a:lnSpc>
                <a:spcPct val="100000"/>
              </a:lnSpc>
              <a:spcBef>
                <a:spcPct val="20000"/>
              </a:spcBef>
              <a:spcAft>
                <a:spcPct val="0"/>
              </a:spcAft>
              <a:buClr>
                <a:srgbClr val="009900"/>
              </a:buClr>
              <a:buSzPct val="50000"/>
              <a:buFontTx/>
              <a:buNone/>
              <a:defRPr/>
            </a:pPr>
            <a:endParaRPr kumimoji="1" lang="en-US" altLang="zh-CN" sz="2600" b="0" i="0" u="none" strike="noStrike" kern="1200" cap="none" spc="0" normalizeH="0" baseline="0" noProof="0" dirty="0">
              <a:ln>
                <a:noFill/>
              </a:ln>
              <a:solidFill>
                <a:schemeClr val="tx1"/>
              </a:solidFill>
              <a:effectLst/>
              <a:uLnTx/>
              <a:uFillTx/>
              <a:latin typeface="+mn-lt"/>
              <a:ea typeface="+mn-ea"/>
              <a:cs typeface="+mn-ea"/>
              <a:sym typeface="+mn-lt"/>
            </a:endParaRPr>
          </a:p>
          <a:p>
            <a:pPr marL="457200" marR="0" lvl="1" indent="0" algn="l" defTabSz="914400" rtl="0" eaLnBrk="1" fontAlgn="base" latinLnBrk="0" hangingPunct="1">
              <a:lnSpc>
                <a:spcPct val="100000"/>
              </a:lnSpc>
              <a:spcBef>
                <a:spcPct val="20000"/>
              </a:spcBef>
              <a:spcAft>
                <a:spcPct val="0"/>
              </a:spcAft>
              <a:buClr>
                <a:srgbClr val="009900"/>
              </a:buClr>
              <a:buSzPct val="50000"/>
              <a:buFontTx/>
              <a:buNone/>
              <a:defRPr/>
            </a:pPr>
            <a:r>
              <a:rPr kumimoji="1" lang="zh-CN" altLang="en-US" sz="2600" b="0" i="0" u="none" strike="noStrike" kern="1200" cap="none" spc="0" normalizeH="0" baseline="0" noProof="0" dirty="0">
                <a:ln>
                  <a:noFill/>
                </a:ln>
                <a:solidFill>
                  <a:schemeClr val="tx1"/>
                </a:solidFill>
                <a:effectLst/>
                <a:uLnTx/>
                <a:uFillTx/>
                <a:latin typeface="+mn-lt"/>
                <a:ea typeface="+mn-ea"/>
                <a:cs typeface="+mn-ea"/>
                <a:sym typeface="+mn-lt"/>
              </a:rPr>
              <a:t>最低位优先</a:t>
            </a:r>
            <a:r>
              <a:rPr kumimoji="1" lang="en-US" altLang="zh-CN" sz="2600" b="0" i="0" u="none" strike="noStrike" kern="1200" cap="none" spc="0" normalizeH="0" baseline="0" noProof="0" dirty="0">
                <a:ln>
                  <a:noFill/>
                </a:ln>
                <a:solidFill>
                  <a:srgbClr val="FF3300"/>
                </a:solidFill>
                <a:effectLst/>
                <a:uLnTx/>
                <a:uFillTx/>
                <a:latin typeface="+mn-lt"/>
                <a:ea typeface="+mn-ea"/>
                <a:cs typeface="+mn-ea"/>
                <a:sym typeface="+mn-lt"/>
              </a:rPr>
              <a:t>LSD</a:t>
            </a:r>
            <a:r>
              <a:rPr kumimoji="1" lang="en-US" altLang="zh-CN" sz="2600" b="0" i="0" u="none" strike="noStrike" kern="1200" cap="none" spc="0" normalizeH="0" baseline="0" noProof="0" dirty="0">
                <a:ln>
                  <a:noFill/>
                </a:ln>
                <a:solidFill>
                  <a:schemeClr val="tx1"/>
                </a:solidFill>
                <a:effectLst/>
                <a:uLnTx/>
                <a:uFillTx/>
                <a:latin typeface="+mn-lt"/>
                <a:ea typeface="+mn-ea"/>
                <a:cs typeface="+mn-ea"/>
                <a:sym typeface="+mn-lt"/>
              </a:rPr>
              <a:t> ( </a:t>
            </a:r>
            <a:r>
              <a:rPr kumimoji="1" lang="en-US" altLang="zh-CN" sz="2600" b="0" i="0" u="none" strike="noStrike" kern="1200" cap="none" spc="0" normalizeH="0" baseline="0" noProof="0" dirty="0">
                <a:ln>
                  <a:noFill/>
                </a:ln>
                <a:solidFill>
                  <a:srgbClr val="FF3300"/>
                </a:solidFill>
                <a:effectLst/>
                <a:uLnTx/>
                <a:uFillTx/>
                <a:latin typeface="+mn-lt"/>
                <a:ea typeface="+mn-ea"/>
                <a:cs typeface="+mn-ea"/>
                <a:sym typeface="+mn-lt"/>
              </a:rPr>
              <a:t>Least Significant Digit first</a:t>
            </a:r>
            <a:r>
              <a:rPr kumimoji="1"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endParaRPr kumimoji="1" lang="en-US" altLang="zh-CN" sz="2600" b="0" i="0" u="none" strike="noStrike" kern="1200" cap="none" spc="0" normalizeH="0" baseline="0" noProof="0" dirty="0">
              <a:ln>
                <a:noFill/>
              </a:ln>
              <a:solidFill>
                <a:srgbClr val="006600"/>
              </a:solidFill>
              <a:effectLst/>
              <a:uLnTx/>
              <a:uFillTx/>
              <a:latin typeface="+mn-lt"/>
              <a:ea typeface="+mn-ea"/>
              <a:cs typeface="+mn-ea"/>
              <a:sym typeface="+mn-lt"/>
            </a:endParaRPr>
          </a:p>
        </p:txBody>
      </p:sp>
      <p:sp>
        <p:nvSpPr>
          <p:cNvPr id="7" name="Rectangle 4"/>
          <p:cNvSpPr>
            <a:spLocks noChangeArrowheads="1"/>
          </p:cNvSpPr>
          <p:nvPr/>
        </p:nvSpPr>
        <p:spPr bwMode="auto">
          <a:xfrm>
            <a:off x="827088" y="166688"/>
            <a:ext cx="5800725" cy="6858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基数排序</a:t>
            </a:r>
          </a:p>
        </p:txBody>
      </p:sp>
      <p:grpSp>
        <p:nvGrpSpPr>
          <p:cNvPr id="173061" name="Group 32"/>
          <p:cNvGrpSpPr/>
          <p:nvPr/>
        </p:nvGrpSpPr>
        <p:grpSpPr>
          <a:xfrm>
            <a:off x="566738" y="2835275"/>
            <a:ext cx="520700" cy="522288"/>
            <a:chOff x="6528170" y="3281715"/>
            <a:chExt cx="914400" cy="914400"/>
          </a:xfrm>
        </p:grpSpPr>
        <p:sp>
          <p:nvSpPr>
            <p:cNvPr id="23" name="Rounded Rectangle 8"/>
            <p:cNvSpPr/>
            <p:nvPr/>
          </p:nvSpPr>
          <p:spPr>
            <a:xfrm>
              <a:off x="6528170" y="3281715"/>
              <a:ext cx="914400" cy="914400"/>
            </a:xfrm>
            <a:prstGeom prst="roundRect">
              <a:avLst/>
            </a:prstGeom>
            <a:solidFill>
              <a:srgbClr val="4BACC6"/>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69"/>
            <p:cNvGrpSpPr/>
            <p:nvPr/>
          </p:nvGrpSpPr>
          <p:grpSpPr>
            <a:xfrm>
              <a:off x="6759757" y="3506346"/>
              <a:ext cx="464344" cy="465138"/>
              <a:chOff x="7287419" y="3505994"/>
              <a:chExt cx="464344" cy="465138"/>
            </a:xfrm>
            <a:solidFill>
              <a:srgbClr val="EEECE1"/>
            </a:solidFill>
          </p:grpSpPr>
          <p:sp>
            <p:nvSpPr>
              <p:cNvPr id="25" name="AutoShape 37"/>
              <p:cNvSpPr/>
              <p:nvPr/>
            </p:nvSpPr>
            <p:spPr bwMode="auto">
              <a:xfrm>
                <a:off x="7287419" y="354965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26" name="AutoShape 38"/>
              <p:cNvSpPr/>
              <p:nvPr/>
            </p:nvSpPr>
            <p:spPr bwMode="auto">
              <a:xfrm>
                <a:off x="7490619" y="373856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27" name="AutoShape 39"/>
              <p:cNvSpPr/>
              <p:nvPr/>
            </p:nvSpPr>
            <p:spPr bwMode="auto">
              <a:xfrm>
                <a:off x="7679532" y="350599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28" name="AutoShape 40"/>
              <p:cNvSpPr/>
              <p:nvPr/>
            </p:nvSpPr>
            <p:spPr bwMode="auto">
              <a:xfrm>
                <a:off x="7403307" y="372427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29" name="AutoShape 41"/>
              <p:cNvSpPr/>
              <p:nvPr/>
            </p:nvSpPr>
            <p:spPr bwMode="auto">
              <a:xfrm>
                <a:off x="7461250" y="382587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30" name="AutoShape 42"/>
              <p:cNvSpPr/>
              <p:nvPr/>
            </p:nvSpPr>
            <p:spPr bwMode="auto">
              <a:xfrm>
                <a:off x="7693819" y="360759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grpSp>
      </p:grpSp>
      <p:grpSp>
        <p:nvGrpSpPr>
          <p:cNvPr id="173062" name="Group 31"/>
          <p:cNvGrpSpPr/>
          <p:nvPr/>
        </p:nvGrpSpPr>
        <p:grpSpPr>
          <a:xfrm>
            <a:off x="566738" y="1992313"/>
            <a:ext cx="520700" cy="520700"/>
            <a:chOff x="6528170" y="1885071"/>
            <a:chExt cx="914400" cy="914400"/>
          </a:xfrm>
        </p:grpSpPr>
        <p:sp>
          <p:nvSpPr>
            <p:cNvPr id="32" name="Rounded Rectangle 7"/>
            <p:cNvSpPr/>
            <p:nvPr/>
          </p:nvSpPr>
          <p:spPr>
            <a:xfrm>
              <a:off x="6528170" y="1885071"/>
              <a:ext cx="914400" cy="914400"/>
            </a:xfrm>
            <a:prstGeom prst="round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33" name="Group 83"/>
            <p:cNvGrpSpPr/>
            <p:nvPr/>
          </p:nvGrpSpPr>
          <p:grpSpPr>
            <a:xfrm>
              <a:off x="6758963" y="2110099"/>
              <a:ext cx="465138" cy="464344"/>
              <a:chOff x="2581275" y="2582069"/>
              <a:chExt cx="465138" cy="464344"/>
            </a:xfrm>
            <a:solidFill>
              <a:srgbClr val="EEECE1"/>
            </a:solidFill>
          </p:grpSpPr>
          <p:sp>
            <p:nvSpPr>
              <p:cNvPr id="34" name="AutoShape 128"/>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35" name="AutoShape 129"/>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grpSp>
      </p:grpSp>
      <p:sp>
        <p:nvSpPr>
          <p:cNvPr id="173063" name="椭圆 35"/>
          <p:cNvSpPr/>
          <p:nvPr/>
        </p:nvSpPr>
        <p:spPr>
          <a:xfrm>
            <a:off x="979488" y="6143625"/>
            <a:ext cx="95250"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73064" name="椭圆 36"/>
          <p:cNvSpPr/>
          <p:nvPr/>
        </p:nvSpPr>
        <p:spPr>
          <a:xfrm>
            <a:off x="309563" y="6153150"/>
            <a:ext cx="95250"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173065" name="椭圆 11"/>
          <p:cNvSpPr/>
          <p:nvPr/>
        </p:nvSpPr>
        <p:spPr>
          <a:xfrm>
            <a:off x="304800" y="3786188"/>
            <a:ext cx="96838"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39" name="矩形 38"/>
          <p:cNvSpPr>
            <a:spLocks noChangeArrowheads="1"/>
          </p:cNvSpPr>
          <p:nvPr/>
        </p:nvSpPr>
        <p:spPr bwMode="auto">
          <a:xfrm>
            <a:off x="0" y="3905250"/>
            <a:ext cx="9140825" cy="2339975"/>
          </a:xfrm>
          <a:prstGeom prst="rect">
            <a:avLst/>
          </a:prstGeom>
          <a:solidFill>
            <a:srgbClr val="F2F2F2"/>
          </a:solidFill>
          <a:ln>
            <a:noFill/>
          </a:ln>
        </p:spPr>
        <p:txBody>
          <a:bodyPr lIns="4248000" rIns="252000" anchor="ctr"/>
          <a:lstStyle/>
          <a:p>
            <a:pPr marL="0" marR="0" lvl="0" indent="0" algn="just" defTabSz="914400" rtl="0" eaLnBrk="1" fontAlgn="base" latinLnBrk="0" hangingPunct="1">
              <a:lnSpc>
                <a:spcPct val="130000"/>
              </a:lnSpc>
              <a:spcBef>
                <a:spcPts val="600"/>
              </a:spcBef>
              <a:spcAft>
                <a:spcPts val="600"/>
              </a:spcAft>
              <a:buClrTx/>
              <a:buSzTx/>
              <a:buFont typeface="Arial" panose="020B0604020202020204" pitchFamily="34" charset="0"/>
              <a:buNone/>
              <a:defRPr/>
            </a:pPr>
            <a:endParaRPr kumimoji="0" lang="zh-CN" altLang="en-US" sz="2800" b="1"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40" name="圆角矩形 15"/>
          <p:cNvSpPr>
            <a:spLocks noChangeArrowheads="1"/>
          </p:cNvSpPr>
          <p:nvPr/>
        </p:nvSpPr>
        <p:spPr bwMode="auto">
          <a:xfrm>
            <a:off x="334963" y="3783013"/>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3068" name="椭圆 40"/>
          <p:cNvSpPr/>
          <p:nvPr/>
        </p:nvSpPr>
        <p:spPr>
          <a:xfrm>
            <a:off x="974725" y="3776663"/>
            <a:ext cx="96838"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sym typeface="+mn-lt"/>
            </a:endParaRPr>
          </a:p>
        </p:txBody>
      </p:sp>
      <p:sp>
        <p:nvSpPr>
          <p:cNvPr id="42" name="圆角矩形 15"/>
          <p:cNvSpPr>
            <a:spLocks noChangeArrowheads="1"/>
          </p:cNvSpPr>
          <p:nvPr/>
        </p:nvSpPr>
        <p:spPr bwMode="auto">
          <a:xfrm>
            <a:off x="1004888" y="3773488"/>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p:spPr>
        <p:txBody>
          <a:bodyPr vert="eaVert" lIns="72000" tIns="0" rIns="0" bIns="0" anchor="ct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5653" name="Rectangle 7"/>
          <p:cNvSpPr>
            <a:spLocks noChangeArrowheads="1"/>
          </p:cNvSpPr>
          <p:nvPr/>
        </p:nvSpPr>
        <p:spPr bwMode="auto">
          <a:xfrm>
            <a:off x="1974850" y="5075238"/>
            <a:ext cx="7165975" cy="4921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2"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链式基数排序：用</a:t>
            </a:r>
            <a:r>
              <a:rPr kumimoji="0" lang="zh-CN" altLang="zh-CN" sz="2600" b="0" i="0" u="none" strike="noStrike" kern="1200" cap="none" spc="0" normalizeH="0" baseline="0" noProof="0" dirty="0">
                <a:ln>
                  <a:noFill/>
                </a:ln>
                <a:solidFill>
                  <a:schemeClr val="accent2"/>
                </a:solidFill>
                <a:effectLst/>
                <a:uLnTx/>
                <a:uFillTx/>
                <a:latin typeface="+mn-lt"/>
                <a:ea typeface="+mn-ea"/>
                <a:cs typeface="+mn-ea"/>
                <a:sym typeface="+mn-lt"/>
              </a:rPr>
              <a:t>链表</a:t>
            </a: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作存储结构的基数排序</a:t>
            </a:r>
            <a:endPar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173509" name="Rectangle 5"/>
          <p:cNvSpPr>
            <a:spLocks noChangeArrowheads="1"/>
          </p:cNvSpPr>
          <p:nvPr/>
        </p:nvSpPr>
        <p:spPr bwMode="auto">
          <a:xfrm>
            <a:off x="1951038" y="4411663"/>
            <a:ext cx="2447925" cy="573088"/>
          </a:xfrm>
          <a:prstGeom prst="rect">
            <a:avLst/>
          </a:prstGeom>
          <a:noFill/>
          <a:ln w="9525">
            <a:noFill/>
            <a:miter lim="800000"/>
          </a:ln>
          <a:effectLst/>
        </p:spPr>
        <p:txBody>
          <a:bodyPr/>
          <a:lstStyle/>
          <a:p>
            <a:pPr marL="342900" marR="0" lvl="0" indent="-342900" algn="l" defTabSz="914400" rtl="0" eaLnBrk="1" fontAlgn="base" latinLnBrk="0" hangingPunct="1">
              <a:lnSpc>
                <a:spcPct val="100000"/>
              </a:lnSpc>
              <a:spcBef>
                <a:spcPct val="50000"/>
              </a:spcBef>
              <a:spcAft>
                <a:spcPct val="0"/>
              </a:spcAft>
              <a:buClrTx/>
              <a:buSzTx/>
              <a:buFontTx/>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链式基数排序</a:t>
            </a:r>
          </a:p>
        </p:txBody>
      </p:sp>
    </p:spTree>
  </p:cSld>
  <p:clrMapOvr>
    <a:masterClrMapping/>
  </p:clrMapOvr>
  <p:transition spd="slow"/>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5" name="Rectangle 6"/>
          <p:cNvSpPr>
            <a:spLocks noChangeArrowheads="1"/>
          </p:cNvSpPr>
          <p:nvPr/>
        </p:nvSpPr>
        <p:spPr bwMode="auto">
          <a:xfrm>
            <a:off x="755650" y="130175"/>
            <a:ext cx="2338388" cy="582613"/>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最高位优先法</a:t>
            </a:r>
          </a:p>
        </p:txBody>
      </p:sp>
      <p:sp>
        <p:nvSpPr>
          <p:cNvPr id="1172487" name="Rectangle 7"/>
          <p:cNvSpPr>
            <a:spLocks noChangeArrowheads="1"/>
          </p:cNvSpPr>
          <p:nvPr/>
        </p:nvSpPr>
        <p:spPr bwMode="auto">
          <a:xfrm>
            <a:off x="331788" y="6003925"/>
            <a:ext cx="8561388" cy="523875"/>
          </a:xfrm>
          <a:prstGeom prst="rect">
            <a:avLst/>
          </a:prstGeom>
          <a:solidFill>
            <a:schemeClr val="accent1">
              <a:lumMod val="20000"/>
              <a:lumOff val="80000"/>
            </a:schemeClr>
          </a:solidFill>
          <a:ln w="9525">
            <a:noFill/>
            <a:miter lim="800000"/>
          </a:ln>
          <a:effectLst/>
        </p:spPr>
        <p:txBody>
          <a:bodyPr>
            <a:spAutoFit/>
          </a:bodyPr>
          <a:lstStyle/>
          <a:p>
            <a:pPr marL="457200" marR="0" lvl="1" indent="0" algn="l" defTabSz="914400" rtl="0" eaLnBrk="1" fontAlgn="base" latinLnBrk="0" hangingPunct="1">
              <a:lnSpc>
                <a:spcPct val="100000"/>
              </a:lnSpc>
              <a:spcBef>
                <a:spcPct val="20000"/>
              </a:spcBef>
              <a:spcAft>
                <a:spcPct val="0"/>
              </a:spcAft>
              <a:buClr>
                <a:srgbClr val="FF3300"/>
              </a:buClr>
              <a:buSzPct val="105000"/>
              <a:buFont typeface="Wingdings" panose="05000000000000000000" pitchFamily="2" charset="2"/>
              <a:buChar char="ü"/>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十进制数比较可以看作是一个多关键字排序</a:t>
            </a:r>
          </a:p>
        </p:txBody>
      </p:sp>
      <p:sp>
        <p:nvSpPr>
          <p:cNvPr id="6" name="Rectangle 6"/>
          <p:cNvSpPr>
            <a:spLocks noChangeArrowheads="1"/>
          </p:cNvSpPr>
          <p:nvPr/>
        </p:nvSpPr>
        <p:spPr bwMode="auto">
          <a:xfrm>
            <a:off x="331788" y="3644900"/>
            <a:ext cx="2459038" cy="2124075"/>
          </a:xfrm>
          <a:prstGeom prst="rect">
            <a:avLst/>
          </a:prstGeom>
          <a:noFill/>
          <a:ln>
            <a:noFill/>
          </a:ln>
        </p:spPr>
        <p:txBody>
          <a:bodyPr>
            <a:spAutoFit/>
          </a:bodyPr>
          <a:lstStyle>
            <a:lvl1pPr marL="381000" indent="-3810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0000"/>
              </a:lnSpc>
              <a:spcBef>
                <a:spcPct val="3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先对</a:t>
            </a: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最高位</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关键字</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k1</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（如花色）排序，将序列分成若干子序列，每个子序列有相同的</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k1</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值；</a:t>
            </a:r>
          </a:p>
        </p:txBody>
      </p:sp>
      <p:grpSp>
        <p:nvGrpSpPr>
          <p:cNvPr id="7" name="组合 6"/>
          <p:cNvGrpSpPr/>
          <p:nvPr/>
        </p:nvGrpSpPr>
        <p:grpSpPr>
          <a:xfrm>
            <a:off x="488950" y="1268413"/>
            <a:ext cx="1900238" cy="2141537"/>
            <a:chOff x="1168053" y="2217316"/>
            <a:chExt cx="1901372" cy="2140857"/>
          </a:xfrm>
        </p:grpSpPr>
        <p:sp>
          <p:nvSpPr>
            <p:cNvPr id="8" name="íṡľíḍè-Rectangle 22"/>
            <p:cNvSpPr/>
            <p:nvPr/>
          </p:nvSpPr>
          <p:spPr>
            <a:xfrm>
              <a:off x="1168053" y="2217316"/>
              <a:ext cx="1901372" cy="1901221"/>
            </a:xfrm>
            <a:prstGeom prst="rect">
              <a:avLst/>
            </a:pr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9" name="íṡľíḍè-Freeform: Shape 23"/>
            <p:cNvSpPr/>
            <p:nvPr/>
          </p:nvSpPr>
          <p:spPr>
            <a:xfrm rot="10800000">
              <a:off x="1168053" y="3988403"/>
              <a:ext cx="1901372" cy="369770"/>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4F81BD">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0" name="îŝḷîḓé-Freeform: Shape 42"/>
            <p:cNvSpPr/>
            <p:nvPr/>
          </p:nvSpPr>
          <p:spPr bwMode="auto">
            <a:xfrm>
              <a:off x="1689064" y="2469648"/>
              <a:ext cx="945127" cy="944263"/>
            </a:xfrm>
            <a:custGeom>
              <a:avLst/>
              <a:gdLst>
                <a:gd name="T0" fmla="*/ 184 w 260"/>
                <a:gd name="T1" fmla="*/ 106 h 260"/>
                <a:gd name="T2" fmla="*/ 193 w 260"/>
                <a:gd name="T3" fmla="*/ 143 h 260"/>
                <a:gd name="T4" fmla="*/ 117 w 260"/>
                <a:gd name="T5" fmla="*/ 219 h 260"/>
                <a:gd name="T6" fmla="*/ 42 w 260"/>
                <a:gd name="T7" fmla="*/ 143 h 260"/>
                <a:gd name="T8" fmla="*/ 117 w 260"/>
                <a:gd name="T9" fmla="*/ 66 h 260"/>
                <a:gd name="T10" fmla="*/ 154 w 260"/>
                <a:gd name="T11" fmla="*/ 76 h 260"/>
                <a:gd name="T12" fmla="*/ 183 w 260"/>
                <a:gd name="T13" fmla="*/ 46 h 260"/>
                <a:gd name="T14" fmla="*/ 117 w 260"/>
                <a:gd name="T15" fmla="*/ 25 h 260"/>
                <a:gd name="T16" fmla="*/ 0 w 260"/>
                <a:gd name="T17" fmla="*/ 143 h 260"/>
                <a:gd name="T18" fmla="*/ 117 w 260"/>
                <a:gd name="T19" fmla="*/ 260 h 260"/>
                <a:gd name="T20" fmla="*/ 233 w 260"/>
                <a:gd name="T21" fmla="*/ 143 h 260"/>
                <a:gd name="T22" fmla="*/ 213 w 260"/>
                <a:gd name="T23" fmla="*/ 77 h 260"/>
                <a:gd name="T24" fmla="*/ 184 w 260"/>
                <a:gd name="T25" fmla="*/ 106 h 260"/>
                <a:gd name="T26" fmla="*/ 225 w 260"/>
                <a:gd name="T27" fmla="*/ 35 h 260"/>
                <a:gd name="T28" fmla="*/ 225 w 260"/>
                <a:gd name="T29" fmla="*/ 35 h 260"/>
                <a:gd name="T30" fmla="*/ 225 w 260"/>
                <a:gd name="T31" fmla="*/ 0 h 260"/>
                <a:gd name="T32" fmla="*/ 203 w 260"/>
                <a:gd name="T33" fmla="*/ 23 h 260"/>
                <a:gd name="T34" fmla="*/ 203 w 260"/>
                <a:gd name="T35" fmla="*/ 46 h 260"/>
                <a:gd name="T36" fmla="*/ 139 w 260"/>
                <a:gd name="T37" fmla="*/ 111 h 260"/>
                <a:gd name="T38" fmla="*/ 117 w 260"/>
                <a:gd name="T39" fmla="*/ 104 h 260"/>
                <a:gd name="T40" fmla="*/ 79 w 260"/>
                <a:gd name="T41" fmla="*/ 143 h 260"/>
                <a:gd name="T42" fmla="*/ 117 w 260"/>
                <a:gd name="T43" fmla="*/ 181 h 260"/>
                <a:gd name="T44" fmla="*/ 155 w 260"/>
                <a:gd name="T45" fmla="*/ 143 h 260"/>
                <a:gd name="T46" fmla="*/ 150 w 260"/>
                <a:gd name="T47" fmla="*/ 123 h 260"/>
                <a:gd name="T48" fmla="*/ 215 w 260"/>
                <a:gd name="T49" fmla="*/ 58 h 260"/>
                <a:gd name="T50" fmla="*/ 237 w 260"/>
                <a:gd name="T51" fmla="*/ 58 h 260"/>
                <a:gd name="T52" fmla="*/ 260 w 260"/>
                <a:gd name="T53" fmla="*/ 35 h 260"/>
                <a:gd name="T54" fmla="*/ 225 w 260"/>
                <a:gd name="T55" fmla="*/ 3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0" h="260">
                  <a:moveTo>
                    <a:pt x="184" y="106"/>
                  </a:moveTo>
                  <a:cubicBezTo>
                    <a:pt x="190" y="117"/>
                    <a:pt x="193" y="129"/>
                    <a:pt x="193" y="143"/>
                  </a:cubicBezTo>
                  <a:cubicBezTo>
                    <a:pt x="193" y="185"/>
                    <a:pt x="159" y="219"/>
                    <a:pt x="117" y="219"/>
                  </a:cubicBezTo>
                  <a:cubicBezTo>
                    <a:pt x="76" y="219"/>
                    <a:pt x="42" y="185"/>
                    <a:pt x="42" y="143"/>
                  </a:cubicBezTo>
                  <a:cubicBezTo>
                    <a:pt x="42" y="100"/>
                    <a:pt x="76" y="66"/>
                    <a:pt x="117" y="66"/>
                  </a:cubicBezTo>
                  <a:cubicBezTo>
                    <a:pt x="131" y="66"/>
                    <a:pt x="143" y="70"/>
                    <a:pt x="154" y="76"/>
                  </a:cubicBezTo>
                  <a:cubicBezTo>
                    <a:pt x="183" y="46"/>
                    <a:pt x="183" y="46"/>
                    <a:pt x="183" y="46"/>
                  </a:cubicBezTo>
                  <a:cubicBezTo>
                    <a:pt x="165" y="33"/>
                    <a:pt x="141" y="25"/>
                    <a:pt x="117" y="25"/>
                  </a:cubicBezTo>
                  <a:cubicBezTo>
                    <a:pt x="52" y="25"/>
                    <a:pt x="0" y="78"/>
                    <a:pt x="0" y="143"/>
                  </a:cubicBezTo>
                  <a:cubicBezTo>
                    <a:pt x="0" y="207"/>
                    <a:pt x="52" y="260"/>
                    <a:pt x="117" y="260"/>
                  </a:cubicBezTo>
                  <a:cubicBezTo>
                    <a:pt x="181" y="260"/>
                    <a:pt x="233" y="207"/>
                    <a:pt x="233" y="143"/>
                  </a:cubicBezTo>
                  <a:cubicBezTo>
                    <a:pt x="233" y="118"/>
                    <a:pt x="226" y="96"/>
                    <a:pt x="213" y="77"/>
                  </a:cubicBezTo>
                  <a:cubicBezTo>
                    <a:pt x="184" y="106"/>
                    <a:pt x="184" y="106"/>
                    <a:pt x="184" y="106"/>
                  </a:cubicBezTo>
                  <a:close/>
                  <a:moveTo>
                    <a:pt x="225" y="35"/>
                  </a:moveTo>
                  <a:cubicBezTo>
                    <a:pt x="225" y="35"/>
                    <a:pt x="225" y="35"/>
                    <a:pt x="225" y="35"/>
                  </a:cubicBezTo>
                  <a:cubicBezTo>
                    <a:pt x="225" y="0"/>
                    <a:pt x="225" y="0"/>
                    <a:pt x="225" y="0"/>
                  </a:cubicBezTo>
                  <a:cubicBezTo>
                    <a:pt x="203" y="23"/>
                    <a:pt x="203" y="23"/>
                    <a:pt x="203" y="23"/>
                  </a:cubicBezTo>
                  <a:cubicBezTo>
                    <a:pt x="203" y="46"/>
                    <a:pt x="203" y="46"/>
                    <a:pt x="203" y="46"/>
                  </a:cubicBezTo>
                  <a:cubicBezTo>
                    <a:pt x="139" y="111"/>
                    <a:pt x="139" y="111"/>
                    <a:pt x="139" y="111"/>
                  </a:cubicBezTo>
                  <a:cubicBezTo>
                    <a:pt x="133" y="106"/>
                    <a:pt x="125" y="104"/>
                    <a:pt x="117" y="104"/>
                  </a:cubicBezTo>
                  <a:cubicBezTo>
                    <a:pt x="96" y="104"/>
                    <a:pt x="79" y="121"/>
                    <a:pt x="79" y="143"/>
                  </a:cubicBezTo>
                  <a:cubicBezTo>
                    <a:pt x="79" y="164"/>
                    <a:pt x="96" y="181"/>
                    <a:pt x="117" y="181"/>
                  </a:cubicBezTo>
                  <a:cubicBezTo>
                    <a:pt x="138" y="181"/>
                    <a:pt x="155" y="164"/>
                    <a:pt x="155" y="143"/>
                  </a:cubicBezTo>
                  <a:cubicBezTo>
                    <a:pt x="155" y="136"/>
                    <a:pt x="154" y="129"/>
                    <a:pt x="150" y="123"/>
                  </a:cubicBezTo>
                  <a:cubicBezTo>
                    <a:pt x="215" y="58"/>
                    <a:pt x="215" y="58"/>
                    <a:pt x="215" y="58"/>
                  </a:cubicBezTo>
                  <a:cubicBezTo>
                    <a:pt x="237" y="58"/>
                    <a:pt x="237" y="58"/>
                    <a:pt x="237" y="58"/>
                  </a:cubicBezTo>
                  <a:cubicBezTo>
                    <a:pt x="260" y="35"/>
                    <a:pt x="260" y="35"/>
                    <a:pt x="260" y="35"/>
                  </a:cubicBezTo>
                  <a:cubicBezTo>
                    <a:pt x="225" y="35"/>
                    <a:pt x="225" y="35"/>
                    <a:pt x="225" y="35"/>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11" name="组合 10"/>
          <p:cNvGrpSpPr/>
          <p:nvPr/>
        </p:nvGrpSpPr>
        <p:grpSpPr>
          <a:xfrm>
            <a:off x="6581775" y="1268413"/>
            <a:ext cx="1901825" cy="2181225"/>
            <a:chOff x="9271092" y="2217316"/>
            <a:chExt cx="1901375" cy="2180771"/>
          </a:xfrm>
        </p:grpSpPr>
        <p:sp>
          <p:nvSpPr>
            <p:cNvPr id="12" name="íṡľíḍè-Rectangle 30"/>
            <p:cNvSpPr/>
            <p:nvPr/>
          </p:nvSpPr>
          <p:spPr>
            <a:xfrm>
              <a:off x="9271092" y="2217316"/>
              <a:ext cx="1901375" cy="1901429"/>
            </a:xfrm>
            <a:prstGeom prst="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3" name="íṡľíḍè-Freeform: Shape 31"/>
            <p:cNvSpPr/>
            <p:nvPr/>
          </p:nvSpPr>
          <p:spPr>
            <a:xfrm rot="10800000">
              <a:off x="9271092" y="4028276"/>
              <a:ext cx="1901375" cy="369811"/>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8064A2">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4" name="îŝḷîḓé-Freeform: Shape 43"/>
            <p:cNvSpPr/>
            <p:nvPr/>
          </p:nvSpPr>
          <p:spPr bwMode="auto">
            <a:xfrm>
              <a:off x="9763101" y="2560145"/>
              <a:ext cx="838002" cy="839612"/>
            </a:xfrm>
            <a:custGeom>
              <a:avLst/>
              <a:gdLst>
                <a:gd name="T0" fmla="*/ 116 w 232"/>
                <a:gd name="T1" fmla="*/ 0 h 232"/>
                <a:gd name="T2" fmla="*/ 0 w 232"/>
                <a:gd name="T3" fmla="*/ 116 h 232"/>
                <a:gd name="T4" fmla="*/ 116 w 232"/>
                <a:gd name="T5" fmla="*/ 232 h 232"/>
                <a:gd name="T6" fmla="*/ 232 w 232"/>
                <a:gd name="T7" fmla="*/ 116 h 232"/>
                <a:gd name="T8" fmla="*/ 116 w 232"/>
                <a:gd name="T9" fmla="*/ 0 h 232"/>
                <a:gd name="T10" fmla="*/ 129 w 232"/>
                <a:gd name="T11" fmla="*/ 208 h 232"/>
                <a:gd name="T12" fmla="*/ 129 w 232"/>
                <a:gd name="T13" fmla="*/ 190 h 232"/>
                <a:gd name="T14" fmla="*/ 117 w 232"/>
                <a:gd name="T15" fmla="*/ 178 h 232"/>
                <a:gd name="T16" fmla="*/ 105 w 232"/>
                <a:gd name="T17" fmla="*/ 190 h 232"/>
                <a:gd name="T18" fmla="*/ 105 w 232"/>
                <a:gd name="T19" fmla="*/ 208 h 232"/>
                <a:gd name="T20" fmla="*/ 25 w 232"/>
                <a:gd name="T21" fmla="*/ 129 h 232"/>
                <a:gd name="T22" fmla="*/ 42 w 232"/>
                <a:gd name="T23" fmla="*/ 129 h 232"/>
                <a:gd name="T24" fmla="*/ 53 w 232"/>
                <a:gd name="T25" fmla="*/ 117 h 232"/>
                <a:gd name="T26" fmla="*/ 42 w 232"/>
                <a:gd name="T27" fmla="*/ 105 h 232"/>
                <a:gd name="T28" fmla="*/ 24 w 232"/>
                <a:gd name="T29" fmla="*/ 105 h 232"/>
                <a:gd name="T30" fmla="*/ 104 w 232"/>
                <a:gd name="T31" fmla="*/ 25 h 232"/>
                <a:gd name="T32" fmla="*/ 104 w 232"/>
                <a:gd name="T33" fmla="*/ 41 h 232"/>
                <a:gd name="T34" fmla="*/ 116 w 232"/>
                <a:gd name="T35" fmla="*/ 53 h 232"/>
                <a:gd name="T36" fmla="*/ 128 w 232"/>
                <a:gd name="T37" fmla="*/ 41 h 232"/>
                <a:gd name="T38" fmla="*/ 128 w 232"/>
                <a:gd name="T39" fmla="*/ 25 h 232"/>
                <a:gd name="T40" fmla="*/ 208 w 232"/>
                <a:gd name="T41" fmla="*/ 104 h 232"/>
                <a:gd name="T42" fmla="*/ 190 w 232"/>
                <a:gd name="T43" fmla="*/ 104 h 232"/>
                <a:gd name="T44" fmla="*/ 179 w 232"/>
                <a:gd name="T45" fmla="*/ 116 h 232"/>
                <a:gd name="T46" fmla="*/ 190 w 232"/>
                <a:gd name="T47" fmla="*/ 128 h 232"/>
                <a:gd name="T48" fmla="*/ 208 w 232"/>
                <a:gd name="T49" fmla="*/ 128 h 232"/>
                <a:gd name="T50" fmla="*/ 129 w 232"/>
                <a:gd name="T51" fmla="*/ 208 h 232"/>
                <a:gd name="T52" fmla="*/ 124 w 232"/>
                <a:gd name="T53" fmla="*/ 94 h 232"/>
                <a:gd name="T54" fmla="*/ 70 w 232"/>
                <a:gd name="T55" fmla="*/ 69 h 232"/>
                <a:gd name="T56" fmla="*/ 94 w 232"/>
                <a:gd name="T57" fmla="*/ 124 h 232"/>
                <a:gd name="T58" fmla="*/ 109 w 232"/>
                <a:gd name="T59" fmla="*/ 138 h 232"/>
                <a:gd name="T60" fmla="*/ 163 w 232"/>
                <a:gd name="T61" fmla="*/ 163 h 232"/>
                <a:gd name="T62" fmla="*/ 138 w 232"/>
                <a:gd name="T63" fmla="*/ 108 h 232"/>
                <a:gd name="T64" fmla="*/ 124 w 232"/>
                <a:gd name="T65" fmla="*/ 94 h 232"/>
                <a:gd name="T66" fmla="*/ 123 w 232"/>
                <a:gd name="T67" fmla="*/ 123 h 232"/>
                <a:gd name="T68" fmla="*/ 110 w 232"/>
                <a:gd name="T69" fmla="*/ 123 h 232"/>
                <a:gd name="T70" fmla="*/ 110 w 232"/>
                <a:gd name="T71" fmla="*/ 109 h 232"/>
                <a:gd name="T72" fmla="*/ 123 w 232"/>
                <a:gd name="T73" fmla="*/ 109 h 232"/>
                <a:gd name="T74" fmla="*/ 123 w 232"/>
                <a:gd name="T75" fmla="*/ 12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 h="232">
                  <a:moveTo>
                    <a:pt x="116" y="0"/>
                  </a:moveTo>
                  <a:cubicBezTo>
                    <a:pt x="52" y="0"/>
                    <a:pt x="0" y="52"/>
                    <a:pt x="0" y="116"/>
                  </a:cubicBezTo>
                  <a:cubicBezTo>
                    <a:pt x="0" y="180"/>
                    <a:pt x="52" y="232"/>
                    <a:pt x="116" y="232"/>
                  </a:cubicBezTo>
                  <a:cubicBezTo>
                    <a:pt x="180" y="232"/>
                    <a:pt x="232" y="180"/>
                    <a:pt x="232" y="116"/>
                  </a:cubicBezTo>
                  <a:cubicBezTo>
                    <a:pt x="232" y="52"/>
                    <a:pt x="180" y="0"/>
                    <a:pt x="116" y="0"/>
                  </a:cubicBezTo>
                  <a:close/>
                  <a:moveTo>
                    <a:pt x="129" y="208"/>
                  </a:moveTo>
                  <a:cubicBezTo>
                    <a:pt x="129" y="190"/>
                    <a:pt x="129" y="190"/>
                    <a:pt x="129" y="190"/>
                  </a:cubicBezTo>
                  <a:cubicBezTo>
                    <a:pt x="129" y="183"/>
                    <a:pt x="123" y="178"/>
                    <a:pt x="117" y="178"/>
                  </a:cubicBezTo>
                  <a:cubicBezTo>
                    <a:pt x="110" y="178"/>
                    <a:pt x="105" y="183"/>
                    <a:pt x="105" y="190"/>
                  </a:cubicBezTo>
                  <a:cubicBezTo>
                    <a:pt x="105" y="208"/>
                    <a:pt x="105" y="208"/>
                    <a:pt x="105" y="208"/>
                  </a:cubicBezTo>
                  <a:cubicBezTo>
                    <a:pt x="63" y="203"/>
                    <a:pt x="30" y="170"/>
                    <a:pt x="25" y="129"/>
                  </a:cubicBezTo>
                  <a:cubicBezTo>
                    <a:pt x="42" y="129"/>
                    <a:pt x="42" y="129"/>
                    <a:pt x="42" y="129"/>
                  </a:cubicBezTo>
                  <a:cubicBezTo>
                    <a:pt x="48" y="129"/>
                    <a:pt x="53" y="123"/>
                    <a:pt x="53" y="117"/>
                  </a:cubicBezTo>
                  <a:cubicBezTo>
                    <a:pt x="53" y="110"/>
                    <a:pt x="48" y="105"/>
                    <a:pt x="42" y="105"/>
                  </a:cubicBezTo>
                  <a:cubicBezTo>
                    <a:pt x="24" y="105"/>
                    <a:pt x="24" y="105"/>
                    <a:pt x="24" y="105"/>
                  </a:cubicBezTo>
                  <a:cubicBezTo>
                    <a:pt x="29" y="63"/>
                    <a:pt x="63" y="30"/>
                    <a:pt x="104" y="25"/>
                  </a:cubicBezTo>
                  <a:cubicBezTo>
                    <a:pt x="104" y="41"/>
                    <a:pt x="104" y="41"/>
                    <a:pt x="104" y="41"/>
                  </a:cubicBezTo>
                  <a:cubicBezTo>
                    <a:pt x="104" y="47"/>
                    <a:pt x="109" y="53"/>
                    <a:pt x="116" y="53"/>
                  </a:cubicBezTo>
                  <a:cubicBezTo>
                    <a:pt x="122" y="53"/>
                    <a:pt x="128" y="47"/>
                    <a:pt x="128" y="41"/>
                  </a:cubicBezTo>
                  <a:cubicBezTo>
                    <a:pt x="128" y="25"/>
                    <a:pt x="128" y="25"/>
                    <a:pt x="128" y="25"/>
                  </a:cubicBezTo>
                  <a:cubicBezTo>
                    <a:pt x="169" y="30"/>
                    <a:pt x="202" y="63"/>
                    <a:pt x="208" y="104"/>
                  </a:cubicBezTo>
                  <a:cubicBezTo>
                    <a:pt x="190" y="104"/>
                    <a:pt x="190" y="104"/>
                    <a:pt x="190" y="104"/>
                  </a:cubicBezTo>
                  <a:cubicBezTo>
                    <a:pt x="184" y="104"/>
                    <a:pt x="179" y="109"/>
                    <a:pt x="179" y="116"/>
                  </a:cubicBezTo>
                  <a:cubicBezTo>
                    <a:pt x="179" y="122"/>
                    <a:pt x="184" y="128"/>
                    <a:pt x="190" y="128"/>
                  </a:cubicBezTo>
                  <a:cubicBezTo>
                    <a:pt x="208" y="128"/>
                    <a:pt x="208" y="128"/>
                    <a:pt x="208" y="128"/>
                  </a:cubicBezTo>
                  <a:cubicBezTo>
                    <a:pt x="203" y="169"/>
                    <a:pt x="170" y="202"/>
                    <a:pt x="129" y="208"/>
                  </a:cubicBezTo>
                  <a:close/>
                  <a:moveTo>
                    <a:pt x="124" y="94"/>
                  </a:moveTo>
                  <a:cubicBezTo>
                    <a:pt x="70" y="69"/>
                    <a:pt x="70" y="69"/>
                    <a:pt x="70" y="69"/>
                  </a:cubicBezTo>
                  <a:cubicBezTo>
                    <a:pt x="94" y="124"/>
                    <a:pt x="94" y="124"/>
                    <a:pt x="94" y="124"/>
                  </a:cubicBezTo>
                  <a:cubicBezTo>
                    <a:pt x="97" y="129"/>
                    <a:pt x="103" y="136"/>
                    <a:pt x="109" y="138"/>
                  </a:cubicBezTo>
                  <a:cubicBezTo>
                    <a:pt x="163" y="163"/>
                    <a:pt x="163" y="163"/>
                    <a:pt x="163" y="163"/>
                  </a:cubicBezTo>
                  <a:cubicBezTo>
                    <a:pt x="138" y="108"/>
                    <a:pt x="138" y="108"/>
                    <a:pt x="138" y="108"/>
                  </a:cubicBezTo>
                  <a:cubicBezTo>
                    <a:pt x="136" y="103"/>
                    <a:pt x="130" y="96"/>
                    <a:pt x="124" y="94"/>
                  </a:cubicBezTo>
                  <a:close/>
                  <a:moveTo>
                    <a:pt x="123" y="123"/>
                  </a:moveTo>
                  <a:cubicBezTo>
                    <a:pt x="119" y="126"/>
                    <a:pt x="113" y="126"/>
                    <a:pt x="110" y="123"/>
                  </a:cubicBezTo>
                  <a:cubicBezTo>
                    <a:pt x="106" y="119"/>
                    <a:pt x="106" y="113"/>
                    <a:pt x="110" y="109"/>
                  </a:cubicBezTo>
                  <a:cubicBezTo>
                    <a:pt x="113" y="106"/>
                    <a:pt x="119" y="106"/>
                    <a:pt x="123" y="109"/>
                  </a:cubicBezTo>
                  <a:cubicBezTo>
                    <a:pt x="127" y="113"/>
                    <a:pt x="127" y="119"/>
                    <a:pt x="123" y="123"/>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15" name="组合 14"/>
          <p:cNvGrpSpPr/>
          <p:nvPr/>
        </p:nvGrpSpPr>
        <p:grpSpPr>
          <a:xfrm>
            <a:off x="3557588" y="1268413"/>
            <a:ext cx="1901825" cy="2144712"/>
            <a:chOff x="3869067" y="2217316"/>
            <a:chExt cx="1901372" cy="2144485"/>
          </a:xfrm>
        </p:grpSpPr>
        <p:sp>
          <p:nvSpPr>
            <p:cNvPr id="16" name="íṡľíḍè-Rectangle 18"/>
            <p:cNvSpPr/>
            <p:nvPr/>
          </p:nvSpPr>
          <p:spPr>
            <a:xfrm>
              <a:off x="3869067" y="2217316"/>
              <a:ext cx="1901372" cy="1901624"/>
            </a:xfrm>
            <a:prstGeom prst="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7" name="íṡľíḍè-Freeform: Shape 19"/>
            <p:cNvSpPr/>
            <p:nvPr/>
          </p:nvSpPr>
          <p:spPr>
            <a:xfrm rot="10800000">
              <a:off x="3869067" y="3991953"/>
              <a:ext cx="1901372" cy="369848"/>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C0504D">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8" name="îŝḷîḓé-Freeform: Shape 44"/>
            <p:cNvSpPr/>
            <p:nvPr/>
          </p:nvSpPr>
          <p:spPr bwMode="auto">
            <a:xfrm>
              <a:off x="4388055" y="2568116"/>
              <a:ext cx="852285" cy="850810"/>
            </a:xfrm>
            <a:custGeom>
              <a:avLst/>
              <a:gdLst>
                <a:gd name="T0" fmla="*/ 187 w 228"/>
                <a:gd name="T1" fmla="*/ 114 h 240"/>
                <a:gd name="T2" fmla="*/ 114 w 228"/>
                <a:gd name="T3" fmla="*/ 40 h 240"/>
                <a:gd name="T4" fmla="*/ 40 w 228"/>
                <a:gd name="T5" fmla="*/ 114 h 240"/>
                <a:gd name="T6" fmla="*/ 68 w 228"/>
                <a:gd name="T7" fmla="*/ 171 h 240"/>
                <a:gd name="T8" fmla="*/ 74 w 228"/>
                <a:gd name="T9" fmla="*/ 173 h 240"/>
                <a:gd name="T10" fmla="*/ 81 w 228"/>
                <a:gd name="T11" fmla="*/ 169 h 240"/>
                <a:gd name="T12" fmla="*/ 79 w 228"/>
                <a:gd name="T13" fmla="*/ 156 h 240"/>
                <a:gd name="T14" fmla="*/ 59 w 228"/>
                <a:gd name="T15" fmla="*/ 114 h 240"/>
                <a:gd name="T16" fmla="*/ 114 w 228"/>
                <a:gd name="T17" fmla="*/ 59 h 240"/>
                <a:gd name="T18" fmla="*/ 169 w 228"/>
                <a:gd name="T19" fmla="*/ 114 h 240"/>
                <a:gd name="T20" fmla="*/ 152 w 228"/>
                <a:gd name="T21" fmla="*/ 153 h 240"/>
                <a:gd name="T22" fmla="*/ 151 w 228"/>
                <a:gd name="T23" fmla="*/ 166 h 240"/>
                <a:gd name="T24" fmla="*/ 165 w 228"/>
                <a:gd name="T25" fmla="*/ 167 h 240"/>
                <a:gd name="T26" fmla="*/ 187 w 228"/>
                <a:gd name="T27" fmla="*/ 114 h 240"/>
                <a:gd name="T28" fmla="*/ 116 w 228"/>
                <a:gd name="T29" fmla="*/ 79 h 240"/>
                <a:gd name="T30" fmla="*/ 81 w 228"/>
                <a:gd name="T31" fmla="*/ 114 h 240"/>
                <a:gd name="T32" fmla="*/ 101 w 228"/>
                <a:gd name="T33" fmla="*/ 144 h 240"/>
                <a:gd name="T34" fmla="*/ 101 w 228"/>
                <a:gd name="T35" fmla="*/ 226 h 240"/>
                <a:gd name="T36" fmla="*/ 115 w 228"/>
                <a:gd name="T37" fmla="*/ 240 h 240"/>
                <a:gd name="T38" fmla="*/ 129 w 228"/>
                <a:gd name="T39" fmla="*/ 226 h 240"/>
                <a:gd name="T40" fmla="*/ 129 w 228"/>
                <a:gd name="T41" fmla="*/ 145 h 240"/>
                <a:gd name="T42" fmla="*/ 150 w 228"/>
                <a:gd name="T43" fmla="*/ 114 h 240"/>
                <a:gd name="T44" fmla="*/ 116 w 228"/>
                <a:gd name="T45" fmla="*/ 79 h 240"/>
                <a:gd name="T46" fmla="*/ 114 w 228"/>
                <a:gd name="T47" fmla="*/ 0 h 240"/>
                <a:gd name="T48" fmla="*/ 0 w 228"/>
                <a:gd name="T49" fmla="*/ 114 h 240"/>
                <a:gd name="T50" fmla="*/ 52 w 228"/>
                <a:gd name="T51" fmla="*/ 209 h 240"/>
                <a:gd name="T52" fmla="*/ 57 w 228"/>
                <a:gd name="T53" fmla="*/ 211 h 240"/>
                <a:gd name="T54" fmla="*/ 65 w 228"/>
                <a:gd name="T55" fmla="*/ 206 h 240"/>
                <a:gd name="T56" fmla="*/ 62 w 228"/>
                <a:gd name="T57" fmla="*/ 193 h 240"/>
                <a:gd name="T58" fmla="*/ 19 w 228"/>
                <a:gd name="T59" fmla="*/ 114 h 240"/>
                <a:gd name="T60" fmla="*/ 114 w 228"/>
                <a:gd name="T61" fmla="*/ 18 h 240"/>
                <a:gd name="T62" fmla="*/ 209 w 228"/>
                <a:gd name="T63" fmla="*/ 114 h 240"/>
                <a:gd name="T64" fmla="*/ 168 w 228"/>
                <a:gd name="T65" fmla="*/ 192 h 240"/>
                <a:gd name="T66" fmla="*/ 165 w 228"/>
                <a:gd name="T67" fmla="*/ 205 h 240"/>
                <a:gd name="T68" fmla="*/ 178 w 228"/>
                <a:gd name="T69" fmla="*/ 208 h 240"/>
                <a:gd name="T70" fmla="*/ 228 w 228"/>
                <a:gd name="T71" fmla="*/ 114 h 240"/>
                <a:gd name="T72" fmla="*/ 114 w 228"/>
                <a:gd name="T7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8" h="240">
                  <a:moveTo>
                    <a:pt x="187" y="114"/>
                  </a:moveTo>
                  <a:cubicBezTo>
                    <a:pt x="187" y="73"/>
                    <a:pt x="154" y="40"/>
                    <a:pt x="114" y="40"/>
                  </a:cubicBezTo>
                  <a:cubicBezTo>
                    <a:pt x="73" y="40"/>
                    <a:pt x="40" y="73"/>
                    <a:pt x="40" y="114"/>
                  </a:cubicBezTo>
                  <a:cubicBezTo>
                    <a:pt x="40" y="136"/>
                    <a:pt x="50" y="157"/>
                    <a:pt x="68" y="171"/>
                  </a:cubicBezTo>
                  <a:cubicBezTo>
                    <a:pt x="69" y="172"/>
                    <a:pt x="71" y="173"/>
                    <a:pt x="74" y="173"/>
                  </a:cubicBezTo>
                  <a:cubicBezTo>
                    <a:pt x="76" y="173"/>
                    <a:pt x="79" y="171"/>
                    <a:pt x="81" y="169"/>
                  </a:cubicBezTo>
                  <a:cubicBezTo>
                    <a:pt x="84" y="165"/>
                    <a:pt x="83" y="159"/>
                    <a:pt x="79" y="156"/>
                  </a:cubicBezTo>
                  <a:cubicBezTo>
                    <a:pt x="67" y="146"/>
                    <a:pt x="59" y="130"/>
                    <a:pt x="59" y="114"/>
                  </a:cubicBezTo>
                  <a:cubicBezTo>
                    <a:pt x="59" y="83"/>
                    <a:pt x="84" y="59"/>
                    <a:pt x="114" y="59"/>
                  </a:cubicBezTo>
                  <a:cubicBezTo>
                    <a:pt x="144" y="59"/>
                    <a:pt x="169" y="83"/>
                    <a:pt x="169" y="114"/>
                  </a:cubicBezTo>
                  <a:cubicBezTo>
                    <a:pt x="169" y="129"/>
                    <a:pt x="163" y="143"/>
                    <a:pt x="152" y="153"/>
                  </a:cubicBezTo>
                  <a:cubicBezTo>
                    <a:pt x="148" y="157"/>
                    <a:pt x="148" y="163"/>
                    <a:pt x="151" y="166"/>
                  </a:cubicBezTo>
                  <a:cubicBezTo>
                    <a:pt x="155" y="170"/>
                    <a:pt x="161" y="170"/>
                    <a:pt x="165" y="167"/>
                  </a:cubicBezTo>
                  <a:cubicBezTo>
                    <a:pt x="179" y="153"/>
                    <a:pt x="187" y="134"/>
                    <a:pt x="187" y="114"/>
                  </a:cubicBezTo>
                  <a:close/>
                  <a:moveTo>
                    <a:pt x="116" y="79"/>
                  </a:moveTo>
                  <a:cubicBezTo>
                    <a:pt x="97" y="79"/>
                    <a:pt x="81" y="95"/>
                    <a:pt x="81" y="114"/>
                  </a:cubicBezTo>
                  <a:cubicBezTo>
                    <a:pt x="81" y="127"/>
                    <a:pt x="89" y="139"/>
                    <a:pt x="101" y="144"/>
                  </a:cubicBezTo>
                  <a:cubicBezTo>
                    <a:pt x="101" y="226"/>
                    <a:pt x="101" y="226"/>
                    <a:pt x="101" y="226"/>
                  </a:cubicBezTo>
                  <a:cubicBezTo>
                    <a:pt x="101" y="233"/>
                    <a:pt x="107" y="240"/>
                    <a:pt x="115" y="240"/>
                  </a:cubicBezTo>
                  <a:cubicBezTo>
                    <a:pt x="123" y="240"/>
                    <a:pt x="129" y="233"/>
                    <a:pt x="129" y="226"/>
                  </a:cubicBezTo>
                  <a:cubicBezTo>
                    <a:pt x="129" y="145"/>
                    <a:pt x="129" y="145"/>
                    <a:pt x="129" y="145"/>
                  </a:cubicBezTo>
                  <a:cubicBezTo>
                    <a:pt x="141" y="140"/>
                    <a:pt x="150" y="128"/>
                    <a:pt x="150" y="114"/>
                  </a:cubicBezTo>
                  <a:cubicBezTo>
                    <a:pt x="150" y="95"/>
                    <a:pt x="134" y="79"/>
                    <a:pt x="116" y="79"/>
                  </a:cubicBezTo>
                  <a:close/>
                  <a:moveTo>
                    <a:pt x="114" y="0"/>
                  </a:moveTo>
                  <a:cubicBezTo>
                    <a:pt x="51" y="0"/>
                    <a:pt x="0" y="51"/>
                    <a:pt x="0" y="114"/>
                  </a:cubicBezTo>
                  <a:cubicBezTo>
                    <a:pt x="0" y="152"/>
                    <a:pt x="19" y="188"/>
                    <a:pt x="52" y="209"/>
                  </a:cubicBezTo>
                  <a:cubicBezTo>
                    <a:pt x="54" y="210"/>
                    <a:pt x="55" y="211"/>
                    <a:pt x="57" y="211"/>
                  </a:cubicBezTo>
                  <a:cubicBezTo>
                    <a:pt x="60" y="211"/>
                    <a:pt x="63" y="209"/>
                    <a:pt x="65" y="206"/>
                  </a:cubicBezTo>
                  <a:cubicBezTo>
                    <a:pt x="68" y="202"/>
                    <a:pt x="67" y="196"/>
                    <a:pt x="62" y="193"/>
                  </a:cubicBezTo>
                  <a:cubicBezTo>
                    <a:pt x="35" y="176"/>
                    <a:pt x="19" y="146"/>
                    <a:pt x="19" y="114"/>
                  </a:cubicBezTo>
                  <a:cubicBezTo>
                    <a:pt x="19" y="61"/>
                    <a:pt x="61" y="18"/>
                    <a:pt x="114" y="18"/>
                  </a:cubicBezTo>
                  <a:cubicBezTo>
                    <a:pt x="166" y="18"/>
                    <a:pt x="209" y="61"/>
                    <a:pt x="209" y="114"/>
                  </a:cubicBezTo>
                  <a:cubicBezTo>
                    <a:pt x="209" y="145"/>
                    <a:pt x="194" y="174"/>
                    <a:pt x="168" y="192"/>
                  </a:cubicBezTo>
                  <a:cubicBezTo>
                    <a:pt x="163" y="195"/>
                    <a:pt x="162" y="201"/>
                    <a:pt x="165" y="205"/>
                  </a:cubicBezTo>
                  <a:cubicBezTo>
                    <a:pt x="168" y="209"/>
                    <a:pt x="174" y="211"/>
                    <a:pt x="178" y="208"/>
                  </a:cubicBezTo>
                  <a:cubicBezTo>
                    <a:pt x="209" y="186"/>
                    <a:pt x="228" y="151"/>
                    <a:pt x="228" y="114"/>
                  </a:cubicBezTo>
                  <a:cubicBezTo>
                    <a:pt x="228" y="51"/>
                    <a:pt x="177" y="0"/>
                    <a:pt x="114" y="0"/>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black"/>
                </a:solidFill>
                <a:effectLst/>
                <a:uLnTx/>
                <a:uFillTx/>
                <a:latin typeface="+mn-lt"/>
                <a:ea typeface="+mn-ea"/>
                <a:cs typeface="+mn-ea"/>
                <a:sym typeface="+mn-lt"/>
              </a:endParaRPr>
            </a:p>
          </p:txBody>
        </p:sp>
      </p:grpSp>
      <p:sp>
        <p:nvSpPr>
          <p:cNvPr id="19" name="Rectangle 6"/>
          <p:cNvSpPr>
            <a:spLocks noChangeArrowheads="1"/>
          </p:cNvSpPr>
          <p:nvPr/>
        </p:nvSpPr>
        <p:spPr bwMode="auto">
          <a:xfrm>
            <a:off x="3092450" y="3671888"/>
            <a:ext cx="2820988" cy="1717675"/>
          </a:xfrm>
          <a:prstGeom prst="rect">
            <a:avLst/>
          </a:prstGeom>
          <a:noFill/>
          <a:ln>
            <a:noFill/>
          </a:ln>
        </p:spPr>
        <p:txBody>
          <a:bodyPr>
            <a:spAutoFit/>
          </a:bodyPr>
          <a:lstStyle>
            <a:lvl1pPr marL="381000" indent="-3810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0000"/>
              </a:lnSpc>
              <a:spcBef>
                <a:spcPct val="3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然后让每个子序列对</a:t>
            </a: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次关键字</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k2</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（如面值）排序，又分成若干更小的子序列；</a:t>
            </a:r>
          </a:p>
        </p:txBody>
      </p:sp>
      <p:sp>
        <p:nvSpPr>
          <p:cNvPr id="20" name="Rectangle 6"/>
          <p:cNvSpPr>
            <a:spLocks noChangeArrowheads="1"/>
          </p:cNvSpPr>
          <p:nvPr/>
        </p:nvSpPr>
        <p:spPr bwMode="auto">
          <a:xfrm>
            <a:off x="6437313" y="3644900"/>
            <a:ext cx="2455863" cy="2124075"/>
          </a:xfrm>
          <a:prstGeom prst="rect">
            <a:avLst/>
          </a:prstGeom>
          <a:noFill/>
          <a:ln>
            <a:noFill/>
          </a:ln>
        </p:spPr>
        <p:txBody>
          <a:bodyPr>
            <a:spAutoFit/>
          </a:bodyPr>
          <a:lstStyle>
            <a:lvl1pPr marL="381000" indent="-3810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0000"/>
              </a:lnSpc>
              <a:spcBef>
                <a:spcPct val="3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依次重复，直至就每个子序列对</a:t>
            </a: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最低位关键字</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kd</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排序，就可以得到一个有序的序列。</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172487"/>
                                        </p:tgtEl>
                                        <p:attrNameLst>
                                          <p:attrName>style.visibility</p:attrName>
                                        </p:attrNameLst>
                                      </p:cBhvr>
                                      <p:to>
                                        <p:strVal val="visible"/>
                                      </p:to>
                                    </p:set>
                                    <p:animEffect transition="in" filter="wheel(4)">
                                      <p:cBhvr>
                                        <p:cTn id="7" dur="2000"/>
                                        <p:tgtEl>
                                          <p:spTgt spid="1172487"/>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0-#ppt_w/2"/>
                                          </p:val>
                                        </p:tav>
                                        <p:tav tm="100000">
                                          <p:val>
                                            <p:strVal val="#ppt_x"/>
                                          </p:val>
                                        </p:tav>
                                      </p:tavLst>
                                    </p:anim>
                                    <p:anim calcmode="lin" valueType="num">
                                      <p:cBhvr additive="base">
                                        <p:cTn id="13" dur="500" fill="hold"/>
                                        <p:tgtEl>
                                          <p:spTgt spid="7"/>
                                        </p:tgtEl>
                                        <p:attrNameLst>
                                          <p:attrName>ppt_y</p:attrName>
                                        </p:attrNameLst>
                                      </p:cBhvr>
                                      <p:tavLst>
                                        <p:tav tm="0">
                                          <p:val>
                                            <p:strVal val="#ppt_y"/>
                                          </p:val>
                                        </p:tav>
                                        <p:tav tm="100000">
                                          <p:val>
                                            <p:strVal val="#ppt_y"/>
                                          </p:val>
                                        </p:tav>
                                      </p:tavLst>
                                    </p:anim>
                                  </p:childTnLst>
                                </p:cTn>
                              </p:par>
                            </p:childTnLst>
                          </p:cTn>
                        </p:par>
                        <p:par>
                          <p:cTn id="14" fill="hold">
                            <p:stCondLst>
                              <p:cond delay="500"/>
                            </p:stCondLst>
                            <p:childTnLst>
                              <p:par>
                                <p:cTn id="15" presetID="2" presetClass="entr" presetSubtype="8" fill="hold" grpId="0" nodeType="afterEffect">
                                  <p:stCondLst>
                                    <p:cond delay="0"/>
                                  </p:stCondLst>
                                  <p:childTnLst>
                                    <p:set>
                                      <p:cBhvr>
                                        <p:cTn id="16" dur="1" fill="hold">
                                          <p:stCondLst>
                                            <p:cond delay="0"/>
                                          </p:stCondLst>
                                        </p:cTn>
                                        <p:tgtEl>
                                          <p:spTgt spid="6">
                                            <p:txEl>
                                              <p:pRg st="0" end="0"/>
                                            </p:txEl>
                                          </p:spTgt>
                                        </p:tgtEl>
                                        <p:attrNameLst>
                                          <p:attrName>style.visibility</p:attrName>
                                        </p:attrNameLst>
                                      </p:cBhvr>
                                      <p:to>
                                        <p:strVal val="visible"/>
                                      </p:to>
                                    </p:set>
                                    <p:anim calcmode="lin" valueType="num">
                                      <p:cBhvr additive="base">
                                        <p:cTn id="17" dur="5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0-#ppt_w/2"/>
                                          </p:val>
                                        </p:tav>
                                        <p:tav tm="100000">
                                          <p:val>
                                            <p:strVal val="#ppt_x"/>
                                          </p:val>
                                        </p:tav>
                                      </p:tavLst>
                                    </p:anim>
                                    <p:anim calcmode="lin" valueType="num">
                                      <p:cBhvr additive="base">
                                        <p:cTn id="24" dur="500" fill="hold"/>
                                        <p:tgtEl>
                                          <p:spTgt spid="15"/>
                                        </p:tgtEl>
                                        <p:attrNameLst>
                                          <p:attrName>ppt_y</p:attrName>
                                        </p:attrNameLst>
                                      </p:cBhvr>
                                      <p:tavLst>
                                        <p:tav tm="0">
                                          <p:val>
                                            <p:strVal val="#ppt_y"/>
                                          </p:val>
                                        </p:tav>
                                        <p:tav tm="100000">
                                          <p:val>
                                            <p:strVal val="#ppt_y"/>
                                          </p:val>
                                        </p:tav>
                                      </p:tavLst>
                                    </p:anim>
                                  </p:childTnLst>
                                </p:cTn>
                              </p:par>
                            </p:childTnLst>
                          </p:cTn>
                        </p:par>
                        <p:par>
                          <p:cTn id="25" fill="hold">
                            <p:stCondLst>
                              <p:cond delay="500"/>
                            </p:stCondLst>
                            <p:childTnLst>
                              <p:par>
                                <p:cTn id="26" presetID="2" presetClass="entr" presetSubtype="8" fill="hold" grpId="0" nodeType="afterEffect">
                                  <p:stCondLst>
                                    <p:cond delay="0"/>
                                  </p:stCondLst>
                                  <p:childTnLst>
                                    <p:set>
                                      <p:cBhvr>
                                        <p:cTn id="27" dur="1" fill="hold">
                                          <p:stCondLst>
                                            <p:cond delay="0"/>
                                          </p:stCondLst>
                                        </p:cTn>
                                        <p:tgtEl>
                                          <p:spTgt spid="19">
                                            <p:txEl>
                                              <p:pRg st="0" end="0"/>
                                            </p:txEl>
                                          </p:spTgt>
                                        </p:tgtEl>
                                        <p:attrNameLst>
                                          <p:attrName>style.visibility</p:attrName>
                                        </p:attrNameLst>
                                      </p:cBhvr>
                                      <p:to>
                                        <p:strVal val="visible"/>
                                      </p:to>
                                    </p:set>
                                    <p:anim calcmode="lin" valueType="num">
                                      <p:cBhvr additive="base">
                                        <p:cTn id="28" dur="5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29" dur="500" fill="hold"/>
                                        <p:tgtEl>
                                          <p:spTgt spid="1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8" fill="hold" nodeType="click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 fill="hold"/>
                                        <p:tgtEl>
                                          <p:spTgt spid="11"/>
                                        </p:tgtEl>
                                        <p:attrNameLst>
                                          <p:attrName>ppt_x</p:attrName>
                                        </p:attrNameLst>
                                      </p:cBhvr>
                                      <p:tavLst>
                                        <p:tav tm="0">
                                          <p:val>
                                            <p:strVal val="0-#ppt_w/2"/>
                                          </p:val>
                                        </p:tav>
                                        <p:tav tm="100000">
                                          <p:val>
                                            <p:strVal val="#ppt_x"/>
                                          </p:val>
                                        </p:tav>
                                      </p:tavLst>
                                    </p:anim>
                                    <p:anim calcmode="lin" valueType="num">
                                      <p:cBhvr additive="base">
                                        <p:cTn id="35" dur="500" fill="hold"/>
                                        <p:tgtEl>
                                          <p:spTgt spid="11"/>
                                        </p:tgtEl>
                                        <p:attrNameLst>
                                          <p:attrName>ppt_y</p:attrName>
                                        </p:attrNameLst>
                                      </p:cBhvr>
                                      <p:tavLst>
                                        <p:tav tm="0">
                                          <p:val>
                                            <p:strVal val="#ppt_y"/>
                                          </p:val>
                                        </p:tav>
                                        <p:tav tm="100000">
                                          <p:val>
                                            <p:strVal val="#ppt_y"/>
                                          </p:val>
                                        </p:tav>
                                      </p:tavLst>
                                    </p:anim>
                                  </p:childTnLst>
                                </p:cTn>
                              </p:par>
                            </p:childTnLst>
                          </p:cTn>
                        </p:par>
                        <p:par>
                          <p:cTn id="36" fill="hold">
                            <p:stCondLst>
                              <p:cond delay="500"/>
                            </p:stCondLst>
                            <p:childTnLst>
                              <p:par>
                                <p:cTn id="37" presetID="2" presetClass="entr" presetSubtype="8" fill="hold" grpId="0" nodeType="afterEffect">
                                  <p:stCondLst>
                                    <p:cond delay="0"/>
                                  </p:stCondLst>
                                  <p:childTnLst>
                                    <p:set>
                                      <p:cBhvr>
                                        <p:cTn id="38" dur="1" fill="hold">
                                          <p:stCondLst>
                                            <p:cond delay="0"/>
                                          </p:stCondLst>
                                        </p:cTn>
                                        <p:tgtEl>
                                          <p:spTgt spid="20">
                                            <p:txEl>
                                              <p:pRg st="0" end="0"/>
                                            </p:txEl>
                                          </p:spTgt>
                                        </p:tgtEl>
                                        <p:attrNameLst>
                                          <p:attrName>style.visibility</p:attrName>
                                        </p:attrNameLst>
                                      </p:cBhvr>
                                      <p:to>
                                        <p:strVal val="visible"/>
                                      </p:to>
                                    </p:set>
                                    <p:anim calcmode="lin" valueType="num">
                                      <p:cBhvr additive="base">
                                        <p:cTn id="39" dur="5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2487" grpId="0" animBg="1"/>
      <p:bldP spid="6" grpId="0" build="p"/>
      <p:bldP spid="19" grpId="0" build="p"/>
      <p:bldP spid="20" grpId="0" build="p"/>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矩形 1"/>
          <p:cNvSpPr/>
          <p:nvPr/>
        </p:nvSpPr>
        <p:spPr>
          <a:xfrm>
            <a:off x="0" y="1058863"/>
            <a:ext cx="9144000" cy="5181600"/>
          </a:xfrm>
          <a:prstGeom prst="rect">
            <a:avLst/>
          </a:prstGeom>
          <a:solidFill>
            <a:srgbClr val="EAEAEA"/>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aphicFrame>
        <p:nvGraphicFramePr>
          <p:cNvPr id="175107" name="Object 4"/>
          <p:cNvGraphicFramePr/>
          <p:nvPr/>
        </p:nvGraphicFramePr>
        <p:xfrm>
          <a:off x="1979613" y="1058863"/>
          <a:ext cx="5040312" cy="5181600"/>
        </p:xfrm>
        <a:graphic>
          <a:graphicData uri="http://schemas.openxmlformats.org/presentationml/2006/ole">
            <mc:AlternateContent xmlns:mc="http://schemas.openxmlformats.org/markup-compatibility/2006">
              <mc:Choice xmlns:v="urn:schemas-microsoft-com:vml" Requires="v">
                <p:oleObj spid="_x0000_s11270" r:id="rId3" imgW="2339340" imgH="2404745" progId="SmartDraw.2">
                  <p:embed/>
                </p:oleObj>
              </mc:Choice>
              <mc:Fallback>
                <p:oleObj r:id="rId3" imgW="2339340" imgH="2404745" progId="SmartDraw.2">
                  <p:embed/>
                  <p:pic>
                    <p:nvPicPr>
                      <p:cNvPr id="0" name="图片 3091"/>
                      <p:cNvPicPr/>
                      <p:nvPr/>
                    </p:nvPicPr>
                    <p:blipFill>
                      <a:blip r:embed="rId4"/>
                      <a:stretch>
                        <a:fillRect/>
                      </a:stretch>
                    </p:blipFill>
                    <p:spPr>
                      <a:xfrm>
                        <a:off x="1979613" y="1058863"/>
                        <a:ext cx="5040312" cy="5181600"/>
                      </a:xfrm>
                      <a:prstGeom prst="rect">
                        <a:avLst/>
                      </a:prstGeom>
                      <a:noFill/>
                      <a:ln w="38100">
                        <a:noFill/>
                        <a:miter/>
                      </a:ln>
                    </p:spPr>
                  </p:pic>
                </p:oleObj>
              </mc:Fallback>
            </mc:AlternateContent>
          </a:graphicData>
        </a:graphic>
      </p:graphicFrame>
      <p:sp>
        <p:nvSpPr>
          <p:cNvPr id="157699" name="Rectangle 129"/>
          <p:cNvSpPr>
            <a:spLocks noChangeArrowheads="1"/>
          </p:cNvSpPr>
          <p:nvPr/>
        </p:nvSpPr>
        <p:spPr bwMode="auto">
          <a:xfrm>
            <a:off x="900113" y="166688"/>
            <a:ext cx="2338388" cy="581025"/>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最高位优先法</a:t>
            </a:r>
          </a:p>
        </p:txBody>
      </p:sp>
      <p:sp>
        <p:nvSpPr>
          <p:cNvPr id="157700" name="Text Box 130"/>
          <p:cNvSpPr txBox="1">
            <a:spLocks noChangeArrowheads="1"/>
          </p:cNvSpPr>
          <p:nvPr/>
        </p:nvSpPr>
        <p:spPr bwMode="auto">
          <a:xfrm>
            <a:off x="5449888" y="1627188"/>
            <a:ext cx="576263" cy="304800"/>
          </a:xfrm>
          <a:prstGeom prst="rect">
            <a:avLst/>
          </a:prstGeom>
          <a:solidFill>
            <a:srgbClr val="EAEAEA"/>
          </a:solidFill>
          <a:ln>
            <a:noFill/>
          </a:ln>
        </p:spPr>
        <p:txBody>
          <a:bodyPr lIns="0" tIns="0" rIns="0" bIns="0">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十位</a:t>
            </a:r>
          </a:p>
        </p:txBody>
      </p:sp>
    </p:spTree>
  </p:cSld>
  <p:clrMapOvr>
    <a:masterClrMapping/>
  </p:clrMapOvr>
  <p:transition spd="slow"/>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5556" name="Text Box 4"/>
          <p:cNvSpPr txBox="1">
            <a:spLocks noChangeArrowheads="1"/>
          </p:cNvSpPr>
          <p:nvPr/>
        </p:nvSpPr>
        <p:spPr bwMode="auto">
          <a:xfrm>
            <a:off x="1547813" y="1330325"/>
            <a:ext cx="7104063" cy="3754438"/>
          </a:xfrm>
          <a:prstGeom prst="rect">
            <a:avLst/>
          </a:prstGeom>
          <a:noFill/>
          <a:ln w="9525">
            <a:noFill/>
            <a:miter lim="800000"/>
          </a:ln>
          <a:effectLst/>
        </p:spPr>
        <p:txBody>
          <a:bodyPr>
            <a:spAutoFit/>
          </a:bodyPr>
          <a:lstStyle/>
          <a:p>
            <a:pPr marR="0" defTabSz="914400" eaLnBrk="1" hangingPunct="1">
              <a:lnSpc>
                <a:spcPct val="125000"/>
              </a:lnSpc>
              <a:spcBef>
                <a:spcPct val="50000"/>
              </a:spcBef>
              <a:buClrTx/>
              <a:buSzTx/>
              <a:buFontTx/>
              <a:buNone/>
              <a:defRPr/>
            </a:pPr>
            <a:r>
              <a:rPr kumimoji="1" lang="zh-CN" altLang="en-US" b="0" kern="1200" cap="none" spc="0" normalizeH="0" baseline="0" noProof="0" dirty="0">
                <a:latin typeface="+mn-lt"/>
                <a:ea typeface="+mn-ea"/>
                <a:cs typeface="+mn-ea"/>
                <a:sym typeface="+mn-lt"/>
              </a:rPr>
              <a:t>首先依据</a:t>
            </a:r>
            <a:r>
              <a:rPr kumimoji="1" lang="zh-CN" altLang="en-US" b="0" kern="1200" cap="none" spc="0" normalizeH="0" baseline="0" noProof="0" dirty="0">
                <a:solidFill>
                  <a:srgbClr val="FF3300"/>
                </a:solidFill>
                <a:latin typeface="+mn-lt"/>
                <a:ea typeface="+mn-ea"/>
                <a:cs typeface="+mn-ea"/>
                <a:sym typeface="+mn-lt"/>
              </a:rPr>
              <a:t>最低位</a:t>
            </a:r>
            <a:r>
              <a:rPr kumimoji="1" lang="zh-CN" altLang="en-US" b="0" kern="1200" cap="none" spc="0" normalizeH="0" baseline="0" noProof="0" dirty="0">
                <a:latin typeface="+mn-lt"/>
                <a:ea typeface="+mn-ea"/>
                <a:cs typeface="+mn-ea"/>
                <a:sym typeface="+mn-lt"/>
              </a:rPr>
              <a:t>排序码</a:t>
            </a:r>
            <a:r>
              <a:rPr kumimoji="1" lang="en-US" altLang="zh-CN" b="0" i="1" kern="1200" cap="none" spc="0" normalizeH="0" baseline="0" noProof="0" dirty="0" err="1">
                <a:latin typeface="+mn-lt"/>
                <a:ea typeface="+mn-ea"/>
                <a:cs typeface="+mn-ea"/>
                <a:sym typeface="+mn-lt"/>
              </a:rPr>
              <a:t>Kd</a:t>
            </a:r>
            <a:r>
              <a:rPr kumimoji="1" lang="zh-CN" altLang="en-US" b="0" kern="1200" cap="none" spc="0" normalizeH="0" baseline="0" noProof="0" dirty="0">
                <a:latin typeface="+mn-lt"/>
                <a:ea typeface="+mn-ea"/>
                <a:cs typeface="+mn-ea"/>
                <a:sym typeface="+mn-lt"/>
              </a:rPr>
              <a:t>对所有对象进行一趟排序。</a:t>
            </a:r>
          </a:p>
          <a:p>
            <a:pPr marR="0" defTabSz="914400" eaLnBrk="1" hangingPunct="1">
              <a:lnSpc>
                <a:spcPct val="125000"/>
              </a:lnSpc>
              <a:spcBef>
                <a:spcPct val="50000"/>
              </a:spcBef>
              <a:buClrTx/>
              <a:buSzTx/>
              <a:buFontTx/>
              <a:buNone/>
              <a:defRPr/>
            </a:pPr>
            <a:r>
              <a:rPr kumimoji="1" lang="zh-CN" altLang="en-US" b="0" kern="1200" cap="none" spc="0" normalizeH="0" baseline="0" noProof="0" dirty="0">
                <a:latin typeface="+mn-lt"/>
                <a:ea typeface="+mn-ea"/>
                <a:cs typeface="+mn-ea"/>
                <a:sym typeface="+mn-lt"/>
              </a:rPr>
              <a:t>再依据</a:t>
            </a:r>
            <a:r>
              <a:rPr kumimoji="1" lang="zh-CN" altLang="en-US" b="0" kern="1200" cap="none" spc="0" normalizeH="0" baseline="0" noProof="0" dirty="0">
                <a:solidFill>
                  <a:srgbClr val="FF3300"/>
                </a:solidFill>
                <a:latin typeface="+mn-lt"/>
                <a:ea typeface="+mn-ea"/>
                <a:cs typeface="+mn-ea"/>
                <a:sym typeface="+mn-lt"/>
              </a:rPr>
              <a:t>次低位</a:t>
            </a:r>
            <a:r>
              <a:rPr kumimoji="1" lang="zh-CN" altLang="en-US" b="0" kern="1200" cap="none" spc="0" normalizeH="0" baseline="0" noProof="0" dirty="0">
                <a:latin typeface="+mn-lt"/>
                <a:ea typeface="+mn-ea"/>
                <a:cs typeface="+mn-ea"/>
                <a:sym typeface="+mn-lt"/>
              </a:rPr>
              <a:t>排序码</a:t>
            </a:r>
            <a:r>
              <a:rPr kumimoji="1" lang="en-US" altLang="zh-CN" b="0" i="1" kern="1200" cap="none" spc="0" normalizeH="0" baseline="0" noProof="0" dirty="0">
                <a:latin typeface="+mn-lt"/>
                <a:ea typeface="+mn-ea"/>
                <a:cs typeface="+mn-ea"/>
                <a:sym typeface="+mn-lt"/>
              </a:rPr>
              <a:t>Kd-1</a:t>
            </a:r>
            <a:r>
              <a:rPr kumimoji="1" lang="zh-CN" altLang="en-US" b="0" kern="1200" cap="none" spc="0" normalizeH="0" baseline="0" noProof="0" dirty="0">
                <a:latin typeface="+mn-lt"/>
                <a:ea typeface="+mn-ea"/>
                <a:cs typeface="+mn-ea"/>
                <a:sym typeface="+mn-lt"/>
              </a:rPr>
              <a:t>对上一趟排序结果排序。</a:t>
            </a:r>
          </a:p>
          <a:p>
            <a:pPr marR="0" defTabSz="914400" eaLnBrk="1" hangingPunct="1">
              <a:lnSpc>
                <a:spcPct val="125000"/>
              </a:lnSpc>
              <a:spcBef>
                <a:spcPct val="50000"/>
              </a:spcBef>
              <a:buClrTx/>
              <a:buSzTx/>
              <a:buFontTx/>
              <a:buNone/>
              <a:defRPr/>
            </a:pPr>
            <a:r>
              <a:rPr kumimoji="1" lang="zh-CN" altLang="en-US" b="0" kern="1200" cap="none" spc="0" normalizeH="0" baseline="0" noProof="0" dirty="0">
                <a:latin typeface="+mn-lt"/>
                <a:ea typeface="+mn-ea"/>
                <a:cs typeface="+mn-ea"/>
                <a:sym typeface="+mn-lt"/>
              </a:rPr>
              <a:t>依次重复，直到依据</a:t>
            </a:r>
            <a:r>
              <a:rPr kumimoji="1" lang="zh-CN" altLang="en-US" b="0" kern="1200" cap="none" spc="0" normalizeH="0" baseline="0" noProof="0" dirty="0">
                <a:solidFill>
                  <a:srgbClr val="FF3300"/>
                </a:solidFill>
                <a:latin typeface="+mn-lt"/>
                <a:ea typeface="+mn-ea"/>
                <a:cs typeface="+mn-ea"/>
                <a:sym typeface="+mn-lt"/>
              </a:rPr>
              <a:t>排序码</a:t>
            </a:r>
            <a:r>
              <a:rPr kumimoji="1" lang="en-US" altLang="zh-CN" b="0" i="1" kern="1200" cap="none" spc="0" normalizeH="0" baseline="0" noProof="0" dirty="0">
                <a:solidFill>
                  <a:srgbClr val="FF3300"/>
                </a:solidFill>
                <a:latin typeface="+mn-lt"/>
                <a:ea typeface="+mn-ea"/>
                <a:cs typeface="+mn-ea"/>
                <a:sym typeface="+mn-lt"/>
              </a:rPr>
              <a:t>K1</a:t>
            </a:r>
            <a:r>
              <a:rPr kumimoji="1" lang="zh-CN" altLang="en-US" b="0" kern="1200" cap="none" spc="0" normalizeH="0" baseline="0" noProof="0" dirty="0">
                <a:solidFill>
                  <a:srgbClr val="FF3300"/>
                </a:solidFill>
                <a:latin typeface="+mn-lt"/>
                <a:ea typeface="+mn-ea"/>
                <a:cs typeface="+mn-ea"/>
                <a:sym typeface="+mn-lt"/>
              </a:rPr>
              <a:t>最后一趟排序</a:t>
            </a:r>
            <a:r>
              <a:rPr kumimoji="1" lang="zh-CN" altLang="en-US" b="0" kern="1200" cap="none" spc="0" normalizeH="0" baseline="0" noProof="0" dirty="0">
                <a:latin typeface="+mn-lt"/>
                <a:ea typeface="+mn-ea"/>
                <a:cs typeface="+mn-ea"/>
                <a:sym typeface="+mn-lt"/>
              </a:rPr>
              <a:t>完成，就可以得到一个有序的序列。</a:t>
            </a:r>
          </a:p>
        </p:txBody>
      </p:sp>
      <p:sp>
        <p:nvSpPr>
          <p:cNvPr id="158723" name="Rectangle 6"/>
          <p:cNvSpPr>
            <a:spLocks noChangeArrowheads="1"/>
          </p:cNvSpPr>
          <p:nvPr/>
        </p:nvSpPr>
        <p:spPr bwMode="auto">
          <a:xfrm>
            <a:off x="827088" y="142875"/>
            <a:ext cx="2339975" cy="581025"/>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最低位优先法</a:t>
            </a:r>
          </a:p>
        </p:txBody>
      </p:sp>
      <p:sp>
        <p:nvSpPr>
          <p:cNvPr id="1175560" name="Rectangle 8"/>
          <p:cNvSpPr>
            <a:spLocks noChangeArrowheads="1"/>
          </p:cNvSpPr>
          <p:nvPr/>
        </p:nvSpPr>
        <p:spPr bwMode="auto">
          <a:xfrm>
            <a:off x="238125" y="5622925"/>
            <a:ext cx="8761413" cy="519113"/>
          </a:xfrm>
          <a:prstGeom prst="rect">
            <a:avLst/>
          </a:prstGeom>
          <a:solidFill>
            <a:srgbClr val="EAEAEA"/>
          </a:solidFill>
          <a:ln w="9525">
            <a:noFill/>
            <a:miter lim="800000"/>
          </a:ln>
          <a:effectLst/>
        </p:spPr>
        <p:txBody>
          <a:bodyPr>
            <a:spAutoFit/>
          </a:bodyPr>
          <a:lstStyle/>
          <a:p>
            <a:pPr marL="342900" marR="0" lvl="0" indent="-342900" algn="l" defTabSz="914400" rtl="0" eaLnBrk="1" fontAlgn="base" latinLnBrk="0" hangingPunct="1">
              <a:lnSpc>
                <a:spcPct val="100000"/>
              </a:lnSpc>
              <a:spcBef>
                <a:spcPct val="50000"/>
              </a:spcBef>
              <a:spcAft>
                <a:spcPct val="0"/>
              </a:spcAft>
              <a:buClr>
                <a:srgbClr val="FF3300"/>
              </a:buClr>
              <a:buSzTx/>
              <a:buFont typeface="Wingdings" panose="05000000000000000000" pitchFamily="2" charset="2"/>
              <a:buChar char="ü"/>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这种方法</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不需要再分组</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，而是整个对象组都参加排序</a:t>
            </a:r>
          </a:p>
        </p:txBody>
      </p:sp>
      <p:grpSp>
        <p:nvGrpSpPr>
          <p:cNvPr id="7" name="Group 15"/>
          <p:cNvGrpSpPr/>
          <p:nvPr/>
        </p:nvGrpSpPr>
        <p:grpSpPr>
          <a:xfrm>
            <a:off x="684213" y="2697163"/>
            <a:ext cx="639762" cy="641350"/>
            <a:chOff x="6253939" y="2516220"/>
            <a:chExt cx="831273" cy="831273"/>
          </a:xfrm>
        </p:grpSpPr>
        <p:sp>
          <p:nvSpPr>
            <p:cNvPr id="8" name="Oval 16"/>
            <p:cNvSpPr/>
            <p:nvPr/>
          </p:nvSpPr>
          <p:spPr>
            <a:xfrm>
              <a:off x="6253939" y="2516220"/>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GB" sz="2800" b="1" i="0" u="none" strike="noStrike" kern="1200" cap="none" spc="0" normalizeH="0" baseline="0" noProof="0">
                <a:ln>
                  <a:noFill/>
                </a:ln>
                <a:solidFill>
                  <a:schemeClr val="lt1"/>
                </a:solidFill>
                <a:effectLst/>
                <a:uLnTx/>
                <a:uFillTx/>
                <a:latin typeface="+mn-lt"/>
                <a:ea typeface="+mn-ea"/>
                <a:cs typeface="+mn-cs"/>
              </a:endParaRPr>
            </a:p>
          </p:txBody>
        </p:sp>
        <p:sp>
          <p:nvSpPr>
            <p:cNvPr id="9" name="AutoShape 117"/>
            <p:cNvSpPr/>
            <p:nvPr/>
          </p:nvSpPr>
          <p:spPr bwMode="auto">
            <a:xfrm>
              <a:off x="6437520" y="2771363"/>
              <a:ext cx="464111" cy="349793"/>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solidFill>
            <a:ln>
              <a:noFill/>
            </a:ln>
            <a:effectLst/>
          </p:spPr>
          <p:txBody>
            <a:bodyPr lIns="19050" tIns="19050" rIns="19050" bIns="19050" anchor="ctr"/>
            <a:lstStyle/>
            <a:p>
              <a:pPr marL="0" marR="0" lvl="0" indent="0" algn="ctr" defTabSz="228600" rtl="0" eaLnBrk="0" fontAlgn="base" latinLnBrk="0" hangingPunct="0">
                <a:lnSpc>
                  <a:spcPct val="100000"/>
                </a:lnSpc>
                <a:spcBef>
                  <a:spcPct val="0"/>
                </a:spcBef>
                <a:spcAft>
                  <a:spcPct val="0"/>
                </a:spcAft>
                <a:buClrTx/>
                <a:buSzTx/>
                <a:buFontTx/>
                <a:buNone/>
                <a:defRPr/>
              </a:pPr>
              <a:endParaRPr kumimoji="0" lang="en-US" sz="1500" b="1"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楷体_GB2312" pitchFamily="49" charset="-122"/>
                <a:cs typeface="+mn-cs"/>
                <a:sym typeface="Gill Sans" charset="0"/>
              </a:endParaRPr>
            </a:p>
          </p:txBody>
        </p:sp>
      </p:grpSp>
      <p:grpSp>
        <p:nvGrpSpPr>
          <p:cNvPr id="10" name="Group 18"/>
          <p:cNvGrpSpPr/>
          <p:nvPr/>
        </p:nvGrpSpPr>
        <p:grpSpPr>
          <a:xfrm>
            <a:off x="684213" y="4073525"/>
            <a:ext cx="639762" cy="641350"/>
            <a:chOff x="5716910" y="3464598"/>
            <a:chExt cx="831273" cy="831273"/>
          </a:xfrm>
        </p:grpSpPr>
        <p:sp>
          <p:nvSpPr>
            <p:cNvPr id="11" name="Oval 19"/>
            <p:cNvSpPr/>
            <p:nvPr/>
          </p:nvSpPr>
          <p:spPr>
            <a:xfrm>
              <a:off x="5716910" y="3464598"/>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GB" sz="2800" b="1" i="0" u="none" strike="noStrike" kern="1200" cap="none" spc="0" normalizeH="0" baseline="0" noProof="0">
                <a:ln>
                  <a:noFill/>
                </a:ln>
                <a:solidFill>
                  <a:schemeClr val="lt1"/>
                </a:solidFill>
                <a:effectLst/>
                <a:uLnTx/>
                <a:uFillTx/>
                <a:latin typeface="+mn-lt"/>
                <a:ea typeface="+mn-ea"/>
                <a:cs typeface="+mn-cs"/>
              </a:endParaRPr>
            </a:p>
          </p:txBody>
        </p:sp>
        <p:grpSp>
          <p:nvGrpSpPr>
            <p:cNvPr id="12" name="Group 20"/>
            <p:cNvGrpSpPr/>
            <p:nvPr/>
          </p:nvGrpSpPr>
          <p:grpSpPr>
            <a:xfrm>
              <a:off x="5900374" y="3655628"/>
              <a:ext cx="464344" cy="464344"/>
              <a:chOff x="4439444" y="2582069"/>
              <a:chExt cx="464344" cy="464344"/>
            </a:xfrm>
            <a:solidFill>
              <a:schemeClr val="bg1"/>
            </a:solidFill>
          </p:grpSpPr>
          <p:sp>
            <p:nvSpPr>
              <p:cNvPr id="13" name="AutoShape 123"/>
              <p:cNvSpPr/>
              <p:nvPr/>
            </p:nvSpPr>
            <p:spPr bwMode="auto">
              <a:xfrm>
                <a:off x="4439444"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p:spPr>
            <p:txBody>
              <a:bodyPr lIns="19050" tIns="19050" rIns="19050" bIns="19050" anchor="ctr"/>
              <a:lstStyle/>
              <a:p>
                <a:pPr marL="0" marR="0" lvl="0" indent="0" algn="ctr" defTabSz="228600" rtl="0" eaLnBrk="0" fontAlgn="base" latinLnBrk="0" hangingPunct="0">
                  <a:lnSpc>
                    <a:spcPct val="100000"/>
                  </a:lnSpc>
                  <a:spcBef>
                    <a:spcPct val="0"/>
                  </a:spcBef>
                  <a:spcAft>
                    <a:spcPct val="0"/>
                  </a:spcAft>
                  <a:buClrTx/>
                  <a:buSzTx/>
                  <a:buFontTx/>
                  <a:buNone/>
                  <a:defRPr/>
                </a:pPr>
                <a:endParaRPr kumimoji="0" lang="en-US" sz="1500" b="1"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楷体_GB2312" pitchFamily="49" charset="-122"/>
                  <a:cs typeface="+mn-cs"/>
                  <a:sym typeface="Gill Sans" charset="0"/>
                </a:endParaRPr>
              </a:p>
            </p:txBody>
          </p:sp>
          <p:sp>
            <p:nvSpPr>
              <p:cNvPr id="14" name="AutoShape 124"/>
              <p:cNvSpPr/>
              <p:nvPr/>
            </p:nvSpPr>
            <p:spPr bwMode="auto">
              <a:xfrm>
                <a:off x="4570413" y="2712244"/>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p:spPr>
            <p:txBody>
              <a:bodyPr lIns="19050" tIns="19050" rIns="19050" bIns="19050" anchor="ctr"/>
              <a:lstStyle/>
              <a:p>
                <a:pPr marL="0" marR="0" lvl="0" indent="0" algn="ctr" defTabSz="228600" rtl="0" eaLnBrk="0" fontAlgn="base" latinLnBrk="0" hangingPunct="0">
                  <a:lnSpc>
                    <a:spcPct val="100000"/>
                  </a:lnSpc>
                  <a:spcBef>
                    <a:spcPct val="0"/>
                  </a:spcBef>
                  <a:spcAft>
                    <a:spcPct val="0"/>
                  </a:spcAft>
                  <a:buClrTx/>
                  <a:buSzTx/>
                  <a:buFontTx/>
                  <a:buNone/>
                  <a:defRPr/>
                </a:pPr>
                <a:endParaRPr kumimoji="0" lang="en-US" sz="1500" b="1"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楷体_GB2312" pitchFamily="49" charset="-122"/>
                  <a:cs typeface="+mn-cs"/>
                  <a:sym typeface="Gill Sans" charset="0"/>
                </a:endParaRPr>
              </a:p>
            </p:txBody>
          </p:sp>
          <p:sp>
            <p:nvSpPr>
              <p:cNvPr id="15" name="AutoShape 125"/>
              <p:cNvSpPr/>
              <p:nvPr/>
            </p:nvSpPr>
            <p:spPr bwMode="auto">
              <a:xfrm>
                <a:off x="4613275" y="275590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p:spPr>
            <p:txBody>
              <a:bodyPr lIns="19050" tIns="19050" rIns="19050" bIns="19050" anchor="ctr"/>
              <a:lstStyle/>
              <a:p>
                <a:pPr marL="0" marR="0" lvl="0" indent="0" algn="ctr" defTabSz="228600" rtl="0" eaLnBrk="0" fontAlgn="base" latinLnBrk="0" hangingPunct="0">
                  <a:lnSpc>
                    <a:spcPct val="100000"/>
                  </a:lnSpc>
                  <a:spcBef>
                    <a:spcPct val="0"/>
                  </a:spcBef>
                  <a:spcAft>
                    <a:spcPct val="0"/>
                  </a:spcAft>
                  <a:buClrTx/>
                  <a:buSzTx/>
                  <a:buFontTx/>
                  <a:buNone/>
                  <a:defRPr/>
                </a:pPr>
                <a:endParaRPr kumimoji="0" lang="en-US" sz="1500" b="1"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楷体_GB2312" pitchFamily="49" charset="-122"/>
                  <a:cs typeface="+mn-cs"/>
                  <a:sym typeface="Gill Sans" charset="0"/>
                </a:endParaRPr>
              </a:p>
            </p:txBody>
          </p:sp>
        </p:grpSp>
      </p:grpSp>
      <p:grpSp>
        <p:nvGrpSpPr>
          <p:cNvPr id="16" name="Group 24"/>
          <p:cNvGrpSpPr/>
          <p:nvPr/>
        </p:nvGrpSpPr>
        <p:grpSpPr>
          <a:xfrm>
            <a:off x="684213" y="1482725"/>
            <a:ext cx="639762" cy="639763"/>
            <a:chOff x="6678551" y="1578185"/>
            <a:chExt cx="831273" cy="831273"/>
          </a:xfrm>
        </p:grpSpPr>
        <p:sp>
          <p:nvSpPr>
            <p:cNvPr id="17" name="Oval 25"/>
            <p:cNvSpPr/>
            <p:nvPr/>
          </p:nvSpPr>
          <p:spPr>
            <a:xfrm>
              <a:off x="6678551" y="157818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GB" sz="2800" b="1" i="0" u="none" strike="noStrike" kern="1200" cap="none" spc="0" normalizeH="0" baseline="0" noProof="0">
                <a:ln>
                  <a:noFill/>
                </a:ln>
                <a:solidFill>
                  <a:schemeClr val="lt1"/>
                </a:solidFill>
                <a:effectLst/>
                <a:uLnTx/>
                <a:uFillTx/>
                <a:latin typeface="+mn-lt"/>
                <a:ea typeface="+mn-ea"/>
                <a:cs typeface="+mn-cs"/>
              </a:endParaRPr>
            </a:p>
          </p:txBody>
        </p:sp>
        <p:sp>
          <p:nvSpPr>
            <p:cNvPr id="18" name="AutoShape 139"/>
            <p:cNvSpPr/>
            <p:nvPr/>
          </p:nvSpPr>
          <p:spPr bwMode="auto">
            <a:xfrm>
              <a:off x="6862132" y="1767954"/>
              <a:ext cx="464111" cy="451734"/>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bg1"/>
            </a:solidFill>
            <a:ln>
              <a:noFill/>
            </a:ln>
            <a:effectLst/>
          </p:spPr>
          <p:txBody>
            <a:bodyPr lIns="19050" tIns="19050" rIns="19050" bIns="19050" anchor="ctr"/>
            <a:lstStyle/>
            <a:p>
              <a:pPr marL="0" marR="0" lvl="0" indent="0" algn="ctr" defTabSz="228600" rtl="0" eaLnBrk="0" fontAlgn="base" latinLnBrk="0" hangingPunct="0">
                <a:lnSpc>
                  <a:spcPct val="100000"/>
                </a:lnSpc>
                <a:spcBef>
                  <a:spcPct val="0"/>
                </a:spcBef>
                <a:spcAft>
                  <a:spcPct val="0"/>
                </a:spcAft>
                <a:buClrTx/>
                <a:buSzTx/>
                <a:buFontTx/>
                <a:buNone/>
                <a:defRPr/>
              </a:pPr>
              <a:endParaRPr kumimoji="0" lang="en-US" sz="1500" b="1"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楷体_GB2312" pitchFamily="49" charset="-122"/>
                <a:cs typeface="+mn-cs"/>
                <a:sym typeface="Gill Sans" charset="0"/>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75556">
                                            <p:txEl>
                                              <p:pRg st="0" end="0"/>
                                            </p:txEl>
                                          </p:spTgt>
                                        </p:tgtEl>
                                        <p:attrNameLst>
                                          <p:attrName>style.visibility</p:attrName>
                                        </p:attrNameLst>
                                      </p:cBhvr>
                                      <p:to>
                                        <p:strVal val="visible"/>
                                      </p:to>
                                    </p:set>
                                    <p:anim calcmode="lin" valueType="num">
                                      <p:cBhvr additive="base">
                                        <p:cTn id="13" dur="500" fill="hold"/>
                                        <p:tgtEl>
                                          <p:spTgt spid="1175556">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17555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75556">
                                            <p:txEl>
                                              <p:pRg st="1" end="1"/>
                                            </p:txEl>
                                          </p:spTgt>
                                        </p:tgtEl>
                                        <p:attrNameLst>
                                          <p:attrName>style.visibility</p:attrName>
                                        </p:attrNameLst>
                                      </p:cBhvr>
                                      <p:to>
                                        <p:strVal val="visible"/>
                                      </p:to>
                                    </p:set>
                                    <p:anim calcmode="lin" valueType="num">
                                      <p:cBhvr additive="base">
                                        <p:cTn id="25" dur="500" fill="hold"/>
                                        <p:tgtEl>
                                          <p:spTgt spid="1175556">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17555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ppt_x"/>
                                          </p:val>
                                        </p:tav>
                                        <p:tav tm="100000">
                                          <p:val>
                                            <p:strVal val="#ppt_x"/>
                                          </p:val>
                                        </p:tav>
                                      </p:tavLst>
                                    </p:anim>
                                    <p:anim calcmode="lin" valueType="num">
                                      <p:cBhvr additive="base">
                                        <p:cTn id="3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1175556">
                                            <p:txEl>
                                              <p:pRg st="2" end="2"/>
                                            </p:txEl>
                                          </p:spTgt>
                                        </p:tgtEl>
                                        <p:attrNameLst>
                                          <p:attrName>style.visibility</p:attrName>
                                        </p:attrNameLst>
                                      </p:cBhvr>
                                      <p:to>
                                        <p:strVal val="visible"/>
                                      </p:to>
                                    </p:set>
                                    <p:anim calcmode="lin" valueType="num">
                                      <p:cBhvr additive="base">
                                        <p:cTn id="37" dur="500" fill="hold"/>
                                        <p:tgtEl>
                                          <p:spTgt spid="1175556">
                                            <p:txEl>
                                              <p:pRg st="2" end="2"/>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17555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1" presetClass="entr" presetSubtype="4" fill="hold" grpId="0" nodeType="clickEffect">
                                  <p:stCondLst>
                                    <p:cond delay="0"/>
                                  </p:stCondLst>
                                  <p:childTnLst>
                                    <p:set>
                                      <p:cBhvr>
                                        <p:cTn id="42" dur="1" fill="hold">
                                          <p:stCondLst>
                                            <p:cond delay="0"/>
                                          </p:stCondLst>
                                        </p:cTn>
                                        <p:tgtEl>
                                          <p:spTgt spid="1175560"/>
                                        </p:tgtEl>
                                        <p:attrNameLst>
                                          <p:attrName>style.visibility</p:attrName>
                                        </p:attrNameLst>
                                      </p:cBhvr>
                                      <p:to>
                                        <p:strVal val="visible"/>
                                      </p:to>
                                    </p:set>
                                    <p:animEffect transition="in" filter="wheel(4)">
                                      <p:cBhvr>
                                        <p:cTn id="43" dur="2000"/>
                                        <p:tgtEl>
                                          <p:spTgt spid="11755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5556" grpId="0" build="p"/>
      <p:bldP spid="1175560"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矩形 5"/>
          <p:cNvSpPr/>
          <p:nvPr/>
        </p:nvSpPr>
        <p:spPr>
          <a:xfrm>
            <a:off x="0" y="1209675"/>
            <a:ext cx="9144000" cy="4457700"/>
          </a:xfrm>
          <a:prstGeom prst="rect">
            <a:avLst/>
          </a:prstGeom>
          <a:solidFill>
            <a:srgbClr val="EAEAEA"/>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aphicFrame>
        <p:nvGraphicFramePr>
          <p:cNvPr id="177155" name="Object 5"/>
          <p:cNvGraphicFramePr/>
          <p:nvPr/>
        </p:nvGraphicFramePr>
        <p:xfrm>
          <a:off x="1333500" y="1419225"/>
          <a:ext cx="6477000" cy="3962400"/>
        </p:xfrm>
        <a:graphic>
          <a:graphicData uri="http://schemas.openxmlformats.org/presentationml/2006/ole">
            <mc:AlternateContent xmlns:mc="http://schemas.openxmlformats.org/markup-compatibility/2006">
              <mc:Choice xmlns:v="urn:schemas-microsoft-com:vml" Requires="v">
                <p:oleObj spid="_x0000_s12294" r:id="rId3" imgW="3250565" imgH="1837690" progId="SmartDraw.2">
                  <p:embed/>
                </p:oleObj>
              </mc:Choice>
              <mc:Fallback>
                <p:oleObj r:id="rId3" imgW="3250565" imgH="1837690" progId="SmartDraw.2">
                  <p:embed/>
                  <p:pic>
                    <p:nvPicPr>
                      <p:cNvPr id="0" name="图片 3092"/>
                      <p:cNvPicPr/>
                      <p:nvPr/>
                    </p:nvPicPr>
                    <p:blipFill>
                      <a:blip r:embed="rId4"/>
                      <a:stretch>
                        <a:fillRect/>
                      </a:stretch>
                    </p:blipFill>
                    <p:spPr>
                      <a:xfrm>
                        <a:off x="1333500" y="1419225"/>
                        <a:ext cx="6477000" cy="3962400"/>
                      </a:xfrm>
                      <a:prstGeom prst="rect">
                        <a:avLst/>
                      </a:prstGeom>
                      <a:noFill/>
                      <a:ln w="38100">
                        <a:noFill/>
                        <a:miter/>
                      </a:ln>
                    </p:spPr>
                  </p:pic>
                </p:oleObj>
              </mc:Fallback>
            </mc:AlternateContent>
          </a:graphicData>
        </a:graphic>
      </p:graphicFrame>
      <p:sp>
        <p:nvSpPr>
          <p:cNvPr id="5" name="Rectangle 129"/>
          <p:cNvSpPr>
            <a:spLocks noChangeArrowheads="1"/>
          </p:cNvSpPr>
          <p:nvPr/>
        </p:nvSpPr>
        <p:spPr bwMode="auto">
          <a:xfrm>
            <a:off x="900113" y="166688"/>
            <a:ext cx="2338388" cy="581025"/>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最低位优先法</a:t>
            </a:r>
          </a:p>
        </p:txBody>
      </p:sp>
      <p:sp>
        <p:nvSpPr>
          <p:cNvPr id="7" name="矩形 6"/>
          <p:cNvSpPr/>
          <p:nvPr/>
        </p:nvSpPr>
        <p:spPr bwMode="auto">
          <a:xfrm>
            <a:off x="0" y="5876925"/>
            <a:ext cx="9144000" cy="215900"/>
          </a:xfrm>
          <a:prstGeom prst="rect">
            <a:avLst/>
          </a:prstGeom>
          <a:solidFill>
            <a:schemeClr val="accent1">
              <a:lumMod val="60000"/>
              <a:lumOff val="4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Tree>
  </p:cSld>
  <p:clrMapOvr>
    <a:masterClrMapping/>
  </p:clrMapOvr>
  <p:transition spd="slow"/>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0438" name="Rectangle 6"/>
          <p:cNvSpPr>
            <a:spLocks noChangeArrowheads="1"/>
          </p:cNvSpPr>
          <p:nvPr/>
        </p:nvSpPr>
        <p:spPr bwMode="auto">
          <a:xfrm>
            <a:off x="250825" y="908050"/>
            <a:ext cx="8280400" cy="555625"/>
          </a:xfrm>
          <a:prstGeom prst="rect">
            <a:avLst/>
          </a:prstGeom>
          <a:noFill/>
          <a:ln w="9525">
            <a:noFill/>
            <a:miter lim="800000"/>
          </a:ln>
          <a:effectLst/>
        </p:spPr>
        <p:txBody>
          <a:bodyPr/>
          <a:lstStyle/>
          <a:p>
            <a:pPr marL="742950" marR="0" lvl="1" indent="-285750" algn="l" defTabSz="914400" rtl="0" eaLnBrk="0" fontAlgn="base" latinLnBrk="0" hangingPunct="0">
              <a:lnSpc>
                <a:spcPct val="100000"/>
              </a:lnSpc>
              <a:spcBef>
                <a:spcPct val="20000"/>
              </a:spcBef>
              <a:spcAft>
                <a:spcPct val="0"/>
              </a:spcAft>
              <a:buClrTx/>
              <a:buSzTx/>
              <a:buFontTx/>
              <a:buChar char="–"/>
              <a:defRPr/>
            </a:pPr>
            <a:r>
              <a:rPr kumimoji="1" lang="zh-CN" altLang="en-US" sz="2800" b="0" i="0" u="none" strike="noStrike" kern="1200" cap="none" spc="0" normalizeH="0" baseline="0" noProof="0" dirty="0">
                <a:ln>
                  <a:noFill/>
                </a:ln>
                <a:solidFill>
                  <a:schemeClr val="accent2"/>
                </a:solidFill>
                <a:effectLst/>
                <a:uLnTx/>
                <a:uFillTx/>
                <a:latin typeface="+mn-lt"/>
                <a:ea typeface="+mn-ea"/>
                <a:cs typeface="+mn-ea"/>
                <a:sym typeface="+mn-lt"/>
              </a:rPr>
              <a:t>先决条件：</a:t>
            </a:r>
          </a:p>
        </p:txBody>
      </p:sp>
      <p:sp>
        <p:nvSpPr>
          <p:cNvPr id="160771" name="Rectangle 7"/>
          <p:cNvSpPr>
            <a:spLocks noChangeArrowheads="1"/>
          </p:cNvSpPr>
          <p:nvPr/>
        </p:nvSpPr>
        <p:spPr bwMode="auto">
          <a:xfrm>
            <a:off x="900113" y="158750"/>
            <a:ext cx="2338388" cy="581025"/>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链式基数排序</a:t>
            </a:r>
          </a:p>
        </p:txBody>
      </p:sp>
      <p:sp>
        <p:nvSpPr>
          <p:cNvPr id="1170440" name="Rectangle 8"/>
          <p:cNvSpPr>
            <a:spLocks noChangeArrowheads="1"/>
          </p:cNvSpPr>
          <p:nvPr/>
        </p:nvSpPr>
        <p:spPr bwMode="auto">
          <a:xfrm>
            <a:off x="481013" y="3357563"/>
            <a:ext cx="8280400" cy="3268663"/>
          </a:xfrm>
          <a:prstGeom prst="rect">
            <a:avLst/>
          </a:prstGeom>
          <a:solidFill>
            <a:srgbClr val="E2D9EB"/>
          </a:solidFill>
          <a:ln w="9525">
            <a:noFill/>
            <a:miter lim="800000"/>
          </a:ln>
          <a:effectLst/>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利用“</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分配</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”和“</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收集</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”对关键字进行排序</a:t>
            </a:r>
          </a:p>
          <a:p>
            <a:pPr marL="742950" marR="0" lvl="1" indent="-285750" algn="l" defTabSz="914400" rtl="0" eaLnBrk="0" fontAlgn="base" latinLnBrk="0" hangingPunct="0">
              <a:lnSpc>
                <a:spcPct val="100000"/>
              </a:lnSpc>
              <a:spcBef>
                <a:spcPct val="20000"/>
              </a:spcBef>
              <a:spcAft>
                <a:spcPct val="0"/>
              </a:spcAft>
              <a:buClrTx/>
              <a:buSzTx/>
              <a:buFontTx/>
              <a:buChar char="–"/>
              <a:defRPr/>
            </a:pPr>
            <a:r>
              <a:rPr kumimoji="1"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过程</a:t>
            </a:r>
          </a:p>
          <a:p>
            <a:pPr marL="1143000" marR="0" lvl="2" indent="-228600" algn="l" defTabSz="914400" rtl="0" eaLnBrk="0" fontAlgn="base" latinLnBrk="0" hangingPunct="0">
              <a:lnSpc>
                <a:spcPct val="100000"/>
              </a:lnSpc>
              <a:spcBef>
                <a:spcPct val="20000"/>
              </a:spcBef>
              <a:spcAft>
                <a:spcPct val="0"/>
              </a:spcAft>
              <a:buClrTx/>
              <a:buSzTx/>
              <a:buFontTx/>
              <a:buChar char="•"/>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首先对</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低位关键字</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排序，各个记录按照此位关键字的值‘</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分配</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’到相应的序列里。</a:t>
            </a:r>
          </a:p>
          <a:p>
            <a:pPr marL="1143000" marR="0" lvl="2" indent="-228600" algn="l" defTabSz="914400" rtl="0" eaLnBrk="0" fontAlgn="base" latinLnBrk="0" hangingPunct="0">
              <a:lnSpc>
                <a:spcPct val="100000"/>
              </a:lnSpc>
              <a:spcBef>
                <a:spcPct val="20000"/>
              </a:spcBef>
              <a:spcAft>
                <a:spcPct val="0"/>
              </a:spcAft>
              <a:buClrTx/>
              <a:buSzTx/>
              <a:buFontTx/>
              <a:buChar char="•"/>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按照序列对应的值的大小，从各个序列中将记录‘</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收集</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’，收集后的序列按照此位关键字有序。</a:t>
            </a:r>
          </a:p>
          <a:p>
            <a:pPr marL="1143000" marR="0" lvl="2" indent="-228600" algn="l" defTabSz="914400" rtl="0" eaLnBrk="0" fontAlgn="base" latinLnBrk="0" hangingPunct="0">
              <a:lnSpc>
                <a:spcPct val="100000"/>
              </a:lnSpc>
              <a:spcBef>
                <a:spcPct val="20000"/>
              </a:spcBef>
              <a:spcAft>
                <a:spcPct val="0"/>
              </a:spcAft>
              <a:buClrTx/>
              <a:buSzTx/>
              <a:buFontTx/>
              <a:buChar char="•"/>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在此基础上，对前一位关键字进行排序。</a:t>
            </a:r>
          </a:p>
        </p:txBody>
      </p:sp>
      <p:sp>
        <p:nvSpPr>
          <p:cNvPr id="6" name="Rectangle 6"/>
          <p:cNvSpPr>
            <a:spLocks noChangeArrowheads="1"/>
          </p:cNvSpPr>
          <p:nvPr/>
        </p:nvSpPr>
        <p:spPr bwMode="auto">
          <a:xfrm>
            <a:off x="1649413" y="1582738"/>
            <a:ext cx="7112000" cy="563563"/>
          </a:xfrm>
          <a:prstGeom prst="rect">
            <a:avLst/>
          </a:prstGeom>
          <a:noFill/>
          <a:ln w="9525">
            <a:noFill/>
            <a:miter lim="800000"/>
          </a:ln>
          <a:effectLst/>
        </p:spPr>
        <p:txBody>
          <a:bodyPr/>
          <a:lstStyle/>
          <a:p>
            <a:pPr marL="0" marR="0" lvl="2" indent="0" algn="l" defTabSz="914400" rtl="0" eaLnBrk="0" fontAlgn="base" latinLnBrk="0" hangingPunct="0">
              <a:lnSpc>
                <a:spcPct val="100000"/>
              </a:lnSpc>
              <a:spcBef>
                <a:spcPct val="20000"/>
              </a:spcBef>
              <a:spcAft>
                <a:spcPct val="0"/>
              </a:spcAft>
              <a:buClrTx/>
              <a:buSzTx/>
              <a:buFontTx/>
              <a:buNone/>
              <a:defRPr/>
            </a:pPr>
            <a:r>
              <a:rPr kumimoji="1" lang="zh-CN" altLang="en-US" sz="2600" b="0" i="0" u="none" strike="noStrike" kern="1200" cap="none" spc="0" normalizeH="0" baseline="0" noProof="0" dirty="0">
                <a:ln>
                  <a:noFill/>
                </a:ln>
                <a:solidFill>
                  <a:schemeClr val="tx1"/>
                </a:solidFill>
                <a:effectLst/>
                <a:uLnTx/>
                <a:uFillTx/>
                <a:latin typeface="+mn-lt"/>
                <a:ea typeface="+mn-ea"/>
                <a:cs typeface="+mn-ea"/>
                <a:sym typeface="+mn-lt"/>
              </a:rPr>
              <a:t>知道各级关键字的</a:t>
            </a:r>
            <a:r>
              <a:rPr kumimoji="1" lang="zh-CN" altLang="en-US" sz="2600" b="0" i="0" u="none" strike="noStrike" kern="1200" cap="none" spc="0" normalizeH="0" baseline="0" noProof="0" dirty="0">
                <a:ln>
                  <a:noFill/>
                </a:ln>
                <a:solidFill>
                  <a:srgbClr val="FF3300"/>
                </a:solidFill>
                <a:effectLst/>
                <a:uLnTx/>
                <a:uFillTx/>
                <a:latin typeface="+mn-lt"/>
                <a:ea typeface="+mn-ea"/>
                <a:cs typeface="+mn-ea"/>
                <a:sym typeface="+mn-lt"/>
              </a:rPr>
              <a:t>主次关系</a:t>
            </a:r>
          </a:p>
        </p:txBody>
      </p:sp>
      <p:grpSp>
        <p:nvGrpSpPr>
          <p:cNvPr id="178182" name="Group 15"/>
          <p:cNvGrpSpPr/>
          <p:nvPr/>
        </p:nvGrpSpPr>
        <p:grpSpPr>
          <a:xfrm>
            <a:off x="804863" y="2349500"/>
            <a:ext cx="639762" cy="639763"/>
            <a:chOff x="6253939" y="2516220"/>
            <a:chExt cx="831273" cy="831273"/>
          </a:xfrm>
        </p:grpSpPr>
        <p:sp>
          <p:nvSpPr>
            <p:cNvPr id="8" name="Oval 16"/>
            <p:cNvSpPr/>
            <p:nvPr/>
          </p:nvSpPr>
          <p:spPr>
            <a:xfrm>
              <a:off x="6253939" y="2516220"/>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GB" sz="2800" b="1" i="0" u="none" strike="noStrike" kern="1200" cap="none" spc="0" normalizeH="0" baseline="0" noProof="0">
                <a:ln>
                  <a:noFill/>
                </a:ln>
                <a:solidFill>
                  <a:schemeClr val="lt1"/>
                </a:solidFill>
                <a:effectLst/>
                <a:uLnTx/>
                <a:uFillTx/>
                <a:latin typeface="+mn-lt"/>
                <a:ea typeface="+mn-ea"/>
                <a:cs typeface="+mn-cs"/>
              </a:endParaRPr>
            </a:p>
          </p:txBody>
        </p:sp>
        <p:sp>
          <p:nvSpPr>
            <p:cNvPr id="9" name="AutoShape 117"/>
            <p:cNvSpPr/>
            <p:nvPr/>
          </p:nvSpPr>
          <p:spPr bwMode="auto">
            <a:xfrm>
              <a:off x="6437520" y="2771996"/>
              <a:ext cx="464111" cy="348599"/>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solidFill>
            <a:ln>
              <a:noFill/>
            </a:ln>
            <a:effectLst/>
          </p:spPr>
          <p:txBody>
            <a:bodyPr lIns="19050" tIns="19050" rIns="19050" bIns="19050" anchor="ctr"/>
            <a:lstStyle/>
            <a:p>
              <a:pPr marL="0" marR="0" lvl="0" indent="0" algn="ctr" defTabSz="228600" rtl="0" eaLnBrk="0" fontAlgn="base" latinLnBrk="0" hangingPunct="0">
                <a:lnSpc>
                  <a:spcPct val="100000"/>
                </a:lnSpc>
                <a:spcBef>
                  <a:spcPct val="0"/>
                </a:spcBef>
                <a:spcAft>
                  <a:spcPct val="0"/>
                </a:spcAft>
                <a:buClrTx/>
                <a:buSzTx/>
                <a:buFontTx/>
                <a:buNone/>
                <a:defRPr/>
              </a:pPr>
              <a:endParaRPr kumimoji="0" lang="en-US" sz="1500" b="1"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楷体_GB2312" pitchFamily="49" charset="-122"/>
                <a:cs typeface="+mn-cs"/>
                <a:sym typeface="Gill Sans" charset="0"/>
              </a:endParaRPr>
            </a:p>
          </p:txBody>
        </p:sp>
      </p:grpSp>
      <p:grpSp>
        <p:nvGrpSpPr>
          <p:cNvPr id="178183" name="Group 24"/>
          <p:cNvGrpSpPr/>
          <p:nvPr/>
        </p:nvGrpSpPr>
        <p:grpSpPr>
          <a:xfrm>
            <a:off x="793750" y="1544638"/>
            <a:ext cx="639763" cy="639762"/>
            <a:chOff x="6678551" y="1578185"/>
            <a:chExt cx="831273" cy="831273"/>
          </a:xfrm>
        </p:grpSpPr>
        <p:sp>
          <p:nvSpPr>
            <p:cNvPr id="11" name="Oval 25"/>
            <p:cNvSpPr/>
            <p:nvPr/>
          </p:nvSpPr>
          <p:spPr>
            <a:xfrm>
              <a:off x="6678551" y="157818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GB" sz="2800" b="1" i="0" u="none" strike="noStrike" kern="1200" cap="none" spc="0" normalizeH="0" baseline="0" noProof="0">
                <a:ln>
                  <a:noFill/>
                </a:ln>
                <a:solidFill>
                  <a:schemeClr val="lt1"/>
                </a:solidFill>
                <a:effectLst/>
                <a:uLnTx/>
                <a:uFillTx/>
                <a:latin typeface="+mn-lt"/>
                <a:ea typeface="+mn-ea"/>
                <a:cs typeface="+mn-cs"/>
              </a:endParaRPr>
            </a:p>
          </p:txBody>
        </p:sp>
        <p:sp>
          <p:nvSpPr>
            <p:cNvPr id="12" name="AutoShape 139"/>
            <p:cNvSpPr/>
            <p:nvPr/>
          </p:nvSpPr>
          <p:spPr bwMode="auto">
            <a:xfrm>
              <a:off x="6862133" y="1767955"/>
              <a:ext cx="464109" cy="451734"/>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bg1"/>
            </a:solidFill>
            <a:ln>
              <a:noFill/>
            </a:ln>
            <a:effectLst/>
          </p:spPr>
          <p:txBody>
            <a:bodyPr lIns="19050" tIns="19050" rIns="19050" bIns="19050" anchor="ctr"/>
            <a:lstStyle/>
            <a:p>
              <a:pPr marL="0" marR="0" lvl="0" indent="0" algn="ctr" defTabSz="228600" rtl="0" eaLnBrk="0" fontAlgn="base" latinLnBrk="0" hangingPunct="0">
                <a:lnSpc>
                  <a:spcPct val="100000"/>
                </a:lnSpc>
                <a:spcBef>
                  <a:spcPct val="0"/>
                </a:spcBef>
                <a:spcAft>
                  <a:spcPct val="0"/>
                </a:spcAft>
                <a:buClrTx/>
                <a:buSzTx/>
                <a:buFontTx/>
                <a:buNone/>
                <a:defRPr/>
              </a:pPr>
              <a:endParaRPr kumimoji="0" lang="en-US" sz="1500" b="1"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楷体_GB2312" pitchFamily="49" charset="-122"/>
                <a:cs typeface="+mn-cs"/>
                <a:sym typeface="Gill Sans" charset="0"/>
              </a:endParaRPr>
            </a:p>
          </p:txBody>
        </p:sp>
      </p:grpSp>
      <p:sp>
        <p:nvSpPr>
          <p:cNvPr id="13" name="Rectangle 6"/>
          <p:cNvSpPr>
            <a:spLocks noChangeArrowheads="1"/>
          </p:cNvSpPr>
          <p:nvPr/>
        </p:nvSpPr>
        <p:spPr bwMode="auto">
          <a:xfrm>
            <a:off x="1649413" y="2409825"/>
            <a:ext cx="7112000" cy="574675"/>
          </a:xfrm>
          <a:prstGeom prst="rect">
            <a:avLst/>
          </a:prstGeom>
          <a:noFill/>
          <a:ln w="9525">
            <a:noFill/>
            <a:miter lim="800000"/>
          </a:ln>
          <a:effectLst/>
        </p:spPr>
        <p:txBody>
          <a:bodyPr/>
          <a:lstStyle/>
          <a:p>
            <a:pPr marL="0" marR="0" lvl="2" indent="0" algn="l" defTabSz="914400" rtl="0" eaLnBrk="0" fontAlgn="base" latinLnBrk="0" hangingPunct="0">
              <a:lnSpc>
                <a:spcPct val="100000"/>
              </a:lnSpc>
              <a:spcBef>
                <a:spcPct val="20000"/>
              </a:spcBef>
              <a:spcAft>
                <a:spcPct val="0"/>
              </a:spcAft>
              <a:buClrTx/>
              <a:buSzTx/>
              <a:buFontTx/>
              <a:buNone/>
              <a:defRPr/>
            </a:pPr>
            <a:r>
              <a:rPr kumimoji="1" lang="zh-CN" altLang="en-US" sz="2600" b="0" i="0" u="none" strike="noStrike" kern="1200" cap="none" spc="0" normalizeH="0" baseline="0" noProof="0" dirty="0">
                <a:ln>
                  <a:noFill/>
                </a:ln>
                <a:solidFill>
                  <a:schemeClr val="tx1"/>
                </a:solidFill>
                <a:effectLst/>
                <a:uLnTx/>
                <a:uFillTx/>
                <a:latin typeface="+mn-lt"/>
                <a:ea typeface="+mn-ea"/>
                <a:cs typeface="+mn-ea"/>
                <a:sym typeface="+mn-lt"/>
              </a:rPr>
              <a:t>知道各级关键字的</a:t>
            </a:r>
            <a:r>
              <a:rPr kumimoji="1" lang="zh-CN" altLang="en-US" sz="2600" b="0" i="0" u="none" strike="noStrike" kern="1200" cap="none" spc="0" normalizeH="0" baseline="0" noProof="0" dirty="0">
                <a:ln>
                  <a:noFill/>
                </a:ln>
                <a:solidFill>
                  <a:srgbClr val="FF3300"/>
                </a:solidFill>
                <a:effectLst/>
                <a:uLnTx/>
                <a:uFillTx/>
                <a:latin typeface="+mn-lt"/>
                <a:ea typeface="+mn-ea"/>
                <a:cs typeface="+mn-ea"/>
                <a:sym typeface="+mn-lt"/>
              </a:rPr>
              <a:t>取值范围</a:t>
            </a:r>
            <a:endParaRPr kumimoji="1" lang="en-US" altLang="zh-CN" sz="2600" b="0" i="0" u="none" strike="noStrike" kern="1200" cap="none" spc="0" normalizeH="0" baseline="0" noProof="0" dirty="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1170440"/>
                                        </p:tgtEl>
                                        <p:attrNameLst>
                                          <p:attrName>style.visibility</p:attrName>
                                        </p:attrNameLst>
                                      </p:cBhvr>
                                      <p:to>
                                        <p:strVal val="visible"/>
                                      </p:to>
                                    </p:set>
                                    <p:anim calcmode="lin" valueType="num">
                                      <p:cBhvr>
                                        <p:cTn id="7" dur="500" fill="hold"/>
                                        <p:tgtEl>
                                          <p:spTgt spid="1170440"/>
                                        </p:tgtEl>
                                        <p:attrNameLst>
                                          <p:attrName>ppt_w</p:attrName>
                                        </p:attrNameLst>
                                      </p:cBhvr>
                                      <p:tavLst>
                                        <p:tav tm="0">
                                          <p:val>
                                            <p:strVal val="#ppt_w*0.05"/>
                                          </p:val>
                                        </p:tav>
                                        <p:tav tm="100000">
                                          <p:val>
                                            <p:strVal val="#ppt_w"/>
                                          </p:val>
                                        </p:tav>
                                      </p:tavLst>
                                    </p:anim>
                                    <p:anim calcmode="lin" valueType="num">
                                      <p:cBhvr>
                                        <p:cTn id="8" dur="500" fill="hold"/>
                                        <p:tgtEl>
                                          <p:spTgt spid="1170440"/>
                                        </p:tgtEl>
                                        <p:attrNameLst>
                                          <p:attrName>ppt_h</p:attrName>
                                        </p:attrNameLst>
                                      </p:cBhvr>
                                      <p:tavLst>
                                        <p:tav tm="0">
                                          <p:val>
                                            <p:strVal val="#ppt_h"/>
                                          </p:val>
                                        </p:tav>
                                        <p:tav tm="100000">
                                          <p:val>
                                            <p:strVal val="#ppt_h"/>
                                          </p:val>
                                        </p:tav>
                                      </p:tavLst>
                                    </p:anim>
                                    <p:anim calcmode="lin" valueType="num">
                                      <p:cBhvr>
                                        <p:cTn id="9" dur="500" fill="hold"/>
                                        <p:tgtEl>
                                          <p:spTgt spid="1170440"/>
                                        </p:tgtEl>
                                        <p:attrNameLst>
                                          <p:attrName>ppt_x</p:attrName>
                                        </p:attrNameLst>
                                      </p:cBhvr>
                                      <p:tavLst>
                                        <p:tav tm="0">
                                          <p:val>
                                            <p:strVal val="#ppt_x-.2"/>
                                          </p:val>
                                        </p:tav>
                                        <p:tav tm="100000">
                                          <p:val>
                                            <p:strVal val="#ppt_x"/>
                                          </p:val>
                                        </p:tav>
                                      </p:tavLst>
                                    </p:anim>
                                    <p:anim calcmode="lin" valueType="num">
                                      <p:cBhvr>
                                        <p:cTn id="10" dur="500" fill="hold"/>
                                        <p:tgtEl>
                                          <p:spTgt spid="1170440"/>
                                        </p:tgtEl>
                                        <p:attrNameLst>
                                          <p:attrName>ppt_y</p:attrName>
                                        </p:attrNameLst>
                                      </p:cBhvr>
                                      <p:tavLst>
                                        <p:tav tm="0">
                                          <p:val>
                                            <p:strVal val="#ppt_y"/>
                                          </p:val>
                                        </p:tav>
                                        <p:tav tm="100000">
                                          <p:val>
                                            <p:strVal val="#ppt_y"/>
                                          </p:val>
                                        </p:tav>
                                      </p:tavLst>
                                    </p:anim>
                                    <p:animEffect transition="in" filter="fade">
                                      <p:cBhvr>
                                        <p:cTn id="11" dur="500"/>
                                        <p:tgtEl>
                                          <p:spTgt spid="11704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0440"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0" y="2349500"/>
            <a:ext cx="9144000" cy="2951163"/>
          </a:xfrm>
          <a:prstGeom prst="rect">
            <a:avLst/>
          </a:prstGeom>
          <a:solidFill>
            <a:srgbClr val="C4B3D7"/>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pSp>
        <p:nvGrpSpPr>
          <p:cNvPr id="2" name="Group 5"/>
          <p:cNvGrpSpPr/>
          <p:nvPr/>
        </p:nvGrpSpPr>
        <p:grpSpPr>
          <a:xfrm>
            <a:off x="261938" y="995363"/>
            <a:ext cx="8442325" cy="1052512"/>
            <a:chOff x="286" y="327"/>
            <a:chExt cx="5318" cy="663"/>
          </a:xfrm>
        </p:grpSpPr>
        <p:sp>
          <p:nvSpPr>
            <p:cNvPr id="161795" name="Text Box 6"/>
            <p:cNvSpPr txBox="1">
              <a:spLocks noChangeArrowheads="1"/>
            </p:cNvSpPr>
            <p:nvPr/>
          </p:nvSpPr>
          <p:spPr bwMode="auto">
            <a:xfrm>
              <a:off x="286" y="327"/>
              <a:ext cx="1081" cy="28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1" i="0" u="none" strike="noStrike" kern="1200" cap="none" spc="0" normalizeH="0" baseline="0" noProof="0" dirty="0">
                  <a:ln>
                    <a:noFill/>
                  </a:ln>
                  <a:solidFill>
                    <a:srgbClr val="FF3300"/>
                  </a:solidFill>
                  <a:effectLst/>
                  <a:uLnTx/>
                  <a:uFillTx/>
                  <a:latin typeface="+mn-lt"/>
                  <a:ea typeface="+mn-ea"/>
                  <a:cs typeface="+mn-ea"/>
                  <a:sym typeface="+mn-lt"/>
                </a:rPr>
                <a:t>初始状态：</a:t>
              </a:r>
            </a:p>
          </p:txBody>
        </p:sp>
        <p:grpSp>
          <p:nvGrpSpPr>
            <p:cNvPr id="179299" name="Group 7"/>
            <p:cNvGrpSpPr/>
            <p:nvPr/>
          </p:nvGrpSpPr>
          <p:grpSpPr>
            <a:xfrm>
              <a:off x="331" y="734"/>
              <a:ext cx="5273" cy="256"/>
              <a:chOff x="354" y="1045"/>
              <a:chExt cx="5273" cy="256"/>
            </a:xfrm>
          </p:grpSpPr>
          <p:grpSp>
            <p:nvGrpSpPr>
              <p:cNvPr id="179300" name="Group 8"/>
              <p:cNvGrpSpPr/>
              <p:nvPr/>
            </p:nvGrpSpPr>
            <p:grpSpPr>
              <a:xfrm>
                <a:off x="354" y="1045"/>
                <a:ext cx="542" cy="256"/>
                <a:chOff x="1133" y="1389"/>
                <a:chExt cx="542" cy="256"/>
              </a:xfrm>
            </p:grpSpPr>
            <p:sp>
              <p:nvSpPr>
                <p:cNvPr id="161798" name="Rectangle 9"/>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278</a:t>
                  </a:r>
                </a:p>
              </p:txBody>
            </p:sp>
            <p:sp>
              <p:nvSpPr>
                <p:cNvPr id="161799" name="Line 10"/>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301" name="Group 11"/>
              <p:cNvGrpSpPr/>
              <p:nvPr/>
            </p:nvGrpSpPr>
            <p:grpSpPr>
              <a:xfrm>
                <a:off x="880" y="1045"/>
                <a:ext cx="542" cy="256"/>
                <a:chOff x="1133" y="1389"/>
                <a:chExt cx="542" cy="256"/>
              </a:xfrm>
            </p:grpSpPr>
            <p:sp>
              <p:nvSpPr>
                <p:cNvPr id="161801" name="Rectangle 12"/>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109</a:t>
                  </a:r>
                </a:p>
              </p:txBody>
            </p:sp>
            <p:sp>
              <p:nvSpPr>
                <p:cNvPr id="161802" name="Line 13"/>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302" name="Group 14"/>
              <p:cNvGrpSpPr/>
              <p:nvPr/>
            </p:nvGrpSpPr>
            <p:grpSpPr>
              <a:xfrm>
                <a:off x="1406" y="1045"/>
                <a:ext cx="542" cy="256"/>
                <a:chOff x="1133" y="1389"/>
                <a:chExt cx="542" cy="256"/>
              </a:xfrm>
            </p:grpSpPr>
            <p:sp>
              <p:nvSpPr>
                <p:cNvPr id="161804" name="Rectangle 15"/>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063</a:t>
                  </a:r>
                </a:p>
              </p:txBody>
            </p:sp>
            <p:sp>
              <p:nvSpPr>
                <p:cNvPr id="161805" name="Line 16"/>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303" name="Group 17"/>
              <p:cNvGrpSpPr/>
              <p:nvPr/>
            </p:nvGrpSpPr>
            <p:grpSpPr>
              <a:xfrm>
                <a:off x="1931" y="1045"/>
                <a:ext cx="542" cy="256"/>
                <a:chOff x="1133" y="1389"/>
                <a:chExt cx="542" cy="256"/>
              </a:xfrm>
            </p:grpSpPr>
            <p:sp>
              <p:nvSpPr>
                <p:cNvPr id="161807" name="Rectangle 18"/>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930</a:t>
                  </a:r>
                </a:p>
              </p:txBody>
            </p:sp>
            <p:sp>
              <p:nvSpPr>
                <p:cNvPr id="161808" name="Line 19"/>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304" name="Group 20"/>
              <p:cNvGrpSpPr/>
              <p:nvPr/>
            </p:nvGrpSpPr>
            <p:grpSpPr>
              <a:xfrm>
                <a:off x="2457" y="1045"/>
                <a:ext cx="542" cy="256"/>
                <a:chOff x="1133" y="1389"/>
                <a:chExt cx="542" cy="256"/>
              </a:xfrm>
            </p:grpSpPr>
            <p:sp>
              <p:nvSpPr>
                <p:cNvPr id="161810" name="Rectangle 21"/>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589</a:t>
                  </a:r>
                </a:p>
              </p:txBody>
            </p:sp>
            <p:sp>
              <p:nvSpPr>
                <p:cNvPr id="161811" name="Line 22"/>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305" name="Group 23"/>
              <p:cNvGrpSpPr/>
              <p:nvPr/>
            </p:nvGrpSpPr>
            <p:grpSpPr>
              <a:xfrm>
                <a:off x="2983" y="1045"/>
                <a:ext cx="542" cy="256"/>
                <a:chOff x="1133" y="1389"/>
                <a:chExt cx="542" cy="256"/>
              </a:xfrm>
            </p:grpSpPr>
            <p:sp>
              <p:nvSpPr>
                <p:cNvPr id="161813" name="Rectangle 24"/>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184</a:t>
                  </a:r>
                </a:p>
              </p:txBody>
            </p:sp>
            <p:sp>
              <p:nvSpPr>
                <p:cNvPr id="161814" name="Line 25"/>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306" name="Group 26"/>
              <p:cNvGrpSpPr/>
              <p:nvPr/>
            </p:nvGrpSpPr>
            <p:grpSpPr>
              <a:xfrm>
                <a:off x="3508" y="1045"/>
                <a:ext cx="542" cy="256"/>
                <a:chOff x="1133" y="1389"/>
                <a:chExt cx="542" cy="256"/>
              </a:xfrm>
            </p:grpSpPr>
            <p:sp>
              <p:nvSpPr>
                <p:cNvPr id="161816" name="Rectangle 27"/>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505</a:t>
                  </a:r>
                </a:p>
              </p:txBody>
            </p:sp>
            <p:sp>
              <p:nvSpPr>
                <p:cNvPr id="161817" name="Line 28"/>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307" name="Group 29"/>
              <p:cNvGrpSpPr/>
              <p:nvPr/>
            </p:nvGrpSpPr>
            <p:grpSpPr>
              <a:xfrm>
                <a:off x="4034" y="1045"/>
                <a:ext cx="542" cy="256"/>
                <a:chOff x="1133" y="1389"/>
                <a:chExt cx="542" cy="256"/>
              </a:xfrm>
            </p:grpSpPr>
            <p:sp>
              <p:nvSpPr>
                <p:cNvPr id="161819" name="Rectangle 30"/>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269</a:t>
                  </a:r>
                </a:p>
              </p:txBody>
            </p:sp>
            <p:sp>
              <p:nvSpPr>
                <p:cNvPr id="161820" name="Line 31"/>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308" name="Group 32"/>
              <p:cNvGrpSpPr/>
              <p:nvPr/>
            </p:nvGrpSpPr>
            <p:grpSpPr>
              <a:xfrm>
                <a:off x="4560" y="1045"/>
                <a:ext cx="542" cy="256"/>
                <a:chOff x="1133" y="1389"/>
                <a:chExt cx="542" cy="256"/>
              </a:xfrm>
            </p:grpSpPr>
            <p:sp>
              <p:nvSpPr>
                <p:cNvPr id="161822" name="Rectangle 33"/>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008</a:t>
                  </a:r>
                </a:p>
              </p:txBody>
            </p:sp>
            <p:sp>
              <p:nvSpPr>
                <p:cNvPr id="161823" name="Line 34"/>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309" name="Group 35"/>
              <p:cNvGrpSpPr/>
              <p:nvPr/>
            </p:nvGrpSpPr>
            <p:grpSpPr>
              <a:xfrm>
                <a:off x="5085" y="1045"/>
                <a:ext cx="542" cy="256"/>
                <a:chOff x="1133" y="1389"/>
                <a:chExt cx="542" cy="256"/>
              </a:xfrm>
            </p:grpSpPr>
            <p:sp>
              <p:nvSpPr>
                <p:cNvPr id="161825" name="Rectangle 36"/>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083</a:t>
                  </a:r>
                </a:p>
              </p:txBody>
            </p:sp>
            <p:sp>
              <p:nvSpPr>
                <p:cNvPr id="161826" name="Line 37"/>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grpSp>
      <p:grpSp>
        <p:nvGrpSpPr>
          <p:cNvPr id="14" name="Group 38"/>
          <p:cNvGrpSpPr/>
          <p:nvPr/>
        </p:nvGrpSpPr>
        <p:grpSpPr>
          <a:xfrm>
            <a:off x="8177213" y="4184650"/>
            <a:ext cx="582612" cy="717550"/>
            <a:chOff x="5195" y="2337"/>
            <a:chExt cx="367" cy="452"/>
          </a:xfrm>
        </p:grpSpPr>
        <p:sp>
          <p:nvSpPr>
            <p:cNvPr id="161828" name="Text Box 39"/>
            <p:cNvSpPr txBox="1">
              <a:spLocks noChangeArrowheads="1"/>
            </p:cNvSpPr>
            <p:nvPr/>
          </p:nvSpPr>
          <p:spPr bwMode="auto">
            <a:xfrm>
              <a:off x="5195" y="2337"/>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109</a:t>
              </a:r>
            </a:p>
          </p:txBody>
        </p:sp>
        <p:sp>
          <p:nvSpPr>
            <p:cNvPr id="161829" name="Line 40"/>
            <p:cNvSpPr>
              <a:spLocks noChangeShapeType="1"/>
            </p:cNvSpPr>
            <p:nvPr/>
          </p:nvSpPr>
          <p:spPr bwMode="auto">
            <a:xfrm flipH="1" flipV="1">
              <a:off x="5368" y="2588"/>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5" name="Group 41"/>
          <p:cNvGrpSpPr/>
          <p:nvPr/>
        </p:nvGrpSpPr>
        <p:grpSpPr>
          <a:xfrm>
            <a:off x="8177213" y="3590925"/>
            <a:ext cx="582612" cy="587375"/>
            <a:chOff x="5195" y="1963"/>
            <a:chExt cx="367" cy="370"/>
          </a:xfrm>
        </p:grpSpPr>
        <p:sp>
          <p:nvSpPr>
            <p:cNvPr id="161831" name="Text Box 42"/>
            <p:cNvSpPr txBox="1">
              <a:spLocks noChangeArrowheads="1"/>
            </p:cNvSpPr>
            <p:nvPr/>
          </p:nvSpPr>
          <p:spPr bwMode="auto">
            <a:xfrm>
              <a:off x="5195" y="1963"/>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589</a:t>
              </a:r>
            </a:p>
          </p:txBody>
        </p:sp>
        <p:sp>
          <p:nvSpPr>
            <p:cNvPr id="161832" name="Line 43"/>
            <p:cNvSpPr>
              <a:spLocks noChangeShapeType="1"/>
            </p:cNvSpPr>
            <p:nvPr/>
          </p:nvSpPr>
          <p:spPr bwMode="auto">
            <a:xfrm flipV="1">
              <a:off x="5368" y="2222"/>
              <a:ext cx="0" cy="1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6" name="Group 44"/>
          <p:cNvGrpSpPr/>
          <p:nvPr/>
        </p:nvGrpSpPr>
        <p:grpSpPr>
          <a:xfrm>
            <a:off x="8177213" y="2697163"/>
            <a:ext cx="582612" cy="900112"/>
            <a:chOff x="5195" y="1400"/>
            <a:chExt cx="367" cy="567"/>
          </a:xfrm>
        </p:grpSpPr>
        <p:sp>
          <p:nvSpPr>
            <p:cNvPr id="161834" name="Text Box 45"/>
            <p:cNvSpPr txBox="1">
              <a:spLocks noChangeArrowheads="1"/>
            </p:cNvSpPr>
            <p:nvPr/>
          </p:nvSpPr>
          <p:spPr bwMode="auto">
            <a:xfrm>
              <a:off x="5195" y="1589"/>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269</a:t>
              </a:r>
            </a:p>
          </p:txBody>
        </p:sp>
        <p:sp>
          <p:nvSpPr>
            <p:cNvPr id="161835" name="Line 46"/>
            <p:cNvSpPr>
              <a:spLocks noChangeShapeType="1"/>
            </p:cNvSpPr>
            <p:nvPr/>
          </p:nvSpPr>
          <p:spPr bwMode="auto">
            <a:xfrm>
              <a:off x="5390" y="1400"/>
              <a:ext cx="0" cy="189"/>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1836" name="Line 47"/>
            <p:cNvSpPr>
              <a:spLocks noChangeShapeType="1"/>
            </p:cNvSpPr>
            <p:nvPr/>
          </p:nvSpPr>
          <p:spPr bwMode="auto">
            <a:xfrm flipV="1">
              <a:off x="5379" y="1844"/>
              <a:ext cx="0" cy="123"/>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 name="Group 48"/>
          <p:cNvGrpSpPr/>
          <p:nvPr/>
        </p:nvGrpSpPr>
        <p:grpSpPr>
          <a:xfrm>
            <a:off x="7366000" y="4184650"/>
            <a:ext cx="582613" cy="676275"/>
            <a:chOff x="4684" y="2337"/>
            <a:chExt cx="367" cy="426"/>
          </a:xfrm>
        </p:grpSpPr>
        <p:sp>
          <p:nvSpPr>
            <p:cNvPr id="161838" name="Text Box 49"/>
            <p:cNvSpPr txBox="1">
              <a:spLocks noChangeArrowheads="1"/>
            </p:cNvSpPr>
            <p:nvPr/>
          </p:nvSpPr>
          <p:spPr bwMode="auto">
            <a:xfrm>
              <a:off x="4684" y="2337"/>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278</a:t>
              </a:r>
            </a:p>
          </p:txBody>
        </p:sp>
        <p:sp>
          <p:nvSpPr>
            <p:cNvPr id="161839" name="Line 50"/>
            <p:cNvSpPr>
              <a:spLocks noChangeShapeType="1"/>
            </p:cNvSpPr>
            <p:nvPr/>
          </p:nvSpPr>
          <p:spPr bwMode="auto">
            <a:xfrm flipH="1" flipV="1">
              <a:off x="4853" y="2562"/>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 name="Group 51"/>
          <p:cNvGrpSpPr/>
          <p:nvPr/>
        </p:nvGrpSpPr>
        <p:grpSpPr>
          <a:xfrm>
            <a:off x="3122613" y="4184650"/>
            <a:ext cx="582612" cy="693738"/>
            <a:chOff x="2011" y="2337"/>
            <a:chExt cx="367" cy="437"/>
          </a:xfrm>
        </p:grpSpPr>
        <p:sp>
          <p:nvSpPr>
            <p:cNvPr id="161841" name="Text Box 52"/>
            <p:cNvSpPr txBox="1">
              <a:spLocks noChangeArrowheads="1"/>
            </p:cNvSpPr>
            <p:nvPr/>
          </p:nvSpPr>
          <p:spPr bwMode="auto">
            <a:xfrm>
              <a:off x="2011" y="2337"/>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063</a:t>
              </a:r>
            </a:p>
          </p:txBody>
        </p:sp>
        <p:sp>
          <p:nvSpPr>
            <p:cNvPr id="161842" name="Line 53"/>
            <p:cNvSpPr>
              <a:spLocks noChangeShapeType="1"/>
            </p:cNvSpPr>
            <p:nvPr/>
          </p:nvSpPr>
          <p:spPr bwMode="auto">
            <a:xfrm flipH="1" flipV="1">
              <a:off x="2197" y="2573"/>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9" name="Group 54"/>
          <p:cNvGrpSpPr/>
          <p:nvPr/>
        </p:nvGrpSpPr>
        <p:grpSpPr>
          <a:xfrm>
            <a:off x="690563" y="2732088"/>
            <a:ext cx="582612" cy="2147887"/>
            <a:chOff x="479" y="1422"/>
            <a:chExt cx="367" cy="1353"/>
          </a:xfrm>
        </p:grpSpPr>
        <p:grpSp>
          <p:nvGrpSpPr>
            <p:cNvPr id="179283" name="Group 55"/>
            <p:cNvGrpSpPr/>
            <p:nvPr/>
          </p:nvGrpSpPr>
          <p:grpSpPr>
            <a:xfrm>
              <a:off x="479" y="2337"/>
              <a:ext cx="367" cy="438"/>
              <a:chOff x="479" y="2337"/>
              <a:chExt cx="367" cy="438"/>
            </a:xfrm>
          </p:grpSpPr>
          <p:sp>
            <p:nvSpPr>
              <p:cNvPr id="161845" name="Text Box 56"/>
              <p:cNvSpPr txBox="1">
                <a:spLocks noChangeArrowheads="1"/>
              </p:cNvSpPr>
              <p:nvPr/>
            </p:nvSpPr>
            <p:spPr bwMode="auto">
              <a:xfrm>
                <a:off x="479" y="2337"/>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930</a:t>
                </a:r>
              </a:p>
            </p:txBody>
          </p:sp>
          <p:sp>
            <p:nvSpPr>
              <p:cNvPr id="161846" name="Line 57"/>
              <p:cNvSpPr>
                <a:spLocks noChangeShapeType="1"/>
              </p:cNvSpPr>
              <p:nvPr/>
            </p:nvSpPr>
            <p:spPr bwMode="auto">
              <a:xfrm flipH="1" flipV="1">
                <a:off x="630" y="2574"/>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61847" name="Line 58"/>
            <p:cNvSpPr>
              <a:spLocks noChangeShapeType="1"/>
            </p:cNvSpPr>
            <p:nvPr/>
          </p:nvSpPr>
          <p:spPr bwMode="auto">
            <a:xfrm>
              <a:off x="645" y="1422"/>
              <a:ext cx="0" cy="9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1" name="Group 59"/>
          <p:cNvGrpSpPr/>
          <p:nvPr/>
        </p:nvGrpSpPr>
        <p:grpSpPr>
          <a:xfrm>
            <a:off x="3130550" y="2732088"/>
            <a:ext cx="582613" cy="1422400"/>
            <a:chOff x="2016" y="1422"/>
            <a:chExt cx="367" cy="896"/>
          </a:xfrm>
        </p:grpSpPr>
        <p:sp>
          <p:nvSpPr>
            <p:cNvPr id="161849" name="Text Box 60"/>
            <p:cNvSpPr txBox="1">
              <a:spLocks noChangeArrowheads="1"/>
            </p:cNvSpPr>
            <p:nvPr/>
          </p:nvSpPr>
          <p:spPr bwMode="auto">
            <a:xfrm>
              <a:off x="2016" y="1963"/>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083</a:t>
              </a:r>
            </a:p>
          </p:txBody>
        </p:sp>
        <p:sp>
          <p:nvSpPr>
            <p:cNvPr id="161850" name="Line 61"/>
            <p:cNvSpPr>
              <a:spLocks noChangeShapeType="1"/>
            </p:cNvSpPr>
            <p:nvPr/>
          </p:nvSpPr>
          <p:spPr bwMode="auto">
            <a:xfrm flipV="1">
              <a:off x="2197" y="2207"/>
              <a:ext cx="0" cy="1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1851" name="Line 62"/>
            <p:cNvSpPr>
              <a:spLocks noChangeShapeType="1"/>
            </p:cNvSpPr>
            <p:nvPr/>
          </p:nvSpPr>
          <p:spPr bwMode="auto">
            <a:xfrm>
              <a:off x="2212" y="1422"/>
              <a:ext cx="0" cy="545"/>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2" name="Group 63"/>
          <p:cNvGrpSpPr/>
          <p:nvPr/>
        </p:nvGrpSpPr>
        <p:grpSpPr>
          <a:xfrm>
            <a:off x="3963988" y="2732088"/>
            <a:ext cx="582612" cy="2163762"/>
            <a:chOff x="2541" y="1422"/>
            <a:chExt cx="367" cy="1363"/>
          </a:xfrm>
        </p:grpSpPr>
        <p:grpSp>
          <p:nvGrpSpPr>
            <p:cNvPr id="179276" name="Group 64"/>
            <p:cNvGrpSpPr/>
            <p:nvPr/>
          </p:nvGrpSpPr>
          <p:grpSpPr>
            <a:xfrm>
              <a:off x="2541" y="2337"/>
              <a:ext cx="367" cy="448"/>
              <a:chOff x="2541" y="2337"/>
              <a:chExt cx="367" cy="448"/>
            </a:xfrm>
          </p:grpSpPr>
          <p:sp>
            <p:nvSpPr>
              <p:cNvPr id="161854" name="Text Box 65"/>
              <p:cNvSpPr txBox="1">
                <a:spLocks noChangeArrowheads="1"/>
              </p:cNvSpPr>
              <p:nvPr/>
            </p:nvSpPr>
            <p:spPr bwMode="auto">
              <a:xfrm>
                <a:off x="2541" y="2337"/>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184</a:t>
                </a:r>
              </a:p>
            </p:txBody>
          </p:sp>
          <p:sp>
            <p:nvSpPr>
              <p:cNvPr id="161855" name="Line 66"/>
              <p:cNvSpPr>
                <a:spLocks noChangeShapeType="1"/>
              </p:cNvSpPr>
              <p:nvPr/>
            </p:nvSpPr>
            <p:spPr bwMode="auto">
              <a:xfrm flipH="1" flipV="1">
                <a:off x="2730" y="2584"/>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61856" name="Line 67"/>
            <p:cNvSpPr>
              <a:spLocks noChangeShapeType="1"/>
            </p:cNvSpPr>
            <p:nvPr/>
          </p:nvSpPr>
          <p:spPr bwMode="auto">
            <a:xfrm>
              <a:off x="2757" y="1422"/>
              <a:ext cx="0" cy="9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4" name="Group 68"/>
          <p:cNvGrpSpPr/>
          <p:nvPr/>
        </p:nvGrpSpPr>
        <p:grpSpPr>
          <a:xfrm>
            <a:off x="4857750" y="2714625"/>
            <a:ext cx="582613" cy="2146300"/>
            <a:chOff x="3104" y="1411"/>
            <a:chExt cx="367" cy="1352"/>
          </a:xfrm>
        </p:grpSpPr>
        <p:sp>
          <p:nvSpPr>
            <p:cNvPr id="161858" name="Text Box 69"/>
            <p:cNvSpPr txBox="1">
              <a:spLocks noChangeArrowheads="1"/>
            </p:cNvSpPr>
            <p:nvPr/>
          </p:nvSpPr>
          <p:spPr bwMode="auto">
            <a:xfrm>
              <a:off x="3104" y="2337"/>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505</a:t>
              </a:r>
            </a:p>
          </p:txBody>
        </p:sp>
        <p:sp>
          <p:nvSpPr>
            <p:cNvPr id="161859" name="Line 70"/>
            <p:cNvSpPr>
              <a:spLocks noChangeShapeType="1"/>
            </p:cNvSpPr>
            <p:nvPr/>
          </p:nvSpPr>
          <p:spPr bwMode="auto">
            <a:xfrm flipH="1" flipV="1">
              <a:off x="3264" y="2562"/>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1860" name="Line 71"/>
            <p:cNvSpPr>
              <a:spLocks noChangeShapeType="1"/>
            </p:cNvSpPr>
            <p:nvPr/>
          </p:nvSpPr>
          <p:spPr bwMode="auto">
            <a:xfrm>
              <a:off x="3279" y="1411"/>
              <a:ext cx="0" cy="922"/>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5" name="Group 72"/>
          <p:cNvGrpSpPr/>
          <p:nvPr/>
        </p:nvGrpSpPr>
        <p:grpSpPr>
          <a:xfrm>
            <a:off x="7339013" y="2732088"/>
            <a:ext cx="582612" cy="1404937"/>
            <a:chOff x="4667" y="1422"/>
            <a:chExt cx="367" cy="885"/>
          </a:xfrm>
        </p:grpSpPr>
        <p:sp>
          <p:nvSpPr>
            <p:cNvPr id="161862" name="Text Box 73"/>
            <p:cNvSpPr txBox="1">
              <a:spLocks noChangeArrowheads="1"/>
            </p:cNvSpPr>
            <p:nvPr/>
          </p:nvSpPr>
          <p:spPr bwMode="auto">
            <a:xfrm>
              <a:off x="4667" y="1963"/>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008</a:t>
              </a:r>
            </a:p>
          </p:txBody>
        </p:sp>
        <p:sp>
          <p:nvSpPr>
            <p:cNvPr id="161863" name="Line 74"/>
            <p:cNvSpPr>
              <a:spLocks noChangeShapeType="1"/>
            </p:cNvSpPr>
            <p:nvPr/>
          </p:nvSpPr>
          <p:spPr bwMode="auto">
            <a:xfrm flipV="1">
              <a:off x="4853" y="2196"/>
              <a:ext cx="0" cy="1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1864" name="Line 75"/>
            <p:cNvSpPr>
              <a:spLocks noChangeShapeType="1"/>
            </p:cNvSpPr>
            <p:nvPr/>
          </p:nvSpPr>
          <p:spPr bwMode="auto">
            <a:xfrm>
              <a:off x="4835" y="1422"/>
              <a:ext cx="0" cy="545"/>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6" name="Group 76"/>
          <p:cNvGrpSpPr/>
          <p:nvPr/>
        </p:nvGrpSpPr>
        <p:grpSpPr>
          <a:xfrm>
            <a:off x="341313" y="2349500"/>
            <a:ext cx="8423275" cy="2841625"/>
            <a:chOff x="259" y="1181"/>
            <a:chExt cx="5306" cy="1790"/>
          </a:xfrm>
        </p:grpSpPr>
        <p:sp>
          <p:nvSpPr>
            <p:cNvPr id="161866" name="Text Box 77"/>
            <p:cNvSpPr txBox="1">
              <a:spLocks noChangeArrowheads="1"/>
            </p:cNvSpPr>
            <p:nvPr/>
          </p:nvSpPr>
          <p:spPr bwMode="auto">
            <a:xfrm>
              <a:off x="472"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e[0]</a:t>
              </a:r>
            </a:p>
          </p:txBody>
        </p:sp>
        <p:sp>
          <p:nvSpPr>
            <p:cNvPr id="161867" name="Text Box 78"/>
            <p:cNvSpPr txBox="1">
              <a:spLocks noChangeArrowheads="1"/>
            </p:cNvSpPr>
            <p:nvPr/>
          </p:nvSpPr>
          <p:spPr bwMode="auto">
            <a:xfrm>
              <a:off x="996"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e[1]</a:t>
              </a:r>
            </a:p>
          </p:txBody>
        </p:sp>
        <p:sp>
          <p:nvSpPr>
            <p:cNvPr id="161868" name="Text Box 79"/>
            <p:cNvSpPr txBox="1">
              <a:spLocks noChangeArrowheads="1"/>
            </p:cNvSpPr>
            <p:nvPr/>
          </p:nvSpPr>
          <p:spPr bwMode="auto">
            <a:xfrm>
              <a:off x="1520"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e[2]</a:t>
              </a:r>
            </a:p>
          </p:txBody>
        </p:sp>
        <p:sp>
          <p:nvSpPr>
            <p:cNvPr id="161869" name="Text Box 80"/>
            <p:cNvSpPr txBox="1">
              <a:spLocks noChangeArrowheads="1"/>
            </p:cNvSpPr>
            <p:nvPr/>
          </p:nvSpPr>
          <p:spPr bwMode="auto">
            <a:xfrm>
              <a:off x="2045"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e[3]</a:t>
              </a:r>
            </a:p>
          </p:txBody>
        </p:sp>
        <p:sp>
          <p:nvSpPr>
            <p:cNvPr id="161870" name="Text Box 81"/>
            <p:cNvSpPr txBox="1">
              <a:spLocks noChangeArrowheads="1"/>
            </p:cNvSpPr>
            <p:nvPr/>
          </p:nvSpPr>
          <p:spPr bwMode="auto">
            <a:xfrm>
              <a:off x="2569"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e[4]</a:t>
              </a:r>
            </a:p>
          </p:txBody>
        </p:sp>
        <p:sp>
          <p:nvSpPr>
            <p:cNvPr id="161871" name="Text Box 82"/>
            <p:cNvSpPr txBox="1">
              <a:spLocks noChangeArrowheads="1"/>
            </p:cNvSpPr>
            <p:nvPr/>
          </p:nvSpPr>
          <p:spPr bwMode="auto">
            <a:xfrm>
              <a:off x="3094"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e[5]</a:t>
              </a:r>
            </a:p>
          </p:txBody>
        </p:sp>
        <p:sp>
          <p:nvSpPr>
            <p:cNvPr id="161872" name="Text Box 83"/>
            <p:cNvSpPr txBox="1">
              <a:spLocks noChangeArrowheads="1"/>
            </p:cNvSpPr>
            <p:nvPr/>
          </p:nvSpPr>
          <p:spPr bwMode="auto">
            <a:xfrm>
              <a:off x="3618"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e[6]</a:t>
              </a:r>
            </a:p>
          </p:txBody>
        </p:sp>
        <p:sp>
          <p:nvSpPr>
            <p:cNvPr id="161873" name="Text Box 84"/>
            <p:cNvSpPr txBox="1">
              <a:spLocks noChangeArrowheads="1"/>
            </p:cNvSpPr>
            <p:nvPr/>
          </p:nvSpPr>
          <p:spPr bwMode="auto">
            <a:xfrm>
              <a:off x="4143"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e[7]</a:t>
              </a:r>
            </a:p>
          </p:txBody>
        </p:sp>
        <p:sp>
          <p:nvSpPr>
            <p:cNvPr id="161874" name="Text Box 85"/>
            <p:cNvSpPr txBox="1">
              <a:spLocks noChangeArrowheads="1"/>
            </p:cNvSpPr>
            <p:nvPr/>
          </p:nvSpPr>
          <p:spPr bwMode="auto">
            <a:xfrm>
              <a:off x="4667"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e[8]</a:t>
              </a:r>
            </a:p>
          </p:txBody>
        </p:sp>
        <p:sp>
          <p:nvSpPr>
            <p:cNvPr id="161875" name="Text Box 86"/>
            <p:cNvSpPr txBox="1">
              <a:spLocks noChangeArrowheads="1"/>
            </p:cNvSpPr>
            <p:nvPr/>
          </p:nvSpPr>
          <p:spPr bwMode="auto">
            <a:xfrm>
              <a:off x="5192" y="1181"/>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e[9]</a:t>
              </a:r>
            </a:p>
          </p:txBody>
        </p:sp>
        <p:sp>
          <p:nvSpPr>
            <p:cNvPr id="161876" name="Text Box 87"/>
            <p:cNvSpPr txBox="1">
              <a:spLocks noChangeArrowheads="1"/>
            </p:cNvSpPr>
            <p:nvPr/>
          </p:nvSpPr>
          <p:spPr bwMode="auto">
            <a:xfrm>
              <a:off x="472"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f[0]</a:t>
              </a:r>
            </a:p>
          </p:txBody>
        </p:sp>
        <p:sp>
          <p:nvSpPr>
            <p:cNvPr id="161877" name="Text Box 88"/>
            <p:cNvSpPr txBox="1">
              <a:spLocks noChangeArrowheads="1"/>
            </p:cNvSpPr>
            <p:nvPr/>
          </p:nvSpPr>
          <p:spPr bwMode="auto">
            <a:xfrm>
              <a:off x="996"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f[1]</a:t>
              </a:r>
            </a:p>
          </p:txBody>
        </p:sp>
        <p:sp>
          <p:nvSpPr>
            <p:cNvPr id="161878" name="Text Box 89"/>
            <p:cNvSpPr txBox="1">
              <a:spLocks noChangeArrowheads="1"/>
            </p:cNvSpPr>
            <p:nvPr/>
          </p:nvSpPr>
          <p:spPr bwMode="auto">
            <a:xfrm>
              <a:off x="1520"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f[2]</a:t>
              </a:r>
            </a:p>
          </p:txBody>
        </p:sp>
        <p:sp>
          <p:nvSpPr>
            <p:cNvPr id="161879" name="Text Box 90"/>
            <p:cNvSpPr txBox="1">
              <a:spLocks noChangeArrowheads="1"/>
            </p:cNvSpPr>
            <p:nvPr/>
          </p:nvSpPr>
          <p:spPr bwMode="auto">
            <a:xfrm>
              <a:off x="2045"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f[3]</a:t>
              </a:r>
            </a:p>
          </p:txBody>
        </p:sp>
        <p:sp>
          <p:nvSpPr>
            <p:cNvPr id="161880" name="Text Box 91"/>
            <p:cNvSpPr txBox="1">
              <a:spLocks noChangeArrowheads="1"/>
            </p:cNvSpPr>
            <p:nvPr/>
          </p:nvSpPr>
          <p:spPr bwMode="auto">
            <a:xfrm>
              <a:off x="2569"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f[4]</a:t>
              </a:r>
            </a:p>
          </p:txBody>
        </p:sp>
        <p:sp>
          <p:nvSpPr>
            <p:cNvPr id="161881" name="Text Box 92"/>
            <p:cNvSpPr txBox="1">
              <a:spLocks noChangeArrowheads="1"/>
            </p:cNvSpPr>
            <p:nvPr/>
          </p:nvSpPr>
          <p:spPr bwMode="auto">
            <a:xfrm>
              <a:off x="3094"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f[5]</a:t>
              </a:r>
            </a:p>
          </p:txBody>
        </p:sp>
        <p:sp>
          <p:nvSpPr>
            <p:cNvPr id="161882" name="Text Box 93"/>
            <p:cNvSpPr txBox="1">
              <a:spLocks noChangeArrowheads="1"/>
            </p:cNvSpPr>
            <p:nvPr/>
          </p:nvSpPr>
          <p:spPr bwMode="auto">
            <a:xfrm>
              <a:off x="3618"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f[6]</a:t>
              </a:r>
            </a:p>
          </p:txBody>
        </p:sp>
        <p:sp>
          <p:nvSpPr>
            <p:cNvPr id="161883" name="Text Box 94"/>
            <p:cNvSpPr txBox="1">
              <a:spLocks noChangeArrowheads="1"/>
            </p:cNvSpPr>
            <p:nvPr/>
          </p:nvSpPr>
          <p:spPr bwMode="auto">
            <a:xfrm>
              <a:off x="4143"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f[7]</a:t>
              </a:r>
            </a:p>
          </p:txBody>
        </p:sp>
        <p:sp>
          <p:nvSpPr>
            <p:cNvPr id="161884" name="Text Box 95"/>
            <p:cNvSpPr txBox="1">
              <a:spLocks noChangeArrowheads="1"/>
            </p:cNvSpPr>
            <p:nvPr/>
          </p:nvSpPr>
          <p:spPr bwMode="auto">
            <a:xfrm>
              <a:off x="4667"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f[8]</a:t>
              </a:r>
            </a:p>
          </p:txBody>
        </p:sp>
        <p:sp>
          <p:nvSpPr>
            <p:cNvPr id="161885" name="Text Box 96"/>
            <p:cNvSpPr txBox="1">
              <a:spLocks noChangeArrowheads="1"/>
            </p:cNvSpPr>
            <p:nvPr/>
          </p:nvSpPr>
          <p:spPr bwMode="auto">
            <a:xfrm>
              <a:off x="5192" y="2721"/>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f[9]</a:t>
              </a:r>
            </a:p>
          </p:txBody>
        </p:sp>
        <p:sp>
          <p:nvSpPr>
            <p:cNvPr id="161886" name="Text Box 97"/>
            <p:cNvSpPr txBox="1">
              <a:spLocks noChangeArrowheads="1"/>
            </p:cNvSpPr>
            <p:nvPr/>
          </p:nvSpPr>
          <p:spPr bwMode="auto">
            <a:xfrm>
              <a:off x="259" y="1515"/>
              <a:ext cx="310" cy="704"/>
            </a:xfrm>
            <a:prstGeom prst="rect">
              <a:avLst/>
            </a:prstGeom>
            <a:noFill/>
            <a:ln>
              <a:noFill/>
            </a:ln>
          </p:spPr>
          <p:txBody>
            <a:bodyPr vert="eaVert"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a:ln>
                    <a:noFill/>
                  </a:ln>
                  <a:solidFill>
                    <a:srgbClr val="FF3300"/>
                  </a:solidFill>
                  <a:effectLst/>
                  <a:uLnTx/>
                  <a:uFillTx/>
                  <a:latin typeface="+mn-lt"/>
                  <a:ea typeface="+mn-ea"/>
                  <a:cs typeface="+mn-ea"/>
                  <a:sym typeface="+mn-lt"/>
                </a:rPr>
                <a:t>一趟分配</a:t>
              </a:r>
            </a:p>
          </p:txBody>
        </p:sp>
      </p:grpSp>
      <p:grpSp>
        <p:nvGrpSpPr>
          <p:cNvPr id="27" name="Group 98"/>
          <p:cNvGrpSpPr/>
          <p:nvPr/>
        </p:nvGrpSpPr>
        <p:grpSpPr>
          <a:xfrm>
            <a:off x="438150" y="5445125"/>
            <a:ext cx="8382000" cy="1003300"/>
            <a:chOff x="320" y="3086"/>
            <a:chExt cx="5280" cy="632"/>
          </a:xfrm>
        </p:grpSpPr>
        <p:grpSp>
          <p:nvGrpSpPr>
            <p:cNvPr id="179217" name="Group 99"/>
            <p:cNvGrpSpPr/>
            <p:nvPr/>
          </p:nvGrpSpPr>
          <p:grpSpPr>
            <a:xfrm>
              <a:off x="327" y="3462"/>
              <a:ext cx="5273" cy="256"/>
              <a:chOff x="354" y="1045"/>
              <a:chExt cx="5273" cy="256"/>
            </a:xfrm>
          </p:grpSpPr>
          <p:grpSp>
            <p:nvGrpSpPr>
              <p:cNvPr id="179219" name="Group 100"/>
              <p:cNvGrpSpPr/>
              <p:nvPr/>
            </p:nvGrpSpPr>
            <p:grpSpPr>
              <a:xfrm>
                <a:off x="354" y="1045"/>
                <a:ext cx="542" cy="256"/>
                <a:chOff x="1133" y="1389"/>
                <a:chExt cx="542" cy="256"/>
              </a:xfrm>
            </p:grpSpPr>
            <p:sp>
              <p:nvSpPr>
                <p:cNvPr id="161890" name="Rectangle 101"/>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930</a:t>
                  </a:r>
                </a:p>
              </p:txBody>
            </p:sp>
            <p:sp>
              <p:nvSpPr>
                <p:cNvPr id="161891" name="Line 102"/>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220" name="Group 103"/>
              <p:cNvGrpSpPr/>
              <p:nvPr/>
            </p:nvGrpSpPr>
            <p:grpSpPr>
              <a:xfrm>
                <a:off x="880" y="1045"/>
                <a:ext cx="542" cy="256"/>
                <a:chOff x="1133" y="1389"/>
                <a:chExt cx="542" cy="256"/>
              </a:xfrm>
            </p:grpSpPr>
            <p:sp>
              <p:nvSpPr>
                <p:cNvPr id="161893" name="Rectangle 104"/>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063</a:t>
                  </a:r>
                </a:p>
              </p:txBody>
            </p:sp>
            <p:sp>
              <p:nvSpPr>
                <p:cNvPr id="161894" name="Line 105"/>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221" name="Group 106"/>
              <p:cNvGrpSpPr/>
              <p:nvPr/>
            </p:nvGrpSpPr>
            <p:grpSpPr>
              <a:xfrm>
                <a:off x="1406" y="1045"/>
                <a:ext cx="542" cy="256"/>
                <a:chOff x="1133" y="1389"/>
                <a:chExt cx="542" cy="256"/>
              </a:xfrm>
            </p:grpSpPr>
            <p:sp>
              <p:nvSpPr>
                <p:cNvPr id="161896" name="Rectangle 107"/>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083</a:t>
                  </a:r>
                </a:p>
              </p:txBody>
            </p:sp>
            <p:sp>
              <p:nvSpPr>
                <p:cNvPr id="161897" name="Line 108"/>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222" name="Group 109"/>
              <p:cNvGrpSpPr/>
              <p:nvPr/>
            </p:nvGrpSpPr>
            <p:grpSpPr>
              <a:xfrm>
                <a:off x="1931" y="1045"/>
                <a:ext cx="542" cy="256"/>
                <a:chOff x="1133" y="1389"/>
                <a:chExt cx="542" cy="256"/>
              </a:xfrm>
            </p:grpSpPr>
            <p:sp>
              <p:nvSpPr>
                <p:cNvPr id="161899" name="Rectangle 110"/>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184</a:t>
                  </a:r>
                </a:p>
              </p:txBody>
            </p:sp>
            <p:sp>
              <p:nvSpPr>
                <p:cNvPr id="161900" name="Line 111"/>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223" name="Group 112"/>
              <p:cNvGrpSpPr/>
              <p:nvPr/>
            </p:nvGrpSpPr>
            <p:grpSpPr>
              <a:xfrm>
                <a:off x="2457" y="1045"/>
                <a:ext cx="542" cy="256"/>
                <a:chOff x="1133" y="1389"/>
                <a:chExt cx="542" cy="256"/>
              </a:xfrm>
            </p:grpSpPr>
            <p:sp>
              <p:nvSpPr>
                <p:cNvPr id="161902" name="Rectangle 113"/>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505</a:t>
                  </a:r>
                </a:p>
              </p:txBody>
            </p:sp>
            <p:sp>
              <p:nvSpPr>
                <p:cNvPr id="161903" name="Line 114"/>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224" name="Group 115"/>
              <p:cNvGrpSpPr/>
              <p:nvPr/>
            </p:nvGrpSpPr>
            <p:grpSpPr>
              <a:xfrm>
                <a:off x="2983" y="1045"/>
                <a:ext cx="542" cy="256"/>
                <a:chOff x="1133" y="1389"/>
                <a:chExt cx="542" cy="256"/>
              </a:xfrm>
            </p:grpSpPr>
            <p:sp>
              <p:nvSpPr>
                <p:cNvPr id="161905" name="Rectangle 116"/>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278</a:t>
                  </a:r>
                </a:p>
              </p:txBody>
            </p:sp>
            <p:sp>
              <p:nvSpPr>
                <p:cNvPr id="161906" name="Line 117"/>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225" name="Group 118"/>
              <p:cNvGrpSpPr/>
              <p:nvPr/>
            </p:nvGrpSpPr>
            <p:grpSpPr>
              <a:xfrm>
                <a:off x="3508" y="1045"/>
                <a:ext cx="542" cy="256"/>
                <a:chOff x="1133" y="1389"/>
                <a:chExt cx="542" cy="256"/>
              </a:xfrm>
            </p:grpSpPr>
            <p:sp>
              <p:nvSpPr>
                <p:cNvPr id="161908" name="Rectangle 119"/>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008</a:t>
                  </a:r>
                </a:p>
              </p:txBody>
            </p:sp>
            <p:sp>
              <p:nvSpPr>
                <p:cNvPr id="161909" name="Line 120"/>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226" name="Group 121"/>
              <p:cNvGrpSpPr/>
              <p:nvPr/>
            </p:nvGrpSpPr>
            <p:grpSpPr>
              <a:xfrm>
                <a:off x="4034" y="1045"/>
                <a:ext cx="542" cy="256"/>
                <a:chOff x="1133" y="1389"/>
                <a:chExt cx="542" cy="256"/>
              </a:xfrm>
            </p:grpSpPr>
            <p:sp>
              <p:nvSpPr>
                <p:cNvPr id="161911" name="Rectangle 122"/>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109</a:t>
                  </a:r>
                </a:p>
              </p:txBody>
            </p:sp>
            <p:sp>
              <p:nvSpPr>
                <p:cNvPr id="161912" name="Line 123"/>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227" name="Group 124"/>
              <p:cNvGrpSpPr/>
              <p:nvPr/>
            </p:nvGrpSpPr>
            <p:grpSpPr>
              <a:xfrm>
                <a:off x="4560" y="1045"/>
                <a:ext cx="542" cy="256"/>
                <a:chOff x="1133" y="1389"/>
                <a:chExt cx="542" cy="256"/>
              </a:xfrm>
            </p:grpSpPr>
            <p:sp>
              <p:nvSpPr>
                <p:cNvPr id="161914" name="Rectangle 125"/>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589</a:t>
                  </a:r>
                </a:p>
              </p:txBody>
            </p:sp>
            <p:sp>
              <p:nvSpPr>
                <p:cNvPr id="161915" name="Line 126"/>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9228" name="Group 127"/>
              <p:cNvGrpSpPr/>
              <p:nvPr/>
            </p:nvGrpSpPr>
            <p:grpSpPr>
              <a:xfrm>
                <a:off x="5085" y="1045"/>
                <a:ext cx="542" cy="256"/>
                <a:chOff x="1133" y="1389"/>
                <a:chExt cx="542" cy="256"/>
              </a:xfrm>
            </p:grpSpPr>
            <p:sp>
              <p:nvSpPr>
                <p:cNvPr id="161917" name="Rectangle 128"/>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269</a:t>
                  </a:r>
                </a:p>
              </p:txBody>
            </p:sp>
            <p:sp>
              <p:nvSpPr>
                <p:cNvPr id="161918" name="Line 129"/>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161919" name="Text Box 130"/>
            <p:cNvSpPr txBox="1">
              <a:spLocks noChangeArrowheads="1"/>
            </p:cNvSpPr>
            <p:nvPr/>
          </p:nvSpPr>
          <p:spPr bwMode="auto">
            <a:xfrm>
              <a:off x="320" y="3086"/>
              <a:ext cx="921"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rgbClr val="FF3300"/>
                  </a:solidFill>
                  <a:effectLst/>
                  <a:uLnTx/>
                  <a:uFillTx/>
                  <a:latin typeface="+mn-lt"/>
                  <a:ea typeface="+mn-ea"/>
                  <a:cs typeface="+mn-ea"/>
                  <a:sym typeface="+mn-lt"/>
                </a:rPr>
                <a:t>一趟收集：</a:t>
              </a:r>
            </a:p>
          </p:txBody>
        </p:sp>
      </p:grpSp>
      <p:sp>
        <p:nvSpPr>
          <p:cNvPr id="129" name="Rectangle 7"/>
          <p:cNvSpPr>
            <a:spLocks noChangeArrowheads="1"/>
          </p:cNvSpPr>
          <p:nvPr/>
        </p:nvSpPr>
        <p:spPr bwMode="auto">
          <a:xfrm>
            <a:off x="900113" y="158750"/>
            <a:ext cx="2338388" cy="581025"/>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链式基数排序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out)">
                                      <p:cBhvr>
                                        <p:cTn id="7" dur="5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2" name="CAMERA.WAV"/>
                                        </p:tgtEl>
                                      </p:cMediaNode>
                                    </p:audio>
                                  </p:sub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 presetClass="entr" presetSubtype="32" fill="hold" nodeType="click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box(out)">
                                      <p:cBhvr>
                                        <p:cTn id="18" dur="500"/>
                                        <p:tgtEl>
                                          <p:spTgt spid="26"/>
                                        </p:tgtEl>
                                      </p:cBhvr>
                                    </p:animEffect>
                                  </p:childTnLst>
                                  <p:subTnLst>
                                    <p:audio>
                                      <p:cMediaNode>
                                        <p:cTn display="0" masterRel="sameClick">
                                          <p:stCondLst>
                                            <p:cond evt="begin" delay="0">
                                              <p:tn val="16"/>
                                            </p:cond>
                                          </p:stCondLst>
                                          <p:endCondLst>
                                            <p:cond evt="onStopAudio" delay="0">
                                              <p:tgtEl>
                                                <p:sldTgt/>
                                              </p:tgtEl>
                                            </p:cond>
                                          </p:endCondLst>
                                        </p:cTn>
                                        <p:tgtEl>
                                          <p:sndTgt r:embed="rId2" name="CAMERA.WAV"/>
                                        </p:tgtEl>
                                      </p:cMediaNode>
                                    </p:audio>
                                  </p:subTnLst>
                                </p:cTn>
                              </p:par>
                            </p:childTnLst>
                          </p:cTn>
                        </p:par>
                      </p:childTnLst>
                    </p:cTn>
                  </p:par>
                  <p:par>
                    <p:cTn id="19" fill="hold">
                      <p:stCondLst>
                        <p:cond delay="indefinite"/>
                      </p:stCondLst>
                      <p:childTnLst>
                        <p:par>
                          <p:cTn id="20" fill="hold">
                            <p:stCondLst>
                              <p:cond delay="0"/>
                            </p:stCondLst>
                            <p:childTnLst>
                              <p:par>
                                <p:cTn id="21" presetID="4" presetClass="entr" presetSubtype="32" fill="hold" nodeType="click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box(out)">
                                      <p:cBhvr>
                                        <p:cTn id="23" dur="500"/>
                                        <p:tgtEl>
                                          <p:spTgt spid="17"/>
                                        </p:tgtEl>
                                      </p:cBhvr>
                                    </p:animEffect>
                                  </p:childTnLst>
                                  <p:subTnLst>
                                    <p:audio>
                                      <p:cMediaNode>
                                        <p:cTn display="0" masterRel="sameClick">
                                          <p:stCondLst>
                                            <p:cond evt="begin" delay="0">
                                              <p:tn val="21"/>
                                            </p:cond>
                                          </p:stCondLst>
                                          <p:endCondLst>
                                            <p:cond evt="onStopAudio" delay="0">
                                              <p:tgtEl>
                                                <p:sldTgt/>
                                              </p:tgtEl>
                                            </p:cond>
                                          </p:endCondLst>
                                        </p:cTn>
                                        <p:tgtEl>
                                          <p:sndTgt r:embed="rId2" name="CAMERA.WAV"/>
                                        </p:tgtEl>
                                      </p:cMediaNode>
                                    </p:audio>
                                  </p:subTnLst>
                                </p:cTn>
                              </p:par>
                            </p:childTnLst>
                          </p:cTn>
                        </p:par>
                      </p:childTnLst>
                    </p:cTn>
                  </p:par>
                  <p:par>
                    <p:cTn id="24" fill="hold">
                      <p:stCondLst>
                        <p:cond delay="indefinite"/>
                      </p:stCondLst>
                      <p:childTnLst>
                        <p:par>
                          <p:cTn id="25" fill="hold">
                            <p:stCondLst>
                              <p:cond delay="0"/>
                            </p:stCondLst>
                            <p:childTnLst>
                              <p:par>
                                <p:cTn id="26" presetID="4" presetClass="entr" presetSubtype="32"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box(out)">
                                      <p:cBhvr>
                                        <p:cTn id="28" dur="500"/>
                                        <p:tgtEl>
                                          <p:spTgt spid="14"/>
                                        </p:tgtEl>
                                      </p:cBhvr>
                                    </p:animEffect>
                                  </p:childTnLst>
                                  <p:subTnLst>
                                    <p:audio>
                                      <p:cMediaNode>
                                        <p:cTn display="0" masterRel="sameClick">
                                          <p:stCondLst>
                                            <p:cond evt="begin" delay="0">
                                              <p:tn val="26"/>
                                            </p:cond>
                                          </p:stCondLst>
                                          <p:endCondLst>
                                            <p:cond evt="onStopAudio" delay="0">
                                              <p:tgtEl>
                                                <p:sldTgt/>
                                              </p:tgtEl>
                                            </p:cond>
                                          </p:endCondLst>
                                        </p:cTn>
                                        <p:tgtEl>
                                          <p:sndTgt r:embed="rId2" name="CAMERA.WAV"/>
                                        </p:tgtEl>
                                      </p:cMediaNode>
                                    </p:audio>
                                  </p:subTnLst>
                                </p:cTn>
                              </p:par>
                            </p:childTnLst>
                          </p:cTn>
                        </p:par>
                      </p:childTnLst>
                    </p:cTn>
                  </p:par>
                  <p:par>
                    <p:cTn id="29" fill="hold">
                      <p:stCondLst>
                        <p:cond delay="indefinite"/>
                      </p:stCondLst>
                      <p:childTnLst>
                        <p:par>
                          <p:cTn id="30" fill="hold">
                            <p:stCondLst>
                              <p:cond delay="0"/>
                            </p:stCondLst>
                            <p:childTnLst>
                              <p:par>
                                <p:cTn id="31" presetID="4" presetClass="entr" presetSubtype="32" fill="hold" nodeType="click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box(out)">
                                      <p:cBhvr>
                                        <p:cTn id="33" dur="500"/>
                                        <p:tgtEl>
                                          <p:spTgt spid="18"/>
                                        </p:tgtEl>
                                      </p:cBhvr>
                                    </p:animEffect>
                                  </p:childTnLst>
                                  <p:subTnLst>
                                    <p:audio>
                                      <p:cMediaNode>
                                        <p:cTn display="0" masterRel="sameClick">
                                          <p:stCondLst>
                                            <p:cond evt="begin" delay="0">
                                              <p:tn val="31"/>
                                            </p:cond>
                                          </p:stCondLst>
                                          <p:endCondLst>
                                            <p:cond evt="onStopAudio" delay="0">
                                              <p:tgtEl>
                                                <p:sldTgt/>
                                              </p:tgtEl>
                                            </p:cond>
                                          </p:endCondLst>
                                        </p:cTn>
                                        <p:tgtEl>
                                          <p:sndTgt r:embed="rId2" name="CAMERA.WAV"/>
                                        </p:tgtEl>
                                      </p:cMediaNode>
                                    </p:audio>
                                  </p:subTnLst>
                                </p:cTn>
                              </p:par>
                            </p:childTnLst>
                          </p:cTn>
                        </p:par>
                      </p:childTnLst>
                    </p:cTn>
                  </p:par>
                  <p:par>
                    <p:cTn id="34" fill="hold">
                      <p:stCondLst>
                        <p:cond delay="indefinite"/>
                      </p:stCondLst>
                      <p:childTnLst>
                        <p:par>
                          <p:cTn id="35" fill="hold">
                            <p:stCondLst>
                              <p:cond delay="0"/>
                            </p:stCondLst>
                            <p:childTnLst>
                              <p:par>
                                <p:cTn id="36" presetID="4" presetClass="entr" presetSubtype="32"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box(out)">
                                      <p:cBhvr>
                                        <p:cTn id="38" dur="500"/>
                                        <p:tgtEl>
                                          <p:spTgt spid="19"/>
                                        </p:tgtEl>
                                      </p:cBhvr>
                                    </p:animEffect>
                                  </p:childTnLst>
                                  <p:subTnLst>
                                    <p:audio>
                                      <p:cMediaNode>
                                        <p:cTn display="0" masterRel="sameClick">
                                          <p:stCondLst>
                                            <p:cond evt="begin" delay="0">
                                              <p:tn val="36"/>
                                            </p:cond>
                                          </p:stCondLst>
                                          <p:endCondLst>
                                            <p:cond evt="onStopAudio" delay="0">
                                              <p:tgtEl>
                                                <p:sldTgt/>
                                              </p:tgtEl>
                                            </p:cond>
                                          </p:endCondLst>
                                        </p:cTn>
                                        <p:tgtEl>
                                          <p:sndTgt r:embed="rId2" name="CAMERA.WAV"/>
                                        </p:tgtEl>
                                      </p:cMediaNode>
                                    </p:audio>
                                  </p:subTnLst>
                                </p:cTn>
                              </p:par>
                            </p:childTnLst>
                          </p:cTn>
                        </p:par>
                      </p:childTnLst>
                    </p:cTn>
                  </p:par>
                  <p:par>
                    <p:cTn id="39" fill="hold">
                      <p:stCondLst>
                        <p:cond delay="indefinite"/>
                      </p:stCondLst>
                      <p:childTnLst>
                        <p:par>
                          <p:cTn id="40" fill="hold">
                            <p:stCondLst>
                              <p:cond delay="0"/>
                            </p:stCondLst>
                            <p:childTnLst>
                              <p:par>
                                <p:cTn id="41" presetID="4" presetClass="entr" presetSubtype="32" fill="hold"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box(out)">
                                      <p:cBhvr>
                                        <p:cTn id="43" dur="500"/>
                                        <p:tgtEl>
                                          <p:spTgt spid="15"/>
                                        </p:tgtEl>
                                      </p:cBhvr>
                                    </p:animEffect>
                                  </p:childTnLst>
                                  <p:subTnLst>
                                    <p:audio>
                                      <p:cMediaNode>
                                        <p:cTn display="0" masterRel="sameClick">
                                          <p:stCondLst>
                                            <p:cond evt="begin" delay="0">
                                              <p:tn val="41"/>
                                            </p:cond>
                                          </p:stCondLst>
                                          <p:endCondLst>
                                            <p:cond evt="onStopAudio" delay="0">
                                              <p:tgtEl>
                                                <p:sldTgt/>
                                              </p:tgtEl>
                                            </p:cond>
                                          </p:endCondLst>
                                        </p:cTn>
                                        <p:tgtEl>
                                          <p:sndTgt r:embed="rId2" name="CAMERA.WAV"/>
                                        </p:tgtEl>
                                      </p:cMediaNode>
                                    </p:audio>
                                  </p:subTnLst>
                                </p:cTn>
                              </p:par>
                            </p:childTnLst>
                          </p:cTn>
                        </p:par>
                      </p:childTnLst>
                    </p:cTn>
                  </p:par>
                  <p:par>
                    <p:cTn id="44" fill="hold">
                      <p:stCondLst>
                        <p:cond delay="indefinite"/>
                      </p:stCondLst>
                      <p:childTnLst>
                        <p:par>
                          <p:cTn id="45" fill="hold">
                            <p:stCondLst>
                              <p:cond delay="0"/>
                            </p:stCondLst>
                            <p:childTnLst>
                              <p:par>
                                <p:cTn id="46" presetID="4" presetClass="entr" presetSubtype="32" fill="hold" nodeType="click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box(out)">
                                      <p:cBhvr>
                                        <p:cTn id="48" dur="500"/>
                                        <p:tgtEl>
                                          <p:spTgt spid="22"/>
                                        </p:tgtEl>
                                      </p:cBhvr>
                                    </p:animEffect>
                                  </p:childTnLst>
                                  <p:subTnLst>
                                    <p:audio>
                                      <p:cMediaNode>
                                        <p:cTn display="0" masterRel="sameClick">
                                          <p:stCondLst>
                                            <p:cond evt="begin" delay="0">
                                              <p:tn val="46"/>
                                            </p:cond>
                                          </p:stCondLst>
                                          <p:endCondLst>
                                            <p:cond evt="onStopAudio" delay="0">
                                              <p:tgtEl>
                                                <p:sldTgt/>
                                              </p:tgtEl>
                                            </p:cond>
                                          </p:endCondLst>
                                        </p:cTn>
                                        <p:tgtEl>
                                          <p:sndTgt r:embed="rId2" name="CAMERA.WAV"/>
                                        </p:tgtEl>
                                      </p:cMediaNode>
                                    </p:audio>
                                  </p:subTnLst>
                                </p:cTn>
                              </p:par>
                            </p:childTnLst>
                          </p:cTn>
                        </p:par>
                      </p:childTnLst>
                    </p:cTn>
                  </p:par>
                  <p:par>
                    <p:cTn id="49" fill="hold">
                      <p:stCondLst>
                        <p:cond delay="indefinite"/>
                      </p:stCondLst>
                      <p:childTnLst>
                        <p:par>
                          <p:cTn id="50" fill="hold">
                            <p:stCondLst>
                              <p:cond delay="0"/>
                            </p:stCondLst>
                            <p:childTnLst>
                              <p:par>
                                <p:cTn id="51" presetID="4" presetClass="entr" presetSubtype="32" fill="hold" nodeType="click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box(out)">
                                      <p:cBhvr>
                                        <p:cTn id="53" dur="500"/>
                                        <p:tgtEl>
                                          <p:spTgt spid="24"/>
                                        </p:tgtEl>
                                      </p:cBhvr>
                                    </p:animEffect>
                                  </p:childTnLst>
                                  <p:subTnLst>
                                    <p:audio>
                                      <p:cMediaNode>
                                        <p:cTn display="0" masterRel="sameClick">
                                          <p:stCondLst>
                                            <p:cond evt="begin" delay="0">
                                              <p:tn val="51"/>
                                            </p:cond>
                                          </p:stCondLst>
                                          <p:endCondLst>
                                            <p:cond evt="onStopAudio" delay="0">
                                              <p:tgtEl>
                                                <p:sldTgt/>
                                              </p:tgtEl>
                                            </p:cond>
                                          </p:endCondLst>
                                        </p:cTn>
                                        <p:tgtEl>
                                          <p:sndTgt r:embed="rId2" name="CAMERA.WAV"/>
                                        </p:tgtEl>
                                      </p:cMediaNode>
                                    </p:audio>
                                  </p:subTnLst>
                                </p:cTn>
                              </p:par>
                            </p:childTnLst>
                          </p:cTn>
                        </p:par>
                      </p:childTnLst>
                    </p:cTn>
                  </p:par>
                  <p:par>
                    <p:cTn id="54" fill="hold">
                      <p:stCondLst>
                        <p:cond delay="indefinite"/>
                      </p:stCondLst>
                      <p:childTnLst>
                        <p:par>
                          <p:cTn id="55" fill="hold">
                            <p:stCondLst>
                              <p:cond delay="0"/>
                            </p:stCondLst>
                            <p:childTnLst>
                              <p:par>
                                <p:cTn id="56" presetID="4" presetClass="entr" presetSubtype="32" fill="hold"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box(out)">
                                      <p:cBhvr>
                                        <p:cTn id="58" dur="500"/>
                                        <p:tgtEl>
                                          <p:spTgt spid="16"/>
                                        </p:tgtEl>
                                      </p:cBhvr>
                                    </p:animEffect>
                                  </p:childTnLst>
                                  <p:subTnLst>
                                    <p:audio>
                                      <p:cMediaNode>
                                        <p:cTn display="0" masterRel="sameClick">
                                          <p:stCondLst>
                                            <p:cond evt="begin" delay="0">
                                              <p:tn val="56"/>
                                            </p:cond>
                                          </p:stCondLst>
                                          <p:endCondLst>
                                            <p:cond evt="onStopAudio" delay="0">
                                              <p:tgtEl>
                                                <p:sldTgt/>
                                              </p:tgtEl>
                                            </p:cond>
                                          </p:endCondLst>
                                        </p:cTn>
                                        <p:tgtEl>
                                          <p:sndTgt r:embed="rId2" name="CAMERA.WAV"/>
                                        </p:tgtEl>
                                      </p:cMediaNode>
                                    </p:audio>
                                  </p:subTnLst>
                                </p:cTn>
                              </p:par>
                            </p:childTnLst>
                          </p:cTn>
                        </p:par>
                      </p:childTnLst>
                    </p:cTn>
                  </p:par>
                  <p:par>
                    <p:cTn id="59" fill="hold">
                      <p:stCondLst>
                        <p:cond delay="indefinite"/>
                      </p:stCondLst>
                      <p:childTnLst>
                        <p:par>
                          <p:cTn id="60" fill="hold">
                            <p:stCondLst>
                              <p:cond delay="0"/>
                            </p:stCondLst>
                            <p:childTnLst>
                              <p:par>
                                <p:cTn id="61" presetID="4" presetClass="entr" presetSubtype="32" fill="hold" nodeType="click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box(out)">
                                      <p:cBhvr>
                                        <p:cTn id="63" dur="500"/>
                                        <p:tgtEl>
                                          <p:spTgt spid="25"/>
                                        </p:tgtEl>
                                      </p:cBhvr>
                                    </p:animEffect>
                                  </p:childTnLst>
                                  <p:subTnLst>
                                    <p:audio>
                                      <p:cMediaNode>
                                        <p:cTn display="0" masterRel="sameClick">
                                          <p:stCondLst>
                                            <p:cond evt="begin" delay="0">
                                              <p:tn val="61"/>
                                            </p:cond>
                                          </p:stCondLst>
                                          <p:endCondLst>
                                            <p:cond evt="onStopAudio" delay="0">
                                              <p:tgtEl>
                                                <p:sldTgt/>
                                              </p:tgtEl>
                                            </p:cond>
                                          </p:endCondLst>
                                        </p:cTn>
                                        <p:tgtEl>
                                          <p:sndTgt r:embed="rId2" name="CAMERA.WAV"/>
                                        </p:tgtEl>
                                      </p:cMediaNode>
                                    </p:audio>
                                  </p:subTnLst>
                                </p:cTn>
                              </p:par>
                            </p:childTnLst>
                          </p:cTn>
                        </p:par>
                      </p:childTnLst>
                    </p:cTn>
                  </p:par>
                  <p:par>
                    <p:cTn id="64" fill="hold">
                      <p:stCondLst>
                        <p:cond delay="indefinite"/>
                      </p:stCondLst>
                      <p:childTnLst>
                        <p:par>
                          <p:cTn id="65" fill="hold">
                            <p:stCondLst>
                              <p:cond delay="0"/>
                            </p:stCondLst>
                            <p:childTnLst>
                              <p:par>
                                <p:cTn id="66" presetID="4" presetClass="entr" presetSubtype="32" fill="hold"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box(out)">
                                      <p:cBhvr>
                                        <p:cTn id="68" dur="500"/>
                                        <p:tgtEl>
                                          <p:spTgt spid="21"/>
                                        </p:tgtEl>
                                      </p:cBhvr>
                                    </p:animEffect>
                                  </p:childTnLst>
                                  <p:subTnLst>
                                    <p:audio>
                                      <p:cMediaNode>
                                        <p:cTn display="0" masterRel="sameClick">
                                          <p:stCondLst>
                                            <p:cond evt="begin" delay="0">
                                              <p:tn val="66"/>
                                            </p:cond>
                                          </p:stCondLst>
                                          <p:endCondLst>
                                            <p:cond evt="onStopAudio" delay="0">
                                              <p:tgtEl>
                                                <p:sldTgt/>
                                              </p:tgtEl>
                                            </p:cond>
                                          </p:endCondLst>
                                        </p:cTn>
                                        <p:tgtEl>
                                          <p:sndTgt r:embed="rId2" name="CAMERA.WAV"/>
                                        </p:tgtEl>
                                      </p:cMediaNode>
                                    </p:audio>
                                  </p:subTnLst>
                                </p:cTn>
                              </p:par>
                            </p:childTnLst>
                          </p:cTn>
                        </p:par>
                      </p:childTnLst>
                    </p:cTn>
                  </p:par>
                  <p:par>
                    <p:cTn id="69" fill="hold">
                      <p:stCondLst>
                        <p:cond delay="indefinite"/>
                      </p:stCondLst>
                      <p:childTnLst>
                        <p:par>
                          <p:cTn id="70" fill="hold">
                            <p:stCondLst>
                              <p:cond delay="0"/>
                            </p:stCondLst>
                            <p:childTnLst>
                              <p:par>
                                <p:cTn id="71" presetID="4" presetClass="entr" presetSubtype="32" fill="hold" nodeType="click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box(out)">
                                      <p:cBhvr>
                                        <p:cTn id="73" dur="500"/>
                                        <p:tgtEl>
                                          <p:spTgt spid="27"/>
                                        </p:tgtEl>
                                      </p:cBhvr>
                                    </p:animEffect>
                                  </p:childTnLst>
                                  <p:subTnLst>
                                    <p:audio>
                                      <p:cMediaNode>
                                        <p:cTn display="0" masterRel="sameClick">
                                          <p:stCondLst>
                                            <p:cond evt="begin" delay="0">
                                              <p:tn val="71"/>
                                            </p:cond>
                                          </p:stCondLst>
                                          <p:endCondLst>
                                            <p:cond evt="onStopAudio" delay="0">
                                              <p:tgtEl>
                                                <p:sldTgt/>
                                              </p:tgtEl>
                                            </p:cond>
                                          </p:endCondLst>
                                        </p:cTn>
                                        <p:tgtEl>
                                          <p:sndTgt r:embed="rId2"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p:cNvSpPr/>
          <p:nvPr/>
        </p:nvSpPr>
        <p:spPr>
          <a:xfrm>
            <a:off x="0" y="2349500"/>
            <a:ext cx="9144000" cy="2951163"/>
          </a:xfrm>
          <a:prstGeom prst="rect">
            <a:avLst/>
          </a:prstGeom>
          <a:solidFill>
            <a:srgbClr val="C4B3D7"/>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pSp>
        <p:nvGrpSpPr>
          <p:cNvPr id="2" name="Group 4"/>
          <p:cNvGrpSpPr/>
          <p:nvPr/>
        </p:nvGrpSpPr>
        <p:grpSpPr>
          <a:xfrm>
            <a:off x="355600" y="5680075"/>
            <a:ext cx="8558213" cy="989013"/>
            <a:chOff x="209" y="3095"/>
            <a:chExt cx="5391" cy="623"/>
          </a:xfrm>
        </p:grpSpPr>
        <p:grpSp>
          <p:nvGrpSpPr>
            <p:cNvPr id="180321" name="Group 5"/>
            <p:cNvGrpSpPr/>
            <p:nvPr/>
          </p:nvGrpSpPr>
          <p:grpSpPr>
            <a:xfrm>
              <a:off x="327" y="3462"/>
              <a:ext cx="5273" cy="256"/>
              <a:chOff x="354" y="1045"/>
              <a:chExt cx="5273" cy="256"/>
            </a:xfrm>
          </p:grpSpPr>
          <p:grpSp>
            <p:nvGrpSpPr>
              <p:cNvPr id="180323" name="Group 6"/>
              <p:cNvGrpSpPr/>
              <p:nvPr/>
            </p:nvGrpSpPr>
            <p:grpSpPr>
              <a:xfrm>
                <a:off x="354" y="1045"/>
                <a:ext cx="542" cy="256"/>
                <a:chOff x="1133" y="1389"/>
                <a:chExt cx="542" cy="256"/>
              </a:xfrm>
            </p:grpSpPr>
            <p:sp>
              <p:nvSpPr>
                <p:cNvPr id="162821" name="Rectangle 7"/>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505</a:t>
                  </a:r>
                </a:p>
              </p:txBody>
            </p:sp>
            <p:sp>
              <p:nvSpPr>
                <p:cNvPr id="162822" name="Line 8"/>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324" name="Group 9"/>
              <p:cNvGrpSpPr/>
              <p:nvPr/>
            </p:nvGrpSpPr>
            <p:grpSpPr>
              <a:xfrm>
                <a:off x="880" y="1045"/>
                <a:ext cx="542" cy="256"/>
                <a:chOff x="1133" y="1389"/>
                <a:chExt cx="542" cy="256"/>
              </a:xfrm>
            </p:grpSpPr>
            <p:sp>
              <p:nvSpPr>
                <p:cNvPr id="162824" name="Rectangle 10"/>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008</a:t>
                  </a:r>
                </a:p>
              </p:txBody>
            </p:sp>
            <p:sp>
              <p:nvSpPr>
                <p:cNvPr id="162825" name="Line 11"/>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325" name="Group 12"/>
              <p:cNvGrpSpPr/>
              <p:nvPr/>
            </p:nvGrpSpPr>
            <p:grpSpPr>
              <a:xfrm>
                <a:off x="1406" y="1045"/>
                <a:ext cx="542" cy="256"/>
                <a:chOff x="1133" y="1389"/>
                <a:chExt cx="542" cy="256"/>
              </a:xfrm>
            </p:grpSpPr>
            <p:sp>
              <p:nvSpPr>
                <p:cNvPr id="162827" name="Rectangle 13"/>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109</a:t>
                  </a:r>
                </a:p>
              </p:txBody>
            </p:sp>
            <p:sp>
              <p:nvSpPr>
                <p:cNvPr id="162828" name="Line 14"/>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326" name="Group 15"/>
              <p:cNvGrpSpPr/>
              <p:nvPr/>
            </p:nvGrpSpPr>
            <p:grpSpPr>
              <a:xfrm>
                <a:off x="1931" y="1045"/>
                <a:ext cx="542" cy="256"/>
                <a:chOff x="1133" y="1389"/>
                <a:chExt cx="542" cy="256"/>
              </a:xfrm>
            </p:grpSpPr>
            <p:sp>
              <p:nvSpPr>
                <p:cNvPr id="162830" name="Rectangle 16"/>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930</a:t>
                  </a:r>
                </a:p>
              </p:txBody>
            </p:sp>
            <p:sp>
              <p:nvSpPr>
                <p:cNvPr id="162831" name="Line 17"/>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327" name="Group 18"/>
              <p:cNvGrpSpPr/>
              <p:nvPr/>
            </p:nvGrpSpPr>
            <p:grpSpPr>
              <a:xfrm>
                <a:off x="2457" y="1045"/>
                <a:ext cx="542" cy="256"/>
                <a:chOff x="1133" y="1389"/>
                <a:chExt cx="542" cy="256"/>
              </a:xfrm>
            </p:grpSpPr>
            <p:sp>
              <p:nvSpPr>
                <p:cNvPr id="162833" name="Rectangle 19"/>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063</a:t>
                  </a:r>
                </a:p>
              </p:txBody>
            </p:sp>
            <p:sp>
              <p:nvSpPr>
                <p:cNvPr id="162834" name="Line 20"/>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328" name="Group 21"/>
              <p:cNvGrpSpPr/>
              <p:nvPr/>
            </p:nvGrpSpPr>
            <p:grpSpPr>
              <a:xfrm>
                <a:off x="2983" y="1045"/>
                <a:ext cx="542" cy="256"/>
                <a:chOff x="1133" y="1389"/>
                <a:chExt cx="542" cy="256"/>
              </a:xfrm>
            </p:grpSpPr>
            <p:sp>
              <p:nvSpPr>
                <p:cNvPr id="162836" name="Rectangle 22"/>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269</a:t>
                  </a:r>
                </a:p>
              </p:txBody>
            </p:sp>
            <p:sp>
              <p:nvSpPr>
                <p:cNvPr id="162837" name="Line 23"/>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329" name="Group 24"/>
              <p:cNvGrpSpPr/>
              <p:nvPr/>
            </p:nvGrpSpPr>
            <p:grpSpPr>
              <a:xfrm>
                <a:off x="3508" y="1045"/>
                <a:ext cx="542" cy="256"/>
                <a:chOff x="1133" y="1389"/>
                <a:chExt cx="542" cy="256"/>
              </a:xfrm>
            </p:grpSpPr>
            <p:sp>
              <p:nvSpPr>
                <p:cNvPr id="162839" name="Rectangle 25"/>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278</a:t>
                  </a:r>
                </a:p>
              </p:txBody>
            </p:sp>
            <p:sp>
              <p:nvSpPr>
                <p:cNvPr id="162840" name="Line 26"/>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330" name="Group 27"/>
              <p:cNvGrpSpPr/>
              <p:nvPr/>
            </p:nvGrpSpPr>
            <p:grpSpPr>
              <a:xfrm>
                <a:off x="4034" y="1045"/>
                <a:ext cx="542" cy="256"/>
                <a:chOff x="1133" y="1389"/>
                <a:chExt cx="542" cy="256"/>
              </a:xfrm>
            </p:grpSpPr>
            <p:sp>
              <p:nvSpPr>
                <p:cNvPr id="162842" name="Rectangle 28"/>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083</a:t>
                  </a:r>
                </a:p>
              </p:txBody>
            </p:sp>
            <p:sp>
              <p:nvSpPr>
                <p:cNvPr id="162843" name="Line 29"/>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331" name="Group 30"/>
              <p:cNvGrpSpPr/>
              <p:nvPr/>
            </p:nvGrpSpPr>
            <p:grpSpPr>
              <a:xfrm>
                <a:off x="4560" y="1045"/>
                <a:ext cx="542" cy="256"/>
                <a:chOff x="1133" y="1389"/>
                <a:chExt cx="542" cy="256"/>
              </a:xfrm>
            </p:grpSpPr>
            <p:sp>
              <p:nvSpPr>
                <p:cNvPr id="162845" name="Rectangle 31"/>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184</a:t>
                  </a:r>
                </a:p>
              </p:txBody>
            </p:sp>
            <p:sp>
              <p:nvSpPr>
                <p:cNvPr id="162846" name="Line 32"/>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332" name="Group 33"/>
              <p:cNvGrpSpPr/>
              <p:nvPr/>
            </p:nvGrpSpPr>
            <p:grpSpPr>
              <a:xfrm>
                <a:off x="5085" y="1045"/>
                <a:ext cx="542" cy="256"/>
                <a:chOff x="1133" y="1389"/>
                <a:chExt cx="542" cy="256"/>
              </a:xfrm>
            </p:grpSpPr>
            <p:sp>
              <p:nvSpPr>
                <p:cNvPr id="162848" name="Rectangle 34"/>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589</a:t>
                  </a:r>
                </a:p>
              </p:txBody>
            </p:sp>
            <p:sp>
              <p:nvSpPr>
                <p:cNvPr id="162849" name="Line 35"/>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162850" name="Text Box 36"/>
            <p:cNvSpPr txBox="1">
              <a:spLocks noChangeArrowheads="1"/>
            </p:cNvSpPr>
            <p:nvPr/>
          </p:nvSpPr>
          <p:spPr bwMode="auto">
            <a:xfrm>
              <a:off x="209" y="3095"/>
              <a:ext cx="921"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a:ln>
                    <a:noFill/>
                  </a:ln>
                  <a:solidFill>
                    <a:srgbClr val="FF3300"/>
                  </a:solidFill>
                  <a:effectLst/>
                  <a:uLnTx/>
                  <a:uFillTx/>
                  <a:latin typeface="+mn-lt"/>
                  <a:ea typeface="+mn-ea"/>
                  <a:cs typeface="+mn-ea"/>
                  <a:sym typeface="+mn-lt"/>
                </a:rPr>
                <a:t>二趟收集：</a:t>
              </a:r>
            </a:p>
          </p:txBody>
        </p:sp>
      </p:grpSp>
      <p:grpSp>
        <p:nvGrpSpPr>
          <p:cNvPr id="14" name="Group 37"/>
          <p:cNvGrpSpPr/>
          <p:nvPr/>
        </p:nvGrpSpPr>
        <p:grpSpPr>
          <a:xfrm>
            <a:off x="7380288" y="4248150"/>
            <a:ext cx="582612" cy="700088"/>
            <a:chOff x="4701" y="2359"/>
            <a:chExt cx="367" cy="441"/>
          </a:xfrm>
        </p:grpSpPr>
        <p:sp>
          <p:nvSpPr>
            <p:cNvPr id="162852" name="Text Box 38"/>
            <p:cNvSpPr txBox="1">
              <a:spLocks noChangeArrowheads="1"/>
            </p:cNvSpPr>
            <p:nvPr/>
          </p:nvSpPr>
          <p:spPr bwMode="auto">
            <a:xfrm>
              <a:off x="4701" y="2359"/>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083</a:t>
              </a:r>
            </a:p>
          </p:txBody>
        </p:sp>
        <p:sp>
          <p:nvSpPr>
            <p:cNvPr id="162853" name="Line 39"/>
            <p:cNvSpPr>
              <a:spLocks noChangeShapeType="1"/>
            </p:cNvSpPr>
            <p:nvPr/>
          </p:nvSpPr>
          <p:spPr bwMode="auto">
            <a:xfrm flipH="1" flipV="1">
              <a:off x="4874" y="2599"/>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5" name="Group 40"/>
          <p:cNvGrpSpPr/>
          <p:nvPr/>
        </p:nvGrpSpPr>
        <p:grpSpPr>
          <a:xfrm>
            <a:off x="7380288" y="3636963"/>
            <a:ext cx="582612" cy="587375"/>
            <a:chOff x="4701" y="1974"/>
            <a:chExt cx="367" cy="370"/>
          </a:xfrm>
        </p:grpSpPr>
        <p:sp>
          <p:nvSpPr>
            <p:cNvPr id="162855" name="Text Box 41"/>
            <p:cNvSpPr txBox="1">
              <a:spLocks noChangeArrowheads="1"/>
            </p:cNvSpPr>
            <p:nvPr/>
          </p:nvSpPr>
          <p:spPr bwMode="auto">
            <a:xfrm>
              <a:off x="4701" y="1974"/>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184</a:t>
              </a:r>
            </a:p>
          </p:txBody>
        </p:sp>
        <p:sp>
          <p:nvSpPr>
            <p:cNvPr id="162856" name="Line 42"/>
            <p:cNvSpPr>
              <a:spLocks noChangeShapeType="1"/>
            </p:cNvSpPr>
            <p:nvPr/>
          </p:nvSpPr>
          <p:spPr bwMode="auto">
            <a:xfrm flipV="1">
              <a:off x="4874" y="2233"/>
              <a:ext cx="0" cy="1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6" name="Group 43"/>
          <p:cNvGrpSpPr/>
          <p:nvPr/>
        </p:nvGrpSpPr>
        <p:grpSpPr>
          <a:xfrm>
            <a:off x="7380288" y="2743200"/>
            <a:ext cx="582612" cy="900113"/>
            <a:chOff x="4701" y="1411"/>
            <a:chExt cx="367" cy="567"/>
          </a:xfrm>
        </p:grpSpPr>
        <p:sp>
          <p:nvSpPr>
            <p:cNvPr id="162858" name="Text Box 44"/>
            <p:cNvSpPr txBox="1">
              <a:spLocks noChangeArrowheads="1"/>
            </p:cNvSpPr>
            <p:nvPr/>
          </p:nvSpPr>
          <p:spPr bwMode="auto">
            <a:xfrm>
              <a:off x="4701" y="1600"/>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589</a:t>
              </a:r>
            </a:p>
          </p:txBody>
        </p:sp>
        <p:sp>
          <p:nvSpPr>
            <p:cNvPr id="162859" name="Line 45"/>
            <p:cNvSpPr>
              <a:spLocks noChangeShapeType="1"/>
            </p:cNvSpPr>
            <p:nvPr/>
          </p:nvSpPr>
          <p:spPr bwMode="auto">
            <a:xfrm>
              <a:off x="4896" y="1411"/>
              <a:ext cx="0" cy="189"/>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2860" name="Line 46"/>
            <p:cNvSpPr>
              <a:spLocks noChangeShapeType="1"/>
            </p:cNvSpPr>
            <p:nvPr/>
          </p:nvSpPr>
          <p:spPr bwMode="auto">
            <a:xfrm flipV="1">
              <a:off x="4885" y="1855"/>
              <a:ext cx="0" cy="123"/>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 name="Group 47"/>
          <p:cNvGrpSpPr/>
          <p:nvPr/>
        </p:nvGrpSpPr>
        <p:grpSpPr>
          <a:xfrm>
            <a:off x="5711825" y="4248150"/>
            <a:ext cx="582613" cy="693738"/>
            <a:chOff x="3650" y="2359"/>
            <a:chExt cx="367" cy="437"/>
          </a:xfrm>
        </p:grpSpPr>
        <p:sp>
          <p:nvSpPr>
            <p:cNvPr id="162862" name="Text Box 48"/>
            <p:cNvSpPr txBox="1">
              <a:spLocks noChangeArrowheads="1"/>
            </p:cNvSpPr>
            <p:nvPr/>
          </p:nvSpPr>
          <p:spPr bwMode="auto">
            <a:xfrm>
              <a:off x="3650" y="2359"/>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063</a:t>
              </a:r>
            </a:p>
          </p:txBody>
        </p:sp>
        <p:sp>
          <p:nvSpPr>
            <p:cNvPr id="162863" name="Line 49"/>
            <p:cNvSpPr>
              <a:spLocks noChangeShapeType="1"/>
            </p:cNvSpPr>
            <p:nvPr/>
          </p:nvSpPr>
          <p:spPr bwMode="auto">
            <a:xfrm flipH="1" flipV="1">
              <a:off x="3836" y="2595"/>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 name="Group 50"/>
          <p:cNvGrpSpPr/>
          <p:nvPr/>
        </p:nvGrpSpPr>
        <p:grpSpPr>
          <a:xfrm>
            <a:off x="757238" y="4248150"/>
            <a:ext cx="582612" cy="695325"/>
            <a:chOff x="529" y="2359"/>
            <a:chExt cx="367" cy="438"/>
          </a:xfrm>
        </p:grpSpPr>
        <p:sp>
          <p:nvSpPr>
            <p:cNvPr id="162865" name="Text Box 51"/>
            <p:cNvSpPr txBox="1">
              <a:spLocks noChangeArrowheads="1"/>
            </p:cNvSpPr>
            <p:nvPr/>
          </p:nvSpPr>
          <p:spPr bwMode="auto">
            <a:xfrm>
              <a:off x="529" y="2359"/>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505</a:t>
              </a:r>
            </a:p>
          </p:txBody>
        </p:sp>
        <p:sp>
          <p:nvSpPr>
            <p:cNvPr id="162866" name="Line 52"/>
            <p:cNvSpPr>
              <a:spLocks noChangeShapeType="1"/>
            </p:cNvSpPr>
            <p:nvPr/>
          </p:nvSpPr>
          <p:spPr bwMode="auto">
            <a:xfrm flipH="1" flipV="1">
              <a:off x="680" y="2596"/>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9" name="Group 53"/>
          <p:cNvGrpSpPr/>
          <p:nvPr/>
        </p:nvGrpSpPr>
        <p:grpSpPr>
          <a:xfrm>
            <a:off x="5719763" y="2795588"/>
            <a:ext cx="582612" cy="1422400"/>
            <a:chOff x="3655" y="1444"/>
            <a:chExt cx="367" cy="896"/>
          </a:xfrm>
        </p:grpSpPr>
        <p:sp>
          <p:nvSpPr>
            <p:cNvPr id="162868" name="Text Box 54"/>
            <p:cNvSpPr txBox="1">
              <a:spLocks noChangeArrowheads="1"/>
            </p:cNvSpPr>
            <p:nvPr/>
          </p:nvSpPr>
          <p:spPr bwMode="auto">
            <a:xfrm>
              <a:off x="3655" y="1974"/>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269</a:t>
              </a:r>
            </a:p>
          </p:txBody>
        </p:sp>
        <p:sp>
          <p:nvSpPr>
            <p:cNvPr id="162869" name="Line 55"/>
            <p:cNvSpPr>
              <a:spLocks noChangeShapeType="1"/>
            </p:cNvSpPr>
            <p:nvPr/>
          </p:nvSpPr>
          <p:spPr bwMode="auto">
            <a:xfrm flipV="1">
              <a:off x="3847" y="2229"/>
              <a:ext cx="0" cy="1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2870" name="Line 56"/>
            <p:cNvSpPr>
              <a:spLocks noChangeShapeType="1"/>
            </p:cNvSpPr>
            <p:nvPr/>
          </p:nvSpPr>
          <p:spPr bwMode="auto">
            <a:xfrm>
              <a:off x="3851" y="1444"/>
              <a:ext cx="0" cy="545"/>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0" name="Group 57"/>
          <p:cNvGrpSpPr/>
          <p:nvPr/>
        </p:nvGrpSpPr>
        <p:grpSpPr>
          <a:xfrm>
            <a:off x="3219450" y="2776538"/>
            <a:ext cx="582613" cy="2146300"/>
            <a:chOff x="2080" y="1432"/>
            <a:chExt cx="367" cy="1352"/>
          </a:xfrm>
        </p:grpSpPr>
        <p:sp>
          <p:nvSpPr>
            <p:cNvPr id="162872" name="Text Box 58"/>
            <p:cNvSpPr txBox="1">
              <a:spLocks noChangeArrowheads="1"/>
            </p:cNvSpPr>
            <p:nvPr/>
          </p:nvSpPr>
          <p:spPr bwMode="auto">
            <a:xfrm>
              <a:off x="2080" y="2348"/>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930</a:t>
              </a:r>
            </a:p>
          </p:txBody>
        </p:sp>
        <p:sp>
          <p:nvSpPr>
            <p:cNvPr id="162873" name="Line 59"/>
            <p:cNvSpPr>
              <a:spLocks noChangeShapeType="1"/>
            </p:cNvSpPr>
            <p:nvPr/>
          </p:nvSpPr>
          <p:spPr bwMode="auto">
            <a:xfrm flipH="1" flipV="1">
              <a:off x="2269" y="2583"/>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2874" name="Line 60"/>
            <p:cNvSpPr>
              <a:spLocks noChangeShapeType="1"/>
            </p:cNvSpPr>
            <p:nvPr/>
          </p:nvSpPr>
          <p:spPr bwMode="auto">
            <a:xfrm>
              <a:off x="2262" y="1432"/>
              <a:ext cx="0" cy="9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1" name="Group 61"/>
          <p:cNvGrpSpPr/>
          <p:nvPr/>
        </p:nvGrpSpPr>
        <p:grpSpPr>
          <a:xfrm>
            <a:off x="179388" y="2413000"/>
            <a:ext cx="8651875" cy="2841625"/>
            <a:chOff x="165" y="1203"/>
            <a:chExt cx="5450" cy="1790"/>
          </a:xfrm>
        </p:grpSpPr>
        <p:grpSp>
          <p:nvGrpSpPr>
            <p:cNvPr id="180281" name="Group 62"/>
            <p:cNvGrpSpPr/>
            <p:nvPr/>
          </p:nvGrpSpPr>
          <p:grpSpPr>
            <a:xfrm>
              <a:off x="522" y="1203"/>
              <a:ext cx="5093" cy="250"/>
              <a:chOff x="520" y="914"/>
              <a:chExt cx="5093" cy="250"/>
            </a:xfrm>
          </p:grpSpPr>
          <p:sp>
            <p:nvSpPr>
              <p:cNvPr id="162877" name="Text Box 63"/>
              <p:cNvSpPr txBox="1">
                <a:spLocks noChangeArrowheads="1"/>
              </p:cNvSpPr>
              <p:nvPr/>
            </p:nvSpPr>
            <p:spPr bwMode="auto">
              <a:xfrm>
                <a:off x="520"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e[0]</a:t>
                </a:r>
              </a:p>
            </p:txBody>
          </p:sp>
          <p:sp>
            <p:nvSpPr>
              <p:cNvPr id="162878" name="Text Box 64"/>
              <p:cNvSpPr txBox="1">
                <a:spLocks noChangeArrowheads="1"/>
              </p:cNvSpPr>
              <p:nvPr/>
            </p:nvSpPr>
            <p:spPr bwMode="auto">
              <a:xfrm>
                <a:off x="1044"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e[1]</a:t>
                </a:r>
              </a:p>
            </p:txBody>
          </p:sp>
          <p:sp>
            <p:nvSpPr>
              <p:cNvPr id="162879" name="Text Box 65"/>
              <p:cNvSpPr txBox="1">
                <a:spLocks noChangeArrowheads="1"/>
              </p:cNvSpPr>
              <p:nvPr/>
            </p:nvSpPr>
            <p:spPr bwMode="auto">
              <a:xfrm>
                <a:off x="1568"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e[2]</a:t>
                </a:r>
              </a:p>
            </p:txBody>
          </p:sp>
          <p:sp>
            <p:nvSpPr>
              <p:cNvPr id="162880" name="Text Box 66"/>
              <p:cNvSpPr txBox="1">
                <a:spLocks noChangeArrowheads="1"/>
              </p:cNvSpPr>
              <p:nvPr/>
            </p:nvSpPr>
            <p:spPr bwMode="auto">
              <a:xfrm>
                <a:off x="2093"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e[3]</a:t>
                </a:r>
              </a:p>
            </p:txBody>
          </p:sp>
          <p:sp>
            <p:nvSpPr>
              <p:cNvPr id="162881" name="Text Box 67"/>
              <p:cNvSpPr txBox="1">
                <a:spLocks noChangeArrowheads="1"/>
              </p:cNvSpPr>
              <p:nvPr/>
            </p:nvSpPr>
            <p:spPr bwMode="auto">
              <a:xfrm>
                <a:off x="2617"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e[4]</a:t>
                </a:r>
              </a:p>
            </p:txBody>
          </p:sp>
          <p:sp>
            <p:nvSpPr>
              <p:cNvPr id="162882" name="Text Box 68"/>
              <p:cNvSpPr txBox="1">
                <a:spLocks noChangeArrowheads="1"/>
              </p:cNvSpPr>
              <p:nvPr/>
            </p:nvSpPr>
            <p:spPr bwMode="auto">
              <a:xfrm>
                <a:off x="3142"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e[5]</a:t>
                </a:r>
              </a:p>
            </p:txBody>
          </p:sp>
          <p:sp>
            <p:nvSpPr>
              <p:cNvPr id="162883" name="Text Box 69"/>
              <p:cNvSpPr txBox="1">
                <a:spLocks noChangeArrowheads="1"/>
              </p:cNvSpPr>
              <p:nvPr/>
            </p:nvSpPr>
            <p:spPr bwMode="auto">
              <a:xfrm>
                <a:off x="3666"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e[6]</a:t>
                </a:r>
              </a:p>
            </p:txBody>
          </p:sp>
          <p:sp>
            <p:nvSpPr>
              <p:cNvPr id="162884" name="Text Box 70"/>
              <p:cNvSpPr txBox="1">
                <a:spLocks noChangeArrowheads="1"/>
              </p:cNvSpPr>
              <p:nvPr/>
            </p:nvSpPr>
            <p:spPr bwMode="auto">
              <a:xfrm>
                <a:off x="4191"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e[7]</a:t>
                </a:r>
              </a:p>
            </p:txBody>
          </p:sp>
          <p:sp>
            <p:nvSpPr>
              <p:cNvPr id="162885" name="Text Box 71"/>
              <p:cNvSpPr txBox="1">
                <a:spLocks noChangeArrowheads="1"/>
              </p:cNvSpPr>
              <p:nvPr/>
            </p:nvSpPr>
            <p:spPr bwMode="auto">
              <a:xfrm>
                <a:off x="4715"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e[8]</a:t>
                </a:r>
              </a:p>
            </p:txBody>
          </p:sp>
          <p:sp>
            <p:nvSpPr>
              <p:cNvPr id="162886" name="Text Box 72"/>
              <p:cNvSpPr txBox="1">
                <a:spLocks noChangeArrowheads="1"/>
              </p:cNvSpPr>
              <p:nvPr/>
            </p:nvSpPr>
            <p:spPr bwMode="auto">
              <a:xfrm>
                <a:off x="5240"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e[9]</a:t>
                </a:r>
              </a:p>
            </p:txBody>
          </p:sp>
        </p:grpSp>
        <p:grpSp>
          <p:nvGrpSpPr>
            <p:cNvPr id="180282" name="Group 73"/>
            <p:cNvGrpSpPr/>
            <p:nvPr/>
          </p:nvGrpSpPr>
          <p:grpSpPr>
            <a:xfrm>
              <a:off x="522" y="2743"/>
              <a:ext cx="5075" cy="250"/>
              <a:chOff x="520" y="914"/>
              <a:chExt cx="5075" cy="250"/>
            </a:xfrm>
          </p:grpSpPr>
          <p:sp>
            <p:nvSpPr>
              <p:cNvPr id="162888" name="Text Box 74"/>
              <p:cNvSpPr txBox="1">
                <a:spLocks noChangeArrowheads="1"/>
              </p:cNvSpPr>
              <p:nvPr/>
            </p:nvSpPr>
            <p:spPr bwMode="auto">
              <a:xfrm>
                <a:off x="520"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f[0]</a:t>
                </a:r>
              </a:p>
            </p:txBody>
          </p:sp>
          <p:sp>
            <p:nvSpPr>
              <p:cNvPr id="162889" name="Text Box 75"/>
              <p:cNvSpPr txBox="1">
                <a:spLocks noChangeArrowheads="1"/>
              </p:cNvSpPr>
              <p:nvPr/>
            </p:nvSpPr>
            <p:spPr bwMode="auto">
              <a:xfrm>
                <a:off x="1044"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f[1]</a:t>
                </a:r>
              </a:p>
            </p:txBody>
          </p:sp>
          <p:sp>
            <p:nvSpPr>
              <p:cNvPr id="162890" name="Text Box 76"/>
              <p:cNvSpPr txBox="1">
                <a:spLocks noChangeArrowheads="1"/>
              </p:cNvSpPr>
              <p:nvPr/>
            </p:nvSpPr>
            <p:spPr bwMode="auto">
              <a:xfrm>
                <a:off x="1568"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f[2]</a:t>
                </a:r>
              </a:p>
            </p:txBody>
          </p:sp>
          <p:sp>
            <p:nvSpPr>
              <p:cNvPr id="162891" name="Text Box 77"/>
              <p:cNvSpPr txBox="1">
                <a:spLocks noChangeArrowheads="1"/>
              </p:cNvSpPr>
              <p:nvPr/>
            </p:nvSpPr>
            <p:spPr bwMode="auto">
              <a:xfrm>
                <a:off x="2093"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f[3]</a:t>
                </a:r>
              </a:p>
            </p:txBody>
          </p:sp>
          <p:sp>
            <p:nvSpPr>
              <p:cNvPr id="162892" name="Text Box 78"/>
              <p:cNvSpPr txBox="1">
                <a:spLocks noChangeArrowheads="1"/>
              </p:cNvSpPr>
              <p:nvPr/>
            </p:nvSpPr>
            <p:spPr bwMode="auto">
              <a:xfrm>
                <a:off x="2617"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f[4]</a:t>
                </a:r>
              </a:p>
            </p:txBody>
          </p:sp>
          <p:sp>
            <p:nvSpPr>
              <p:cNvPr id="162893" name="Text Box 79"/>
              <p:cNvSpPr txBox="1">
                <a:spLocks noChangeArrowheads="1"/>
              </p:cNvSpPr>
              <p:nvPr/>
            </p:nvSpPr>
            <p:spPr bwMode="auto">
              <a:xfrm>
                <a:off x="3142"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f[5]</a:t>
                </a:r>
              </a:p>
            </p:txBody>
          </p:sp>
          <p:sp>
            <p:nvSpPr>
              <p:cNvPr id="162894" name="Text Box 80"/>
              <p:cNvSpPr txBox="1">
                <a:spLocks noChangeArrowheads="1"/>
              </p:cNvSpPr>
              <p:nvPr/>
            </p:nvSpPr>
            <p:spPr bwMode="auto">
              <a:xfrm>
                <a:off x="3666"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f[6]</a:t>
                </a:r>
              </a:p>
            </p:txBody>
          </p:sp>
          <p:sp>
            <p:nvSpPr>
              <p:cNvPr id="162895" name="Text Box 81"/>
              <p:cNvSpPr txBox="1">
                <a:spLocks noChangeArrowheads="1"/>
              </p:cNvSpPr>
              <p:nvPr/>
            </p:nvSpPr>
            <p:spPr bwMode="auto">
              <a:xfrm>
                <a:off x="4191"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f[7]</a:t>
                </a:r>
              </a:p>
            </p:txBody>
          </p:sp>
          <p:sp>
            <p:nvSpPr>
              <p:cNvPr id="162896" name="Text Box 82"/>
              <p:cNvSpPr txBox="1">
                <a:spLocks noChangeArrowheads="1"/>
              </p:cNvSpPr>
              <p:nvPr/>
            </p:nvSpPr>
            <p:spPr bwMode="auto">
              <a:xfrm>
                <a:off x="4715"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f[8]</a:t>
                </a:r>
              </a:p>
            </p:txBody>
          </p:sp>
          <p:sp>
            <p:nvSpPr>
              <p:cNvPr id="162897" name="Text Box 83"/>
              <p:cNvSpPr txBox="1">
                <a:spLocks noChangeArrowheads="1"/>
              </p:cNvSpPr>
              <p:nvPr/>
            </p:nvSpPr>
            <p:spPr bwMode="auto">
              <a:xfrm>
                <a:off x="5240"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f[9]</a:t>
                </a:r>
              </a:p>
            </p:txBody>
          </p:sp>
        </p:grpSp>
        <p:sp>
          <p:nvSpPr>
            <p:cNvPr id="162898" name="Text Box 84"/>
            <p:cNvSpPr txBox="1">
              <a:spLocks noChangeArrowheads="1"/>
            </p:cNvSpPr>
            <p:nvPr/>
          </p:nvSpPr>
          <p:spPr bwMode="auto">
            <a:xfrm>
              <a:off x="165" y="1871"/>
              <a:ext cx="310" cy="704"/>
            </a:xfrm>
            <a:prstGeom prst="rect">
              <a:avLst/>
            </a:prstGeom>
            <a:noFill/>
            <a:ln>
              <a:noFill/>
            </a:ln>
          </p:spPr>
          <p:txBody>
            <a:bodyPr vert="eaVert"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a:ln>
                    <a:noFill/>
                  </a:ln>
                  <a:solidFill>
                    <a:srgbClr val="FF3300"/>
                  </a:solidFill>
                  <a:effectLst/>
                  <a:uLnTx/>
                  <a:uFillTx/>
                  <a:latin typeface="+mn-lt"/>
                  <a:ea typeface="+mn-ea"/>
                  <a:cs typeface="+mn-ea"/>
                  <a:sym typeface="+mn-lt"/>
                </a:rPr>
                <a:t>二趟分配</a:t>
              </a:r>
            </a:p>
          </p:txBody>
        </p:sp>
      </p:grpSp>
      <p:grpSp>
        <p:nvGrpSpPr>
          <p:cNvPr id="24" name="Group 85"/>
          <p:cNvGrpSpPr/>
          <p:nvPr/>
        </p:nvGrpSpPr>
        <p:grpSpPr>
          <a:xfrm>
            <a:off x="757238" y="3636963"/>
            <a:ext cx="582612" cy="604837"/>
            <a:chOff x="529" y="1974"/>
            <a:chExt cx="367" cy="381"/>
          </a:xfrm>
        </p:grpSpPr>
        <p:sp>
          <p:nvSpPr>
            <p:cNvPr id="162900" name="Text Box 86"/>
            <p:cNvSpPr txBox="1">
              <a:spLocks noChangeArrowheads="1"/>
            </p:cNvSpPr>
            <p:nvPr/>
          </p:nvSpPr>
          <p:spPr bwMode="auto">
            <a:xfrm>
              <a:off x="529" y="1974"/>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008</a:t>
              </a:r>
            </a:p>
          </p:txBody>
        </p:sp>
        <p:sp>
          <p:nvSpPr>
            <p:cNvPr id="162901" name="Line 87"/>
            <p:cNvSpPr>
              <a:spLocks noChangeShapeType="1"/>
            </p:cNvSpPr>
            <p:nvPr/>
          </p:nvSpPr>
          <p:spPr bwMode="auto">
            <a:xfrm flipV="1">
              <a:off x="688" y="2210"/>
              <a:ext cx="0" cy="145"/>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5" name="Group 88"/>
          <p:cNvGrpSpPr/>
          <p:nvPr/>
        </p:nvGrpSpPr>
        <p:grpSpPr>
          <a:xfrm>
            <a:off x="757238" y="2741613"/>
            <a:ext cx="582612" cy="900112"/>
            <a:chOff x="529" y="1410"/>
            <a:chExt cx="367" cy="567"/>
          </a:xfrm>
        </p:grpSpPr>
        <p:sp>
          <p:nvSpPr>
            <p:cNvPr id="162903" name="Text Box 89"/>
            <p:cNvSpPr txBox="1">
              <a:spLocks noChangeArrowheads="1"/>
            </p:cNvSpPr>
            <p:nvPr/>
          </p:nvSpPr>
          <p:spPr bwMode="auto">
            <a:xfrm>
              <a:off x="529" y="1600"/>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109</a:t>
              </a:r>
            </a:p>
          </p:txBody>
        </p:sp>
        <p:sp>
          <p:nvSpPr>
            <p:cNvPr id="162904" name="Line 90"/>
            <p:cNvSpPr>
              <a:spLocks noChangeShapeType="1"/>
            </p:cNvSpPr>
            <p:nvPr/>
          </p:nvSpPr>
          <p:spPr bwMode="auto">
            <a:xfrm flipH="1">
              <a:off x="710" y="1410"/>
              <a:ext cx="1" cy="189"/>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2905" name="Line 91"/>
            <p:cNvSpPr>
              <a:spLocks noChangeShapeType="1"/>
            </p:cNvSpPr>
            <p:nvPr/>
          </p:nvSpPr>
          <p:spPr bwMode="auto">
            <a:xfrm flipV="1">
              <a:off x="688" y="1855"/>
              <a:ext cx="0" cy="122"/>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6" name="Group 92"/>
          <p:cNvGrpSpPr/>
          <p:nvPr/>
        </p:nvGrpSpPr>
        <p:grpSpPr>
          <a:xfrm>
            <a:off x="6604000" y="2830513"/>
            <a:ext cx="582613" cy="2111375"/>
            <a:chOff x="4212" y="1466"/>
            <a:chExt cx="367" cy="1330"/>
          </a:xfrm>
        </p:grpSpPr>
        <p:sp>
          <p:nvSpPr>
            <p:cNvPr id="162907" name="Text Box 93"/>
            <p:cNvSpPr txBox="1">
              <a:spLocks noChangeArrowheads="1"/>
            </p:cNvSpPr>
            <p:nvPr/>
          </p:nvSpPr>
          <p:spPr bwMode="auto">
            <a:xfrm>
              <a:off x="4212" y="2359"/>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278</a:t>
              </a:r>
            </a:p>
          </p:txBody>
        </p:sp>
        <p:sp>
          <p:nvSpPr>
            <p:cNvPr id="162908" name="Line 94"/>
            <p:cNvSpPr>
              <a:spLocks noChangeShapeType="1"/>
            </p:cNvSpPr>
            <p:nvPr/>
          </p:nvSpPr>
          <p:spPr bwMode="auto">
            <a:xfrm flipH="1" flipV="1">
              <a:off x="4381" y="2595"/>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2909" name="Line 95"/>
            <p:cNvSpPr>
              <a:spLocks noChangeShapeType="1"/>
            </p:cNvSpPr>
            <p:nvPr/>
          </p:nvSpPr>
          <p:spPr bwMode="auto">
            <a:xfrm>
              <a:off x="4389" y="1466"/>
              <a:ext cx="0" cy="90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39" name="Group 96"/>
          <p:cNvGrpSpPr/>
          <p:nvPr/>
        </p:nvGrpSpPr>
        <p:grpSpPr>
          <a:xfrm>
            <a:off x="355600" y="993775"/>
            <a:ext cx="8558213" cy="1041400"/>
            <a:chOff x="209" y="3062"/>
            <a:chExt cx="5391" cy="656"/>
          </a:xfrm>
        </p:grpSpPr>
        <p:grpSp>
          <p:nvGrpSpPr>
            <p:cNvPr id="180241" name="Group 97"/>
            <p:cNvGrpSpPr/>
            <p:nvPr/>
          </p:nvGrpSpPr>
          <p:grpSpPr>
            <a:xfrm>
              <a:off x="327" y="3462"/>
              <a:ext cx="5273" cy="256"/>
              <a:chOff x="354" y="1045"/>
              <a:chExt cx="5273" cy="256"/>
            </a:xfrm>
          </p:grpSpPr>
          <p:grpSp>
            <p:nvGrpSpPr>
              <p:cNvPr id="180243" name="Group 98"/>
              <p:cNvGrpSpPr/>
              <p:nvPr/>
            </p:nvGrpSpPr>
            <p:grpSpPr>
              <a:xfrm>
                <a:off x="354" y="1045"/>
                <a:ext cx="542" cy="256"/>
                <a:chOff x="1133" y="1389"/>
                <a:chExt cx="542" cy="256"/>
              </a:xfrm>
            </p:grpSpPr>
            <p:sp>
              <p:nvSpPr>
                <p:cNvPr id="162913" name="Rectangle 99"/>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930</a:t>
                  </a:r>
                </a:p>
              </p:txBody>
            </p:sp>
            <p:sp>
              <p:nvSpPr>
                <p:cNvPr id="162914" name="Line 100"/>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44" name="Group 101"/>
              <p:cNvGrpSpPr/>
              <p:nvPr/>
            </p:nvGrpSpPr>
            <p:grpSpPr>
              <a:xfrm>
                <a:off x="880" y="1045"/>
                <a:ext cx="542" cy="256"/>
                <a:chOff x="1133" y="1389"/>
                <a:chExt cx="542" cy="256"/>
              </a:xfrm>
            </p:grpSpPr>
            <p:sp>
              <p:nvSpPr>
                <p:cNvPr id="162916" name="Rectangle 102"/>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063</a:t>
                  </a:r>
                </a:p>
              </p:txBody>
            </p:sp>
            <p:sp>
              <p:nvSpPr>
                <p:cNvPr id="162917" name="Line 103"/>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45" name="Group 104"/>
              <p:cNvGrpSpPr/>
              <p:nvPr/>
            </p:nvGrpSpPr>
            <p:grpSpPr>
              <a:xfrm>
                <a:off x="1406" y="1045"/>
                <a:ext cx="542" cy="256"/>
                <a:chOff x="1133" y="1389"/>
                <a:chExt cx="542" cy="256"/>
              </a:xfrm>
            </p:grpSpPr>
            <p:sp>
              <p:nvSpPr>
                <p:cNvPr id="162919" name="Rectangle 105"/>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083</a:t>
                  </a:r>
                </a:p>
              </p:txBody>
            </p:sp>
            <p:sp>
              <p:nvSpPr>
                <p:cNvPr id="162920" name="Line 106"/>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46" name="Group 107"/>
              <p:cNvGrpSpPr/>
              <p:nvPr/>
            </p:nvGrpSpPr>
            <p:grpSpPr>
              <a:xfrm>
                <a:off x="1931" y="1045"/>
                <a:ext cx="542" cy="256"/>
                <a:chOff x="1133" y="1389"/>
                <a:chExt cx="542" cy="256"/>
              </a:xfrm>
            </p:grpSpPr>
            <p:sp>
              <p:nvSpPr>
                <p:cNvPr id="162922" name="Rectangle 108"/>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184</a:t>
                  </a:r>
                </a:p>
              </p:txBody>
            </p:sp>
            <p:sp>
              <p:nvSpPr>
                <p:cNvPr id="162923" name="Line 109"/>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47" name="Group 110"/>
              <p:cNvGrpSpPr/>
              <p:nvPr/>
            </p:nvGrpSpPr>
            <p:grpSpPr>
              <a:xfrm>
                <a:off x="2457" y="1045"/>
                <a:ext cx="542" cy="256"/>
                <a:chOff x="1133" y="1389"/>
                <a:chExt cx="542" cy="256"/>
              </a:xfrm>
            </p:grpSpPr>
            <p:sp>
              <p:nvSpPr>
                <p:cNvPr id="162925" name="Rectangle 111"/>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505</a:t>
                  </a:r>
                </a:p>
              </p:txBody>
            </p:sp>
            <p:sp>
              <p:nvSpPr>
                <p:cNvPr id="162926" name="Line 112"/>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48" name="Group 113"/>
              <p:cNvGrpSpPr/>
              <p:nvPr/>
            </p:nvGrpSpPr>
            <p:grpSpPr>
              <a:xfrm>
                <a:off x="2983" y="1045"/>
                <a:ext cx="542" cy="256"/>
                <a:chOff x="1133" y="1389"/>
                <a:chExt cx="542" cy="256"/>
              </a:xfrm>
            </p:grpSpPr>
            <p:sp>
              <p:nvSpPr>
                <p:cNvPr id="162928" name="Rectangle 114"/>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278</a:t>
                  </a:r>
                </a:p>
              </p:txBody>
            </p:sp>
            <p:sp>
              <p:nvSpPr>
                <p:cNvPr id="162929" name="Line 115"/>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49" name="Group 116"/>
              <p:cNvGrpSpPr/>
              <p:nvPr/>
            </p:nvGrpSpPr>
            <p:grpSpPr>
              <a:xfrm>
                <a:off x="3508" y="1045"/>
                <a:ext cx="542" cy="256"/>
                <a:chOff x="1133" y="1389"/>
                <a:chExt cx="542" cy="256"/>
              </a:xfrm>
            </p:grpSpPr>
            <p:sp>
              <p:nvSpPr>
                <p:cNvPr id="162931" name="Rectangle 117"/>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008</a:t>
                  </a:r>
                </a:p>
              </p:txBody>
            </p:sp>
            <p:sp>
              <p:nvSpPr>
                <p:cNvPr id="162932" name="Line 118"/>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50" name="Group 119"/>
              <p:cNvGrpSpPr/>
              <p:nvPr/>
            </p:nvGrpSpPr>
            <p:grpSpPr>
              <a:xfrm>
                <a:off x="4034" y="1045"/>
                <a:ext cx="542" cy="256"/>
                <a:chOff x="1133" y="1389"/>
                <a:chExt cx="542" cy="256"/>
              </a:xfrm>
            </p:grpSpPr>
            <p:sp>
              <p:nvSpPr>
                <p:cNvPr id="162934" name="Rectangle 120"/>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109</a:t>
                  </a:r>
                </a:p>
              </p:txBody>
            </p:sp>
            <p:sp>
              <p:nvSpPr>
                <p:cNvPr id="162935" name="Line 121"/>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51" name="Group 122"/>
              <p:cNvGrpSpPr/>
              <p:nvPr/>
            </p:nvGrpSpPr>
            <p:grpSpPr>
              <a:xfrm>
                <a:off x="4560" y="1045"/>
                <a:ext cx="542" cy="256"/>
                <a:chOff x="1133" y="1389"/>
                <a:chExt cx="542" cy="256"/>
              </a:xfrm>
            </p:grpSpPr>
            <p:sp>
              <p:nvSpPr>
                <p:cNvPr id="162937" name="Rectangle 123"/>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589</a:t>
                  </a:r>
                </a:p>
              </p:txBody>
            </p:sp>
            <p:sp>
              <p:nvSpPr>
                <p:cNvPr id="162938" name="Line 124"/>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0252" name="Group 125"/>
              <p:cNvGrpSpPr/>
              <p:nvPr/>
            </p:nvGrpSpPr>
            <p:grpSpPr>
              <a:xfrm>
                <a:off x="5085" y="1045"/>
                <a:ext cx="542" cy="256"/>
                <a:chOff x="1133" y="1389"/>
                <a:chExt cx="542" cy="256"/>
              </a:xfrm>
            </p:grpSpPr>
            <p:sp>
              <p:nvSpPr>
                <p:cNvPr id="162940" name="Rectangle 126"/>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269</a:t>
                  </a:r>
                </a:p>
              </p:txBody>
            </p:sp>
            <p:sp>
              <p:nvSpPr>
                <p:cNvPr id="162941" name="Line 127"/>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162942" name="Text Box 128"/>
            <p:cNvSpPr txBox="1">
              <a:spLocks noChangeArrowheads="1"/>
            </p:cNvSpPr>
            <p:nvPr/>
          </p:nvSpPr>
          <p:spPr bwMode="auto">
            <a:xfrm>
              <a:off x="209" y="3062"/>
              <a:ext cx="888" cy="288"/>
            </a:xfrm>
            <a:prstGeom prst="rect">
              <a:avLst/>
            </a:prstGeom>
            <a:noFill/>
            <a:ln w="9525">
              <a:noFill/>
              <a:miter lim="800000"/>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一趟收集</a:t>
              </a:r>
            </a:p>
          </p:txBody>
        </p:sp>
      </p:grpSp>
      <p:sp>
        <p:nvSpPr>
          <p:cNvPr id="128" name="Rectangle 7"/>
          <p:cNvSpPr>
            <a:spLocks noChangeArrowheads="1"/>
          </p:cNvSpPr>
          <p:nvPr/>
        </p:nvSpPr>
        <p:spPr bwMode="auto">
          <a:xfrm>
            <a:off x="900113" y="158750"/>
            <a:ext cx="2338388" cy="581025"/>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链式基数排序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anim calcmode="lin" valueType="num">
                                      <p:cBhvr additive="base">
                                        <p:cTn id="7" dur="500" fill="hold"/>
                                        <p:tgtEl>
                                          <p:spTgt spid="129"/>
                                        </p:tgtEl>
                                        <p:attrNameLst>
                                          <p:attrName>ppt_x</p:attrName>
                                        </p:attrNameLst>
                                      </p:cBhvr>
                                      <p:tavLst>
                                        <p:tav tm="0">
                                          <p:val>
                                            <p:strVal val="#ppt_x"/>
                                          </p:val>
                                        </p:tav>
                                        <p:tav tm="100000">
                                          <p:val>
                                            <p:strVal val="#ppt_x"/>
                                          </p:val>
                                        </p:tav>
                                      </p:tavLst>
                                    </p:anim>
                                    <p:anim calcmode="lin" valueType="num">
                                      <p:cBhvr additive="base">
                                        <p:cTn id="8" dur="500" fill="hold"/>
                                        <p:tgtEl>
                                          <p:spTgt spid="12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32"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box(out)">
                                      <p:cBhvr>
                                        <p:cTn id="13" dur="500"/>
                                        <p:tgtEl>
                                          <p:spTgt spid="21"/>
                                        </p:tgtEl>
                                      </p:cBhvr>
                                    </p:animEffect>
                                  </p:childTnLst>
                                  <p:subTnLst>
                                    <p:audio>
                                      <p:cMediaNode>
                                        <p:cTn display="0" masterRel="sameClick">
                                          <p:stCondLst>
                                            <p:cond evt="begin" delay="0">
                                              <p:tn val="11"/>
                                            </p:cond>
                                          </p:stCondLst>
                                          <p:endCondLst>
                                            <p:cond evt="onStopAudio" delay="0">
                                              <p:tgtEl>
                                                <p:sldTgt/>
                                              </p:tgtEl>
                                            </p:cond>
                                          </p:endCondLst>
                                        </p:cTn>
                                        <p:tgtEl>
                                          <p:sndTgt r:embed="rId2" name="CAMERA.WAV"/>
                                        </p:tgtEl>
                                      </p:cMediaNode>
                                    </p:audio>
                                  </p:subTnLst>
                                </p:cTn>
                              </p:par>
                            </p:childTnLst>
                          </p:cTn>
                        </p:par>
                      </p:childTnLst>
                    </p:cTn>
                  </p:par>
                  <p:par>
                    <p:cTn id="14" fill="hold">
                      <p:stCondLst>
                        <p:cond delay="indefinite"/>
                      </p:stCondLst>
                      <p:childTnLst>
                        <p:par>
                          <p:cTn id="15" fill="hold">
                            <p:stCondLst>
                              <p:cond delay="0"/>
                            </p:stCondLst>
                            <p:childTnLst>
                              <p:par>
                                <p:cTn id="16" presetID="4" presetClass="entr" presetSubtype="32" fill="hold" nodeType="click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box(out)">
                                      <p:cBhvr>
                                        <p:cTn id="18" dur="500"/>
                                        <p:tgtEl>
                                          <p:spTgt spid="20"/>
                                        </p:tgtEl>
                                      </p:cBhvr>
                                    </p:animEffect>
                                  </p:childTnLst>
                                  <p:subTnLst>
                                    <p:audio>
                                      <p:cMediaNode>
                                        <p:cTn display="0" masterRel="sameClick">
                                          <p:stCondLst>
                                            <p:cond evt="begin" delay="0">
                                              <p:tn val="16"/>
                                            </p:cond>
                                          </p:stCondLst>
                                          <p:endCondLst>
                                            <p:cond evt="onStopAudio" delay="0">
                                              <p:tgtEl>
                                                <p:sldTgt/>
                                              </p:tgtEl>
                                            </p:cond>
                                          </p:endCondLst>
                                        </p:cTn>
                                        <p:tgtEl>
                                          <p:sndTgt r:embed="rId2" name="CAMERA.WAV"/>
                                        </p:tgtEl>
                                      </p:cMediaNode>
                                    </p:audio>
                                  </p:subTnLst>
                                </p:cTn>
                              </p:par>
                            </p:childTnLst>
                          </p:cTn>
                        </p:par>
                      </p:childTnLst>
                    </p:cTn>
                  </p:par>
                  <p:par>
                    <p:cTn id="19" fill="hold">
                      <p:stCondLst>
                        <p:cond delay="indefinite"/>
                      </p:stCondLst>
                      <p:childTnLst>
                        <p:par>
                          <p:cTn id="20" fill="hold">
                            <p:stCondLst>
                              <p:cond delay="0"/>
                            </p:stCondLst>
                            <p:childTnLst>
                              <p:par>
                                <p:cTn id="21" presetID="4" presetClass="entr" presetSubtype="32" fill="hold" nodeType="click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box(out)">
                                      <p:cBhvr>
                                        <p:cTn id="23" dur="500"/>
                                        <p:tgtEl>
                                          <p:spTgt spid="17"/>
                                        </p:tgtEl>
                                      </p:cBhvr>
                                    </p:animEffect>
                                  </p:childTnLst>
                                  <p:subTnLst>
                                    <p:audio>
                                      <p:cMediaNode>
                                        <p:cTn display="0" masterRel="sameClick">
                                          <p:stCondLst>
                                            <p:cond evt="begin" delay="0">
                                              <p:tn val="21"/>
                                            </p:cond>
                                          </p:stCondLst>
                                          <p:endCondLst>
                                            <p:cond evt="onStopAudio" delay="0">
                                              <p:tgtEl>
                                                <p:sldTgt/>
                                              </p:tgtEl>
                                            </p:cond>
                                          </p:endCondLst>
                                        </p:cTn>
                                        <p:tgtEl>
                                          <p:sndTgt r:embed="rId2" name="CAMERA.WAV"/>
                                        </p:tgtEl>
                                      </p:cMediaNode>
                                    </p:audio>
                                  </p:subTnLst>
                                </p:cTn>
                              </p:par>
                            </p:childTnLst>
                          </p:cTn>
                        </p:par>
                      </p:childTnLst>
                    </p:cTn>
                  </p:par>
                  <p:par>
                    <p:cTn id="24" fill="hold">
                      <p:stCondLst>
                        <p:cond delay="indefinite"/>
                      </p:stCondLst>
                      <p:childTnLst>
                        <p:par>
                          <p:cTn id="25" fill="hold">
                            <p:stCondLst>
                              <p:cond delay="0"/>
                            </p:stCondLst>
                            <p:childTnLst>
                              <p:par>
                                <p:cTn id="26" presetID="4" presetClass="entr" presetSubtype="32"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box(out)">
                                      <p:cBhvr>
                                        <p:cTn id="28" dur="500"/>
                                        <p:tgtEl>
                                          <p:spTgt spid="14"/>
                                        </p:tgtEl>
                                      </p:cBhvr>
                                    </p:animEffect>
                                  </p:childTnLst>
                                  <p:subTnLst>
                                    <p:audio>
                                      <p:cMediaNode>
                                        <p:cTn display="0" masterRel="sameClick">
                                          <p:stCondLst>
                                            <p:cond evt="begin" delay="0">
                                              <p:tn val="26"/>
                                            </p:cond>
                                          </p:stCondLst>
                                          <p:endCondLst>
                                            <p:cond evt="onStopAudio" delay="0">
                                              <p:tgtEl>
                                                <p:sldTgt/>
                                              </p:tgtEl>
                                            </p:cond>
                                          </p:endCondLst>
                                        </p:cTn>
                                        <p:tgtEl>
                                          <p:sndTgt r:embed="rId2" name="CAMERA.WAV"/>
                                        </p:tgtEl>
                                      </p:cMediaNode>
                                    </p:audio>
                                  </p:subTnLst>
                                </p:cTn>
                              </p:par>
                            </p:childTnLst>
                          </p:cTn>
                        </p:par>
                      </p:childTnLst>
                    </p:cTn>
                  </p:par>
                  <p:par>
                    <p:cTn id="29" fill="hold">
                      <p:stCondLst>
                        <p:cond delay="indefinite"/>
                      </p:stCondLst>
                      <p:childTnLst>
                        <p:par>
                          <p:cTn id="30" fill="hold">
                            <p:stCondLst>
                              <p:cond delay="0"/>
                            </p:stCondLst>
                            <p:childTnLst>
                              <p:par>
                                <p:cTn id="31" presetID="4" presetClass="entr" presetSubtype="32"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box(out)">
                                      <p:cBhvr>
                                        <p:cTn id="33" dur="500"/>
                                        <p:tgtEl>
                                          <p:spTgt spid="15"/>
                                        </p:tgtEl>
                                      </p:cBhvr>
                                    </p:animEffect>
                                  </p:childTnLst>
                                  <p:subTnLst>
                                    <p:audio>
                                      <p:cMediaNode>
                                        <p:cTn display="0" masterRel="sameClick">
                                          <p:stCondLst>
                                            <p:cond evt="begin" delay="0">
                                              <p:tn val="31"/>
                                            </p:cond>
                                          </p:stCondLst>
                                          <p:endCondLst>
                                            <p:cond evt="onStopAudio" delay="0">
                                              <p:tgtEl>
                                                <p:sldTgt/>
                                              </p:tgtEl>
                                            </p:cond>
                                          </p:endCondLst>
                                        </p:cTn>
                                        <p:tgtEl>
                                          <p:sndTgt r:embed="rId2" name="CAMERA.WAV"/>
                                        </p:tgtEl>
                                      </p:cMediaNode>
                                    </p:audio>
                                  </p:subTnLst>
                                </p:cTn>
                              </p:par>
                            </p:childTnLst>
                          </p:cTn>
                        </p:par>
                      </p:childTnLst>
                    </p:cTn>
                  </p:par>
                  <p:par>
                    <p:cTn id="34" fill="hold">
                      <p:stCondLst>
                        <p:cond delay="indefinite"/>
                      </p:stCondLst>
                      <p:childTnLst>
                        <p:par>
                          <p:cTn id="35" fill="hold">
                            <p:stCondLst>
                              <p:cond delay="0"/>
                            </p:stCondLst>
                            <p:childTnLst>
                              <p:par>
                                <p:cTn id="36" presetID="4" presetClass="entr" presetSubtype="32" fill="hold" nodeType="click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box(out)">
                                      <p:cBhvr>
                                        <p:cTn id="38" dur="500"/>
                                        <p:tgtEl>
                                          <p:spTgt spid="18"/>
                                        </p:tgtEl>
                                      </p:cBhvr>
                                    </p:animEffect>
                                  </p:childTnLst>
                                  <p:subTnLst>
                                    <p:audio>
                                      <p:cMediaNode>
                                        <p:cTn display="0" masterRel="sameClick">
                                          <p:stCondLst>
                                            <p:cond evt="begin" delay="0">
                                              <p:tn val="36"/>
                                            </p:cond>
                                          </p:stCondLst>
                                          <p:endCondLst>
                                            <p:cond evt="onStopAudio" delay="0">
                                              <p:tgtEl>
                                                <p:sldTgt/>
                                              </p:tgtEl>
                                            </p:cond>
                                          </p:endCondLst>
                                        </p:cTn>
                                        <p:tgtEl>
                                          <p:sndTgt r:embed="rId2" name="CAMERA.WAV"/>
                                        </p:tgtEl>
                                      </p:cMediaNode>
                                    </p:audio>
                                  </p:subTnLst>
                                </p:cTn>
                              </p:par>
                            </p:childTnLst>
                          </p:cTn>
                        </p:par>
                      </p:childTnLst>
                    </p:cTn>
                  </p:par>
                  <p:par>
                    <p:cTn id="39" fill="hold">
                      <p:stCondLst>
                        <p:cond delay="indefinite"/>
                      </p:stCondLst>
                      <p:childTnLst>
                        <p:par>
                          <p:cTn id="40" fill="hold">
                            <p:stCondLst>
                              <p:cond delay="0"/>
                            </p:stCondLst>
                            <p:childTnLst>
                              <p:par>
                                <p:cTn id="41" presetID="4" presetClass="entr" presetSubtype="32" fill="hold"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box(out)">
                                      <p:cBhvr>
                                        <p:cTn id="43" dur="500"/>
                                        <p:tgtEl>
                                          <p:spTgt spid="26"/>
                                        </p:tgtEl>
                                      </p:cBhvr>
                                    </p:animEffect>
                                  </p:childTnLst>
                                  <p:subTnLst>
                                    <p:audio>
                                      <p:cMediaNode>
                                        <p:cTn display="0" masterRel="sameClick">
                                          <p:stCondLst>
                                            <p:cond evt="begin" delay="0">
                                              <p:tn val="41"/>
                                            </p:cond>
                                          </p:stCondLst>
                                          <p:endCondLst>
                                            <p:cond evt="onStopAudio" delay="0">
                                              <p:tgtEl>
                                                <p:sldTgt/>
                                              </p:tgtEl>
                                            </p:cond>
                                          </p:endCondLst>
                                        </p:cTn>
                                        <p:tgtEl>
                                          <p:sndTgt r:embed="rId2" name="CAMERA.WAV"/>
                                        </p:tgtEl>
                                      </p:cMediaNode>
                                    </p:audio>
                                  </p:subTnLst>
                                </p:cTn>
                              </p:par>
                            </p:childTnLst>
                          </p:cTn>
                        </p:par>
                      </p:childTnLst>
                    </p:cTn>
                  </p:par>
                  <p:par>
                    <p:cTn id="44" fill="hold">
                      <p:stCondLst>
                        <p:cond delay="indefinite"/>
                      </p:stCondLst>
                      <p:childTnLst>
                        <p:par>
                          <p:cTn id="45" fill="hold">
                            <p:stCondLst>
                              <p:cond delay="0"/>
                            </p:stCondLst>
                            <p:childTnLst>
                              <p:par>
                                <p:cTn id="46" presetID="4" presetClass="entr" presetSubtype="32" fill="hold" nodeType="click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box(out)">
                                      <p:cBhvr>
                                        <p:cTn id="48" dur="500"/>
                                        <p:tgtEl>
                                          <p:spTgt spid="24"/>
                                        </p:tgtEl>
                                      </p:cBhvr>
                                    </p:animEffect>
                                  </p:childTnLst>
                                  <p:subTnLst>
                                    <p:audio>
                                      <p:cMediaNode>
                                        <p:cTn display="0" masterRel="sameClick">
                                          <p:stCondLst>
                                            <p:cond evt="begin" delay="0">
                                              <p:tn val="46"/>
                                            </p:cond>
                                          </p:stCondLst>
                                          <p:endCondLst>
                                            <p:cond evt="onStopAudio" delay="0">
                                              <p:tgtEl>
                                                <p:sldTgt/>
                                              </p:tgtEl>
                                            </p:cond>
                                          </p:endCondLst>
                                        </p:cTn>
                                        <p:tgtEl>
                                          <p:sndTgt r:embed="rId2" name="CAMERA.WAV"/>
                                        </p:tgtEl>
                                      </p:cMediaNode>
                                    </p:audio>
                                  </p:subTnLst>
                                </p:cTn>
                              </p:par>
                            </p:childTnLst>
                          </p:cTn>
                        </p:par>
                      </p:childTnLst>
                    </p:cTn>
                  </p:par>
                  <p:par>
                    <p:cTn id="49" fill="hold">
                      <p:stCondLst>
                        <p:cond delay="indefinite"/>
                      </p:stCondLst>
                      <p:childTnLst>
                        <p:par>
                          <p:cTn id="50" fill="hold">
                            <p:stCondLst>
                              <p:cond delay="0"/>
                            </p:stCondLst>
                            <p:childTnLst>
                              <p:par>
                                <p:cTn id="51" presetID="4" presetClass="entr" presetSubtype="32" fill="hold" nodeType="click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box(out)">
                                      <p:cBhvr>
                                        <p:cTn id="53" dur="500"/>
                                        <p:tgtEl>
                                          <p:spTgt spid="25"/>
                                        </p:tgtEl>
                                      </p:cBhvr>
                                    </p:animEffect>
                                  </p:childTnLst>
                                  <p:subTnLst>
                                    <p:audio>
                                      <p:cMediaNode>
                                        <p:cTn display="0" masterRel="sameClick">
                                          <p:stCondLst>
                                            <p:cond evt="begin" delay="0">
                                              <p:tn val="51"/>
                                            </p:cond>
                                          </p:stCondLst>
                                          <p:endCondLst>
                                            <p:cond evt="onStopAudio" delay="0">
                                              <p:tgtEl>
                                                <p:sldTgt/>
                                              </p:tgtEl>
                                            </p:cond>
                                          </p:endCondLst>
                                        </p:cTn>
                                        <p:tgtEl>
                                          <p:sndTgt r:embed="rId2" name="CAMERA.WAV"/>
                                        </p:tgtEl>
                                      </p:cMediaNode>
                                    </p:audio>
                                  </p:subTnLst>
                                </p:cTn>
                              </p:par>
                            </p:childTnLst>
                          </p:cTn>
                        </p:par>
                      </p:childTnLst>
                    </p:cTn>
                  </p:par>
                  <p:par>
                    <p:cTn id="54" fill="hold">
                      <p:stCondLst>
                        <p:cond delay="indefinite"/>
                      </p:stCondLst>
                      <p:childTnLst>
                        <p:par>
                          <p:cTn id="55" fill="hold">
                            <p:stCondLst>
                              <p:cond delay="0"/>
                            </p:stCondLst>
                            <p:childTnLst>
                              <p:par>
                                <p:cTn id="56" presetID="4" presetClass="entr" presetSubtype="32" fill="hold"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box(out)">
                                      <p:cBhvr>
                                        <p:cTn id="58" dur="500"/>
                                        <p:tgtEl>
                                          <p:spTgt spid="16"/>
                                        </p:tgtEl>
                                      </p:cBhvr>
                                    </p:animEffect>
                                  </p:childTnLst>
                                  <p:subTnLst>
                                    <p:audio>
                                      <p:cMediaNode>
                                        <p:cTn display="0" masterRel="sameClick">
                                          <p:stCondLst>
                                            <p:cond evt="begin" delay="0">
                                              <p:tn val="56"/>
                                            </p:cond>
                                          </p:stCondLst>
                                          <p:endCondLst>
                                            <p:cond evt="onStopAudio" delay="0">
                                              <p:tgtEl>
                                                <p:sldTgt/>
                                              </p:tgtEl>
                                            </p:cond>
                                          </p:endCondLst>
                                        </p:cTn>
                                        <p:tgtEl>
                                          <p:sndTgt r:embed="rId2" name="CAMERA.WAV"/>
                                        </p:tgtEl>
                                      </p:cMediaNode>
                                    </p:audio>
                                  </p:subTnLst>
                                </p:cTn>
                              </p:par>
                            </p:childTnLst>
                          </p:cTn>
                        </p:par>
                      </p:childTnLst>
                    </p:cTn>
                  </p:par>
                  <p:par>
                    <p:cTn id="59" fill="hold">
                      <p:stCondLst>
                        <p:cond delay="indefinite"/>
                      </p:stCondLst>
                      <p:childTnLst>
                        <p:par>
                          <p:cTn id="60" fill="hold">
                            <p:stCondLst>
                              <p:cond delay="0"/>
                            </p:stCondLst>
                            <p:childTnLst>
                              <p:par>
                                <p:cTn id="61" presetID="4" presetClass="entr" presetSubtype="32" fill="hold" nodeType="click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box(out)">
                                      <p:cBhvr>
                                        <p:cTn id="63" dur="500"/>
                                        <p:tgtEl>
                                          <p:spTgt spid="19"/>
                                        </p:tgtEl>
                                      </p:cBhvr>
                                    </p:animEffect>
                                  </p:childTnLst>
                                  <p:subTnLst>
                                    <p:audio>
                                      <p:cMediaNode>
                                        <p:cTn display="0" masterRel="sameClick">
                                          <p:stCondLst>
                                            <p:cond evt="begin" delay="0">
                                              <p:tn val="61"/>
                                            </p:cond>
                                          </p:stCondLst>
                                          <p:endCondLst>
                                            <p:cond evt="onStopAudio" delay="0">
                                              <p:tgtEl>
                                                <p:sldTgt/>
                                              </p:tgtEl>
                                            </p:cond>
                                          </p:endCondLst>
                                        </p:cTn>
                                        <p:tgtEl>
                                          <p:sndTgt r:embed="rId2" name="CAMERA.WAV"/>
                                        </p:tgtEl>
                                      </p:cMediaNode>
                                    </p:audio>
                                  </p:subTnLst>
                                </p:cTn>
                              </p:par>
                            </p:childTnLst>
                          </p:cTn>
                        </p:par>
                      </p:childTnLst>
                    </p:cTn>
                  </p:par>
                  <p:par>
                    <p:cTn id="64" fill="hold">
                      <p:stCondLst>
                        <p:cond delay="indefinite"/>
                      </p:stCondLst>
                      <p:childTnLst>
                        <p:par>
                          <p:cTn id="65" fill="hold">
                            <p:stCondLst>
                              <p:cond delay="0"/>
                            </p:stCondLst>
                            <p:childTnLst>
                              <p:par>
                                <p:cTn id="66" presetID="4" presetClass="entr" presetSubtype="32" fill="hold" nodeType="clickEffect">
                                  <p:stCondLst>
                                    <p:cond delay="0"/>
                                  </p:stCondLst>
                                  <p:childTnLst>
                                    <p:set>
                                      <p:cBhvr>
                                        <p:cTn id="67" dur="1" fill="hold">
                                          <p:stCondLst>
                                            <p:cond delay="0"/>
                                          </p:stCondLst>
                                        </p:cTn>
                                        <p:tgtEl>
                                          <p:spTgt spid="2"/>
                                        </p:tgtEl>
                                        <p:attrNameLst>
                                          <p:attrName>style.visibility</p:attrName>
                                        </p:attrNameLst>
                                      </p:cBhvr>
                                      <p:to>
                                        <p:strVal val="visible"/>
                                      </p:to>
                                    </p:set>
                                    <p:animEffect transition="in" filter="box(out)">
                                      <p:cBhvr>
                                        <p:cTn id="68" dur="500"/>
                                        <p:tgtEl>
                                          <p:spTgt spid="2"/>
                                        </p:tgtEl>
                                      </p:cBhvr>
                                    </p:animEffect>
                                  </p:childTnLst>
                                  <p:subTnLst>
                                    <p:audio>
                                      <p:cMediaNode>
                                        <p:cTn display="0" masterRel="sameClick">
                                          <p:stCondLst>
                                            <p:cond evt="begin" delay="0">
                                              <p:tn val="66"/>
                                            </p:cond>
                                          </p:stCondLst>
                                          <p:endCondLst>
                                            <p:cond evt="onStopAudio" delay="0">
                                              <p:tgtEl>
                                                <p:sldTgt/>
                                              </p:tgtEl>
                                            </p:cond>
                                          </p:endCondLst>
                                        </p:cTn>
                                        <p:tgtEl>
                                          <p:sndTgt r:embed="rId2"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p:cNvSpPr/>
          <p:nvPr/>
        </p:nvSpPr>
        <p:spPr>
          <a:xfrm>
            <a:off x="0" y="2276475"/>
            <a:ext cx="9144000" cy="3149600"/>
          </a:xfrm>
          <a:prstGeom prst="rect">
            <a:avLst/>
          </a:prstGeom>
          <a:solidFill>
            <a:srgbClr val="C4B3D7"/>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pSp>
        <p:nvGrpSpPr>
          <p:cNvPr id="2" name="Group 4"/>
          <p:cNvGrpSpPr/>
          <p:nvPr/>
        </p:nvGrpSpPr>
        <p:grpSpPr>
          <a:xfrm>
            <a:off x="457200" y="5526088"/>
            <a:ext cx="8370888" cy="1052512"/>
            <a:chOff x="327" y="3055"/>
            <a:chExt cx="5273" cy="663"/>
          </a:xfrm>
        </p:grpSpPr>
        <p:grpSp>
          <p:nvGrpSpPr>
            <p:cNvPr id="181345" name="Group 5"/>
            <p:cNvGrpSpPr/>
            <p:nvPr/>
          </p:nvGrpSpPr>
          <p:grpSpPr>
            <a:xfrm>
              <a:off x="327" y="3462"/>
              <a:ext cx="5273" cy="256"/>
              <a:chOff x="354" y="1045"/>
              <a:chExt cx="5273" cy="256"/>
            </a:xfrm>
          </p:grpSpPr>
          <p:grpSp>
            <p:nvGrpSpPr>
              <p:cNvPr id="181347" name="Group 6"/>
              <p:cNvGrpSpPr/>
              <p:nvPr/>
            </p:nvGrpSpPr>
            <p:grpSpPr>
              <a:xfrm>
                <a:off x="354" y="1045"/>
                <a:ext cx="542" cy="256"/>
                <a:chOff x="1133" y="1389"/>
                <a:chExt cx="542" cy="256"/>
              </a:xfrm>
            </p:grpSpPr>
            <p:sp>
              <p:nvSpPr>
                <p:cNvPr id="163845" name="Rectangle 7"/>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008</a:t>
                  </a:r>
                </a:p>
              </p:txBody>
            </p:sp>
            <p:sp>
              <p:nvSpPr>
                <p:cNvPr id="163846" name="Line 8"/>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348" name="Group 9"/>
              <p:cNvGrpSpPr/>
              <p:nvPr/>
            </p:nvGrpSpPr>
            <p:grpSpPr>
              <a:xfrm>
                <a:off x="880" y="1045"/>
                <a:ext cx="542" cy="256"/>
                <a:chOff x="1133" y="1389"/>
                <a:chExt cx="542" cy="256"/>
              </a:xfrm>
            </p:grpSpPr>
            <p:sp>
              <p:nvSpPr>
                <p:cNvPr id="163848" name="Rectangle 10"/>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063</a:t>
                  </a:r>
                </a:p>
              </p:txBody>
            </p:sp>
            <p:sp>
              <p:nvSpPr>
                <p:cNvPr id="163849" name="Line 11"/>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349" name="Group 12"/>
              <p:cNvGrpSpPr/>
              <p:nvPr/>
            </p:nvGrpSpPr>
            <p:grpSpPr>
              <a:xfrm>
                <a:off x="1406" y="1045"/>
                <a:ext cx="542" cy="256"/>
                <a:chOff x="1133" y="1389"/>
                <a:chExt cx="542" cy="256"/>
              </a:xfrm>
            </p:grpSpPr>
            <p:sp>
              <p:nvSpPr>
                <p:cNvPr id="163851" name="Rectangle 13"/>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083</a:t>
                  </a:r>
                </a:p>
              </p:txBody>
            </p:sp>
            <p:sp>
              <p:nvSpPr>
                <p:cNvPr id="163852" name="Line 14"/>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350" name="Group 15"/>
              <p:cNvGrpSpPr/>
              <p:nvPr/>
            </p:nvGrpSpPr>
            <p:grpSpPr>
              <a:xfrm>
                <a:off x="1931" y="1045"/>
                <a:ext cx="542" cy="256"/>
                <a:chOff x="1133" y="1389"/>
                <a:chExt cx="542" cy="256"/>
              </a:xfrm>
            </p:grpSpPr>
            <p:sp>
              <p:nvSpPr>
                <p:cNvPr id="163854" name="Rectangle 16"/>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109</a:t>
                  </a:r>
                </a:p>
              </p:txBody>
            </p:sp>
            <p:sp>
              <p:nvSpPr>
                <p:cNvPr id="163855" name="Line 17"/>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351" name="Group 18"/>
              <p:cNvGrpSpPr/>
              <p:nvPr/>
            </p:nvGrpSpPr>
            <p:grpSpPr>
              <a:xfrm>
                <a:off x="2457" y="1045"/>
                <a:ext cx="542" cy="256"/>
                <a:chOff x="1133" y="1389"/>
                <a:chExt cx="542" cy="256"/>
              </a:xfrm>
            </p:grpSpPr>
            <p:sp>
              <p:nvSpPr>
                <p:cNvPr id="163857" name="Rectangle 19"/>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184</a:t>
                  </a:r>
                </a:p>
              </p:txBody>
            </p:sp>
            <p:sp>
              <p:nvSpPr>
                <p:cNvPr id="163858" name="Line 20"/>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352" name="Group 21"/>
              <p:cNvGrpSpPr/>
              <p:nvPr/>
            </p:nvGrpSpPr>
            <p:grpSpPr>
              <a:xfrm>
                <a:off x="2983" y="1045"/>
                <a:ext cx="542" cy="256"/>
                <a:chOff x="1133" y="1389"/>
                <a:chExt cx="542" cy="256"/>
              </a:xfrm>
            </p:grpSpPr>
            <p:sp>
              <p:nvSpPr>
                <p:cNvPr id="163860" name="Rectangle 22"/>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269</a:t>
                  </a:r>
                </a:p>
              </p:txBody>
            </p:sp>
            <p:sp>
              <p:nvSpPr>
                <p:cNvPr id="163861" name="Line 23"/>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353" name="Group 24"/>
              <p:cNvGrpSpPr/>
              <p:nvPr/>
            </p:nvGrpSpPr>
            <p:grpSpPr>
              <a:xfrm>
                <a:off x="3508" y="1045"/>
                <a:ext cx="542" cy="256"/>
                <a:chOff x="1133" y="1389"/>
                <a:chExt cx="542" cy="256"/>
              </a:xfrm>
            </p:grpSpPr>
            <p:sp>
              <p:nvSpPr>
                <p:cNvPr id="163863" name="Rectangle 25"/>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278</a:t>
                  </a:r>
                </a:p>
              </p:txBody>
            </p:sp>
            <p:sp>
              <p:nvSpPr>
                <p:cNvPr id="163864" name="Line 26"/>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354" name="Group 27"/>
              <p:cNvGrpSpPr/>
              <p:nvPr/>
            </p:nvGrpSpPr>
            <p:grpSpPr>
              <a:xfrm>
                <a:off x="4034" y="1045"/>
                <a:ext cx="542" cy="256"/>
                <a:chOff x="1133" y="1389"/>
                <a:chExt cx="542" cy="256"/>
              </a:xfrm>
            </p:grpSpPr>
            <p:sp>
              <p:nvSpPr>
                <p:cNvPr id="163866" name="Rectangle 28"/>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505</a:t>
                  </a:r>
                </a:p>
              </p:txBody>
            </p:sp>
            <p:sp>
              <p:nvSpPr>
                <p:cNvPr id="163867" name="Line 29"/>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355" name="Group 30"/>
              <p:cNvGrpSpPr/>
              <p:nvPr/>
            </p:nvGrpSpPr>
            <p:grpSpPr>
              <a:xfrm>
                <a:off x="4560" y="1045"/>
                <a:ext cx="542" cy="256"/>
                <a:chOff x="1133" y="1389"/>
                <a:chExt cx="542" cy="256"/>
              </a:xfrm>
            </p:grpSpPr>
            <p:sp>
              <p:nvSpPr>
                <p:cNvPr id="163869" name="Rectangle 31"/>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589</a:t>
                  </a:r>
                </a:p>
              </p:txBody>
            </p:sp>
            <p:sp>
              <p:nvSpPr>
                <p:cNvPr id="163870" name="Line 32"/>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356" name="Group 33"/>
              <p:cNvGrpSpPr/>
              <p:nvPr/>
            </p:nvGrpSpPr>
            <p:grpSpPr>
              <a:xfrm>
                <a:off x="5085" y="1045"/>
                <a:ext cx="542" cy="256"/>
                <a:chOff x="1133" y="1389"/>
                <a:chExt cx="542" cy="256"/>
              </a:xfrm>
            </p:grpSpPr>
            <p:sp>
              <p:nvSpPr>
                <p:cNvPr id="163872" name="Rectangle 34"/>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930</a:t>
                  </a:r>
                </a:p>
              </p:txBody>
            </p:sp>
            <p:sp>
              <p:nvSpPr>
                <p:cNvPr id="163873" name="Line 35"/>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163874" name="Text Box 36"/>
            <p:cNvSpPr txBox="1">
              <a:spLocks noChangeArrowheads="1"/>
            </p:cNvSpPr>
            <p:nvPr/>
          </p:nvSpPr>
          <p:spPr bwMode="auto">
            <a:xfrm>
              <a:off x="336" y="3055"/>
              <a:ext cx="921"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rgbClr val="FF3300"/>
                  </a:solidFill>
                  <a:effectLst/>
                  <a:uLnTx/>
                  <a:uFillTx/>
                  <a:latin typeface="+mn-lt"/>
                  <a:ea typeface="+mn-ea"/>
                  <a:cs typeface="+mn-ea"/>
                  <a:sym typeface="+mn-lt"/>
                </a:rPr>
                <a:t>三趟收集：</a:t>
              </a:r>
            </a:p>
          </p:txBody>
        </p:sp>
      </p:grpSp>
      <p:grpSp>
        <p:nvGrpSpPr>
          <p:cNvPr id="14" name="Group 37"/>
          <p:cNvGrpSpPr/>
          <p:nvPr/>
        </p:nvGrpSpPr>
        <p:grpSpPr>
          <a:xfrm>
            <a:off x="1614488" y="4248150"/>
            <a:ext cx="582612" cy="693738"/>
            <a:chOff x="1039" y="2570"/>
            <a:chExt cx="367" cy="437"/>
          </a:xfrm>
        </p:grpSpPr>
        <p:sp>
          <p:nvSpPr>
            <p:cNvPr id="163876" name="Text Box 38"/>
            <p:cNvSpPr txBox="1">
              <a:spLocks noChangeArrowheads="1"/>
            </p:cNvSpPr>
            <p:nvPr/>
          </p:nvSpPr>
          <p:spPr bwMode="auto">
            <a:xfrm>
              <a:off x="1039" y="2570"/>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109</a:t>
              </a:r>
            </a:p>
          </p:txBody>
        </p:sp>
        <p:sp>
          <p:nvSpPr>
            <p:cNvPr id="163877" name="Line 39"/>
            <p:cNvSpPr>
              <a:spLocks noChangeShapeType="1"/>
            </p:cNvSpPr>
            <p:nvPr/>
          </p:nvSpPr>
          <p:spPr bwMode="auto">
            <a:xfrm flipH="1" flipV="1">
              <a:off x="1225" y="2806"/>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5" name="Group 40"/>
          <p:cNvGrpSpPr/>
          <p:nvPr/>
        </p:nvGrpSpPr>
        <p:grpSpPr>
          <a:xfrm>
            <a:off x="788988" y="4230688"/>
            <a:ext cx="582612" cy="695325"/>
            <a:chOff x="519" y="2559"/>
            <a:chExt cx="367" cy="438"/>
          </a:xfrm>
        </p:grpSpPr>
        <p:sp>
          <p:nvSpPr>
            <p:cNvPr id="163879" name="Text Box 41"/>
            <p:cNvSpPr txBox="1">
              <a:spLocks noChangeArrowheads="1"/>
            </p:cNvSpPr>
            <p:nvPr/>
          </p:nvSpPr>
          <p:spPr bwMode="auto">
            <a:xfrm>
              <a:off x="519" y="2559"/>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008</a:t>
              </a:r>
            </a:p>
          </p:txBody>
        </p:sp>
        <p:sp>
          <p:nvSpPr>
            <p:cNvPr id="163880" name="Line 42"/>
            <p:cNvSpPr>
              <a:spLocks noChangeShapeType="1"/>
            </p:cNvSpPr>
            <p:nvPr/>
          </p:nvSpPr>
          <p:spPr bwMode="auto">
            <a:xfrm flipH="1" flipV="1">
              <a:off x="670" y="2796"/>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6" name="Group 43"/>
          <p:cNvGrpSpPr/>
          <p:nvPr/>
        </p:nvGrpSpPr>
        <p:grpSpPr>
          <a:xfrm>
            <a:off x="1622425" y="2795588"/>
            <a:ext cx="582613" cy="1422400"/>
            <a:chOff x="1044" y="1655"/>
            <a:chExt cx="367" cy="896"/>
          </a:xfrm>
        </p:grpSpPr>
        <p:sp>
          <p:nvSpPr>
            <p:cNvPr id="163882" name="Text Box 44"/>
            <p:cNvSpPr txBox="1">
              <a:spLocks noChangeArrowheads="1"/>
            </p:cNvSpPr>
            <p:nvPr/>
          </p:nvSpPr>
          <p:spPr bwMode="auto">
            <a:xfrm>
              <a:off x="1044" y="2185"/>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184</a:t>
              </a:r>
            </a:p>
          </p:txBody>
        </p:sp>
        <p:sp>
          <p:nvSpPr>
            <p:cNvPr id="163883" name="Line 45"/>
            <p:cNvSpPr>
              <a:spLocks noChangeShapeType="1"/>
            </p:cNvSpPr>
            <p:nvPr/>
          </p:nvSpPr>
          <p:spPr bwMode="auto">
            <a:xfrm flipV="1">
              <a:off x="1236" y="2440"/>
              <a:ext cx="0" cy="1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3884" name="Line 46"/>
            <p:cNvSpPr>
              <a:spLocks noChangeShapeType="1"/>
            </p:cNvSpPr>
            <p:nvPr/>
          </p:nvSpPr>
          <p:spPr bwMode="auto">
            <a:xfrm>
              <a:off x="1240" y="1655"/>
              <a:ext cx="0" cy="545"/>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7" name="Group 47"/>
          <p:cNvGrpSpPr/>
          <p:nvPr/>
        </p:nvGrpSpPr>
        <p:grpSpPr>
          <a:xfrm>
            <a:off x="8280400" y="2759075"/>
            <a:ext cx="582613" cy="2146300"/>
            <a:chOff x="5238" y="1632"/>
            <a:chExt cx="367" cy="1352"/>
          </a:xfrm>
        </p:grpSpPr>
        <p:sp>
          <p:nvSpPr>
            <p:cNvPr id="163886" name="Text Box 48"/>
            <p:cNvSpPr txBox="1">
              <a:spLocks noChangeArrowheads="1"/>
            </p:cNvSpPr>
            <p:nvPr/>
          </p:nvSpPr>
          <p:spPr bwMode="auto">
            <a:xfrm>
              <a:off x="5238" y="2548"/>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930</a:t>
              </a:r>
            </a:p>
          </p:txBody>
        </p:sp>
        <p:sp>
          <p:nvSpPr>
            <p:cNvPr id="163887" name="Line 49"/>
            <p:cNvSpPr>
              <a:spLocks noChangeShapeType="1"/>
            </p:cNvSpPr>
            <p:nvPr/>
          </p:nvSpPr>
          <p:spPr bwMode="auto">
            <a:xfrm flipH="1" flipV="1">
              <a:off x="5427" y="2783"/>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3888" name="Line 50"/>
            <p:cNvSpPr>
              <a:spLocks noChangeShapeType="1"/>
            </p:cNvSpPr>
            <p:nvPr/>
          </p:nvSpPr>
          <p:spPr bwMode="auto">
            <a:xfrm>
              <a:off x="5420" y="1632"/>
              <a:ext cx="0" cy="9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 name="Group 51"/>
          <p:cNvGrpSpPr/>
          <p:nvPr/>
        </p:nvGrpSpPr>
        <p:grpSpPr>
          <a:xfrm>
            <a:off x="334963" y="2395538"/>
            <a:ext cx="8528050" cy="2841625"/>
            <a:chOff x="233" y="1403"/>
            <a:chExt cx="5372" cy="1790"/>
          </a:xfrm>
        </p:grpSpPr>
        <p:grpSp>
          <p:nvGrpSpPr>
            <p:cNvPr id="181312" name="Group 52"/>
            <p:cNvGrpSpPr/>
            <p:nvPr/>
          </p:nvGrpSpPr>
          <p:grpSpPr>
            <a:xfrm>
              <a:off x="512" y="1403"/>
              <a:ext cx="5093" cy="250"/>
              <a:chOff x="520" y="914"/>
              <a:chExt cx="5093" cy="250"/>
            </a:xfrm>
          </p:grpSpPr>
          <p:sp>
            <p:nvSpPr>
              <p:cNvPr id="163891" name="Text Box 53"/>
              <p:cNvSpPr txBox="1">
                <a:spLocks noChangeArrowheads="1"/>
              </p:cNvSpPr>
              <p:nvPr/>
            </p:nvSpPr>
            <p:spPr bwMode="auto">
              <a:xfrm>
                <a:off x="520"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e[0]</a:t>
                </a:r>
              </a:p>
            </p:txBody>
          </p:sp>
          <p:sp>
            <p:nvSpPr>
              <p:cNvPr id="163892" name="Text Box 54"/>
              <p:cNvSpPr txBox="1">
                <a:spLocks noChangeArrowheads="1"/>
              </p:cNvSpPr>
              <p:nvPr/>
            </p:nvSpPr>
            <p:spPr bwMode="auto">
              <a:xfrm>
                <a:off x="1044"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e[1]</a:t>
                </a:r>
              </a:p>
            </p:txBody>
          </p:sp>
          <p:sp>
            <p:nvSpPr>
              <p:cNvPr id="163893" name="Text Box 55"/>
              <p:cNvSpPr txBox="1">
                <a:spLocks noChangeArrowheads="1"/>
              </p:cNvSpPr>
              <p:nvPr/>
            </p:nvSpPr>
            <p:spPr bwMode="auto">
              <a:xfrm>
                <a:off x="1568"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e[2]</a:t>
                </a:r>
              </a:p>
            </p:txBody>
          </p:sp>
          <p:sp>
            <p:nvSpPr>
              <p:cNvPr id="163894" name="Text Box 56"/>
              <p:cNvSpPr txBox="1">
                <a:spLocks noChangeArrowheads="1"/>
              </p:cNvSpPr>
              <p:nvPr/>
            </p:nvSpPr>
            <p:spPr bwMode="auto">
              <a:xfrm>
                <a:off x="2093"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e[3]</a:t>
                </a:r>
              </a:p>
            </p:txBody>
          </p:sp>
          <p:sp>
            <p:nvSpPr>
              <p:cNvPr id="163895" name="Text Box 57"/>
              <p:cNvSpPr txBox="1">
                <a:spLocks noChangeArrowheads="1"/>
              </p:cNvSpPr>
              <p:nvPr/>
            </p:nvSpPr>
            <p:spPr bwMode="auto">
              <a:xfrm>
                <a:off x="2617"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e[4]</a:t>
                </a:r>
              </a:p>
            </p:txBody>
          </p:sp>
          <p:sp>
            <p:nvSpPr>
              <p:cNvPr id="163896" name="Text Box 58"/>
              <p:cNvSpPr txBox="1">
                <a:spLocks noChangeArrowheads="1"/>
              </p:cNvSpPr>
              <p:nvPr/>
            </p:nvSpPr>
            <p:spPr bwMode="auto">
              <a:xfrm>
                <a:off x="3142"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e[5]</a:t>
                </a:r>
              </a:p>
            </p:txBody>
          </p:sp>
          <p:sp>
            <p:nvSpPr>
              <p:cNvPr id="163897" name="Text Box 59"/>
              <p:cNvSpPr txBox="1">
                <a:spLocks noChangeArrowheads="1"/>
              </p:cNvSpPr>
              <p:nvPr/>
            </p:nvSpPr>
            <p:spPr bwMode="auto">
              <a:xfrm>
                <a:off x="3666"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e[6]</a:t>
                </a:r>
              </a:p>
            </p:txBody>
          </p:sp>
          <p:sp>
            <p:nvSpPr>
              <p:cNvPr id="163898" name="Text Box 60"/>
              <p:cNvSpPr txBox="1">
                <a:spLocks noChangeArrowheads="1"/>
              </p:cNvSpPr>
              <p:nvPr/>
            </p:nvSpPr>
            <p:spPr bwMode="auto">
              <a:xfrm>
                <a:off x="4191"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e[7]</a:t>
                </a:r>
              </a:p>
            </p:txBody>
          </p:sp>
          <p:sp>
            <p:nvSpPr>
              <p:cNvPr id="163899" name="Text Box 61"/>
              <p:cNvSpPr txBox="1">
                <a:spLocks noChangeArrowheads="1"/>
              </p:cNvSpPr>
              <p:nvPr/>
            </p:nvSpPr>
            <p:spPr bwMode="auto">
              <a:xfrm>
                <a:off x="4715"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e[8]</a:t>
                </a:r>
              </a:p>
            </p:txBody>
          </p:sp>
          <p:sp>
            <p:nvSpPr>
              <p:cNvPr id="163900" name="Text Box 62"/>
              <p:cNvSpPr txBox="1">
                <a:spLocks noChangeArrowheads="1"/>
              </p:cNvSpPr>
              <p:nvPr/>
            </p:nvSpPr>
            <p:spPr bwMode="auto">
              <a:xfrm>
                <a:off x="5240" y="914"/>
                <a:ext cx="373"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e[9]</a:t>
                </a:r>
              </a:p>
            </p:txBody>
          </p:sp>
        </p:grpSp>
        <p:grpSp>
          <p:nvGrpSpPr>
            <p:cNvPr id="181313" name="Group 63"/>
            <p:cNvGrpSpPr/>
            <p:nvPr/>
          </p:nvGrpSpPr>
          <p:grpSpPr>
            <a:xfrm>
              <a:off x="512" y="2943"/>
              <a:ext cx="5075" cy="250"/>
              <a:chOff x="520" y="914"/>
              <a:chExt cx="5075" cy="250"/>
            </a:xfrm>
          </p:grpSpPr>
          <p:sp>
            <p:nvSpPr>
              <p:cNvPr id="163902" name="Text Box 64"/>
              <p:cNvSpPr txBox="1">
                <a:spLocks noChangeArrowheads="1"/>
              </p:cNvSpPr>
              <p:nvPr/>
            </p:nvSpPr>
            <p:spPr bwMode="auto">
              <a:xfrm>
                <a:off x="520"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f[0]</a:t>
                </a:r>
              </a:p>
            </p:txBody>
          </p:sp>
          <p:sp>
            <p:nvSpPr>
              <p:cNvPr id="163903" name="Text Box 65"/>
              <p:cNvSpPr txBox="1">
                <a:spLocks noChangeArrowheads="1"/>
              </p:cNvSpPr>
              <p:nvPr/>
            </p:nvSpPr>
            <p:spPr bwMode="auto">
              <a:xfrm>
                <a:off x="1044"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f[1]</a:t>
                </a:r>
              </a:p>
            </p:txBody>
          </p:sp>
          <p:sp>
            <p:nvSpPr>
              <p:cNvPr id="163904" name="Text Box 66"/>
              <p:cNvSpPr txBox="1">
                <a:spLocks noChangeArrowheads="1"/>
              </p:cNvSpPr>
              <p:nvPr/>
            </p:nvSpPr>
            <p:spPr bwMode="auto">
              <a:xfrm>
                <a:off x="1568"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f[2]</a:t>
                </a:r>
              </a:p>
            </p:txBody>
          </p:sp>
          <p:sp>
            <p:nvSpPr>
              <p:cNvPr id="163905" name="Text Box 67"/>
              <p:cNvSpPr txBox="1">
                <a:spLocks noChangeArrowheads="1"/>
              </p:cNvSpPr>
              <p:nvPr/>
            </p:nvSpPr>
            <p:spPr bwMode="auto">
              <a:xfrm>
                <a:off x="2093"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f[3]</a:t>
                </a:r>
              </a:p>
            </p:txBody>
          </p:sp>
          <p:sp>
            <p:nvSpPr>
              <p:cNvPr id="163906" name="Text Box 68"/>
              <p:cNvSpPr txBox="1">
                <a:spLocks noChangeArrowheads="1"/>
              </p:cNvSpPr>
              <p:nvPr/>
            </p:nvSpPr>
            <p:spPr bwMode="auto">
              <a:xfrm>
                <a:off x="2617"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f[4]</a:t>
                </a:r>
              </a:p>
            </p:txBody>
          </p:sp>
          <p:sp>
            <p:nvSpPr>
              <p:cNvPr id="163907" name="Text Box 69"/>
              <p:cNvSpPr txBox="1">
                <a:spLocks noChangeArrowheads="1"/>
              </p:cNvSpPr>
              <p:nvPr/>
            </p:nvSpPr>
            <p:spPr bwMode="auto">
              <a:xfrm>
                <a:off x="3142"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f[5]</a:t>
                </a:r>
              </a:p>
            </p:txBody>
          </p:sp>
          <p:sp>
            <p:nvSpPr>
              <p:cNvPr id="163908" name="Text Box 70"/>
              <p:cNvSpPr txBox="1">
                <a:spLocks noChangeArrowheads="1"/>
              </p:cNvSpPr>
              <p:nvPr/>
            </p:nvSpPr>
            <p:spPr bwMode="auto">
              <a:xfrm>
                <a:off x="3666"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f[6]</a:t>
                </a:r>
              </a:p>
            </p:txBody>
          </p:sp>
          <p:sp>
            <p:nvSpPr>
              <p:cNvPr id="163909" name="Text Box 71"/>
              <p:cNvSpPr txBox="1">
                <a:spLocks noChangeArrowheads="1"/>
              </p:cNvSpPr>
              <p:nvPr/>
            </p:nvSpPr>
            <p:spPr bwMode="auto">
              <a:xfrm>
                <a:off x="4191"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f[7]</a:t>
                </a:r>
              </a:p>
            </p:txBody>
          </p:sp>
          <p:sp>
            <p:nvSpPr>
              <p:cNvPr id="163910" name="Text Box 72"/>
              <p:cNvSpPr txBox="1">
                <a:spLocks noChangeArrowheads="1"/>
              </p:cNvSpPr>
              <p:nvPr/>
            </p:nvSpPr>
            <p:spPr bwMode="auto">
              <a:xfrm>
                <a:off x="4715"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f[8]</a:t>
                </a:r>
              </a:p>
            </p:txBody>
          </p:sp>
          <p:sp>
            <p:nvSpPr>
              <p:cNvPr id="163911" name="Text Box 73"/>
              <p:cNvSpPr txBox="1">
                <a:spLocks noChangeArrowheads="1"/>
              </p:cNvSpPr>
              <p:nvPr/>
            </p:nvSpPr>
            <p:spPr bwMode="auto">
              <a:xfrm>
                <a:off x="5240" y="914"/>
                <a:ext cx="355" cy="25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f[9]</a:t>
                </a:r>
              </a:p>
            </p:txBody>
          </p:sp>
        </p:grpSp>
        <p:sp>
          <p:nvSpPr>
            <p:cNvPr id="163912" name="Text Box 74"/>
            <p:cNvSpPr txBox="1">
              <a:spLocks noChangeArrowheads="1"/>
            </p:cNvSpPr>
            <p:nvPr/>
          </p:nvSpPr>
          <p:spPr bwMode="auto">
            <a:xfrm>
              <a:off x="233" y="2004"/>
              <a:ext cx="310" cy="704"/>
            </a:xfrm>
            <a:prstGeom prst="rect">
              <a:avLst/>
            </a:prstGeom>
            <a:noFill/>
            <a:ln>
              <a:noFill/>
            </a:ln>
          </p:spPr>
          <p:txBody>
            <a:bodyPr vert="eaVert"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1" i="0" u="none" strike="noStrike" kern="1200" cap="none" spc="0" normalizeH="0" baseline="0" noProof="0">
                  <a:ln>
                    <a:noFill/>
                  </a:ln>
                  <a:solidFill>
                    <a:srgbClr val="FF3300"/>
                  </a:solidFill>
                  <a:effectLst/>
                  <a:uLnTx/>
                  <a:uFillTx/>
                  <a:latin typeface="+mn-lt"/>
                  <a:ea typeface="+mn-ea"/>
                  <a:cs typeface="+mn-ea"/>
                  <a:sym typeface="+mn-lt"/>
                </a:rPr>
                <a:t>三趟分配</a:t>
              </a:r>
            </a:p>
          </p:txBody>
        </p:sp>
      </p:grpSp>
      <p:grpSp>
        <p:nvGrpSpPr>
          <p:cNvPr id="21" name="Group 75"/>
          <p:cNvGrpSpPr/>
          <p:nvPr/>
        </p:nvGrpSpPr>
        <p:grpSpPr>
          <a:xfrm>
            <a:off x="788988" y="3619500"/>
            <a:ext cx="582612" cy="604838"/>
            <a:chOff x="519" y="2174"/>
            <a:chExt cx="367" cy="381"/>
          </a:xfrm>
        </p:grpSpPr>
        <p:sp>
          <p:nvSpPr>
            <p:cNvPr id="163914" name="Text Box 76"/>
            <p:cNvSpPr txBox="1">
              <a:spLocks noChangeArrowheads="1"/>
            </p:cNvSpPr>
            <p:nvPr/>
          </p:nvSpPr>
          <p:spPr bwMode="auto">
            <a:xfrm>
              <a:off x="519" y="2174"/>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063</a:t>
              </a:r>
            </a:p>
          </p:txBody>
        </p:sp>
        <p:sp>
          <p:nvSpPr>
            <p:cNvPr id="163915" name="Line 77"/>
            <p:cNvSpPr>
              <a:spLocks noChangeShapeType="1"/>
            </p:cNvSpPr>
            <p:nvPr/>
          </p:nvSpPr>
          <p:spPr bwMode="auto">
            <a:xfrm flipV="1">
              <a:off x="678" y="2410"/>
              <a:ext cx="0" cy="145"/>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2" name="Group 78"/>
          <p:cNvGrpSpPr/>
          <p:nvPr/>
        </p:nvGrpSpPr>
        <p:grpSpPr>
          <a:xfrm>
            <a:off x="788988" y="2724150"/>
            <a:ext cx="582612" cy="900113"/>
            <a:chOff x="519" y="1610"/>
            <a:chExt cx="367" cy="567"/>
          </a:xfrm>
        </p:grpSpPr>
        <p:sp>
          <p:nvSpPr>
            <p:cNvPr id="163917" name="Text Box 79"/>
            <p:cNvSpPr txBox="1">
              <a:spLocks noChangeArrowheads="1"/>
            </p:cNvSpPr>
            <p:nvPr/>
          </p:nvSpPr>
          <p:spPr bwMode="auto">
            <a:xfrm>
              <a:off x="519" y="1800"/>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083</a:t>
              </a:r>
            </a:p>
          </p:txBody>
        </p:sp>
        <p:sp>
          <p:nvSpPr>
            <p:cNvPr id="163918" name="Line 80"/>
            <p:cNvSpPr>
              <a:spLocks noChangeShapeType="1"/>
            </p:cNvSpPr>
            <p:nvPr/>
          </p:nvSpPr>
          <p:spPr bwMode="auto">
            <a:xfrm flipH="1">
              <a:off x="700" y="1610"/>
              <a:ext cx="1" cy="189"/>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3919" name="Line 81"/>
            <p:cNvSpPr>
              <a:spLocks noChangeShapeType="1"/>
            </p:cNvSpPr>
            <p:nvPr/>
          </p:nvSpPr>
          <p:spPr bwMode="auto">
            <a:xfrm flipV="1">
              <a:off x="678" y="2055"/>
              <a:ext cx="0" cy="122"/>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3" name="Group 82"/>
          <p:cNvGrpSpPr/>
          <p:nvPr/>
        </p:nvGrpSpPr>
        <p:grpSpPr>
          <a:xfrm>
            <a:off x="2454275" y="4259263"/>
            <a:ext cx="582613" cy="693737"/>
            <a:chOff x="1568" y="2577"/>
            <a:chExt cx="367" cy="437"/>
          </a:xfrm>
        </p:grpSpPr>
        <p:sp>
          <p:nvSpPr>
            <p:cNvPr id="163921" name="Text Box 83"/>
            <p:cNvSpPr txBox="1">
              <a:spLocks noChangeArrowheads="1"/>
            </p:cNvSpPr>
            <p:nvPr/>
          </p:nvSpPr>
          <p:spPr bwMode="auto">
            <a:xfrm>
              <a:off x="1568" y="2577"/>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269</a:t>
              </a:r>
            </a:p>
          </p:txBody>
        </p:sp>
        <p:sp>
          <p:nvSpPr>
            <p:cNvPr id="163922" name="Line 84"/>
            <p:cNvSpPr>
              <a:spLocks noChangeShapeType="1"/>
            </p:cNvSpPr>
            <p:nvPr/>
          </p:nvSpPr>
          <p:spPr bwMode="auto">
            <a:xfrm flipH="1" flipV="1">
              <a:off x="1754" y="2813"/>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4" name="Group 85"/>
          <p:cNvGrpSpPr/>
          <p:nvPr/>
        </p:nvGrpSpPr>
        <p:grpSpPr>
          <a:xfrm>
            <a:off x="2462213" y="2806700"/>
            <a:ext cx="582612" cy="1422400"/>
            <a:chOff x="1573" y="1662"/>
            <a:chExt cx="367" cy="896"/>
          </a:xfrm>
        </p:grpSpPr>
        <p:sp>
          <p:nvSpPr>
            <p:cNvPr id="163924" name="Text Box 86"/>
            <p:cNvSpPr txBox="1">
              <a:spLocks noChangeArrowheads="1"/>
            </p:cNvSpPr>
            <p:nvPr/>
          </p:nvSpPr>
          <p:spPr bwMode="auto">
            <a:xfrm>
              <a:off x="1573" y="2192"/>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278</a:t>
              </a:r>
            </a:p>
          </p:txBody>
        </p:sp>
        <p:sp>
          <p:nvSpPr>
            <p:cNvPr id="163925" name="Line 87"/>
            <p:cNvSpPr>
              <a:spLocks noChangeShapeType="1"/>
            </p:cNvSpPr>
            <p:nvPr/>
          </p:nvSpPr>
          <p:spPr bwMode="auto">
            <a:xfrm flipV="1">
              <a:off x="1765" y="2447"/>
              <a:ext cx="0" cy="1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3926" name="Line 88"/>
            <p:cNvSpPr>
              <a:spLocks noChangeShapeType="1"/>
            </p:cNvSpPr>
            <p:nvPr/>
          </p:nvSpPr>
          <p:spPr bwMode="auto">
            <a:xfrm>
              <a:off x="1769" y="1662"/>
              <a:ext cx="0" cy="545"/>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5" name="Group 89"/>
          <p:cNvGrpSpPr/>
          <p:nvPr/>
        </p:nvGrpSpPr>
        <p:grpSpPr>
          <a:xfrm>
            <a:off x="4906963" y="4241800"/>
            <a:ext cx="582612" cy="693738"/>
            <a:chOff x="3113" y="2566"/>
            <a:chExt cx="367" cy="437"/>
          </a:xfrm>
        </p:grpSpPr>
        <p:sp>
          <p:nvSpPr>
            <p:cNvPr id="163928" name="Text Box 90"/>
            <p:cNvSpPr txBox="1">
              <a:spLocks noChangeArrowheads="1"/>
            </p:cNvSpPr>
            <p:nvPr/>
          </p:nvSpPr>
          <p:spPr bwMode="auto">
            <a:xfrm>
              <a:off x="3113" y="2566"/>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505</a:t>
              </a:r>
            </a:p>
          </p:txBody>
        </p:sp>
        <p:sp>
          <p:nvSpPr>
            <p:cNvPr id="163929" name="Line 91"/>
            <p:cNvSpPr>
              <a:spLocks noChangeShapeType="1"/>
            </p:cNvSpPr>
            <p:nvPr/>
          </p:nvSpPr>
          <p:spPr bwMode="auto">
            <a:xfrm flipH="1" flipV="1">
              <a:off x="3299" y="2802"/>
              <a:ext cx="0" cy="20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6" name="Group 92"/>
          <p:cNvGrpSpPr/>
          <p:nvPr/>
        </p:nvGrpSpPr>
        <p:grpSpPr>
          <a:xfrm>
            <a:off x="4914900" y="2789238"/>
            <a:ext cx="582613" cy="1422400"/>
            <a:chOff x="3118" y="1651"/>
            <a:chExt cx="367" cy="896"/>
          </a:xfrm>
        </p:grpSpPr>
        <p:sp>
          <p:nvSpPr>
            <p:cNvPr id="163931" name="Text Box 93"/>
            <p:cNvSpPr txBox="1">
              <a:spLocks noChangeArrowheads="1"/>
            </p:cNvSpPr>
            <p:nvPr/>
          </p:nvSpPr>
          <p:spPr bwMode="auto">
            <a:xfrm>
              <a:off x="3118" y="2181"/>
              <a:ext cx="367" cy="256"/>
            </a:xfrm>
            <a:prstGeom prst="rect">
              <a:avLst/>
            </a:prstGeom>
            <a:noFill/>
            <a:ln w="9525">
              <a:solidFill>
                <a:schemeClr val="tx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589</a:t>
              </a:r>
            </a:p>
          </p:txBody>
        </p:sp>
        <p:sp>
          <p:nvSpPr>
            <p:cNvPr id="163932" name="Line 94"/>
            <p:cNvSpPr>
              <a:spLocks noChangeShapeType="1"/>
            </p:cNvSpPr>
            <p:nvPr/>
          </p:nvSpPr>
          <p:spPr bwMode="auto">
            <a:xfrm flipV="1">
              <a:off x="3310" y="2436"/>
              <a:ext cx="0" cy="111"/>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3933" name="Line 95"/>
            <p:cNvSpPr>
              <a:spLocks noChangeShapeType="1"/>
            </p:cNvSpPr>
            <p:nvPr/>
          </p:nvSpPr>
          <p:spPr bwMode="auto">
            <a:xfrm>
              <a:off x="3314" y="1651"/>
              <a:ext cx="0" cy="545"/>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63" name="Group 96"/>
          <p:cNvGrpSpPr/>
          <p:nvPr/>
        </p:nvGrpSpPr>
        <p:grpSpPr>
          <a:xfrm>
            <a:off x="455613" y="885825"/>
            <a:ext cx="8442325" cy="1041400"/>
            <a:chOff x="282" y="3062"/>
            <a:chExt cx="5318" cy="656"/>
          </a:xfrm>
        </p:grpSpPr>
        <p:grpSp>
          <p:nvGrpSpPr>
            <p:cNvPr id="181265" name="Group 97"/>
            <p:cNvGrpSpPr/>
            <p:nvPr/>
          </p:nvGrpSpPr>
          <p:grpSpPr>
            <a:xfrm>
              <a:off x="327" y="3462"/>
              <a:ext cx="5273" cy="256"/>
              <a:chOff x="354" y="1045"/>
              <a:chExt cx="5273" cy="256"/>
            </a:xfrm>
          </p:grpSpPr>
          <p:grpSp>
            <p:nvGrpSpPr>
              <p:cNvPr id="181267" name="Group 98"/>
              <p:cNvGrpSpPr/>
              <p:nvPr/>
            </p:nvGrpSpPr>
            <p:grpSpPr>
              <a:xfrm>
                <a:off x="354" y="1045"/>
                <a:ext cx="542" cy="256"/>
                <a:chOff x="1133" y="1389"/>
                <a:chExt cx="542" cy="256"/>
              </a:xfrm>
            </p:grpSpPr>
            <p:sp>
              <p:nvSpPr>
                <p:cNvPr id="163937" name="Rectangle 99"/>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505</a:t>
                  </a:r>
                </a:p>
              </p:txBody>
            </p:sp>
            <p:sp>
              <p:nvSpPr>
                <p:cNvPr id="163938" name="Line 100"/>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68" name="Group 101"/>
              <p:cNvGrpSpPr/>
              <p:nvPr/>
            </p:nvGrpSpPr>
            <p:grpSpPr>
              <a:xfrm>
                <a:off x="880" y="1045"/>
                <a:ext cx="542" cy="256"/>
                <a:chOff x="1133" y="1389"/>
                <a:chExt cx="542" cy="256"/>
              </a:xfrm>
            </p:grpSpPr>
            <p:sp>
              <p:nvSpPr>
                <p:cNvPr id="163940" name="Rectangle 102"/>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008</a:t>
                  </a:r>
                </a:p>
              </p:txBody>
            </p:sp>
            <p:sp>
              <p:nvSpPr>
                <p:cNvPr id="163941" name="Line 103"/>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69" name="Group 104"/>
              <p:cNvGrpSpPr/>
              <p:nvPr/>
            </p:nvGrpSpPr>
            <p:grpSpPr>
              <a:xfrm>
                <a:off x="1406" y="1045"/>
                <a:ext cx="542" cy="256"/>
                <a:chOff x="1133" y="1389"/>
                <a:chExt cx="542" cy="256"/>
              </a:xfrm>
            </p:grpSpPr>
            <p:sp>
              <p:nvSpPr>
                <p:cNvPr id="163943" name="Rectangle 105"/>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109</a:t>
                  </a:r>
                </a:p>
              </p:txBody>
            </p:sp>
            <p:sp>
              <p:nvSpPr>
                <p:cNvPr id="163944" name="Line 106"/>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70" name="Group 107"/>
              <p:cNvGrpSpPr/>
              <p:nvPr/>
            </p:nvGrpSpPr>
            <p:grpSpPr>
              <a:xfrm>
                <a:off x="1931" y="1045"/>
                <a:ext cx="542" cy="256"/>
                <a:chOff x="1133" y="1389"/>
                <a:chExt cx="542" cy="256"/>
              </a:xfrm>
            </p:grpSpPr>
            <p:sp>
              <p:nvSpPr>
                <p:cNvPr id="163946" name="Rectangle 108"/>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930</a:t>
                  </a:r>
                </a:p>
              </p:txBody>
            </p:sp>
            <p:sp>
              <p:nvSpPr>
                <p:cNvPr id="163947" name="Line 109"/>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71" name="Group 110"/>
              <p:cNvGrpSpPr/>
              <p:nvPr/>
            </p:nvGrpSpPr>
            <p:grpSpPr>
              <a:xfrm>
                <a:off x="2457" y="1045"/>
                <a:ext cx="542" cy="256"/>
                <a:chOff x="1133" y="1389"/>
                <a:chExt cx="542" cy="256"/>
              </a:xfrm>
            </p:grpSpPr>
            <p:sp>
              <p:nvSpPr>
                <p:cNvPr id="163949" name="Rectangle 111"/>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063</a:t>
                  </a:r>
                </a:p>
              </p:txBody>
            </p:sp>
            <p:sp>
              <p:nvSpPr>
                <p:cNvPr id="163950" name="Line 112"/>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72" name="Group 113"/>
              <p:cNvGrpSpPr/>
              <p:nvPr/>
            </p:nvGrpSpPr>
            <p:grpSpPr>
              <a:xfrm>
                <a:off x="2983" y="1045"/>
                <a:ext cx="542" cy="256"/>
                <a:chOff x="1133" y="1389"/>
                <a:chExt cx="542" cy="256"/>
              </a:xfrm>
            </p:grpSpPr>
            <p:sp>
              <p:nvSpPr>
                <p:cNvPr id="163952" name="Rectangle 114"/>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269</a:t>
                  </a:r>
                </a:p>
              </p:txBody>
            </p:sp>
            <p:sp>
              <p:nvSpPr>
                <p:cNvPr id="163953" name="Line 115"/>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73" name="Group 116"/>
              <p:cNvGrpSpPr/>
              <p:nvPr/>
            </p:nvGrpSpPr>
            <p:grpSpPr>
              <a:xfrm>
                <a:off x="3508" y="1045"/>
                <a:ext cx="542" cy="256"/>
                <a:chOff x="1133" y="1389"/>
                <a:chExt cx="542" cy="256"/>
              </a:xfrm>
            </p:grpSpPr>
            <p:sp>
              <p:nvSpPr>
                <p:cNvPr id="163955" name="Rectangle 117"/>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278</a:t>
                  </a:r>
                </a:p>
              </p:txBody>
            </p:sp>
            <p:sp>
              <p:nvSpPr>
                <p:cNvPr id="163956" name="Line 118"/>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74" name="Group 119"/>
              <p:cNvGrpSpPr/>
              <p:nvPr/>
            </p:nvGrpSpPr>
            <p:grpSpPr>
              <a:xfrm>
                <a:off x="4034" y="1045"/>
                <a:ext cx="542" cy="256"/>
                <a:chOff x="1133" y="1389"/>
                <a:chExt cx="542" cy="256"/>
              </a:xfrm>
            </p:grpSpPr>
            <p:sp>
              <p:nvSpPr>
                <p:cNvPr id="163958" name="Rectangle 120"/>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083</a:t>
                  </a:r>
                </a:p>
              </p:txBody>
            </p:sp>
            <p:sp>
              <p:nvSpPr>
                <p:cNvPr id="163959" name="Line 121"/>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75" name="Group 122"/>
              <p:cNvGrpSpPr/>
              <p:nvPr/>
            </p:nvGrpSpPr>
            <p:grpSpPr>
              <a:xfrm>
                <a:off x="4560" y="1045"/>
                <a:ext cx="542" cy="256"/>
                <a:chOff x="1133" y="1389"/>
                <a:chExt cx="542" cy="256"/>
              </a:xfrm>
            </p:grpSpPr>
            <p:sp>
              <p:nvSpPr>
                <p:cNvPr id="163961" name="Rectangle 123"/>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184</a:t>
                  </a:r>
                </a:p>
              </p:txBody>
            </p:sp>
            <p:sp>
              <p:nvSpPr>
                <p:cNvPr id="163962" name="Line 124"/>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81276" name="Group 125"/>
              <p:cNvGrpSpPr/>
              <p:nvPr/>
            </p:nvGrpSpPr>
            <p:grpSpPr>
              <a:xfrm>
                <a:off x="5085" y="1045"/>
                <a:ext cx="542" cy="256"/>
                <a:chOff x="1133" y="1389"/>
                <a:chExt cx="542" cy="256"/>
              </a:xfrm>
            </p:grpSpPr>
            <p:sp>
              <p:nvSpPr>
                <p:cNvPr id="163964" name="Rectangle 126"/>
                <p:cNvSpPr>
                  <a:spLocks noChangeArrowheads="1"/>
                </p:cNvSpPr>
                <p:nvPr/>
              </p:nvSpPr>
              <p:spPr bwMode="auto">
                <a:xfrm>
                  <a:off x="1313" y="1389"/>
                  <a:ext cx="362" cy="256"/>
                </a:xfrm>
                <a:prstGeom prst="rect">
                  <a:avLst/>
                </a:prstGeom>
                <a:no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589</a:t>
                  </a:r>
                </a:p>
              </p:txBody>
            </p:sp>
            <p:sp>
              <p:nvSpPr>
                <p:cNvPr id="163965" name="Line 127"/>
                <p:cNvSpPr>
                  <a:spLocks noChangeShapeType="1"/>
                </p:cNvSpPr>
                <p:nvPr/>
              </p:nvSpPr>
              <p:spPr bwMode="auto">
                <a:xfrm>
                  <a:off x="1133" y="1511"/>
                  <a:ext cx="178" cy="0"/>
                </a:xfrm>
                <a:prstGeom prst="line">
                  <a:avLst/>
                </a:prstGeom>
                <a:noFill/>
                <a:ln w="9525">
                  <a:solidFill>
                    <a:schemeClr val="tx1"/>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163966" name="Text Box 128"/>
            <p:cNvSpPr txBox="1">
              <a:spLocks noChangeArrowheads="1"/>
            </p:cNvSpPr>
            <p:nvPr/>
          </p:nvSpPr>
          <p:spPr bwMode="auto">
            <a:xfrm>
              <a:off x="282" y="3062"/>
              <a:ext cx="888" cy="288"/>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1" i="0" u="none" strike="noStrike" kern="1200" cap="none" spc="0" normalizeH="0" baseline="0" noProof="0" dirty="0">
                  <a:ln>
                    <a:noFill/>
                  </a:ln>
                  <a:solidFill>
                    <a:srgbClr val="FF3300"/>
                  </a:solidFill>
                  <a:effectLst/>
                  <a:uLnTx/>
                  <a:uFillTx/>
                  <a:latin typeface="+mn-lt"/>
                  <a:ea typeface="+mn-ea"/>
                  <a:cs typeface="+mn-ea"/>
                  <a:sym typeface="+mn-lt"/>
                </a:rPr>
                <a:t>二趟收集</a:t>
              </a:r>
            </a:p>
          </p:txBody>
        </p:sp>
      </p:grpSp>
      <p:sp>
        <p:nvSpPr>
          <p:cNvPr id="128" name="Rectangle 7"/>
          <p:cNvSpPr>
            <a:spLocks noChangeArrowheads="1"/>
          </p:cNvSpPr>
          <p:nvPr/>
        </p:nvSpPr>
        <p:spPr bwMode="auto">
          <a:xfrm>
            <a:off x="900113" y="158750"/>
            <a:ext cx="2338388" cy="581025"/>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链式基数排序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anim calcmode="lin" valueType="num">
                                      <p:cBhvr additive="base">
                                        <p:cTn id="7" dur="500" fill="hold"/>
                                        <p:tgtEl>
                                          <p:spTgt spid="129"/>
                                        </p:tgtEl>
                                        <p:attrNameLst>
                                          <p:attrName>ppt_x</p:attrName>
                                        </p:attrNameLst>
                                      </p:cBhvr>
                                      <p:tavLst>
                                        <p:tav tm="0">
                                          <p:val>
                                            <p:strVal val="#ppt_x"/>
                                          </p:val>
                                        </p:tav>
                                        <p:tav tm="100000">
                                          <p:val>
                                            <p:strVal val="#ppt_x"/>
                                          </p:val>
                                        </p:tav>
                                      </p:tavLst>
                                    </p:anim>
                                    <p:anim calcmode="lin" valueType="num">
                                      <p:cBhvr additive="base">
                                        <p:cTn id="8" dur="500" fill="hold"/>
                                        <p:tgtEl>
                                          <p:spTgt spid="12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32"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box(out)">
                                      <p:cBhvr>
                                        <p:cTn id="13" dur="500"/>
                                        <p:tgtEl>
                                          <p:spTgt spid="18"/>
                                        </p:tgtEl>
                                      </p:cBhvr>
                                    </p:animEffect>
                                  </p:childTnLst>
                                  <p:subTnLst>
                                    <p:audio>
                                      <p:cMediaNode>
                                        <p:cTn display="0" masterRel="sameClick">
                                          <p:stCondLst>
                                            <p:cond evt="begin" delay="0">
                                              <p:tn val="11"/>
                                            </p:cond>
                                          </p:stCondLst>
                                          <p:endCondLst>
                                            <p:cond evt="onStopAudio" delay="0">
                                              <p:tgtEl>
                                                <p:sldTgt/>
                                              </p:tgtEl>
                                            </p:cond>
                                          </p:endCondLst>
                                        </p:cTn>
                                        <p:tgtEl>
                                          <p:sndTgt r:embed="rId2" name="CAMERA.WAV"/>
                                        </p:tgtEl>
                                      </p:cMediaNode>
                                    </p:audio>
                                  </p:subTnLst>
                                </p:cTn>
                              </p:par>
                            </p:childTnLst>
                          </p:cTn>
                        </p:par>
                      </p:childTnLst>
                    </p:cTn>
                  </p:par>
                  <p:par>
                    <p:cTn id="14" fill="hold">
                      <p:stCondLst>
                        <p:cond delay="indefinite"/>
                      </p:stCondLst>
                      <p:childTnLst>
                        <p:par>
                          <p:cTn id="15" fill="hold">
                            <p:stCondLst>
                              <p:cond delay="0"/>
                            </p:stCondLst>
                            <p:childTnLst>
                              <p:par>
                                <p:cTn id="16" presetID="4" presetClass="entr" presetSubtype="32" fill="hold" nodeType="click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box(out)">
                                      <p:cBhvr>
                                        <p:cTn id="18" dur="500"/>
                                        <p:tgtEl>
                                          <p:spTgt spid="25"/>
                                        </p:tgtEl>
                                      </p:cBhvr>
                                    </p:animEffect>
                                  </p:childTnLst>
                                  <p:subTnLst>
                                    <p:audio>
                                      <p:cMediaNode>
                                        <p:cTn display="0" masterRel="sameClick">
                                          <p:stCondLst>
                                            <p:cond evt="begin" delay="0">
                                              <p:tn val="16"/>
                                            </p:cond>
                                          </p:stCondLst>
                                          <p:endCondLst>
                                            <p:cond evt="onStopAudio" delay="0">
                                              <p:tgtEl>
                                                <p:sldTgt/>
                                              </p:tgtEl>
                                            </p:cond>
                                          </p:endCondLst>
                                        </p:cTn>
                                        <p:tgtEl>
                                          <p:sndTgt r:embed="rId2" name="CAMERA.WAV"/>
                                        </p:tgtEl>
                                      </p:cMediaNode>
                                    </p:audio>
                                  </p:subTnLst>
                                </p:cTn>
                              </p:par>
                            </p:childTnLst>
                          </p:cTn>
                        </p:par>
                      </p:childTnLst>
                    </p:cTn>
                  </p:par>
                  <p:par>
                    <p:cTn id="19" fill="hold">
                      <p:stCondLst>
                        <p:cond delay="indefinite"/>
                      </p:stCondLst>
                      <p:childTnLst>
                        <p:par>
                          <p:cTn id="20" fill="hold">
                            <p:stCondLst>
                              <p:cond delay="0"/>
                            </p:stCondLst>
                            <p:childTnLst>
                              <p:par>
                                <p:cTn id="21" presetID="4" presetClass="entr" presetSubtype="32" fill="hold"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box(out)">
                                      <p:cBhvr>
                                        <p:cTn id="23" dur="500"/>
                                        <p:tgtEl>
                                          <p:spTgt spid="15"/>
                                        </p:tgtEl>
                                      </p:cBhvr>
                                    </p:animEffect>
                                  </p:childTnLst>
                                  <p:subTnLst>
                                    <p:audio>
                                      <p:cMediaNode>
                                        <p:cTn display="0" masterRel="sameClick">
                                          <p:stCondLst>
                                            <p:cond evt="begin" delay="0">
                                              <p:tn val="21"/>
                                            </p:cond>
                                          </p:stCondLst>
                                          <p:endCondLst>
                                            <p:cond evt="onStopAudio" delay="0">
                                              <p:tgtEl>
                                                <p:sldTgt/>
                                              </p:tgtEl>
                                            </p:cond>
                                          </p:endCondLst>
                                        </p:cTn>
                                        <p:tgtEl>
                                          <p:sndTgt r:embed="rId2" name="CAMERA.WAV"/>
                                        </p:tgtEl>
                                      </p:cMediaNode>
                                    </p:audio>
                                  </p:subTnLst>
                                </p:cTn>
                              </p:par>
                            </p:childTnLst>
                          </p:cTn>
                        </p:par>
                      </p:childTnLst>
                    </p:cTn>
                  </p:par>
                  <p:par>
                    <p:cTn id="24" fill="hold">
                      <p:stCondLst>
                        <p:cond delay="indefinite"/>
                      </p:stCondLst>
                      <p:childTnLst>
                        <p:par>
                          <p:cTn id="25" fill="hold">
                            <p:stCondLst>
                              <p:cond delay="0"/>
                            </p:stCondLst>
                            <p:childTnLst>
                              <p:par>
                                <p:cTn id="26" presetID="4" presetClass="entr" presetSubtype="32"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box(out)">
                                      <p:cBhvr>
                                        <p:cTn id="28" dur="500"/>
                                        <p:tgtEl>
                                          <p:spTgt spid="14"/>
                                        </p:tgtEl>
                                      </p:cBhvr>
                                    </p:animEffect>
                                  </p:childTnLst>
                                  <p:subTnLst>
                                    <p:audio>
                                      <p:cMediaNode>
                                        <p:cTn display="0" masterRel="sameClick">
                                          <p:stCondLst>
                                            <p:cond evt="begin" delay="0">
                                              <p:tn val="26"/>
                                            </p:cond>
                                          </p:stCondLst>
                                          <p:endCondLst>
                                            <p:cond evt="onStopAudio" delay="0">
                                              <p:tgtEl>
                                                <p:sldTgt/>
                                              </p:tgtEl>
                                            </p:cond>
                                          </p:endCondLst>
                                        </p:cTn>
                                        <p:tgtEl>
                                          <p:sndTgt r:embed="rId2" name="CAMERA.WAV"/>
                                        </p:tgtEl>
                                      </p:cMediaNode>
                                    </p:audio>
                                  </p:subTnLst>
                                </p:cTn>
                              </p:par>
                            </p:childTnLst>
                          </p:cTn>
                        </p:par>
                      </p:childTnLst>
                    </p:cTn>
                  </p:par>
                  <p:par>
                    <p:cTn id="29" fill="hold">
                      <p:stCondLst>
                        <p:cond delay="indefinite"/>
                      </p:stCondLst>
                      <p:childTnLst>
                        <p:par>
                          <p:cTn id="30" fill="hold">
                            <p:stCondLst>
                              <p:cond delay="0"/>
                            </p:stCondLst>
                            <p:childTnLst>
                              <p:par>
                                <p:cTn id="31" presetID="4" presetClass="entr" presetSubtype="32"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box(out)">
                                      <p:cBhvr>
                                        <p:cTn id="33" dur="500"/>
                                        <p:tgtEl>
                                          <p:spTgt spid="17"/>
                                        </p:tgtEl>
                                      </p:cBhvr>
                                    </p:animEffect>
                                  </p:childTnLst>
                                  <p:subTnLst>
                                    <p:audio>
                                      <p:cMediaNode>
                                        <p:cTn display="0" masterRel="sameClick">
                                          <p:stCondLst>
                                            <p:cond evt="begin" delay="0">
                                              <p:tn val="31"/>
                                            </p:cond>
                                          </p:stCondLst>
                                          <p:endCondLst>
                                            <p:cond evt="onStopAudio" delay="0">
                                              <p:tgtEl>
                                                <p:sldTgt/>
                                              </p:tgtEl>
                                            </p:cond>
                                          </p:endCondLst>
                                        </p:cTn>
                                        <p:tgtEl>
                                          <p:sndTgt r:embed="rId2" name="CAMERA.WAV"/>
                                        </p:tgtEl>
                                      </p:cMediaNode>
                                    </p:audio>
                                  </p:subTnLst>
                                </p:cTn>
                              </p:par>
                            </p:childTnLst>
                          </p:cTn>
                        </p:par>
                      </p:childTnLst>
                    </p:cTn>
                  </p:par>
                  <p:par>
                    <p:cTn id="34" fill="hold">
                      <p:stCondLst>
                        <p:cond delay="indefinite"/>
                      </p:stCondLst>
                      <p:childTnLst>
                        <p:par>
                          <p:cTn id="35" fill="hold">
                            <p:stCondLst>
                              <p:cond delay="0"/>
                            </p:stCondLst>
                            <p:childTnLst>
                              <p:par>
                                <p:cTn id="36" presetID="4" presetClass="entr" presetSubtype="32" fill="hold" nodeType="click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box(out)">
                                      <p:cBhvr>
                                        <p:cTn id="38" dur="500"/>
                                        <p:tgtEl>
                                          <p:spTgt spid="21"/>
                                        </p:tgtEl>
                                      </p:cBhvr>
                                    </p:animEffect>
                                  </p:childTnLst>
                                  <p:subTnLst>
                                    <p:audio>
                                      <p:cMediaNode>
                                        <p:cTn display="0" masterRel="sameClick">
                                          <p:stCondLst>
                                            <p:cond evt="begin" delay="0">
                                              <p:tn val="36"/>
                                            </p:cond>
                                          </p:stCondLst>
                                          <p:endCondLst>
                                            <p:cond evt="onStopAudio" delay="0">
                                              <p:tgtEl>
                                                <p:sldTgt/>
                                              </p:tgtEl>
                                            </p:cond>
                                          </p:endCondLst>
                                        </p:cTn>
                                        <p:tgtEl>
                                          <p:sndTgt r:embed="rId2" name="CAMERA.WAV"/>
                                        </p:tgtEl>
                                      </p:cMediaNode>
                                    </p:audio>
                                  </p:subTnLst>
                                </p:cTn>
                              </p:par>
                            </p:childTnLst>
                          </p:cTn>
                        </p:par>
                      </p:childTnLst>
                    </p:cTn>
                  </p:par>
                  <p:par>
                    <p:cTn id="39" fill="hold">
                      <p:stCondLst>
                        <p:cond delay="indefinite"/>
                      </p:stCondLst>
                      <p:childTnLst>
                        <p:par>
                          <p:cTn id="40" fill="hold">
                            <p:stCondLst>
                              <p:cond delay="0"/>
                            </p:stCondLst>
                            <p:childTnLst>
                              <p:par>
                                <p:cTn id="41" presetID="4" presetClass="entr" presetSubtype="32" fill="hold" nodeType="click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box(out)">
                                      <p:cBhvr>
                                        <p:cTn id="43" dur="500"/>
                                        <p:tgtEl>
                                          <p:spTgt spid="23"/>
                                        </p:tgtEl>
                                      </p:cBhvr>
                                    </p:animEffect>
                                  </p:childTnLst>
                                  <p:subTnLst>
                                    <p:audio>
                                      <p:cMediaNode>
                                        <p:cTn display="0" masterRel="sameClick">
                                          <p:stCondLst>
                                            <p:cond evt="begin" delay="0">
                                              <p:tn val="41"/>
                                            </p:cond>
                                          </p:stCondLst>
                                          <p:endCondLst>
                                            <p:cond evt="onStopAudio" delay="0">
                                              <p:tgtEl>
                                                <p:sldTgt/>
                                              </p:tgtEl>
                                            </p:cond>
                                          </p:endCondLst>
                                        </p:cTn>
                                        <p:tgtEl>
                                          <p:sndTgt r:embed="rId2" name="CAMERA.WAV"/>
                                        </p:tgtEl>
                                      </p:cMediaNode>
                                    </p:audio>
                                  </p:subTnLst>
                                </p:cTn>
                              </p:par>
                            </p:childTnLst>
                          </p:cTn>
                        </p:par>
                      </p:childTnLst>
                    </p:cTn>
                  </p:par>
                  <p:par>
                    <p:cTn id="44" fill="hold">
                      <p:stCondLst>
                        <p:cond delay="indefinite"/>
                      </p:stCondLst>
                      <p:childTnLst>
                        <p:par>
                          <p:cTn id="45" fill="hold">
                            <p:stCondLst>
                              <p:cond delay="0"/>
                            </p:stCondLst>
                            <p:childTnLst>
                              <p:par>
                                <p:cTn id="46" presetID="4" presetClass="entr" presetSubtype="32" fill="hold" nodeType="click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box(out)">
                                      <p:cBhvr>
                                        <p:cTn id="48" dur="500"/>
                                        <p:tgtEl>
                                          <p:spTgt spid="24"/>
                                        </p:tgtEl>
                                      </p:cBhvr>
                                    </p:animEffect>
                                  </p:childTnLst>
                                  <p:subTnLst>
                                    <p:audio>
                                      <p:cMediaNode>
                                        <p:cTn display="0" masterRel="sameClick">
                                          <p:stCondLst>
                                            <p:cond evt="begin" delay="0">
                                              <p:tn val="46"/>
                                            </p:cond>
                                          </p:stCondLst>
                                          <p:endCondLst>
                                            <p:cond evt="onStopAudio" delay="0">
                                              <p:tgtEl>
                                                <p:sldTgt/>
                                              </p:tgtEl>
                                            </p:cond>
                                          </p:endCondLst>
                                        </p:cTn>
                                        <p:tgtEl>
                                          <p:sndTgt r:embed="rId2" name="CAMERA.WAV"/>
                                        </p:tgtEl>
                                      </p:cMediaNode>
                                    </p:audio>
                                  </p:subTnLst>
                                </p:cTn>
                              </p:par>
                            </p:childTnLst>
                          </p:cTn>
                        </p:par>
                      </p:childTnLst>
                    </p:cTn>
                  </p:par>
                  <p:par>
                    <p:cTn id="49" fill="hold">
                      <p:stCondLst>
                        <p:cond delay="indefinite"/>
                      </p:stCondLst>
                      <p:childTnLst>
                        <p:par>
                          <p:cTn id="50" fill="hold">
                            <p:stCondLst>
                              <p:cond delay="0"/>
                            </p:stCondLst>
                            <p:childTnLst>
                              <p:par>
                                <p:cTn id="51" presetID="4" presetClass="entr" presetSubtype="32" fill="hold" nodeType="clickEffect">
                                  <p:stCondLst>
                                    <p:cond delay="0"/>
                                  </p:stCondLst>
                                  <p:childTnLst>
                                    <p:set>
                                      <p:cBhvr>
                                        <p:cTn id="52" dur="1" fill="hold">
                                          <p:stCondLst>
                                            <p:cond delay="0"/>
                                          </p:stCondLst>
                                        </p:cTn>
                                        <p:tgtEl>
                                          <p:spTgt spid="22"/>
                                        </p:tgtEl>
                                        <p:attrNameLst>
                                          <p:attrName>style.visibility</p:attrName>
                                        </p:attrNameLst>
                                      </p:cBhvr>
                                      <p:to>
                                        <p:strVal val="visible"/>
                                      </p:to>
                                    </p:set>
                                    <p:animEffect transition="in" filter="box(out)">
                                      <p:cBhvr>
                                        <p:cTn id="53" dur="500"/>
                                        <p:tgtEl>
                                          <p:spTgt spid="22"/>
                                        </p:tgtEl>
                                      </p:cBhvr>
                                    </p:animEffect>
                                  </p:childTnLst>
                                  <p:subTnLst>
                                    <p:audio>
                                      <p:cMediaNode>
                                        <p:cTn display="0" masterRel="sameClick">
                                          <p:stCondLst>
                                            <p:cond evt="begin" delay="0">
                                              <p:tn val="51"/>
                                            </p:cond>
                                          </p:stCondLst>
                                          <p:endCondLst>
                                            <p:cond evt="onStopAudio" delay="0">
                                              <p:tgtEl>
                                                <p:sldTgt/>
                                              </p:tgtEl>
                                            </p:cond>
                                          </p:endCondLst>
                                        </p:cTn>
                                        <p:tgtEl>
                                          <p:sndTgt r:embed="rId2" name="CAMERA.WAV"/>
                                        </p:tgtEl>
                                      </p:cMediaNode>
                                    </p:audio>
                                  </p:subTnLst>
                                </p:cTn>
                              </p:par>
                            </p:childTnLst>
                          </p:cTn>
                        </p:par>
                      </p:childTnLst>
                    </p:cTn>
                  </p:par>
                  <p:par>
                    <p:cTn id="54" fill="hold">
                      <p:stCondLst>
                        <p:cond delay="indefinite"/>
                      </p:stCondLst>
                      <p:childTnLst>
                        <p:par>
                          <p:cTn id="55" fill="hold">
                            <p:stCondLst>
                              <p:cond delay="0"/>
                            </p:stCondLst>
                            <p:childTnLst>
                              <p:par>
                                <p:cTn id="56" presetID="4" presetClass="entr" presetSubtype="32" fill="hold"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box(out)">
                                      <p:cBhvr>
                                        <p:cTn id="58" dur="500"/>
                                        <p:tgtEl>
                                          <p:spTgt spid="16"/>
                                        </p:tgtEl>
                                      </p:cBhvr>
                                    </p:animEffect>
                                  </p:childTnLst>
                                  <p:subTnLst>
                                    <p:audio>
                                      <p:cMediaNode>
                                        <p:cTn display="0" masterRel="sameClick">
                                          <p:stCondLst>
                                            <p:cond evt="begin" delay="0">
                                              <p:tn val="56"/>
                                            </p:cond>
                                          </p:stCondLst>
                                          <p:endCondLst>
                                            <p:cond evt="onStopAudio" delay="0">
                                              <p:tgtEl>
                                                <p:sldTgt/>
                                              </p:tgtEl>
                                            </p:cond>
                                          </p:endCondLst>
                                        </p:cTn>
                                        <p:tgtEl>
                                          <p:sndTgt r:embed="rId2" name="CAMERA.WAV"/>
                                        </p:tgtEl>
                                      </p:cMediaNode>
                                    </p:audio>
                                  </p:subTnLst>
                                </p:cTn>
                              </p:par>
                            </p:childTnLst>
                          </p:cTn>
                        </p:par>
                      </p:childTnLst>
                    </p:cTn>
                  </p:par>
                  <p:par>
                    <p:cTn id="59" fill="hold">
                      <p:stCondLst>
                        <p:cond delay="indefinite"/>
                      </p:stCondLst>
                      <p:childTnLst>
                        <p:par>
                          <p:cTn id="60" fill="hold">
                            <p:stCondLst>
                              <p:cond delay="0"/>
                            </p:stCondLst>
                            <p:childTnLst>
                              <p:par>
                                <p:cTn id="61" presetID="4" presetClass="entr" presetSubtype="32" fill="hold" nodeType="clickEffect">
                                  <p:stCondLst>
                                    <p:cond delay="0"/>
                                  </p:stCondLst>
                                  <p:childTnLst>
                                    <p:set>
                                      <p:cBhvr>
                                        <p:cTn id="62" dur="1" fill="hold">
                                          <p:stCondLst>
                                            <p:cond delay="0"/>
                                          </p:stCondLst>
                                        </p:cTn>
                                        <p:tgtEl>
                                          <p:spTgt spid="26"/>
                                        </p:tgtEl>
                                        <p:attrNameLst>
                                          <p:attrName>style.visibility</p:attrName>
                                        </p:attrNameLst>
                                      </p:cBhvr>
                                      <p:to>
                                        <p:strVal val="visible"/>
                                      </p:to>
                                    </p:set>
                                    <p:animEffect transition="in" filter="box(out)">
                                      <p:cBhvr>
                                        <p:cTn id="63" dur="500"/>
                                        <p:tgtEl>
                                          <p:spTgt spid="26"/>
                                        </p:tgtEl>
                                      </p:cBhvr>
                                    </p:animEffect>
                                  </p:childTnLst>
                                  <p:subTnLst>
                                    <p:audio>
                                      <p:cMediaNode>
                                        <p:cTn display="0" masterRel="sameClick">
                                          <p:stCondLst>
                                            <p:cond evt="begin" delay="0">
                                              <p:tn val="61"/>
                                            </p:cond>
                                          </p:stCondLst>
                                          <p:endCondLst>
                                            <p:cond evt="onStopAudio" delay="0">
                                              <p:tgtEl>
                                                <p:sldTgt/>
                                              </p:tgtEl>
                                            </p:cond>
                                          </p:endCondLst>
                                        </p:cTn>
                                        <p:tgtEl>
                                          <p:sndTgt r:embed="rId2" name="CAMERA.WAV"/>
                                        </p:tgtEl>
                                      </p:cMediaNode>
                                    </p:audio>
                                  </p:subTnLst>
                                </p:cTn>
                              </p:par>
                            </p:childTnLst>
                          </p:cTn>
                        </p:par>
                      </p:childTnLst>
                    </p:cTn>
                  </p:par>
                  <p:par>
                    <p:cTn id="64" fill="hold">
                      <p:stCondLst>
                        <p:cond delay="indefinite"/>
                      </p:stCondLst>
                      <p:childTnLst>
                        <p:par>
                          <p:cTn id="65" fill="hold">
                            <p:stCondLst>
                              <p:cond delay="0"/>
                            </p:stCondLst>
                            <p:childTnLst>
                              <p:par>
                                <p:cTn id="66" presetID="4" presetClass="entr" presetSubtype="32" fill="hold" nodeType="clickEffect">
                                  <p:stCondLst>
                                    <p:cond delay="0"/>
                                  </p:stCondLst>
                                  <p:childTnLst>
                                    <p:set>
                                      <p:cBhvr>
                                        <p:cTn id="67" dur="1" fill="hold">
                                          <p:stCondLst>
                                            <p:cond delay="0"/>
                                          </p:stCondLst>
                                        </p:cTn>
                                        <p:tgtEl>
                                          <p:spTgt spid="2"/>
                                        </p:tgtEl>
                                        <p:attrNameLst>
                                          <p:attrName>style.visibility</p:attrName>
                                        </p:attrNameLst>
                                      </p:cBhvr>
                                      <p:to>
                                        <p:strVal val="visible"/>
                                      </p:to>
                                    </p:set>
                                    <p:animEffect transition="in" filter="box(out)">
                                      <p:cBhvr>
                                        <p:cTn id="68" dur="500"/>
                                        <p:tgtEl>
                                          <p:spTgt spid="2"/>
                                        </p:tgtEl>
                                      </p:cBhvr>
                                    </p:animEffect>
                                  </p:childTnLst>
                                  <p:subTnLst>
                                    <p:audio>
                                      <p:cMediaNode>
                                        <p:cTn display="0" masterRel="sameClick">
                                          <p:stCondLst>
                                            <p:cond evt="begin" delay="0">
                                              <p:tn val="66"/>
                                            </p:cond>
                                          </p:stCondLst>
                                          <p:endCondLst>
                                            <p:cond evt="onStopAudio" delay="0">
                                              <p:tgtEl>
                                                <p:sldTgt/>
                                              </p:tgtEl>
                                            </p:cond>
                                          </p:endCondLst>
                                        </p:cTn>
                                        <p:tgtEl>
                                          <p:sndTgt r:embed="rId2"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9652" name="Rectangle 4"/>
          <p:cNvSpPr>
            <a:spLocks noChangeArrowheads="1"/>
          </p:cNvSpPr>
          <p:nvPr/>
        </p:nvSpPr>
        <p:spPr bwMode="auto">
          <a:xfrm>
            <a:off x="436563" y="1449388"/>
            <a:ext cx="3489325" cy="1020763"/>
          </a:xfrm>
          <a:prstGeom prst="rect">
            <a:avLst/>
          </a:prstGeom>
          <a:noFill/>
          <a:ln>
            <a:noFill/>
          </a:ln>
        </p:spPr>
        <p:txBody>
          <a:bodyPr lIns="92075" tIns="46038" rIns="92075" bIns="46038"/>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3" indent="-228600" algn="l" defTabSz="914400" rtl="0" eaLnBrk="0" fontAlgn="base" latinLnBrk="0" hangingPunct="0">
              <a:lnSpc>
                <a:spcPct val="125000"/>
              </a:lnSpc>
              <a:spcBef>
                <a:spcPts val="13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设置</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10</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个队列</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e[</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分别头指针和尾指针</a:t>
            </a:r>
          </a:p>
        </p:txBody>
      </p:sp>
      <p:sp>
        <p:nvSpPr>
          <p:cNvPr id="164867" name="Rectangle 5"/>
          <p:cNvSpPr>
            <a:spLocks noChangeArrowheads="1"/>
          </p:cNvSpPr>
          <p:nvPr/>
        </p:nvSpPr>
        <p:spPr bwMode="auto">
          <a:xfrm>
            <a:off x="833438" y="142875"/>
            <a:ext cx="3057525" cy="581025"/>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链式基数排序步骤</a:t>
            </a:r>
          </a:p>
        </p:txBody>
      </p:sp>
      <p:grpSp>
        <p:nvGrpSpPr>
          <p:cNvPr id="33" name="组合 68"/>
          <p:cNvGrpSpPr/>
          <p:nvPr/>
        </p:nvGrpSpPr>
        <p:grpSpPr bwMode="auto">
          <a:xfrm>
            <a:off x="3254892" y="1632443"/>
            <a:ext cx="1871663" cy="1873250"/>
            <a:chOff x="4569844" y="1590261"/>
            <a:chExt cx="2126470" cy="2126470"/>
          </a:xfrm>
          <a:solidFill>
            <a:schemeClr val="bg2">
              <a:lumMod val="40000"/>
              <a:lumOff val="60000"/>
            </a:schemeClr>
          </a:solidFill>
        </p:grpSpPr>
        <p:grpSp>
          <p:nvGrpSpPr>
            <p:cNvPr id="34" name="组合 94"/>
            <p:cNvGrpSpPr/>
            <p:nvPr/>
          </p:nvGrpSpPr>
          <p:grpSpPr bwMode="auto">
            <a:xfrm rot="4752894">
              <a:off x="4569844" y="1590261"/>
              <a:ext cx="2126470" cy="2126470"/>
              <a:chOff x="6434552" y="2291798"/>
              <a:chExt cx="2741066" cy="2741066"/>
            </a:xfrm>
            <a:grpFill/>
          </p:grpSpPr>
          <p:sp>
            <p:nvSpPr>
              <p:cNvPr id="37" name="Freeform 49"/>
              <p:cNvSpPr/>
              <p:nvPr/>
            </p:nvSpPr>
            <p:spPr bwMode="auto">
              <a:xfrm>
                <a:off x="6434551" y="2291798"/>
                <a:ext cx="2741066" cy="2741066"/>
              </a:xfrm>
              <a:custGeom>
                <a:avLst/>
                <a:gdLst>
                  <a:gd name="T0" fmla="*/ 0 w 240"/>
                  <a:gd name="T1" fmla="*/ 53 h 240"/>
                  <a:gd name="T2" fmla="*/ 54 w 240"/>
                  <a:gd name="T3" fmla="*/ 106 h 240"/>
                  <a:gd name="T4" fmla="*/ 134 w 240"/>
                  <a:gd name="T5" fmla="*/ 187 h 240"/>
                  <a:gd name="T6" fmla="*/ 134 w 240"/>
                  <a:gd name="T7" fmla="*/ 187 h 240"/>
                  <a:gd name="T8" fmla="*/ 134 w 240"/>
                  <a:gd name="T9" fmla="*/ 187 h 240"/>
                  <a:gd name="T10" fmla="*/ 187 w 240"/>
                  <a:gd name="T11" fmla="*/ 240 h 240"/>
                  <a:gd name="T12" fmla="*/ 240 w 240"/>
                  <a:gd name="T13" fmla="*/ 187 h 240"/>
                  <a:gd name="T14" fmla="*/ 187 w 240"/>
                  <a:gd name="T15" fmla="*/ 134 h 240"/>
                  <a:gd name="T16" fmla="*/ 187 w 240"/>
                  <a:gd name="T17" fmla="*/ 134 h 240"/>
                  <a:gd name="T18" fmla="*/ 187 w 240"/>
                  <a:gd name="T19" fmla="*/ 134 h 240"/>
                  <a:gd name="T20" fmla="*/ 107 w 240"/>
                  <a:gd name="T21" fmla="*/ 53 h 240"/>
                  <a:gd name="T22" fmla="*/ 107 w 240"/>
                  <a:gd name="T23" fmla="*/ 53 h 240"/>
                  <a:gd name="T24" fmla="*/ 54 w 240"/>
                  <a:gd name="T25" fmla="*/ 0 h 240"/>
                  <a:gd name="T26" fmla="*/ 0 w 240"/>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0" y="53"/>
                    </a:moveTo>
                    <a:cubicBezTo>
                      <a:pt x="0" y="83"/>
                      <a:pt x="24" y="106"/>
                      <a:pt x="54" y="106"/>
                    </a:cubicBezTo>
                    <a:cubicBezTo>
                      <a:pt x="107" y="106"/>
                      <a:pt x="134" y="134"/>
                      <a:pt x="134" y="187"/>
                    </a:cubicBezTo>
                    <a:cubicBezTo>
                      <a:pt x="134" y="187"/>
                      <a:pt x="134" y="187"/>
                      <a:pt x="134" y="187"/>
                    </a:cubicBezTo>
                    <a:cubicBezTo>
                      <a:pt x="134" y="187"/>
                      <a:pt x="134" y="187"/>
                      <a:pt x="134" y="187"/>
                    </a:cubicBezTo>
                    <a:cubicBezTo>
                      <a:pt x="134" y="216"/>
                      <a:pt x="158" y="240"/>
                      <a:pt x="187" y="240"/>
                    </a:cubicBezTo>
                    <a:cubicBezTo>
                      <a:pt x="217" y="240"/>
                      <a:pt x="240" y="216"/>
                      <a:pt x="240" y="187"/>
                    </a:cubicBezTo>
                    <a:cubicBezTo>
                      <a:pt x="240" y="158"/>
                      <a:pt x="217" y="134"/>
                      <a:pt x="187" y="134"/>
                    </a:cubicBezTo>
                    <a:cubicBezTo>
                      <a:pt x="187" y="134"/>
                      <a:pt x="187" y="134"/>
                      <a:pt x="187" y="134"/>
                    </a:cubicBezTo>
                    <a:cubicBezTo>
                      <a:pt x="187" y="134"/>
                      <a:pt x="187" y="134"/>
                      <a:pt x="187" y="134"/>
                    </a:cubicBezTo>
                    <a:cubicBezTo>
                      <a:pt x="134" y="134"/>
                      <a:pt x="107" y="106"/>
                      <a:pt x="107" y="53"/>
                    </a:cubicBezTo>
                    <a:cubicBezTo>
                      <a:pt x="107" y="53"/>
                      <a:pt x="107" y="53"/>
                      <a:pt x="107" y="53"/>
                    </a:cubicBezTo>
                    <a:cubicBezTo>
                      <a:pt x="107" y="24"/>
                      <a:pt x="83" y="0"/>
                      <a:pt x="54" y="0"/>
                    </a:cubicBezTo>
                    <a:cubicBezTo>
                      <a:pt x="24" y="0"/>
                      <a:pt x="0" y="24"/>
                      <a:pt x="0" y="53"/>
                    </a:cubicBezTo>
                    <a:close/>
                  </a:path>
                </a:pathLst>
              </a:custGeom>
              <a:grpFill/>
              <a:ln>
                <a:noFill/>
              </a:ln>
              <a:effectLst>
                <a:outerShdw blurRad="50800" dist="38100" dir="8100000" algn="tr" rotWithShape="0">
                  <a:prstClr val="black">
                    <a:alpha val="40000"/>
                  </a:prstClr>
                </a:outerShdw>
              </a:effectLst>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38" name="椭圆 37"/>
              <p:cNvSpPr/>
              <p:nvPr/>
            </p:nvSpPr>
            <p:spPr>
              <a:xfrm>
                <a:off x="6625611" y="2493412"/>
                <a:ext cx="831612" cy="820693"/>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39" name="椭圆 38"/>
              <p:cNvSpPr/>
              <p:nvPr/>
            </p:nvSpPr>
            <p:spPr>
              <a:xfrm>
                <a:off x="8143706" y="4007711"/>
                <a:ext cx="819996" cy="823017"/>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grpSp>
        <p:sp>
          <p:nvSpPr>
            <p:cNvPr id="35" name="文本框 95"/>
            <p:cNvSpPr txBox="1">
              <a:spLocks noChangeArrowheads="1"/>
            </p:cNvSpPr>
            <p:nvPr/>
          </p:nvSpPr>
          <p:spPr bwMode="auto">
            <a:xfrm>
              <a:off x="5842035" y="1737006"/>
              <a:ext cx="602487" cy="524382"/>
            </a:xfrm>
            <a:prstGeom prst="rect">
              <a:avLst/>
            </a:prstGeom>
            <a:noFill/>
            <a:ln>
              <a:noFill/>
            </a:ln>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defRPr/>
              </a:pPr>
              <a:r>
                <a:rPr kumimoji="0" lang="en-US" altLang="zh-CN" sz="2400" b="0" i="0" u="none" strike="noStrike" kern="0" cap="none" spc="0" normalizeH="0" baseline="0" noProof="0" dirty="0">
                  <a:ln>
                    <a:noFill/>
                  </a:ln>
                  <a:solidFill>
                    <a:schemeClr val="bg1"/>
                  </a:solidFill>
                  <a:effectLst/>
                  <a:uLnTx/>
                  <a:uFillTx/>
                  <a:latin typeface="Calibri" panose="020F0502020204030204" pitchFamily="34" charset="0"/>
                  <a:ea typeface="宋体" panose="02010600030101010101" pitchFamily="2" charset="-122"/>
                  <a:cs typeface="+mn-cs"/>
                </a:rPr>
                <a:t>01</a:t>
              </a:r>
              <a:endParaRPr kumimoji="0" lang="zh-CN" altLang="en-US" sz="2400" b="0" i="0" u="none" strike="noStrike" kern="0" cap="none" spc="0" normalizeH="0" baseline="0" noProof="0" dirty="0">
                <a:ln>
                  <a:noFill/>
                </a:ln>
                <a:solidFill>
                  <a:schemeClr val="bg1"/>
                </a:solidFill>
                <a:effectLst/>
                <a:uLnTx/>
                <a:uFillTx/>
                <a:latin typeface="Calibri" panose="020F0502020204030204" pitchFamily="34" charset="0"/>
                <a:ea typeface="宋体" panose="02010600030101010101" pitchFamily="2" charset="-122"/>
                <a:cs typeface="+mn-cs"/>
              </a:endParaRPr>
            </a:p>
          </p:txBody>
        </p:sp>
        <p:sp>
          <p:nvSpPr>
            <p:cNvPr id="36" name="文本框 96"/>
            <p:cNvSpPr txBox="1">
              <a:spLocks noChangeArrowheads="1"/>
            </p:cNvSpPr>
            <p:nvPr/>
          </p:nvSpPr>
          <p:spPr bwMode="auto">
            <a:xfrm>
              <a:off x="4906638" y="3090586"/>
              <a:ext cx="694867" cy="524382"/>
            </a:xfrm>
            <a:prstGeom prst="rect">
              <a:avLst/>
            </a:prstGeom>
            <a:noFill/>
            <a:ln>
              <a:noFill/>
            </a:ln>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defRPr/>
              </a:pPr>
              <a:r>
                <a:rPr kumimoji="0" lang="en-US" altLang="zh-CN" sz="2400" b="0" i="0" u="none" strike="noStrike" kern="0" cap="none" spc="0" normalizeH="0" baseline="0" noProof="0">
                  <a:ln>
                    <a:noFill/>
                  </a:ln>
                  <a:solidFill>
                    <a:schemeClr val="bg1"/>
                  </a:solidFill>
                  <a:effectLst/>
                  <a:uLnTx/>
                  <a:uFillTx/>
                  <a:latin typeface="Calibri" panose="020F0502020204030204" pitchFamily="34" charset="0"/>
                  <a:ea typeface="宋体" panose="02010600030101010101" pitchFamily="2" charset="-122"/>
                  <a:cs typeface="+mn-cs"/>
                </a:rPr>
                <a:t>02</a:t>
              </a:r>
              <a:endParaRPr kumimoji="0" lang="zh-CN" altLang="en-US" sz="2400" b="0" i="0" u="none" strike="noStrike" kern="0" cap="none" spc="0" normalizeH="0" baseline="0" noProof="0">
                <a:ln>
                  <a:noFill/>
                </a:ln>
                <a:solidFill>
                  <a:schemeClr val="bg1"/>
                </a:solidFill>
                <a:effectLst/>
                <a:uLnTx/>
                <a:uFillTx/>
                <a:latin typeface="Calibri" panose="020F0502020204030204" pitchFamily="34" charset="0"/>
                <a:ea typeface="宋体" panose="02010600030101010101" pitchFamily="2" charset="-122"/>
                <a:cs typeface="+mn-cs"/>
              </a:endParaRPr>
            </a:p>
          </p:txBody>
        </p:sp>
      </p:grpSp>
      <p:grpSp>
        <p:nvGrpSpPr>
          <p:cNvPr id="40" name="组合 69"/>
          <p:cNvGrpSpPr/>
          <p:nvPr/>
        </p:nvGrpSpPr>
        <p:grpSpPr bwMode="auto">
          <a:xfrm>
            <a:off x="4261367" y="2481756"/>
            <a:ext cx="1871663" cy="1873250"/>
            <a:chOff x="5714070" y="2554621"/>
            <a:chExt cx="2126470" cy="2126470"/>
          </a:xfrm>
          <a:solidFill>
            <a:schemeClr val="accent1">
              <a:lumMod val="60000"/>
              <a:lumOff val="40000"/>
            </a:schemeClr>
          </a:solidFill>
        </p:grpSpPr>
        <p:grpSp>
          <p:nvGrpSpPr>
            <p:cNvPr id="41" name="组合 88"/>
            <p:cNvGrpSpPr/>
            <p:nvPr/>
          </p:nvGrpSpPr>
          <p:grpSpPr bwMode="auto">
            <a:xfrm>
              <a:off x="5714070" y="2554621"/>
              <a:ext cx="2126470" cy="2126470"/>
              <a:chOff x="6434552" y="2291798"/>
              <a:chExt cx="2741066" cy="2741066"/>
            </a:xfrm>
            <a:grpFill/>
          </p:grpSpPr>
          <p:sp>
            <p:nvSpPr>
              <p:cNvPr id="44" name="Freeform 49"/>
              <p:cNvSpPr/>
              <p:nvPr/>
            </p:nvSpPr>
            <p:spPr bwMode="auto">
              <a:xfrm>
                <a:off x="6434552" y="2291798"/>
                <a:ext cx="2741066" cy="2741066"/>
              </a:xfrm>
              <a:custGeom>
                <a:avLst/>
                <a:gdLst>
                  <a:gd name="T0" fmla="*/ 0 w 240"/>
                  <a:gd name="T1" fmla="*/ 53 h 240"/>
                  <a:gd name="T2" fmla="*/ 54 w 240"/>
                  <a:gd name="T3" fmla="*/ 106 h 240"/>
                  <a:gd name="T4" fmla="*/ 134 w 240"/>
                  <a:gd name="T5" fmla="*/ 187 h 240"/>
                  <a:gd name="T6" fmla="*/ 134 w 240"/>
                  <a:gd name="T7" fmla="*/ 187 h 240"/>
                  <a:gd name="T8" fmla="*/ 134 w 240"/>
                  <a:gd name="T9" fmla="*/ 187 h 240"/>
                  <a:gd name="T10" fmla="*/ 187 w 240"/>
                  <a:gd name="T11" fmla="*/ 240 h 240"/>
                  <a:gd name="T12" fmla="*/ 240 w 240"/>
                  <a:gd name="T13" fmla="*/ 187 h 240"/>
                  <a:gd name="T14" fmla="*/ 187 w 240"/>
                  <a:gd name="T15" fmla="*/ 134 h 240"/>
                  <a:gd name="T16" fmla="*/ 187 w 240"/>
                  <a:gd name="T17" fmla="*/ 134 h 240"/>
                  <a:gd name="T18" fmla="*/ 187 w 240"/>
                  <a:gd name="T19" fmla="*/ 134 h 240"/>
                  <a:gd name="T20" fmla="*/ 107 w 240"/>
                  <a:gd name="T21" fmla="*/ 53 h 240"/>
                  <a:gd name="T22" fmla="*/ 107 w 240"/>
                  <a:gd name="T23" fmla="*/ 53 h 240"/>
                  <a:gd name="T24" fmla="*/ 54 w 240"/>
                  <a:gd name="T25" fmla="*/ 0 h 240"/>
                  <a:gd name="T26" fmla="*/ 0 w 240"/>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0" y="53"/>
                    </a:moveTo>
                    <a:cubicBezTo>
                      <a:pt x="0" y="83"/>
                      <a:pt x="24" y="106"/>
                      <a:pt x="54" y="106"/>
                    </a:cubicBezTo>
                    <a:cubicBezTo>
                      <a:pt x="107" y="106"/>
                      <a:pt x="134" y="134"/>
                      <a:pt x="134" y="187"/>
                    </a:cubicBezTo>
                    <a:cubicBezTo>
                      <a:pt x="134" y="187"/>
                      <a:pt x="134" y="187"/>
                      <a:pt x="134" y="187"/>
                    </a:cubicBezTo>
                    <a:cubicBezTo>
                      <a:pt x="134" y="187"/>
                      <a:pt x="134" y="187"/>
                      <a:pt x="134" y="187"/>
                    </a:cubicBezTo>
                    <a:cubicBezTo>
                      <a:pt x="134" y="216"/>
                      <a:pt x="158" y="240"/>
                      <a:pt x="187" y="240"/>
                    </a:cubicBezTo>
                    <a:cubicBezTo>
                      <a:pt x="217" y="240"/>
                      <a:pt x="240" y="216"/>
                      <a:pt x="240" y="187"/>
                    </a:cubicBezTo>
                    <a:cubicBezTo>
                      <a:pt x="240" y="158"/>
                      <a:pt x="217" y="134"/>
                      <a:pt x="187" y="134"/>
                    </a:cubicBezTo>
                    <a:cubicBezTo>
                      <a:pt x="187" y="134"/>
                      <a:pt x="187" y="134"/>
                      <a:pt x="187" y="134"/>
                    </a:cubicBezTo>
                    <a:cubicBezTo>
                      <a:pt x="187" y="134"/>
                      <a:pt x="187" y="134"/>
                      <a:pt x="187" y="134"/>
                    </a:cubicBezTo>
                    <a:cubicBezTo>
                      <a:pt x="134" y="134"/>
                      <a:pt x="107" y="106"/>
                      <a:pt x="107" y="53"/>
                    </a:cubicBezTo>
                    <a:cubicBezTo>
                      <a:pt x="107" y="53"/>
                      <a:pt x="107" y="53"/>
                      <a:pt x="107" y="53"/>
                    </a:cubicBezTo>
                    <a:cubicBezTo>
                      <a:pt x="107" y="24"/>
                      <a:pt x="83" y="0"/>
                      <a:pt x="54" y="0"/>
                    </a:cubicBezTo>
                    <a:cubicBezTo>
                      <a:pt x="24" y="0"/>
                      <a:pt x="0" y="24"/>
                      <a:pt x="0" y="53"/>
                    </a:cubicBezTo>
                    <a:close/>
                  </a:path>
                </a:pathLst>
              </a:custGeom>
              <a:grpFill/>
              <a:ln>
                <a:noFill/>
              </a:ln>
              <a:effectLst>
                <a:outerShdw blurRad="50800" dist="38100" dir="8100000" algn="tr" rotWithShape="0">
                  <a:prstClr val="black">
                    <a:alpha val="40000"/>
                  </a:prstClr>
                </a:outerShdw>
              </a:effectLst>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45" name="椭圆 44"/>
              <p:cNvSpPr/>
              <p:nvPr/>
            </p:nvSpPr>
            <p:spPr>
              <a:xfrm>
                <a:off x="6639144" y="2491571"/>
                <a:ext cx="820693" cy="822320"/>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46" name="椭圆 45"/>
              <p:cNvSpPr/>
              <p:nvPr/>
            </p:nvSpPr>
            <p:spPr>
              <a:xfrm>
                <a:off x="8143359" y="4022386"/>
                <a:ext cx="820691" cy="822320"/>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grpSp>
        <p:sp>
          <p:nvSpPr>
            <p:cNvPr id="42" name="文本框 89"/>
            <p:cNvSpPr txBox="1">
              <a:spLocks noChangeArrowheads="1"/>
            </p:cNvSpPr>
            <p:nvPr/>
          </p:nvSpPr>
          <p:spPr bwMode="auto">
            <a:xfrm>
              <a:off x="5938767" y="2805766"/>
              <a:ext cx="663975" cy="524382"/>
            </a:xfrm>
            <a:prstGeom prst="rect">
              <a:avLst/>
            </a:prstGeom>
            <a:noFill/>
            <a:ln>
              <a:noFill/>
            </a:ln>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defRPr/>
              </a:pPr>
              <a:r>
                <a:rPr kumimoji="0" lang="en-US" altLang="zh-CN" sz="2400" b="0" i="0" u="none" strike="noStrike" kern="0" cap="none" spc="0" normalizeH="0" baseline="0" noProof="0" dirty="0">
                  <a:ln>
                    <a:noFill/>
                  </a:ln>
                  <a:solidFill>
                    <a:schemeClr val="bg1"/>
                  </a:solidFill>
                  <a:effectLst/>
                  <a:uLnTx/>
                  <a:uFillTx/>
                  <a:latin typeface="Calibri" panose="020F0502020204030204" pitchFamily="34" charset="0"/>
                  <a:ea typeface="宋体" panose="02010600030101010101" pitchFamily="2" charset="-122"/>
                  <a:cs typeface="+mn-cs"/>
                </a:rPr>
                <a:t>03</a:t>
              </a:r>
              <a:endParaRPr kumimoji="0" lang="zh-CN" altLang="en-US" sz="2400" b="0" i="0" u="none" strike="noStrike" kern="0" cap="none" spc="0" normalizeH="0" baseline="0" noProof="0" dirty="0">
                <a:ln>
                  <a:noFill/>
                </a:ln>
                <a:solidFill>
                  <a:schemeClr val="bg1"/>
                </a:solidFill>
                <a:effectLst/>
                <a:uLnTx/>
                <a:uFillTx/>
                <a:latin typeface="Calibri" panose="020F0502020204030204" pitchFamily="34" charset="0"/>
                <a:ea typeface="宋体" panose="02010600030101010101" pitchFamily="2" charset="-122"/>
                <a:cs typeface="+mn-cs"/>
              </a:endParaRPr>
            </a:p>
          </p:txBody>
        </p:sp>
        <p:sp>
          <p:nvSpPr>
            <p:cNvPr id="43" name="文本框 90"/>
            <p:cNvSpPr txBox="1">
              <a:spLocks noChangeArrowheads="1"/>
            </p:cNvSpPr>
            <p:nvPr/>
          </p:nvSpPr>
          <p:spPr bwMode="auto">
            <a:xfrm>
              <a:off x="7107079" y="3984781"/>
              <a:ext cx="727218" cy="524382"/>
            </a:xfrm>
            <a:prstGeom prst="rect">
              <a:avLst/>
            </a:prstGeom>
            <a:noFill/>
            <a:ln>
              <a:noFill/>
            </a:ln>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defRPr/>
              </a:pPr>
              <a:r>
                <a:rPr kumimoji="0" lang="en-US" altLang="zh-CN" sz="2400" b="0" i="0" u="none" strike="noStrike" kern="0" cap="none" spc="0" normalizeH="0" baseline="0" noProof="0" dirty="0">
                  <a:ln>
                    <a:noFill/>
                  </a:ln>
                  <a:solidFill>
                    <a:schemeClr val="bg1"/>
                  </a:solidFill>
                  <a:effectLst/>
                  <a:uLnTx/>
                  <a:uFillTx/>
                  <a:latin typeface="Calibri" panose="020F0502020204030204" pitchFamily="34" charset="0"/>
                  <a:ea typeface="宋体" panose="02010600030101010101" pitchFamily="2" charset="-122"/>
                  <a:cs typeface="+mn-cs"/>
                </a:rPr>
                <a:t>04</a:t>
              </a:r>
              <a:endParaRPr kumimoji="0" lang="zh-CN" altLang="en-US" sz="2400" b="0" i="0" u="none" strike="noStrike" kern="0" cap="none" spc="0" normalizeH="0" baseline="0" noProof="0" dirty="0">
                <a:ln>
                  <a:noFill/>
                </a:ln>
                <a:solidFill>
                  <a:schemeClr val="bg1"/>
                </a:solidFill>
                <a:effectLst/>
                <a:uLnTx/>
                <a:uFillTx/>
                <a:latin typeface="Calibri" panose="020F0502020204030204" pitchFamily="34" charset="0"/>
                <a:ea typeface="宋体" panose="02010600030101010101" pitchFamily="2" charset="-122"/>
                <a:cs typeface="+mn-cs"/>
              </a:endParaRPr>
            </a:p>
          </p:txBody>
        </p:sp>
      </p:grpSp>
      <p:grpSp>
        <p:nvGrpSpPr>
          <p:cNvPr id="47" name="组合 70"/>
          <p:cNvGrpSpPr/>
          <p:nvPr/>
        </p:nvGrpSpPr>
        <p:grpSpPr bwMode="auto">
          <a:xfrm>
            <a:off x="3439042" y="3508868"/>
            <a:ext cx="1871662" cy="1873250"/>
            <a:chOff x="4778801" y="3721803"/>
            <a:chExt cx="2126470" cy="2126470"/>
          </a:xfrm>
          <a:solidFill>
            <a:schemeClr val="bg2">
              <a:lumMod val="40000"/>
              <a:lumOff val="60000"/>
            </a:schemeClr>
          </a:solidFill>
        </p:grpSpPr>
        <p:grpSp>
          <p:nvGrpSpPr>
            <p:cNvPr id="48" name="组合 82"/>
            <p:cNvGrpSpPr/>
            <p:nvPr/>
          </p:nvGrpSpPr>
          <p:grpSpPr bwMode="auto">
            <a:xfrm rot="4657203">
              <a:off x="4778801" y="3721803"/>
              <a:ext cx="2126470" cy="2126470"/>
              <a:chOff x="6434552" y="2291798"/>
              <a:chExt cx="2741066" cy="2741066"/>
            </a:xfrm>
            <a:grpFill/>
          </p:grpSpPr>
          <p:sp>
            <p:nvSpPr>
              <p:cNvPr id="51" name="Freeform 49"/>
              <p:cNvSpPr/>
              <p:nvPr/>
            </p:nvSpPr>
            <p:spPr bwMode="auto">
              <a:xfrm>
                <a:off x="6425422" y="2278176"/>
                <a:ext cx="2743388" cy="2743390"/>
              </a:xfrm>
              <a:custGeom>
                <a:avLst/>
                <a:gdLst>
                  <a:gd name="T0" fmla="*/ 0 w 240"/>
                  <a:gd name="T1" fmla="*/ 53 h 240"/>
                  <a:gd name="T2" fmla="*/ 54 w 240"/>
                  <a:gd name="T3" fmla="*/ 106 h 240"/>
                  <a:gd name="T4" fmla="*/ 134 w 240"/>
                  <a:gd name="T5" fmla="*/ 187 h 240"/>
                  <a:gd name="T6" fmla="*/ 134 w 240"/>
                  <a:gd name="T7" fmla="*/ 187 h 240"/>
                  <a:gd name="T8" fmla="*/ 134 w 240"/>
                  <a:gd name="T9" fmla="*/ 187 h 240"/>
                  <a:gd name="T10" fmla="*/ 187 w 240"/>
                  <a:gd name="T11" fmla="*/ 240 h 240"/>
                  <a:gd name="T12" fmla="*/ 240 w 240"/>
                  <a:gd name="T13" fmla="*/ 187 h 240"/>
                  <a:gd name="T14" fmla="*/ 187 w 240"/>
                  <a:gd name="T15" fmla="*/ 134 h 240"/>
                  <a:gd name="T16" fmla="*/ 187 w 240"/>
                  <a:gd name="T17" fmla="*/ 134 h 240"/>
                  <a:gd name="T18" fmla="*/ 187 w 240"/>
                  <a:gd name="T19" fmla="*/ 134 h 240"/>
                  <a:gd name="T20" fmla="*/ 107 w 240"/>
                  <a:gd name="T21" fmla="*/ 53 h 240"/>
                  <a:gd name="T22" fmla="*/ 107 w 240"/>
                  <a:gd name="T23" fmla="*/ 53 h 240"/>
                  <a:gd name="T24" fmla="*/ 54 w 240"/>
                  <a:gd name="T25" fmla="*/ 0 h 240"/>
                  <a:gd name="T26" fmla="*/ 0 w 240"/>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0" y="53"/>
                    </a:moveTo>
                    <a:cubicBezTo>
                      <a:pt x="0" y="83"/>
                      <a:pt x="24" y="106"/>
                      <a:pt x="54" y="106"/>
                    </a:cubicBezTo>
                    <a:cubicBezTo>
                      <a:pt x="107" y="106"/>
                      <a:pt x="134" y="134"/>
                      <a:pt x="134" y="187"/>
                    </a:cubicBezTo>
                    <a:cubicBezTo>
                      <a:pt x="134" y="187"/>
                      <a:pt x="134" y="187"/>
                      <a:pt x="134" y="187"/>
                    </a:cubicBezTo>
                    <a:cubicBezTo>
                      <a:pt x="134" y="187"/>
                      <a:pt x="134" y="187"/>
                      <a:pt x="134" y="187"/>
                    </a:cubicBezTo>
                    <a:cubicBezTo>
                      <a:pt x="134" y="216"/>
                      <a:pt x="158" y="240"/>
                      <a:pt x="187" y="240"/>
                    </a:cubicBezTo>
                    <a:cubicBezTo>
                      <a:pt x="217" y="240"/>
                      <a:pt x="240" y="216"/>
                      <a:pt x="240" y="187"/>
                    </a:cubicBezTo>
                    <a:cubicBezTo>
                      <a:pt x="240" y="158"/>
                      <a:pt x="217" y="134"/>
                      <a:pt x="187" y="134"/>
                    </a:cubicBezTo>
                    <a:cubicBezTo>
                      <a:pt x="187" y="134"/>
                      <a:pt x="187" y="134"/>
                      <a:pt x="187" y="134"/>
                    </a:cubicBezTo>
                    <a:cubicBezTo>
                      <a:pt x="187" y="134"/>
                      <a:pt x="187" y="134"/>
                      <a:pt x="187" y="134"/>
                    </a:cubicBezTo>
                    <a:cubicBezTo>
                      <a:pt x="134" y="134"/>
                      <a:pt x="107" y="106"/>
                      <a:pt x="107" y="53"/>
                    </a:cubicBezTo>
                    <a:cubicBezTo>
                      <a:pt x="107" y="53"/>
                      <a:pt x="107" y="53"/>
                      <a:pt x="107" y="53"/>
                    </a:cubicBezTo>
                    <a:cubicBezTo>
                      <a:pt x="107" y="24"/>
                      <a:pt x="83" y="0"/>
                      <a:pt x="54" y="0"/>
                    </a:cubicBezTo>
                    <a:cubicBezTo>
                      <a:pt x="24" y="0"/>
                      <a:pt x="0" y="24"/>
                      <a:pt x="0" y="53"/>
                    </a:cubicBezTo>
                    <a:close/>
                  </a:path>
                </a:pathLst>
              </a:custGeom>
              <a:grpFill/>
              <a:ln>
                <a:noFill/>
              </a:ln>
              <a:effectLst>
                <a:outerShdw blurRad="50800" dist="38100" dir="8100000" algn="tr" rotWithShape="0">
                  <a:prstClr val="black">
                    <a:alpha val="40000"/>
                  </a:prstClr>
                </a:outerShdw>
              </a:effectLst>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52" name="椭圆 51"/>
              <p:cNvSpPr/>
              <p:nvPr/>
            </p:nvSpPr>
            <p:spPr>
              <a:xfrm>
                <a:off x="6628764" y="2488857"/>
                <a:ext cx="822320" cy="823017"/>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53" name="椭圆 52"/>
              <p:cNvSpPr/>
              <p:nvPr/>
            </p:nvSpPr>
            <p:spPr>
              <a:xfrm>
                <a:off x="8136397" y="4007805"/>
                <a:ext cx="822320" cy="823017"/>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grpSp>
        <p:sp>
          <p:nvSpPr>
            <p:cNvPr id="49" name="文本框 83"/>
            <p:cNvSpPr txBox="1">
              <a:spLocks noChangeArrowheads="1"/>
            </p:cNvSpPr>
            <p:nvPr/>
          </p:nvSpPr>
          <p:spPr bwMode="auto">
            <a:xfrm>
              <a:off x="6032074" y="3864275"/>
              <a:ext cx="570670" cy="524382"/>
            </a:xfrm>
            <a:prstGeom prst="rect">
              <a:avLst/>
            </a:prstGeom>
            <a:noFill/>
            <a:ln>
              <a:noFill/>
            </a:ln>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defRPr/>
              </a:pPr>
              <a:r>
                <a:rPr kumimoji="0" lang="en-US" altLang="zh-CN" sz="2400" b="0" i="0" u="none" strike="noStrike" kern="0" cap="none" spc="0" normalizeH="0" baseline="0" noProof="0" dirty="0">
                  <a:ln>
                    <a:noFill/>
                  </a:ln>
                  <a:solidFill>
                    <a:schemeClr val="bg1"/>
                  </a:solidFill>
                  <a:effectLst/>
                  <a:uLnTx/>
                  <a:uFillTx/>
                  <a:latin typeface="Calibri" panose="020F0502020204030204" pitchFamily="34" charset="0"/>
                  <a:ea typeface="宋体" panose="02010600030101010101" pitchFamily="2" charset="-122"/>
                  <a:cs typeface="+mn-cs"/>
                </a:rPr>
                <a:t>05</a:t>
              </a:r>
              <a:endParaRPr kumimoji="0" lang="zh-CN" altLang="en-US" sz="2400" b="0" i="0" u="none" strike="noStrike" kern="0" cap="none" spc="0" normalizeH="0" baseline="0" noProof="0" dirty="0">
                <a:ln>
                  <a:noFill/>
                </a:ln>
                <a:solidFill>
                  <a:schemeClr val="bg1"/>
                </a:solidFill>
                <a:effectLst/>
                <a:uLnTx/>
                <a:uFillTx/>
                <a:latin typeface="Calibri" panose="020F0502020204030204" pitchFamily="34" charset="0"/>
                <a:ea typeface="宋体" panose="02010600030101010101" pitchFamily="2" charset="-122"/>
                <a:cs typeface="+mn-cs"/>
              </a:endParaRPr>
            </a:p>
          </p:txBody>
        </p:sp>
        <p:sp>
          <p:nvSpPr>
            <p:cNvPr id="50" name="文本框 84"/>
            <p:cNvSpPr txBox="1">
              <a:spLocks noChangeArrowheads="1"/>
            </p:cNvSpPr>
            <p:nvPr/>
          </p:nvSpPr>
          <p:spPr bwMode="auto">
            <a:xfrm>
              <a:off x="5107716" y="5237006"/>
              <a:ext cx="765226" cy="524382"/>
            </a:xfrm>
            <a:prstGeom prst="rect">
              <a:avLst/>
            </a:prstGeom>
            <a:noFill/>
            <a:ln>
              <a:noFill/>
            </a:ln>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defRPr/>
              </a:pPr>
              <a:r>
                <a:rPr kumimoji="0" lang="en-US" altLang="zh-CN" sz="2400" b="0" i="0" u="none" strike="noStrike" kern="0" cap="none" spc="0" normalizeH="0" baseline="0" noProof="0">
                  <a:ln>
                    <a:noFill/>
                  </a:ln>
                  <a:solidFill>
                    <a:schemeClr val="bg1"/>
                  </a:solidFill>
                  <a:effectLst/>
                  <a:uLnTx/>
                  <a:uFillTx/>
                  <a:latin typeface="Calibri" panose="020F0502020204030204" pitchFamily="34" charset="0"/>
                  <a:ea typeface="宋体" panose="02010600030101010101" pitchFamily="2" charset="-122"/>
                  <a:cs typeface="+mn-cs"/>
                </a:rPr>
                <a:t>06</a:t>
              </a:r>
              <a:endParaRPr kumimoji="0" lang="zh-CN" altLang="en-US" sz="2400" b="0" i="0" u="none" strike="noStrike" kern="0" cap="none" spc="0" normalizeH="0" baseline="0" noProof="0">
                <a:ln>
                  <a:noFill/>
                </a:ln>
                <a:solidFill>
                  <a:schemeClr val="bg1"/>
                </a:solidFill>
                <a:effectLst/>
                <a:uLnTx/>
                <a:uFillTx/>
                <a:latin typeface="Calibri" panose="020F0502020204030204" pitchFamily="34" charset="0"/>
                <a:ea typeface="宋体" panose="02010600030101010101" pitchFamily="2" charset="-122"/>
                <a:cs typeface="+mn-cs"/>
              </a:endParaRPr>
            </a:p>
          </p:txBody>
        </p:sp>
      </p:grpSp>
      <p:grpSp>
        <p:nvGrpSpPr>
          <p:cNvPr id="54" name="组合 71"/>
          <p:cNvGrpSpPr/>
          <p:nvPr/>
        </p:nvGrpSpPr>
        <p:grpSpPr bwMode="auto">
          <a:xfrm>
            <a:off x="2430980" y="2665906"/>
            <a:ext cx="1930400" cy="1871662"/>
            <a:chOff x="3633906" y="2763130"/>
            <a:chExt cx="2193737" cy="2126470"/>
          </a:xfrm>
          <a:solidFill>
            <a:schemeClr val="accent1">
              <a:lumMod val="60000"/>
              <a:lumOff val="40000"/>
            </a:schemeClr>
          </a:solidFill>
        </p:grpSpPr>
        <p:grpSp>
          <p:nvGrpSpPr>
            <p:cNvPr id="55" name="组合 72"/>
            <p:cNvGrpSpPr/>
            <p:nvPr/>
          </p:nvGrpSpPr>
          <p:grpSpPr bwMode="auto">
            <a:xfrm>
              <a:off x="3633906" y="2763130"/>
              <a:ext cx="2126470" cy="2126470"/>
              <a:chOff x="6434552" y="2291798"/>
              <a:chExt cx="2741066" cy="2741066"/>
            </a:xfrm>
            <a:grpFill/>
          </p:grpSpPr>
          <p:sp>
            <p:nvSpPr>
              <p:cNvPr id="58" name="Freeform 49"/>
              <p:cNvSpPr/>
              <p:nvPr/>
            </p:nvSpPr>
            <p:spPr bwMode="auto">
              <a:xfrm>
                <a:off x="6434552" y="2291798"/>
                <a:ext cx="2741731" cy="2741066"/>
              </a:xfrm>
              <a:custGeom>
                <a:avLst/>
                <a:gdLst>
                  <a:gd name="T0" fmla="*/ 0 w 240"/>
                  <a:gd name="T1" fmla="*/ 53 h 240"/>
                  <a:gd name="T2" fmla="*/ 54 w 240"/>
                  <a:gd name="T3" fmla="*/ 106 h 240"/>
                  <a:gd name="T4" fmla="*/ 134 w 240"/>
                  <a:gd name="T5" fmla="*/ 187 h 240"/>
                  <a:gd name="T6" fmla="*/ 134 w 240"/>
                  <a:gd name="T7" fmla="*/ 187 h 240"/>
                  <a:gd name="T8" fmla="*/ 134 w 240"/>
                  <a:gd name="T9" fmla="*/ 187 h 240"/>
                  <a:gd name="T10" fmla="*/ 187 w 240"/>
                  <a:gd name="T11" fmla="*/ 240 h 240"/>
                  <a:gd name="T12" fmla="*/ 240 w 240"/>
                  <a:gd name="T13" fmla="*/ 187 h 240"/>
                  <a:gd name="T14" fmla="*/ 187 w 240"/>
                  <a:gd name="T15" fmla="*/ 134 h 240"/>
                  <a:gd name="T16" fmla="*/ 187 w 240"/>
                  <a:gd name="T17" fmla="*/ 134 h 240"/>
                  <a:gd name="T18" fmla="*/ 187 w 240"/>
                  <a:gd name="T19" fmla="*/ 134 h 240"/>
                  <a:gd name="T20" fmla="*/ 107 w 240"/>
                  <a:gd name="T21" fmla="*/ 53 h 240"/>
                  <a:gd name="T22" fmla="*/ 107 w 240"/>
                  <a:gd name="T23" fmla="*/ 53 h 240"/>
                  <a:gd name="T24" fmla="*/ 54 w 240"/>
                  <a:gd name="T25" fmla="*/ 0 h 240"/>
                  <a:gd name="T26" fmla="*/ 0 w 240"/>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0" y="53"/>
                    </a:moveTo>
                    <a:cubicBezTo>
                      <a:pt x="0" y="83"/>
                      <a:pt x="24" y="106"/>
                      <a:pt x="54" y="106"/>
                    </a:cubicBezTo>
                    <a:cubicBezTo>
                      <a:pt x="107" y="106"/>
                      <a:pt x="134" y="134"/>
                      <a:pt x="134" y="187"/>
                    </a:cubicBezTo>
                    <a:cubicBezTo>
                      <a:pt x="134" y="187"/>
                      <a:pt x="134" y="187"/>
                      <a:pt x="134" y="187"/>
                    </a:cubicBezTo>
                    <a:cubicBezTo>
                      <a:pt x="134" y="187"/>
                      <a:pt x="134" y="187"/>
                      <a:pt x="134" y="187"/>
                    </a:cubicBezTo>
                    <a:cubicBezTo>
                      <a:pt x="134" y="216"/>
                      <a:pt x="158" y="240"/>
                      <a:pt x="187" y="240"/>
                    </a:cubicBezTo>
                    <a:cubicBezTo>
                      <a:pt x="217" y="240"/>
                      <a:pt x="240" y="216"/>
                      <a:pt x="240" y="187"/>
                    </a:cubicBezTo>
                    <a:cubicBezTo>
                      <a:pt x="240" y="158"/>
                      <a:pt x="217" y="134"/>
                      <a:pt x="187" y="134"/>
                    </a:cubicBezTo>
                    <a:cubicBezTo>
                      <a:pt x="187" y="134"/>
                      <a:pt x="187" y="134"/>
                      <a:pt x="187" y="134"/>
                    </a:cubicBezTo>
                    <a:cubicBezTo>
                      <a:pt x="187" y="134"/>
                      <a:pt x="187" y="134"/>
                      <a:pt x="187" y="134"/>
                    </a:cubicBezTo>
                    <a:cubicBezTo>
                      <a:pt x="134" y="134"/>
                      <a:pt x="107" y="106"/>
                      <a:pt x="107" y="53"/>
                    </a:cubicBezTo>
                    <a:cubicBezTo>
                      <a:pt x="107" y="53"/>
                      <a:pt x="107" y="53"/>
                      <a:pt x="107" y="53"/>
                    </a:cubicBezTo>
                    <a:cubicBezTo>
                      <a:pt x="107" y="24"/>
                      <a:pt x="83" y="0"/>
                      <a:pt x="54" y="0"/>
                    </a:cubicBezTo>
                    <a:cubicBezTo>
                      <a:pt x="24" y="0"/>
                      <a:pt x="0" y="24"/>
                      <a:pt x="0" y="53"/>
                    </a:cubicBezTo>
                    <a:close/>
                  </a:path>
                </a:pathLst>
              </a:custGeom>
              <a:grpFill/>
              <a:ln>
                <a:noFill/>
              </a:ln>
              <a:effectLst>
                <a:outerShdw blurRad="50800" dist="38100" dir="8100000" algn="tr" rotWithShape="0">
                  <a:prstClr val="black">
                    <a:alpha val="40000"/>
                  </a:prstClr>
                </a:outerShdw>
              </a:effectLst>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59" name="椭圆 58"/>
              <p:cNvSpPr/>
              <p:nvPr/>
            </p:nvSpPr>
            <p:spPr>
              <a:xfrm>
                <a:off x="6639194" y="2491740"/>
                <a:ext cx="820891" cy="820692"/>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60" name="椭圆 59"/>
              <p:cNvSpPr/>
              <p:nvPr/>
            </p:nvSpPr>
            <p:spPr>
              <a:xfrm>
                <a:off x="8143773" y="4021530"/>
                <a:ext cx="820892" cy="823017"/>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grpSp>
        <p:sp>
          <p:nvSpPr>
            <p:cNvPr id="56" name="文本框 73"/>
            <p:cNvSpPr txBox="1">
              <a:spLocks noChangeArrowheads="1"/>
            </p:cNvSpPr>
            <p:nvPr/>
          </p:nvSpPr>
          <p:spPr bwMode="auto">
            <a:xfrm>
              <a:off x="5031085" y="4200079"/>
              <a:ext cx="796558" cy="524382"/>
            </a:xfrm>
            <a:prstGeom prst="rect">
              <a:avLst/>
            </a:prstGeom>
            <a:noFill/>
            <a:ln>
              <a:noFill/>
            </a:ln>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defRPr/>
              </a:pPr>
              <a:r>
                <a:rPr kumimoji="0" lang="en-US" altLang="zh-CN" sz="2400" b="0" i="0" u="none" strike="noStrike" kern="0" cap="none" spc="0" normalizeH="0" baseline="0" noProof="0">
                  <a:ln>
                    <a:noFill/>
                  </a:ln>
                  <a:solidFill>
                    <a:schemeClr val="bg1"/>
                  </a:solidFill>
                  <a:effectLst/>
                  <a:uLnTx/>
                  <a:uFillTx/>
                  <a:latin typeface="Calibri" panose="020F0502020204030204" pitchFamily="34" charset="0"/>
                  <a:ea typeface="宋体" panose="02010600030101010101" pitchFamily="2" charset="-122"/>
                  <a:cs typeface="+mn-cs"/>
                </a:rPr>
                <a:t>07</a:t>
              </a:r>
              <a:endParaRPr kumimoji="0" lang="zh-CN" altLang="en-US" sz="2400" b="0" i="0" u="none" strike="noStrike" kern="0" cap="none" spc="0" normalizeH="0" baseline="0" noProof="0">
                <a:ln>
                  <a:noFill/>
                </a:ln>
                <a:solidFill>
                  <a:schemeClr val="bg1"/>
                </a:solidFill>
                <a:effectLst/>
                <a:uLnTx/>
                <a:uFillTx/>
                <a:latin typeface="Calibri" panose="020F0502020204030204" pitchFamily="34" charset="0"/>
                <a:ea typeface="宋体" panose="02010600030101010101" pitchFamily="2" charset="-122"/>
                <a:cs typeface="+mn-cs"/>
              </a:endParaRPr>
            </a:p>
          </p:txBody>
        </p:sp>
        <p:sp>
          <p:nvSpPr>
            <p:cNvPr id="57" name="文本框 75"/>
            <p:cNvSpPr txBox="1">
              <a:spLocks noChangeArrowheads="1"/>
            </p:cNvSpPr>
            <p:nvPr/>
          </p:nvSpPr>
          <p:spPr bwMode="auto">
            <a:xfrm>
              <a:off x="3864111" y="3005857"/>
              <a:ext cx="676385" cy="524382"/>
            </a:xfrm>
            <a:prstGeom prst="rect">
              <a:avLst/>
            </a:prstGeom>
            <a:noFill/>
            <a:ln>
              <a:noFill/>
            </a:ln>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defRPr/>
              </a:pPr>
              <a:r>
                <a:rPr kumimoji="0" lang="en-US" altLang="zh-CN" sz="2400" b="0" i="0" u="none" strike="noStrike" kern="0" cap="none" spc="0" normalizeH="0" baseline="0" noProof="0">
                  <a:ln>
                    <a:noFill/>
                  </a:ln>
                  <a:solidFill>
                    <a:schemeClr val="bg1"/>
                  </a:solidFill>
                  <a:effectLst/>
                  <a:uLnTx/>
                  <a:uFillTx/>
                  <a:latin typeface="Calibri" panose="020F0502020204030204" pitchFamily="34" charset="0"/>
                  <a:ea typeface="宋体" panose="02010600030101010101" pitchFamily="2" charset="-122"/>
                  <a:cs typeface="+mn-cs"/>
                </a:rPr>
                <a:t>08</a:t>
              </a:r>
              <a:endParaRPr kumimoji="0" lang="zh-CN" altLang="en-US" sz="2400" b="0" i="0" u="none" strike="noStrike" kern="0" cap="none" spc="0" normalizeH="0" baseline="0" noProof="0">
                <a:ln>
                  <a:noFill/>
                </a:ln>
                <a:solidFill>
                  <a:schemeClr val="bg1"/>
                </a:solidFill>
                <a:effectLst/>
                <a:uLnTx/>
                <a:uFillTx/>
                <a:latin typeface="Calibri" panose="020F0502020204030204" pitchFamily="34" charset="0"/>
                <a:ea typeface="宋体" panose="02010600030101010101" pitchFamily="2" charset="-122"/>
                <a:cs typeface="+mn-cs"/>
              </a:endParaRPr>
            </a:p>
          </p:txBody>
        </p:sp>
      </p:grpSp>
      <p:sp>
        <p:nvSpPr>
          <p:cNvPr id="61" name="Rectangle 4"/>
          <p:cNvSpPr>
            <a:spLocks noChangeArrowheads="1"/>
          </p:cNvSpPr>
          <p:nvPr/>
        </p:nvSpPr>
        <p:spPr bwMode="auto">
          <a:xfrm>
            <a:off x="5394325" y="1014413"/>
            <a:ext cx="3752850" cy="2395538"/>
          </a:xfrm>
          <a:prstGeom prst="rect">
            <a:avLst/>
          </a:prstGeom>
          <a:noFill/>
          <a:ln>
            <a:noFill/>
          </a:ln>
        </p:spPr>
        <p:txBody>
          <a:bodyPr lIns="92075" tIns="46038" rIns="92075" bIns="46038"/>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3" indent="-228600" algn="l" defTabSz="914400" rtl="0" eaLnBrk="0" fontAlgn="base" latinLnBrk="0" hangingPunct="0">
              <a:lnSpc>
                <a:spcPct val="125000"/>
              </a:lnSpc>
              <a:spcBef>
                <a:spcPts val="130"/>
              </a:spcBef>
              <a:spcAft>
                <a:spcPct val="0"/>
              </a:spcAft>
              <a:buClrTx/>
              <a:buSzTx/>
              <a:buFont typeface="Arial" panose="020B0604020202020204" pitchFamily="34" charset="0"/>
              <a:buChar char="–"/>
              <a:defRPr/>
            </a:pPr>
            <a:r>
              <a:rPr kumimoji="0" lang="zh-CN" altLang="zh-CN" sz="2200" b="0" i="0" u="none" strike="noStrike" kern="1200" cap="none" spc="0" normalizeH="0" baseline="0" noProof="0" dirty="0">
                <a:ln>
                  <a:noFill/>
                </a:ln>
                <a:solidFill>
                  <a:schemeClr val="tx1"/>
                </a:solidFill>
                <a:effectLst/>
                <a:uLnTx/>
                <a:uFillTx/>
                <a:latin typeface="+mn-lt"/>
                <a:ea typeface="+mn-ea"/>
                <a:cs typeface="+mn-ea"/>
                <a:sym typeface="+mn-lt"/>
              </a:rPr>
              <a:t>第一趟分配对最低位关键字（个位）进行，改变记录的指针值，</a:t>
            </a:r>
            <a:r>
              <a:rPr kumimoji="0" lang="zh-CN" altLang="zh-CN" sz="2200" b="0" i="0" u="none" strike="noStrike" kern="1200" cap="none" spc="0" normalizeH="0" baseline="0" noProof="0" dirty="0">
                <a:ln>
                  <a:noFill/>
                </a:ln>
                <a:solidFill>
                  <a:srgbClr val="FF3300"/>
                </a:solidFill>
                <a:effectLst/>
                <a:uLnTx/>
                <a:uFillTx/>
                <a:latin typeface="+mn-lt"/>
                <a:ea typeface="+mn-ea"/>
                <a:cs typeface="+mn-ea"/>
                <a:sym typeface="+mn-lt"/>
              </a:rPr>
              <a:t>将链表中记录分配至10个链队列中</a:t>
            </a:r>
            <a:r>
              <a:rPr kumimoji="0" lang="zh-CN" altLang="zh-CN" sz="2200" b="0" i="0" u="none" strike="noStrike" kern="1200" cap="none" spc="0" normalizeH="0" baseline="0" noProof="0" dirty="0">
                <a:ln>
                  <a:noFill/>
                </a:ln>
                <a:solidFill>
                  <a:schemeClr val="tx1"/>
                </a:solidFill>
                <a:effectLst/>
                <a:uLnTx/>
                <a:uFillTx/>
                <a:latin typeface="+mn-lt"/>
                <a:ea typeface="+mn-ea"/>
                <a:cs typeface="+mn-ea"/>
                <a:sym typeface="+mn-lt"/>
              </a:rPr>
              <a:t>，每个队列记录的关键字的个位相同</a:t>
            </a:r>
          </a:p>
        </p:txBody>
      </p:sp>
      <p:sp>
        <p:nvSpPr>
          <p:cNvPr id="62" name="Rectangle 4"/>
          <p:cNvSpPr>
            <a:spLocks noChangeArrowheads="1"/>
          </p:cNvSpPr>
          <p:nvPr/>
        </p:nvSpPr>
        <p:spPr bwMode="auto">
          <a:xfrm>
            <a:off x="257175" y="3714750"/>
            <a:ext cx="3140075" cy="2755900"/>
          </a:xfrm>
          <a:prstGeom prst="rect">
            <a:avLst/>
          </a:prstGeom>
          <a:noFill/>
          <a:ln>
            <a:noFill/>
          </a:ln>
        </p:spPr>
        <p:txBody>
          <a:bodyPr lIns="92075" tIns="46038" rIns="92075" bIns="46038"/>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3" indent="-228600" algn="l" defTabSz="914400" rtl="0" eaLnBrk="0" fontAlgn="base" latinLnBrk="0" hangingPunct="0">
              <a:lnSpc>
                <a:spcPct val="125000"/>
              </a:lnSpc>
              <a:spcBef>
                <a:spcPts val="130"/>
              </a:spcBef>
              <a:spcAft>
                <a:spcPct val="0"/>
              </a:spcAft>
              <a:buClrTx/>
              <a:buSzTx/>
              <a:buFont typeface="Arial" panose="020B0604020202020204" pitchFamily="34" charset="0"/>
              <a:buChar char="–"/>
              <a:defRPr/>
            </a:pPr>
            <a:r>
              <a:rPr kumimoji="0" lang="zh-CN" altLang="zh-CN" sz="2200" b="0" i="0" u="none" strike="noStrike" kern="1200" cap="none" spc="0" normalizeH="0" baseline="0" noProof="0" dirty="0">
                <a:ln>
                  <a:noFill/>
                </a:ln>
                <a:solidFill>
                  <a:schemeClr val="tx1"/>
                </a:solidFill>
                <a:effectLst/>
                <a:uLnTx/>
                <a:uFillTx/>
                <a:latin typeface="+mn-lt"/>
                <a:ea typeface="+mn-ea"/>
                <a:cs typeface="+mn-ea"/>
                <a:sym typeface="+mn-lt"/>
              </a:rPr>
              <a:t>第一趟收集是改变所有非空队列的队尾记录的指针域，令其指向下一个非空队列的队头记录，</a:t>
            </a:r>
            <a:r>
              <a:rPr kumimoji="0" lang="zh-CN" altLang="zh-CN" sz="2200" b="0" i="0" u="none" strike="noStrike" kern="1200" cap="none" spc="0" normalizeH="0" baseline="0" noProof="0" dirty="0">
                <a:ln>
                  <a:noFill/>
                </a:ln>
                <a:solidFill>
                  <a:srgbClr val="FF3300"/>
                </a:solidFill>
                <a:effectLst/>
                <a:uLnTx/>
                <a:uFillTx/>
                <a:latin typeface="+mn-lt"/>
                <a:ea typeface="+mn-ea"/>
                <a:cs typeface="+mn-ea"/>
                <a:sym typeface="+mn-lt"/>
              </a:rPr>
              <a:t>重新将10个队列链成一个链表</a:t>
            </a:r>
          </a:p>
        </p:txBody>
      </p:sp>
      <p:sp>
        <p:nvSpPr>
          <p:cNvPr id="63" name="Rectangle 4"/>
          <p:cNvSpPr>
            <a:spLocks noChangeArrowheads="1"/>
          </p:cNvSpPr>
          <p:nvPr/>
        </p:nvSpPr>
        <p:spPr bwMode="auto">
          <a:xfrm>
            <a:off x="4602163" y="4497388"/>
            <a:ext cx="4371975" cy="1881188"/>
          </a:xfrm>
          <a:prstGeom prst="rect">
            <a:avLst/>
          </a:prstGeom>
          <a:noFill/>
          <a:ln>
            <a:noFill/>
          </a:ln>
        </p:spPr>
        <p:txBody>
          <a:bodyPr lIns="92075" tIns="46038" rIns="92075" bIns="46038"/>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3" indent="-228600" algn="l" defTabSz="914400" rtl="0" eaLnBrk="0" fontAlgn="base" latinLnBrk="0" hangingPunct="0">
              <a:lnSpc>
                <a:spcPct val="125000"/>
              </a:lnSpc>
              <a:spcBef>
                <a:spcPts val="130"/>
              </a:spcBef>
              <a:spcAft>
                <a:spcPct val="0"/>
              </a:spcAft>
              <a:buClrTx/>
              <a:buSzTx/>
              <a:buFont typeface="Arial" panose="020B0604020202020204" pitchFamily="34" charset="0"/>
              <a:buChar char="–"/>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重复上述两步，进行第二趟、第三趟分配和收集，分别对</a:t>
            </a:r>
            <a:r>
              <a:rPr kumimoji="0" lang="zh-CN" altLang="zh-CN" sz="2400" b="0" i="0" u="none" strike="noStrike" kern="1200" cap="none" spc="0" normalizeH="0" baseline="0" noProof="0" dirty="0">
                <a:ln>
                  <a:noFill/>
                </a:ln>
                <a:solidFill>
                  <a:srgbClr val="FF3300"/>
                </a:solidFill>
                <a:effectLst/>
                <a:uLnTx/>
                <a:uFillTx/>
                <a:latin typeface="+mn-lt"/>
                <a:ea typeface="+mn-ea"/>
                <a:cs typeface="+mn-ea"/>
                <a:sym typeface="+mn-lt"/>
              </a:rPr>
              <a:t>十位、百位</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进行，最后得到一个有序序列</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179652">
                                            <p:txEl>
                                              <p:pRg st="0" end="0"/>
                                            </p:txEl>
                                          </p:spTgt>
                                        </p:tgtEl>
                                        <p:attrNameLst>
                                          <p:attrName>style.visibility</p:attrName>
                                        </p:attrNameLst>
                                      </p:cBhvr>
                                      <p:to>
                                        <p:strVal val="visible"/>
                                      </p:to>
                                    </p:set>
                                    <p:anim calcmode="lin" valueType="num">
                                      <p:cBhvr additive="base">
                                        <p:cTn id="7" dur="500" fill="hold"/>
                                        <p:tgtEl>
                                          <p:spTgt spid="117965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179652">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1">
                                            <p:txEl>
                                              <p:pRg st="0" end="0"/>
                                            </p:txEl>
                                          </p:spTgt>
                                        </p:tgtEl>
                                        <p:attrNameLst>
                                          <p:attrName>style.visibility</p:attrName>
                                        </p:attrNameLst>
                                      </p:cBhvr>
                                      <p:to>
                                        <p:strVal val="visible"/>
                                      </p:to>
                                    </p:set>
                                    <p:anim calcmode="lin" valueType="num">
                                      <p:cBhvr additive="base">
                                        <p:cTn id="13"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1">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1"/>
                                            </p:cond>
                                          </p:stCondLst>
                                          <p:endCondLst>
                                            <p:cond evt="onStopAudio" delay="0">
                                              <p:tgtEl>
                                                <p:sldTgt/>
                                              </p:tgtEl>
                                            </p:cond>
                                          </p:endCondLst>
                                        </p:cTn>
                                        <p:tgtEl>
                                          <p:sndTgt r:embed="rId2" name="WHOOSH.WAV"/>
                                        </p:tgtEl>
                                      </p:cMediaNode>
                                    </p:audio>
                                  </p:sub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62">
                                            <p:txEl>
                                              <p:pRg st="0" end="0"/>
                                            </p:txEl>
                                          </p:spTgt>
                                        </p:tgtEl>
                                        <p:attrNameLst>
                                          <p:attrName>style.visibility</p:attrName>
                                        </p:attrNameLst>
                                      </p:cBhvr>
                                      <p:to>
                                        <p:strVal val="visible"/>
                                      </p:to>
                                    </p:set>
                                    <p:anim calcmode="lin" valueType="num">
                                      <p:cBhvr additive="base">
                                        <p:cTn id="19"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62">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2" name="WHOOSH.WAV"/>
                                        </p:tgtEl>
                                      </p:cMediaNode>
                                    </p:audio>
                                  </p:sub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63">
                                            <p:txEl>
                                              <p:pRg st="0" end="0"/>
                                            </p:txEl>
                                          </p:spTgt>
                                        </p:tgtEl>
                                        <p:attrNameLst>
                                          <p:attrName>style.visibility</p:attrName>
                                        </p:attrNameLst>
                                      </p:cBhvr>
                                      <p:to>
                                        <p:strVal val="visible"/>
                                      </p:to>
                                    </p:set>
                                    <p:anim calcmode="lin" valueType="num">
                                      <p:cBhvr additive="base">
                                        <p:cTn id="25" dur="500" fill="hold"/>
                                        <p:tgtEl>
                                          <p:spTgt spid="63">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63">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3"/>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9652" grpId="0" build="p" bldLvl="5"/>
      <p:bldP spid="61" grpId="0" build="p" bldLvl="5"/>
      <p:bldP spid="62" grpId="0" build="p" bldLvl="5"/>
      <p:bldP spid="63" grpId="0" build="p" bldLvl="5"/>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0676" name="Text Box 4"/>
          <p:cNvSpPr txBox="1">
            <a:spLocks noChangeArrowheads="1"/>
          </p:cNvSpPr>
          <p:nvPr/>
        </p:nvSpPr>
        <p:spPr bwMode="auto">
          <a:xfrm>
            <a:off x="574675" y="2938463"/>
            <a:ext cx="8131175" cy="1347788"/>
          </a:xfrm>
          <a:prstGeom prst="rect">
            <a:avLst/>
          </a:prstGeom>
          <a:solidFill>
            <a:srgbClr val="CCCCFF"/>
          </a:solidFill>
          <a:ln w="9525">
            <a:noFill/>
            <a:miter lim="800000"/>
          </a:ln>
          <a:effectLst/>
        </p:spPr>
        <p:txBody>
          <a:bodyPr>
            <a:spAutoFit/>
          </a:bodyPr>
          <a:lstStyle/>
          <a:p>
            <a:pPr marL="342900" marR="0" indent="-342900" algn="just" defTabSz="914400" eaLnBrk="1" hangingPunct="1">
              <a:spcBef>
                <a:spcPct val="20000"/>
              </a:spcBef>
              <a:buClr>
                <a:srgbClr val="FF7C80"/>
              </a:buClr>
              <a:buSzPct val="50000"/>
              <a:buFont typeface="Wingdings" panose="05000000000000000000" pitchFamily="2" charset="2"/>
              <a:buChar char="Ø"/>
              <a:defRPr/>
            </a:pPr>
            <a:r>
              <a:rPr kumimoji="1" lang="zh-CN" altLang="en-US" sz="2400" b="0" kern="1200" cap="none" spc="0" normalizeH="0" baseline="0" noProof="0" dirty="0">
                <a:latin typeface="+mn-lt"/>
                <a:ea typeface="+mn-ea"/>
                <a:cs typeface="+mn-ea"/>
                <a:sym typeface="+mn-lt"/>
              </a:rPr>
              <a:t>重复执行</a:t>
            </a:r>
            <a:r>
              <a:rPr kumimoji="1" lang="en-US" altLang="zh-CN" sz="2400" b="0" kern="1200" cap="none" spc="0" normalizeH="0" baseline="0" noProof="0" dirty="0">
                <a:latin typeface="+mn-lt"/>
                <a:ea typeface="+mn-ea"/>
                <a:cs typeface="+mn-ea"/>
                <a:sym typeface="+mn-lt"/>
              </a:rPr>
              <a:t>d</a:t>
            </a:r>
            <a:r>
              <a:rPr kumimoji="1" lang="zh-CN" altLang="en-US" sz="2400" b="0" kern="1200" cap="none" spc="0" normalizeH="0" baseline="0" noProof="0" dirty="0">
                <a:latin typeface="+mn-lt"/>
                <a:ea typeface="+mn-ea"/>
                <a:cs typeface="+mn-ea"/>
                <a:sym typeface="+mn-lt"/>
              </a:rPr>
              <a:t>趟“分配”与“收集”</a:t>
            </a:r>
          </a:p>
          <a:p>
            <a:pPr marL="342900" marR="0" indent="-342900" algn="just" defTabSz="914400" eaLnBrk="1" hangingPunct="1">
              <a:spcBef>
                <a:spcPct val="20000"/>
              </a:spcBef>
              <a:buClr>
                <a:srgbClr val="FF7C80"/>
              </a:buClr>
              <a:buSzPct val="50000"/>
              <a:buFont typeface="Wingdings" panose="05000000000000000000" pitchFamily="2" charset="2"/>
              <a:buChar char="Ø"/>
              <a:defRPr/>
            </a:pPr>
            <a:r>
              <a:rPr kumimoji="1" lang="zh-CN" altLang="en-US" sz="2400" b="0" kern="1200" cap="none" spc="0" normalizeH="0" baseline="0" noProof="0" dirty="0">
                <a:latin typeface="+mn-lt"/>
                <a:ea typeface="+mn-ea"/>
                <a:cs typeface="+mn-ea"/>
                <a:sym typeface="+mn-lt"/>
              </a:rPr>
              <a:t>每趟对 </a:t>
            </a:r>
            <a:r>
              <a:rPr kumimoji="1" lang="en-US" altLang="zh-CN" sz="2400" b="0" kern="1200" cap="none" spc="0" normalizeH="0" baseline="0" noProof="0" dirty="0">
                <a:latin typeface="+mn-lt"/>
                <a:ea typeface="+mn-ea"/>
                <a:cs typeface="+mn-ea"/>
                <a:sym typeface="+mn-lt"/>
              </a:rPr>
              <a:t>n</a:t>
            </a:r>
            <a:r>
              <a:rPr kumimoji="1" lang="en-US" altLang="zh-CN" sz="2400" b="0" i="1" kern="1200" cap="none" spc="0" normalizeH="0" baseline="0" noProof="0" dirty="0">
                <a:latin typeface="+mn-lt"/>
                <a:ea typeface="+mn-ea"/>
                <a:cs typeface="+mn-ea"/>
                <a:sym typeface="+mn-lt"/>
              </a:rPr>
              <a:t> </a:t>
            </a:r>
            <a:r>
              <a:rPr kumimoji="1" lang="zh-CN" altLang="en-US" sz="2400" b="0" kern="1200" cap="none" spc="0" normalizeH="0" baseline="0" noProof="0" dirty="0">
                <a:latin typeface="+mn-lt"/>
                <a:ea typeface="+mn-ea"/>
                <a:cs typeface="+mn-ea"/>
                <a:sym typeface="+mn-lt"/>
              </a:rPr>
              <a:t>个记录进行“分配”，对</a:t>
            </a:r>
            <a:r>
              <a:rPr kumimoji="1" lang="en-US" altLang="zh-CN" sz="2400" b="0" kern="1200" cap="none" spc="0" normalizeH="0" baseline="0" noProof="0" dirty="0" err="1">
                <a:latin typeface="+mn-lt"/>
                <a:ea typeface="+mn-ea"/>
                <a:cs typeface="+mn-ea"/>
                <a:sym typeface="+mn-lt"/>
              </a:rPr>
              <a:t>rd</a:t>
            </a:r>
            <a:r>
              <a:rPr kumimoji="1" lang="zh-CN" altLang="en-US" sz="2400" b="0" kern="1200" cap="none" spc="0" normalizeH="0" baseline="0" noProof="0" dirty="0">
                <a:latin typeface="+mn-lt"/>
                <a:ea typeface="+mn-ea"/>
                <a:cs typeface="+mn-ea"/>
                <a:sym typeface="+mn-lt"/>
              </a:rPr>
              <a:t>个队列进行“收集”</a:t>
            </a:r>
          </a:p>
          <a:p>
            <a:pPr marL="342900" marR="0" indent="-342900" algn="just" defTabSz="914400" eaLnBrk="1" hangingPunct="1">
              <a:spcBef>
                <a:spcPct val="20000"/>
              </a:spcBef>
              <a:buClr>
                <a:srgbClr val="FF7C80"/>
              </a:buClr>
              <a:buSzPct val="50000"/>
              <a:buFont typeface="Wingdings" panose="05000000000000000000" pitchFamily="2" charset="2"/>
              <a:buChar char="Ø"/>
              <a:defRPr/>
            </a:pPr>
            <a:r>
              <a:rPr kumimoji="1" lang="zh-CN" altLang="en-US" sz="2400" b="0" kern="1200" cap="none" spc="0" normalizeH="0" baseline="0" noProof="0" dirty="0">
                <a:latin typeface="+mn-lt"/>
                <a:ea typeface="+mn-ea"/>
                <a:cs typeface="+mn-ea"/>
                <a:sym typeface="+mn-lt"/>
              </a:rPr>
              <a:t>需要增加</a:t>
            </a:r>
            <a:r>
              <a:rPr kumimoji="1" lang="en-US" altLang="zh-CN" sz="2400" b="0" kern="1200" cap="none" spc="0" normalizeH="0" baseline="0" noProof="0" dirty="0">
                <a:latin typeface="+mn-lt"/>
                <a:ea typeface="+mn-ea"/>
                <a:cs typeface="+mn-ea"/>
                <a:sym typeface="+mn-lt"/>
              </a:rPr>
              <a:t>n+2rd</a:t>
            </a:r>
            <a:r>
              <a:rPr kumimoji="1" lang="zh-CN" altLang="en-US" sz="2400" b="0" kern="1200" cap="none" spc="0" normalizeH="0" baseline="0" noProof="0" dirty="0">
                <a:latin typeface="+mn-lt"/>
                <a:ea typeface="+mn-ea"/>
                <a:cs typeface="+mn-ea"/>
                <a:sym typeface="+mn-lt"/>
              </a:rPr>
              <a:t>个附加链接指针。</a:t>
            </a:r>
          </a:p>
        </p:txBody>
      </p:sp>
      <p:sp>
        <p:nvSpPr>
          <p:cNvPr id="1180677" name="Rectangle 5"/>
          <p:cNvSpPr>
            <a:spLocks noChangeArrowheads="1"/>
          </p:cNvSpPr>
          <p:nvPr/>
        </p:nvSpPr>
        <p:spPr bwMode="auto">
          <a:xfrm>
            <a:off x="568325" y="1154113"/>
            <a:ext cx="8137525" cy="1625600"/>
          </a:xfrm>
          <a:prstGeom prst="rect">
            <a:avLst/>
          </a:prstGeom>
          <a:solidFill>
            <a:schemeClr val="accent1">
              <a:lumMod val="20000"/>
              <a:lumOff val="80000"/>
            </a:schemeClr>
          </a:solidFill>
          <a:ln w="9525">
            <a:noFill/>
            <a:miter lim="800000"/>
          </a:ln>
          <a:effectLst/>
        </p:spPr>
        <p:txBody>
          <a:bodyPr>
            <a:spAutoFit/>
          </a:bodyPr>
          <a:lstStyle/>
          <a:p>
            <a:pPr marL="342900" marR="0" lvl="0" indent="-342900" algn="l" defTabSz="914400" rtl="0" eaLnBrk="0" fontAlgn="base" latinLnBrk="0" hangingPunct="0">
              <a:lnSpc>
                <a:spcPct val="125000"/>
              </a:lnSpc>
              <a:spcBef>
                <a:spcPct val="20000"/>
              </a:spcBef>
              <a:spcAft>
                <a:spcPct val="0"/>
              </a:spcAft>
              <a:buClrTx/>
              <a:buSzTx/>
              <a:buFontTx/>
              <a:buNone/>
              <a:defRPr/>
            </a:pPr>
            <a:r>
              <a:rPr kumimoji="1" lang="en-US" altLang="zh-CN" sz="2400" b="0" i="0" u="none" strike="noStrike" kern="1200" cap="none" spc="0" normalizeH="0" baseline="0" noProof="0" dirty="0">
                <a:ln>
                  <a:noFill/>
                </a:ln>
                <a:solidFill>
                  <a:srgbClr val="FF3300"/>
                </a:solidFill>
                <a:effectLst/>
                <a:uLnTx/>
                <a:uFillTx/>
                <a:latin typeface="+mn-lt"/>
                <a:ea typeface="+mn-ea"/>
                <a:cs typeface="+mn-ea"/>
                <a:sym typeface="+mn-lt"/>
              </a:rPr>
              <a:t>n</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个记录</a:t>
            </a:r>
          </a:p>
          <a:p>
            <a:pPr marL="342900" marR="0" lvl="0" indent="-342900" algn="l" defTabSz="914400" rtl="0" eaLnBrk="0" fontAlgn="base" latinLnBrk="0" hangingPunct="0">
              <a:lnSpc>
                <a:spcPct val="125000"/>
              </a:lnSpc>
              <a:spcBef>
                <a:spcPct val="20000"/>
              </a:spcBef>
              <a:spcAft>
                <a:spcPct val="0"/>
              </a:spcAft>
              <a:buClrTx/>
              <a:buSzTx/>
              <a:buFontTx/>
              <a:buNone/>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每个记录有</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 </a:t>
            </a:r>
            <a:r>
              <a:rPr kumimoji="1" lang="en-US" altLang="zh-CN" sz="2400" b="0" i="0" u="none" strike="noStrike" kern="1200" cap="none" spc="0" normalizeH="0" baseline="0" noProof="0" dirty="0">
                <a:ln>
                  <a:noFill/>
                </a:ln>
                <a:solidFill>
                  <a:srgbClr val="FF3300"/>
                </a:solidFill>
                <a:effectLst/>
                <a:uLnTx/>
                <a:uFillTx/>
                <a:latin typeface="+mn-lt"/>
                <a:ea typeface="+mn-ea"/>
                <a:cs typeface="+mn-ea"/>
                <a:sym typeface="+mn-lt"/>
              </a:rPr>
              <a:t>d</a:t>
            </a:r>
            <a:r>
              <a:rPr kumimoji="1" lang="en-US" altLang="zh-CN" sz="2400" b="0" i="1" u="none" strike="noStrike" kern="1200" cap="none" spc="0" normalizeH="0" baseline="0" noProof="0" dirty="0">
                <a:ln>
                  <a:noFill/>
                </a:ln>
                <a:solidFill>
                  <a:srgbClr val="FF3300"/>
                </a:solidFill>
                <a:effectLst/>
                <a:uLnTx/>
                <a:uFillTx/>
                <a:latin typeface="+mn-lt"/>
                <a:ea typeface="+mn-ea"/>
                <a:cs typeface="+mn-ea"/>
                <a:sym typeface="+mn-lt"/>
              </a:rPr>
              <a:t> </a:t>
            </a:r>
            <a:r>
              <a:rPr kumimoji="1"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位关键字</a:t>
            </a:r>
          </a:p>
          <a:p>
            <a:pPr marL="342900" marR="0" lvl="0" indent="-342900" algn="l" defTabSz="914400" rtl="0" eaLnBrk="0" fontAlgn="base" latinLnBrk="0" hangingPunct="0">
              <a:lnSpc>
                <a:spcPct val="125000"/>
              </a:lnSpc>
              <a:spcBef>
                <a:spcPct val="20000"/>
              </a:spcBef>
              <a:spcAft>
                <a:spcPct val="0"/>
              </a:spcAft>
              <a:buClrTx/>
              <a:buSzTx/>
              <a:buFontTx/>
              <a:buNone/>
              <a:defRPr/>
            </a:pPr>
            <a:r>
              <a:rPr kumimoji="1" lang="zh-CN" altLang="zh-CN" sz="2400" b="0" i="0" u="none" strike="noStrike" kern="1200" cap="none" spc="0" normalizeH="0" baseline="0" noProof="0" dirty="0">
                <a:ln>
                  <a:noFill/>
                </a:ln>
                <a:solidFill>
                  <a:schemeClr val="tx1"/>
                </a:solidFill>
                <a:effectLst/>
                <a:uLnTx/>
                <a:uFillTx/>
                <a:latin typeface="+mn-lt"/>
                <a:ea typeface="+mn-ea"/>
                <a:cs typeface="+mn-ea"/>
                <a:sym typeface="+mn-lt"/>
              </a:rPr>
              <a:t>关键字</a:t>
            </a:r>
            <a:r>
              <a:rPr kumimoji="1" lang="zh-CN" altLang="zh-CN" sz="2400" b="0" i="0" u="none" strike="noStrike" kern="1200" cap="none" spc="0" normalizeH="0" baseline="0" noProof="0" dirty="0">
                <a:ln>
                  <a:noFill/>
                </a:ln>
                <a:solidFill>
                  <a:srgbClr val="FF3300"/>
                </a:solidFill>
                <a:effectLst/>
                <a:uLnTx/>
                <a:uFillTx/>
                <a:latin typeface="+mn-lt"/>
                <a:ea typeface="+mn-ea"/>
                <a:cs typeface="+mn-ea"/>
                <a:sym typeface="+mn-lt"/>
              </a:rPr>
              <a:t>取值范围</a:t>
            </a:r>
            <a:r>
              <a:rPr kumimoji="1"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rd</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如十进制为</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10)</a:t>
            </a:r>
          </a:p>
        </p:txBody>
      </p:sp>
      <p:sp>
        <p:nvSpPr>
          <p:cNvPr id="1180678" name="Rectangle 6"/>
          <p:cNvSpPr>
            <a:spLocks noChangeArrowheads="1"/>
          </p:cNvSpPr>
          <p:nvPr/>
        </p:nvSpPr>
        <p:spPr bwMode="auto">
          <a:xfrm>
            <a:off x="868363" y="153988"/>
            <a:ext cx="24384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算法分析</a:t>
            </a:r>
          </a:p>
        </p:txBody>
      </p:sp>
      <p:grpSp>
        <p:nvGrpSpPr>
          <p:cNvPr id="2" name="Group 10"/>
          <p:cNvGrpSpPr/>
          <p:nvPr/>
        </p:nvGrpSpPr>
        <p:grpSpPr>
          <a:xfrm>
            <a:off x="903288" y="4486275"/>
            <a:ext cx="7802562" cy="1843088"/>
            <a:chOff x="626" y="1726"/>
            <a:chExt cx="4915" cy="1161"/>
          </a:xfrm>
        </p:grpSpPr>
        <p:sp>
          <p:nvSpPr>
            <p:cNvPr id="1180680" name="Rectangle 8"/>
            <p:cNvSpPr>
              <a:spLocks noChangeArrowheads="1"/>
            </p:cNvSpPr>
            <p:nvPr/>
          </p:nvSpPr>
          <p:spPr bwMode="auto">
            <a:xfrm>
              <a:off x="2018" y="1933"/>
              <a:ext cx="3523" cy="954"/>
            </a:xfrm>
            <a:prstGeom prst="rect">
              <a:avLst/>
            </a:prstGeom>
            <a:solidFill>
              <a:schemeClr val="accent1">
                <a:lumMod val="20000"/>
                <a:lumOff val="80000"/>
              </a:schemeClr>
            </a:solidFill>
            <a:ln w="57150">
              <a:noFill/>
              <a:miter lim="800000"/>
            </a:ln>
            <a:effectLst/>
          </p:spPr>
          <p:txBody>
            <a:bodyPr>
              <a:spAutoFit/>
            </a:bodyPr>
            <a:lstStyle/>
            <a:p>
              <a:pPr marL="342900" marR="0" lvl="0" indent="-342900" algn="l" defTabSz="914400" rtl="0" eaLnBrk="1" fontAlgn="base" latinLnBrk="0" hangingPunct="1">
                <a:lnSpc>
                  <a:spcPct val="115000"/>
                </a:lnSpc>
                <a:spcBef>
                  <a:spcPct val="20000"/>
                </a:spcBef>
                <a:spcAft>
                  <a:spcPct val="0"/>
                </a:spcAft>
                <a:buClr>
                  <a:srgbClr val="FF0000"/>
                </a:buClr>
                <a:buSzTx/>
                <a:buFont typeface="Wingdings" panose="05000000000000000000" pitchFamily="2" charset="2"/>
                <a:buChar char="ü"/>
                <a:defRPr/>
              </a:pPr>
              <a:r>
                <a:rPr kumimoji="1"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时间效率：</a:t>
              </a:r>
              <a:r>
                <a:rPr kumimoji="1" lang="en-US" altLang="zh-CN" sz="2400" b="0" i="0" u="none" strike="noStrike" kern="1200" cap="none" spc="0" normalizeH="0" baseline="0" noProof="0" dirty="0">
                  <a:ln>
                    <a:noFill/>
                  </a:ln>
                  <a:solidFill>
                    <a:schemeClr val="tx2"/>
                  </a:solidFill>
                  <a:effectLst/>
                  <a:uLnTx/>
                  <a:uFillTx/>
                  <a:latin typeface="+mn-lt"/>
                  <a:ea typeface="+mn-ea"/>
                  <a:cs typeface="+mn-ea"/>
                  <a:sym typeface="+mn-lt"/>
                </a:rPr>
                <a:t>O(</a:t>
              </a:r>
              <a:r>
                <a:rPr kumimoji="1" lang="en-US" altLang="zh-CN" sz="2400" b="0" i="0" u="none" strike="noStrike" kern="1200" cap="none" spc="0" normalizeH="0" baseline="0" noProof="0" dirty="0">
                  <a:ln>
                    <a:noFill/>
                  </a:ln>
                  <a:solidFill>
                    <a:schemeClr val="tx1"/>
                  </a:solidFill>
                  <a:effectLst>
                    <a:outerShdw blurRad="38100" dist="38100" dir="2700000" algn="tl">
                      <a:srgbClr val="FFFFFF"/>
                    </a:outerShdw>
                  </a:effectLst>
                  <a:uLnTx/>
                  <a:uFillTx/>
                  <a:latin typeface="+mn-lt"/>
                  <a:ea typeface="+mn-ea"/>
                  <a:cs typeface="+mn-ea"/>
                  <a:sym typeface="+mn-lt"/>
                </a:rPr>
                <a:t>d( </a:t>
              </a:r>
              <a:r>
                <a:rPr kumimoji="1" lang="en-US" altLang="zh-CN" sz="2400" b="0" i="0" u="none" strike="noStrike" kern="1200" cap="none" spc="0" normalizeH="0" baseline="0" noProof="0" dirty="0" err="1">
                  <a:ln>
                    <a:noFill/>
                  </a:ln>
                  <a:solidFill>
                    <a:schemeClr val="tx1"/>
                  </a:solidFill>
                  <a:effectLst>
                    <a:outerShdw blurRad="38100" dist="38100" dir="2700000" algn="tl">
                      <a:srgbClr val="FFFFFF"/>
                    </a:outerShdw>
                  </a:effectLst>
                  <a:uLnTx/>
                  <a:uFillTx/>
                  <a:latin typeface="+mn-lt"/>
                  <a:ea typeface="+mn-ea"/>
                  <a:cs typeface="+mn-ea"/>
                  <a:sym typeface="+mn-lt"/>
                </a:rPr>
                <a:t>n+rd</a:t>
              </a:r>
              <a:r>
                <a:rPr kumimoji="1" lang="en-US" altLang="zh-CN" sz="2400" b="0" i="0" u="none" strike="noStrike" kern="1200" cap="none" spc="0" normalizeH="0" baseline="0" noProof="0" dirty="0">
                  <a:ln>
                    <a:noFill/>
                  </a:ln>
                  <a:solidFill>
                    <a:schemeClr val="tx1"/>
                  </a:solidFill>
                  <a:effectLst>
                    <a:outerShdw blurRad="38100" dist="38100" dir="2700000" algn="tl">
                      <a:srgbClr val="FFFFFF"/>
                    </a:outerShdw>
                  </a:effectLst>
                  <a:uLnTx/>
                  <a:uFillTx/>
                  <a:latin typeface="+mn-lt"/>
                  <a:ea typeface="+mn-ea"/>
                  <a:cs typeface="+mn-ea"/>
                  <a:sym typeface="+mn-lt"/>
                </a:rPr>
                <a:t>))</a:t>
              </a:r>
              <a:r>
                <a:rPr kumimoji="1" lang="en-US" altLang="zh-CN" sz="2400" b="0" i="1" u="none" strike="noStrike" kern="1200" cap="none" spc="0" normalizeH="0" baseline="0" noProof="0" dirty="0">
                  <a:ln>
                    <a:noFill/>
                  </a:ln>
                  <a:solidFill>
                    <a:schemeClr val="tx1"/>
                  </a:solidFill>
                  <a:effectLst>
                    <a:outerShdw blurRad="38100" dist="38100" dir="2700000" algn="tl">
                      <a:srgbClr val="FFFFFF"/>
                    </a:outerShdw>
                  </a:effectLst>
                  <a:uLnTx/>
                  <a:uFillTx/>
                  <a:latin typeface="+mn-lt"/>
                  <a:ea typeface="+mn-ea"/>
                  <a:cs typeface="+mn-ea"/>
                  <a:sym typeface="+mn-lt"/>
                </a:rPr>
                <a:t> </a:t>
              </a:r>
              <a:endParaRPr kumimoji="1" lang="en-US" altLang="zh-CN" sz="2400" b="0" i="0" u="none" strike="noStrike" kern="1200" cap="none" spc="0" normalizeH="0" baseline="0" noProof="0" dirty="0">
                <a:ln>
                  <a:noFill/>
                </a:ln>
                <a:solidFill>
                  <a:schemeClr val="tx2"/>
                </a:solidFill>
                <a:effectLst/>
                <a:uLnTx/>
                <a:uFillTx/>
                <a:latin typeface="+mn-lt"/>
                <a:ea typeface="+mn-ea"/>
                <a:cs typeface="+mn-ea"/>
                <a:sym typeface="+mn-lt"/>
              </a:endParaRPr>
            </a:p>
            <a:p>
              <a:pPr marL="342900" marR="0" lvl="0" indent="-342900" algn="l" defTabSz="914400" rtl="0" eaLnBrk="1" fontAlgn="base" latinLnBrk="0" hangingPunct="1">
                <a:lnSpc>
                  <a:spcPct val="115000"/>
                </a:lnSpc>
                <a:spcBef>
                  <a:spcPct val="20000"/>
                </a:spcBef>
                <a:spcAft>
                  <a:spcPct val="0"/>
                </a:spcAft>
                <a:buClr>
                  <a:srgbClr val="FF0000"/>
                </a:buClr>
                <a:buSzTx/>
                <a:buFont typeface="Wingdings" panose="05000000000000000000" pitchFamily="2" charset="2"/>
                <a:buChar char="ü"/>
                <a:defRPr/>
              </a:pPr>
              <a:r>
                <a:rPr kumimoji="1"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空间效率：</a:t>
              </a:r>
              <a:r>
                <a:rPr kumimoji="1" lang="en-US" altLang="zh-CN" sz="2400" b="0" i="0" u="none" strike="noStrike" kern="1200" cap="none" spc="0" normalizeH="0" baseline="0" noProof="0" dirty="0">
                  <a:ln>
                    <a:noFill/>
                  </a:ln>
                  <a:solidFill>
                    <a:schemeClr val="tx2"/>
                  </a:solidFill>
                  <a:effectLst/>
                  <a:uLnTx/>
                  <a:uFillTx/>
                  <a:latin typeface="+mn-lt"/>
                  <a:ea typeface="+mn-ea"/>
                  <a:cs typeface="+mn-ea"/>
                  <a:sym typeface="+mn-lt"/>
                </a:rPr>
                <a:t>O(</a:t>
              </a:r>
              <a:r>
                <a:rPr kumimoji="1" lang="en-US" altLang="zh-CN" sz="2400" b="0" i="0" u="none" strike="noStrike" kern="1200" cap="none" spc="0" normalizeH="0" baseline="0" noProof="0" dirty="0" err="1">
                  <a:ln>
                    <a:noFill/>
                  </a:ln>
                  <a:solidFill>
                    <a:schemeClr val="tx1"/>
                  </a:solidFill>
                  <a:effectLst>
                    <a:outerShdw blurRad="38100" dist="38100" dir="2700000" algn="tl">
                      <a:srgbClr val="FFFFFF"/>
                    </a:outerShdw>
                  </a:effectLst>
                  <a:uLnTx/>
                  <a:uFillTx/>
                  <a:latin typeface="+mn-lt"/>
                  <a:ea typeface="+mn-ea"/>
                  <a:cs typeface="+mn-ea"/>
                  <a:sym typeface="+mn-lt"/>
                </a:rPr>
                <a:t>n+rd</a:t>
              </a:r>
              <a:r>
                <a:rPr kumimoji="1" lang="en-US" altLang="zh-CN" sz="2400" b="0" i="0" u="none" strike="noStrike" kern="1200" cap="none" spc="0" normalizeH="0" baseline="0" noProof="0" dirty="0">
                  <a:ln>
                    <a:noFill/>
                  </a:ln>
                  <a:solidFill>
                    <a:schemeClr val="tx1"/>
                  </a:solidFill>
                  <a:effectLst>
                    <a:outerShdw blurRad="38100" dist="38100" dir="2700000" algn="tl">
                      <a:srgbClr val="FFFFFF"/>
                    </a:outerShdw>
                  </a:effectLst>
                  <a:uLnTx/>
                  <a:uFillTx/>
                  <a:latin typeface="+mn-lt"/>
                  <a:ea typeface="+mn-ea"/>
                  <a:cs typeface="+mn-ea"/>
                  <a:sym typeface="+mn-lt"/>
                </a:rPr>
                <a:t>)</a:t>
              </a:r>
              <a:endParaRPr kumimoji="1" lang="en-US" altLang="zh-CN" sz="2400" b="0" i="0" u="none" strike="noStrike" kern="1200" cap="none" spc="0" normalizeH="0" baseline="0" noProof="0" dirty="0">
                <a:ln>
                  <a:noFill/>
                </a:ln>
                <a:solidFill>
                  <a:schemeClr val="tx2"/>
                </a:solidFill>
                <a:effectLst/>
                <a:uLnTx/>
                <a:uFillTx/>
                <a:latin typeface="+mn-lt"/>
                <a:ea typeface="+mn-ea"/>
                <a:cs typeface="+mn-ea"/>
                <a:sym typeface="+mn-lt"/>
              </a:endParaRPr>
            </a:p>
            <a:p>
              <a:pPr marL="342900" marR="0" lvl="0" indent="-342900" algn="l" defTabSz="914400" rtl="0" eaLnBrk="1" fontAlgn="base" latinLnBrk="0" hangingPunct="1">
                <a:lnSpc>
                  <a:spcPct val="115000"/>
                </a:lnSpc>
                <a:spcBef>
                  <a:spcPct val="20000"/>
                </a:spcBef>
                <a:spcAft>
                  <a:spcPct val="0"/>
                </a:spcAft>
                <a:buClr>
                  <a:srgbClr val="FF0000"/>
                </a:buClr>
                <a:buSzTx/>
                <a:buFont typeface="Wingdings" panose="05000000000000000000" pitchFamily="2" charset="2"/>
                <a:buChar char="ü"/>
                <a:defRPr/>
              </a:pPr>
              <a:r>
                <a:rPr kumimoji="1"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稳 定 性：</a:t>
              </a:r>
              <a:r>
                <a:rPr kumimoji="1" lang="zh-CN" altLang="en-US" sz="2400" b="0" i="0" u="none" strike="noStrike" kern="1200" cap="none" spc="0" normalizeH="0" baseline="0" noProof="0" dirty="0">
                  <a:ln>
                    <a:noFill/>
                  </a:ln>
                  <a:solidFill>
                    <a:schemeClr val="tx2"/>
                  </a:solidFill>
                  <a:effectLst/>
                  <a:uLnTx/>
                  <a:uFillTx/>
                  <a:latin typeface="+mn-lt"/>
                  <a:ea typeface="+mn-ea"/>
                  <a:cs typeface="+mn-ea"/>
                  <a:sym typeface="+mn-lt"/>
                </a:rPr>
                <a:t>稳定</a:t>
              </a:r>
            </a:p>
          </p:txBody>
        </p:sp>
        <p:sp>
          <p:nvSpPr>
            <p:cNvPr id="165895" name="AutoShape 9"/>
            <p:cNvSpPr>
              <a:spLocks noChangeArrowheads="1"/>
            </p:cNvSpPr>
            <p:nvPr/>
          </p:nvSpPr>
          <p:spPr bwMode="auto">
            <a:xfrm>
              <a:off x="626" y="1726"/>
              <a:ext cx="952" cy="846"/>
            </a:xfrm>
            <a:prstGeom prst="curvedRightArrow">
              <a:avLst>
                <a:gd name="adj1" fmla="val 20000"/>
                <a:gd name="adj2" fmla="val 40000"/>
                <a:gd name="adj3" fmla="val 37499"/>
              </a:avLst>
            </a:prstGeom>
            <a:solidFill>
              <a:schemeClr val="accent1"/>
            </a:solidFill>
            <a:ln>
              <a:noFill/>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4" presetClass="entr" presetSubtype="0" accel="10000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strVal val="#ppt_w*0.05"/>
                                          </p:val>
                                        </p:tav>
                                        <p:tav tm="100000">
                                          <p:val>
                                            <p:strVal val="#ppt_w"/>
                                          </p:val>
                                        </p:tav>
                                      </p:tavLst>
                                    </p:anim>
                                    <p:anim calcmode="lin" valueType="num">
                                      <p:cBhvr>
                                        <p:cTn id="8" dur="500" fill="hold"/>
                                        <p:tgtEl>
                                          <p:spTgt spid="2"/>
                                        </p:tgtEl>
                                        <p:attrNameLst>
                                          <p:attrName>ppt_h</p:attrName>
                                        </p:attrNameLst>
                                      </p:cBhvr>
                                      <p:tavLst>
                                        <p:tav tm="0">
                                          <p:val>
                                            <p:strVal val="#ppt_h"/>
                                          </p:val>
                                        </p:tav>
                                        <p:tav tm="100000">
                                          <p:val>
                                            <p:strVal val="#ppt_h"/>
                                          </p:val>
                                        </p:tav>
                                      </p:tavLst>
                                    </p:anim>
                                    <p:anim calcmode="lin" valueType="num">
                                      <p:cBhvr>
                                        <p:cTn id="9" dur="500" fill="hold"/>
                                        <p:tgtEl>
                                          <p:spTgt spid="2"/>
                                        </p:tgtEl>
                                        <p:attrNameLst>
                                          <p:attrName>ppt_x</p:attrName>
                                        </p:attrNameLst>
                                      </p:cBhvr>
                                      <p:tavLst>
                                        <p:tav tm="0">
                                          <p:val>
                                            <p:strVal val="#ppt_x-.2"/>
                                          </p:val>
                                        </p:tav>
                                        <p:tav tm="100000">
                                          <p:val>
                                            <p:strVal val="#ppt_x"/>
                                          </p:val>
                                        </p:tav>
                                      </p:tavLst>
                                    </p:anim>
                                    <p:anim calcmode="lin" valueType="num">
                                      <p:cBhvr>
                                        <p:cTn id="10" dur="500" fill="hold"/>
                                        <p:tgtEl>
                                          <p:spTgt spid="2"/>
                                        </p:tgtEl>
                                        <p:attrNameLst>
                                          <p:attrName>ppt_y</p:attrName>
                                        </p:attrNameLst>
                                      </p:cBhvr>
                                      <p:tavLst>
                                        <p:tav tm="0">
                                          <p:val>
                                            <p:strVal val="#ppt_y"/>
                                          </p:val>
                                        </p:tav>
                                        <p:tav tm="100000">
                                          <p:val>
                                            <p:strVal val="#ppt_y"/>
                                          </p:val>
                                        </p:tav>
                                      </p:tavLst>
                                    </p:anim>
                                    <p:animEffect transition="in" filter="fad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11266" name="矩形: 圆角 16"/>
          <p:cNvSpPr>
            <a:spLocks noChangeArrowheads="1"/>
          </p:cNvSpPr>
          <p:nvPr/>
        </p:nvSpPr>
        <p:spPr bwMode="auto">
          <a:xfrm>
            <a:off x="2830513" y="5578158"/>
            <a:ext cx="4432300" cy="504825"/>
          </a:xfrm>
          <a:prstGeom prst="roundRect">
            <a:avLst>
              <a:gd name="adj" fmla="val 16667"/>
            </a:avLst>
          </a:prstGeom>
          <a:solidFill>
            <a:srgbClr val="9476B6"/>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1885950" y="5578158"/>
            <a:ext cx="839788" cy="504825"/>
          </a:xfrm>
          <a:prstGeom prst="roundRect">
            <a:avLst>
              <a:gd name="adj" fmla="val 16667"/>
            </a:avLst>
          </a:prstGeom>
          <a:solidFill>
            <a:schemeClr val="accent1"/>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sp>
        <p:nvSpPr>
          <p:cNvPr id="14" name="文本框 13"/>
          <p:cNvSpPr txBox="1"/>
          <p:nvPr/>
        </p:nvSpPr>
        <p:spPr>
          <a:xfrm>
            <a:off x="2005013" y="2205990"/>
            <a:ext cx="720725" cy="4523105"/>
          </a:xfrm>
          <a:prstGeom prst="rect">
            <a:avLst/>
          </a:prstGeom>
          <a:noFill/>
        </p:spPr>
        <p:txBody>
          <a:bodyPr>
            <a:spAutoFit/>
          </a:bodyPr>
          <a:lstStyle/>
          <a:p>
            <a:pPr marR="0" defTabSz="914400">
              <a:lnSpc>
                <a:spcPct val="150000"/>
              </a:lnSpc>
              <a:buClrTx/>
              <a:buSzTx/>
              <a:buFontTx/>
              <a:buNone/>
              <a:defRPr/>
            </a:pPr>
            <a:r>
              <a:rPr kumimoji="0" lang="en-US" altLang="zh-CN" sz="2400" b="0" kern="1200" cap="none" spc="0" normalizeH="0" baseline="0" noProof="0" dirty="0">
                <a:solidFill>
                  <a:schemeClr val="tx1"/>
                </a:solidFill>
                <a:latin typeface="+mn-lt"/>
                <a:ea typeface="+mn-ea"/>
                <a:cs typeface="+mn-ea"/>
                <a:sym typeface="+mn-lt"/>
              </a:rPr>
              <a:t>8.1</a:t>
            </a:r>
            <a:endParaRPr kumimoji="0" lang="zh-CN" altLang="en-US" sz="24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8.2</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8.3</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8.4</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8.5</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8.6</a:t>
            </a:r>
          </a:p>
          <a:p>
            <a:pPr marR="0" defTabSz="914400">
              <a:lnSpc>
                <a:spcPct val="150000"/>
              </a:lnSpc>
              <a:buClrTx/>
              <a:buSzTx/>
              <a:buFontTx/>
              <a:buNone/>
              <a:defRPr/>
            </a:pPr>
            <a:r>
              <a:rPr kumimoji="0" lang="en-US" altLang="zh-CN" sz="2400" b="0" kern="1200" cap="none" spc="0" normalizeH="0" baseline="0" noProof="0" dirty="0">
                <a:solidFill>
                  <a:schemeClr val="bg1"/>
                </a:solidFill>
                <a:latin typeface="+mn-lt"/>
                <a:ea typeface="+mn-ea"/>
                <a:cs typeface="+mn-ea"/>
                <a:sym typeface="+mn-lt"/>
              </a:rPr>
              <a:t>8.7</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8.8</a:t>
            </a:r>
          </a:p>
        </p:txBody>
      </p:sp>
      <p:sp>
        <p:nvSpPr>
          <p:cNvPr id="15" name="文本框 14"/>
          <p:cNvSpPr txBox="1"/>
          <p:nvPr/>
        </p:nvSpPr>
        <p:spPr>
          <a:xfrm>
            <a:off x="2843530" y="2205990"/>
            <a:ext cx="4177665" cy="4523105"/>
          </a:xfrm>
          <a:prstGeom prst="rect">
            <a:avLst/>
          </a:prstGeom>
          <a:noFill/>
        </p:spPr>
        <p:txBody>
          <a:bodyPr wrap="square">
            <a:spAutoFit/>
          </a:bodyPr>
          <a:lstStyle/>
          <a:p>
            <a:pPr marR="0" defTabSz="914400">
              <a:lnSpc>
                <a:spcPct val="150000"/>
              </a:lnSpc>
              <a:buClrTx/>
              <a:buSzTx/>
              <a:buFontTx/>
              <a:buNone/>
              <a:defRPr/>
            </a:pPr>
            <a:r>
              <a:rPr kumimoji="0" lang="zh-CN" altLang="en-US" sz="2400" b="0" kern="1200" cap="none" spc="0" normalizeH="0" baseline="0" noProof="0" dirty="0">
                <a:solidFill>
                  <a:schemeClr val="bg1"/>
                </a:solidFill>
                <a:latin typeface="+mn-lt"/>
                <a:ea typeface="+mn-ea"/>
                <a:cs typeface="+mn-ea"/>
                <a:sym typeface="+mn-lt"/>
              </a:rPr>
              <a:t>　</a:t>
            </a:r>
            <a:r>
              <a:rPr kumimoji="0" lang="zh-CN" altLang="en-US" sz="2400" b="0" kern="1200" cap="none" spc="0" normalizeH="0" baseline="0" noProof="0" dirty="0">
                <a:solidFill>
                  <a:schemeClr val="tx1"/>
                </a:solidFill>
                <a:latin typeface="+mn-lt"/>
                <a:ea typeface="+mn-ea"/>
                <a:cs typeface="+mn-ea"/>
                <a:sym typeface="+mn-lt"/>
              </a:rPr>
              <a:t>概述</a:t>
            </a:r>
            <a:endParaRPr kumimoji="0" lang="zh-CN" altLang="en-US" sz="24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插入排序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交换排序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选择排序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归并排序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基数排序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a:t>
            </a:r>
            <a:r>
              <a:rPr kumimoji="0" lang="zh-CN" altLang="en-US" sz="2400" b="0" kern="1200" cap="none" spc="0" normalizeH="0" baseline="0" noProof="0" dirty="0">
                <a:solidFill>
                  <a:schemeClr val="bg1"/>
                </a:solidFill>
                <a:latin typeface="+mn-lt"/>
                <a:ea typeface="+mn-ea"/>
                <a:cs typeface="+mn-ea"/>
                <a:sym typeface="+mn-lt"/>
              </a:rPr>
              <a:t>外部排序（考试不作要求）</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    </a:t>
            </a:r>
            <a:r>
              <a:rPr kumimoji="0" lang="zh-CN" altLang="en-US" sz="2400" b="0" kern="1200" cap="none" spc="0" normalizeH="0" baseline="0" noProof="0" dirty="0">
                <a:solidFill>
                  <a:srgbClr val="000000">
                    <a:lumMod val="95000"/>
                    <a:lumOff val="5000"/>
                  </a:srgbClr>
                </a:solidFill>
                <a:latin typeface="+mn-lt"/>
                <a:ea typeface="+mn-ea"/>
                <a:cs typeface="+mn-ea"/>
                <a:sym typeface="+mn-lt"/>
              </a:rPr>
              <a:t>LeetCode算法题</a:t>
            </a:r>
          </a:p>
        </p:txBody>
      </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transition spd="slow"/>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1029"/>
          <p:cNvSpPr>
            <a:spLocks noChangeArrowheads="1"/>
          </p:cNvSpPr>
          <p:nvPr/>
        </p:nvSpPr>
        <p:spPr bwMode="auto">
          <a:xfrm>
            <a:off x="755650" y="1090613"/>
            <a:ext cx="4186238" cy="461963"/>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由相对独立的</a:t>
            </a:r>
            <a:r>
              <a:rPr kumimoji="0" lang="zh-CN" altLang="en-US" sz="2400" b="0" i="0" u="none" strike="noStrike" kern="1200" cap="none" spc="0" normalizeH="0" baseline="0" noProof="0" dirty="0">
                <a:ln>
                  <a:noFill/>
                </a:ln>
                <a:solidFill>
                  <a:srgbClr val="0000FF"/>
                </a:solidFill>
                <a:effectLst/>
                <a:uLnTx/>
                <a:uFillTx/>
                <a:latin typeface="+mn-lt"/>
                <a:ea typeface="+mn-ea"/>
                <a:cs typeface="+mn-ea"/>
                <a:sym typeface="+mn-lt"/>
              </a:rPr>
              <a:t>两个步骤</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组成：</a:t>
            </a:r>
          </a:p>
        </p:txBody>
      </p:sp>
      <p:sp>
        <p:nvSpPr>
          <p:cNvPr id="10" name="Rectangle 6"/>
          <p:cNvSpPr>
            <a:spLocks noChangeArrowheads="1"/>
          </p:cNvSpPr>
          <p:nvPr/>
        </p:nvSpPr>
        <p:spPr bwMode="auto">
          <a:xfrm>
            <a:off x="868363" y="153988"/>
            <a:ext cx="243840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外部排序的基本过程</a:t>
            </a:r>
          </a:p>
        </p:txBody>
      </p:sp>
      <p:cxnSp>
        <p:nvCxnSpPr>
          <p:cNvPr id="25" name="直接连接符 24"/>
          <p:cNvCxnSpPr/>
          <p:nvPr/>
        </p:nvCxnSpPr>
        <p:spPr bwMode="auto">
          <a:xfrm>
            <a:off x="868363" y="1700213"/>
            <a:ext cx="7735888" cy="0"/>
          </a:xfrm>
          <a:prstGeom prst="line">
            <a:avLst/>
          </a:prstGeom>
          <a:solidFill>
            <a:schemeClr val="accent1"/>
          </a:solidFill>
          <a:ln w="9525" cap="flat" cmpd="sng" algn="ctr">
            <a:solidFill>
              <a:schemeClr val="bg2">
                <a:lumMod val="60000"/>
                <a:lumOff val="40000"/>
              </a:schemeClr>
            </a:solidFill>
            <a:prstDash val="solid"/>
            <a:round/>
            <a:headEnd type="none" w="med" len="med"/>
            <a:tailEnd type="none" w="med" len="med"/>
          </a:ln>
        </p:spPr>
      </p:cxnSp>
      <p:grpSp>
        <p:nvGrpSpPr>
          <p:cNvPr id="28" name="组合 27"/>
          <p:cNvGrpSpPr/>
          <p:nvPr/>
        </p:nvGrpSpPr>
        <p:grpSpPr>
          <a:xfrm>
            <a:off x="474683" y="2446724"/>
            <a:ext cx="2832080" cy="2770758"/>
            <a:chOff x="6683375" y="1722438"/>
            <a:chExt cx="4279900" cy="4189413"/>
          </a:xfrm>
          <a:solidFill>
            <a:schemeClr val="accent1">
              <a:lumMod val="75000"/>
            </a:schemeClr>
          </a:solidFill>
        </p:grpSpPr>
        <p:sp>
          <p:nvSpPr>
            <p:cNvPr id="29" name="Freeform 5"/>
            <p:cNvSpPr>
              <a:spLocks noEditPoints="1"/>
            </p:cNvSpPr>
            <p:nvPr/>
          </p:nvSpPr>
          <p:spPr bwMode="auto">
            <a:xfrm>
              <a:off x="6683375" y="1722438"/>
              <a:ext cx="4279900" cy="4189413"/>
            </a:xfrm>
            <a:custGeom>
              <a:avLst/>
              <a:gdLst>
                <a:gd name="T0" fmla="*/ 150 w 578"/>
                <a:gd name="T1" fmla="*/ 130 h 566"/>
                <a:gd name="T2" fmla="*/ 141 w 578"/>
                <a:gd name="T3" fmla="*/ 288 h 566"/>
                <a:gd name="T4" fmla="*/ 68 w 578"/>
                <a:gd name="T5" fmla="*/ 228 h 566"/>
                <a:gd name="T6" fmla="*/ 51 w 578"/>
                <a:gd name="T7" fmla="*/ 121 h 566"/>
                <a:gd name="T8" fmla="*/ 61 w 578"/>
                <a:gd name="T9" fmla="*/ 229 h 566"/>
                <a:gd name="T10" fmla="*/ 21 w 578"/>
                <a:gd name="T11" fmla="*/ 297 h 566"/>
                <a:gd name="T12" fmla="*/ 40 w 578"/>
                <a:gd name="T13" fmla="*/ 297 h 566"/>
                <a:gd name="T14" fmla="*/ 123 w 578"/>
                <a:gd name="T15" fmla="*/ 301 h 566"/>
                <a:gd name="T16" fmla="*/ 55 w 578"/>
                <a:gd name="T17" fmla="*/ 393 h 566"/>
                <a:gd name="T18" fmla="*/ 80 w 578"/>
                <a:gd name="T19" fmla="*/ 400 h 566"/>
                <a:gd name="T20" fmla="*/ 225 w 578"/>
                <a:gd name="T21" fmla="*/ 308 h 566"/>
                <a:gd name="T22" fmla="*/ 360 w 578"/>
                <a:gd name="T23" fmla="*/ 362 h 566"/>
                <a:gd name="T24" fmla="*/ 210 w 578"/>
                <a:gd name="T25" fmla="*/ 454 h 566"/>
                <a:gd name="T26" fmla="*/ 153 w 578"/>
                <a:gd name="T27" fmla="*/ 504 h 566"/>
                <a:gd name="T28" fmla="*/ 297 w 578"/>
                <a:gd name="T29" fmla="*/ 563 h 566"/>
                <a:gd name="T30" fmla="*/ 172 w 578"/>
                <a:gd name="T31" fmla="*/ 487 h 566"/>
                <a:gd name="T32" fmla="*/ 312 w 578"/>
                <a:gd name="T33" fmla="*/ 453 h 566"/>
                <a:gd name="T34" fmla="*/ 366 w 578"/>
                <a:gd name="T35" fmla="*/ 510 h 566"/>
                <a:gd name="T36" fmla="*/ 381 w 578"/>
                <a:gd name="T37" fmla="*/ 525 h 566"/>
                <a:gd name="T38" fmla="*/ 413 w 578"/>
                <a:gd name="T39" fmla="*/ 461 h 566"/>
                <a:gd name="T40" fmla="*/ 311 w 578"/>
                <a:gd name="T41" fmla="*/ 422 h 566"/>
                <a:gd name="T42" fmla="*/ 421 w 578"/>
                <a:gd name="T43" fmla="*/ 382 h 566"/>
                <a:gd name="T44" fmla="*/ 514 w 578"/>
                <a:gd name="T45" fmla="*/ 445 h 566"/>
                <a:gd name="T46" fmla="*/ 437 w 578"/>
                <a:gd name="T47" fmla="*/ 359 h 566"/>
                <a:gd name="T48" fmla="*/ 500 w 578"/>
                <a:gd name="T49" fmla="*/ 367 h 566"/>
                <a:gd name="T50" fmla="*/ 436 w 578"/>
                <a:gd name="T51" fmla="*/ 335 h 566"/>
                <a:gd name="T52" fmla="*/ 489 w 578"/>
                <a:gd name="T53" fmla="*/ 322 h 566"/>
                <a:gd name="T54" fmla="*/ 572 w 578"/>
                <a:gd name="T55" fmla="*/ 328 h 566"/>
                <a:gd name="T56" fmla="*/ 490 w 578"/>
                <a:gd name="T57" fmla="*/ 311 h 566"/>
                <a:gd name="T58" fmla="*/ 385 w 578"/>
                <a:gd name="T59" fmla="*/ 311 h 566"/>
                <a:gd name="T60" fmla="*/ 312 w 578"/>
                <a:gd name="T61" fmla="*/ 220 h 566"/>
                <a:gd name="T62" fmla="*/ 391 w 578"/>
                <a:gd name="T63" fmla="*/ 202 h 566"/>
                <a:gd name="T64" fmla="*/ 523 w 578"/>
                <a:gd name="T65" fmla="*/ 220 h 566"/>
                <a:gd name="T66" fmla="*/ 522 w 578"/>
                <a:gd name="T67" fmla="*/ 216 h 566"/>
                <a:gd name="T68" fmla="*/ 441 w 578"/>
                <a:gd name="T69" fmla="*/ 131 h 566"/>
                <a:gd name="T70" fmla="*/ 397 w 578"/>
                <a:gd name="T71" fmla="*/ 108 h 566"/>
                <a:gd name="T72" fmla="*/ 394 w 578"/>
                <a:gd name="T73" fmla="*/ 197 h 566"/>
                <a:gd name="T74" fmla="*/ 313 w 578"/>
                <a:gd name="T75" fmla="*/ 112 h 566"/>
                <a:gd name="T76" fmla="*/ 354 w 578"/>
                <a:gd name="T77" fmla="*/ 31 h 566"/>
                <a:gd name="T78" fmla="*/ 353 w 578"/>
                <a:gd name="T79" fmla="*/ 28 h 566"/>
                <a:gd name="T80" fmla="*/ 189 w 578"/>
                <a:gd name="T81" fmla="*/ 50 h 566"/>
                <a:gd name="T82" fmla="*/ 50 w 578"/>
                <a:gd name="T83" fmla="*/ 314 h 566"/>
                <a:gd name="T84" fmla="*/ 50 w 578"/>
                <a:gd name="T85" fmla="*/ 314 h 566"/>
                <a:gd name="T86" fmla="*/ 376 w 578"/>
                <a:gd name="T87" fmla="*/ 527 h 566"/>
                <a:gd name="T88" fmla="*/ 247 w 578"/>
                <a:gd name="T89" fmla="*/ 401 h 566"/>
                <a:gd name="T90" fmla="*/ 568 w 578"/>
                <a:gd name="T91" fmla="*/ 203 h 566"/>
                <a:gd name="T92" fmla="*/ 477 w 578"/>
                <a:gd name="T93" fmla="*/ 211 h 566"/>
                <a:gd name="T94" fmla="*/ 477 w 578"/>
                <a:gd name="T95" fmla="*/ 211 h 566"/>
                <a:gd name="T96" fmla="*/ 182 w 578"/>
                <a:gd name="T97" fmla="*/ 218 h 566"/>
                <a:gd name="T98" fmla="*/ 160 w 578"/>
                <a:gd name="T99" fmla="*/ 286 h 566"/>
                <a:gd name="T100" fmla="*/ 288 w 578"/>
                <a:gd name="T101" fmla="*/ 158 h 566"/>
                <a:gd name="T102" fmla="*/ 262 w 578"/>
                <a:gd name="T103" fmla="*/ 218 h 566"/>
                <a:gd name="T104" fmla="*/ 295 w 578"/>
                <a:gd name="T105" fmla="*/ 85 h 566"/>
                <a:gd name="T106" fmla="*/ 220 w 578"/>
                <a:gd name="T107" fmla="*/ 169 h 566"/>
                <a:gd name="T108" fmla="*/ 173 w 578"/>
                <a:gd name="T109" fmla="*/ 72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8" h="566">
                  <a:moveTo>
                    <a:pt x="143" y="58"/>
                  </a:moveTo>
                  <a:cubicBezTo>
                    <a:pt x="146" y="67"/>
                    <a:pt x="154" y="73"/>
                    <a:pt x="163" y="73"/>
                  </a:cubicBezTo>
                  <a:cubicBezTo>
                    <a:pt x="162" y="127"/>
                    <a:pt x="162" y="127"/>
                    <a:pt x="162" y="127"/>
                  </a:cubicBezTo>
                  <a:cubicBezTo>
                    <a:pt x="158" y="128"/>
                    <a:pt x="154" y="128"/>
                    <a:pt x="150" y="130"/>
                  </a:cubicBezTo>
                  <a:cubicBezTo>
                    <a:pt x="123" y="140"/>
                    <a:pt x="109" y="170"/>
                    <a:pt x="119" y="197"/>
                  </a:cubicBezTo>
                  <a:cubicBezTo>
                    <a:pt x="124" y="211"/>
                    <a:pt x="133" y="221"/>
                    <a:pt x="146" y="227"/>
                  </a:cubicBezTo>
                  <a:cubicBezTo>
                    <a:pt x="147" y="287"/>
                    <a:pt x="147" y="287"/>
                    <a:pt x="147" y="287"/>
                  </a:cubicBezTo>
                  <a:cubicBezTo>
                    <a:pt x="145" y="287"/>
                    <a:pt x="143" y="288"/>
                    <a:pt x="141" y="288"/>
                  </a:cubicBezTo>
                  <a:cubicBezTo>
                    <a:pt x="135" y="291"/>
                    <a:pt x="130" y="294"/>
                    <a:pt x="126" y="298"/>
                  </a:cubicBezTo>
                  <a:cubicBezTo>
                    <a:pt x="85" y="262"/>
                    <a:pt x="85" y="262"/>
                    <a:pt x="85" y="262"/>
                  </a:cubicBezTo>
                  <a:cubicBezTo>
                    <a:pt x="90" y="256"/>
                    <a:pt x="91" y="249"/>
                    <a:pt x="88" y="242"/>
                  </a:cubicBezTo>
                  <a:cubicBezTo>
                    <a:pt x="85" y="233"/>
                    <a:pt x="77" y="228"/>
                    <a:pt x="68" y="228"/>
                  </a:cubicBezTo>
                  <a:cubicBezTo>
                    <a:pt x="60" y="152"/>
                    <a:pt x="60" y="152"/>
                    <a:pt x="60" y="152"/>
                  </a:cubicBezTo>
                  <a:cubicBezTo>
                    <a:pt x="61" y="152"/>
                    <a:pt x="61" y="152"/>
                    <a:pt x="62" y="152"/>
                  </a:cubicBezTo>
                  <a:cubicBezTo>
                    <a:pt x="70" y="149"/>
                    <a:pt x="75" y="139"/>
                    <a:pt x="72" y="131"/>
                  </a:cubicBezTo>
                  <a:cubicBezTo>
                    <a:pt x="69" y="122"/>
                    <a:pt x="59" y="118"/>
                    <a:pt x="51" y="121"/>
                  </a:cubicBezTo>
                  <a:cubicBezTo>
                    <a:pt x="42" y="124"/>
                    <a:pt x="38" y="133"/>
                    <a:pt x="41" y="142"/>
                  </a:cubicBezTo>
                  <a:cubicBezTo>
                    <a:pt x="43" y="149"/>
                    <a:pt x="49" y="153"/>
                    <a:pt x="56" y="153"/>
                  </a:cubicBezTo>
                  <a:cubicBezTo>
                    <a:pt x="64" y="229"/>
                    <a:pt x="64" y="229"/>
                    <a:pt x="64" y="229"/>
                  </a:cubicBezTo>
                  <a:cubicBezTo>
                    <a:pt x="63" y="229"/>
                    <a:pt x="62" y="229"/>
                    <a:pt x="61" y="229"/>
                  </a:cubicBezTo>
                  <a:cubicBezTo>
                    <a:pt x="50" y="233"/>
                    <a:pt x="45" y="245"/>
                    <a:pt x="49" y="256"/>
                  </a:cubicBezTo>
                  <a:cubicBezTo>
                    <a:pt x="50" y="260"/>
                    <a:pt x="52" y="263"/>
                    <a:pt x="55" y="265"/>
                  </a:cubicBezTo>
                  <a:cubicBezTo>
                    <a:pt x="36" y="296"/>
                    <a:pt x="36" y="296"/>
                    <a:pt x="36" y="296"/>
                  </a:cubicBezTo>
                  <a:cubicBezTo>
                    <a:pt x="31" y="295"/>
                    <a:pt x="26" y="295"/>
                    <a:pt x="21" y="297"/>
                  </a:cubicBezTo>
                  <a:cubicBezTo>
                    <a:pt x="7" y="302"/>
                    <a:pt x="0" y="317"/>
                    <a:pt x="5" y="331"/>
                  </a:cubicBezTo>
                  <a:cubicBezTo>
                    <a:pt x="10" y="345"/>
                    <a:pt x="25" y="352"/>
                    <a:pt x="39" y="347"/>
                  </a:cubicBezTo>
                  <a:cubicBezTo>
                    <a:pt x="53" y="342"/>
                    <a:pt x="60" y="327"/>
                    <a:pt x="55" y="313"/>
                  </a:cubicBezTo>
                  <a:cubicBezTo>
                    <a:pt x="52" y="305"/>
                    <a:pt x="47" y="300"/>
                    <a:pt x="40" y="297"/>
                  </a:cubicBezTo>
                  <a:cubicBezTo>
                    <a:pt x="58" y="268"/>
                    <a:pt x="58" y="268"/>
                    <a:pt x="58" y="268"/>
                  </a:cubicBezTo>
                  <a:cubicBezTo>
                    <a:pt x="63" y="270"/>
                    <a:pt x="70" y="271"/>
                    <a:pt x="76" y="269"/>
                  </a:cubicBezTo>
                  <a:cubicBezTo>
                    <a:pt x="78" y="268"/>
                    <a:pt x="81" y="267"/>
                    <a:pt x="83" y="265"/>
                  </a:cubicBezTo>
                  <a:cubicBezTo>
                    <a:pt x="123" y="301"/>
                    <a:pt x="123" y="301"/>
                    <a:pt x="123" y="301"/>
                  </a:cubicBezTo>
                  <a:cubicBezTo>
                    <a:pt x="115" y="311"/>
                    <a:pt x="112" y="326"/>
                    <a:pt x="117" y="340"/>
                  </a:cubicBezTo>
                  <a:cubicBezTo>
                    <a:pt x="118" y="345"/>
                    <a:pt x="120" y="348"/>
                    <a:pt x="123" y="352"/>
                  </a:cubicBezTo>
                  <a:cubicBezTo>
                    <a:pt x="76" y="396"/>
                    <a:pt x="76" y="396"/>
                    <a:pt x="76" y="396"/>
                  </a:cubicBezTo>
                  <a:cubicBezTo>
                    <a:pt x="70" y="392"/>
                    <a:pt x="62" y="391"/>
                    <a:pt x="55" y="393"/>
                  </a:cubicBezTo>
                  <a:cubicBezTo>
                    <a:pt x="43" y="398"/>
                    <a:pt x="37" y="411"/>
                    <a:pt x="42" y="423"/>
                  </a:cubicBezTo>
                  <a:cubicBezTo>
                    <a:pt x="46" y="435"/>
                    <a:pt x="59" y="441"/>
                    <a:pt x="71" y="437"/>
                  </a:cubicBezTo>
                  <a:cubicBezTo>
                    <a:pt x="83" y="432"/>
                    <a:pt x="89" y="419"/>
                    <a:pt x="85" y="407"/>
                  </a:cubicBezTo>
                  <a:cubicBezTo>
                    <a:pt x="84" y="404"/>
                    <a:pt x="82" y="402"/>
                    <a:pt x="80" y="400"/>
                  </a:cubicBezTo>
                  <a:cubicBezTo>
                    <a:pt x="127" y="356"/>
                    <a:pt x="127" y="356"/>
                    <a:pt x="127" y="356"/>
                  </a:cubicBezTo>
                  <a:cubicBezTo>
                    <a:pt x="138" y="366"/>
                    <a:pt x="154" y="370"/>
                    <a:pt x="168" y="365"/>
                  </a:cubicBezTo>
                  <a:cubicBezTo>
                    <a:pt x="188" y="358"/>
                    <a:pt x="198" y="338"/>
                    <a:pt x="195" y="319"/>
                  </a:cubicBezTo>
                  <a:cubicBezTo>
                    <a:pt x="225" y="308"/>
                    <a:pt x="225" y="308"/>
                    <a:pt x="225" y="308"/>
                  </a:cubicBezTo>
                  <a:cubicBezTo>
                    <a:pt x="239" y="339"/>
                    <a:pt x="274" y="354"/>
                    <a:pt x="307" y="342"/>
                  </a:cubicBezTo>
                  <a:cubicBezTo>
                    <a:pt x="319" y="338"/>
                    <a:pt x="330" y="330"/>
                    <a:pt x="337" y="320"/>
                  </a:cubicBezTo>
                  <a:cubicBezTo>
                    <a:pt x="360" y="335"/>
                    <a:pt x="360" y="335"/>
                    <a:pt x="360" y="335"/>
                  </a:cubicBezTo>
                  <a:cubicBezTo>
                    <a:pt x="357" y="344"/>
                    <a:pt x="357" y="353"/>
                    <a:pt x="360" y="362"/>
                  </a:cubicBezTo>
                  <a:cubicBezTo>
                    <a:pt x="361" y="365"/>
                    <a:pt x="362" y="367"/>
                    <a:pt x="363" y="369"/>
                  </a:cubicBezTo>
                  <a:cubicBezTo>
                    <a:pt x="301" y="405"/>
                    <a:pt x="301" y="405"/>
                    <a:pt x="301" y="405"/>
                  </a:cubicBezTo>
                  <a:cubicBezTo>
                    <a:pt x="287" y="389"/>
                    <a:pt x="264" y="382"/>
                    <a:pt x="243" y="390"/>
                  </a:cubicBezTo>
                  <a:cubicBezTo>
                    <a:pt x="217" y="399"/>
                    <a:pt x="203" y="427"/>
                    <a:pt x="210" y="454"/>
                  </a:cubicBezTo>
                  <a:cubicBezTo>
                    <a:pt x="173" y="463"/>
                    <a:pt x="173" y="463"/>
                    <a:pt x="173" y="463"/>
                  </a:cubicBezTo>
                  <a:cubicBezTo>
                    <a:pt x="167" y="447"/>
                    <a:pt x="148" y="438"/>
                    <a:pt x="132" y="444"/>
                  </a:cubicBezTo>
                  <a:cubicBezTo>
                    <a:pt x="115" y="450"/>
                    <a:pt x="107" y="468"/>
                    <a:pt x="113" y="485"/>
                  </a:cubicBezTo>
                  <a:cubicBezTo>
                    <a:pt x="119" y="501"/>
                    <a:pt x="137" y="510"/>
                    <a:pt x="153" y="504"/>
                  </a:cubicBezTo>
                  <a:cubicBezTo>
                    <a:pt x="161" y="501"/>
                    <a:pt x="166" y="496"/>
                    <a:pt x="170" y="490"/>
                  </a:cubicBezTo>
                  <a:cubicBezTo>
                    <a:pt x="279" y="546"/>
                    <a:pt x="279" y="546"/>
                    <a:pt x="279" y="546"/>
                  </a:cubicBezTo>
                  <a:cubicBezTo>
                    <a:pt x="278" y="549"/>
                    <a:pt x="278" y="552"/>
                    <a:pt x="279" y="555"/>
                  </a:cubicBezTo>
                  <a:cubicBezTo>
                    <a:pt x="282" y="562"/>
                    <a:pt x="290" y="566"/>
                    <a:pt x="297" y="563"/>
                  </a:cubicBezTo>
                  <a:cubicBezTo>
                    <a:pt x="303" y="561"/>
                    <a:pt x="307" y="553"/>
                    <a:pt x="305" y="546"/>
                  </a:cubicBezTo>
                  <a:cubicBezTo>
                    <a:pt x="302" y="539"/>
                    <a:pt x="294" y="535"/>
                    <a:pt x="288" y="538"/>
                  </a:cubicBezTo>
                  <a:cubicBezTo>
                    <a:pt x="285" y="539"/>
                    <a:pt x="283" y="541"/>
                    <a:pt x="281" y="543"/>
                  </a:cubicBezTo>
                  <a:cubicBezTo>
                    <a:pt x="172" y="487"/>
                    <a:pt x="172" y="487"/>
                    <a:pt x="172" y="487"/>
                  </a:cubicBezTo>
                  <a:cubicBezTo>
                    <a:pt x="174" y="481"/>
                    <a:pt x="175" y="475"/>
                    <a:pt x="174" y="469"/>
                  </a:cubicBezTo>
                  <a:cubicBezTo>
                    <a:pt x="212" y="459"/>
                    <a:pt x="212" y="459"/>
                    <a:pt x="212" y="459"/>
                  </a:cubicBezTo>
                  <a:cubicBezTo>
                    <a:pt x="223" y="485"/>
                    <a:pt x="252" y="498"/>
                    <a:pt x="279" y="489"/>
                  </a:cubicBezTo>
                  <a:cubicBezTo>
                    <a:pt x="296" y="483"/>
                    <a:pt x="308" y="469"/>
                    <a:pt x="312" y="453"/>
                  </a:cubicBezTo>
                  <a:cubicBezTo>
                    <a:pt x="367" y="458"/>
                    <a:pt x="367" y="458"/>
                    <a:pt x="367" y="458"/>
                  </a:cubicBezTo>
                  <a:cubicBezTo>
                    <a:pt x="364" y="464"/>
                    <a:pt x="363" y="471"/>
                    <a:pt x="365" y="478"/>
                  </a:cubicBezTo>
                  <a:cubicBezTo>
                    <a:pt x="367" y="483"/>
                    <a:pt x="371" y="487"/>
                    <a:pt x="375" y="490"/>
                  </a:cubicBezTo>
                  <a:cubicBezTo>
                    <a:pt x="366" y="510"/>
                    <a:pt x="366" y="510"/>
                    <a:pt x="366" y="510"/>
                  </a:cubicBezTo>
                  <a:cubicBezTo>
                    <a:pt x="360" y="507"/>
                    <a:pt x="353" y="507"/>
                    <a:pt x="347" y="509"/>
                  </a:cubicBezTo>
                  <a:cubicBezTo>
                    <a:pt x="333" y="514"/>
                    <a:pt x="326" y="529"/>
                    <a:pt x="331" y="543"/>
                  </a:cubicBezTo>
                  <a:cubicBezTo>
                    <a:pt x="335" y="557"/>
                    <a:pt x="351" y="564"/>
                    <a:pt x="365" y="559"/>
                  </a:cubicBezTo>
                  <a:cubicBezTo>
                    <a:pt x="378" y="554"/>
                    <a:pt x="386" y="539"/>
                    <a:pt x="381" y="525"/>
                  </a:cubicBezTo>
                  <a:cubicBezTo>
                    <a:pt x="379" y="519"/>
                    <a:pt x="375" y="515"/>
                    <a:pt x="370" y="512"/>
                  </a:cubicBezTo>
                  <a:cubicBezTo>
                    <a:pt x="378" y="492"/>
                    <a:pt x="378" y="492"/>
                    <a:pt x="378" y="492"/>
                  </a:cubicBezTo>
                  <a:cubicBezTo>
                    <a:pt x="384" y="495"/>
                    <a:pt x="391" y="496"/>
                    <a:pt x="398" y="493"/>
                  </a:cubicBezTo>
                  <a:cubicBezTo>
                    <a:pt x="411" y="489"/>
                    <a:pt x="418" y="474"/>
                    <a:pt x="413" y="461"/>
                  </a:cubicBezTo>
                  <a:cubicBezTo>
                    <a:pt x="408" y="448"/>
                    <a:pt x="394" y="441"/>
                    <a:pt x="381" y="446"/>
                  </a:cubicBezTo>
                  <a:cubicBezTo>
                    <a:pt x="376" y="448"/>
                    <a:pt x="372" y="451"/>
                    <a:pt x="369" y="455"/>
                  </a:cubicBezTo>
                  <a:cubicBezTo>
                    <a:pt x="313" y="449"/>
                    <a:pt x="313" y="449"/>
                    <a:pt x="313" y="449"/>
                  </a:cubicBezTo>
                  <a:cubicBezTo>
                    <a:pt x="315" y="440"/>
                    <a:pt x="314" y="431"/>
                    <a:pt x="311" y="422"/>
                  </a:cubicBezTo>
                  <a:cubicBezTo>
                    <a:pt x="310" y="419"/>
                    <a:pt x="309" y="417"/>
                    <a:pt x="308" y="415"/>
                  </a:cubicBezTo>
                  <a:cubicBezTo>
                    <a:pt x="371" y="379"/>
                    <a:pt x="371" y="379"/>
                    <a:pt x="371" y="379"/>
                  </a:cubicBezTo>
                  <a:cubicBezTo>
                    <a:pt x="382" y="388"/>
                    <a:pt x="397" y="392"/>
                    <a:pt x="412" y="387"/>
                  </a:cubicBezTo>
                  <a:cubicBezTo>
                    <a:pt x="415" y="386"/>
                    <a:pt x="419" y="384"/>
                    <a:pt x="421" y="382"/>
                  </a:cubicBezTo>
                  <a:cubicBezTo>
                    <a:pt x="466" y="436"/>
                    <a:pt x="466" y="436"/>
                    <a:pt x="466" y="436"/>
                  </a:cubicBezTo>
                  <a:cubicBezTo>
                    <a:pt x="460" y="444"/>
                    <a:pt x="457" y="454"/>
                    <a:pt x="461" y="464"/>
                  </a:cubicBezTo>
                  <a:cubicBezTo>
                    <a:pt x="466" y="479"/>
                    <a:pt x="482" y="486"/>
                    <a:pt x="497" y="481"/>
                  </a:cubicBezTo>
                  <a:cubicBezTo>
                    <a:pt x="512" y="476"/>
                    <a:pt x="520" y="460"/>
                    <a:pt x="514" y="445"/>
                  </a:cubicBezTo>
                  <a:cubicBezTo>
                    <a:pt x="509" y="430"/>
                    <a:pt x="493" y="422"/>
                    <a:pt x="478" y="428"/>
                  </a:cubicBezTo>
                  <a:cubicBezTo>
                    <a:pt x="475" y="429"/>
                    <a:pt x="473" y="430"/>
                    <a:pt x="470" y="432"/>
                  </a:cubicBezTo>
                  <a:cubicBezTo>
                    <a:pt x="426" y="378"/>
                    <a:pt x="426" y="378"/>
                    <a:pt x="426" y="378"/>
                  </a:cubicBezTo>
                  <a:cubicBezTo>
                    <a:pt x="432" y="373"/>
                    <a:pt x="436" y="366"/>
                    <a:pt x="437" y="359"/>
                  </a:cubicBezTo>
                  <a:cubicBezTo>
                    <a:pt x="476" y="369"/>
                    <a:pt x="476" y="369"/>
                    <a:pt x="476" y="369"/>
                  </a:cubicBezTo>
                  <a:cubicBezTo>
                    <a:pt x="476" y="371"/>
                    <a:pt x="476" y="373"/>
                    <a:pt x="477" y="375"/>
                  </a:cubicBezTo>
                  <a:cubicBezTo>
                    <a:pt x="479" y="381"/>
                    <a:pt x="486" y="385"/>
                    <a:pt x="493" y="382"/>
                  </a:cubicBezTo>
                  <a:cubicBezTo>
                    <a:pt x="499" y="380"/>
                    <a:pt x="502" y="373"/>
                    <a:pt x="500" y="367"/>
                  </a:cubicBezTo>
                  <a:cubicBezTo>
                    <a:pt x="498" y="360"/>
                    <a:pt x="491" y="357"/>
                    <a:pt x="485" y="359"/>
                  </a:cubicBezTo>
                  <a:cubicBezTo>
                    <a:pt x="481" y="361"/>
                    <a:pt x="479" y="363"/>
                    <a:pt x="477" y="366"/>
                  </a:cubicBezTo>
                  <a:cubicBezTo>
                    <a:pt x="438" y="355"/>
                    <a:pt x="438" y="355"/>
                    <a:pt x="438" y="355"/>
                  </a:cubicBezTo>
                  <a:cubicBezTo>
                    <a:pt x="439" y="349"/>
                    <a:pt x="439" y="342"/>
                    <a:pt x="436" y="335"/>
                  </a:cubicBezTo>
                  <a:cubicBezTo>
                    <a:pt x="436" y="334"/>
                    <a:pt x="435" y="332"/>
                    <a:pt x="435" y="331"/>
                  </a:cubicBezTo>
                  <a:cubicBezTo>
                    <a:pt x="465" y="321"/>
                    <a:pt x="465" y="321"/>
                    <a:pt x="465" y="321"/>
                  </a:cubicBezTo>
                  <a:cubicBezTo>
                    <a:pt x="468" y="327"/>
                    <a:pt x="475" y="331"/>
                    <a:pt x="482" y="328"/>
                  </a:cubicBezTo>
                  <a:cubicBezTo>
                    <a:pt x="485" y="327"/>
                    <a:pt x="488" y="325"/>
                    <a:pt x="489" y="322"/>
                  </a:cubicBezTo>
                  <a:cubicBezTo>
                    <a:pt x="514" y="331"/>
                    <a:pt x="514" y="331"/>
                    <a:pt x="514" y="331"/>
                  </a:cubicBezTo>
                  <a:cubicBezTo>
                    <a:pt x="513" y="337"/>
                    <a:pt x="513" y="343"/>
                    <a:pt x="515" y="349"/>
                  </a:cubicBezTo>
                  <a:cubicBezTo>
                    <a:pt x="521" y="364"/>
                    <a:pt x="538" y="373"/>
                    <a:pt x="554" y="367"/>
                  </a:cubicBezTo>
                  <a:cubicBezTo>
                    <a:pt x="569" y="361"/>
                    <a:pt x="578" y="344"/>
                    <a:pt x="572" y="328"/>
                  </a:cubicBezTo>
                  <a:cubicBezTo>
                    <a:pt x="566" y="312"/>
                    <a:pt x="549" y="304"/>
                    <a:pt x="533" y="310"/>
                  </a:cubicBezTo>
                  <a:cubicBezTo>
                    <a:pt x="525" y="313"/>
                    <a:pt x="518" y="320"/>
                    <a:pt x="515" y="328"/>
                  </a:cubicBezTo>
                  <a:cubicBezTo>
                    <a:pt x="490" y="318"/>
                    <a:pt x="490" y="318"/>
                    <a:pt x="490" y="318"/>
                  </a:cubicBezTo>
                  <a:cubicBezTo>
                    <a:pt x="491" y="316"/>
                    <a:pt x="491" y="314"/>
                    <a:pt x="490" y="311"/>
                  </a:cubicBezTo>
                  <a:cubicBezTo>
                    <a:pt x="487" y="304"/>
                    <a:pt x="480" y="301"/>
                    <a:pt x="473" y="303"/>
                  </a:cubicBezTo>
                  <a:cubicBezTo>
                    <a:pt x="467" y="305"/>
                    <a:pt x="463" y="312"/>
                    <a:pt x="464" y="318"/>
                  </a:cubicBezTo>
                  <a:cubicBezTo>
                    <a:pt x="433" y="328"/>
                    <a:pt x="433" y="328"/>
                    <a:pt x="433" y="328"/>
                  </a:cubicBezTo>
                  <a:cubicBezTo>
                    <a:pt x="423" y="312"/>
                    <a:pt x="403" y="304"/>
                    <a:pt x="385" y="311"/>
                  </a:cubicBezTo>
                  <a:cubicBezTo>
                    <a:pt x="377" y="313"/>
                    <a:pt x="370" y="318"/>
                    <a:pt x="366" y="325"/>
                  </a:cubicBezTo>
                  <a:cubicBezTo>
                    <a:pt x="343" y="309"/>
                    <a:pt x="343" y="309"/>
                    <a:pt x="343" y="309"/>
                  </a:cubicBezTo>
                  <a:cubicBezTo>
                    <a:pt x="351" y="294"/>
                    <a:pt x="353" y="276"/>
                    <a:pt x="347" y="258"/>
                  </a:cubicBezTo>
                  <a:cubicBezTo>
                    <a:pt x="340" y="241"/>
                    <a:pt x="328" y="227"/>
                    <a:pt x="312" y="220"/>
                  </a:cubicBezTo>
                  <a:cubicBezTo>
                    <a:pt x="321" y="191"/>
                    <a:pt x="321" y="191"/>
                    <a:pt x="321" y="191"/>
                  </a:cubicBezTo>
                  <a:cubicBezTo>
                    <a:pt x="328" y="191"/>
                    <a:pt x="334" y="191"/>
                    <a:pt x="341" y="189"/>
                  </a:cubicBezTo>
                  <a:cubicBezTo>
                    <a:pt x="348" y="186"/>
                    <a:pt x="353" y="182"/>
                    <a:pt x="358" y="177"/>
                  </a:cubicBezTo>
                  <a:cubicBezTo>
                    <a:pt x="391" y="202"/>
                    <a:pt x="391" y="202"/>
                    <a:pt x="391" y="202"/>
                  </a:cubicBezTo>
                  <a:cubicBezTo>
                    <a:pt x="385" y="214"/>
                    <a:pt x="384" y="229"/>
                    <a:pt x="389" y="243"/>
                  </a:cubicBezTo>
                  <a:cubicBezTo>
                    <a:pt x="399" y="270"/>
                    <a:pt x="429" y="284"/>
                    <a:pt x="456" y="275"/>
                  </a:cubicBezTo>
                  <a:cubicBezTo>
                    <a:pt x="478" y="267"/>
                    <a:pt x="492" y="245"/>
                    <a:pt x="491" y="223"/>
                  </a:cubicBezTo>
                  <a:cubicBezTo>
                    <a:pt x="523" y="220"/>
                    <a:pt x="523" y="220"/>
                    <a:pt x="523" y="220"/>
                  </a:cubicBezTo>
                  <a:cubicBezTo>
                    <a:pt x="528" y="233"/>
                    <a:pt x="543" y="240"/>
                    <a:pt x="556" y="235"/>
                  </a:cubicBezTo>
                  <a:cubicBezTo>
                    <a:pt x="570" y="230"/>
                    <a:pt x="577" y="215"/>
                    <a:pt x="573" y="201"/>
                  </a:cubicBezTo>
                  <a:cubicBezTo>
                    <a:pt x="568" y="187"/>
                    <a:pt x="552" y="180"/>
                    <a:pt x="539" y="185"/>
                  </a:cubicBezTo>
                  <a:cubicBezTo>
                    <a:pt x="525" y="189"/>
                    <a:pt x="518" y="203"/>
                    <a:pt x="522" y="216"/>
                  </a:cubicBezTo>
                  <a:cubicBezTo>
                    <a:pt x="491" y="219"/>
                    <a:pt x="491" y="219"/>
                    <a:pt x="491" y="219"/>
                  </a:cubicBezTo>
                  <a:cubicBezTo>
                    <a:pt x="490" y="215"/>
                    <a:pt x="490" y="211"/>
                    <a:pt x="488" y="207"/>
                  </a:cubicBezTo>
                  <a:cubicBezTo>
                    <a:pt x="481" y="188"/>
                    <a:pt x="464" y="175"/>
                    <a:pt x="445" y="173"/>
                  </a:cubicBezTo>
                  <a:cubicBezTo>
                    <a:pt x="441" y="131"/>
                    <a:pt x="441" y="131"/>
                    <a:pt x="441" y="131"/>
                  </a:cubicBezTo>
                  <a:cubicBezTo>
                    <a:pt x="442" y="131"/>
                    <a:pt x="443" y="131"/>
                    <a:pt x="444" y="130"/>
                  </a:cubicBezTo>
                  <a:cubicBezTo>
                    <a:pt x="463" y="124"/>
                    <a:pt x="472" y="103"/>
                    <a:pt x="466" y="84"/>
                  </a:cubicBezTo>
                  <a:cubicBezTo>
                    <a:pt x="459" y="65"/>
                    <a:pt x="438" y="55"/>
                    <a:pt x="419" y="62"/>
                  </a:cubicBezTo>
                  <a:cubicBezTo>
                    <a:pt x="400" y="68"/>
                    <a:pt x="390" y="89"/>
                    <a:pt x="397" y="108"/>
                  </a:cubicBezTo>
                  <a:cubicBezTo>
                    <a:pt x="402" y="122"/>
                    <a:pt x="415" y="131"/>
                    <a:pt x="429" y="132"/>
                  </a:cubicBezTo>
                  <a:cubicBezTo>
                    <a:pt x="432" y="173"/>
                    <a:pt x="432" y="173"/>
                    <a:pt x="432" y="173"/>
                  </a:cubicBezTo>
                  <a:cubicBezTo>
                    <a:pt x="429" y="173"/>
                    <a:pt x="425" y="174"/>
                    <a:pt x="421" y="175"/>
                  </a:cubicBezTo>
                  <a:cubicBezTo>
                    <a:pt x="409" y="180"/>
                    <a:pt x="400" y="187"/>
                    <a:pt x="394" y="197"/>
                  </a:cubicBezTo>
                  <a:cubicBezTo>
                    <a:pt x="362" y="172"/>
                    <a:pt x="362" y="172"/>
                    <a:pt x="362" y="172"/>
                  </a:cubicBezTo>
                  <a:cubicBezTo>
                    <a:pt x="368" y="162"/>
                    <a:pt x="370" y="149"/>
                    <a:pt x="365" y="137"/>
                  </a:cubicBezTo>
                  <a:cubicBezTo>
                    <a:pt x="358" y="116"/>
                    <a:pt x="335" y="105"/>
                    <a:pt x="314" y="112"/>
                  </a:cubicBezTo>
                  <a:cubicBezTo>
                    <a:pt x="314" y="112"/>
                    <a:pt x="313" y="112"/>
                    <a:pt x="313" y="112"/>
                  </a:cubicBezTo>
                  <a:cubicBezTo>
                    <a:pt x="302" y="81"/>
                    <a:pt x="302" y="81"/>
                    <a:pt x="302" y="81"/>
                  </a:cubicBezTo>
                  <a:cubicBezTo>
                    <a:pt x="311" y="74"/>
                    <a:pt x="315" y="62"/>
                    <a:pt x="311" y="51"/>
                  </a:cubicBezTo>
                  <a:cubicBezTo>
                    <a:pt x="311" y="51"/>
                    <a:pt x="311" y="51"/>
                    <a:pt x="311" y="51"/>
                  </a:cubicBezTo>
                  <a:cubicBezTo>
                    <a:pt x="354" y="31"/>
                    <a:pt x="354" y="31"/>
                    <a:pt x="354" y="31"/>
                  </a:cubicBezTo>
                  <a:cubicBezTo>
                    <a:pt x="359" y="39"/>
                    <a:pt x="368" y="42"/>
                    <a:pt x="377" y="39"/>
                  </a:cubicBezTo>
                  <a:cubicBezTo>
                    <a:pt x="387" y="36"/>
                    <a:pt x="392" y="25"/>
                    <a:pt x="388" y="15"/>
                  </a:cubicBezTo>
                  <a:cubicBezTo>
                    <a:pt x="385" y="5"/>
                    <a:pt x="374" y="0"/>
                    <a:pt x="364" y="4"/>
                  </a:cubicBezTo>
                  <a:cubicBezTo>
                    <a:pt x="355" y="7"/>
                    <a:pt x="350" y="18"/>
                    <a:pt x="353" y="28"/>
                  </a:cubicBezTo>
                  <a:cubicBezTo>
                    <a:pt x="309" y="47"/>
                    <a:pt x="309" y="47"/>
                    <a:pt x="309" y="47"/>
                  </a:cubicBezTo>
                  <a:cubicBezTo>
                    <a:pt x="303" y="36"/>
                    <a:pt x="290" y="31"/>
                    <a:pt x="277" y="35"/>
                  </a:cubicBezTo>
                  <a:cubicBezTo>
                    <a:pt x="268" y="38"/>
                    <a:pt x="262" y="47"/>
                    <a:pt x="260" y="56"/>
                  </a:cubicBezTo>
                  <a:cubicBezTo>
                    <a:pt x="189" y="50"/>
                    <a:pt x="189" y="50"/>
                    <a:pt x="189" y="50"/>
                  </a:cubicBezTo>
                  <a:cubicBezTo>
                    <a:pt x="189" y="47"/>
                    <a:pt x="189" y="44"/>
                    <a:pt x="188" y="42"/>
                  </a:cubicBezTo>
                  <a:cubicBezTo>
                    <a:pt x="183" y="29"/>
                    <a:pt x="170" y="23"/>
                    <a:pt x="157" y="27"/>
                  </a:cubicBezTo>
                  <a:cubicBezTo>
                    <a:pt x="145" y="32"/>
                    <a:pt x="138" y="45"/>
                    <a:pt x="143" y="58"/>
                  </a:cubicBezTo>
                  <a:close/>
                  <a:moveTo>
                    <a:pt x="50" y="314"/>
                  </a:moveTo>
                  <a:cubicBezTo>
                    <a:pt x="54" y="326"/>
                    <a:pt x="48" y="338"/>
                    <a:pt x="37" y="342"/>
                  </a:cubicBezTo>
                  <a:cubicBezTo>
                    <a:pt x="26" y="346"/>
                    <a:pt x="13" y="340"/>
                    <a:pt x="9" y="329"/>
                  </a:cubicBezTo>
                  <a:cubicBezTo>
                    <a:pt x="5" y="318"/>
                    <a:pt x="11" y="305"/>
                    <a:pt x="23" y="301"/>
                  </a:cubicBezTo>
                  <a:cubicBezTo>
                    <a:pt x="34" y="297"/>
                    <a:pt x="46" y="303"/>
                    <a:pt x="50" y="314"/>
                  </a:cubicBezTo>
                  <a:close/>
                  <a:moveTo>
                    <a:pt x="363" y="555"/>
                  </a:moveTo>
                  <a:cubicBezTo>
                    <a:pt x="352" y="559"/>
                    <a:pt x="339" y="553"/>
                    <a:pt x="335" y="542"/>
                  </a:cubicBezTo>
                  <a:cubicBezTo>
                    <a:pt x="331" y="530"/>
                    <a:pt x="337" y="518"/>
                    <a:pt x="348" y="514"/>
                  </a:cubicBezTo>
                  <a:cubicBezTo>
                    <a:pt x="360" y="510"/>
                    <a:pt x="372" y="516"/>
                    <a:pt x="376" y="527"/>
                  </a:cubicBezTo>
                  <a:cubicBezTo>
                    <a:pt x="380" y="538"/>
                    <a:pt x="374" y="551"/>
                    <a:pt x="363" y="555"/>
                  </a:cubicBezTo>
                  <a:close/>
                  <a:moveTo>
                    <a:pt x="275" y="477"/>
                  </a:moveTo>
                  <a:cubicBezTo>
                    <a:pt x="254" y="485"/>
                    <a:pt x="231" y="474"/>
                    <a:pt x="223" y="453"/>
                  </a:cubicBezTo>
                  <a:cubicBezTo>
                    <a:pt x="215" y="432"/>
                    <a:pt x="226" y="409"/>
                    <a:pt x="247" y="401"/>
                  </a:cubicBezTo>
                  <a:cubicBezTo>
                    <a:pt x="269" y="394"/>
                    <a:pt x="292" y="405"/>
                    <a:pt x="299" y="426"/>
                  </a:cubicBezTo>
                  <a:cubicBezTo>
                    <a:pt x="307" y="447"/>
                    <a:pt x="296" y="470"/>
                    <a:pt x="275" y="477"/>
                  </a:cubicBezTo>
                  <a:close/>
                  <a:moveTo>
                    <a:pt x="540" y="189"/>
                  </a:moveTo>
                  <a:cubicBezTo>
                    <a:pt x="551" y="185"/>
                    <a:pt x="564" y="191"/>
                    <a:pt x="568" y="203"/>
                  </a:cubicBezTo>
                  <a:cubicBezTo>
                    <a:pt x="572" y="214"/>
                    <a:pt x="566" y="226"/>
                    <a:pt x="555" y="230"/>
                  </a:cubicBezTo>
                  <a:cubicBezTo>
                    <a:pt x="543" y="234"/>
                    <a:pt x="531" y="229"/>
                    <a:pt x="527" y="217"/>
                  </a:cubicBezTo>
                  <a:cubicBezTo>
                    <a:pt x="523" y="206"/>
                    <a:pt x="529" y="193"/>
                    <a:pt x="540" y="189"/>
                  </a:cubicBezTo>
                  <a:close/>
                  <a:moveTo>
                    <a:pt x="477" y="211"/>
                  </a:moveTo>
                  <a:cubicBezTo>
                    <a:pt x="484" y="232"/>
                    <a:pt x="473" y="256"/>
                    <a:pt x="452" y="263"/>
                  </a:cubicBezTo>
                  <a:cubicBezTo>
                    <a:pt x="431" y="271"/>
                    <a:pt x="408" y="260"/>
                    <a:pt x="400" y="239"/>
                  </a:cubicBezTo>
                  <a:cubicBezTo>
                    <a:pt x="393" y="218"/>
                    <a:pt x="404" y="194"/>
                    <a:pt x="425" y="187"/>
                  </a:cubicBezTo>
                  <a:cubicBezTo>
                    <a:pt x="446" y="179"/>
                    <a:pt x="469" y="190"/>
                    <a:pt x="477" y="211"/>
                  </a:cubicBezTo>
                  <a:close/>
                  <a:moveTo>
                    <a:pt x="130" y="193"/>
                  </a:moveTo>
                  <a:cubicBezTo>
                    <a:pt x="123" y="172"/>
                    <a:pt x="134" y="149"/>
                    <a:pt x="155" y="141"/>
                  </a:cubicBezTo>
                  <a:cubicBezTo>
                    <a:pt x="176" y="134"/>
                    <a:pt x="199" y="145"/>
                    <a:pt x="206" y="166"/>
                  </a:cubicBezTo>
                  <a:cubicBezTo>
                    <a:pt x="214" y="187"/>
                    <a:pt x="203" y="210"/>
                    <a:pt x="182" y="218"/>
                  </a:cubicBezTo>
                  <a:cubicBezTo>
                    <a:pt x="161" y="225"/>
                    <a:pt x="138" y="214"/>
                    <a:pt x="130" y="193"/>
                  </a:cubicBezTo>
                  <a:close/>
                  <a:moveTo>
                    <a:pt x="221" y="297"/>
                  </a:moveTo>
                  <a:cubicBezTo>
                    <a:pt x="190" y="307"/>
                    <a:pt x="190" y="307"/>
                    <a:pt x="190" y="307"/>
                  </a:cubicBezTo>
                  <a:cubicBezTo>
                    <a:pt x="184" y="295"/>
                    <a:pt x="172" y="288"/>
                    <a:pt x="160" y="286"/>
                  </a:cubicBezTo>
                  <a:cubicBezTo>
                    <a:pt x="158" y="231"/>
                    <a:pt x="158" y="231"/>
                    <a:pt x="158" y="231"/>
                  </a:cubicBezTo>
                  <a:cubicBezTo>
                    <a:pt x="167" y="233"/>
                    <a:pt x="177" y="232"/>
                    <a:pt x="186" y="229"/>
                  </a:cubicBezTo>
                  <a:cubicBezTo>
                    <a:pt x="209" y="221"/>
                    <a:pt x="223" y="198"/>
                    <a:pt x="221" y="175"/>
                  </a:cubicBezTo>
                  <a:cubicBezTo>
                    <a:pt x="288" y="158"/>
                    <a:pt x="288" y="158"/>
                    <a:pt x="288" y="158"/>
                  </a:cubicBezTo>
                  <a:cubicBezTo>
                    <a:pt x="288" y="160"/>
                    <a:pt x="288" y="162"/>
                    <a:pt x="289" y="164"/>
                  </a:cubicBezTo>
                  <a:cubicBezTo>
                    <a:pt x="293" y="175"/>
                    <a:pt x="300" y="182"/>
                    <a:pt x="310" y="187"/>
                  </a:cubicBezTo>
                  <a:cubicBezTo>
                    <a:pt x="301" y="216"/>
                    <a:pt x="301" y="216"/>
                    <a:pt x="301" y="216"/>
                  </a:cubicBezTo>
                  <a:cubicBezTo>
                    <a:pt x="288" y="213"/>
                    <a:pt x="275" y="213"/>
                    <a:pt x="262" y="218"/>
                  </a:cubicBezTo>
                  <a:cubicBezTo>
                    <a:pt x="230" y="230"/>
                    <a:pt x="212" y="264"/>
                    <a:pt x="221" y="297"/>
                  </a:cubicBezTo>
                  <a:close/>
                  <a:moveTo>
                    <a:pt x="260" y="59"/>
                  </a:moveTo>
                  <a:cubicBezTo>
                    <a:pt x="260" y="62"/>
                    <a:pt x="260" y="66"/>
                    <a:pt x="261" y="69"/>
                  </a:cubicBezTo>
                  <a:cubicBezTo>
                    <a:pt x="266" y="82"/>
                    <a:pt x="281" y="89"/>
                    <a:pt x="295" y="85"/>
                  </a:cubicBezTo>
                  <a:cubicBezTo>
                    <a:pt x="296" y="84"/>
                    <a:pt x="296" y="84"/>
                    <a:pt x="297" y="84"/>
                  </a:cubicBezTo>
                  <a:cubicBezTo>
                    <a:pt x="308" y="115"/>
                    <a:pt x="308" y="115"/>
                    <a:pt x="308" y="115"/>
                  </a:cubicBezTo>
                  <a:cubicBezTo>
                    <a:pt x="294" y="122"/>
                    <a:pt x="286" y="137"/>
                    <a:pt x="287" y="152"/>
                  </a:cubicBezTo>
                  <a:cubicBezTo>
                    <a:pt x="220" y="169"/>
                    <a:pt x="220" y="169"/>
                    <a:pt x="220" y="169"/>
                  </a:cubicBezTo>
                  <a:cubicBezTo>
                    <a:pt x="219" y="166"/>
                    <a:pt x="219" y="164"/>
                    <a:pt x="218" y="162"/>
                  </a:cubicBezTo>
                  <a:cubicBezTo>
                    <a:pt x="210" y="139"/>
                    <a:pt x="188" y="126"/>
                    <a:pt x="166" y="127"/>
                  </a:cubicBezTo>
                  <a:cubicBezTo>
                    <a:pt x="167" y="74"/>
                    <a:pt x="167" y="74"/>
                    <a:pt x="167" y="74"/>
                  </a:cubicBezTo>
                  <a:cubicBezTo>
                    <a:pt x="169" y="73"/>
                    <a:pt x="171" y="73"/>
                    <a:pt x="173" y="72"/>
                  </a:cubicBezTo>
                  <a:cubicBezTo>
                    <a:pt x="182" y="69"/>
                    <a:pt x="187" y="62"/>
                    <a:pt x="189" y="54"/>
                  </a:cubicBezTo>
                  <a:lnTo>
                    <a:pt x="260" y="59"/>
                  </a:lnTo>
                  <a:close/>
                </a:path>
              </a:pathLst>
            </a:custGeom>
            <a:grp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1200" cap="none" spc="0" normalizeH="0" baseline="0" noProof="0">
                <a:ln>
                  <a:noFill/>
                </a:ln>
                <a:solidFill>
                  <a:schemeClr val="tx1"/>
                </a:solidFill>
                <a:effectLst/>
                <a:uLnTx/>
                <a:uFillTx/>
                <a:latin typeface="Times New Roman" panose="02020603050405020304" pitchFamily="18" charset="0"/>
                <a:ea typeface="楷体_GB2312" pitchFamily="49" charset="-122"/>
                <a:cs typeface="+mn-cs"/>
              </a:endParaRPr>
            </a:p>
          </p:txBody>
        </p:sp>
        <p:sp>
          <p:nvSpPr>
            <p:cNvPr id="30" name="文本框 29"/>
            <p:cNvSpPr txBox="1"/>
            <p:nvPr/>
          </p:nvSpPr>
          <p:spPr>
            <a:xfrm>
              <a:off x="7531099" y="2667001"/>
              <a:ext cx="774701" cy="698042"/>
            </a:xfrm>
            <a:prstGeom prst="rect">
              <a:avLst/>
            </a:prstGeom>
            <a:noFill/>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400" b="1" i="0" u="none" strike="noStrike" kern="1200" cap="none" spc="0" normalizeH="0" baseline="0" noProof="0" dirty="0">
                  <a:ln>
                    <a:noFill/>
                  </a:ln>
                  <a:solidFill>
                    <a:srgbClr val="EBAC07"/>
                  </a:solidFill>
                  <a:effectLst/>
                  <a:uLnTx/>
                  <a:uFillTx/>
                  <a:latin typeface="微软雅黑" panose="020B0503020204020204" pitchFamily="34" charset="-122"/>
                  <a:ea typeface="微软雅黑" panose="020B0503020204020204" pitchFamily="34" charset="-122"/>
                  <a:cs typeface="+mn-cs"/>
                </a:rPr>
                <a:t>1</a:t>
              </a:r>
              <a:endParaRPr kumimoji="0" lang="zh-CN" altLang="en-US" sz="2400" b="1" i="0" u="none" strike="noStrike" kern="1200" cap="none" spc="0" normalizeH="0" baseline="0" noProof="0" dirty="0">
                <a:ln>
                  <a:noFill/>
                </a:ln>
                <a:solidFill>
                  <a:srgbClr val="EBAC07"/>
                </a:solidFill>
                <a:effectLst/>
                <a:uLnTx/>
                <a:uFillTx/>
                <a:latin typeface="微软雅黑" panose="020B0503020204020204" pitchFamily="34" charset="-122"/>
                <a:ea typeface="微软雅黑" panose="020B0503020204020204" pitchFamily="34" charset="-122"/>
                <a:cs typeface="+mn-cs"/>
              </a:endParaRPr>
            </a:p>
          </p:txBody>
        </p:sp>
        <p:sp>
          <p:nvSpPr>
            <p:cNvPr id="31" name="文本框 30"/>
            <p:cNvSpPr txBox="1"/>
            <p:nvPr/>
          </p:nvSpPr>
          <p:spPr>
            <a:xfrm>
              <a:off x="9537700" y="3035003"/>
              <a:ext cx="774701" cy="698042"/>
            </a:xfrm>
            <a:prstGeom prst="rect">
              <a:avLst/>
            </a:prstGeom>
            <a:noFill/>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400" b="1" i="0" u="none" strike="noStrike" kern="1200" cap="none" spc="0" normalizeH="0" baseline="0" noProof="0" dirty="0">
                  <a:ln>
                    <a:noFill/>
                  </a:ln>
                  <a:solidFill>
                    <a:srgbClr val="A2B932"/>
                  </a:solidFill>
                  <a:effectLst/>
                  <a:uLnTx/>
                  <a:uFillTx/>
                  <a:latin typeface="微软雅黑" panose="020B0503020204020204" pitchFamily="34" charset="-122"/>
                  <a:ea typeface="微软雅黑" panose="020B0503020204020204" pitchFamily="34" charset="-122"/>
                  <a:cs typeface="+mn-cs"/>
                </a:rPr>
                <a:t>2</a:t>
              </a:r>
              <a:endParaRPr kumimoji="0" lang="zh-CN" altLang="en-US" sz="2400" b="1" i="0" u="none" strike="noStrike" kern="1200" cap="none" spc="0" normalizeH="0" baseline="0" noProof="0" dirty="0">
                <a:ln>
                  <a:noFill/>
                </a:ln>
                <a:solidFill>
                  <a:srgbClr val="A2B932"/>
                </a:solidFill>
                <a:effectLst/>
                <a:uLnTx/>
                <a:uFillTx/>
                <a:latin typeface="微软雅黑" panose="020B0503020204020204" pitchFamily="34" charset="-122"/>
                <a:ea typeface="微软雅黑" panose="020B0503020204020204" pitchFamily="34" charset="-122"/>
                <a:cs typeface="+mn-cs"/>
              </a:endParaRPr>
            </a:p>
          </p:txBody>
        </p:sp>
        <p:sp>
          <p:nvSpPr>
            <p:cNvPr id="32" name="文本框 31"/>
            <p:cNvSpPr txBox="1"/>
            <p:nvPr/>
          </p:nvSpPr>
          <p:spPr>
            <a:xfrm>
              <a:off x="8216900" y="4597103"/>
              <a:ext cx="774701" cy="698042"/>
            </a:xfrm>
            <a:prstGeom prst="rect">
              <a:avLst/>
            </a:prstGeom>
            <a:noFill/>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400" b="1" i="0" u="none" strike="noStrike" kern="1200" cap="none" spc="0" normalizeH="0" baseline="0" noProof="0" dirty="0">
                  <a:ln>
                    <a:noFill/>
                  </a:ln>
                  <a:solidFill>
                    <a:srgbClr val="4C6062"/>
                  </a:solidFill>
                  <a:effectLst/>
                  <a:uLnTx/>
                  <a:uFillTx/>
                  <a:latin typeface="微软雅黑" panose="020B0503020204020204" pitchFamily="34" charset="-122"/>
                  <a:ea typeface="微软雅黑" panose="020B0503020204020204" pitchFamily="34" charset="-122"/>
                  <a:cs typeface="+mn-cs"/>
                </a:rPr>
                <a:t>3</a:t>
              </a:r>
              <a:endParaRPr kumimoji="0" lang="zh-CN" altLang="en-US" sz="2400" b="1" i="0" u="none" strike="noStrike" kern="1200" cap="none" spc="0" normalizeH="0" baseline="0" noProof="0" dirty="0">
                <a:ln>
                  <a:noFill/>
                </a:ln>
                <a:solidFill>
                  <a:srgbClr val="4C6062"/>
                </a:solidFill>
                <a:effectLst/>
                <a:uLnTx/>
                <a:uFillTx/>
                <a:latin typeface="微软雅黑" panose="020B0503020204020204" pitchFamily="34" charset="-122"/>
                <a:ea typeface="微软雅黑" panose="020B0503020204020204" pitchFamily="34" charset="-122"/>
                <a:cs typeface="+mn-cs"/>
              </a:endParaRPr>
            </a:p>
          </p:txBody>
        </p:sp>
      </p:grpSp>
      <p:sp>
        <p:nvSpPr>
          <p:cNvPr id="33" name="Text Box 1028"/>
          <p:cNvSpPr txBox="1">
            <a:spLocks noChangeArrowheads="1"/>
          </p:cNvSpPr>
          <p:nvPr/>
        </p:nvSpPr>
        <p:spPr bwMode="auto">
          <a:xfrm>
            <a:off x="3675063" y="2063750"/>
            <a:ext cx="5129213" cy="19383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１．按可用内存大小,利用内部排序方法，</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构造若干个记录的有序子序列写入外存</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，通常称这些记录的有序子序列为 “归并段”;</a:t>
            </a:r>
          </a:p>
        </p:txBody>
      </p:sp>
      <p:sp>
        <p:nvSpPr>
          <p:cNvPr id="34" name="Rectangle 1030"/>
          <p:cNvSpPr>
            <a:spLocks noChangeArrowheads="1"/>
          </p:cNvSpPr>
          <p:nvPr/>
        </p:nvSpPr>
        <p:spPr bwMode="auto">
          <a:xfrm>
            <a:off x="3690938" y="4184650"/>
            <a:ext cx="5129213" cy="1476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２．通过“归并”，</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逐步扩大</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(记录的)</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有序子序列的长度</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直至</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外存中</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整个记录序列按关键字有序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为止。</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2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2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6" presetClass="entr" presetSubtype="37"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barn(outVertical)">
                                      <p:cBhvr>
                                        <p:cTn id="19" dur="500"/>
                                        <p:tgtEl>
                                          <p:spTgt spid="33"/>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grpId="0" nodeType="clickEffect">
                                  <p:stCondLst>
                                    <p:cond delay="0"/>
                                  </p:stCondLst>
                                  <p:childTnLst>
                                    <p:set>
                                      <p:cBhvr>
                                        <p:cTn id="23" dur="1" fill="hold">
                                          <p:stCondLst>
                                            <p:cond delay="0"/>
                                          </p:stCondLst>
                                        </p:cTn>
                                        <p:tgtEl>
                                          <p:spTgt spid="34"/>
                                        </p:tgtEl>
                                        <p:attrNameLst>
                                          <p:attrName>style.visibility</p:attrName>
                                        </p:attrNameLst>
                                      </p:cBhvr>
                                      <p:to>
                                        <p:strVal val="visible"/>
                                      </p:to>
                                    </p:set>
                                    <p:animEffect transition="in" filter="barn(inVertical)">
                                      <p:cBhvr>
                                        <p:cTn id="2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 grpId="0"/>
      <p:bldP spid="34"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Text Box 1026"/>
          <p:cNvSpPr txBox="1">
            <a:spLocks noChangeArrowheads="1"/>
          </p:cNvSpPr>
          <p:nvPr/>
        </p:nvSpPr>
        <p:spPr bwMode="auto">
          <a:xfrm>
            <a:off x="539750" y="1052513"/>
            <a:ext cx="8280400" cy="14351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E5314F"/>
                </a:solidFill>
                <a:effectLst/>
                <a:uLnTx/>
                <a:uFillTx/>
                <a:latin typeface="+mn-lt"/>
                <a:ea typeface="+mn-ea"/>
                <a:cs typeface="+mn-ea"/>
                <a:sym typeface="+mn-lt"/>
              </a:rPr>
              <a:t>例如</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：假设有一个含10,000个记录的磁盘文件，而当前所用的计算机一次只能对1,000个记录进行内部排序，则首先利用内部排序的方法得到10个初始归并段，然后进行逐趟归并。</a:t>
            </a:r>
          </a:p>
        </p:txBody>
      </p:sp>
      <p:sp>
        <p:nvSpPr>
          <p:cNvPr id="583683" name="Rectangle 1027"/>
          <p:cNvSpPr>
            <a:spLocks noChangeArrowheads="1"/>
          </p:cNvSpPr>
          <p:nvPr/>
        </p:nvSpPr>
        <p:spPr bwMode="auto">
          <a:xfrm>
            <a:off x="539750" y="2744788"/>
            <a:ext cx="7885113" cy="5111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假设进行2路归并(即两两归并)：</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583684" name="Rectangle 1028"/>
          <p:cNvSpPr>
            <a:spLocks noChangeArrowheads="1"/>
          </p:cNvSpPr>
          <p:nvPr/>
        </p:nvSpPr>
        <p:spPr bwMode="auto">
          <a:xfrm>
            <a:off x="1258888" y="5811838"/>
            <a:ext cx="5976938" cy="5540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最后一趟归并得到整个记录的有序序列。</a:t>
            </a:r>
          </a:p>
        </p:txBody>
      </p:sp>
      <p:sp>
        <p:nvSpPr>
          <p:cNvPr id="583685" name="Rectangle 1029"/>
          <p:cNvSpPr>
            <a:spLocks noChangeArrowheads="1"/>
          </p:cNvSpPr>
          <p:nvPr/>
        </p:nvSpPr>
        <p:spPr bwMode="auto">
          <a:xfrm>
            <a:off x="1271588" y="5026025"/>
            <a:ext cx="7018338" cy="5540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第三趟由 3 个归并段得到2个归并段;</a:t>
            </a:r>
          </a:p>
        </p:txBody>
      </p:sp>
      <p:sp>
        <p:nvSpPr>
          <p:cNvPr id="583686" name="Rectangle 1030"/>
          <p:cNvSpPr>
            <a:spLocks noChangeArrowheads="1"/>
          </p:cNvSpPr>
          <p:nvPr/>
        </p:nvSpPr>
        <p:spPr bwMode="auto">
          <a:xfrm>
            <a:off x="1258888" y="4156075"/>
            <a:ext cx="7018338" cy="5111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第二趟由 5 个归并段得到3个归并段;</a:t>
            </a:r>
          </a:p>
        </p:txBody>
      </p:sp>
      <p:sp>
        <p:nvSpPr>
          <p:cNvPr id="8" name="Rectangle 6"/>
          <p:cNvSpPr>
            <a:spLocks noChangeArrowheads="1"/>
          </p:cNvSpPr>
          <p:nvPr/>
        </p:nvSpPr>
        <p:spPr bwMode="auto">
          <a:xfrm>
            <a:off x="827088" y="134938"/>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外部排序的基本方法</a:t>
            </a:r>
          </a:p>
        </p:txBody>
      </p:sp>
      <p:sp>
        <p:nvSpPr>
          <p:cNvPr id="9" name="Rectangle 1027"/>
          <p:cNvSpPr>
            <a:spLocks noChangeArrowheads="1"/>
          </p:cNvSpPr>
          <p:nvPr/>
        </p:nvSpPr>
        <p:spPr bwMode="auto">
          <a:xfrm>
            <a:off x="1271588" y="3460750"/>
            <a:ext cx="5472113" cy="5540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第一趟由10个归并段得到5个归并段;</a:t>
            </a:r>
          </a:p>
        </p:txBody>
      </p:sp>
      <p:cxnSp>
        <p:nvCxnSpPr>
          <p:cNvPr id="3" name="直接连接符 2"/>
          <p:cNvCxnSpPr/>
          <p:nvPr/>
        </p:nvCxnSpPr>
        <p:spPr>
          <a:xfrm>
            <a:off x="584200" y="2603500"/>
            <a:ext cx="8162925" cy="0"/>
          </a:xfrm>
          <a:prstGeom prst="line">
            <a:avLst/>
          </a:prstGeom>
          <a:ln w="9525" cap="flat" cmpd="sng">
            <a:solidFill>
              <a:srgbClr val="FF0000"/>
            </a:solidFill>
            <a:prstDash val="solid"/>
            <a:headEnd type="none" w="med" len="med"/>
            <a:tailEnd type="none" w="med" len="med"/>
          </a:ln>
        </p:spPr>
      </p:cxnSp>
      <p:grpSp>
        <p:nvGrpSpPr>
          <p:cNvPr id="11" name="组合 10"/>
          <p:cNvGrpSpPr/>
          <p:nvPr/>
        </p:nvGrpSpPr>
        <p:grpSpPr>
          <a:xfrm>
            <a:off x="600394" y="3476351"/>
            <a:ext cx="515172" cy="520063"/>
            <a:chOff x="4929188" y="1303338"/>
            <a:chExt cx="501650" cy="506412"/>
          </a:xfrm>
          <a:solidFill>
            <a:schemeClr val="accent1">
              <a:lumMod val="60000"/>
              <a:lumOff val="40000"/>
            </a:schemeClr>
          </a:solidFill>
        </p:grpSpPr>
        <p:sp>
          <p:nvSpPr>
            <p:cNvPr id="12" name="Freeform 6"/>
            <p:cNvSpPr/>
            <p:nvPr/>
          </p:nvSpPr>
          <p:spPr bwMode="auto">
            <a:xfrm>
              <a:off x="4929188" y="1303338"/>
              <a:ext cx="501650" cy="506412"/>
            </a:xfrm>
            <a:custGeom>
              <a:avLst/>
              <a:gdLst>
                <a:gd name="T0" fmla="*/ 134 w 134"/>
                <a:gd name="T1" fmla="*/ 36 h 135"/>
                <a:gd name="T2" fmla="*/ 134 w 134"/>
                <a:gd name="T3" fmla="*/ 98 h 135"/>
                <a:gd name="T4" fmla="*/ 98 w 134"/>
                <a:gd name="T5" fmla="*/ 135 h 135"/>
                <a:gd name="T6" fmla="*/ 36 w 134"/>
                <a:gd name="T7" fmla="*/ 135 h 135"/>
                <a:gd name="T8" fmla="*/ 0 w 134"/>
                <a:gd name="T9" fmla="*/ 98 h 135"/>
                <a:gd name="T10" fmla="*/ 0 w 134"/>
                <a:gd name="T11" fmla="*/ 36 h 135"/>
                <a:gd name="T12" fmla="*/ 36 w 134"/>
                <a:gd name="T13" fmla="*/ 0 h 135"/>
                <a:gd name="T14" fmla="*/ 134 w 134"/>
                <a:gd name="T15" fmla="*/ 0 h 135"/>
                <a:gd name="T16" fmla="*/ 134 w 134"/>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6"/>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4" y="0"/>
                    <a:pt x="134" y="0"/>
                    <a:pt x="134" y="0"/>
                  </a:cubicBezTo>
                  <a:lnTo>
                    <a:pt x="134" y="36"/>
                  </a:lnTo>
                  <a:close/>
                </a:path>
              </a:pathLst>
            </a:custGeom>
            <a:grp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sp>
          <p:nvSpPr>
            <p:cNvPr id="13" name="Freeform 7"/>
            <p:cNvSpPr/>
            <p:nvPr/>
          </p:nvSpPr>
          <p:spPr bwMode="auto">
            <a:xfrm>
              <a:off x="4995863" y="1358900"/>
              <a:ext cx="371475" cy="206375"/>
            </a:xfrm>
            <a:custGeom>
              <a:avLst/>
              <a:gdLst>
                <a:gd name="T0" fmla="*/ 97 w 99"/>
                <a:gd name="T1" fmla="*/ 44 h 55"/>
                <a:gd name="T2" fmla="*/ 50 w 99"/>
                <a:gd name="T3" fmla="*/ 0 h 55"/>
                <a:gd name="T4" fmla="*/ 3 w 99"/>
                <a:gd name="T5" fmla="*/ 44 h 55"/>
                <a:gd name="T6" fmla="*/ 3 w 99"/>
                <a:gd name="T7" fmla="*/ 53 h 55"/>
                <a:gd name="T8" fmla="*/ 8 w 99"/>
                <a:gd name="T9" fmla="*/ 55 h 55"/>
                <a:gd name="T10" fmla="*/ 12 w 99"/>
                <a:gd name="T11" fmla="*/ 53 h 55"/>
                <a:gd name="T12" fmla="*/ 50 w 99"/>
                <a:gd name="T13" fmla="*/ 18 h 55"/>
                <a:gd name="T14" fmla="*/ 87 w 99"/>
                <a:gd name="T15" fmla="*/ 53 h 55"/>
                <a:gd name="T16" fmla="*/ 92 w 99"/>
                <a:gd name="T17" fmla="*/ 55 h 55"/>
                <a:gd name="T18" fmla="*/ 97 w 99"/>
                <a:gd name="T19" fmla="*/ 53 h 55"/>
                <a:gd name="T20" fmla="*/ 97 w 99"/>
                <a:gd name="T21"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5">
                  <a:moveTo>
                    <a:pt x="97" y="44"/>
                  </a:moveTo>
                  <a:cubicBezTo>
                    <a:pt x="50" y="0"/>
                    <a:pt x="50" y="0"/>
                    <a:pt x="50" y="0"/>
                  </a:cubicBezTo>
                  <a:cubicBezTo>
                    <a:pt x="3" y="44"/>
                    <a:pt x="3" y="44"/>
                    <a:pt x="3" y="44"/>
                  </a:cubicBezTo>
                  <a:cubicBezTo>
                    <a:pt x="1" y="46"/>
                    <a:pt x="0" y="50"/>
                    <a:pt x="3" y="53"/>
                  </a:cubicBezTo>
                  <a:cubicBezTo>
                    <a:pt x="4" y="54"/>
                    <a:pt x="6" y="55"/>
                    <a:pt x="8" y="55"/>
                  </a:cubicBezTo>
                  <a:cubicBezTo>
                    <a:pt x="9" y="55"/>
                    <a:pt x="11" y="54"/>
                    <a:pt x="12" y="53"/>
                  </a:cubicBezTo>
                  <a:cubicBezTo>
                    <a:pt x="50" y="18"/>
                    <a:pt x="50" y="18"/>
                    <a:pt x="50" y="18"/>
                  </a:cubicBezTo>
                  <a:cubicBezTo>
                    <a:pt x="87" y="53"/>
                    <a:pt x="87" y="53"/>
                    <a:pt x="87" y="53"/>
                  </a:cubicBezTo>
                  <a:cubicBezTo>
                    <a:pt x="89" y="54"/>
                    <a:pt x="90" y="55"/>
                    <a:pt x="92" y="55"/>
                  </a:cubicBezTo>
                  <a:cubicBezTo>
                    <a:pt x="94" y="55"/>
                    <a:pt x="96" y="54"/>
                    <a:pt x="97" y="53"/>
                  </a:cubicBezTo>
                  <a:cubicBezTo>
                    <a:pt x="99" y="50"/>
                    <a:pt x="99" y="46"/>
                    <a:pt x="97" y="44"/>
                  </a:cubicBezTo>
                  <a:close/>
                </a:path>
              </a:pathLst>
            </a:custGeom>
            <a:grp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sp>
          <p:nvSpPr>
            <p:cNvPr id="14" name="Freeform 8"/>
            <p:cNvSpPr/>
            <p:nvPr/>
          </p:nvSpPr>
          <p:spPr bwMode="auto">
            <a:xfrm>
              <a:off x="5056188" y="1397466"/>
              <a:ext cx="255588" cy="265112"/>
            </a:xfrm>
            <a:custGeom>
              <a:avLst/>
              <a:gdLst>
                <a:gd name="T0" fmla="*/ 0 w 68"/>
                <a:gd name="T1" fmla="*/ 32 h 71"/>
                <a:gd name="T2" fmla="*/ 0 w 68"/>
                <a:gd name="T3" fmla="*/ 68 h 71"/>
                <a:gd name="T4" fmla="*/ 5 w 68"/>
                <a:gd name="T5" fmla="*/ 71 h 71"/>
                <a:gd name="T6" fmla="*/ 22 w 68"/>
                <a:gd name="T7" fmla="*/ 71 h 71"/>
                <a:gd name="T8" fmla="*/ 22 w 68"/>
                <a:gd name="T9" fmla="*/ 44 h 71"/>
                <a:gd name="T10" fmla="*/ 46 w 68"/>
                <a:gd name="T11" fmla="*/ 44 h 71"/>
                <a:gd name="T12" fmla="*/ 46 w 68"/>
                <a:gd name="T13" fmla="*/ 71 h 71"/>
                <a:gd name="T14" fmla="*/ 63 w 68"/>
                <a:gd name="T15" fmla="*/ 71 h 71"/>
                <a:gd name="T16" fmla="*/ 68 w 68"/>
                <a:gd name="T17" fmla="*/ 68 h 71"/>
                <a:gd name="T18" fmla="*/ 68 w 68"/>
                <a:gd name="T19" fmla="*/ 32 h 71"/>
                <a:gd name="T20" fmla="*/ 34 w 68"/>
                <a:gd name="T21" fmla="*/ 0 h 71"/>
                <a:gd name="T22" fmla="*/ 0 w 68"/>
                <a:gd name="T23"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1">
                  <a:moveTo>
                    <a:pt x="0" y="32"/>
                  </a:moveTo>
                  <a:cubicBezTo>
                    <a:pt x="0" y="68"/>
                    <a:pt x="0" y="68"/>
                    <a:pt x="0" y="68"/>
                  </a:cubicBezTo>
                  <a:cubicBezTo>
                    <a:pt x="0" y="70"/>
                    <a:pt x="2" y="71"/>
                    <a:pt x="5" y="71"/>
                  </a:cubicBezTo>
                  <a:cubicBezTo>
                    <a:pt x="22" y="71"/>
                    <a:pt x="22" y="71"/>
                    <a:pt x="22" y="71"/>
                  </a:cubicBezTo>
                  <a:cubicBezTo>
                    <a:pt x="22" y="44"/>
                    <a:pt x="22" y="44"/>
                    <a:pt x="22" y="44"/>
                  </a:cubicBezTo>
                  <a:cubicBezTo>
                    <a:pt x="46" y="44"/>
                    <a:pt x="46" y="44"/>
                    <a:pt x="46" y="44"/>
                  </a:cubicBezTo>
                  <a:cubicBezTo>
                    <a:pt x="46" y="71"/>
                    <a:pt x="46" y="71"/>
                    <a:pt x="46" y="71"/>
                  </a:cubicBezTo>
                  <a:cubicBezTo>
                    <a:pt x="63" y="71"/>
                    <a:pt x="63" y="71"/>
                    <a:pt x="63" y="71"/>
                  </a:cubicBezTo>
                  <a:cubicBezTo>
                    <a:pt x="66" y="71"/>
                    <a:pt x="68" y="70"/>
                    <a:pt x="68" y="68"/>
                  </a:cubicBezTo>
                  <a:cubicBezTo>
                    <a:pt x="68" y="32"/>
                    <a:pt x="68" y="32"/>
                    <a:pt x="68" y="32"/>
                  </a:cubicBezTo>
                  <a:cubicBezTo>
                    <a:pt x="34" y="0"/>
                    <a:pt x="34" y="0"/>
                    <a:pt x="34" y="0"/>
                  </a:cubicBezTo>
                  <a:lnTo>
                    <a:pt x="0" y="32"/>
                  </a:lnTo>
                  <a:close/>
                </a:path>
              </a:pathLst>
            </a:custGeom>
            <a:solidFill>
              <a:schemeClr val="bg1"/>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grpSp>
      <p:grpSp>
        <p:nvGrpSpPr>
          <p:cNvPr id="15" name="组合 14"/>
          <p:cNvGrpSpPr/>
          <p:nvPr/>
        </p:nvGrpSpPr>
        <p:grpSpPr>
          <a:xfrm>
            <a:off x="593725" y="4211638"/>
            <a:ext cx="520700" cy="520700"/>
            <a:chOff x="1339850" y="2163763"/>
            <a:chExt cx="506413" cy="506412"/>
          </a:xfrm>
        </p:grpSpPr>
        <p:sp>
          <p:nvSpPr>
            <p:cNvPr id="16" name="Freeform 13"/>
            <p:cNvSpPr/>
            <p:nvPr/>
          </p:nvSpPr>
          <p:spPr bwMode="auto">
            <a:xfrm>
              <a:off x="1339850" y="2163763"/>
              <a:ext cx="506413" cy="506412"/>
            </a:xfrm>
            <a:custGeom>
              <a:avLst/>
              <a:gdLst>
                <a:gd name="T0" fmla="*/ 135 w 135"/>
                <a:gd name="T1" fmla="*/ 36 h 135"/>
                <a:gd name="T2" fmla="*/ 135 w 135"/>
                <a:gd name="T3" fmla="*/ 98 h 135"/>
                <a:gd name="T4" fmla="*/ 98 w 135"/>
                <a:gd name="T5" fmla="*/ 135 h 135"/>
                <a:gd name="T6" fmla="*/ 37 w 135"/>
                <a:gd name="T7" fmla="*/ 135 h 135"/>
                <a:gd name="T8" fmla="*/ 0 w 135"/>
                <a:gd name="T9" fmla="*/ 98 h 135"/>
                <a:gd name="T10" fmla="*/ 0 w 135"/>
                <a:gd name="T11" fmla="*/ 36 h 135"/>
                <a:gd name="T12" fmla="*/ 37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7" y="135"/>
                    <a:pt x="37" y="135"/>
                    <a:pt x="37" y="135"/>
                  </a:cubicBezTo>
                  <a:cubicBezTo>
                    <a:pt x="16" y="135"/>
                    <a:pt x="0" y="118"/>
                    <a:pt x="0" y="98"/>
                  </a:cubicBezTo>
                  <a:cubicBezTo>
                    <a:pt x="0" y="36"/>
                    <a:pt x="0" y="36"/>
                    <a:pt x="0" y="36"/>
                  </a:cubicBezTo>
                  <a:cubicBezTo>
                    <a:pt x="0" y="16"/>
                    <a:pt x="16" y="0"/>
                    <a:pt x="37" y="0"/>
                  </a:cubicBezTo>
                  <a:cubicBezTo>
                    <a:pt x="135" y="0"/>
                    <a:pt x="135" y="0"/>
                    <a:pt x="135" y="0"/>
                  </a:cubicBezTo>
                  <a:lnTo>
                    <a:pt x="135" y="36"/>
                  </a:lnTo>
                  <a:close/>
                </a:path>
              </a:pathLst>
            </a:custGeom>
            <a:solidFill>
              <a:schemeClr val="tx2">
                <a:lumMod val="50000"/>
                <a:lumOff val="50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sp>
          <p:nvSpPr>
            <p:cNvPr id="17" name="Freeform 14"/>
            <p:cNvSpPr/>
            <p:nvPr/>
          </p:nvSpPr>
          <p:spPr bwMode="auto">
            <a:xfrm>
              <a:off x="1500420" y="2276470"/>
              <a:ext cx="176009" cy="104988"/>
            </a:xfrm>
            <a:custGeom>
              <a:avLst/>
              <a:gdLst>
                <a:gd name="T0" fmla="*/ 111 w 111"/>
                <a:gd name="T1" fmla="*/ 0 h 66"/>
                <a:gd name="T2" fmla="*/ 55 w 111"/>
                <a:gd name="T3" fmla="*/ 0 h 66"/>
                <a:gd name="T4" fmla="*/ 55 w 111"/>
                <a:gd name="T5" fmla="*/ 54 h 66"/>
                <a:gd name="T6" fmla="*/ 14 w 111"/>
                <a:gd name="T7" fmla="*/ 54 h 66"/>
                <a:gd name="T8" fmla="*/ 14 w 111"/>
                <a:gd name="T9" fmla="*/ 0 h 66"/>
                <a:gd name="T10" fmla="*/ 0 w 111"/>
                <a:gd name="T11" fmla="*/ 0 h 66"/>
                <a:gd name="T12" fmla="*/ 0 w 111"/>
                <a:gd name="T13" fmla="*/ 66 h 66"/>
                <a:gd name="T14" fmla="*/ 111 w 111"/>
                <a:gd name="T15" fmla="*/ 66 h 66"/>
                <a:gd name="T16" fmla="*/ 111 w 111"/>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6">
                  <a:moveTo>
                    <a:pt x="111" y="0"/>
                  </a:moveTo>
                  <a:lnTo>
                    <a:pt x="55" y="0"/>
                  </a:lnTo>
                  <a:lnTo>
                    <a:pt x="55" y="54"/>
                  </a:lnTo>
                  <a:lnTo>
                    <a:pt x="14" y="54"/>
                  </a:lnTo>
                  <a:lnTo>
                    <a:pt x="14" y="0"/>
                  </a:lnTo>
                  <a:lnTo>
                    <a:pt x="0" y="0"/>
                  </a:lnTo>
                  <a:lnTo>
                    <a:pt x="0" y="66"/>
                  </a:lnTo>
                  <a:lnTo>
                    <a:pt x="111" y="66"/>
                  </a:lnTo>
                  <a:lnTo>
                    <a:pt x="111" y="0"/>
                  </a:ln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sp>
          <p:nvSpPr>
            <p:cNvPr id="18" name="Freeform 15"/>
            <p:cNvSpPr>
              <a:spLocks noEditPoints="1"/>
            </p:cNvSpPr>
            <p:nvPr/>
          </p:nvSpPr>
          <p:spPr bwMode="auto">
            <a:xfrm>
              <a:off x="1447926" y="2276470"/>
              <a:ext cx="288718" cy="277909"/>
            </a:xfrm>
            <a:custGeom>
              <a:avLst/>
              <a:gdLst>
                <a:gd name="T0" fmla="*/ 72 w 77"/>
                <a:gd name="T1" fmla="*/ 0 h 74"/>
                <a:gd name="T2" fmla="*/ 64 w 77"/>
                <a:gd name="T3" fmla="*/ 0 h 74"/>
                <a:gd name="T4" fmla="*/ 64 w 77"/>
                <a:gd name="T5" fmla="*/ 31 h 74"/>
                <a:gd name="T6" fmla="*/ 10 w 77"/>
                <a:gd name="T7" fmla="*/ 31 h 74"/>
                <a:gd name="T8" fmla="*/ 10 w 77"/>
                <a:gd name="T9" fmla="*/ 0 h 74"/>
                <a:gd name="T10" fmla="*/ 5 w 77"/>
                <a:gd name="T11" fmla="*/ 0 h 74"/>
                <a:gd name="T12" fmla="*/ 0 w 77"/>
                <a:gd name="T13" fmla="*/ 6 h 74"/>
                <a:gd name="T14" fmla="*/ 0 w 77"/>
                <a:gd name="T15" fmla="*/ 68 h 74"/>
                <a:gd name="T16" fmla="*/ 5 w 77"/>
                <a:gd name="T17" fmla="*/ 74 h 74"/>
                <a:gd name="T18" fmla="*/ 72 w 77"/>
                <a:gd name="T19" fmla="*/ 74 h 74"/>
                <a:gd name="T20" fmla="*/ 77 w 77"/>
                <a:gd name="T21" fmla="*/ 68 h 74"/>
                <a:gd name="T22" fmla="*/ 77 w 77"/>
                <a:gd name="T23" fmla="*/ 6 h 74"/>
                <a:gd name="T24" fmla="*/ 72 w 77"/>
                <a:gd name="T25" fmla="*/ 0 h 74"/>
                <a:gd name="T26" fmla="*/ 38 w 77"/>
                <a:gd name="T27" fmla="*/ 65 h 74"/>
                <a:gd name="T28" fmla="*/ 22 w 77"/>
                <a:gd name="T29" fmla="*/ 49 h 74"/>
                <a:gd name="T30" fmla="*/ 38 w 77"/>
                <a:gd name="T31" fmla="*/ 33 h 74"/>
                <a:gd name="T32" fmla="*/ 54 w 77"/>
                <a:gd name="T33" fmla="*/ 49 h 74"/>
                <a:gd name="T34" fmla="*/ 38 w 77"/>
                <a:gd name="T35"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4">
                  <a:moveTo>
                    <a:pt x="72" y="0"/>
                  </a:moveTo>
                  <a:cubicBezTo>
                    <a:pt x="64" y="0"/>
                    <a:pt x="64" y="0"/>
                    <a:pt x="64" y="0"/>
                  </a:cubicBezTo>
                  <a:cubicBezTo>
                    <a:pt x="64" y="31"/>
                    <a:pt x="64" y="31"/>
                    <a:pt x="64" y="31"/>
                  </a:cubicBezTo>
                  <a:cubicBezTo>
                    <a:pt x="10" y="31"/>
                    <a:pt x="10" y="31"/>
                    <a:pt x="10" y="31"/>
                  </a:cubicBezTo>
                  <a:cubicBezTo>
                    <a:pt x="10" y="0"/>
                    <a:pt x="10" y="0"/>
                    <a:pt x="10" y="0"/>
                  </a:cubicBezTo>
                  <a:cubicBezTo>
                    <a:pt x="5" y="0"/>
                    <a:pt x="5" y="0"/>
                    <a:pt x="5" y="0"/>
                  </a:cubicBezTo>
                  <a:cubicBezTo>
                    <a:pt x="2" y="0"/>
                    <a:pt x="0" y="3"/>
                    <a:pt x="0" y="6"/>
                  </a:cubicBezTo>
                  <a:cubicBezTo>
                    <a:pt x="0" y="68"/>
                    <a:pt x="0" y="68"/>
                    <a:pt x="0" y="68"/>
                  </a:cubicBezTo>
                  <a:cubicBezTo>
                    <a:pt x="0" y="72"/>
                    <a:pt x="2" y="74"/>
                    <a:pt x="5" y="74"/>
                  </a:cubicBezTo>
                  <a:cubicBezTo>
                    <a:pt x="72" y="74"/>
                    <a:pt x="72" y="74"/>
                    <a:pt x="72" y="74"/>
                  </a:cubicBezTo>
                  <a:cubicBezTo>
                    <a:pt x="75" y="74"/>
                    <a:pt x="77" y="72"/>
                    <a:pt x="77" y="68"/>
                  </a:cubicBezTo>
                  <a:cubicBezTo>
                    <a:pt x="77" y="6"/>
                    <a:pt x="77" y="6"/>
                    <a:pt x="77" y="6"/>
                  </a:cubicBezTo>
                  <a:cubicBezTo>
                    <a:pt x="77" y="3"/>
                    <a:pt x="75" y="0"/>
                    <a:pt x="72" y="0"/>
                  </a:cubicBezTo>
                  <a:close/>
                  <a:moveTo>
                    <a:pt x="38" y="65"/>
                  </a:moveTo>
                  <a:cubicBezTo>
                    <a:pt x="29" y="65"/>
                    <a:pt x="22" y="58"/>
                    <a:pt x="22" y="49"/>
                  </a:cubicBezTo>
                  <a:cubicBezTo>
                    <a:pt x="22" y="40"/>
                    <a:pt x="29" y="33"/>
                    <a:pt x="38" y="33"/>
                  </a:cubicBezTo>
                  <a:cubicBezTo>
                    <a:pt x="46" y="33"/>
                    <a:pt x="54" y="40"/>
                    <a:pt x="54" y="49"/>
                  </a:cubicBezTo>
                  <a:cubicBezTo>
                    <a:pt x="54" y="58"/>
                    <a:pt x="46" y="65"/>
                    <a:pt x="38" y="65"/>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sp>
          <p:nvSpPr>
            <p:cNvPr id="19" name="Oval 16"/>
            <p:cNvSpPr>
              <a:spLocks noChangeArrowheads="1"/>
            </p:cNvSpPr>
            <p:nvPr/>
          </p:nvSpPr>
          <p:spPr bwMode="auto">
            <a:xfrm>
              <a:off x="1549826" y="2420057"/>
              <a:ext cx="81829" cy="81828"/>
            </a:xfrm>
            <a:prstGeom prst="ellipse">
              <a:avLst/>
            </a:pr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grpSp>
      <p:grpSp>
        <p:nvGrpSpPr>
          <p:cNvPr id="20" name="组合 19"/>
          <p:cNvGrpSpPr/>
          <p:nvPr/>
        </p:nvGrpSpPr>
        <p:grpSpPr>
          <a:xfrm>
            <a:off x="600075" y="5019675"/>
            <a:ext cx="515938" cy="520700"/>
            <a:chOff x="5093055" y="2766720"/>
            <a:chExt cx="501650" cy="506413"/>
          </a:xfrm>
        </p:grpSpPr>
        <p:sp>
          <p:nvSpPr>
            <p:cNvPr id="21" name="Freeform 21"/>
            <p:cNvSpPr/>
            <p:nvPr/>
          </p:nvSpPr>
          <p:spPr bwMode="auto">
            <a:xfrm>
              <a:off x="5093055" y="2766720"/>
              <a:ext cx="501650" cy="506413"/>
            </a:xfrm>
            <a:custGeom>
              <a:avLst/>
              <a:gdLst>
                <a:gd name="T0" fmla="*/ 134 w 134"/>
                <a:gd name="T1" fmla="*/ 37 h 135"/>
                <a:gd name="T2" fmla="*/ 134 w 134"/>
                <a:gd name="T3" fmla="*/ 98 h 135"/>
                <a:gd name="T4" fmla="*/ 98 w 134"/>
                <a:gd name="T5" fmla="*/ 135 h 135"/>
                <a:gd name="T6" fmla="*/ 36 w 134"/>
                <a:gd name="T7" fmla="*/ 135 h 135"/>
                <a:gd name="T8" fmla="*/ 0 w 134"/>
                <a:gd name="T9" fmla="*/ 98 h 135"/>
                <a:gd name="T10" fmla="*/ 0 w 134"/>
                <a:gd name="T11" fmla="*/ 37 h 135"/>
                <a:gd name="T12" fmla="*/ 36 w 134"/>
                <a:gd name="T13" fmla="*/ 0 h 135"/>
                <a:gd name="T14" fmla="*/ 134 w 134"/>
                <a:gd name="T15" fmla="*/ 0 h 135"/>
                <a:gd name="T16" fmla="*/ 134 w 134"/>
                <a:gd name="T17" fmla="*/ 3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7"/>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7"/>
                    <a:pt x="0" y="37"/>
                    <a:pt x="0" y="37"/>
                  </a:cubicBezTo>
                  <a:cubicBezTo>
                    <a:pt x="0" y="16"/>
                    <a:pt x="16" y="0"/>
                    <a:pt x="36" y="0"/>
                  </a:cubicBezTo>
                  <a:cubicBezTo>
                    <a:pt x="134" y="0"/>
                    <a:pt x="134" y="0"/>
                    <a:pt x="134" y="0"/>
                  </a:cubicBezTo>
                  <a:lnTo>
                    <a:pt x="134" y="37"/>
                  </a:lnTo>
                  <a:close/>
                </a:path>
              </a:pathLst>
            </a:custGeom>
            <a:solidFill>
              <a:srgbClr val="5FCAC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dirty="0">
                <a:ln>
                  <a:noFill/>
                </a:ln>
                <a:solidFill>
                  <a:sysClr val="windowText" lastClr="000000"/>
                </a:solidFill>
                <a:effectLst/>
                <a:uLnTx/>
                <a:uFillTx/>
                <a:latin typeface="+mn-lt"/>
                <a:ea typeface="+mn-ea"/>
                <a:cs typeface="+mn-cs"/>
              </a:endParaRPr>
            </a:p>
          </p:txBody>
        </p:sp>
        <p:sp>
          <p:nvSpPr>
            <p:cNvPr id="22" name="Oval 22"/>
            <p:cNvSpPr>
              <a:spLocks noChangeArrowheads="1"/>
            </p:cNvSpPr>
            <p:nvPr/>
          </p:nvSpPr>
          <p:spPr bwMode="auto">
            <a:xfrm>
              <a:off x="5201103" y="3069333"/>
              <a:ext cx="98786" cy="98812"/>
            </a:xfrm>
            <a:prstGeom prst="ellipse">
              <a:avLst/>
            </a:pr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sp>
          <p:nvSpPr>
            <p:cNvPr id="23" name="Freeform 23"/>
            <p:cNvSpPr/>
            <p:nvPr/>
          </p:nvSpPr>
          <p:spPr bwMode="auto">
            <a:xfrm>
              <a:off x="5211908" y="2970520"/>
              <a:ext cx="180593" cy="179097"/>
            </a:xfrm>
            <a:custGeom>
              <a:avLst/>
              <a:gdLst>
                <a:gd name="T0" fmla="*/ 6 w 48"/>
                <a:gd name="T1" fmla="*/ 0 h 48"/>
                <a:gd name="T2" fmla="*/ 0 w 48"/>
                <a:gd name="T3" fmla="*/ 7 h 48"/>
                <a:gd name="T4" fmla="*/ 6 w 48"/>
                <a:gd name="T5" fmla="*/ 13 h 48"/>
                <a:gd name="T6" fmla="*/ 35 w 48"/>
                <a:gd name="T7" fmla="*/ 42 h 48"/>
                <a:gd name="T8" fmla="*/ 42 w 48"/>
                <a:gd name="T9" fmla="*/ 48 h 48"/>
                <a:gd name="T10" fmla="*/ 48 w 48"/>
                <a:gd name="T11" fmla="*/ 42 h 48"/>
                <a:gd name="T12" fmla="*/ 6 w 4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48" h="48">
                  <a:moveTo>
                    <a:pt x="6" y="0"/>
                  </a:moveTo>
                  <a:cubicBezTo>
                    <a:pt x="3" y="0"/>
                    <a:pt x="0" y="3"/>
                    <a:pt x="0" y="7"/>
                  </a:cubicBezTo>
                  <a:cubicBezTo>
                    <a:pt x="0" y="10"/>
                    <a:pt x="3" y="13"/>
                    <a:pt x="6" y="13"/>
                  </a:cubicBezTo>
                  <a:cubicBezTo>
                    <a:pt x="22" y="13"/>
                    <a:pt x="35" y="26"/>
                    <a:pt x="35" y="42"/>
                  </a:cubicBezTo>
                  <a:cubicBezTo>
                    <a:pt x="35" y="45"/>
                    <a:pt x="38" y="48"/>
                    <a:pt x="42" y="48"/>
                  </a:cubicBezTo>
                  <a:cubicBezTo>
                    <a:pt x="45" y="48"/>
                    <a:pt x="48" y="45"/>
                    <a:pt x="48" y="42"/>
                  </a:cubicBezTo>
                  <a:cubicBezTo>
                    <a:pt x="48" y="19"/>
                    <a:pt x="29" y="0"/>
                    <a:pt x="6" y="0"/>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sp>
          <p:nvSpPr>
            <p:cNvPr id="24" name="Freeform 24"/>
            <p:cNvSpPr/>
            <p:nvPr/>
          </p:nvSpPr>
          <p:spPr bwMode="auto">
            <a:xfrm>
              <a:off x="5211908" y="2871708"/>
              <a:ext cx="277837" cy="277910"/>
            </a:xfrm>
            <a:custGeom>
              <a:avLst/>
              <a:gdLst>
                <a:gd name="T0" fmla="*/ 6 w 74"/>
                <a:gd name="T1" fmla="*/ 0 h 74"/>
                <a:gd name="T2" fmla="*/ 0 w 74"/>
                <a:gd name="T3" fmla="*/ 7 h 74"/>
                <a:gd name="T4" fmla="*/ 6 w 74"/>
                <a:gd name="T5" fmla="*/ 13 h 74"/>
                <a:gd name="T6" fmla="*/ 61 w 74"/>
                <a:gd name="T7" fmla="*/ 68 h 74"/>
                <a:gd name="T8" fmla="*/ 68 w 74"/>
                <a:gd name="T9" fmla="*/ 74 h 74"/>
                <a:gd name="T10" fmla="*/ 74 w 74"/>
                <a:gd name="T11" fmla="*/ 68 h 74"/>
                <a:gd name="T12" fmla="*/ 6 w 74"/>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74" h="74">
                  <a:moveTo>
                    <a:pt x="6" y="0"/>
                  </a:moveTo>
                  <a:cubicBezTo>
                    <a:pt x="3" y="0"/>
                    <a:pt x="0" y="3"/>
                    <a:pt x="0" y="7"/>
                  </a:cubicBezTo>
                  <a:cubicBezTo>
                    <a:pt x="0" y="10"/>
                    <a:pt x="3" y="13"/>
                    <a:pt x="6" y="13"/>
                  </a:cubicBezTo>
                  <a:cubicBezTo>
                    <a:pt x="37" y="13"/>
                    <a:pt x="61" y="38"/>
                    <a:pt x="61" y="68"/>
                  </a:cubicBezTo>
                  <a:cubicBezTo>
                    <a:pt x="61" y="71"/>
                    <a:pt x="64" y="74"/>
                    <a:pt x="68" y="74"/>
                  </a:cubicBezTo>
                  <a:cubicBezTo>
                    <a:pt x="71" y="74"/>
                    <a:pt x="74" y="71"/>
                    <a:pt x="74" y="68"/>
                  </a:cubicBezTo>
                  <a:cubicBezTo>
                    <a:pt x="74" y="30"/>
                    <a:pt x="44" y="0"/>
                    <a:pt x="6" y="0"/>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grpSp>
      <p:grpSp>
        <p:nvGrpSpPr>
          <p:cNvPr id="25" name="组合 24"/>
          <p:cNvGrpSpPr/>
          <p:nvPr/>
        </p:nvGrpSpPr>
        <p:grpSpPr>
          <a:xfrm>
            <a:off x="593725" y="5861050"/>
            <a:ext cx="520700" cy="520700"/>
            <a:chOff x="6137274" y="1900165"/>
            <a:chExt cx="506413" cy="506412"/>
          </a:xfrm>
        </p:grpSpPr>
        <p:sp>
          <p:nvSpPr>
            <p:cNvPr id="26" name="Freeform 29"/>
            <p:cNvSpPr/>
            <p:nvPr/>
          </p:nvSpPr>
          <p:spPr bwMode="auto">
            <a:xfrm>
              <a:off x="6137274" y="1900165"/>
              <a:ext cx="506413" cy="506412"/>
            </a:xfrm>
            <a:custGeom>
              <a:avLst/>
              <a:gdLst>
                <a:gd name="T0" fmla="*/ 135 w 135"/>
                <a:gd name="T1" fmla="*/ 36 h 135"/>
                <a:gd name="T2" fmla="*/ 135 w 135"/>
                <a:gd name="T3" fmla="*/ 98 h 135"/>
                <a:gd name="T4" fmla="*/ 98 w 135"/>
                <a:gd name="T5" fmla="*/ 135 h 135"/>
                <a:gd name="T6" fmla="*/ 36 w 135"/>
                <a:gd name="T7" fmla="*/ 135 h 135"/>
                <a:gd name="T8" fmla="*/ 0 w 135"/>
                <a:gd name="T9" fmla="*/ 98 h 135"/>
                <a:gd name="T10" fmla="*/ 0 w 135"/>
                <a:gd name="T11" fmla="*/ 36 h 135"/>
                <a:gd name="T12" fmla="*/ 36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5" y="0"/>
                    <a:pt x="135" y="0"/>
                    <a:pt x="135" y="0"/>
                  </a:cubicBezTo>
                  <a:lnTo>
                    <a:pt x="135" y="36"/>
                  </a:lnTo>
                  <a:close/>
                </a:path>
              </a:pathLst>
            </a:custGeom>
            <a:solidFill>
              <a:schemeClr val="accent1">
                <a:lumMod val="60000"/>
                <a:lumOff val="40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sp>
          <p:nvSpPr>
            <p:cNvPr id="27" name="Freeform 30"/>
            <p:cNvSpPr>
              <a:spLocks noEditPoints="1"/>
            </p:cNvSpPr>
            <p:nvPr/>
          </p:nvSpPr>
          <p:spPr bwMode="auto">
            <a:xfrm>
              <a:off x="6208295" y="1978906"/>
              <a:ext cx="327316" cy="325771"/>
            </a:xfrm>
            <a:custGeom>
              <a:avLst/>
              <a:gdLst>
                <a:gd name="T0" fmla="*/ 64 w 87"/>
                <a:gd name="T1" fmla="*/ 14 h 87"/>
                <a:gd name="T2" fmla="*/ 14 w 87"/>
                <a:gd name="T3" fmla="*/ 14 h 87"/>
                <a:gd name="T4" fmla="*/ 14 w 87"/>
                <a:gd name="T5" fmla="*/ 64 h 87"/>
                <a:gd name="T6" fmla="*/ 59 w 87"/>
                <a:gd name="T7" fmla="*/ 69 h 87"/>
                <a:gd name="T8" fmla="*/ 74 w 87"/>
                <a:gd name="T9" fmla="*/ 84 h 87"/>
                <a:gd name="T10" fmla="*/ 83 w 87"/>
                <a:gd name="T11" fmla="*/ 84 h 87"/>
                <a:gd name="T12" fmla="*/ 84 w 87"/>
                <a:gd name="T13" fmla="*/ 83 h 87"/>
                <a:gd name="T14" fmla="*/ 84 w 87"/>
                <a:gd name="T15" fmla="*/ 74 h 87"/>
                <a:gd name="T16" fmla="*/ 69 w 87"/>
                <a:gd name="T17" fmla="*/ 59 h 87"/>
                <a:gd name="T18" fmla="*/ 64 w 87"/>
                <a:gd name="T19" fmla="*/ 14 h 87"/>
                <a:gd name="T20" fmla="*/ 58 w 87"/>
                <a:gd name="T21" fmla="*/ 58 h 87"/>
                <a:gd name="T22" fmla="*/ 20 w 87"/>
                <a:gd name="T23" fmla="*/ 58 h 87"/>
                <a:gd name="T24" fmla="*/ 20 w 87"/>
                <a:gd name="T25" fmla="*/ 21 h 87"/>
                <a:gd name="T26" fmla="*/ 58 w 87"/>
                <a:gd name="T27" fmla="*/ 21 h 87"/>
                <a:gd name="T28" fmla="*/ 58 w 87"/>
                <a:gd name="T29"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 h="87">
                  <a:moveTo>
                    <a:pt x="64" y="14"/>
                  </a:moveTo>
                  <a:cubicBezTo>
                    <a:pt x="50" y="0"/>
                    <a:pt x="28" y="0"/>
                    <a:pt x="14" y="14"/>
                  </a:cubicBezTo>
                  <a:cubicBezTo>
                    <a:pt x="0" y="28"/>
                    <a:pt x="0" y="51"/>
                    <a:pt x="14" y="64"/>
                  </a:cubicBezTo>
                  <a:cubicBezTo>
                    <a:pt x="26" y="77"/>
                    <a:pt x="45" y="78"/>
                    <a:pt x="59" y="69"/>
                  </a:cubicBezTo>
                  <a:cubicBezTo>
                    <a:pt x="74" y="84"/>
                    <a:pt x="74" y="84"/>
                    <a:pt x="74" y="84"/>
                  </a:cubicBezTo>
                  <a:cubicBezTo>
                    <a:pt x="76" y="87"/>
                    <a:pt x="80" y="87"/>
                    <a:pt x="83" y="84"/>
                  </a:cubicBezTo>
                  <a:cubicBezTo>
                    <a:pt x="84" y="83"/>
                    <a:pt x="84" y="83"/>
                    <a:pt x="84" y="83"/>
                  </a:cubicBezTo>
                  <a:cubicBezTo>
                    <a:pt x="87" y="81"/>
                    <a:pt x="87" y="77"/>
                    <a:pt x="84" y="74"/>
                  </a:cubicBezTo>
                  <a:cubicBezTo>
                    <a:pt x="69" y="59"/>
                    <a:pt x="69" y="59"/>
                    <a:pt x="69" y="59"/>
                  </a:cubicBezTo>
                  <a:cubicBezTo>
                    <a:pt x="78" y="45"/>
                    <a:pt x="76" y="26"/>
                    <a:pt x="64" y="14"/>
                  </a:cubicBezTo>
                  <a:close/>
                  <a:moveTo>
                    <a:pt x="58" y="58"/>
                  </a:moveTo>
                  <a:cubicBezTo>
                    <a:pt x="47" y="68"/>
                    <a:pt x="31" y="68"/>
                    <a:pt x="20" y="58"/>
                  </a:cubicBezTo>
                  <a:cubicBezTo>
                    <a:pt x="10" y="48"/>
                    <a:pt x="10" y="31"/>
                    <a:pt x="20" y="21"/>
                  </a:cubicBezTo>
                  <a:cubicBezTo>
                    <a:pt x="31" y="10"/>
                    <a:pt x="47" y="10"/>
                    <a:pt x="58" y="21"/>
                  </a:cubicBezTo>
                  <a:cubicBezTo>
                    <a:pt x="68" y="31"/>
                    <a:pt x="68" y="48"/>
                    <a:pt x="58" y="58"/>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cs"/>
              </a:endParaRPr>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42" fill="hold" grpId="0" nodeType="clickEffect">
                                  <p:stCondLst>
                                    <p:cond delay="0"/>
                                  </p:stCondLst>
                                  <p:childTnLst>
                                    <p:set>
                                      <p:cBhvr>
                                        <p:cTn id="6" dur="1" fill="hold">
                                          <p:stCondLst>
                                            <p:cond delay="0"/>
                                          </p:stCondLst>
                                        </p:cTn>
                                        <p:tgtEl>
                                          <p:spTgt spid="583682"/>
                                        </p:tgtEl>
                                        <p:attrNameLst>
                                          <p:attrName>style.visibility</p:attrName>
                                        </p:attrNameLst>
                                      </p:cBhvr>
                                      <p:to>
                                        <p:strVal val="visible"/>
                                      </p:to>
                                    </p:set>
                                    <p:animEffect transition="in" filter="barn(outHorizontal)">
                                      <p:cBhvr>
                                        <p:cTn id="7" dur="500"/>
                                        <p:tgtEl>
                                          <p:spTgt spid="58368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583683"/>
                                        </p:tgtEl>
                                        <p:attrNameLst>
                                          <p:attrName>style.visibility</p:attrName>
                                        </p:attrNameLst>
                                      </p:cBhvr>
                                      <p:to>
                                        <p:strVal val="visible"/>
                                      </p:to>
                                    </p:set>
                                    <p:animEffect transition="in" filter="wipe(left)">
                                      <p:cBhvr>
                                        <p:cTn id="18" dur="500"/>
                                        <p:tgtEl>
                                          <p:spTgt spid="583683"/>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wipe(left)">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wipe(left)">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wipe(left)">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583686"/>
                                        </p:tgtEl>
                                        <p:attrNameLst>
                                          <p:attrName>style.visibility</p:attrName>
                                        </p:attrNameLst>
                                      </p:cBhvr>
                                      <p:to>
                                        <p:strVal val="visible"/>
                                      </p:to>
                                    </p:set>
                                    <p:animEffect transition="in" filter="wipe(left)">
                                      <p:cBhvr>
                                        <p:cTn id="38" dur="500"/>
                                        <p:tgtEl>
                                          <p:spTgt spid="583686"/>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nodeType="click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left)">
                                      <p:cBhvr>
                                        <p:cTn id="43" dur="500"/>
                                        <p:tgtEl>
                                          <p:spTgt spid="20"/>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583685"/>
                                        </p:tgtEl>
                                        <p:attrNameLst>
                                          <p:attrName>style.visibility</p:attrName>
                                        </p:attrNameLst>
                                      </p:cBhvr>
                                      <p:to>
                                        <p:strVal val="visible"/>
                                      </p:to>
                                    </p:set>
                                    <p:animEffect transition="in" filter="wipe(left)">
                                      <p:cBhvr>
                                        <p:cTn id="48" dur="500"/>
                                        <p:tgtEl>
                                          <p:spTgt spid="583685"/>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wipe(left)">
                                      <p:cBhvr>
                                        <p:cTn id="53" dur="500"/>
                                        <p:tgtEl>
                                          <p:spTgt spid="25"/>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583684"/>
                                        </p:tgtEl>
                                        <p:attrNameLst>
                                          <p:attrName>style.visibility</p:attrName>
                                        </p:attrNameLst>
                                      </p:cBhvr>
                                      <p:to>
                                        <p:strVal val="visible"/>
                                      </p:to>
                                    </p:set>
                                    <p:animEffect transition="in" filter="wipe(left)">
                                      <p:cBhvr>
                                        <p:cTn id="58" dur="500"/>
                                        <p:tgtEl>
                                          <p:spTgt spid="5836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682" grpId="0"/>
      <p:bldP spid="583683" grpId="0"/>
      <p:bldP spid="583684" grpId="0"/>
      <p:bldP spid="583685" grpId="0"/>
      <p:bldP spid="583686" grpId="0"/>
      <p:bldP spid="9"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Text Box 1026"/>
          <p:cNvSpPr txBox="1">
            <a:spLocks noChangeArrowheads="1"/>
          </p:cNvSpPr>
          <p:nvPr/>
        </p:nvSpPr>
        <p:spPr bwMode="auto">
          <a:xfrm>
            <a:off x="584200" y="1951038"/>
            <a:ext cx="7732713" cy="2144713"/>
          </a:xfrm>
          <a:prstGeom prst="roundRect">
            <a:avLst>
              <a:gd name="adj" fmla="val 6518"/>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假设“数据块”的大小为200，即每一次访问外存可以读/写200个记录。</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则对于10,000个记录，处理一遍需访问外存100次(读和写各50次)。</a:t>
            </a:r>
          </a:p>
        </p:txBody>
      </p:sp>
      <p:sp>
        <p:nvSpPr>
          <p:cNvPr id="584707" name="Rectangle 1027"/>
          <p:cNvSpPr>
            <a:spLocks noChangeArrowheads="1"/>
          </p:cNvSpPr>
          <p:nvPr/>
        </p:nvSpPr>
        <p:spPr bwMode="auto">
          <a:xfrm>
            <a:off x="582613" y="1125538"/>
            <a:ext cx="7950200" cy="5715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分析上述外排过程中访问外存(对外存进行读/写)的次数：</a:t>
            </a:r>
          </a:p>
        </p:txBody>
      </p:sp>
      <p:sp>
        <p:nvSpPr>
          <p:cNvPr id="584708" name="Rectangle 1028"/>
          <p:cNvSpPr>
            <a:spLocks noChangeArrowheads="1"/>
          </p:cNvSpPr>
          <p:nvPr/>
        </p:nvSpPr>
        <p:spPr bwMode="auto">
          <a:xfrm>
            <a:off x="584200" y="4360863"/>
            <a:ext cx="7732713" cy="1660525"/>
          </a:xfrm>
          <a:prstGeom prst="rect">
            <a:avLst/>
          </a:prstGeom>
          <a:noFill/>
          <a:ln w="9525">
            <a:solidFill>
              <a:srgbClr val="FF0000"/>
            </a:solidFill>
            <a:miter lim="800000"/>
          </a:ln>
        </p:spPr>
        <p:txBody>
          <a:bodyPr/>
          <a:lstStyle>
            <a:lvl1pPr marL="342900" indent="-342900"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762000" rtl="0" eaLnBrk="0" fontAlgn="base" latinLnBrk="0" hangingPunct="0">
              <a:lnSpc>
                <a:spcPct val="120000"/>
              </a:lnSpc>
              <a:spcBef>
                <a:spcPct val="20000"/>
              </a:spcBef>
              <a:spcAft>
                <a:spcPct val="0"/>
              </a:spcAft>
              <a:buClr>
                <a:srgbClr val="FF0000"/>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1)求得10个</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初始归并段</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需访问外存100次;</a:t>
            </a:r>
          </a:p>
          <a:p>
            <a:pPr marL="342900" marR="0" lvl="0" indent="-342900" algn="l" defTabSz="762000" rtl="0" eaLnBrk="0" fontAlgn="base" latinLnBrk="0" hangingPunct="0">
              <a:lnSpc>
                <a:spcPct val="120000"/>
              </a:lnSpc>
              <a:spcBef>
                <a:spcPct val="20000"/>
              </a:spcBef>
              <a:spcAft>
                <a:spcPct val="0"/>
              </a:spcAft>
              <a:buClr>
                <a:srgbClr val="FF0000"/>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2)每进行</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一趟归并</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需访问外存100次;</a:t>
            </a:r>
          </a:p>
          <a:p>
            <a:pPr marL="342900" marR="0" lvl="0" indent="-342900" algn="l" defTabSz="762000" rtl="0" eaLnBrk="0" fontAlgn="base" latinLnBrk="0" hangingPunct="0">
              <a:lnSpc>
                <a:spcPct val="120000"/>
              </a:lnSpc>
              <a:spcBef>
                <a:spcPct val="20000"/>
              </a:spcBef>
              <a:spcAft>
                <a:spcPct val="0"/>
              </a:spcAft>
              <a:buClr>
                <a:srgbClr val="FF0000"/>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rgbClr val="0000CC"/>
                </a:solidFill>
                <a:effectLst/>
                <a:uLnTx/>
                <a:uFillTx/>
                <a:latin typeface="+mn-lt"/>
                <a:ea typeface="+mn-ea"/>
                <a:cs typeface="+mn-ea"/>
                <a:sym typeface="+mn-lt"/>
              </a:rPr>
              <a:t>总计访问外存 100 + 4 </a:t>
            </a:r>
            <a:r>
              <a:rPr kumimoji="0" lang="zh-CN" altLang="en-US" sz="2400" b="1" i="0" u="none" strike="noStrike" kern="1200" cap="none" spc="0" normalizeH="0" baseline="0" noProof="0" dirty="0">
                <a:ln>
                  <a:noFill/>
                </a:ln>
                <a:solidFill>
                  <a:srgbClr val="0000CC"/>
                </a:solidFill>
                <a:effectLst/>
                <a:uLnTx/>
                <a:uFillTx/>
                <a:latin typeface="宋体" panose="02010600030101010101" pitchFamily="2" charset="-122"/>
                <a:ea typeface="楷体_GB2312" pitchFamily="49" charset="-122"/>
                <a:cs typeface="+mn-cs"/>
                <a:sym typeface="Symbol" panose="05050102010706020507" pitchFamily="18" charset="2"/>
              </a:rPr>
              <a:t></a:t>
            </a:r>
            <a:r>
              <a:rPr kumimoji="0" lang="zh-CN" altLang="en-US" sz="2400" b="0" i="0" u="none" strike="noStrike" kern="1200" cap="none" spc="0" normalizeH="0" baseline="0" noProof="0" dirty="0">
                <a:ln>
                  <a:noFill/>
                </a:ln>
                <a:solidFill>
                  <a:srgbClr val="0000CC"/>
                </a:solidFill>
                <a:effectLst/>
                <a:uLnTx/>
                <a:uFillTx/>
                <a:latin typeface="+mn-lt"/>
                <a:ea typeface="+mn-ea"/>
                <a:cs typeface="+mn-ea"/>
                <a:sym typeface="+mn-lt"/>
              </a:rPr>
              <a:t> 100 = 500次</a:t>
            </a:r>
          </a:p>
        </p:txBody>
      </p:sp>
      <p:sp>
        <p:nvSpPr>
          <p:cNvPr id="6" name="Rectangle 6"/>
          <p:cNvSpPr>
            <a:spLocks noChangeArrowheads="1"/>
          </p:cNvSpPr>
          <p:nvPr/>
        </p:nvSpPr>
        <p:spPr bwMode="auto">
          <a:xfrm>
            <a:off x="784225" y="1365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外部排序的基本方法</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 fill="hold" grpId="0" nodeType="clickEffect">
                                  <p:stCondLst>
                                    <p:cond delay="0"/>
                                  </p:stCondLst>
                                  <p:childTnLst>
                                    <p:set>
                                      <p:cBhvr>
                                        <p:cTn id="6" dur="1" fill="hold">
                                          <p:stCondLst>
                                            <p:cond delay="0"/>
                                          </p:stCondLst>
                                        </p:cTn>
                                        <p:tgtEl>
                                          <p:spTgt spid="584707"/>
                                        </p:tgtEl>
                                        <p:attrNameLst>
                                          <p:attrName>style.visibility</p:attrName>
                                        </p:attrNameLst>
                                      </p:cBhvr>
                                      <p:to>
                                        <p:strVal val="visible"/>
                                      </p:to>
                                    </p:set>
                                    <p:anim calcmode="lin" valueType="num">
                                      <p:cBhvr>
                                        <p:cTn id="7" dur="500" fill="hold"/>
                                        <p:tgtEl>
                                          <p:spTgt spid="584707"/>
                                        </p:tgtEl>
                                        <p:attrNameLst>
                                          <p:attrName>ppt_x</p:attrName>
                                        </p:attrNameLst>
                                      </p:cBhvr>
                                      <p:tavLst>
                                        <p:tav tm="0">
                                          <p:val>
                                            <p:strVal val="#ppt_x"/>
                                          </p:val>
                                        </p:tav>
                                        <p:tav tm="100000">
                                          <p:val>
                                            <p:strVal val="#ppt_x"/>
                                          </p:val>
                                        </p:tav>
                                      </p:tavLst>
                                    </p:anim>
                                    <p:anim calcmode="lin" valueType="num">
                                      <p:cBhvr>
                                        <p:cTn id="8" dur="500" fill="hold"/>
                                        <p:tgtEl>
                                          <p:spTgt spid="584707"/>
                                        </p:tgtEl>
                                        <p:attrNameLst>
                                          <p:attrName>ppt_y</p:attrName>
                                        </p:attrNameLst>
                                      </p:cBhvr>
                                      <p:tavLst>
                                        <p:tav tm="0">
                                          <p:val>
                                            <p:strVal val="#ppt_y-#ppt_h/2"/>
                                          </p:val>
                                        </p:tav>
                                        <p:tav tm="100000">
                                          <p:val>
                                            <p:strVal val="#ppt_y"/>
                                          </p:val>
                                        </p:tav>
                                      </p:tavLst>
                                    </p:anim>
                                    <p:anim calcmode="lin" valueType="num">
                                      <p:cBhvr>
                                        <p:cTn id="9" dur="500" fill="hold"/>
                                        <p:tgtEl>
                                          <p:spTgt spid="584707"/>
                                        </p:tgtEl>
                                        <p:attrNameLst>
                                          <p:attrName>ppt_w</p:attrName>
                                        </p:attrNameLst>
                                      </p:cBhvr>
                                      <p:tavLst>
                                        <p:tav tm="0">
                                          <p:val>
                                            <p:strVal val="#ppt_w"/>
                                          </p:val>
                                        </p:tav>
                                        <p:tav tm="100000">
                                          <p:val>
                                            <p:strVal val="#ppt_w"/>
                                          </p:val>
                                        </p:tav>
                                      </p:tavLst>
                                    </p:anim>
                                    <p:anim calcmode="lin" valueType="num">
                                      <p:cBhvr>
                                        <p:cTn id="10" dur="500" fill="hold"/>
                                        <p:tgtEl>
                                          <p:spTgt spid="584707"/>
                                        </p:tgtEl>
                                        <p:attrNameLst>
                                          <p:attrName>ppt_h</p:attrName>
                                        </p:attrNameLst>
                                      </p:cBhvr>
                                      <p:tavLst>
                                        <p:tav tm="0">
                                          <p:val>
                                            <p:fltVal val="0"/>
                                          </p:val>
                                        </p:tav>
                                        <p:tav tm="100000">
                                          <p:val>
                                            <p:strVal val="#ppt_h"/>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6" fill="hold" grpId="0" nodeType="clickEffect">
                                  <p:stCondLst>
                                    <p:cond delay="0"/>
                                  </p:stCondLst>
                                  <p:childTnLst>
                                    <p:set>
                                      <p:cBhvr>
                                        <p:cTn id="14" dur="1" fill="hold">
                                          <p:stCondLst>
                                            <p:cond delay="0"/>
                                          </p:stCondLst>
                                        </p:cTn>
                                        <p:tgtEl>
                                          <p:spTgt spid="584706"/>
                                        </p:tgtEl>
                                        <p:attrNameLst>
                                          <p:attrName>style.visibility</p:attrName>
                                        </p:attrNameLst>
                                      </p:cBhvr>
                                      <p:to>
                                        <p:strVal val="visible"/>
                                      </p:to>
                                    </p:set>
                                    <p:anim calcmode="lin" valueType="num">
                                      <p:cBhvr additive="base">
                                        <p:cTn id="15" dur="500" fill="hold"/>
                                        <p:tgtEl>
                                          <p:spTgt spid="584706"/>
                                        </p:tgtEl>
                                        <p:attrNameLst>
                                          <p:attrName>ppt_x</p:attrName>
                                        </p:attrNameLst>
                                      </p:cBhvr>
                                      <p:tavLst>
                                        <p:tav tm="0">
                                          <p:val>
                                            <p:strVal val="1+#ppt_w/2"/>
                                          </p:val>
                                        </p:tav>
                                        <p:tav tm="100000">
                                          <p:val>
                                            <p:strVal val="#ppt_x"/>
                                          </p:val>
                                        </p:tav>
                                      </p:tavLst>
                                    </p:anim>
                                    <p:anim calcmode="lin" valueType="num">
                                      <p:cBhvr additive="base">
                                        <p:cTn id="16" dur="500" fill="hold"/>
                                        <p:tgtEl>
                                          <p:spTgt spid="584706"/>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7" presetClass="entr" presetSubtype="8" fill="hold" grpId="0" nodeType="clickEffect">
                                  <p:stCondLst>
                                    <p:cond delay="0"/>
                                  </p:stCondLst>
                                  <p:childTnLst>
                                    <p:set>
                                      <p:cBhvr>
                                        <p:cTn id="20" dur="1" fill="hold">
                                          <p:stCondLst>
                                            <p:cond delay="0"/>
                                          </p:stCondLst>
                                        </p:cTn>
                                        <p:tgtEl>
                                          <p:spTgt spid="584708">
                                            <p:bg/>
                                          </p:spTgt>
                                        </p:tgtEl>
                                        <p:attrNameLst>
                                          <p:attrName>style.visibility</p:attrName>
                                        </p:attrNameLst>
                                      </p:cBhvr>
                                      <p:to>
                                        <p:strVal val="visible"/>
                                      </p:to>
                                    </p:set>
                                    <p:anim calcmode="lin" valueType="num">
                                      <p:cBhvr>
                                        <p:cTn id="21" dur="500" fill="hold"/>
                                        <p:tgtEl>
                                          <p:spTgt spid="584708">
                                            <p:bg/>
                                          </p:spTgt>
                                        </p:tgtEl>
                                        <p:attrNameLst>
                                          <p:attrName>ppt_x</p:attrName>
                                        </p:attrNameLst>
                                      </p:cBhvr>
                                      <p:tavLst>
                                        <p:tav tm="0">
                                          <p:val>
                                            <p:strVal val="#ppt_x-#ppt_w/2"/>
                                          </p:val>
                                        </p:tav>
                                        <p:tav tm="100000">
                                          <p:val>
                                            <p:strVal val="#ppt_x"/>
                                          </p:val>
                                        </p:tav>
                                      </p:tavLst>
                                    </p:anim>
                                    <p:anim calcmode="lin" valueType="num">
                                      <p:cBhvr>
                                        <p:cTn id="22" dur="500" fill="hold"/>
                                        <p:tgtEl>
                                          <p:spTgt spid="584708">
                                            <p:bg/>
                                          </p:spTgt>
                                        </p:tgtEl>
                                        <p:attrNameLst>
                                          <p:attrName>ppt_y</p:attrName>
                                        </p:attrNameLst>
                                      </p:cBhvr>
                                      <p:tavLst>
                                        <p:tav tm="0">
                                          <p:val>
                                            <p:strVal val="#ppt_y"/>
                                          </p:val>
                                        </p:tav>
                                        <p:tav tm="100000">
                                          <p:val>
                                            <p:strVal val="#ppt_y"/>
                                          </p:val>
                                        </p:tav>
                                      </p:tavLst>
                                    </p:anim>
                                    <p:anim calcmode="lin" valueType="num">
                                      <p:cBhvr>
                                        <p:cTn id="23" dur="500" fill="hold"/>
                                        <p:tgtEl>
                                          <p:spTgt spid="584708">
                                            <p:bg/>
                                          </p:spTgt>
                                        </p:tgtEl>
                                        <p:attrNameLst>
                                          <p:attrName>ppt_w</p:attrName>
                                        </p:attrNameLst>
                                      </p:cBhvr>
                                      <p:tavLst>
                                        <p:tav tm="0">
                                          <p:val>
                                            <p:fltVal val="0"/>
                                          </p:val>
                                        </p:tav>
                                        <p:tav tm="100000">
                                          <p:val>
                                            <p:strVal val="#ppt_w"/>
                                          </p:val>
                                        </p:tav>
                                      </p:tavLst>
                                    </p:anim>
                                    <p:anim calcmode="lin" valueType="num">
                                      <p:cBhvr>
                                        <p:cTn id="24" dur="500" fill="hold"/>
                                        <p:tgtEl>
                                          <p:spTgt spid="584708">
                                            <p:bg/>
                                          </p:spTgt>
                                        </p:tgtEl>
                                        <p:attrNameLst>
                                          <p:attrName>ppt_h</p:attrName>
                                        </p:attrNameLst>
                                      </p:cBhvr>
                                      <p:tavLst>
                                        <p:tav tm="0">
                                          <p:val>
                                            <p:strVal val="#ppt_h"/>
                                          </p:val>
                                        </p:tav>
                                        <p:tav tm="100000">
                                          <p:val>
                                            <p:strVal val="#ppt_h"/>
                                          </p:val>
                                        </p:tav>
                                      </p:tavLst>
                                    </p:anim>
                                  </p:childTnLst>
                                </p:cTn>
                              </p:par>
                            </p:childTnLst>
                          </p:cTn>
                        </p:par>
                      </p:childTnLst>
                    </p:cTn>
                  </p:par>
                  <p:par>
                    <p:cTn id="25" fill="hold">
                      <p:stCondLst>
                        <p:cond delay="indefinite"/>
                      </p:stCondLst>
                      <p:childTnLst>
                        <p:par>
                          <p:cTn id="26" fill="hold">
                            <p:stCondLst>
                              <p:cond delay="0"/>
                            </p:stCondLst>
                            <p:childTnLst>
                              <p:par>
                                <p:cTn id="27" presetID="17" presetClass="entr" presetSubtype="8" fill="hold" grpId="0" nodeType="clickEffect">
                                  <p:stCondLst>
                                    <p:cond delay="0"/>
                                  </p:stCondLst>
                                  <p:childTnLst>
                                    <p:set>
                                      <p:cBhvr>
                                        <p:cTn id="28" dur="1" fill="hold">
                                          <p:stCondLst>
                                            <p:cond delay="0"/>
                                          </p:stCondLst>
                                        </p:cTn>
                                        <p:tgtEl>
                                          <p:spTgt spid="584708">
                                            <p:txEl>
                                              <p:pRg st="0" end="0"/>
                                            </p:txEl>
                                          </p:spTgt>
                                        </p:tgtEl>
                                        <p:attrNameLst>
                                          <p:attrName>style.visibility</p:attrName>
                                        </p:attrNameLst>
                                      </p:cBhvr>
                                      <p:to>
                                        <p:strVal val="visible"/>
                                      </p:to>
                                    </p:set>
                                    <p:anim calcmode="lin" valueType="num">
                                      <p:cBhvr>
                                        <p:cTn id="29" dur="500" fill="hold"/>
                                        <p:tgtEl>
                                          <p:spTgt spid="584708">
                                            <p:txEl>
                                              <p:pRg st="0" end="0"/>
                                            </p:txEl>
                                          </p:spTgt>
                                        </p:tgtEl>
                                        <p:attrNameLst>
                                          <p:attrName>ppt_x</p:attrName>
                                        </p:attrNameLst>
                                      </p:cBhvr>
                                      <p:tavLst>
                                        <p:tav tm="0">
                                          <p:val>
                                            <p:strVal val="#ppt_x-#ppt_w/2"/>
                                          </p:val>
                                        </p:tav>
                                        <p:tav tm="100000">
                                          <p:val>
                                            <p:strVal val="#ppt_x"/>
                                          </p:val>
                                        </p:tav>
                                      </p:tavLst>
                                    </p:anim>
                                    <p:anim calcmode="lin" valueType="num">
                                      <p:cBhvr>
                                        <p:cTn id="30" dur="500" fill="hold"/>
                                        <p:tgtEl>
                                          <p:spTgt spid="584708">
                                            <p:txEl>
                                              <p:pRg st="0" end="0"/>
                                            </p:txEl>
                                          </p:spTgt>
                                        </p:tgtEl>
                                        <p:attrNameLst>
                                          <p:attrName>ppt_y</p:attrName>
                                        </p:attrNameLst>
                                      </p:cBhvr>
                                      <p:tavLst>
                                        <p:tav tm="0">
                                          <p:val>
                                            <p:strVal val="#ppt_y"/>
                                          </p:val>
                                        </p:tav>
                                        <p:tav tm="100000">
                                          <p:val>
                                            <p:strVal val="#ppt_y"/>
                                          </p:val>
                                        </p:tav>
                                      </p:tavLst>
                                    </p:anim>
                                    <p:anim calcmode="lin" valueType="num">
                                      <p:cBhvr>
                                        <p:cTn id="31" dur="500" fill="hold"/>
                                        <p:tgtEl>
                                          <p:spTgt spid="584708">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584708">
                                            <p:txEl>
                                              <p:pRg st="0" end="0"/>
                                            </p:txEl>
                                          </p:spTgt>
                                        </p:tgtEl>
                                        <p:attrNameLst>
                                          <p:attrName>ppt_h</p:attrName>
                                        </p:attrNameLst>
                                      </p:cBhvr>
                                      <p:tavLst>
                                        <p:tav tm="0">
                                          <p:val>
                                            <p:strVal val="#ppt_h"/>
                                          </p:val>
                                        </p:tav>
                                        <p:tav tm="100000">
                                          <p:val>
                                            <p:strVal val="#ppt_h"/>
                                          </p:val>
                                        </p:tav>
                                      </p:tavLst>
                                    </p:anim>
                                  </p:childTnLst>
                                </p:cTn>
                              </p:par>
                            </p:childTnLst>
                          </p:cTn>
                        </p:par>
                      </p:childTnLst>
                    </p:cTn>
                  </p:par>
                  <p:par>
                    <p:cTn id="33" fill="hold">
                      <p:stCondLst>
                        <p:cond delay="indefinite"/>
                      </p:stCondLst>
                      <p:childTnLst>
                        <p:par>
                          <p:cTn id="34" fill="hold">
                            <p:stCondLst>
                              <p:cond delay="0"/>
                            </p:stCondLst>
                            <p:childTnLst>
                              <p:par>
                                <p:cTn id="35" presetID="17" presetClass="entr" presetSubtype="8" fill="hold" grpId="0" nodeType="clickEffect">
                                  <p:stCondLst>
                                    <p:cond delay="0"/>
                                  </p:stCondLst>
                                  <p:childTnLst>
                                    <p:set>
                                      <p:cBhvr>
                                        <p:cTn id="36" dur="1" fill="hold">
                                          <p:stCondLst>
                                            <p:cond delay="0"/>
                                          </p:stCondLst>
                                        </p:cTn>
                                        <p:tgtEl>
                                          <p:spTgt spid="584708">
                                            <p:txEl>
                                              <p:pRg st="1" end="1"/>
                                            </p:txEl>
                                          </p:spTgt>
                                        </p:tgtEl>
                                        <p:attrNameLst>
                                          <p:attrName>style.visibility</p:attrName>
                                        </p:attrNameLst>
                                      </p:cBhvr>
                                      <p:to>
                                        <p:strVal val="visible"/>
                                      </p:to>
                                    </p:set>
                                    <p:anim calcmode="lin" valueType="num">
                                      <p:cBhvr>
                                        <p:cTn id="37" dur="500" fill="hold"/>
                                        <p:tgtEl>
                                          <p:spTgt spid="584708">
                                            <p:txEl>
                                              <p:pRg st="1" end="1"/>
                                            </p:txEl>
                                          </p:spTgt>
                                        </p:tgtEl>
                                        <p:attrNameLst>
                                          <p:attrName>ppt_x</p:attrName>
                                        </p:attrNameLst>
                                      </p:cBhvr>
                                      <p:tavLst>
                                        <p:tav tm="0">
                                          <p:val>
                                            <p:strVal val="#ppt_x-#ppt_w/2"/>
                                          </p:val>
                                        </p:tav>
                                        <p:tav tm="100000">
                                          <p:val>
                                            <p:strVal val="#ppt_x"/>
                                          </p:val>
                                        </p:tav>
                                      </p:tavLst>
                                    </p:anim>
                                    <p:anim calcmode="lin" valueType="num">
                                      <p:cBhvr>
                                        <p:cTn id="38" dur="500" fill="hold"/>
                                        <p:tgtEl>
                                          <p:spTgt spid="584708">
                                            <p:txEl>
                                              <p:pRg st="1" end="1"/>
                                            </p:txEl>
                                          </p:spTgt>
                                        </p:tgtEl>
                                        <p:attrNameLst>
                                          <p:attrName>ppt_y</p:attrName>
                                        </p:attrNameLst>
                                      </p:cBhvr>
                                      <p:tavLst>
                                        <p:tav tm="0">
                                          <p:val>
                                            <p:strVal val="#ppt_y"/>
                                          </p:val>
                                        </p:tav>
                                        <p:tav tm="100000">
                                          <p:val>
                                            <p:strVal val="#ppt_y"/>
                                          </p:val>
                                        </p:tav>
                                      </p:tavLst>
                                    </p:anim>
                                    <p:anim calcmode="lin" valueType="num">
                                      <p:cBhvr>
                                        <p:cTn id="39" dur="500" fill="hold"/>
                                        <p:tgtEl>
                                          <p:spTgt spid="584708">
                                            <p:txEl>
                                              <p:pRg st="1" end="1"/>
                                            </p:txEl>
                                          </p:spTgt>
                                        </p:tgtEl>
                                        <p:attrNameLst>
                                          <p:attrName>ppt_w</p:attrName>
                                        </p:attrNameLst>
                                      </p:cBhvr>
                                      <p:tavLst>
                                        <p:tav tm="0">
                                          <p:val>
                                            <p:fltVal val="0"/>
                                          </p:val>
                                        </p:tav>
                                        <p:tav tm="100000">
                                          <p:val>
                                            <p:strVal val="#ppt_w"/>
                                          </p:val>
                                        </p:tav>
                                      </p:tavLst>
                                    </p:anim>
                                    <p:anim calcmode="lin" valueType="num">
                                      <p:cBhvr>
                                        <p:cTn id="40" dur="500" fill="hold"/>
                                        <p:tgtEl>
                                          <p:spTgt spid="584708">
                                            <p:txEl>
                                              <p:pRg st="1" end="1"/>
                                            </p:txEl>
                                          </p:spTgt>
                                        </p:tgtEl>
                                        <p:attrNameLst>
                                          <p:attrName>ppt_h</p:attrName>
                                        </p:attrNameLst>
                                      </p:cBhvr>
                                      <p:tavLst>
                                        <p:tav tm="0">
                                          <p:val>
                                            <p:strVal val="#ppt_h"/>
                                          </p:val>
                                        </p:tav>
                                        <p:tav tm="100000">
                                          <p:val>
                                            <p:strVal val="#ppt_h"/>
                                          </p:val>
                                        </p:tav>
                                      </p:tavLst>
                                    </p:anim>
                                  </p:childTnLst>
                                </p:cTn>
                              </p:par>
                            </p:childTnLst>
                          </p:cTn>
                        </p:par>
                      </p:childTnLst>
                    </p:cTn>
                  </p:par>
                  <p:par>
                    <p:cTn id="41" fill="hold">
                      <p:stCondLst>
                        <p:cond delay="indefinite"/>
                      </p:stCondLst>
                      <p:childTnLst>
                        <p:par>
                          <p:cTn id="42" fill="hold">
                            <p:stCondLst>
                              <p:cond delay="0"/>
                            </p:stCondLst>
                            <p:childTnLst>
                              <p:par>
                                <p:cTn id="43" presetID="17" presetClass="entr" presetSubtype="8" fill="hold" grpId="0" nodeType="clickEffect">
                                  <p:stCondLst>
                                    <p:cond delay="0"/>
                                  </p:stCondLst>
                                  <p:childTnLst>
                                    <p:set>
                                      <p:cBhvr>
                                        <p:cTn id="44" dur="1" fill="hold">
                                          <p:stCondLst>
                                            <p:cond delay="0"/>
                                          </p:stCondLst>
                                        </p:cTn>
                                        <p:tgtEl>
                                          <p:spTgt spid="584708">
                                            <p:txEl>
                                              <p:pRg st="2" end="2"/>
                                            </p:txEl>
                                          </p:spTgt>
                                        </p:tgtEl>
                                        <p:attrNameLst>
                                          <p:attrName>style.visibility</p:attrName>
                                        </p:attrNameLst>
                                      </p:cBhvr>
                                      <p:to>
                                        <p:strVal val="visible"/>
                                      </p:to>
                                    </p:set>
                                    <p:anim calcmode="lin" valueType="num">
                                      <p:cBhvr>
                                        <p:cTn id="45" dur="500" fill="hold"/>
                                        <p:tgtEl>
                                          <p:spTgt spid="584708">
                                            <p:txEl>
                                              <p:pRg st="2" end="2"/>
                                            </p:txEl>
                                          </p:spTgt>
                                        </p:tgtEl>
                                        <p:attrNameLst>
                                          <p:attrName>ppt_x</p:attrName>
                                        </p:attrNameLst>
                                      </p:cBhvr>
                                      <p:tavLst>
                                        <p:tav tm="0">
                                          <p:val>
                                            <p:strVal val="#ppt_x-#ppt_w/2"/>
                                          </p:val>
                                        </p:tav>
                                        <p:tav tm="100000">
                                          <p:val>
                                            <p:strVal val="#ppt_x"/>
                                          </p:val>
                                        </p:tav>
                                      </p:tavLst>
                                    </p:anim>
                                    <p:anim calcmode="lin" valueType="num">
                                      <p:cBhvr>
                                        <p:cTn id="46" dur="500" fill="hold"/>
                                        <p:tgtEl>
                                          <p:spTgt spid="584708">
                                            <p:txEl>
                                              <p:pRg st="2" end="2"/>
                                            </p:txEl>
                                          </p:spTgt>
                                        </p:tgtEl>
                                        <p:attrNameLst>
                                          <p:attrName>ppt_y</p:attrName>
                                        </p:attrNameLst>
                                      </p:cBhvr>
                                      <p:tavLst>
                                        <p:tav tm="0">
                                          <p:val>
                                            <p:strVal val="#ppt_y"/>
                                          </p:val>
                                        </p:tav>
                                        <p:tav tm="100000">
                                          <p:val>
                                            <p:strVal val="#ppt_y"/>
                                          </p:val>
                                        </p:tav>
                                      </p:tavLst>
                                    </p:anim>
                                    <p:anim calcmode="lin" valueType="num">
                                      <p:cBhvr>
                                        <p:cTn id="47" dur="500" fill="hold"/>
                                        <p:tgtEl>
                                          <p:spTgt spid="584708">
                                            <p:txEl>
                                              <p:pRg st="2" end="2"/>
                                            </p:txEl>
                                          </p:spTgt>
                                        </p:tgtEl>
                                        <p:attrNameLst>
                                          <p:attrName>ppt_w</p:attrName>
                                        </p:attrNameLst>
                                      </p:cBhvr>
                                      <p:tavLst>
                                        <p:tav tm="0">
                                          <p:val>
                                            <p:fltVal val="0"/>
                                          </p:val>
                                        </p:tav>
                                        <p:tav tm="100000">
                                          <p:val>
                                            <p:strVal val="#ppt_w"/>
                                          </p:val>
                                        </p:tav>
                                      </p:tavLst>
                                    </p:anim>
                                    <p:anim calcmode="lin" valueType="num">
                                      <p:cBhvr>
                                        <p:cTn id="48" dur="500" fill="hold"/>
                                        <p:tgtEl>
                                          <p:spTgt spid="584708">
                                            <p:txEl>
                                              <p:pRg st="2" end="2"/>
                                            </p:txEl>
                                          </p:spTgt>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4706" grpId="0" animBg="1"/>
      <p:bldP spid="584707" grpId="0"/>
      <p:bldP spid="584708" grpId="0" build="p"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5" name="Text Box 2"/>
          <p:cNvSpPr txBox="1">
            <a:spLocks noChangeArrowheads="1"/>
          </p:cNvSpPr>
          <p:nvPr/>
        </p:nvSpPr>
        <p:spPr bwMode="auto">
          <a:xfrm>
            <a:off x="230188" y="1412875"/>
            <a:ext cx="8662988" cy="10525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外排总的时间还应包括内部排序所需时间和逐趟归并时进行内部归并的时间</a:t>
            </a:r>
          </a:p>
        </p:txBody>
      </p:sp>
      <p:sp>
        <p:nvSpPr>
          <p:cNvPr id="586757" name="Text Box 5"/>
          <p:cNvSpPr txBox="1">
            <a:spLocks noChangeArrowheads="1"/>
          </p:cNvSpPr>
          <p:nvPr/>
        </p:nvSpPr>
        <p:spPr bwMode="auto">
          <a:xfrm>
            <a:off x="5111750" y="2813050"/>
            <a:ext cx="3821113" cy="2557463"/>
          </a:xfrm>
          <a:prstGeom prst="roundRect">
            <a:avLst>
              <a:gd name="adj" fmla="val 2738"/>
            </a:avLst>
          </a:prstGeom>
          <a:solidFill>
            <a:srgbClr val="EAEAEA"/>
          </a:solid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1" fontAlgn="base" latinLnBrk="0" hangingPunct="1">
              <a:lnSpc>
                <a:spcPct val="13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IO</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值取决于外存，远远大于</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IS</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mg</a:t>
            </a:r>
            <a:r>
              <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外部排序的时间取决于读写外存的次数</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a:t>
            </a:r>
          </a:p>
          <a:p>
            <a:pPr marL="0" marR="0" lvl="0" indent="0" algn="l" defTabSz="762000" rtl="0" eaLnBrk="1" fontAlgn="base" latinLnBrk="0" hangingPunct="1">
              <a:lnSpc>
                <a:spcPct val="130000"/>
              </a:lnSpc>
              <a:spcBef>
                <a:spcPct val="0"/>
              </a:spcBef>
              <a:spcAft>
                <a:spcPct val="0"/>
              </a:spcAft>
              <a:buClrTx/>
              <a:buSzTx/>
              <a:buFont typeface="Arial" panose="020B0604020202020204" pitchFamily="34" charset="0"/>
              <a:buNone/>
              <a:defRPr/>
            </a:pPr>
            <a:endParaRPr kumimoji="0" lang="en-US" altLang="zh-CN" sz="10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1" fontAlgn="base" latinLnBrk="0" hangingPunct="1">
              <a:lnSpc>
                <a:spcPct val="130000"/>
              </a:lnSpc>
              <a:spcBef>
                <a:spcPct val="0"/>
              </a:spcBef>
              <a:spcAft>
                <a:spcPct val="0"/>
              </a:spcAft>
              <a:buClrTx/>
              <a:buSzTx/>
              <a:buFont typeface="Arial" panose="020B0604020202020204" pitchFamily="34" charset="0"/>
              <a:buNone/>
              <a:defRPr/>
            </a:pPr>
            <a:endParaRPr kumimoji="0" lang="en-US" altLang="zh-CN" sz="10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1" fontAlgn="base" latinLnBrk="0" hangingPunct="1">
              <a:lnSpc>
                <a:spcPct val="130000"/>
              </a:lnSpc>
              <a:spcBef>
                <a:spcPct val="0"/>
              </a:spcBef>
              <a:spcAft>
                <a:spcPct val="0"/>
              </a:spcAft>
              <a:buClrTx/>
              <a:buSzTx/>
              <a:buFont typeface="Arial" panose="020B0604020202020204" pitchFamily="34" charset="0"/>
              <a:buNone/>
              <a:defRPr/>
            </a:pPr>
            <a:endParaRPr kumimoji="0" lang="en-US" altLang="zh-CN" sz="10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1" fontAlgn="base" latinLnBrk="0" hangingPunct="1">
              <a:lnSpc>
                <a:spcPct val="130000"/>
              </a:lnSpc>
              <a:spcBef>
                <a:spcPct val="0"/>
              </a:spcBef>
              <a:spcAft>
                <a:spcPct val="0"/>
              </a:spcAft>
              <a:buClrTx/>
              <a:buSzTx/>
              <a:buFont typeface="Arial" panose="020B0604020202020204" pitchFamily="34" charset="0"/>
              <a:buNone/>
              <a:defRPr/>
            </a:pPr>
            <a:endParaRPr kumimoji="0" lang="en-US" altLang="zh-CN" sz="10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1" fontAlgn="base" latinLnBrk="0" hangingPunct="1">
              <a:lnSpc>
                <a:spcPct val="130000"/>
              </a:lnSpc>
              <a:spcBef>
                <a:spcPct val="0"/>
              </a:spcBef>
              <a:spcAft>
                <a:spcPct val="0"/>
              </a:spcAft>
              <a:buClrTx/>
              <a:buSzTx/>
              <a:buFont typeface="Arial" panose="020B0604020202020204" pitchFamily="34" charset="0"/>
              <a:buNone/>
              <a:defRPr/>
            </a:pPr>
            <a:endParaRPr kumimoji="0" lang="zh-CN" altLang="en-US" sz="10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586758" name="Text Box 6"/>
          <p:cNvSpPr txBox="1">
            <a:spLocks noChangeArrowheads="1"/>
          </p:cNvSpPr>
          <p:nvPr/>
        </p:nvSpPr>
        <p:spPr bwMode="auto">
          <a:xfrm>
            <a:off x="174625" y="2743200"/>
            <a:ext cx="4741863" cy="2627313"/>
          </a:xfrm>
          <a:prstGeom prst="roundRect">
            <a:avLst>
              <a:gd name="adj" fmla="val 3554"/>
            </a:avLst>
          </a:prstGeom>
          <a:solidFill>
            <a:schemeClr val="accent1">
              <a:lumMod val="20000"/>
              <a:lumOff val="80000"/>
            </a:schemeClr>
          </a:solid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外部排序总时间=产生初始归并段的时间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IS</a:t>
            </a:r>
            <a:endPar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外存信息读写时间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IO</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内部归并所需时间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s*</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ut</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mg</a:t>
            </a:r>
            <a:endPar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50000"/>
              </a:spcBef>
              <a:spcAft>
                <a:spcPct val="0"/>
              </a:spcAft>
              <a:buClrTx/>
              <a:buSzTx/>
              <a:buFont typeface="Arial" panose="020B0604020202020204" pitchFamily="34" charset="0"/>
              <a:buNone/>
              <a:defRPr/>
            </a:pPr>
            <a:endParaRPr kumimoji="0" lang="en-US" altLang="zh-CN" sz="10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6" name="Rectangle 6"/>
          <p:cNvSpPr>
            <a:spLocks noChangeArrowheads="1"/>
          </p:cNvSpPr>
          <p:nvPr/>
        </p:nvSpPr>
        <p:spPr bwMode="auto">
          <a:xfrm>
            <a:off x="827088"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外部排序的基本方法</a:t>
            </a:r>
          </a:p>
        </p:txBody>
      </p:sp>
      <p:sp>
        <p:nvSpPr>
          <p:cNvPr id="188422" name="矩形 1"/>
          <p:cNvSpPr/>
          <p:nvPr/>
        </p:nvSpPr>
        <p:spPr>
          <a:xfrm>
            <a:off x="5111750" y="4508500"/>
            <a:ext cx="3821113" cy="73025"/>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88423" name="矩形 6"/>
          <p:cNvSpPr/>
          <p:nvPr/>
        </p:nvSpPr>
        <p:spPr>
          <a:xfrm>
            <a:off x="5124450" y="4724400"/>
            <a:ext cx="3821113" cy="73025"/>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cxnSp>
        <p:nvCxnSpPr>
          <p:cNvPr id="188424" name="直接连接符 3"/>
          <p:cNvCxnSpPr/>
          <p:nvPr/>
        </p:nvCxnSpPr>
        <p:spPr>
          <a:xfrm>
            <a:off x="230188" y="2465388"/>
            <a:ext cx="8662987" cy="0"/>
          </a:xfrm>
          <a:prstGeom prst="line">
            <a:avLst/>
          </a:prstGeom>
          <a:ln w="9525" cap="flat" cmpd="sng">
            <a:solidFill>
              <a:srgbClr val="FF0000"/>
            </a:solidFill>
            <a:prstDash val="solid"/>
            <a:headEnd type="none" w="med" len="med"/>
            <a:tailEnd type="none" w="med" len="med"/>
          </a:ln>
        </p:spPr>
      </p:cxn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8675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5867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6757" grpId="0" animBg="1"/>
      <p:bldP spid="586758"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09" name="Rectangle 2"/>
          <p:cNvSpPr>
            <a:spLocks noChangeArrowheads="1"/>
          </p:cNvSpPr>
          <p:nvPr/>
        </p:nvSpPr>
        <p:spPr bwMode="auto">
          <a:xfrm>
            <a:off x="323850" y="1268413"/>
            <a:ext cx="8462963" cy="10525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例如:</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若对上述例子采用2</a:t>
            </a:r>
            <a:r>
              <a:rPr kumimoji="0" lang="zh-CN" altLang="en-US" sz="2400" b="1" i="0" u="none" strike="noStrike" kern="1200" cap="none" spc="0" normalizeH="0" baseline="0" noProof="0" dirty="0">
                <a:ln>
                  <a:noFill/>
                </a:ln>
                <a:solidFill>
                  <a:srgbClr val="0000CC"/>
                </a:solidFill>
                <a:effectLst/>
                <a:uLnTx/>
                <a:uFillTx/>
                <a:latin typeface="宋体" panose="02010600030101010101" pitchFamily="2" charset="-122"/>
                <a:ea typeface="楷体_GB2312" pitchFamily="49" charset="-122"/>
                <a:cs typeface="+mn-cs"/>
                <a:sym typeface="Symbol" panose="05050102010706020507" pitchFamily="18" charset="2"/>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路归并,则只需进行4趟归并，     </a:t>
            </a:r>
          </a:p>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外排所需总的时间：</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10*</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t</a:t>
            </a:r>
            <a:r>
              <a:rPr kumimoji="0" lang="en-US" altLang="zh-CN" sz="2400" b="0" i="0" u="none" strike="noStrike" kern="1200" cap="none" spc="0" normalizeH="0" baseline="-25000" noProof="0" dirty="0">
                <a:ln>
                  <a:noFill/>
                </a:ln>
                <a:solidFill>
                  <a:srgbClr val="FF0000"/>
                </a:solidFill>
                <a:effectLst/>
                <a:uLnTx/>
                <a:uFillTx/>
                <a:latin typeface="+mn-lt"/>
                <a:ea typeface="+mn-ea"/>
                <a:cs typeface="+mn-ea"/>
                <a:sym typeface="+mn-lt"/>
              </a:rPr>
              <a:t>IS</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+500*t</a:t>
            </a:r>
            <a:r>
              <a:rPr kumimoji="0" lang="en-US" altLang="zh-CN" sz="2400" b="0" i="0" u="none" strike="noStrike" kern="1200" cap="none" spc="0" normalizeH="0" baseline="-25000" noProof="0" dirty="0">
                <a:ln>
                  <a:noFill/>
                </a:ln>
                <a:solidFill>
                  <a:srgbClr val="FF0000"/>
                </a:solidFill>
                <a:effectLst/>
                <a:uLnTx/>
                <a:uFillTx/>
                <a:latin typeface="+mn-lt"/>
                <a:ea typeface="+mn-ea"/>
                <a:cs typeface="+mn-ea"/>
                <a:sym typeface="+mn-lt"/>
              </a:rPr>
              <a:t>IO</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+4*1000*</a:t>
            </a:r>
            <a:r>
              <a:rPr kumimoji="0" lang="en-US" altLang="zh-CN" sz="2400" b="0" i="0" u="none" strike="noStrike" kern="1200" cap="none" spc="0" normalizeH="0" baseline="0" noProof="0" dirty="0" err="1">
                <a:ln>
                  <a:noFill/>
                </a:ln>
                <a:solidFill>
                  <a:srgbClr val="FF0000"/>
                </a:solidFill>
                <a:effectLst/>
                <a:uLnTx/>
                <a:uFillTx/>
                <a:latin typeface="+mn-lt"/>
                <a:ea typeface="+mn-ea"/>
                <a:cs typeface="+mn-ea"/>
                <a:sym typeface="+mn-lt"/>
              </a:rPr>
              <a:t>t</a:t>
            </a:r>
            <a:r>
              <a:rPr kumimoji="0" lang="en-US" altLang="zh-CN" sz="2400" b="0" i="0" u="none" strike="noStrike" kern="1200" cap="none" spc="0" normalizeH="0" baseline="-25000" noProof="0" dirty="0" err="1">
                <a:ln>
                  <a:noFill/>
                </a:ln>
                <a:solidFill>
                  <a:srgbClr val="FF0000"/>
                </a:solidFill>
                <a:effectLst/>
                <a:uLnTx/>
                <a:uFillTx/>
                <a:latin typeface="+mn-lt"/>
                <a:ea typeface="+mn-ea"/>
                <a:cs typeface="+mn-ea"/>
                <a:sym typeface="+mn-lt"/>
              </a:rPr>
              <a:t>mg</a:t>
            </a:r>
            <a:endPar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588803" name="Rectangle 3"/>
          <p:cNvSpPr>
            <a:spLocks noChangeArrowheads="1"/>
          </p:cNvSpPr>
          <p:nvPr/>
        </p:nvSpPr>
        <p:spPr bwMode="auto">
          <a:xfrm>
            <a:off x="323850" y="2544763"/>
            <a:ext cx="8462963" cy="1163638"/>
          </a:xfrm>
          <a:prstGeom prst="roundRect">
            <a:avLst>
              <a:gd name="adj" fmla="val 9189"/>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若对上述例子采用5</a:t>
            </a:r>
            <a:r>
              <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楷体_GB2312" pitchFamily="49" charset="-122"/>
                <a:cs typeface="+mn-cs"/>
                <a:sym typeface="Symbol" panose="05050102010706020507" pitchFamily="18" charset="2"/>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路归并,则只需进行2趟归并，总的访问外存的次数为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100+2</a:t>
            </a:r>
            <a:r>
              <a:rPr kumimoji="0" lang="en-US" altLang="zh-CN" sz="2400" b="1" i="0" u="none" strike="noStrike" kern="1200" cap="none" spc="0" normalizeH="0" baseline="0" noProof="0" dirty="0">
                <a:ln>
                  <a:noFill/>
                </a:ln>
                <a:solidFill>
                  <a:schemeClr val="tx1"/>
                </a:solidFill>
                <a:effectLst/>
                <a:uLnTx/>
                <a:uFillTx/>
                <a:latin typeface="宋体" panose="02010600030101010101" pitchFamily="2" charset="-122"/>
                <a:ea typeface="楷体_GB2312" pitchFamily="49" charset="-122"/>
                <a:cs typeface="+mn-cs"/>
                <a:sym typeface="Symbol" panose="05050102010706020507" pitchFamily="18" charset="2"/>
              </a:rPr>
              <a:t> 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100=300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次</a:t>
            </a:r>
          </a:p>
        </p:txBody>
      </p:sp>
      <p:sp>
        <p:nvSpPr>
          <p:cNvPr id="588805" name="Rectangle 5"/>
          <p:cNvSpPr>
            <a:spLocks noChangeArrowheads="1"/>
          </p:cNvSpPr>
          <p:nvPr/>
        </p:nvSpPr>
        <p:spPr bwMode="auto">
          <a:xfrm>
            <a:off x="323850" y="3933825"/>
            <a:ext cx="8458200" cy="2146300"/>
          </a:xfrm>
          <a:prstGeom prst="roundRect">
            <a:avLst>
              <a:gd name="adj" fmla="val 8548"/>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一般情况下，假设待排记录序列含 </a:t>
            </a:r>
            <a:r>
              <a:rPr kumimoji="0" lang="en-US" altLang="zh-CN" sz="2400" b="0" i="0" u="none" strike="noStrike" kern="1200" cap="none" spc="0" normalizeH="0" baseline="0" noProof="0" dirty="0">
                <a:ln>
                  <a:noFill/>
                </a:ln>
                <a:solidFill>
                  <a:srgbClr val="E5314F"/>
                </a:solidFill>
                <a:effectLst/>
                <a:uLnTx/>
                <a:uFillTx/>
                <a:latin typeface="+mn-lt"/>
                <a:ea typeface="+mn-ea"/>
                <a:cs typeface="+mn-ea"/>
                <a:sym typeface="+mn-lt"/>
              </a:rPr>
              <a:t>m</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个初始归并段，外排时采用 </a:t>
            </a:r>
            <a:r>
              <a:rPr kumimoji="0" lang="en-US" altLang="zh-CN" sz="2400" b="0" i="0" u="none" strike="noStrike" kern="1200" cap="none" spc="0" normalizeH="0" baseline="0" noProof="0" dirty="0">
                <a:ln>
                  <a:noFill/>
                </a:ln>
                <a:solidFill>
                  <a:srgbClr val="E5314F"/>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路归并，则归并趟数</a:t>
            </a:r>
            <a:r>
              <a:rPr kumimoji="0" lang="en-US" altLang="zh-CN" sz="2400" b="0" i="0" u="none" strike="noStrike" kern="1200" cap="none" spc="0" normalizeH="0" baseline="0" noProof="0" dirty="0">
                <a:ln>
                  <a:noFill/>
                </a:ln>
                <a:solidFill>
                  <a:srgbClr val="E5314F"/>
                </a:solidFill>
                <a:effectLst/>
                <a:uLnTx/>
                <a:uFillTx/>
                <a:latin typeface="+mn-lt"/>
                <a:ea typeface="+mn-ea"/>
                <a:cs typeface="+mn-ea"/>
                <a:sym typeface="+mn-lt"/>
              </a:rPr>
              <a:t>s=</a:t>
            </a:r>
            <a:r>
              <a:rPr kumimoji="0" lang="en-US" altLang="zh-CN" sz="2400" b="1" i="0" u="none" strike="noStrike" kern="1200" cap="none" spc="0" normalizeH="0" baseline="0" noProof="0" dirty="0">
                <a:ln>
                  <a:noFill/>
                </a:ln>
                <a:solidFill>
                  <a:srgbClr val="E5314F"/>
                </a:solidFill>
                <a:effectLst/>
                <a:uLnTx/>
                <a:uFillTx/>
                <a:latin typeface="宋体" panose="02010600030101010101" pitchFamily="2" charset="-122"/>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rgbClr val="E5314F"/>
                </a:solidFill>
                <a:effectLst/>
                <a:uLnTx/>
                <a:uFillTx/>
                <a:latin typeface="宋体" panose="02010600030101010101" pitchFamily="2" charset="-122"/>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err="1">
                <a:ln>
                  <a:noFill/>
                </a:ln>
                <a:solidFill>
                  <a:srgbClr val="E5314F"/>
                </a:solidFill>
                <a:effectLst/>
                <a:uLnTx/>
                <a:uFillTx/>
                <a:latin typeface="+mn-lt"/>
                <a:ea typeface="+mn-ea"/>
                <a:cs typeface="+mn-ea"/>
                <a:sym typeface="+mn-lt"/>
              </a:rPr>
              <a:t>log</a:t>
            </a:r>
            <a:r>
              <a:rPr kumimoji="0" lang="en-US" altLang="zh-CN" sz="2400" b="0" i="0" u="none" strike="noStrike" kern="1200" cap="none" spc="0" normalizeH="0" baseline="-25000" noProof="0" dirty="0" err="1">
                <a:ln>
                  <a:noFill/>
                </a:ln>
                <a:solidFill>
                  <a:srgbClr val="E5314F"/>
                </a:solidFill>
                <a:effectLst/>
                <a:uLnTx/>
                <a:uFillTx/>
                <a:latin typeface="+mn-lt"/>
                <a:ea typeface="+mn-ea"/>
                <a:cs typeface="+mn-ea"/>
                <a:sym typeface="+mn-lt"/>
              </a:rPr>
              <a:t>k</a:t>
            </a:r>
            <a:r>
              <a:rPr kumimoji="0" lang="en-US" altLang="zh-CN" sz="2400" b="0" i="0" u="none" strike="noStrike" kern="1200" cap="none" spc="0" normalizeH="0" baseline="0" noProof="0" dirty="0" err="1">
                <a:ln>
                  <a:noFill/>
                </a:ln>
                <a:solidFill>
                  <a:srgbClr val="E5314F"/>
                </a:solidFill>
                <a:effectLst/>
                <a:uLnTx/>
                <a:uFillTx/>
                <a:latin typeface="+mn-lt"/>
                <a:ea typeface="+mn-ea"/>
                <a:cs typeface="+mn-ea"/>
                <a:sym typeface="+mn-lt"/>
              </a:rPr>
              <a:t>m</a:t>
            </a:r>
            <a:r>
              <a:rPr kumimoji="0" lang="en-US" altLang="zh-CN" sz="2400" b="1" i="0" u="none" strike="noStrike" kern="1200" cap="none" spc="0" normalizeH="0" baseline="0" noProof="0" dirty="0">
                <a:ln>
                  <a:noFill/>
                </a:ln>
                <a:solidFill>
                  <a:srgbClr val="E5314F"/>
                </a:solidFill>
                <a:effectLst/>
                <a:uLnTx/>
                <a:uFillTx/>
                <a:latin typeface="宋体" panose="02010600030101010101" pitchFamily="2" charset="-122"/>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rgbClr val="E5314F"/>
                </a:solidFill>
                <a:effectLst/>
                <a:uLnTx/>
                <a:uFillTx/>
                <a:latin typeface="宋体" panose="02010600030101010101" pitchFamily="2" charset="-122"/>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rgbClr val="E5314F"/>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显然，</a:t>
            </a:r>
            <a:r>
              <a:rPr kumimoji="0" lang="zh-CN" altLang="en-US" sz="2400" b="0" i="0" u="none" strike="noStrike" kern="1200" cap="none" spc="0" normalizeH="0" baseline="0" noProof="0" dirty="0">
                <a:ln>
                  <a:noFill/>
                </a:ln>
                <a:solidFill>
                  <a:srgbClr val="E5314F"/>
                </a:solidFill>
                <a:effectLst/>
                <a:uLnTx/>
                <a:uFillTx/>
                <a:latin typeface="+mn-lt"/>
                <a:ea typeface="+mn-ea"/>
                <a:cs typeface="+mn-ea"/>
                <a:sym typeface="+mn-lt"/>
              </a:rPr>
              <a:t>随着</a:t>
            </a:r>
            <a:r>
              <a:rPr kumimoji="0" lang="en-US" altLang="zh-CN" sz="2400" b="0" i="0" u="none" strike="noStrike" kern="1200" cap="none" spc="0" normalizeH="0" baseline="0" noProof="0" dirty="0">
                <a:ln>
                  <a:noFill/>
                </a:ln>
                <a:solidFill>
                  <a:srgbClr val="E5314F"/>
                </a:solidFill>
                <a:effectLst/>
                <a:uLnTx/>
                <a:uFillTx/>
                <a:latin typeface="+mn-lt"/>
                <a:ea typeface="+mn-ea"/>
                <a:cs typeface="+mn-ea"/>
                <a:sym typeface="+mn-lt"/>
              </a:rPr>
              <a:t>k</a:t>
            </a:r>
            <a:r>
              <a:rPr kumimoji="0" lang="zh-CN" altLang="en-US" sz="2400" b="0" i="0" u="none" strike="noStrike" kern="1200" cap="none" spc="0" normalizeH="0" baseline="0" noProof="0" dirty="0">
                <a:ln>
                  <a:noFill/>
                </a:ln>
                <a:solidFill>
                  <a:srgbClr val="E5314F"/>
                </a:solidFill>
                <a:effectLst/>
                <a:uLnTx/>
                <a:uFillTx/>
                <a:latin typeface="+mn-lt"/>
                <a:ea typeface="+mn-ea"/>
                <a:cs typeface="+mn-ea"/>
                <a:sym typeface="+mn-lt"/>
              </a:rPr>
              <a:t>的增大或</a:t>
            </a:r>
            <a:r>
              <a:rPr kumimoji="0" lang="en-US" altLang="zh-CN" sz="2400" b="0" i="0" u="none" strike="noStrike" kern="1200" cap="none" spc="0" normalizeH="0" baseline="0" noProof="0" dirty="0">
                <a:ln>
                  <a:noFill/>
                </a:ln>
                <a:solidFill>
                  <a:srgbClr val="E5314F"/>
                </a:solidFill>
                <a:effectLst/>
                <a:uLnTx/>
                <a:uFillTx/>
                <a:latin typeface="+mn-lt"/>
                <a:ea typeface="+mn-ea"/>
                <a:cs typeface="+mn-ea"/>
                <a:sym typeface="+mn-lt"/>
              </a:rPr>
              <a:t>m</a:t>
            </a:r>
            <a:r>
              <a:rPr kumimoji="0" lang="zh-CN" altLang="en-US" sz="2400" b="0" i="0" u="none" strike="noStrike" kern="1200" cap="none" spc="0" normalizeH="0" baseline="0" noProof="0" dirty="0">
                <a:ln>
                  <a:noFill/>
                </a:ln>
                <a:solidFill>
                  <a:srgbClr val="E5314F"/>
                </a:solidFill>
                <a:effectLst/>
                <a:uLnTx/>
                <a:uFillTx/>
                <a:latin typeface="+mn-lt"/>
                <a:ea typeface="+mn-ea"/>
                <a:cs typeface="+mn-ea"/>
                <a:sym typeface="+mn-lt"/>
              </a:rPr>
              <a:t>的减小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，归并的趟数将减少，因此对外排而言，通常采用多路归并。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的大小可选，但需综合考虑各种因素。</a:t>
            </a:r>
          </a:p>
        </p:txBody>
      </p:sp>
      <p:sp>
        <p:nvSpPr>
          <p:cNvPr id="6" name="Rectangle 6"/>
          <p:cNvSpPr>
            <a:spLocks noChangeArrowheads="1"/>
          </p:cNvSpPr>
          <p:nvPr/>
        </p:nvSpPr>
        <p:spPr bwMode="auto">
          <a:xfrm>
            <a:off x="827088" y="16510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外部排序的基本方法</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8880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 presetClass="entr" presetSubtype="4" fill="hold" grpId="0" nodeType="clickEffect">
                                  <p:stCondLst>
                                    <p:cond delay="0"/>
                                  </p:stCondLst>
                                  <p:childTnLst>
                                    <p:set>
                                      <p:cBhvr>
                                        <p:cTn id="10" dur="1" fill="hold">
                                          <p:stCondLst>
                                            <p:cond delay="0"/>
                                          </p:stCondLst>
                                        </p:cTn>
                                        <p:tgtEl>
                                          <p:spTgt spid="588805"/>
                                        </p:tgtEl>
                                        <p:attrNameLst>
                                          <p:attrName>style.visibility</p:attrName>
                                        </p:attrNameLst>
                                      </p:cBhvr>
                                      <p:to>
                                        <p:strVal val="visible"/>
                                      </p:to>
                                    </p:set>
                                    <p:anim calcmode="lin" valueType="num">
                                      <p:cBhvr additive="base">
                                        <p:cTn id="11" dur="500" fill="hold"/>
                                        <p:tgtEl>
                                          <p:spTgt spid="588805"/>
                                        </p:tgtEl>
                                        <p:attrNameLst>
                                          <p:attrName>ppt_x</p:attrName>
                                        </p:attrNameLst>
                                      </p:cBhvr>
                                      <p:tavLst>
                                        <p:tav tm="0">
                                          <p:val>
                                            <p:strVal val="#ppt_x"/>
                                          </p:val>
                                        </p:tav>
                                        <p:tav tm="100000">
                                          <p:val>
                                            <p:strVal val="#ppt_x"/>
                                          </p:val>
                                        </p:tav>
                                      </p:tavLst>
                                    </p:anim>
                                    <p:anim calcmode="lin" valueType="num">
                                      <p:cBhvr additive="base">
                                        <p:cTn id="12" dur="500" fill="hold"/>
                                        <p:tgtEl>
                                          <p:spTgt spid="58880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8803" grpId="0" animBg="1"/>
      <p:bldP spid="588805"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3" name="Rectangle 3"/>
          <p:cNvSpPr>
            <a:spLocks noChangeArrowheads="1"/>
          </p:cNvSpPr>
          <p:nvPr/>
        </p:nvSpPr>
        <p:spPr bwMode="auto">
          <a:xfrm>
            <a:off x="3133725" y="2863850"/>
            <a:ext cx="5753100" cy="23606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10000"/>
              </a:lnSpc>
              <a:spcBef>
                <a:spcPct val="50000"/>
              </a:spcBef>
              <a:spcAft>
                <a:spcPct val="0"/>
              </a:spcAft>
              <a:buClrTx/>
              <a:buSzTx/>
              <a:buFontTx/>
              <a:buNone/>
              <a:defRPr/>
            </a:pPr>
            <a:r>
              <a:rPr kumimoji="0" lang="zh-CN" altLang="zh-CN" sz="2600" b="0" i="0" u="none" strike="noStrike" kern="1200" cap="none" spc="0" normalizeH="0" baseline="0" noProof="0" dirty="0">
                <a:ln>
                  <a:noFill/>
                </a:ln>
                <a:solidFill>
                  <a:schemeClr val="hlink"/>
                </a:solidFill>
                <a:effectLst/>
                <a:uLnTx/>
                <a:uFillTx/>
                <a:latin typeface="+mn-lt"/>
                <a:ea typeface="+mn-ea"/>
                <a:cs typeface="+mn-ea"/>
                <a:sym typeface="+mn-lt"/>
              </a:rPr>
              <a:t>分析</a:t>
            </a:r>
            <a:r>
              <a:rPr kumimoji="0" lang="zh-CN" altLang="en-US" sz="26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zh-CN" altLang="en-US" sz="2600" b="0" i="0" u="none" strike="noStrike" kern="1200" cap="none" spc="0" normalizeH="0" baseline="0" noProof="0" dirty="0">
                <a:ln>
                  <a:noFill/>
                </a:ln>
                <a:solidFill>
                  <a:schemeClr val="folHlink"/>
                </a:solidFill>
                <a:effectLst/>
                <a:uLnTx/>
                <a:uFillTx/>
                <a:latin typeface="+mn-lt"/>
                <a:ea typeface="+mn-ea"/>
                <a:cs typeface="+mn-ea"/>
                <a:sym typeface="+mn-lt"/>
              </a:rPr>
              <a:t> </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m </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个初始归并段，外排时采用 </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
            </a:r>
            <a:b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b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k</a:t>
            </a:r>
            <a:r>
              <a:rPr kumimoji="0" lang="en-US" altLang="zh-CN" sz="2400" b="1"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路归并，则归并趟数为 </a:t>
            </a:r>
            <a:r>
              <a:rPr kumimoji="0" lang="zh-CN" altLang="en-US" sz="26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log</a:t>
            </a:r>
            <a:r>
              <a:rPr kumimoji="0" lang="en-US" altLang="zh-CN" sz="26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m</a:t>
            </a:r>
            <a:r>
              <a:rPr kumimoji="0" lang="en-US" altLang="zh-CN" sz="2600" b="1"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6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大，趟数减少，读写记录的总数将减少。但 </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大，会使内部归并时间</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en-US" altLang="zh-CN" sz="2600" b="0" i="0" u="none" strike="noStrike" kern="1200" cap="none" spc="0" normalizeH="0" baseline="-25000" noProof="0" dirty="0">
                <a:ln>
                  <a:noFill/>
                </a:ln>
                <a:solidFill>
                  <a:schemeClr val="tx1"/>
                </a:solidFill>
                <a:effectLst/>
                <a:uLnTx/>
                <a:uFillTx/>
                <a:latin typeface="+mn-lt"/>
                <a:ea typeface="+mn-ea"/>
                <a:cs typeface="+mn-ea"/>
                <a:sym typeface="+mn-lt"/>
              </a:rPr>
              <a:t>mg</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增大?。</a:t>
            </a:r>
          </a:p>
        </p:txBody>
      </p:sp>
      <p:sp>
        <p:nvSpPr>
          <p:cNvPr id="172034" name="Rectangle 10"/>
          <p:cNvSpPr>
            <a:spLocks noChangeArrowheads="1"/>
          </p:cNvSpPr>
          <p:nvPr/>
        </p:nvSpPr>
        <p:spPr bwMode="auto">
          <a:xfrm>
            <a:off x="452438" y="1768475"/>
            <a:ext cx="6230938" cy="519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accent2"/>
                </a:solidFill>
                <a:effectLst/>
                <a:uLnTx/>
                <a:uFillTx/>
                <a:latin typeface="+mn-lt"/>
                <a:ea typeface="+mn-ea"/>
                <a:cs typeface="+mn-ea"/>
                <a:sym typeface="+mn-lt"/>
              </a:rPr>
              <a:t>一、多路平衡归并的性质：</a:t>
            </a:r>
          </a:p>
        </p:txBody>
      </p:sp>
      <p:sp>
        <p:nvSpPr>
          <p:cNvPr id="6" name="Rectangle 6"/>
          <p:cNvSpPr>
            <a:spLocks noChangeArrowheads="1"/>
          </p:cNvSpPr>
          <p:nvPr/>
        </p:nvSpPr>
        <p:spPr bwMode="auto">
          <a:xfrm>
            <a:off x="900113" y="150813"/>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多路平衡归并的实现</a:t>
            </a:r>
          </a:p>
        </p:txBody>
      </p:sp>
      <p:grpSp>
        <p:nvGrpSpPr>
          <p:cNvPr id="5" name="组合 4"/>
          <p:cNvGrpSpPr/>
          <p:nvPr/>
        </p:nvGrpSpPr>
        <p:grpSpPr>
          <a:xfrm>
            <a:off x="492308" y="2876691"/>
            <a:ext cx="2193548" cy="2146052"/>
            <a:chOff x="6683375" y="1722438"/>
            <a:chExt cx="4279900" cy="4189413"/>
          </a:xfrm>
          <a:solidFill>
            <a:schemeClr val="accent1">
              <a:lumMod val="75000"/>
            </a:schemeClr>
          </a:solidFill>
        </p:grpSpPr>
        <p:sp>
          <p:nvSpPr>
            <p:cNvPr id="7" name="Freeform 5"/>
            <p:cNvSpPr>
              <a:spLocks noEditPoints="1"/>
            </p:cNvSpPr>
            <p:nvPr/>
          </p:nvSpPr>
          <p:spPr bwMode="auto">
            <a:xfrm>
              <a:off x="6683375" y="1722438"/>
              <a:ext cx="4279900" cy="4189413"/>
            </a:xfrm>
            <a:custGeom>
              <a:avLst/>
              <a:gdLst>
                <a:gd name="T0" fmla="*/ 150 w 578"/>
                <a:gd name="T1" fmla="*/ 130 h 566"/>
                <a:gd name="T2" fmla="*/ 141 w 578"/>
                <a:gd name="T3" fmla="*/ 288 h 566"/>
                <a:gd name="T4" fmla="*/ 68 w 578"/>
                <a:gd name="T5" fmla="*/ 228 h 566"/>
                <a:gd name="T6" fmla="*/ 51 w 578"/>
                <a:gd name="T7" fmla="*/ 121 h 566"/>
                <a:gd name="T8" fmla="*/ 61 w 578"/>
                <a:gd name="T9" fmla="*/ 229 h 566"/>
                <a:gd name="T10" fmla="*/ 21 w 578"/>
                <a:gd name="T11" fmla="*/ 297 h 566"/>
                <a:gd name="T12" fmla="*/ 40 w 578"/>
                <a:gd name="T13" fmla="*/ 297 h 566"/>
                <a:gd name="T14" fmla="*/ 123 w 578"/>
                <a:gd name="T15" fmla="*/ 301 h 566"/>
                <a:gd name="T16" fmla="*/ 55 w 578"/>
                <a:gd name="T17" fmla="*/ 393 h 566"/>
                <a:gd name="T18" fmla="*/ 80 w 578"/>
                <a:gd name="T19" fmla="*/ 400 h 566"/>
                <a:gd name="T20" fmla="*/ 225 w 578"/>
                <a:gd name="T21" fmla="*/ 308 h 566"/>
                <a:gd name="T22" fmla="*/ 360 w 578"/>
                <a:gd name="T23" fmla="*/ 362 h 566"/>
                <a:gd name="T24" fmla="*/ 210 w 578"/>
                <a:gd name="T25" fmla="*/ 454 h 566"/>
                <a:gd name="T26" fmla="*/ 153 w 578"/>
                <a:gd name="T27" fmla="*/ 504 h 566"/>
                <a:gd name="T28" fmla="*/ 297 w 578"/>
                <a:gd name="T29" fmla="*/ 563 h 566"/>
                <a:gd name="T30" fmla="*/ 172 w 578"/>
                <a:gd name="T31" fmla="*/ 487 h 566"/>
                <a:gd name="T32" fmla="*/ 312 w 578"/>
                <a:gd name="T33" fmla="*/ 453 h 566"/>
                <a:gd name="T34" fmla="*/ 366 w 578"/>
                <a:gd name="T35" fmla="*/ 510 h 566"/>
                <a:gd name="T36" fmla="*/ 381 w 578"/>
                <a:gd name="T37" fmla="*/ 525 h 566"/>
                <a:gd name="T38" fmla="*/ 413 w 578"/>
                <a:gd name="T39" fmla="*/ 461 h 566"/>
                <a:gd name="T40" fmla="*/ 311 w 578"/>
                <a:gd name="T41" fmla="*/ 422 h 566"/>
                <a:gd name="T42" fmla="*/ 421 w 578"/>
                <a:gd name="T43" fmla="*/ 382 h 566"/>
                <a:gd name="T44" fmla="*/ 514 w 578"/>
                <a:gd name="T45" fmla="*/ 445 h 566"/>
                <a:gd name="T46" fmla="*/ 437 w 578"/>
                <a:gd name="T47" fmla="*/ 359 h 566"/>
                <a:gd name="T48" fmla="*/ 500 w 578"/>
                <a:gd name="T49" fmla="*/ 367 h 566"/>
                <a:gd name="T50" fmla="*/ 436 w 578"/>
                <a:gd name="T51" fmla="*/ 335 h 566"/>
                <a:gd name="T52" fmla="*/ 489 w 578"/>
                <a:gd name="T53" fmla="*/ 322 h 566"/>
                <a:gd name="T54" fmla="*/ 572 w 578"/>
                <a:gd name="T55" fmla="*/ 328 h 566"/>
                <a:gd name="T56" fmla="*/ 490 w 578"/>
                <a:gd name="T57" fmla="*/ 311 h 566"/>
                <a:gd name="T58" fmla="*/ 385 w 578"/>
                <a:gd name="T59" fmla="*/ 311 h 566"/>
                <a:gd name="T60" fmla="*/ 312 w 578"/>
                <a:gd name="T61" fmla="*/ 220 h 566"/>
                <a:gd name="T62" fmla="*/ 391 w 578"/>
                <a:gd name="T63" fmla="*/ 202 h 566"/>
                <a:gd name="T64" fmla="*/ 523 w 578"/>
                <a:gd name="T65" fmla="*/ 220 h 566"/>
                <a:gd name="T66" fmla="*/ 522 w 578"/>
                <a:gd name="T67" fmla="*/ 216 h 566"/>
                <a:gd name="T68" fmla="*/ 441 w 578"/>
                <a:gd name="T69" fmla="*/ 131 h 566"/>
                <a:gd name="T70" fmla="*/ 397 w 578"/>
                <a:gd name="T71" fmla="*/ 108 h 566"/>
                <a:gd name="T72" fmla="*/ 394 w 578"/>
                <a:gd name="T73" fmla="*/ 197 h 566"/>
                <a:gd name="T74" fmla="*/ 313 w 578"/>
                <a:gd name="T75" fmla="*/ 112 h 566"/>
                <a:gd name="T76" fmla="*/ 354 w 578"/>
                <a:gd name="T77" fmla="*/ 31 h 566"/>
                <a:gd name="T78" fmla="*/ 353 w 578"/>
                <a:gd name="T79" fmla="*/ 28 h 566"/>
                <a:gd name="T80" fmla="*/ 189 w 578"/>
                <a:gd name="T81" fmla="*/ 50 h 566"/>
                <a:gd name="T82" fmla="*/ 50 w 578"/>
                <a:gd name="T83" fmla="*/ 314 h 566"/>
                <a:gd name="T84" fmla="*/ 50 w 578"/>
                <a:gd name="T85" fmla="*/ 314 h 566"/>
                <a:gd name="T86" fmla="*/ 376 w 578"/>
                <a:gd name="T87" fmla="*/ 527 h 566"/>
                <a:gd name="T88" fmla="*/ 247 w 578"/>
                <a:gd name="T89" fmla="*/ 401 h 566"/>
                <a:gd name="T90" fmla="*/ 568 w 578"/>
                <a:gd name="T91" fmla="*/ 203 h 566"/>
                <a:gd name="T92" fmla="*/ 477 w 578"/>
                <a:gd name="T93" fmla="*/ 211 h 566"/>
                <a:gd name="T94" fmla="*/ 477 w 578"/>
                <a:gd name="T95" fmla="*/ 211 h 566"/>
                <a:gd name="T96" fmla="*/ 182 w 578"/>
                <a:gd name="T97" fmla="*/ 218 h 566"/>
                <a:gd name="T98" fmla="*/ 160 w 578"/>
                <a:gd name="T99" fmla="*/ 286 h 566"/>
                <a:gd name="T100" fmla="*/ 288 w 578"/>
                <a:gd name="T101" fmla="*/ 158 h 566"/>
                <a:gd name="T102" fmla="*/ 262 w 578"/>
                <a:gd name="T103" fmla="*/ 218 h 566"/>
                <a:gd name="T104" fmla="*/ 295 w 578"/>
                <a:gd name="T105" fmla="*/ 85 h 566"/>
                <a:gd name="T106" fmla="*/ 220 w 578"/>
                <a:gd name="T107" fmla="*/ 169 h 566"/>
                <a:gd name="T108" fmla="*/ 173 w 578"/>
                <a:gd name="T109" fmla="*/ 72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8" h="566">
                  <a:moveTo>
                    <a:pt x="143" y="58"/>
                  </a:moveTo>
                  <a:cubicBezTo>
                    <a:pt x="146" y="67"/>
                    <a:pt x="154" y="73"/>
                    <a:pt x="163" y="73"/>
                  </a:cubicBezTo>
                  <a:cubicBezTo>
                    <a:pt x="162" y="127"/>
                    <a:pt x="162" y="127"/>
                    <a:pt x="162" y="127"/>
                  </a:cubicBezTo>
                  <a:cubicBezTo>
                    <a:pt x="158" y="128"/>
                    <a:pt x="154" y="128"/>
                    <a:pt x="150" y="130"/>
                  </a:cubicBezTo>
                  <a:cubicBezTo>
                    <a:pt x="123" y="140"/>
                    <a:pt x="109" y="170"/>
                    <a:pt x="119" y="197"/>
                  </a:cubicBezTo>
                  <a:cubicBezTo>
                    <a:pt x="124" y="211"/>
                    <a:pt x="133" y="221"/>
                    <a:pt x="146" y="227"/>
                  </a:cubicBezTo>
                  <a:cubicBezTo>
                    <a:pt x="147" y="287"/>
                    <a:pt x="147" y="287"/>
                    <a:pt x="147" y="287"/>
                  </a:cubicBezTo>
                  <a:cubicBezTo>
                    <a:pt x="145" y="287"/>
                    <a:pt x="143" y="288"/>
                    <a:pt x="141" y="288"/>
                  </a:cubicBezTo>
                  <a:cubicBezTo>
                    <a:pt x="135" y="291"/>
                    <a:pt x="130" y="294"/>
                    <a:pt x="126" y="298"/>
                  </a:cubicBezTo>
                  <a:cubicBezTo>
                    <a:pt x="85" y="262"/>
                    <a:pt x="85" y="262"/>
                    <a:pt x="85" y="262"/>
                  </a:cubicBezTo>
                  <a:cubicBezTo>
                    <a:pt x="90" y="256"/>
                    <a:pt x="91" y="249"/>
                    <a:pt x="88" y="242"/>
                  </a:cubicBezTo>
                  <a:cubicBezTo>
                    <a:pt x="85" y="233"/>
                    <a:pt x="77" y="228"/>
                    <a:pt x="68" y="228"/>
                  </a:cubicBezTo>
                  <a:cubicBezTo>
                    <a:pt x="60" y="152"/>
                    <a:pt x="60" y="152"/>
                    <a:pt x="60" y="152"/>
                  </a:cubicBezTo>
                  <a:cubicBezTo>
                    <a:pt x="61" y="152"/>
                    <a:pt x="61" y="152"/>
                    <a:pt x="62" y="152"/>
                  </a:cubicBezTo>
                  <a:cubicBezTo>
                    <a:pt x="70" y="149"/>
                    <a:pt x="75" y="139"/>
                    <a:pt x="72" y="131"/>
                  </a:cubicBezTo>
                  <a:cubicBezTo>
                    <a:pt x="69" y="122"/>
                    <a:pt x="59" y="118"/>
                    <a:pt x="51" y="121"/>
                  </a:cubicBezTo>
                  <a:cubicBezTo>
                    <a:pt x="42" y="124"/>
                    <a:pt x="38" y="133"/>
                    <a:pt x="41" y="142"/>
                  </a:cubicBezTo>
                  <a:cubicBezTo>
                    <a:pt x="43" y="149"/>
                    <a:pt x="49" y="153"/>
                    <a:pt x="56" y="153"/>
                  </a:cubicBezTo>
                  <a:cubicBezTo>
                    <a:pt x="64" y="229"/>
                    <a:pt x="64" y="229"/>
                    <a:pt x="64" y="229"/>
                  </a:cubicBezTo>
                  <a:cubicBezTo>
                    <a:pt x="63" y="229"/>
                    <a:pt x="62" y="229"/>
                    <a:pt x="61" y="229"/>
                  </a:cubicBezTo>
                  <a:cubicBezTo>
                    <a:pt x="50" y="233"/>
                    <a:pt x="45" y="245"/>
                    <a:pt x="49" y="256"/>
                  </a:cubicBezTo>
                  <a:cubicBezTo>
                    <a:pt x="50" y="260"/>
                    <a:pt x="52" y="263"/>
                    <a:pt x="55" y="265"/>
                  </a:cubicBezTo>
                  <a:cubicBezTo>
                    <a:pt x="36" y="296"/>
                    <a:pt x="36" y="296"/>
                    <a:pt x="36" y="296"/>
                  </a:cubicBezTo>
                  <a:cubicBezTo>
                    <a:pt x="31" y="295"/>
                    <a:pt x="26" y="295"/>
                    <a:pt x="21" y="297"/>
                  </a:cubicBezTo>
                  <a:cubicBezTo>
                    <a:pt x="7" y="302"/>
                    <a:pt x="0" y="317"/>
                    <a:pt x="5" y="331"/>
                  </a:cubicBezTo>
                  <a:cubicBezTo>
                    <a:pt x="10" y="345"/>
                    <a:pt x="25" y="352"/>
                    <a:pt x="39" y="347"/>
                  </a:cubicBezTo>
                  <a:cubicBezTo>
                    <a:pt x="53" y="342"/>
                    <a:pt x="60" y="327"/>
                    <a:pt x="55" y="313"/>
                  </a:cubicBezTo>
                  <a:cubicBezTo>
                    <a:pt x="52" y="305"/>
                    <a:pt x="47" y="300"/>
                    <a:pt x="40" y="297"/>
                  </a:cubicBezTo>
                  <a:cubicBezTo>
                    <a:pt x="58" y="268"/>
                    <a:pt x="58" y="268"/>
                    <a:pt x="58" y="268"/>
                  </a:cubicBezTo>
                  <a:cubicBezTo>
                    <a:pt x="63" y="270"/>
                    <a:pt x="70" y="271"/>
                    <a:pt x="76" y="269"/>
                  </a:cubicBezTo>
                  <a:cubicBezTo>
                    <a:pt x="78" y="268"/>
                    <a:pt x="81" y="267"/>
                    <a:pt x="83" y="265"/>
                  </a:cubicBezTo>
                  <a:cubicBezTo>
                    <a:pt x="123" y="301"/>
                    <a:pt x="123" y="301"/>
                    <a:pt x="123" y="301"/>
                  </a:cubicBezTo>
                  <a:cubicBezTo>
                    <a:pt x="115" y="311"/>
                    <a:pt x="112" y="326"/>
                    <a:pt x="117" y="340"/>
                  </a:cubicBezTo>
                  <a:cubicBezTo>
                    <a:pt x="118" y="345"/>
                    <a:pt x="120" y="348"/>
                    <a:pt x="123" y="352"/>
                  </a:cubicBezTo>
                  <a:cubicBezTo>
                    <a:pt x="76" y="396"/>
                    <a:pt x="76" y="396"/>
                    <a:pt x="76" y="396"/>
                  </a:cubicBezTo>
                  <a:cubicBezTo>
                    <a:pt x="70" y="392"/>
                    <a:pt x="62" y="391"/>
                    <a:pt x="55" y="393"/>
                  </a:cubicBezTo>
                  <a:cubicBezTo>
                    <a:pt x="43" y="398"/>
                    <a:pt x="37" y="411"/>
                    <a:pt x="42" y="423"/>
                  </a:cubicBezTo>
                  <a:cubicBezTo>
                    <a:pt x="46" y="435"/>
                    <a:pt x="59" y="441"/>
                    <a:pt x="71" y="437"/>
                  </a:cubicBezTo>
                  <a:cubicBezTo>
                    <a:pt x="83" y="432"/>
                    <a:pt x="89" y="419"/>
                    <a:pt x="85" y="407"/>
                  </a:cubicBezTo>
                  <a:cubicBezTo>
                    <a:pt x="84" y="404"/>
                    <a:pt x="82" y="402"/>
                    <a:pt x="80" y="400"/>
                  </a:cubicBezTo>
                  <a:cubicBezTo>
                    <a:pt x="127" y="356"/>
                    <a:pt x="127" y="356"/>
                    <a:pt x="127" y="356"/>
                  </a:cubicBezTo>
                  <a:cubicBezTo>
                    <a:pt x="138" y="366"/>
                    <a:pt x="154" y="370"/>
                    <a:pt x="168" y="365"/>
                  </a:cubicBezTo>
                  <a:cubicBezTo>
                    <a:pt x="188" y="358"/>
                    <a:pt x="198" y="338"/>
                    <a:pt x="195" y="319"/>
                  </a:cubicBezTo>
                  <a:cubicBezTo>
                    <a:pt x="225" y="308"/>
                    <a:pt x="225" y="308"/>
                    <a:pt x="225" y="308"/>
                  </a:cubicBezTo>
                  <a:cubicBezTo>
                    <a:pt x="239" y="339"/>
                    <a:pt x="274" y="354"/>
                    <a:pt x="307" y="342"/>
                  </a:cubicBezTo>
                  <a:cubicBezTo>
                    <a:pt x="319" y="338"/>
                    <a:pt x="330" y="330"/>
                    <a:pt x="337" y="320"/>
                  </a:cubicBezTo>
                  <a:cubicBezTo>
                    <a:pt x="360" y="335"/>
                    <a:pt x="360" y="335"/>
                    <a:pt x="360" y="335"/>
                  </a:cubicBezTo>
                  <a:cubicBezTo>
                    <a:pt x="357" y="344"/>
                    <a:pt x="357" y="353"/>
                    <a:pt x="360" y="362"/>
                  </a:cubicBezTo>
                  <a:cubicBezTo>
                    <a:pt x="361" y="365"/>
                    <a:pt x="362" y="367"/>
                    <a:pt x="363" y="369"/>
                  </a:cubicBezTo>
                  <a:cubicBezTo>
                    <a:pt x="301" y="405"/>
                    <a:pt x="301" y="405"/>
                    <a:pt x="301" y="405"/>
                  </a:cubicBezTo>
                  <a:cubicBezTo>
                    <a:pt x="287" y="389"/>
                    <a:pt x="264" y="382"/>
                    <a:pt x="243" y="390"/>
                  </a:cubicBezTo>
                  <a:cubicBezTo>
                    <a:pt x="217" y="399"/>
                    <a:pt x="203" y="427"/>
                    <a:pt x="210" y="454"/>
                  </a:cubicBezTo>
                  <a:cubicBezTo>
                    <a:pt x="173" y="463"/>
                    <a:pt x="173" y="463"/>
                    <a:pt x="173" y="463"/>
                  </a:cubicBezTo>
                  <a:cubicBezTo>
                    <a:pt x="167" y="447"/>
                    <a:pt x="148" y="438"/>
                    <a:pt x="132" y="444"/>
                  </a:cubicBezTo>
                  <a:cubicBezTo>
                    <a:pt x="115" y="450"/>
                    <a:pt x="107" y="468"/>
                    <a:pt x="113" y="485"/>
                  </a:cubicBezTo>
                  <a:cubicBezTo>
                    <a:pt x="119" y="501"/>
                    <a:pt x="137" y="510"/>
                    <a:pt x="153" y="504"/>
                  </a:cubicBezTo>
                  <a:cubicBezTo>
                    <a:pt x="161" y="501"/>
                    <a:pt x="166" y="496"/>
                    <a:pt x="170" y="490"/>
                  </a:cubicBezTo>
                  <a:cubicBezTo>
                    <a:pt x="279" y="546"/>
                    <a:pt x="279" y="546"/>
                    <a:pt x="279" y="546"/>
                  </a:cubicBezTo>
                  <a:cubicBezTo>
                    <a:pt x="278" y="549"/>
                    <a:pt x="278" y="552"/>
                    <a:pt x="279" y="555"/>
                  </a:cubicBezTo>
                  <a:cubicBezTo>
                    <a:pt x="282" y="562"/>
                    <a:pt x="290" y="566"/>
                    <a:pt x="297" y="563"/>
                  </a:cubicBezTo>
                  <a:cubicBezTo>
                    <a:pt x="303" y="561"/>
                    <a:pt x="307" y="553"/>
                    <a:pt x="305" y="546"/>
                  </a:cubicBezTo>
                  <a:cubicBezTo>
                    <a:pt x="302" y="539"/>
                    <a:pt x="294" y="535"/>
                    <a:pt x="288" y="538"/>
                  </a:cubicBezTo>
                  <a:cubicBezTo>
                    <a:pt x="285" y="539"/>
                    <a:pt x="283" y="541"/>
                    <a:pt x="281" y="543"/>
                  </a:cubicBezTo>
                  <a:cubicBezTo>
                    <a:pt x="172" y="487"/>
                    <a:pt x="172" y="487"/>
                    <a:pt x="172" y="487"/>
                  </a:cubicBezTo>
                  <a:cubicBezTo>
                    <a:pt x="174" y="481"/>
                    <a:pt x="175" y="475"/>
                    <a:pt x="174" y="469"/>
                  </a:cubicBezTo>
                  <a:cubicBezTo>
                    <a:pt x="212" y="459"/>
                    <a:pt x="212" y="459"/>
                    <a:pt x="212" y="459"/>
                  </a:cubicBezTo>
                  <a:cubicBezTo>
                    <a:pt x="223" y="485"/>
                    <a:pt x="252" y="498"/>
                    <a:pt x="279" y="489"/>
                  </a:cubicBezTo>
                  <a:cubicBezTo>
                    <a:pt x="296" y="483"/>
                    <a:pt x="308" y="469"/>
                    <a:pt x="312" y="453"/>
                  </a:cubicBezTo>
                  <a:cubicBezTo>
                    <a:pt x="367" y="458"/>
                    <a:pt x="367" y="458"/>
                    <a:pt x="367" y="458"/>
                  </a:cubicBezTo>
                  <a:cubicBezTo>
                    <a:pt x="364" y="464"/>
                    <a:pt x="363" y="471"/>
                    <a:pt x="365" y="478"/>
                  </a:cubicBezTo>
                  <a:cubicBezTo>
                    <a:pt x="367" y="483"/>
                    <a:pt x="371" y="487"/>
                    <a:pt x="375" y="490"/>
                  </a:cubicBezTo>
                  <a:cubicBezTo>
                    <a:pt x="366" y="510"/>
                    <a:pt x="366" y="510"/>
                    <a:pt x="366" y="510"/>
                  </a:cubicBezTo>
                  <a:cubicBezTo>
                    <a:pt x="360" y="507"/>
                    <a:pt x="353" y="507"/>
                    <a:pt x="347" y="509"/>
                  </a:cubicBezTo>
                  <a:cubicBezTo>
                    <a:pt x="333" y="514"/>
                    <a:pt x="326" y="529"/>
                    <a:pt x="331" y="543"/>
                  </a:cubicBezTo>
                  <a:cubicBezTo>
                    <a:pt x="335" y="557"/>
                    <a:pt x="351" y="564"/>
                    <a:pt x="365" y="559"/>
                  </a:cubicBezTo>
                  <a:cubicBezTo>
                    <a:pt x="378" y="554"/>
                    <a:pt x="386" y="539"/>
                    <a:pt x="381" y="525"/>
                  </a:cubicBezTo>
                  <a:cubicBezTo>
                    <a:pt x="379" y="519"/>
                    <a:pt x="375" y="515"/>
                    <a:pt x="370" y="512"/>
                  </a:cubicBezTo>
                  <a:cubicBezTo>
                    <a:pt x="378" y="492"/>
                    <a:pt x="378" y="492"/>
                    <a:pt x="378" y="492"/>
                  </a:cubicBezTo>
                  <a:cubicBezTo>
                    <a:pt x="384" y="495"/>
                    <a:pt x="391" y="496"/>
                    <a:pt x="398" y="493"/>
                  </a:cubicBezTo>
                  <a:cubicBezTo>
                    <a:pt x="411" y="489"/>
                    <a:pt x="418" y="474"/>
                    <a:pt x="413" y="461"/>
                  </a:cubicBezTo>
                  <a:cubicBezTo>
                    <a:pt x="408" y="448"/>
                    <a:pt x="394" y="441"/>
                    <a:pt x="381" y="446"/>
                  </a:cubicBezTo>
                  <a:cubicBezTo>
                    <a:pt x="376" y="448"/>
                    <a:pt x="372" y="451"/>
                    <a:pt x="369" y="455"/>
                  </a:cubicBezTo>
                  <a:cubicBezTo>
                    <a:pt x="313" y="449"/>
                    <a:pt x="313" y="449"/>
                    <a:pt x="313" y="449"/>
                  </a:cubicBezTo>
                  <a:cubicBezTo>
                    <a:pt x="315" y="440"/>
                    <a:pt x="314" y="431"/>
                    <a:pt x="311" y="422"/>
                  </a:cubicBezTo>
                  <a:cubicBezTo>
                    <a:pt x="310" y="419"/>
                    <a:pt x="309" y="417"/>
                    <a:pt x="308" y="415"/>
                  </a:cubicBezTo>
                  <a:cubicBezTo>
                    <a:pt x="371" y="379"/>
                    <a:pt x="371" y="379"/>
                    <a:pt x="371" y="379"/>
                  </a:cubicBezTo>
                  <a:cubicBezTo>
                    <a:pt x="382" y="388"/>
                    <a:pt x="397" y="392"/>
                    <a:pt x="412" y="387"/>
                  </a:cubicBezTo>
                  <a:cubicBezTo>
                    <a:pt x="415" y="386"/>
                    <a:pt x="419" y="384"/>
                    <a:pt x="421" y="382"/>
                  </a:cubicBezTo>
                  <a:cubicBezTo>
                    <a:pt x="466" y="436"/>
                    <a:pt x="466" y="436"/>
                    <a:pt x="466" y="436"/>
                  </a:cubicBezTo>
                  <a:cubicBezTo>
                    <a:pt x="460" y="444"/>
                    <a:pt x="457" y="454"/>
                    <a:pt x="461" y="464"/>
                  </a:cubicBezTo>
                  <a:cubicBezTo>
                    <a:pt x="466" y="479"/>
                    <a:pt x="482" y="486"/>
                    <a:pt x="497" y="481"/>
                  </a:cubicBezTo>
                  <a:cubicBezTo>
                    <a:pt x="512" y="476"/>
                    <a:pt x="520" y="460"/>
                    <a:pt x="514" y="445"/>
                  </a:cubicBezTo>
                  <a:cubicBezTo>
                    <a:pt x="509" y="430"/>
                    <a:pt x="493" y="422"/>
                    <a:pt x="478" y="428"/>
                  </a:cubicBezTo>
                  <a:cubicBezTo>
                    <a:pt x="475" y="429"/>
                    <a:pt x="473" y="430"/>
                    <a:pt x="470" y="432"/>
                  </a:cubicBezTo>
                  <a:cubicBezTo>
                    <a:pt x="426" y="378"/>
                    <a:pt x="426" y="378"/>
                    <a:pt x="426" y="378"/>
                  </a:cubicBezTo>
                  <a:cubicBezTo>
                    <a:pt x="432" y="373"/>
                    <a:pt x="436" y="366"/>
                    <a:pt x="437" y="359"/>
                  </a:cubicBezTo>
                  <a:cubicBezTo>
                    <a:pt x="476" y="369"/>
                    <a:pt x="476" y="369"/>
                    <a:pt x="476" y="369"/>
                  </a:cubicBezTo>
                  <a:cubicBezTo>
                    <a:pt x="476" y="371"/>
                    <a:pt x="476" y="373"/>
                    <a:pt x="477" y="375"/>
                  </a:cubicBezTo>
                  <a:cubicBezTo>
                    <a:pt x="479" y="381"/>
                    <a:pt x="486" y="385"/>
                    <a:pt x="493" y="382"/>
                  </a:cubicBezTo>
                  <a:cubicBezTo>
                    <a:pt x="499" y="380"/>
                    <a:pt x="502" y="373"/>
                    <a:pt x="500" y="367"/>
                  </a:cubicBezTo>
                  <a:cubicBezTo>
                    <a:pt x="498" y="360"/>
                    <a:pt x="491" y="357"/>
                    <a:pt x="485" y="359"/>
                  </a:cubicBezTo>
                  <a:cubicBezTo>
                    <a:pt x="481" y="361"/>
                    <a:pt x="479" y="363"/>
                    <a:pt x="477" y="366"/>
                  </a:cubicBezTo>
                  <a:cubicBezTo>
                    <a:pt x="438" y="355"/>
                    <a:pt x="438" y="355"/>
                    <a:pt x="438" y="355"/>
                  </a:cubicBezTo>
                  <a:cubicBezTo>
                    <a:pt x="439" y="349"/>
                    <a:pt x="439" y="342"/>
                    <a:pt x="436" y="335"/>
                  </a:cubicBezTo>
                  <a:cubicBezTo>
                    <a:pt x="436" y="334"/>
                    <a:pt x="435" y="332"/>
                    <a:pt x="435" y="331"/>
                  </a:cubicBezTo>
                  <a:cubicBezTo>
                    <a:pt x="465" y="321"/>
                    <a:pt x="465" y="321"/>
                    <a:pt x="465" y="321"/>
                  </a:cubicBezTo>
                  <a:cubicBezTo>
                    <a:pt x="468" y="327"/>
                    <a:pt x="475" y="331"/>
                    <a:pt x="482" y="328"/>
                  </a:cubicBezTo>
                  <a:cubicBezTo>
                    <a:pt x="485" y="327"/>
                    <a:pt x="488" y="325"/>
                    <a:pt x="489" y="322"/>
                  </a:cubicBezTo>
                  <a:cubicBezTo>
                    <a:pt x="514" y="331"/>
                    <a:pt x="514" y="331"/>
                    <a:pt x="514" y="331"/>
                  </a:cubicBezTo>
                  <a:cubicBezTo>
                    <a:pt x="513" y="337"/>
                    <a:pt x="513" y="343"/>
                    <a:pt x="515" y="349"/>
                  </a:cubicBezTo>
                  <a:cubicBezTo>
                    <a:pt x="521" y="364"/>
                    <a:pt x="538" y="373"/>
                    <a:pt x="554" y="367"/>
                  </a:cubicBezTo>
                  <a:cubicBezTo>
                    <a:pt x="569" y="361"/>
                    <a:pt x="578" y="344"/>
                    <a:pt x="572" y="328"/>
                  </a:cubicBezTo>
                  <a:cubicBezTo>
                    <a:pt x="566" y="312"/>
                    <a:pt x="549" y="304"/>
                    <a:pt x="533" y="310"/>
                  </a:cubicBezTo>
                  <a:cubicBezTo>
                    <a:pt x="525" y="313"/>
                    <a:pt x="518" y="320"/>
                    <a:pt x="515" y="328"/>
                  </a:cubicBezTo>
                  <a:cubicBezTo>
                    <a:pt x="490" y="318"/>
                    <a:pt x="490" y="318"/>
                    <a:pt x="490" y="318"/>
                  </a:cubicBezTo>
                  <a:cubicBezTo>
                    <a:pt x="491" y="316"/>
                    <a:pt x="491" y="314"/>
                    <a:pt x="490" y="311"/>
                  </a:cubicBezTo>
                  <a:cubicBezTo>
                    <a:pt x="487" y="304"/>
                    <a:pt x="480" y="301"/>
                    <a:pt x="473" y="303"/>
                  </a:cubicBezTo>
                  <a:cubicBezTo>
                    <a:pt x="467" y="305"/>
                    <a:pt x="463" y="312"/>
                    <a:pt x="464" y="318"/>
                  </a:cubicBezTo>
                  <a:cubicBezTo>
                    <a:pt x="433" y="328"/>
                    <a:pt x="433" y="328"/>
                    <a:pt x="433" y="328"/>
                  </a:cubicBezTo>
                  <a:cubicBezTo>
                    <a:pt x="423" y="312"/>
                    <a:pt x="403" y="304"/>
                    <a:pt x="385" y="311"/>
                  </a:cubicBezTo>
                  <a:cubicBezTo>
                    <a:pt x="377" y="313"/>
                    <a:pt x="370" y="318"/>
                    <a:pt x="366" y="325"/>
                  </a:cubicBezTo>
                  <a:cubicBezTo>
                    <a:pt x="343" y="309"/>
                    <a:pt x="343" y="309"/>
                    <a:pt x="343" y="309"/>
                  </a:cubicBezTo>
                  <a:cubicBezTo>
                    <a:pt x="351" y="294"/>
                    <a:pt x="353" y="276"/>
                    <a:pt x="347" y="258"/>
                  </a:cubicBezTo>
                  <a:cubicBezTo>
                    <a:pt x="340" y="241"/>
                    <a:pt x="328" y="227"/>
                    <a:pt x="312" y="220"/>
                  </a:cubicBezTo>
                  <a:cubicBezTo>
                    <a:pt x="321" y="191"/>
                    <a:pt x="321" y="191"/>
                    <a:pt x="321" y="191"/>
                  </a:cubicBezTo>
                  <a:cubicBezTo>
                    <a:pt x="328" y="191"/>
                    <a:pt x="334" y="191"/>
                    <a:pt x="341" y="189"/>
                  </a:cubicBezTo>
                  <a:cubicBezTo>
                    <a:pt x="348" y="186"/>
                    <a:pt x="353" y="182"/>
                    <a:pt x="358" y="177"/>
                  </a:cubicBezTo>
                  <a:cubicBezTo>
                    <a:pt x="391" y="202"/>
                    <a:pt x="391" y="202"/>
                    <a:pt x="391" y="202"/>
                  </a:cubicBezTo>
                  <a:cubicBezTo>
                    <a:pt x="385" y="214"/>
                    <a:pt x="384" y="229"/>
                    <a:pt x="389" y="243"/>
                  </a:cubicBezTo>
                  <a:cubicBezTo>
                    <a:pt x="399" y="270"/>
                    <a:pt x="429" y="284"/>
                    <a:pt x="456" y="275"/>
                  </a:cubicBezTo>
                  <a:cubicBezTo>
                    <a:pt x="478" y="267"/>
                    <a:pt x="492" y="245"/>
                    <a:pt x="491" y="223"/>
                  </a:cubicBezTo>
                  <a:cubicBezTo>
                    <a:pt x="523" y="220"/>
                    <a:pt x="523" y="220"/>
                    <a:pt x="523" y="220"/>
                  </a:cubicBezTo>
                  <a:cubicBezTo>
                    <a:pt x="528" y="233"/>
                    <a:pt x="543" y="240"/>
                    <a:pt x="556" y="235"/>
                  </a:cubicBezTo>
                  <a:cubicBezTo>
                    <a:pt x="570" y="230"/>
                    <a:pt x="577" y="215"/>
                    <a:pt x="573" y="201"/>
                  </a:cubicBezTo>
                  <a:cubicBezTo>
                    <a:pt x="568" y="187"/>
                    <a:pt x="552" y="180"/>
                    <a:pt x="539" y="185"/>
                  </a:cubicBezTo>
                  <a:cubicBezTo>
                    <a:pt x="525" y="189"/>
                    <a:pt x="518" y="203"/>
                    <a:pt x="522" y="216"/>
                  </a:cubicBezTo>
                  <a:cubicBezTo>
                    <a:pt x="491" y="219"/>
                    <a:pt x="491" y="219"/>
                    <a:pt x="491" y="219"/>
                  </a:cubicBezTo>
                  <a:cubicBezTo>
                    <a:pt x="490" y="215"/>
                    <a:pt x="490" y="211"/>
                    <a:pt x="488" y="207"/>
                  </a:cubicBezTo>
                  <a:cubicBezTo>
                    <a:pt x="481" y="188"/>
                    <a:pt x="464" y="175"/>
                    <a:pt x="445" y="173"/>
                  </a:cubicBezTo>
                  <a:cubicBezTo>
                    <a:pt x="441" y="131"/>
                    <a:pt x="441" y="131"/>
                    <a:pt x="441" y="131"/>
                  </a:cubicBezTo>
                  <a:cubicBezTo>
                    <a:pt x="442" y="131"/>
                    <a:pt x="443" y="131"/>
                    <a:pt x="444" y="130"/>
                  </a:cubicBezTo>
                  <a:cubicBezTo>
                    <a:pt x="463" y="124"/>
                    <a:pt x="472" y="103"/>
                    <a:pt x="466" y="84"/>
                  </a:cubicBezTo>
                  <a:cubicBezTo>
                    <a:pt x="459" y="65"/>
                    <a:pt x="438" y="55"/>
                    <a:pt x="419" y="62"/>
                  </a:cubicBezTo>
                  <a:cubicBezTo>
                    <a:pt x="400" y="68"/>
                    <a:pt x="390" y="89"/>
                    <a:pt x="397" y="108"/>
                  </a:cubicBezTo>
                  <a:cubicBezTo>
                    <a:pt x="402" y="122"/>
                    <a:pt x="415" y="131"/>
                    <a:pt x="429" y="132"/>
                  </a:cubicBezTo>
                  <a:cubicBezTo>
                    <a:pt x="432" y="173"/>
                    <a:pt x="432" y="173"/>
                    <a:pt x="432" y="173"/>
                  </a:cubicBezTo>
                  <a:cubicBezTo>
                    <a:pt x="429" y="173"/>
                    <a:pt x="425" y="174"/>
                    <a:pt x="421" y="175"/>
                  </a:cubicBezTo>
                  <a:cubicBezTo>
                    <a:pt x="409" y="180"/>
                    <a:pt x="400" y="187"/>
                    <a:pt x="394" y="197"/>
                  </a:cubicBezTo>
                  <a:cubicBezTo>
                    <a:pt x="362" y="172"/>
                    <a:pt x="362" y="172"/>
                    <a:pt x="362" y="172"/>
                  </a:cubicBezTo>
                  <a:cubicBezTo>
                    <a:pt x="368" y="162"/>
                    <a:pt x="370" y="149"/>
                    <a:pt x="365" y="137"/>
                  </a:cubicBezTo>
                  <a:cubicBezTo>
                    <a:pt x="358" y="116"/>
                    <a:pt x="335" y="105"/>
                    <a:pt x="314" y="112"/>
                  </a:cubicBezTo>
                  <a:cubicBezTo>
                    <a:pt x="314" y="112"/>
                    <a:pt x="313" y="112"/>
                    <a:pt x="313" y="112"/>
                  </a:cubicBezTo>
                  <a:cubicBezTo>
                    <a:pt x="302" y="81"/>
                    <a:pt x="302" y="81"/>
                    <a:pt x="302" y="81"/>
                  </a:cubicBezTo>
                  <a:cubicBezTo>
                    <a:pt x="311" y="74"/>
                    <a:pt x="315" y="62"/>
                    <a:pt x="311" y="51"/>
                  </a:cubicBezTo>
                  <a:cubicBezTo>
                    <a:pt x="311" y="51"/>
                    <a:pt x="311" y="51"/>
                    <a:pt x="311" y="51"/>
                  </a:cubicBezTo>
                  <a:cubicBezTo>
                    <a:pt x="354" y="31"/>
                    <a:pt x="354" y="31"/>
                    <a:pt x="354" y="31"/>
                  </a:cubicBezTo>
                  <a:cubicBezTo>
                    <a:pt x="359" y="39"/>
                    <a:pt x="368" y="42"/>
                    <a:pt x="377" y="39"/>
                  </a:cubicBezTo>
                  <a:cubicBezTo>
                    <a:pt x="387" y="36"/>
                    <a:pt x="392" y="25"/>
                    <a:pt x="388" y="15"/>
                  </a:cubicBezTo>
                  <a:cubicBezTo>
                    <a:pt x="385" y="5"/>
                    <a:pt x="374" y="0"/>
                    <a:pt x="364" y="4"/>
                  </a:cubicBezTo>
                  <a:cubicBezTo>
                    <a:pt x="355" y="7"/>
                    <a:pt x="350" y="18"/>
                    <a:pt x="353" y="28"/>
                  </a:cubicBezTo>
                  <a:cubicBezTo>
                    <a:pt x="309" y="47"/>
                    <a:pt x="309" y="47"/>
                    <a:pt x="309" y="47"/>
                  </a:cubicBezTo>
                  <a:cubicBezTo>
                    <a:pt x="303" y="36"/>
                    <a:pt x="290" y="31"/>
                    <a:pt x="277" y="35"/>
                  </a:cubicBezTo>
                  <a:cubicBezTo>
                    <a:pt x="268" y="38"/>
                    <a:pt x="262" y="47"/>
                    <a:pt x="260" y="56"/>
                  </a:cubicBezTo>
                  <a:cubicBezTo>
                    <a:pt x="189" y="50"/>
                    <a:pt x="189" y="50"/>
                    <a:pt x="189" y="50"/>
                  </a:cubicBezTo>
                  <a:cubicBezTo>
                    <a:pt x="189" y="47"/>
                    <a:pt x="189" y="44"/>
                    <a:pt x="188" y="42"/>
                  </a:cubicBezTo>
                  <a:cubicBezTo>
                    <a:pt x="183" y="29"/>
                    <a:pt x="170" y="23"/>
                    <a:pt x="157" y="27"/>
                  </a:cubicBezTo>
                  <a:cubicBezTo>
                    <a:pt x="145" y="32"/>
                    <a:pt x="138" y="45"/>
                    <a:pt x="143" y="58"/>
                  </a:cubicBezTo>
                  <a:close/>
                  <a:moveTo>
                    <a:pt x="50" y="314"/>
                  </a:moveTo>
                  <a:cubicBezTo>
                    <a:pt x="54" y="326"/>
                    <a:pt x="48" y="338"/>
                    <a:pt x="37" y="342"/>
                  </a:cubicBezTo>
                  <a:cubicBezTo>
                    <a:pt x="26" y="346"/>
                    <a:pt x="13" y="340"/>
                    <a:pt x="9" y="329"/>
                  </a:cubicBezTo>
                  <a:cubicBezTo>
                    <a:pt x="5" y="318"/>
                    <a:pt x="11" y="305"/>
                    <a:pt x="23" y="301"/>
                  </a:cubicBezTo>
                  <a:cubicBezTo>
                    <a:pt x="34" y="297"/>
                    <a:pt x="46" y="303"/>
                    <a:pt x="50" y="314"/>
                  </a:cubicBezTo>
                  <a:close/>
                  <a:moveTo>
                    <a:pt x="363" y="555"/>
                  </a:moveTo>
                  <a:cubicBezTo>
                    <a:pt x="352" y="559"/>
                    <a:pt x="339" y="553"/>
                    <a:pt x="335" y="542"/>
                  </a:cubicBezTo>
                  <a:cubicBezTo>
                    <a:pt x="331" y="530"/>
                    <a:pt x="337" y="518"/>
                    <a:pt x="348" y="514"/>
                  </a:cubicBezTo>
                  <a:cubicBezTo>
                    <a:pt x="360" y="510"/>
                    <a:pt x="372" y="516"/>
                    <a:pt x="376" y="527"/>
                  </a:cubicBezTo>
                  <a:cubicBezTo>
                    <a:pt x="380" y="538"/>
                    <a:pt x="374" y="551"/>
                    <a:pt x="363" y="555"/>
                  </a:cubicBezTo>
                  <a:close/>
                  <a:moveTo>
                    <a:pt x="275" y="477"/>
                  </a:moveTo>
                  <a:cubicBezTo>
                    <a:pt x="254" y="485"/>
                    <a:pt x="231" y="474"/>
                    <a:pt x="223" y="453"/>
                  </a:cubicBezTo>
                  <a:cubicBezTo>
                    <a:pt x="215" y="432"/>
                    <a:pt x="226" y="409"/>
                    <a:pt x="247" y="401"/>
                  </a:cubicBezTo>
                  <a:cubicBezTo>
                    <a:pt x="269" y="394"/>
                    <a:pt x="292" y="405"/>
                    <a:pt x="299" y="426"/>
                  </a:cubicBezTo>
                  <a:cubicBezTo>
                    <a:pt x="307" y="447"/>
                    <a:pt x="296" y="470"/>
                    <a:pt x="275" y="477"/>
                  </a:cubicBezTo>
                  <a:close/>
                  <a:moveTo>
                    <a:pt x="540" y="189"/>
                  </a:moveTo>
                  <a:cubicBezTo>
                    <a:pt x="551" y="185"/>
                    <a:pt x="564" y="191"/>
                    <a:pt x="568" y="203"/>
                  </a:cubicBezTo>
                  <a:cubicBezTo>
                    <a:pt x="572" y="214"/>
                    <a:pt x="566" y="226"/>
                    <a:pt x="555" y="230"/>
                  </a:cubicBezTo>
                  <a:cubicBezTo>
                    <a:pt x="543" y="234"/>
                    <a:pt x="531" y="229"/>
                    <a:pt x="527" y="217"/>
                  </a:cubicBezTo>
                  <a:cubicBezTo>
                    <a:pt x="523" y="206"/>
                    <a:pt x="529" y="193"/>
                    <a:pt x="540" y="189"/>
                  </a:cubicBezTo>
                  <a:close/>
                  <a:moveTo>
                    <a:pt x="477" y="211"/>
                  </a:moveTo>
                  <a:cubicBezTo>
                    <a:pt x="484" y="232"/>
                    <a:pt x="473" y="256"/>
                    <a:pt x="452" y="263"/>
                  </a:cubicBezTo>
                  <a:cubicBezTo>
                    <a:pt x="431" y="271"/>
                    <a:pt x="408" y="260"/>
                    <a:pt x="400" y="239"/>
                  </a:cubicBezTo>
                  <a:cubicBezTo>
                    <a:pt x="393" y="218"/>
                    <a:pt x="404" y="194"/>
                    <a:pt x="425" y="187"/>
                  </a:cubicBezTo>
                  <a:cubicBezTo>
                    <a:pt x="446" y="179"/>
                    <a:pt x="469" y="190"/>
                    <a:pt x="477" y="211"/>
                  </a:cubicBezTo>
                  <a:close/>
                  <a:moveTo>
                    <a:pt x="130" y="193"/>
                  </a:moveTo>
                  <a:cubicBezTo>
                    <a:pt x="123" y="172"/>
                    <a:pt x="134" y="149"/>
                    <a:pt x="155" y="141"/>
                  </a:cubicBezTo>
                  <a:cubicBezTo>
                    <a:pt x="176" y="134"/>
                    <a:pt x="199" y="145"/>
                    <a:pt x="206" y="166"/>
                  </a:cubicBezTo>
                  <a:cubicBezTo>
                    <a:pt x="214" y="187"/>
                    <a:pt x="203" y="210"/>
                    <a:pt x="182" y="218"/>
                  </a:cubicBezTo>
                  <a:cubicBezTo>
                    <a:pt x="161" y="225"/>
                    <a:pt x="138" y="214"/>
                    <a:pt x="130" y="193"/>
                  </a:cubicBezTo>
                  <a:close/>
                  <a:moveTo>
                    <a:pt x="221" y="297"/>
                  </a:moveTo>
                  <a:cubicBezTo>
                    <a:pt x="190" y="307"/>
                    <a:pt x="190" y="307"/>
                    <a:pt x="190" y="307"/>
                  </a:cubicBezTo>
                  <a:cubicBezTo>
                    <a:pt x="184" y="295"/>
                    <a:pt x="172" y="288"/>
                    <a:pt x="160" y="286"/>
                  </a:cubicBezTo>
                  <a:cubicBezTo>
                    <a:pt x="158" y="231"/>
                    <a:pt x="158" y="231"/>
                    <a:pt x="158" y="231"/>
                  </a:cubicBezTo>
                  <a:cubicBezTo>
                    <a:pt x="167" y="233"/>
                    <a:pt x="177" y="232"/>
                    <a:pt x="186" y="229"/>
                  </a:cubicBezTo>
                  <a:cubicBezTo>
                    <a:pt x="209" y="221"/>
                    <a:pt x="223" y="198"/>
                    <a:pt x="221" y="175"/>
                  </a:cubicBezTo>
                  <a:cubicBezTo>
                    <a:pt x="288" y="158"/>
                    <a:pt x="288" y="158"/>
                    <a:pt x="288" y="158"/>
                  </a:cubicBezTo>
                  <a:cubicBezTo>
                    <a:pt x="288" y="160"/>
                    <a:pt x="288" y="162"/>
                    <a:pt x="289" y="164"/>
                  </a:cubicBezTo>
                  <a:cubicBezTo>
                    <a:pt x="293" y="175"/>
                    <a:pt x="300" y="182"/>
                    <a:pt x="310" y="187"/>
                  </a:cubicBezTo>
                  <a:cubicBezTo>
                    <a:pt x="301" y="216"/>
                    <a:pt x="301" y="216"/>
                    <a:pt x="301" y="216"/>
                  </a:cubicBezTo>
                  <a:cubicBezTo>
                    <a:pt x="288" y="213"/>
                    <a:pt x="275" y="213"/>
                    <a:pt x="262" y="218"/>
                  </a:cubicBezTo>
                  <a:cubicBezTo>
                    <a:pt x="230" y="230"/>
                    <a:pt x="212" y="264"/>
                    <a:pt x="221" y="297"/>
                  </a:cubicBezTo>
                  <a:close/>
                  <a:moveTo>
                    <a:pt x="260" y="59"/>
                  </a:moveTo>
                  <a:cubicBezTo>
                    <a:pt x="260" y="62"/>
                    <a:pt x="260" y="66"/>
                    <a:pt x="261" y="69"/>
                  </a:cubicBezTo>
                  <a:cubicBezTo>
                    <a:pt x="266" y="82"/>
                    <a:pt x="281" y="89"/>
                    <a:pt x="295" y="85"/>
                  </a:cubicBezTo>
                  <a:cubicBezTo>
                    <a:pt x="296" y="84"/>
                    <a:pt x="296" y="84"/>
                    <a:pt x="297" y="84"/>
                  </a:cubicBezTo>
                  <a:cubicBezTo>
                    <a:pt x="308" y="115"/>
                    <a:pt x="308" y="115"/>
                    <a:pt x="308" y="115"/>
                  </a:cubicBezTo>
                  <a:cubicBezTo>
                    <a:pt x="294" y="122"/>
                    <a:pt x="286" y="137"/>
                    <a:pt x="287" y="152"/>
                  </a:cubicBezTo>
                  <a:cubicBezTo>
                    <a:pt x="220" y="169"/>
                    <a:pt x="220" y="169"/>
                    <a:pt x="220" y="169"/>
                  </a:cubicBezTo>
                  <a:cubicBezTo>
                    <a:pt x="219" y="166"/>
                    <a:pt x="219" y="164"/>
                    <a:pt x="218" y="162"/>
                  </a:cubicBezTo>
                  <a:cubicBezTo>
                    <a:pt x="210" y="139"/>
                    <a:pt x="188" y="126"/>
                    <a:pt x="166" y="127"/>
                  </a:cubicBezTo>
                  <a:cubicBezTo>
                    <a:pt x="167" y="74"/>
                    <a:pt x="167" y="74"/>
                    <a:pt x="167" y="74"/>
                  </a:cubicBezTo>
                  <a:cubicBezTo>
                    <a:pt x="169" y="73"/>
                    <a:pt x="171" y="73"/>
                    <a:pt x="173" y="72"/>
                  </a:cubicBezTo>
                  <a:cubicBezTo>
                    <a:pt x="182" y="69"/>
                    <a:pt x="187" y="62"/>
                    <a:pt x="189" y="54"/>
                  </a:cubicBezTo>
                  <a:lnTo>
                    <a:pt x="260" y="59"/>
                  </a:lnTo>
                  <a:close/>
                </a:path>
              </a:pathLst>
            </a:custGeom>
            <a:grp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1200" cap="none" spc="0" normalizeH="0" baseline="0" noProof="0">
                <a:ln>
                  <a:noFill/>
                </a:ln>
                <a:solidFill>
                  <a:schemeClr val="tx1"/>
                </a:solidFill>
                <a:effectLst/>
                <a:uLnTx/>
                <a:uFillTx/>
                <a:latin typeface="Times New Roman" panose="02020603050405020304" pitchFamily="18" charset="0"/>
                <a:ea typeface="楷体_GB2312" pitchFamily="49" charset="-122"/>
                <a:cs typeface="+mn-cs"/>
              </a:endParaRPr>
            </a:p>
          </p:txBody>
        </p:sp>
        <p:sp>
          <p:nvSpPr>
            <p:cNvPr id="8" name="文本框 7"/>
            <p:cNvSpPr txBox="1"/>
            <p:nvPr/>
          </p:nvSpPr>
          <p:spPr>
            <a:xfrm>
              <a:off x="7531099" y="2667001"/>
              <a:ext cx="774701" cy="901239"/>
            </a:xfrm>
            <a:prstGeom prst="rect">
              <a:avLst/>
            </a:prstGeom>
            <a:noFill/>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1200" cap="none" spc="0" normalizeH="0" baseline="0" noProof="0" dirty="0">
                <a:ln>
                  <a:noFill/>
                </a:ln>
                <a:solidFill>
                  <a:srgbClr val="EBAC07"/>
                </a:solidFill>
                <a:effectLst/>
                <a:uLnTx/>
                <a:uFillTx/>
                <a:latin typeface="微软雅黑" panose="020B0503020204020204" pitchFamily="34" charset="-122"/>
                <a:ea typeface="微软雅黑" panose="020B0503020204020204" pitchFamily="34" charset="-122"/>
                <a:cs typeface="+mn-cs"/>
              </a:endParaRPr>
            </a:p>
          </p:txBody>
        </p:sp>
        <p:sp>
          <p:nvSpPr>
            <p:cNvPr id="9" name="文本框 8"/>
            <p:cNvSpPr txBox="1"/>
            <p:nvPr/>
          </p:nvSpPr>
          <p:spPr>
            <a:xfrm>
              <a:off x="9537700" y="3035002"/>
              <a:ext cx="774701" cy="901239"/>
            </a:xfrm>
            <a:prstGeom prst="rect">
              <a:avLst/>
            </a:prstGeom>
            <a:noFill/>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1200" cap="none" spc="0" normalizeH="0" baseline="0" noProof="0" dirty="0">
                <a:ln>
                  <a:noFill/>
                </a:ln>
                <a:solidFill>
                  <a:srgbClr val="A2B932"/>
                </a:solidFill>
                <a:effectLst/>
                <a:uLnTx/>
                <a:uFillTx/>
                <a:latin typeface="微软雅黑" panose="020B0503020204020204" pitchFamily="34" charset="-122"/>
                <a:ea typeface="微软雅黑" panose="020B0503020204020204" pitchFamily="34" charset="-122"/>
                <a:cs typeface="+mn-cs"/>
              </a:endParaRPr>
            </a:p>
          </p:txBody>
        </p:sp>
        <p:sp>
          <p:nvSpPr>
            <p:cNvPr id="10" name="文本框 9"/>
            <p:cNvSpPr txBox="1"/>
            <p:nvPr/>
          </p:nvSpPr>
          <p:spPr>
            <a:xfrm>
              <a:off x="8216900" y="4597102"/>
              <a:ext cx="774701" cy="901239"/>
            </a:xfrm>
            <a:prstGeom prst="rect">
              <a:avLst/>
            </a:prstGeom>
            <a:noFill/>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1200" cap="none" spc="0" normalizeH="0" baseline="0" noProof="0" dirty="0">
                <a:ln>
                  <a:noFill/>
                </a:ln>
                <a:solidFill>
                  <a:srgbClr val="4C6062"/>
                </a:solidFill>
                <a:effectLst/>
                <a:uLnTx/>
                <a:uFillTx/>
                <a:latin typeface="微软雅黑" panose="020B0503020204020204" pitchFamily="34" charset="-122"/>
                <a:ea typeface="微软雅黑" panose="020B0503020204020204" pitchFamily="34" charset="-122"/>
                <a:cs typeface="+mn-cs"/>
              </a:endParaRPr>
            </a:p>
          </p:txBody>
        </p:sp>
      </p:grpSp>
      <p:cxnSp>
        <p:nvCxnSpPr>
          <p:cNvPr id="190470" name="直接连接符 2"/>
          <p:cNvCxnSpPr/>
          <p:nvPr/>
        </p:nvCxnSpPr>
        <p:spPr>
          <a:xfrm>
            <a:off x="927100" y="2516188"/>
            <a:ext cx="7677150" cy="0"/>
          </a:xfrm>
          <a:prstGeom prst="line">
            <a:avLst/>
          </a:prstGeom>
          <a:ln w="9525" cap="flat" cmpd="sng">
            <a:solidFill>
              <a:schemeClr val="accent2"/>
            </a:solidFill>
            <a:prstDash val="solid"/>
            <a:headEnd type="none" w="med" len="med"/>
            <a:tailEnd type="none" w="med" len="med"/>
          </a:ln>
        </p:spPr>
      </p:cxnSp>
    </p:spTree>
  </p:cSld>
  <p:clrMapOvr>
    <a:masterClrMapping/>
  </p:clrMapOvr>
  <p:transition>
    <p:wipe dir="d"/>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矩形 1"/>
          <p:cNvSpPr/>
          <p:nvPr/>
        </p:nvSpPr>
        <p:spPr>
          <a:xfrm>
            <a:off x="9525" y="4422775"/>
            <a:ext cx="9144000" cy="1655763"/>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74082" name="Rectangle 2"/>
          <p:cNvSpPr>
            <a:spLocks noChangeArrowheads="1"/>
          </p:cNvSpPr>
          <p:nvPr/>
        </p:nvSpPr>
        <p:spPr bwMode="auto">
          <a:xfrm>
            <a:off x="501650" y="1117600"/>
            <a:ext cx="8188325" cy="28495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1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设从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个元素中挑选一个最小的元素需 (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k-1)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次比较。</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每次比较耗费的时间代价为</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10000" noProof="0" dirty="0" err="1">
                <a:ln>
                  <a:noFill/>
                </a:ln>
                <a:solidFill>
                  <a:schemeClr val="tx1"/>
                </a:solidFill>
                <a:effectLst/>
                <a:uLnTx/>
                <a:uFillTx/>
                <a:latin typeface="+mn-lt"/>
                <a:ea typeface="+mn-ea"/>
                <a:cs typeface="+mn-ea"/>
                <a:sym typeface="+mn-lt"/>
              </a:rPr>
              <a:t>mg</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在进行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路平衡归并时</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,要得到</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个初始归并段,则内部归并过程中进行的比较的总的次数为:</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10000"/>
              </a:lnSpc>
              <a:spcBef>
                <a:spcPct val="50000"/>
              </a:spcBef>
              <a:spcAft>
                <a:spcPct val="0"/>
              </a:spcAft>
              <a:buClrTx/>
              <a:buSzTx/>
              <a:buFont typeface="Arial" panose="020B0604020202020204" pitchFamily="34" charset="0"/>
              <a:buNone/>
              <a:defRPr/>
            </a:pPr>
            <a:endParaRPr kumimoji="0" lang="zh-CN" altLang="en-US" sz="10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7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folHlink"/>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a:t>
            </a:r>
            <a:r>
              <a:rPr kumimoji="0" lang="zh-CN" altLang="en-US" sz="2400" b="0" i="0" u="none" strike="noStrike" kern="1200" cap="none" spc="0" normalizeH="0" baseline="0" noProof="0" dirty="0">
                <a:ln>
                  <a:noFill/>
                </a:ln>
                <a:solidFill>
                  <a:schemeClr val="folHlink"/>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log</a:t>
            </a:r>
            <a:r>
              <a:rPr kumimoji="0" lang="en-US" altLang="zh-CN" sz="2400" b="0" i="0" u="none" strike="noStrike" kern="1200" cap="none" spc="0" normalizeH="0" baseline="-30000" noProof="0" dirty="0" err="1">
                <a:ln>
                  <a:noFill/>
                </a:ln>
                <a:solidFill>
                  <a:schemeClr val="hlink"/>
                </a:solidFill>
                <a:effectLst/>
                <a:uLnTx/>
                <a:uFillTx/>
                <a:latin typeface="+mn-lt"/>
                <a:ea typeface="+mn-ea"/>
                <a:cs typeface="+mn-ea"/>
                <a:sym typeface="+mn-lt"/>
              </a:rPr>
              <a:t>k</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m</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 ( k - 1 ) × ( n - 1 ) ×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t</a:t>
            </a:r>
            <a:r>
              <a:rPr kumimoji="0" lang="en-US" altLang="zh-CN" sz="2400" b="0" i="0" u="none" strike="noStrike" kern="1200" cap="none" spc="0" normalizeH="0" baseline="-10000" noProof="0" dirty="0" err="1">
                <a:ln>
                  <a:noFill/>
                </a:ln>
                <a:solidFill>
                  <a:schemeClr val="hlink"/>
                </a:solidFill>
                <a:effectLst/>
                <a:uLnTx/>
                <a:uFillTx/>
                <a:latin typeface="+mn-lt"/>
                <a:ea typeface="+mn-ea"/>
                <a:cs typeface="+mn-ea"/>
                <a:sym typeface="+mn-lt"/>
              </a:rPr>
              <a:t>mg</a:t>
            </a:r>
            <a:r>
              <a:rPr kumimoji="0" lang="en-US" altLang="zh-CN" sz="2400" b="0" i="0" u="none" strike="noStrike" kern="1200" cap="none" spc="0" normalizeH="0" baseline="-10000" noProof="0" dirty="0">
                <a:ln>
                  <a:noFill/>
                </a:ln>
                <a:solidFill>
                  <a:schemeClr val="hlink"/>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p>
          <a:p>
            <a:pPr marL="0" marR="0" lvl="0" indent="0" algn="l" defTabSz="914400" rtl="0" eaLnBrk="0" fontAlgn="base" latinLnBrk="0" hangingPunct="0">
              <a:lnSpc>
                <a:spcPct val="7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log</a:t>
            </a:r>
            <a:r>
              <a:rPr kumimoji="0" lang="en-US" altLang="zh-CN" sz="2400" b="0" i="0" u="none" strike="noStrike" kern="1200" cap="none" spc="0" normalizeH="0" baseline="-30000" noProof="0" dirty="0">
                <a:ln>
                  <a:noFill/>
                </a:ln>
                <a:solidFill>
                  <a:schemeClr val="hlink"/>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m </a:t>
            </a:r>
            <a:r>
              <a:rPr kumimoji="0" lang="en-US" altLang="zh-CN"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a:t>
            </a:r>
            <a:r>
              <a:rPr kumimoji="0" lang="zh-CN" altLang="en-US"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k - 1 ) / </a:t>
            </a:r>
            <a:r>
              <a:rPr kumimoji="0" lang="zh-CN" altLang="en-US"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log</a:t>
            </a:r>
            <a:r>
              <a:rPr kumimoji="0" lang="en-US" altLang="zh-CN" sz="2400" b="0" i="0" u="none" strike="noStrike" kern="1200" cap="none" spc="0" normalizeH="0" baseline="-30000" noProof="0" dirty="0">
                <a:ln>
                  <a:noFill/>
                </a:ln>
                <a:solidFill>
                  <a:schemeClr val="hlink"/>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 ( n - 1 ) ×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t</a:t>
            </a:r>
            <a:r>
              <a:rPr kumimoji="0" lang="en-US" altLang="zh-CN" sz="2400" b="0" i="0" u="none" strike="noStrike" kern="1200" cap="none" spc="0" normalizeH="0" baseline="-10000" noProof="0" dirty="0" err="1">
                <a:ln>
                  <a:noFill/>
                </a:ln>
                <a:solidFill>
                  <a:schemeClr val="hlink"/>
                </a:solidFill>
                <a:effectLst/>
                <a:uLnTx/>
                <a:uFillTx/>
                <a:latin typeface="+mn-lt"/>
                <a:ea typeface="+mn-ea"/>
                <a:cs typeface="+mn-ea"/>
                <a:sym typeface="+mn-lt"/>
              </a:rPr>
              <a:t>mg</a:t>
            </a:r>
            <a:r>
              <a:rPr kumimoji="0" lang="en-US" altLang="zh-CN" sz="2400" b="0" i="0" u="none" strike="noStrike" kern="1200" cap="none" spc="0" normalizeH="0" baseline="0" noProof="0" dirty="0">
                <a:ln>
                  <a:noFill/>
                </a:ln>
                <a:solidFill>
                  <a:schemeClr val="folHlink"/>
                </a:solidFill>
                <a:effectLst/>
                <a:uLnTx/>
                <a:uFillTx/>
                <a:latin typeface="+mn-lt"/>
                <a:ea typeface="+mn-ea"/>
                <a:cs typeface="+mn-ea"/>
                <a:sym typeface="+mn-lt"/>
              </a:rPr>
              <a:t> 		</a:t>
            </a:r>
          </a:p>
        </p:txBody>
      </p:sp>
      <p:sp>
        <p:nvSpPr>
          <p:cNvPr id="174101" name="Rectangle 26"/>
          <p:cNvSpPr>
            <a:spLocks noChangeArrowheads="1"/>
          </p:cNvSpPr>
          <p:nvPr/>
        </p:nvSpPr>
        <p:spPr bwMode="auto">
          <a:xfrm>
            <a:off x="727075" y="4602163"/>
            <a:ext cx="7512050" cy="1281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10000"/>
              </a:lnSpc>
              <a:spcBef>
                <a:spcPct val="50000"/>
              </a:spcBef>
              <a:spcAft>
                <a:spcPct val="0"/>
              </a:spcAft>
              <a:buClrTx/>
              <a:buSzTx/>
              <a:buFontTx/>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改进：</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采用胜者树或者败者树，从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个元素中挑选一个最小的元素仅需 </a:t>
            </a:r>
            <a:r>
              <a:rPr kumimoji="0" lang="zh-CN" altLang="en-US"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log</a:t>
            </a:r>
            <a:r>
              <a:rPr kumimoji="0" lang="en-US" altLang="zh-CN" sz="2400" b="0" i="0" u="none" strike="noStrike" kern="1200" cap="none" spc="0" normalizeH="0" baseline="-30000" noProof="0" dirty="0">
                <a:ln>
                  <a:noFill/>
                </a:ln>
                <a:solidFill>
                  <a:schemeClr val="hlink"/>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次比较，这时总的时间耗费将下降</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log</a:t>
            </a:r>
            <a:r>
              <a:rPr kumimoji="0" lang="en-US" altLang="zh-CN" sz="2400" b="0" i="0" u="none" strike="noStrike" kern="1200" cap="none" spc="0" normalizeH="0" baseline="-30000" noProof="0" dirty="0">
                <a:ln>
                  <a:noFill/>
                </a:ln>
                <a:solidFill>
                  <a:schemeClr val="hlink"/>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m</a:t>
            </a:r>
            <a:r>
              <a:rPr kumimoji="0" lang="en-US" altLang="zh-CN" sz="2400" b="0" i="0" u="none" strike="noStrike" kern="1200" cap="none" spc="0" normalizeH="0" baseline="0" noProof="0" dirty="0">
                <a:ln>
                  <a:noFill/>
                </a:ln>
                <a:solidFill>
                  <a:schemeClr val="tx1"/>
                </a:solidFill>
                <a:effectLst/>
                <a:uLnTx/>
                <a:uFillTx/>
                <a:latin typeface="Times New Roman" panose="02020603050405020304" pitchFamily="18" charset="0"/>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 ( n - 1 ) ×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t</a:t>
            </a:r>
            <a:r>
              <a:rPr kumimoji="0" lang="en-US" altLang="zh-CN" sz="2400" b="0" i="0" u="none" strike="noStrike" kern="1200" cap="none" spc="0" normalizeH="0" baseline="-10000" noProof="0" dirty="0" err="1">
                <a:ln>
                  <a:noFill/>
                </a:ln>
                <a:solidFill>
                  <a:schemeClr val="hlink"/>
                </a:solidFill>
                <a:effectLst/>
                <a:uLnTx/>
                <a:uFillTx/>
                <a:latin typeface="+mn-lt"/>
                <a:ea typeface="+mn-ea"/>
                <a:cs typeface="+mn-ea"/>
                <a:sym typeface="+mn-lt"/>
              </a:rPr>
              <a:t>mg</a:t>
            </a:r>
            <a:r>
              <a:rPr kumimoji="0" lang="en-US" altLang="zh-CN" sz="2400" b="0" i="0" u="none" strike="noStrike" kern="1200" cap="none" spc="0" normalizeH="0" baseline="-10000" noProof="0" dirty="0">
                <a:ln>
                  <a:noFill/>
                </a:ln>
                <a:solidFill>
                  <a:schemeClr val="tx1"/>
                </a:solidFill>
                <a:effectLst/>
                <a:uLnTx/>
                <a:uFillTx/>
                <a:latin typeface="+mn-lt"/>
                <a:ea typeface="+mn-ea"/>
                <a:cs typeface="+mn-ea"/>
                <a:sym typeface="+mn-lt"/>
              </a:rPr>
              <a:t> </a:t>
            </a:r>
          </a:p>
        </p:txBody>
      </p:sp>
      <p:sp>
        <p:nvSpPr>
          <p:cNvPr id="36" name="Rectangle 6"/>
          <p:cNvSpPr>
            <a:spLocks noChangeArrowheads="1"/>
          </p:cNvSpPr>
          <p:nvPr/>
        </p:nvSpPr>
        <p:spPr bwMode="auto">
          <a:xfrm>
            <a:off x="866775" y="13017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多路平衡归并的实现</a:t>
            </a:r>
          </a:p>
        </p:txBody>
      </p:sp>
      <p:sp>
        <p:nvSpPr>
          <p:cNvPr id="192518" name="矩形 2"/>
          <p:cNvSpPr/>
          <p:nvPr/>
        </p:nvSpPr>
        <p:spPr>
          <a:xfrm>
            <a:off x="0" y="4221163"/>
            <a:ext cx="9167813" cy="46037"/>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92519" name="矩形 37"/>
          <p:cNvSpPr/>
          <p:nvPr/>
        </p:nvSpPr>
        <p:spPr>
          <a:xfrm>
            <a:off x="-23812" y="6218238"/>
            <a:ext cx="9167812" cy="46037"/>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5" name="Rectangle 3"/>
          <p:cNvSpPr>
            <a:spLocks noChangeArrowheads="1"/>
          </p:cNvSpPr>
          <p:nvPr/>
        </p:nvSpPr>
        <p:spPr bwMode="auto">
          <a:xfrm>
            <a:off x="800100" y="962025"/>
            <a:ext cx="8115300" cy="519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accent2"/>
                </a:solidFill>
                <a:effectLst/>
                <a:uLnTx/>
                <a:uFillTx/>
                <a:latin typeface="+mn-lt"/>
                <a:ea typeface="+mn-ea"/>
                <a:cs typeface="+mn-ea"/>
                <a:sym typeface="+mn-lt"/>
              </a:rPr>
              <a:t>二、胜者树及其使用</a:t>
            </a:r>
          </a:p>
        </p:txBody>
      </p:sp>
      <p:sp>
        <p:nvSpPr>
          <p:cNvPr id="175107" name="Text Box 5"/>
          <p:cNvSpPr txBox="1">
            <a:spLocks noChangeArrowheads="1"/>
          </p:cNvSpPr>
          <p:nvPr/>
        </p:nvSpPr>
        <p:spPr bwMode="auto">
          <a:xfrm>
            <a:off x="2609850" y="16891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08" name="Line 6"/>
          <p:cNvSpPr>
            <a:spLocks noChangeShapeType="1"/>
          </p:cNvSpPr>
          <p:nvPr/>
        </p:nvSpPr>
        <p:spPr bwMode="auto">
          <a:xfrm flipH="1">
            <a:off x="1847850" y="2387600"/>
            <a:ext cx="762000" cy="6477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09" name="Line 7"/>
          <p:cNvSpPr>
            <a:spLocks noChangeShapeType="1"/>
          </p:cNvSpPr>
          <p:nvPr/>
        </p:nvSpPr>
        <p:spPr bwMode="auto">
          <a:xfrm>
            <a:off x="2838450" y="2387600"/>
            <a:ext cx="914400" cy="6477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10" name="Line 8"/>
          <p:cNvSpPr>
            <a:spLocks noChangeShapeType="1"/>
          </p:cNvSpPr>
          <p:nvPr/>
        </p:nvSpPr>
        <p:spPr bwMode="auto">
          <a:xfrm flipH="1">
            <a:off x="3219450" y="3152775"/>
            <a:ext cx="533400" cy="76517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11" name="Line 9"/>
          <p:cNvSpPr>
            <a:spLocks noChangeShapeType="1"/>
          </p:cNvSpPr>
          <p:nvPr/>
        </p:nvSpPr>
        <p:spPr bwMode="auto">
          <a:xfrm>
            <a:off x="3829050" y="3211513"/>
            <a:ext cx="533400" cy="76517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12" name="Line 10"/>
          <p:cNvSpPr>
            <a:spLocks noChangeShapeType="1"/>
          </p:cNvSpPr>
          <p:nvPr/>
        </p:nvSpPr>
        <p:spPr bwMode="auto">
          <a:xfrm flipH="1">
            <a:off x="1238250" y="3152775"/>
            <a:ext cx="533400" cy="76517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13" name="Line 11"/>
          <p:cNvSpPr>
            <a:spLocks noChangeShapeType="1"/>
          </p:cNvSpPr>
          <p:nvPr/>
        </p:nvSpPr>
        <p:spPr bwMode="auto">
          <a:xfrm>
            <a:off x="1771650" y="3152775"/>
            <a:ext cx="457200" cy="823913"/>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14" name="Oval 12"/>
          <p:cNvSpPr>
            <a:spLocks noChangeArrowheads="1"/>
          </p:cNvSpPr>
          <p:nvPr/>
        </p:nvSpPr>
        <p:spPr bwMode="auto">
          <a:xfrm>
            <a:off x="3524250" y="2976563"/>
            <a:ext cx="457200" cy="293688"/>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5115" name="Oval 13"/>
          <p:cNvSpPr>
            <a:spLocks noChangeArrowheads="1"/>
          </p:cNvSpPr>
          <p:nvPr/>
        </p:nvSpPr>
        <p:spPr bwMode="auto">
          <a:xfrm>
            <a:off x="1543050" y="2976563"/>
            <a:ext cx="457200" cy="293688"/>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5</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5116" name="Oval 14"/>
          <p:cNvSpPr>
            <a:spLocks noChangeArrowheads="1"/>
          </p:cNvSpPr>
          <p:nvPr/>
        </p:nvSpPr>
        <p:spPr bwMode="auto">
          <a:xfrm>
            <a:off x="2000250" y="3859213"/>
            <a:ext cx="457200" cy="293688"/>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175117" name="Oval 15"/>
          <p:cNvSpPr>
            <a:spLocks noChangeArrowheads="1"/>
          </p:cNvSpPr>
          <p:nvPr/>
        </p:nvSpPr>
        <p:spPr bwMode="auto">
          <a:xfrm>
            <a:off x="3067050" y="3859213"/>
            <a:ext cx="457200" cy="293688"/>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5118" name="Oval 16"/>
          <p:cNvSpPr>
            <a:spLocks noChangeArrowheads="1"/>
          </p:cNvSpPr>
          <p:nvPr/>
        </p:nvSpPr>
        <p:spPr bwMode="auto">
          <a:xfrm>
            <a:off x="1009650" y="3859213"/>
            <a:ext cx="457200" cy="293688"/>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5</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5119" name="Oval 17"/>
          <p:cNvSpPr>
            <a:spLocks noChangeArrowheads="1"/>
          </p:cNvSpPr>
          <p:nvPr/>
        </p:nvSpPr>
        <p:spPr bwMode="auto">
          <a:xfrm>
            <a:off x="4133850" y="3859213"/>
            <a:ext cx="457200" cy="293688"/>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5120" name="Oval 18"/>
          <p:cNvSpPr>
            <a:spLocks noChangeArrowheads="1"/>
          </p:cNvSpPr>
          <p:nvPr/>
        </p:nvSpPr>
        <p:spPr bwMode="auto">
          <a:xfrm>
            <a:off x="2533650" y="2019300"/>
            <a:ext cx="457200" cy="427038"/>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chemeClr val="bg1"/>
                </a:solidFill>
                <a:effectLst/>
                <a:uLnTx/>
                <a:uFillTx/>
                <a:latin typeface="+mn-lt"/>
                <a:ea typeface="+mn-ea"/>
                <a:cs typeface="+mn-ea"/>
                <a:sym typeface="+mn-lt"/>
              </a:rPr>
              <a:t>5</a:t>
            </a:r>
            <a:endParaRPr kumimoji="0" lang="zh-CN" altLang="en-US" sz="1600" b="1" i="0" u="sng" strike="noStrike" kern="1200" cap="none" spc="0" normalizeH="0" baseline="0" noProof="0" dirty="0">
              <a:ln>
                <a:noFill/>
              </a:ln>
              <a:solidFill>
                <a:schemeClr val="bg1"/>
              </a:solidFill>
              <a:effectLst/>
              <a:uLnTx/>
              <a:uFillTx/>
              <a:latin typeface="+mn-lt"/>
              <a:ea typeface="+mn-ea"/>
              <a:cs typeface="+mn-ea"/>
              <a:sym typeface="+mn-lt"/>
            </a:endParaRPr>
          </a:p>
        </p:txBody>
      </p:sp>
      <p:sp>
        <p:nvSpPr>
          <p:cNvPr id="175121" name="Text Box 19"/>
          <p:cNvSpPr txBox="1">
            <a:spLocks noChangeArrowheads="1"/>
          </p:cNvSpPr>
          <p:nvPr/>
        </p:nvSpPr>
        <p:spPr bwMode="auto">
          <a:xfrm>
            <a:off x="4210050" y="36195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22" name="Text Box 20"/>
          <p:cNvSpPr txBox="1">
            <a:spLocks noChangeArrowheads="1"/>
          </p:cNvSpPr>
          <p:nvPr/>
        </p:nvSpPr>
        <p:spPr bwMode="auto">
          <a:xfrm>
            <a:off x="3067050" y="36195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23" name="Text Box 21"/>
          <p:cNvSpPr txBox="1">
            <a:spLocks noChangeArrowheads="1"/>
          </p:cNvSpPr>
          <p:nvPr/>
        </p:nvSpPr>
        <p:spPr bwMode="auto">
          <a:xfrm>
            <a:off x="2152650" y="36195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24" name="Text Box 22"/>
          <p:cNvSpPr txBox="1">
            <a:spLocks noChangeArrowheads="1"/>
          </p:cNvSpPr>
          <p:nvPr/>
        </p:nvSpPr>
        <p:spPr bwMode="auto">
          <a:xfrm>
            <a:off x="1085850" y="35433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25" name="Text Box 23"/>
          <p:cNvSpPr txBox="1">
            <a:spLocks noChangeArrowheads="1"/>
          </p:cNvSpPr>
          <p:nvPr/>
        </p:nvSpPr>
        <p:spPr bwMode="auto">
          <a:xfrm>
            <a:off x="3600450" y="27051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26" name="Text Box 24"/>
          <p:cNvSpPr txBox="1">
            <a:spLocks noChangeArrowheads="1"/>
          </p:cNvSpPr>
          <p:nvPr/>
        </p:nvSpPr>
        <p:spPr bwMode="auto">
          <a:xfrm>
            <a:off x="1695450" y="27051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27" name="Text Box 25"/>
          <p:cNvSpPr txBox="1">
            <a:spLocks noChangeArrowheads="1"/>
          </p:cNvSpPr>
          <p:nvPr/>
        </p:nvSpPr>
        <p:spPr bwMode="auto">
          <a:xfrm>
            <a:off x="323850" y="4383088"/>
            <a:ext cx="533400" cy="16319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入</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区</a:t>
            </a:r>
          </a:p>
        </p:txBody>
      </p:sp>
      <p:grpSp>
        <p:nvGrpSpPr>
          <p:cNvPr id="193560" name="Group 26"/>
          <p:cNvGrpSpPr/>
          <p:nvPr/>
        </p:nvGrpSpPr>
        <p:grpSpPr>
          <a:xfrm>
            <a:off x="4383088" y="2341563"/>
            <a:ext cx="4267200" cy="642937"/>
            <a:chOff x="2736" y="1671"/>
            <a:chExt cx="2688" cy="405"/>
          </a:xfrm>
        </p:grpSpPr>
        <p:sp>
          <p:nvSpPr>
            <p:cNvPr id="175129" name="Text Box 27"/>
            <p:cNvSpPr txBox="1">
              <a:spLocks noChangeArrowheads="1"/>
            </p:cNvSpPr>
            <p:nvPr/>
          </p:nvSpPr>
          <p:spPr bwMode="auto">
            <a:xfrm>
              <a:off x="5040" y="167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75130" name="Text Box 28"/>
            <p:cNvSpPr txBox="1">
              <a:spLocks noChangeArrowheads="1"/>
            </p:cNvSpPr>
            <p:nvPr/>
          </p:nvSpPr>
          <p:spPr bwMode="auto">
            <a:xfrm>
              <a:off x="4656" y="167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p>
          </p:txBody>
        </p:sp>
        <p:sp>
          <p:nvSpPr>
            <p:cNvPr id="175131" name="Text Box 29"/>
            <p:cNvSpPr txBox="1">
              <a:spLocks noChangeArrowheads="1"/>
            </p:cNvSpPr>
            <p:nvPr/>
          </p:nvSpPr>
          <p:spPr bwMode="auto">
            <a:xfrm>
              <a:off x="4272" y="167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175132" name="Text Box 30"/>
            <p:cNvSpPr txBox="1">
              <a:spLocks noChangeArrowheads="1"/>
            </p:cNvSpPr>
            <p:nvPr/>
          </p:nvSpPr>
          <p:spPr bwMode="auto">
            <a:xfrm>
              <a:off x="3888" y="167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p>
          </p:txBody>
        </p:sp>
        <p:sp>
          <p:nvSpPr>
            <p:cNvPr id="175133" name="Text Box 31"/>
            <p:cNvSpPr txBox="1">
              <a:spLocks noChangeArrowheads="1"/>
            </p:cNvSpPr>
            <p:nvPr/>
          </p:nvSpPr>
          <p:spPr bwMode="auto">
            <a:xfrm>
              <a:off x="3504" y="167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p>
          </p:txBody>
        </p:sp>
        <p:sp>
          <p:nvSpPr>
            <p:cNvPr id="175134" name="Text Box 32"/>
            <p:cNvSpPr txBox="1">
              <a:spLocks noChangeArrowheads="1"/>
            </p:cNvSpPr>
            <p:nvPr/>
          </p:nvSpPr>
          <p:spPr bwMode="auto">
            <a:xfrm>
              <a:off x="3120" y="167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175135" name="Text Box 33"/>
            <p:cNvSpPr txBox="1">
              <a:spLocks noChangeArrowheads="1"/>
            </p:cNvSpPr>
            <p:nvPr/>
          </p:nvSpPr>
          <p:spPr bwMode="auto">
            <a:xfrm>
              <a:off x="2736" y="167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175136" name="Rectangle 34"/>
            <p:cNvSpPr>
              <a:spLocks noChangeArrowheads="1"/>
            </p:cNvSpPr>
            <p:nvPr/>
          </p:nvSpPr>
          <p:spPr bwMode="auto">
            <a:xfrm>
              <a:off x="2736" y="1851"/>
              <a:ext cx="2688" cy="225"/>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37" name="Line 35"/>
            <p:cNvSpPr>
              <a:spLocks noChangeShapeType="1"/>
            </p:cNvSpPr>
            <p:nvPr/>
          </p:nvSpPr>
          <p:spPr bwMode="auto">
            <a:xfrm>
              <a:off x="3888" y="1851"/>
              <a:ext cx="1" cy="225"/>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38" name="Line 36"/>
            <p:cNvSpPr>
              <a:spLocks noChangeShapeType="1"/>
            </p:cNvSpPr>
            <p:nvPr/>
          </p:nvSpPr>
          <p:spPr bwMode="auto">
            <a:xfrm>
              <a:off x="5040" y="1851"/>
              <a:ext cx="1" cy="225"/>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39" name="Line 37"/>
            <p:cNvSpPr>
              <a:spLocks noChangeShapeType="1"/>
            </p:cNvSpPr>
            <p:nvPr/>
          </p:nvSpPr>
          <p:spPr bwMode="auto">
            <a:xfrm>
              <a:off x="4655" y="1851"/>
              <a:ext cx="1" cy="225"/>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40" name="Line 38"/>
            <p:cNvSpPr>
              <a:spLocks noChangeShapeType="1"/>
            </p:cNvSpPr>
            <p:nvPr/>
          </p:nvSpPr>
          <p:spPr bwMode="auto">
            <a:xfrm>
              <a:off x="4272" y="1851"/>
              <a:ext cx="1" cy="225"/>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41" name="Line 39"/>
            <p:cNvSpPr>
              <a:spLocks noChangeShapeType="1"/>
            </p:cNvSpPr>
            <p:nvPr/>
          </p:nvSpPr>
          <p:spPr bwMode="auto">
            <a:xfrm>
              <a:off x="3504" y="1851"/>
              <a:ext cx="1" cy="225"/>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42" name="Line 40"/>
            <p:cNvSpPr>
              <a:spLocks noChangeShapeType="1"/>
            </p:cNvSpPr>
            <p:nvPr/>
          </p:nvSpPr>
          <p:spPr bwMode="auto">
            <a:xfrm>
              <a:off x="3120" y="1851"/>
              <a:ext cx="1" cy="225"/>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43" name="Text Box 41"/>
            <p:cNvSpPr txBox="1">
              <a:spLocks noChangeArrowheads="1"/>
            </p:cNvSpPr>
            <p:nvPr/>
          </p:nvSpPr>
          <p:spPr bwMode="auto">
            <a:xfrm>
              <a:off x="2736" y="185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175144" name="Text Box 42"/>
            <p:cNvSpPr txBox="1">
              <a:spLocks noChangeArrowheads="1"/>
            </p:cNvSpPr>
            <p:nvPr/>
          </p:nvSpPr>
          <p:spPr bwMode="auto">
            <a:xfrm>
              <a:off x="3120" y="185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175145" name="Text Box 43"/>
            <p:cNvSpPr txBox="1">
              <a:spLocks noChangeArrowheads="1"/>
            </p:cNvSpPr>
            <p:nvPr/>
          </p:nvSpPr>
          <p:spPr bwMode="auto">
            <a:xfrm>
              <a:off x="3504" y="185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p>
          </p:txBody>
        </p:sp>
        <p:sp>
          <p:nvSpPr>
            <p:cNvPr id="175146" name="Text Box 44"/>
            <p:cNvSpPr txBox="1">
              <a:spLocks noChangeArrowheads="1"/>
            </p:cNvSpPr>
            <p:nvPr/>
          </p:nvSpPr>
          <p:spPr bwMode="auto">
            <a:xfrm>
              <a:off x="3888" y="185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175147" name="Text Box 45"/>
            <p:cNvSpPr txBox="1">
              <a:spLocks noChangeArrowheads="1"/>
            </p:cNvSpPr>
            <p:nvPr/>
          </p:nvSpPr>
          <p:spPr bwMode="auto">
            <a:xfrm>
              <a:off x="4272" y="185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75148" name="Text Box 46"/>
            <p:cNvSpPr txBox="1">
              <a:spLocks noChangeArrowheads="1"/>
            </p:cNvSpPr>
            <p:nvPr/>
          </p:nvSpPr>
          <p:spPr bwMode="auto">
            <a:xfrm>
              <a:off x="4656" y="185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29</a:t>
              </a:r>
            </a:p>
          </p:txBody>
        </p:sp>
        <p:sp>
          <p:nvSpPr>
            <p:cNvPr id="175149" name="Text Box 47"/>
            <p:cNvSpPr txBox="1">
              <a:spLocks noChangeArrowheads="1"/>
            </p:cNvSpPr>
            <p:nvPr/>
          </p:nvSpPr>
          <p:spPr bwMode="auto">
            <a:xfrm>
              <a:off x="5040" y="1851"/>
              <a:ext cx="384" cy="212"/>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p>
          </p:txBody>
        </p:sp>
      </p:grpSp>
      <p:sp>
        <p:nvSpPr>
          <p:cNvPr id="175151" name="Rectangle 49"/>
          <p:cNvSpPr>
            <a:spLocks noChangeArrowheads="1"/>
          </p:cNvSpPr>
          <p:nvPr/>
        </p:nvSpPr>
        <p:spPr bwMode="auto">
          <a:xfrm>
            <a:off x="933450" y="4291013"/>
            <a:ext cx="381000" cy="2078038"/>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5152" name="Line 50"/>
          <p:cNvSpPr>
            <a:spLocks noChangeShapeType="1"/>
          </p:cNvSpPr>
          <p:nvPr/>
        </p:nvSpPr>
        <p:spPr bwMode="auto">
          <a:xfrm>
            <a:off x="1147763" y="5940425"/>
            <a:ext cx="0" cy="357188"/>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53" name="Rectangle 51"/>
          <p:cNvSpPr>
            <a:spLocks noChangeArrowheads="1"/>
          </p:cNvSpPr>
          <p:nvPr/>
        </p:nvSpPr>
        <p:spPr bwMode="auto">
          <a:xfrm>
            <a:off x="2000250" y="4291013"/>
            <a:ext cx="381000" cy="2078038"/>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84</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5154" name="Line 52"/>
          <p:cNvSpPr>
            <a:spLocks noChangeShapeType="1"/>
          </p:cNvSpPr>
          <p:nvPr/>
        </p:nvSpPr>
        <p:spPr bwMode="auto">
          <a:xfrm>
            <a:off x="2214563" y="5940425"/>
            <a:ext cx="0" cy="357188"/>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55" name="Rectangle 53"/>
          <p:cNvSpPr>
            <a:spLocks noChangeArrowheads="1"/>
          </p:cNvSpPr>
          <p:nvPr/>
        </p:nvSpPr>
        <p:spPr bwMode="auto">
          <a:xfrm>
            <a:off x="3067050" y="4291013"/>
            <a:ext cx="381000" cy="2078038"/>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57</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66</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71</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5156" name="Line 54"/>
          <p:cNvSpPr>
            <a:spLocks noChangeShapeType="1"/>
          </p:cNvSpPr>
          <p:nvPr/>
        </p:nvSpPr>
        <p:spPr bwMode="auto">
          <a:xfrm>
            <a:off x="3262313" y="5940425"/>
            <a:ext cx="0" cy="357188"/>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57" name="Rectangle 55"/>
          <p:cNvSpPr>
            <a:spLocks noChangeArrowheads="1"/>
          </p:cNvSpPr>
          <p:nvPr/>
        </p:nvSpPr>
        <p:spPr bwMode="auto">
          <a:xfrm>
            <a:off x="4133850" y="4291013"/>
            <a:ext cx="381000" cy="2078038"/>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5158" name="Line 56"/>
          <p:cNvSpPr>
            <a:spLocks noChangeShapeType="1"/>
          </p:cNvSpPr>
          <p:nvPr/>
        </p:nvSpPr>
        <p:spPr bwMode="auto">
          <a:xfrm>
            <a:off x="4348163" y="5940425"/>
            <a:ext cx="0" cy="357188"/>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5159" name="Text Box 57"/>
          <p:cNvSpPr txBox="1">
            <a:spLocks noChangeArrowheads="1"/>
          </p:cNvSpPr>
          <p:nvPr/>
        </p:nvSpPr>
        <p:spPr bwMode="auto">
          <a:xfrm>
            <a:off x="5214938" y="4383088"/>
            <a:ext cx="533400" cy="16319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出 </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accent2"/>
                </a:solidFill>
                <a:effectLst/>
                <a:uLnTx/>
                <a:uFillTx/>
                <a:latin typeface="+mn-lt"/>
                <a:ea typeface="+mn-ea"/>
                <a:cs typeface="+mn-ea"/>
                <a:sym typeface="+mn-lt"/>
              </a:rPr>
              <a:t>区</a:t>
            </a:r>
          </a:p>
        </p:txBody>
      </p:sp>
      <p:sp>
        <p:nvSpPr>
          <p:cNvPr id="175160" name="Rectangle 58"/>
          <p:cNvSpPr>
            <a:spLocks noChangeArrowheads="1"/>
          </p:cNvSpPr>
          <p:nvPr/>
        </p:nvSpPr>
        <p:spPr bwMode="auto">
          <a:xfrm>
            <a:off x="5810250" y="4305300"/>
            <a:ext cx="381000" cy="206375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5161" name="Text Box 73"/>
          <p:cNvSpPr txBox="1">
            <a:spLocks noChangeArrowheads="1"/>
          </p:cNvSpPr>
          <p:nvPr/>
        </p:nvSpPr>
        <p:spPr bwMode="auto">
          <a:xfrm>
            <a:off x="4216400" y="1557338"/>
            <a:ext cx="27638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0000CC"/>
                </a:solidFill>
                <a:effectLst/>
                <a:uLnTx/>
                <a:uFillTx/>
                <a:latin typeface="+mn-lt"/>
                <a:ea typeface="+mn-ea"/>
                <a:cs typeface="+mn-ea"/>
                <a:sym typeface="+mn-lt"/>
              </a:rPr>
              <a:t>4路平衡归并</a:t>
            </a:r>
          </a:p>
        </p:txBody>
      </p:sp>
      <p:sp>
        <p:nvSpPr>
          <p:cNvPr id="61" name="Rectangle 6"/>
          <p:cNvSpPr>
            <a:spLocks noChangeArrowheads="1"/>
          </p:cNvSpPr>
          <p:nvPr/>
        </p:nvSpPr>
        <p:spPr bwMode="auto">
          <a:xfrm>
            <a:off x="923925"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多路平衡归并的实现</a:t>
            </a:r>
          </a:p>
        </p:txBody>
      </p:sp>
      <p:cxnSp>
        <p:nvCxnSpPr>
          <p:cNvPr id="3" name="直接箭头连接符 2"/>
          <p:cNvCxnSpPr/>
          <p:nvPr/>
        </p:nvCxnSpPr>
        <p:spPr bwMode="auto">
          <a:xfrm>
            <a:off x="3086100" y="2230438"/>
            <a:ext cx="2819400" cy="1992313"/>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
        <p:nvSpPr>
          <p:cNvPr id="386052" name="Oval 4"/>
          <p:cNvSpPr>
            <a:spLocks noChangeArrowheads="1"/>
          </p:cNvSpPr>
          <p:nvPr/>
        </p:nvSpPr>
        <p:spPr bwMode="auto">
          <a:xfrm>
            <a:off x="6156325" y="2043113"/>
            <a:ext cx="2743200" cy="1428750"/>
          </a:xfrm>
          <a:prstGeom prst="ellipse">
            <a:avLst/>
          </a:prstGeom>
          <a:noFill/>
          <a:ln w="28575">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wipe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86052"/>
                                        </p:tgtEl>
                                        <p:attrNameLst>
                                          <p:attrName>style.visibility</p:attrName>
                                        </p:attrNameLst>
                                      </p:cBhvr>
                                      <p:to>
                                        <p:strVal val="visible"/>
                                      </p:to>
                                    </p:set>
                                    <p:anim calcmode="lin" valueType="num">
                                      <p:cBhvr additive="base">
                                        <p:cTn id="7" dur="500" fill="hold"/>
                                        <p:tgtEl>
                                          <p:spTgt spid="386052"/>
                                        </p:tgtEl>
                                        <p:attrNameLst>
                                          <p:attrName>ppt_x</p:attrName>
                                        </p:attrNameLst>
                                      </p:cBhvr>
                                      <p:tavLst>
                                        <p:tav tm="0">
                                          <p:val>
                                            <p:strVal val="0-#ppt_w/2"/>
                                          </p:val>
                                        </p:tav>
                                        <p:tav tm="100000">
                                          <p:val>
                                            <p:strVal val="#ppt_x"/>
                                          </p:val>
                                        </p:tav>
                                      </p:tavLst>
                                    </p:anim>
                                    <p:anim calcmode="lin" valueType="num">
                                      <p:cBhvr additive="base">
                                        <p:cTn id="8" dur="500" fill="hold"/>
                                        <p:tgtEl>
                                          <p:spTgt spid="3860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6052"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Line 3"/>
          <p:cNvSpPr>
            <a:spLocks noChangeShapeType="1"/>
          </p:cNvSpPr>
          <p:nvPr/>
        </p:nvSpPr>
        <p:spPr bwMode="auto">
          <a:xfrm flipH="1">
            <a:off x="2057400" y="2008188"/>
            <a:ext cx="7620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55" name="Line 4"/>
          <p:cNvSpPr>
            <a:spLocks noChangeShapeType="1"/>
          </p:cNvSpPr>
          <p:nvPr/>
        </p:nvSpPr>
        <p:spPr bwMode="auto">
          <a:xfrm>
            <a:off x="3048000" y="2008188"/>
            <a:ext cx="9144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56" name="Line 5"/>
          <p:cNvSpPr>
            <a:spLocks noChangeShapeType="1"/>
          </p:cNvSpPr>
          <p:nvPr/>
        </p:nvSpPr>
        <p:spPr bwMode="auto">
          <a:xfrm flipH="1">
            <a:off x="3429000" y="2998788"/>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57" name="Line 6"/>
          <p:cNvSpPr>
            <a:spLocks noChangeShapeType="1"/>
          </p:cNvSpPr>
          <p:nvPr/>
        </p:nvSpPr>
        <p:spPr bwMode="auto">
          <a:xfrm>
            <a:off x="4038600" y="3074988"/>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58" name="Line 7"/>
          <p:cNvSpPr>
            <a:spLocks noChangeShapeType="1"/>
          </p:cNvSpPr>
          <p:nvPr/>
        </p:nvSpPr>
        <p:spPr bwMode="auto">
          <a:xfrm flipH="1">
            <a:off x="1447800" y="2998788"/>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59" name="Line 8"/>
          <p:cNvSpPr>
            <a:spLocks noChangeShapeType="1"/>
          </p:cNvSpPr>
          <p:nvPr/>
        </p:nvSpPr>
        <p:spPr bwMode="auto">
          <a:xfrm>
            <a:off x="1981200" y="2998788"/>
            <a:ext cx="457200" cy="1066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60" name="Oval 9"/>
          <p:cNvSpPr>
            <a:spLocks noChangeArrowheads="1"/>
          </p:cNvSpPr>
          <p:nvPr/>
        </p:nvSpPr>
        <p:spPr bwMode="auto">
          <a:xfrm>
            <a:off x="3733800" y="2770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7161" name="Oval 10"/>
          <p:cNvSpPr>
            <a:spLocks noChangeArrowheads="1"/>
          </p:cNvSpPr>
          <p:nvPr/>
        </p:nvSpPr>
        <p:spPr bwMode="auto">
          <a:xfrm>
            <a:off x="1752600" y="2770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7162" name="Oval 13"/>
          <p:cNvSpPr>
            <a:spLocks noChangeArrowheads="1"/>
          </p:cNvSpPr>
          <p:nvPr/>
        </p:nvSpPr>
        <p:spPr bwMode="auto">
          <a:xfrm>
            <a:off x="2209800" y="3913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177163" name="Oval 14"/>
          <p:cNvSpPr>
            <a:spLocks noChangeArrowheads="1"/>
          </p:cNvSpPr>
          <p:nvPr/>
        </p:nvSpPr>
        <p:spPr bwMode="auto">
          <a:xfrm>
            <a:off x="3276600" y="3913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7164" name="Oval 15"/>
          <p:cNvSpPr>
            <a:spLocks noChangeArrowheads="1"/>
          </p:cNvSpPr>
          <p:nvPr/>
        </p:nvSpPr>
        <p:spPr bwMode="auto">
          <a:xfrm>
            <a:off x="1219200" y="3913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16</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7165" name="Oval 16"/>
          <p:cNvSpPr>
            <a:spLocks noChangeArrowheads="1"/>
          </p:cNvSpPr>
          <p:nvPr/>
        </p:nvSpPr>
        <p:spPr bwMode="auto">
          <a:xfrm>
            <a:off x="4343400" y="3913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7166" name="Oval 17"/>
          <p:cNvSpPr>
            <a:spLocks noChangeArrowheads="1"/>
          </p:cNvSpPr>
          <p:nvPr/>
        </p:nvSpPr>
        <p:spPr bwMode="auto">
          <a:xfrm>
            <a:off x="2743200" y="17033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7167" name="Rectangle 18"/>
          <p:cNvSpPr>
            <a:spLocks noChangeArrowheads="1"/>
          </p:cNvSpPr>
          <p:nvPr/>
        </p:nvSpPr>
        <p:spPr bwMode="auto">
          <a:xfrm>
            <a:off x="1219200" y="4446588"/>
            <a:ext cx="381000" cy="2078038"/>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7168" name="Line 19"/>
          <p:cNvSpPr>
            <a:spLocks noChangeShapeType="1"/>
          </p:cNvSpPr>
          <p:nvPr/>
        </p:nvSpPr>
        <p:spPr bwMode="auto">
          <a:xfrm>
            <a:off x="1414463" y="6130925"/>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69" name="Rectangle 20"/>
          <p:cNvSpPr>
            <a:spLocks noChangeArrowheads="1"/>
          </p:cNvSpPr>
          <p:nvPr/>
        </p:nvSpPr>
        <p:spPr bwMode="auto">
          <a:xfrm>
            <a:off x="2286000" y="4446588"/>
            <a:ext cx="381000" cy="2078038"/>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84</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7170" name="Line 21"/>
          <p:cNvSpPr>
            <a:spLocks noChangeShapeType="1"/>
          </p:cNvSpPr>
          <p:nvPr/>
        </p:nvSpPr>
        <p:spPr bwMode="auto">
          <a:xfrm>
            <a:off x="2474913" y="6100763"/>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71" name="Rectangle 22"/>
          <p:cNvSpPr>
            <a:spLocks noChangeArrowheads="1"/>
          </p:cNvSpPr>
          <p:nvPr/>
        </p:nvSpPr>
        <p:spPr bwMode="auto">
          <a:xfrm>
            <a:off x="3352800" y="4446588"/>
            <a:ext cx="381000" cy="2078038"/>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57</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66</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71</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7172" name="Line 23"/>
          <p:cNvSpPr>
            <a:spLocks noChangeShapeType="1"/>
          </p:cNvSpPr>
          <p:nvPr/>
        </p:nvSpPr>
        <p:spPr bwMode="auto">
          <a:xfrm>
            <a:off x="3527425" y="6096000"/>
            <a:ext cx="0" cy="415925"/>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73" name="Rectangle 24"/>
          <p:cNvSpPr>
            <a:spLocks noChangeArrowheads="1"/>
          </p:cNvSpPr>
          <p:nvPr/>
        </p:nvSpPr>
        <p:spPr bwMode="auto">
          <a:xfrm>
            <a:off x="4419600" y="4446588"/>
            <a:ext cx="381000" cy="2078038"/>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7174" name="Line 25"/>
          <p:cNvSpPr>
            <a:spLocks noChangeShapeType="1"/>
          </p:cNvSpPr>
          <p:nvPr/>
        </p:nvSpPr>
        <p:spPr bwMode="auto">
          <a:xfrm>
            <a:off x="4637088" y="6100763"/>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75" name="Text Box 26"/>
          <p:cNvSpPr txBox="1">
            <a:spLocks noChangeArrowheads="1"/>
          </p:cNvSpPr>
          <p:nvPr/>
        </p:nvSpPr>
        <p:spPr bwMode="auto">
          <a:xfrm>
            <a:off x="4419600" y="3652838"/>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76" name="Text Box 27"/>
          <p:cNvSpPr txBox="1">
            <a:spLocks noChangeArrowheads="1"/>
          </p:cNvSpPr>
          <p:nvPr/>
        </p:nvSpPr>
        <p:spPr bwMode="auto">
          <a:xfrm>
            <a:off x="3276600" y="3652838"/>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77" name="Text Box 28"/>
          <p:cNvSpPr txBox="1">
            <a:spLocks noChangeArrowheads="1"/>
          </p:cNvSpPr>
          <p:nvPr/>
        </p:nvSpPr>
        <p:spPr bwMode="auto">
          <a:xfrm>
            <a:off x="2362200" y="3652838"/>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78" name="Text Box 29"/>
          <p:cNvSpPr txBox="1">
            <a:spLocks noChangeArrowheads="1"/>
          </p:cNvSpPr>
          <p:nvPr/>
        </p:nvSpPr>
        <p:spPr bwMode="auto">
          <a:xfrm>
            <a:off x="1295400" y="3608388"/>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79" name="Text Box 30"/>
          <p:cNvSpPr txBox="1">
            <a:spLocks noChangeArrowheads="1"/>
          </p:cNvSpPr>
          <p:nvPr/>
        </p:nvSpPr>
        <p:spPr bwMode="auto">
          <a:xfrm>
            <a:off x="3810000" y="2509838"/>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80" name="Text Box 31"/>
          <p:cNvSpPr txBox="1">
            <a:spLocks noChangeArrowheads="1"/>
          </p:cNvSpPr>
          <p:nvPr/>
        </p:nvSpPr>
        <p:spPr bwMode="auto">
          <a:xfrm>
            <a:off x="1905000" y="2509838"/>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81" name="Text Box 32"/>
          <p:cNvSpPr txBox="1">
            <a:spLocks noChangeArrowheads="1"/>
          </p:cNvSpPr>
          <p:nvPr/>
        </p:nvSpPr>
        <p:spPr bwMode="auto">
          <a:xfrm>
            <a:off x="2819400" y="1398588"/>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82" name="Text Box 33"/>
          <p:cNvSpPr txBox="1">
            <a:spLocks noChangeArrowheads="1"/>
          </p:cNvSpPr>
          <p:nvPr/>
        </p:nvSpPr>
        <p:spPr bwMode="auto">
          <a:xfrm>
            <a:off x="533400" y="4471988"/>
            <a:ext cx="533400" cy="19383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入</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区</a:t>
            </a:r>
          </a:p>
        </p:txBody>
      </p:sp>
      <p:sp>
        <p:nvSpPr>
          <p:cNvPr id="177183" name="Text Box 34"/>
          <p:cNvSpPr txBox="1">
            <a:spLocks noChangeArrowheads="1"/>
          </p:cNvSpPr>
          <p:nvPr/>
        </p:nvSpPr>
        <p:spPr bwMode="auto">
          <a:xfrm>
            <a:off x="5867400" y="4446588"/>
            <a:ext cx="533400" cy="19383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出 </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区</a:t>
            </a:r>
          </a:p>
        </p:txBody>
      </p:sp>
      <p:sp>
        <p:nvSpPr>
          <p:cNvPr id="177184" name="Rectangle 35"/>
          <p:cNvSpPr>
            <a:spLocks noChangeArrowheads="1"/>
          </p:cNvSpPr>
          <p:nvPr/>
        </p:nvSpPr>
        <p:spPr bwMode="auto">
          <a:xfrm>
            <a:off x="4419600" y="2366963"/>
            <a:ext cx="4267200" cy="3810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85" name="Line 36"/>
          <p:cNvSpPr>
            <a:spLocks noChangeShapeType="1"/>
          </p:cNvSpPr>
          <p:nvPr/>
        </p:nvSpPr>
        <p:spPr bwMode="auto">
          <a:xfrm>
            <a:off x="6248400" y="2366963"/>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86" name="Line 37"/>
          <p:cNvSpPr>
            <a:spLocks noChangeShapeType="1"/>
          </p:cNvSpPr>
          <p:nvPr/>
        </p:nvSpPr>
        <p:spPr bwMode="auto">
          <a:xfrm>
            <a:off x="8077200" y="2366963"/>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87" name="Line 38"/>
          <p:cNvSpPr>
            <a:spLocks noChangeShapeType="1"/>
          </p:cNvSpPr>
          <p:nvPr/>
        </p:nvSpPr>
        <p:spPr bwMode="auto">
          <a:xfrm>
            <a:off x="7466013" y="2366963"/>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88" name="Line 39"/>
          <p:cNvSpPr>
            <a:spLocks noChangeShapeType="1"/>
          </p:cNvSpPr>
          <p:nvPr/>
        </p:nvSpPr>
        <p:spPr bwMode="auto">
          <a:xfrm>
            <a:off x="6858000" y="2366963"/>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89" name="Line 40"/>
          <p:cNvSpPr>
            <a:spLocks noChangeShapeType="1"/>
          </p:cNvSpPr>
          <p:nvPr/>
        </p:nvSpPr>
        <p:spPr bwMode="auto">
          <a:xfrm>
            <a:off x="5638800" y="2366963"/>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90" name="Line 41"/>
          <p:cNvSpPr>
            <a:spLocks noChangeShapeType="1"/>
          </p:cNvSpPr>
          <p:nvPr/>
        </p:nvSpPr>
        <p:spPr bwMode="auto">
          <a:xfrm>
            <a:off x="5029200" y="2366963"/>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7191" name="Text Box 42"/>
          <p:cNvSpPr txBox="1">
            <a:spLocks noChangeArrowheads="1"/>
          </p:cNvSpPr>
          <p:nvPr/>
        </p:nvSpPr>
        <p:spPr bwMode="auto">
          <a:xfrm>
            <a:off x="4419600" y="23669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77192" name="Text Box 43"/>
          <p:cNvSpPr txBox="1">
            <a:spLocks noChangeArrowheads="1"/>
          </p:cNvSpPr>
          <p:nvPr/>
        </p:nvSpPr>
        <p:spPr bwMode="auto">
          <a:xfrm>
            <a:off x="5029200" y="23669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77193" name="Text Box 44"/>
          <p:cNvSpPr txBox="1">
            <a:spLocks noChangeArrowheads="1"/>
          </p:cNvSpPr>
          <p:nvPr/>
        </p:nvSpPr>
        <p:spPr bwMode="auto">
          <a:xfrm>
            <a:off x="5638800" y="23669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p>
        </p:txBody>
      </p:sp>
      <p:sp>
        <p:nvSpPr>
          <p:cNvPr id="177194" name="Text Box 45"/>
          <p:cNvSpPr txBox="1">
            <a:spLocks noChangeArrowheads="1"/>
          </p:cNvSpPr>
          <p:nvPr/>
        </p:nvSpPr>
        <p:spPr bwMode="auto">
          <a:xfrm>
            <a:off x="6248400" y="23669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16</a:t>
            </a:r>
          </a:p>
        </p:txBody>
      </p:sp>
      <p:sp>
        <p:nvSpPr>
          <p:cNvPr id="177195" name="Text Box 46"/>
          <p:cNvSpPr txBox="1">
            <a:spLocks noChangeArrowheads="1"/>
          </p:cNvSpPr>
          <p:nvPr/>
        </p:nvSpPr>
        <p:spPr bwMode="auto">
          <a:xfrm>
            <a:off x="6858000" y="23669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77196" name="Text Box 47"/>
          <p:cNvSpPr txBox="1">
            <a:spLocks noChangeArrowheads="1"/>
          </p:cNvSpPr>
          <p:nvPr/>
        </p:nvSpPr>
        <p:spPr bwMode="auto">
          <a:xfrm>
            <a:off x="7467600" y="23669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29</a:t>
            </a:r>
          </a:p>
        </p:txBody>
      </p:sp>
      <p:sp>
        <p:nvSpPr>
          <p:cNvPr id="177197" name="Text Box 48"/>
          <p:cNvSpPr txBox="1">
            <a:spLocks noChangeArrowheads="1"/>
          </p:cNvSpPr>
          <p:nvPr/>
        </p:nvSpPr>
        <p:spPr bwMode="auto">
          <a:xfrm>
            <a:off x="8077200" y="23669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p>
        </p:txBody>
      </p:sp>
      <p:sp>
        <p:nvSpPr>
          <p:cNvPr id="177198" name="Text Box 49"/>
          <p:cNvSpPr txBox="1">
            <a:spLocks noChangeArrowheads="1"/>
          </p:cNvSpPr>
          <p:nvPr/>
        </p:nvSpPr>
        <p:spPr bwMode="auto">
          <a:xfrm>
            <a:off x="8077200" y="20621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77199" name="Text Box 50"/>
          <p:cNvSpPr txBox="1">
            <a:spLocks noChangeArrowheads="1"/>
          </p:cNvSpPr>
          <p:nvPr/>
        </p:nvSpPr>
        <p:spPr bwMode="auto">
          <a:xfrm>
            <a:off x="7467600" y="20621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p>
        </p:txBody>
      </p:sp>
      <p:sp>
        <p:nvSpPr>
          <p:cNvPr id="177200" name="Text Box 51"/>
          <p:cNvSpPr txBox="1">
            <a:spLocks noChangeArrowheads="1"/>
          </p:cNvSpPr>
          <p:nvPr/>
        </p:nvSpPr>
        <p:spPr bwMode="auto">
          <a:xfrm>
            <a:off x="6858000" y="20621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177201" name="Text Box 52"/>
          <p:cNvSpPr txBox="1">
            <a:spLocks noChangeArrowheads="1"/>
          </p:cNvSpPr>
          <p:nvPr/>
        </p:nvSpPr>
        <p:spPr bwMode="auto">
          <a:xfrm>
            <a:off x="6248400" y="20621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p>
        </p:txBody>
      </p:sp>
      <p:sp>
        <p:nvSpPr>
          <p:cNvPr id="177202" name="Text Box 53"/>
          <p:cNvSpPr txBox="1">
            <a:spLocks noChangeArrowheads="1"/>
          </p:cNvSpPr>
          <p:nvPr/>
        </p:nvSpPr>
        <p:spPr bwMode="auto">
          <a:xfrm>
            <a:off x="5638800" y="20621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p>
        </p:txBody>
      </p:sp>
      <p:sp>
        <p:nvSpPr>
          <p:cNvPr id="177203" name="Text Box 54"/>
          <p:cNvSpPr txBox="1">
            <a:spLocks noChangeArrowheads="1"/>
          </p:cNvSpPr>
          <p:nvPr/>
        </p:nvSpPr>
        <p:spPr bwMode="auto">
          <a:xfrm>
            <a:off x="5029200" y="20621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177204" name="Text Box 55"/>
          <p:cNvSpPr txBox="1">
            <a:spLocks noChangeArrowheads="1"/>
          </p:cNvSpPr>
          <p:nvPr/>
        </p:nvSpPr>
        <p:spPr bwMode="auto">
          <a:xfrm>
            <a:off x="4419600" y="2062163"/>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177205" name="Rectangle 56"/>
          <p:cNvSpPr>
            <a:spLocks noChangeArrowheads="1"/>
          </p:cNvSpPr>
          <p:nvPr/>
        </p:nvSpPr>
        <p:spPr bwMode="auto">
          <a:xfrm>
            <a:off x="6629400" y="4446588"/>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7207" name="Rectangle 65"/>
          <p:cNvSpPr>
            <a:spLocks noChangeArrowheads="1"/>
          </p:cNvSpPr>
          <p:nvPr/>
        </p:nvSpPr>
        <p:spPr bwMode="auto">
          <a:xfrm>
            <a:off x="876300" y="889000"/>
            <a:ext cx="8915400" cy="519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accent2"/>
                </a:solidFill>
                <a:effectLst/>
                <a:uLnTx/>
                <a:uFillTx/>
                <a:latin typeface="+mn-lt"/>
                <a:ea typeface="+mn-ea"/>
                <a:cs typeface="+mn-ea"/>
                <a:sym typeface="+mn-lt"/>
              </a:rPr>
              <a:t>二、胜者树及其使用</a:t>
            </a:r>
          </a:p>
        </p:txBody>
      </p:sp>
      <p:sp>
        <p:nvSpPr>
          <p:cNvPr id="177208" name="Text Box 66"/>
          <p:cNvSpPr txBox="1">
            <a:spLocks noChangeArrowheads="1"/>
          </p:cNvSpPr>
          <p:nvPr/>
        </p:nvSpPr>
        <p:spPr bwMode="auto">
          <a:xfrm>
            <a:off x="4305300" y="1412875"/>
            <a:ext cx="27638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0000CC"/>
                </a:solidFill>
                <a:effectLst/>
                <a:uLnTx/>
                <a:uFillTx/>
                <a:latin typeface="+mn-lt"/>
                <a:ea typeface="+mn-ea"/>
                <a:cs typeface="+mn-ea"/>
                <a:sym typeface="+mn-lt"/>
              </a:rPr>
              <a:t>4路平衡归并</a:t>
            </a:r>
          </a:p>
        </p:txBody>
      </p:sp>
      <p:sp>
        <p:nvSpPr>
          <p:cNvPr id="60" name="Rectangle 6"/>
          <p:cNvSpPr>
            <a:spLocks noChangeArrowheads="1"/>
          </p:cNvSpPr>
          <p:nvPr/>
        </p:nvSpPr>
        <p:spPr bwMode="auto">
          <a:xfrm>
            <a:off x="847725" y="115888"/>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多路平衡归并的实现</a:t>
            </a:r>
          </a:p>
        </p:txBody>
      </p:sp>
      <p:cxnSp>
        <p:nvCxnSpPr>
          <p:cNvPr id="59" name="直接箭头连接符 58"/>
          <p:cNvCxnSpPr/>
          <p:nvPr/>
        </p:nvCxnSpPr>
        <p:spPr bwMode="auto">
          <a:xfrm>
            <a:off x="3273425" y="2003425"/>
            <a:ext cx="3354388" cy="2336800"/>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
        <p:nvSpPr>
          <p:cNvPr id="177153" name="Oval 2"/>
          <p:cNvSpPr>
            <a:spLocks noChangeArrowheads="1"/>
          </p:cNvSpPr>
          <p:nvPr/>
        </p:nvSpPr>
        <p:spPr bwMode="auto">
          <a:xfrm>
            <a:off x="6248400" y="1735138"/>
            <a:ext cx="2743200" cy="1524000"/>
          </a:xfrm>
          <a:prstGeom prst="ellipse">
            <a:avLst/>
          </a:prstGeom>
          <a:noFill/>
          <a:ln w="9525">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cSld>
  <p:clrMapOvr>
    <a:masterClrMapping/>
  </p:clrMapOvr>
  <p:transition>
    <p:wipe dir="d"/>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Line 3"/>
          <p:cNvSpPr>
            <a:spLocks noChangeShapeType="1"/>
          </p:cNvSpPr>
          <p:nvPr/>
        </p:nvSpPr>
        <p:spPr bwMode="auto">
          <a:xfrm flipH="1">
            <a:off x="2057400" y="1936750"/>
            <a:ext cx="7620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03" name="Line 4"/>
          <p:cNvSpPr>
            <a:spLocks noChangeShapeType="1"/>
          </p:cNvSpPr>
          <p:nvPr/>
        </p:nvSpPr>
        <p:spPr bwMode="auto">
          <a:xfrm>
            <a:off x="3048000" y="1936750"/>
            <a:ext cx="9144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04" name="Line 5"/>
          <p:cNvSpPr>
            <a:spLocks noChangeShapeType="1"/>
          </p:cNvSpPr>
          <p:nvPr/>
        </p:nvSpPr>
        <p:spPr bwMode="auto">
          <a:xfrm flipH="1">
            <a:off x="3429000" y="2927350"/>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05" name="Line 6"/>
          <p:cNvSpPr>
            <a:spLocks noChangeShapeType="1"/>
          </p:cNvSpPr>
          <p:nvPr/>
        </p:nvSpPr>
        <p:spPr bwMode="auto">
          <a:xfrm>
            <a:off x="4038600" y="3003550"/>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06" name="Line 7"/>
          <p:cNvSpPr>
            <a:spLocks noChangeShapeType="1"/>
          </p:cNvSpPr>
          <p:nvPr/>
        </p:nvSpPr>
        <p:spPr bwMode="auto">
          <a:xfrm flipH="1">
            <a:off x="1447800" y="2927350"/>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07" name="Line 8"/>
          <p:cNvSpPr>
            <a:spLocks noChangeShapeType="1"/>
          </p:cNvSpPr>
          <p:nvPr/>
        </p:nvSpPr>
        <p:spPr bwMode="auto">
          <a:xfrm>
            <a:off x="1981200" y="2927350"/>
            <a:ext cx="457200" cy="1066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08" name="Oval 9"/>
          <p:cNvSpPr>
            <a:spLocks noChangeArrowheads="1"/>
          </p:cNvSpPr>
          <p:nvPr/>
        </p:nvSpPr>
        <p:spPr bwMode="auto">
          <a:xfrm>
            <a:off x="3733800" y="2698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9209" name="Oval 10"/>
          <p:cNvSpPr>
            <a:spLocks noChangeArrowheads="1"/>
          </p:cNvSpPr>
          <p:nvPr/>
        </p:nvSpPr>
        <p:spPr bwMode="auto">
          <a:xfrm>
            <a:off x="1752600" y="2698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12</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9210" name="Oval 13"/>
          <p:cNvSpPr>
            <a:spLocks noChangeArrowheads="1"/>
          </p:cNvSpPr>
          <p:nvPr/>
        </p:nvSpPr>
        <p:spPr bwMode="auto">
          <a:xfrm>
            <a:off x="2209800" y="3841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12</a:t>
            </a:r>
          </a:p>
        </p:txBody>
      </p:sp>
      <p:sp>
        <p:nvSpPr>
          <p:cNvPr id="179211" name="Oval 14"/>
          <p:cNvSpPr>
            <a:spLocks noChangeArrowheads="1"/>
          </p:cNvSpPr>
          <p:nvPr/>
        </p:nvSpPr>
        <p:spPr bwMode="auto">
          <a:xfrm>
            <a:off x="3276600" y="3841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9212" name="Oval 15"/>
          <p:cNvSpPr>
            <a:spLocks noChangeArrowheads="1"/>
          </p:cNvSpPr>
          <p:nvPr/>
        </p:nvSpPr>
        <p:spPr bwMode="auto">
          <a:xfrm>
            <a:off x="1219200" y="3841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16</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9213" name="Oval 16"/>
          <p:cNvSpPr>
            <a:spLocks noChangeArrowheads="1"/>
          </p:cNvSpPr>
          <p:nvPr/>
        </p:nvSpPr>
        <p:spPr bwMode="auto">
          <a:xfrm>
            <a:off x="4343400" y="3841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9214" name="Oval 17"/>
          <p:cNvSpPr>
            <a:spLocks noChangeArrowheads="1"/>
          </p:cNvSpPr>
          <p:nvPr/>
        </p:nvSpPr>
        <p:spPr bwMode="auto">
          <a:xfrm>
            <a:off x="2743200" y="16319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79215" name="Rectangle 18"/>
          <p:cNvSpPr>
            <a:spLocks noChangeArrowheads="1"/>
          </p:cNvSpPr>
          <p:nvPr/>
        </p:nvSpPr>
        <p:spPr bwMode="auto">
          <a:xfrm>
            <a:off x="1219200" y="43751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9216" name="Line 19"/>
          <p:cNvSpPr>
            <a:spLocks noChangeShapeType="1"/>
          </p:cNvSpPr>
          <p:nvPr/>
        </p:nvSpPr>
        <p:spPr bwMode="auto">
          <a:xfrm>
            <a:off x="1447800" y="58991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17" name="Rectangle 20"/>
          <p:cNvSpPr>
            <a:spLocks noChangeArrowheads="1"/>
          </p:cNvSpPr>
          <p:nvPr/>
        </p:nvSpPr>
        <p:spPr bwMode="auto">
          <a:xfrm>
            <a:off x="2286000" y="43751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84</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9218" name="Line 21"/>
          <p:cNvSpPr>
            <a:spLocks noChangeShapeType="1"/>
          </p:cNvSpPr>
          <p:nvPr/>
        </p:nvSpPr>
        <p:spPr bwMode="auto">
          <a:xfrm>
            <a:off x="2514600" y="58991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19" name="Rectangle 22"/>
          <p:cNvSpPr>
            <a:spLocks noChangeArrowheads="1"/>
          </p:cNvSpPr>
          <p:nvPr/>
        </p:nvSpPr>
        <p:spPr bwMode="auto">
          <a:xfrm>
            <a:off x="3352800" y="43751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57</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66</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71</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9220" name="Line 23"/>
          <p:cNvSpPr>
            <a:spLocks noChangeShapeType="1"/>
          </p:cNvSpPr>
          <p:nvPr/>
        </p:nvSpPr>
        <p:spPr bwMode="auto">
          <a:xfrm>
            <a:off x="3505200" y="58991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21" name="Rectangle 24"/>
          <p:cNvSpPr>
            <a:spLocks noChangeArrowheads="1"/>
          </p:cNvSpPr>
          <p:nvPr/>
        </p:nvSpPr>
        <p:spPr bwMode="auto">
          <a:xfrm>
            <a:off x="4419600" y="43751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9222" name="Line 25"/>
          <p:cNvSpPr>
            <a:spLocks noChangeShapeType="1"/>
          </p:cNvSpPr>
          <p:nvPr/>
        </p:nvSpPr>
        <p:spPr bwMode="auto">
          <a:xfrm>
            <a:off x="4648200" y="58991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23" name="Text Box 26"/>
          <p:cNvSpPr txBox="1">
            <a:spLocks noChangeArrowheads="1"/>
          </p:cNvSpPr>
          <p:nvPr/>
        </p:nvSpPr>
        <p:spPr bwMode="auto">
          <a:xfrm>
            <a:off x="4419600" y="35814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24" name="Text Box 27"/>
          <p:cNvSpPr txBox="1">
            <a:spLocks noChangeArrowheads="1"/>
          </p:cNvSpPr>
          <p:nvPr/>
        </p:nvSpPr>
        <p:spPr bwMode="auto">
          <a:xfrm>
            <a:off x="3276600" y="35814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25" name="Text Box 28"/>
          <p:cNvSpPr txBox="1">
            <a:spLocks noChangeArrowheads="1"/>
          </p:cNvSpPr>
          <p:nvPr/>
        </p:nvSpPr>
        <p:spPr bwMode="auto">
          <a:xfrm>
            <a:off x="2362200" y="35814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26" name="Text Box 29"/>
          <p:cNvSpPr txBox="1">
            <a:spLocks noChangeArrowheads="1"/>
          </p:cNvSpPr>
          <p:nvPr/>
        </p:nvSpPr>
        <p:spPr bwMode="auto">
          <a:xfrm>
            <a:off x="1295400" y="353695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27" name="Text Box 30"/>
          <p:cNvSpPr txBox="1">
            <a:spLocks noChangeArrowheads="1"/>
          </p:cNvSpPr>
          <p:nvPr/>
        </p:nvSpPr>
        <p:spPr bwMode="auto">
          <a:xfrm>
            <a:off x="3810000" y="24384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28" name="Text Box 31"/>
          <p:cNvSpPr txBox="1">
            <a:spLocks noChangeArrowheads="1"/>
          </p:cNvSpPr>
          <p:nvPr/>
        </p:nvSpPr>
        <p:spPr bwMode="auto">
          <a:xfrm>
            <a:off x="1905000" y="24384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29" name="Text Box 32"/>
          <p:cNvSpPr txBox="1">
            <a:spLocks noChangeArrowheads="1"/>
          </p:cNvSpPr>
          <p:nvPr/>
        </p:nvSpPr>
        <p:spPr bwMode="auto">
          <a:xfrm>
            <a:off x="2819400" y="132715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32" name="Rectangle 35"/>
          <p:cNvSpPr>
            <a:spLocks noChangeArrowheads="1"/>
          </p:cNvSpPr>
          <p:nvPr/>
        </p:nvSpPr>
        <p:spPr bwMode="auto">
          <a:xfrm>
            <a:off x="4494213" y="2344738"/>
            <a:ext cx="4267200" cy="3810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33" name="Line 36"/>
          <p:cNvSpPr>
            <a:spLocks noChangeShapeType="1"/>
          </p:cNvSpPr>
          <p:nvPr/>
        </p:nvSpPr>
        <p:spPr bwMode="auto">
          <a:xfrm>
            <a:off x="6323013" y="2344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34" name="Line 37"/>
          <p:cNvSpPr>
            <a:spLocks noChangeShapeType="1"/>
          </p:cNvSpPr>
          <p:nvPr/>
        </p:nvSpPr>
        <p:spPr bwMode="auto">
          <a:xfrm>
            <a:off x="8151813" y="2344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35" name="Line 38"/>
          <p:cNvSpPr>
            <a:spLocks noChangeShapeType="1"/>
          </p:cNvSpPr>
          <p:nvPr/>
        </p:nvSpPr>
        <p:spPr bwMode="auto">
          <a:xfrm>
            <a:off x="7540625" y="2344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36" name="Line 39"/>
          <p:cNvSpPr>
            <a:spLocks noChangeShapeType="1"/>
          </p:cNvSpPr>
          <p:nvPr/>
        </p:nvSpPr>
        <p:spPr bwMode="auto">
          <a:xfrm>
            <a:off x="6932613" y="2344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37" name="Line 40"/>
          <p:cNvSpPr>
            <a:spLocks noChangeShapeType="1"/>
          </p:cNvSpPr>
          <p:nvPr/>
        </p:nvSpPr>
        <p:spPr bwMode="auto">
          <a:xfrm>
            <a:off x="5713413" y="2344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38" name="Line 41"/>
          <p:cNvSpPr>
            <a:spLocks noChangeShapeType="1"/>
          </p:cNvSpPr>
          <p:nvPr/>
        </p:nvSpPr>
        <p:spPr bwMode="auto">
          <a:xfrm>
            <a:off x="5103813" y="2344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39" name="Text Box 42"/>
          <p:cNvSpPr txBox="1">
            <a:spLocks noChangeArrowheads="1"/>
          </p:cNvSpPr>
          <p:nvPr/>
        </p:nvSpPr>
        <p:spPr bwMode="auto">
          <a:xfrm>
            <a:off x="4494213" y="23447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p>
        </p:txBody>
      </p:sp>
      <p:sp>
        <p:nvSpPr>
          <p:cNvPr id="179240" name="Text Box 43"/>
          <p:cNvSpPr txBox="1">
            <a:spLocks noChangeArrowheads="1"/>
          </p:cNvSpPr>
          <p:nvPr/>
        </p:nvSpPr>
        <p:spPr bwMode="auto">
          <a:xfrm>
            <a:off x="5103813" y="23447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12</a:t>
            </a:r>
          </a:p>
        </p:txBody>
      </p:sp>
      <p:sp>
        <p:nvSpPr>
          <p:cNvPr id="179241" name="Text Box 44"/>
          <p:cNvSpPr txBox="1">
            <a:spLocks noChangeArrowheads="1"/>
          </p:cNvSpPr>
          <p:nvPr/>
        </p:nvSpPr>
        <p:spPr bwMode="auto">
          <a:xfrm>
            <a:off x="5713413" y="23447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p>
        </p:txBody>
      </p:sp>
      <p:sp>
        <p:nvSpPr>
          <p:cNvPr id="179242" name="Text Box 45"/>
          <p:cNvSpPr txBox="1">
            <a:spLocks noChangeArrowheads="1"/>
          </p:cNvSpPr>
          <p:nvPr/>
        </p:nvSpPr>
        <p:spPr bwMode="auto">
          <a:xfrm>
            <a:off x="6323013" y="23447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16</a:t>
            </a:r>
          </a:p>
        </p:txBody>
      </p:sp>
      <p:sp>
        <p:nvSpPr>
          <p:cNvPr id="179243" name="Text Box 46"/>
          <p:cNvSpPr txBox="1">
            <a:spLocks noChangeArrowheads="1"/>
          </p:cNvSpPr>
          <p:nvPr/>
        </p:nvSpPr>
        <p:spPr bwMode="auto">
          <a:xfrm>
            <a:off x="6932613" y="23447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12</a:t>
            </a:r>
          </a:p>
        </p:txBody>
      </p:sp>
      <p:sp>
        <p:nvSpPr>
          <p:cNvPr id="179244" name="Text Box 47"/>
          <p:cNvSpPr txBox="1">
            <a:spLocks noChangeArrowheads="1"/>
          </p:cNvSpPr>
          <p:nvPr/>
        </p:nvSpPr>
        <p:spPr bwMode="auto">
          <a:xfrm>
            <a:off x="7542213" y="23447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29</a:t>
            </a:r>
          </a:p>
        </p:txBody>
      </p:sp>
      <p:sp>
        <p:nvSpPr>
          <p:cNvPr id="179245" name="Text Box 48"/>
          <p:cNvSpPr txBox="1">
            <a:spLocks noChangeArrowheads="1"/>
          </p:cNvSpPr>
          <p:nvPr/>
        </p:nvSpPr>
        <p:spPr bwMode="auto">
          <a:xfrm>
            <a:off x="8151813" y="23447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p>
        </p:txBody>
      </p:sp>
      <p:sp>
        <p:nvSpPr>
          <p:cNvPr id="179246" name="Text Box 49"/>
          <p:cNvSpPr txBox="1">
            <a:spLocks noChangeArrowheads="1"/>
          </p:cNvSpPr>
          <p:nvPr/>
        </p:nvSpPr>
        <p:spPr bwMode="auto">
          <a:xfrm>
            <a:off x="8151813" y="2039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79247" name="Text Box 50"/>
          <p:cNvSpPr txBox="1">
            <a:spLocks noChangeArrowheads="1"/>
          </p:cNvSpPr>
          <p:nvPr/>
        </p:nvSpPr>
        <p:spPr bwMode="auto">
          <a:xfrm>
            <a:off x="7542213" y="2039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p>
        </p:txBody>
      </p:sp>
      <p:sp>
        <p:nvSpPr>
          <p:cNvPr id="179248" name="Text Box 51"/>
          <p:cNvSpPr txBox="1">
            <a:spLocks noChangeArrowheads="1"/>
          </p:cNvSpPr>
          <p:nvPr/>
        </p:nvSpPr>
        <p:spPr bwMode="auto">
          <a:xfrm>
            <a:off x="6932613" y="2039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179249" name="Text Box 52"/>
          <p:cNvSpPr txBox="1">
            <a:spLocks noChangeArrowheads="1"/>
          </p:cNvSpPr>
          <p:nvPr/>
        </p:nvSpPr>
        <p:spPr bwMode="auto">
          <a:xfrm>
            <a:off x="6323013" y="2039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p>
        </p:txBody>
      </p:sp>
      <p:sp>
        <p:nvSpPr>
          <p:cNvPr id="179250" name="Text Box 53"/>
          <p:cNvSpPr txBox="1">
            <a:spLocks noChangeArrowheads="1"/>
          </p:cNvSpPr>
          <p:nvPr/>
        </p:nvSpPr>
        <p:spPr bwMode="auto">
          <a:xfrm>
            <a:off x="5713413" y="2039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p>
        </p:txBody>
      </p:sp>
      <p:sp>
        <p:nvSpPr>
          <p:cNvPr id="179251" name="Text Box 54"/>
          <p:cNvSpPr txBox="1">
            <a:spLocks noChangeArrowheads="1"/>
          </p:cNvSpPr>
          <p:nvPr/>
        </p:nvSpPr>
        <p:spPr bwMode="auto">
          <a:xfrm>
            <a:off x="5103813" y="2039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179252" name="Text Box 55"/>
          <p:cNvSpPr txBox="1">
            <a:spLocks noChangeArrowheads="1"/>
          </p:cNvSpPr>
          <p:nvPr/>
        </p:nvSpPr>
        <p:spPr bwMode="auto">
          <a:xfrm>
            <a:off x="4494213" y="2039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179253" name="Rectangle 56"/>
          <p:cNvSpPr>
            <a:spLocks noChangeArrowheads="1"/>
          </p:cNvSpPr>
          <p:nvPr/>
        </p:nvSpPr>
        <p:spPr bwMode="auto">
          <a:xfrm>
            <a:off x="6270625" y="43751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79255" name="Line 58"/>
          <p:cNvSpPr>
            <a:spLocks noChangeShapeType="1"/>
          </p:cNvSpPr>
          <p:nvPr/>
        </p:nvSpPr>
        <p:spPr bwMode="auto">
          <a:xfrm>
            <a:off x="6499225" y="5365750"/>
            <a:ext cx="0" cy="8382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79256" name="Text Box 60"/>
          <p:cNvSpPr txBox="1">
            <a:spLocks noChangeArrowheads="1"/>
          </p:cNvSpPr>
          <p:nvPr/>
        </p:nvSpPr>
        <p:spPr bwMode="auto">
          <a:xfrm>
            <a:off x="4341813" y="1387475"/>
            <a:ext cx="27638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0000CC"/>
                </a:solidFill>
                <a:effectLst/>
                <a:uLnTx/>
                <a:uFillTx/>
                <a:latin typeface="+mn-lt"/>
                <a:ea typeface="+mn-ea"/>
                <a:cs typeface="+mn-ea"/>
                <a:sym typeface="+mn-lt"/>
              </a:rPr>
              <a:t>4路平衡归并</a:t>
            </a:r>
          </a:p>
        </p:txBody>
      </p:sp>
      <p:sp>
        <p:nvSpPr>
          <p:cNvPr id="179257" name="Rectangle 61"/>
          <p:cNvSpPr>
            <a:spLocks noChangeArrowheads="1"/>
          </p:cNvSpPr>
          <p:nvPr/>
        </p:nvSpPr>
        <p:spPr bwMode="auto">
          <a:xfrm>
            <a:off x="825500" y="831850"/>
            <a:ext cx="7935913" cy="519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accent2"/>
                </a:solidFill>
                <a:effectLst/>
                <a:uLnTx/>
                <a:uFillTx/>
                <a:latin typeface="+mn-lt"/>
                <a:ea typeface="+mn-ea"/>
                <a:cs typeface="+mn-ea"/>
                <a:sym typeface="+mn-lt"/>
              </a:rPr>
              <a:t>二、胜者树及其使用</a:t>
            </a:r>
          </a:p>
        </p:txBody>
      </p:sp>
      <p:sp>
        <p:nvSpPr>
          <p:cNvPr id="61" name="Rectangle 6"/>
          <p:cNvSpPr>
            <a:spLocks noChangeArrowheads="1"/>
          </p:cNvSpPr>
          <p:nvPr/>
        </p:nvSpPr>
        <p:spPr bwMode="auto">
          <a:xfrm>
            <a:off x="847725" y="144463"/>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多路平衡归并的实现</a:t>
            </a:r>
          </a:p>
        </p:txBody>
      </p:sp>
      <p:sp>
        <p:nvSpPr>
          <p:cNvPr id="179201" name="Oval 2"/>
          <p:cNvSpPr>
            <a:spLocks noChangeArrowheads="1"/>
          </p:cNvSpPr>
          <p:nvPr/>
        </p:nvSpPr>
        <p:spPr bwMode="auto">
          <a:xfrm>
            <a:off x="6221413" y="1689100"/>
            <a:ext cx="2743200" cy="1524000"/>
          </a:xfrm>
          <a:prstGeom prst="ellipse">
            <a:avLst/>
          </a:prstGeom>
          <a:noFill/>
          <a:ln w="9525">
            <a:solidFill>
              <a:srgbClr val="FF0000"/>
            </a:solidFill>
            <a:round/>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cxnSp>
        <p:nvCxnSpPr>
          <p:cNvPr id="60" name="直接箭头连接符 59"/>
          <p:cNvCxnSpPr>
            <a:stCxn id="179214" idx="6"/>
          </p:cNvCxnSpPr>
          <p:nvPr/>
        </p:nvCxnSpPr>
        <p:spPr bwMode="auto">
          <a:xfrm>
            <a:off x="3200400" y="1822450"/>
            <a:ext cx="3173413" cy="2508250"/>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
        <p:nvSpPr>
          <p:cNvPr id="62" name="Text Box 33"/>
          <p:cNvSpPr txBox="1">
            <a:spLocks noChangeArrowheads="1"/>
          </p:cNvSpPr>
          <p:nvPr/>
        </p:nvSpPr>
        <p:spPr bwMode="auto">
          <a:xfrm>
            <a:off x="571500" y="4357688"/>
            <a:ext cx="533400" cy="19399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入</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区</a:t>
            </a:r>
          </a:p>
        </p:txBody>
      </p:sp>
      <p:sp>
        <p:nvSpPr>
          <p:cNvPr id="63" name="Text Box 34"/>
          <p:cNvSpPr txBox="1">
            <a:spLocks noChangeArrowheads="1"/>
          </p:cNvSpPr>
          <p:nvPr/>
        </p:nvSpPr>
        <p:spPr bwMode="auto">
          <a:xfrm>
            <a:off x="5778500" y="4330700"/>
            <a:ext cx="533400" cy="19383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出 </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区</a:t>
            </a:r>
          </a:p>
        </p:txBody>
      </p:sp>
    </p:spTree>
  </p:cSld>
  <p:clrMapOvr>
    <a:masterClrMapping/>
  </p:clrMapOvr>
  <p:transition>
    <p:wipe dir="d"/>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49" name="Rectangle 30"/>
          <p:cNvSpPr>
            <a:spLocks noChangeArrowheads="1"/>
          </p:cNvSpPr>
          <p:nvPr/>
        </p:nvSpPr>
        <p:spPr bwMode="auto">
          <a:xfrm>
            <a:off x="4643438" y="1844675"/>
            <a:ext cx="4105275" cy="3597275"/>
          </a:xfrm>
          <a:prstGeom prst="roundRect">
            <a:avLst>
              <a:gd name="adj" fmla="val 3248"/>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Tx/>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改进：</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采用胜者树，从</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个元素中选取最小元素之后，从根结点到它的相应的叶子结点路径上的结点都需要进行修改，为了加快程序运行的速度产生了</a:t>
            </a:r>
            <a:r>
              <a:rPr kumimoji="0" lang="zh-CN" altLang="zh-CN" sz="2400" b="0" i="0" u="none" strike="noStrike" kern="1200" cap="none" spc="0" normalizeH="0" baseline="0" noProof="0" dirty="0">
                <a:ln>
                  <a:noFill/>
                </a:ln>
                <a:solidFill>
                  <a:schemeClr val="hlink"/>
                </a:solidFill>
                <a:effectLst/>
                <a:uLnTx/>
                <a:uFillTx/>
                <a:latin typeface="+mn-lt"/>
                <a:ea typeface="+mn-ea"/>
                <a:cs typeface="+mn-ea"/>
                <a:sym typeface="+mn-lt"/>
              </a:rPr>
              <a:t>败者树。</a:t>
            </a:r>
            <a:endPar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endParaRPr>
          </a:p>
          <a:p>
            <a:pPr marL="0" marR="0" lvl="0" indent="0" algn="l" defTabSz="914400" rtl="0" eaLnBrk="0" fontAlgn="base" latinLnBrk="0" hangingPunct="0">
              <a:lnSpc>
                <a:spcPct val="125000"/>
              </a:lnSpc>
              <a:spcBef>
                <a:spcPct val="50000"/>
              </a:spcBef>
              <a:spcAft>
                <a:spcPct val="0"/>
              </a:spcAft>
              <a:buClrTx/>
              <a:buSzTx/>
              <a:buFontTx/>
              <a:buNone/>
              <a:defRPr/>
            </a:pPr>
            <a:endPar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endParaRPr>
          </a:p>
          <a:p>
            <a:pPr marL="0" marR="0" lvl="0" indent="0" algn="l" defTabSz="914400" rtl="0" eaLnBrk="0" fontAlgn="base" latinLnBrk="0" hangingPunct="0">
              <a:lnSpc>
                <a:spcPct val="125000"/>
              </a:lnSpc>
              <a:spcBef>
                <a:spcPct val="50000"/>
              </a:spcBef>
              <a:spcAft>
                <a:spcPct val="0"/>
              </a:spcAft>
              <a:buClrTx/>
              <a:buSzTx/>
              <a:buFontTx/>
              <a:buNone/>
              <a:defRPr/>
            </a:pPr>
            <a:endParaRPr kumimoji="0" lang="zh-CN" altLang="en-US" sz="200" b="0" i="0" u="none" strike="noStrike" kern="1200" cap="none" spc="0" normalizeH="0" baseline="0" noProof="0" dirty="0">
              <a:ln>
                <a:noFill/>
              </a:ln>
              <a:solidFill>
                <a:schemeClr val="hlink"/>
              </a:solidFill>
              <a:effectLst/>
              <a:uLnTx/>
              <a:uFillTx/>
              <a:latin typeface="+mn-lt"/>
              <a:ea typeface="+mn-ea"/>
              <a:cs typeface="+mn-ea"/>
              <a:sym typeface="+mn-lt"/>
            </a:endParaRPr>
          </a:p>
        </p:txBody>
      </p:sp>
      <p:sp>
        <p:nvSpPr>
          <p:cNvPr id="181250" name="Rectangle 37"/>
          <p:cNvSpPr>
            <a:spLocks noChangeArrowheads="1"/>
          </p:cNvSpPr>
          <p:nvPr/>
        </p:nvSpPr>
        <p:spPr bwMode="auto">
          <a:xfrm>
            <a:off x="395288" y="1844675"/>
            <a:ext cx="3960813" cy="3576638"/>
          </a:xfrm>
          <a:prstGeom prst="roundRect">
            <a:avLst>
              <a:gd name="adj" fmla="val 3822"/>
            </a:avLst>
          </a:prstGeom>
          <a:solidFill>
            <a:srgbClr val="E2D9EB"/>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采用胜者树，从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个元素中挑选一个最小的元素仅需 </a:t>
            </a:r>
            <a:r>
              <a:rPr kumimoji="0" lang="zh-CN" altLang="en-US" sz="2400" b="0" i="0" u="none" strike="noStrike" kern="1200" cap="none" spc="0" normalizeH="0" baseline="0" noProof="0" dirty="0">
                <a:ln>
                  <a:noFill/>
                </a:ln>
                <a:solidFill>
                  <a:schemeClr val="accent2"/>
                </a:solidFill>
                <a:effectLst/>
                <a:uLnTx/>
                <a:uFillTx/>
                <a:latin typeface="宋体" panose="02010600030101010101" pitchFamily="2" charset="-122"/>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log</a:t>
            </a:r>
            <a:r>
              <a:rPr kumimoji="0" lang="en-US" altLang="zh-CN" sz="2400" b="0" i="0" u="none" strike="noStrike" kern="1200" cap="none" spc="0" normalizeH="0" baseline="-30000" noProof="0" dirty="0">
                <a:ln>
                  <a:noFill/>
                </a:ln>
                <a:solidFill>
                  <a:schemeClr val="hlink"/>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m </a:t>
            </a:r>
            <a:r>
              <a:rPr kumimoji="0" lang="en-US" altLang="zh-CN" sz="2400" b="0" i="0" u="none" strike="noStrike" kern="1200" cap="none" spc="0" normalizeH="0" baseline="0" noProof="0" dirty="0">
                <a:ln>
                  <a:noFill/>
                </a:ln>
                <a:solidFill>
                  <a:schemeClr val="accent2"/>
                </a:solidFill>
                <a:effectLst/>
                <a:uLnTx/>
                <a:uFillTx/>
                <a:latin typeface="宋体" panose="02010600030101010101" pitchFamily="2" charset="-122"/>
                <a:ea typeface="楷体_GB2312" pitchFamily="49" charset="-122"/>
                <a:cs typeface="+mn-cs"/>
                <a:sym typeface="Symbol" panose="05050102010706020507" pitchFamily="18" charset="2"/>
              </a:rPr>
              <a:t></a:t>
            </a:r>
            <a:r>
              <a:rPr kumimoji="0" lang="en-US" altLang="zh-CN" sz="2400" b="0" i="0" u="none" strike="noStrike" kern="1200" cap="none" spc="0" normalizeH="0" baseline="0" noProof="0" dirty="0">
                <a:ln>
                  <a:noFill/>
                </a:ln>
                <a:solidFill>
                  <a:srgbClr val="E5314F"/>
                </a:solidFill>
                <a:effectLst/>
                <a:uLnTx/>
                <a:uFillTx/>
                <a:latin typeface="宋体" panose="02010600030101010101" pitchFamily="2" charset="-122"/>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 n - 1 ) ×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t</a:t>
            </a:r>
            <a:r>
              <a:rPr kumimoji="0" lang="en-US" altLang="zh-CN" sz="2400" b="0" i="0" u="none" strike="noStrike" kern="1200" cap="none" spc="0" normalizeH="0" baseline="-10000" noProof="0" dirty="0" err="1">
                <a:ln>
                  <a:noFill/>
                </a:ln>
                <a:solidFill>
                  <a:schemeClr val="hlink"/>
                </a:solidFill>
                <a:effectLst/>
                <a:uLnTx/>
                <a:uFillTx/>
                <a:latin typeface="+mn-lt"/>
                <a:ea typeface="+mn-ea"/>
                <a:cs typeface="+mn-ea"/>
                <a:sym typeface="+mn-lt"/>
              </a:rPr>
              <a:t>mg</a:t>
            </a:r>
            <a:endParaRPr kumimoji="0" lang="en-US" altLang="zh-CN" sz="2400" b="0" i="0" u="none" strike="noStrike" kern="1200" cap="none" spc="0" normalizeH="0" baseline="-10000" noProof="0" dirty="0">
              <a:ln>
                <a:noFill/>
              </a:ln>
              <a:solidFill>
                <a:schemeClr val="hlink"/>
              </a:solidFill>
              <a:effectLst/>
              <a:uLnTx/>
              <a:uFillTx/>
              <a:latin typeface="+mn-lt"/>
              <a:ea typeface="+mn-ea"/>
              <a:cs typeface="+mn-ea"/>
              <a:sym typeface="+mn-lt"/>
            </a:endParaRPr>
          </a:p>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即内部归并时间与</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无关,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增大，归并趟数 </a:t>
            </a:r>
            <a:r>
              <a:rPr kumimoji="0" lang="zh-CN" altLang="en-US" sz="2400" b="0" i="0" u="none" strike="noStrike" kern="1200" cap="none" spc="0" normalizeH="0" baseline="0" noProof="0" dirty="0">
                <a:ln>
                  <a:noFill/>
                </a:ln>
                <a:solidFill>
                  <a:srgbClr val="E5314F"/>
                </a:solidFill>
                <a:effectLst/>
                <a:uLnTx/>
                <a:uFillTx/>
                <a:latin typeface="宋体" panose="02010600030101010101" pitchFamily="2" charset="-122"/>
                <a:ea typeface="楷体_GB2312" pitchFamily="49" charset="-122"/>
                <a:cs typeface="+mn-cs"/>
                <a:sym typeface="Symbol" panose="05050102010706020507" pitchFamily="18" charset="2"/>
              </a:rPr>
              <a:t></a:t>
            </a:r>
            <a:r>
              <a:rPr kumimoji="0" lang="en-US" altLang="zh-CN" sz="2400" b="0" i="0" u="none" strike="noStrike" kern="1200" cap="none" spc="0" normalizeH="0" baseline="0" noProof="0" dirty="0" err="1">
                <a:ln>
                  <a:noFill/>
                </a:ln>
                <a:solidFill>
                  <a:srgbClr val="E5314F"/>
                </a:solidFill>
                <a:effectLst/>
                <a:uLnTx/>
                <a:uFillTx/>
                <a:latin typeface="+mn-lt"/>
                <a:ea typeface="+mn-ea"/>
                <a:cs typeface="+mn-ea"/>
                <a:sym typeface="+mn-lt"/>
              </a:rPr>
              <a:t>log</a:t>
            </a:r>
            <a:r>
              <a:rPr kumimoji="0" lang="en-US" altLang="zh-CN" sz="2400" b="0" i="0" u="none" strike="noStrike" kern="1200" cap="none" spc="0" normalizeH="0" baseline="-25000" noProof="0" dirty="0" err="1">
                <a:ln>
                  <a:noFill/>
                </a:ln>
                <a:solidFill>
                  <a:srgbClr val="E5314F"/>
                </a:solidFill>
                <a:effectLst/>
                <a:uLnTx/>
                <a:uFillTx/>
                <a:latin typeface="+mn-lt"/>
                <a:ea typeface="+mn-ea"/>
                <a:cs typeface="+mn-ea"/>
                <a:sym typeface="+mn-lt"/>
              </a:rPr>
              <a:t>k</a:t>
            </a:r>
            <a:r>
              <a:rPr kumimoji="0" lang="en-US" altLang="zh-CN" sz="2400" b="0" i="0" u="none" strike="noStrike" kern="1200" cap="none" spc="0" normalizeH="0" baseline="0" noProof="0" dirty="0" err="1">
                <a:ln>
                  <a:noFill/>
                </a:ln>
                <a:solidFill>
                  <a:srgbClr val="E5314F"/>
                </a:solidFill>
                <a:effectLst/>
                <a:uLnTx/>
                <a:uFillTx/>
                <a:latin typeface="+mn-lt"/>
                <a:ea typeface="+mn-ea"/>
                <a:cs typeface="+mn-ea"/>
                <a:sym typeface="+mn-lt"/>
              </a:rPr>
              <a:t>m</a:t>
            </a:r>
            <a:r>
              <a:rPr kumimoji="0" lang="en-US" altLang="zh-CN" sz="2400" b="0" i="0" u="none" strike="noStrike" kern="1200" cap="none" spc="0" normalizeH="0" baseline="0" noProof="0" dirty="0">
                <a:ln>
                  <a:noFill/>
                </a:ln>
                <a:solidFill>
                  <a:srgbClr val="E5314F"/>
                </a:solidFill>
                <a:effectLst/>
                <a:uLnTx/>
                <a:uFillTx/>
                <a:latin typeface="宋体" panose="02010600030101010101" pitchFamily="2" charset="-122"/>
                <a:ea typeface="楷体_GB2312" pitchFamily="49" charset="-122"/>
                <a:cs typeface="+mn-cs"/>
                <a:sym typeface="Symbol" panose="05050102010706020507" pitchFamily="18" charset="2"/>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减少，读写外存次数减少，外排总时间减少。</a:t>
            </a:r>
            <a:endParaRPr kumimoji="0" lang="zh-CN" altLang="en-US" sz="2400" b="0" i="0" u="none" strike="noStrike" kern="1200" cap="none" spc="0" normalizeH="0" baseline="-10000" noProof="0" dirty="0">
              <a:ln>
                <a:noFill/>
              </a:ln>
              <a:solidFill>
                <a:schemeClr val="tx1"/>
              </a:solidFill>
              <a:effectLst/>
              <a:uLnTx/>
              <a:uFillTx/>
              <a:latin typeface="+mn-lt"/>
              <a:ea typeface="+mn-ea"/>
              <a:cs typeface="+mn-ea"/>
              <a:sym typeface="+mn-lt"/>
            </a:endParaRPr>
          </a:p>
        </p:txBody>
      </p:sp>
      <p:sp>
        <p:nvSpPr>
          <p:cNvPr id="12" name="Rectangle 6"/>
          <p:cNvSpPr>
            <a:spLocks noChangeArrowheads="1"/>
          </p:cNvSpPr>
          <p:nvPr/>
        </p:nvSpPr>
        <p:spPr bwMode="auto">
          <a:xfrm>
            <a:off x="815975" y="15557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多路平衡归并的实现</a:t>
            </a:r>
          </a:p>
        </p:txBody>
      </p:sp>
      <p:sp>
        <p:nvSpPr>
          <p:cNvPr id="199685" name="矩形 1"/>
          <p:cNvSpPr/>
          <p:nvPr/>
        </p:nvSpPr>
        <p:spPr>
          <a:xfrm>
            <a:off x="4643438" y="4814888"/>
            <a:ext cx="4105275" cy="44450"/>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99686" name="矩形 12"/>
          <p:cNvSpPr/>
          <p:nvPr/>
        </p:nvSpPr>
        <p:spPr>
          <a:xfrm>
            <a:off x="4660900" y="5076825"/>
            <a:ext cx="4105275" cy="46038"/>
          </a:xfrm>
          <a:prstGeom prst="rect">
            <a:avLst/>
          </a:prstGeom>
          <a:solidFill>
            <a:schemeClr val="bg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p:wipe dir="d"/>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Line 2"/>
          <p:cNvSpPr>
            <a:spLocks noChangeShapeType="1"/>
          </p:cNvSpPr>
          <p:nvPr/>
        </p:nvSpPr>
        <p:spPr bwMode="auto">
          <a:xfrm>
            <a:off x="2689225" y="1817688"/>
            <a:ext cx="0" cy="457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298" name="Line 3"/>
          <p:cNvSpPr>
            <a:spLocks noChangeShapeType="1"/>
          </p:cNvSpPr>
          <p:nvPr/>
        </p:nvSpPr>
        <p:spPr bwMode="auto">
          <a:xfrm flipH="1">
            <a:off x="1774825" y="2503488"/>
            <a:ext cx="7620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299" name="Line 4"/>
          <p:cNvSpPr>
            <a:spLocks noChangeShapeType="1"/>
          </p:cNvSpPr>
          <p:nvPr/>
        </p:nvSpPr>
        <p:spPr bwMode="auto">
          <a:xfrm>
            <a:off x="2765425" y="2503488"/>
            <a:ext cx="9144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00" name="Line 5"/>
          <p:cNvSpPr>
            <a:spLocks noChangeShapeType="1"/>
          </p:cNvSpPr>
          <p:nvPr/>
        </p:nvSpPr>
        <p:spPr bwMode="auto">
          <a:xfrm flipH="1">
            <a:off x="3146425" y="3494088"/>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01" name="Line 6"/>
          <p:cNvSpPr>
            <a:spLocks noChangeShapeType="1"/>
          </p:cNvSpPr>
          <p:nvPr/>
        </p:nvSpPr>
        <p:spPr bwMode="auto">
          <a:xfrm>
            <a:off x="3756025" y="3570288"/>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02" name="Line 7"/>
          <p:cNvSpPr>
            <a:spLocks noChangeShapeType="1"/>
          </p:cNvSpPr>
          <p:nvPr/>
        </p:nvSpPr>
        <p:spPr bwMode="auto">
          <a:xfrm flipH="1">
            <a:off x="1165225" y="3494088"/>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03" name="Line 8"/>
          <p:cNvSpPr>
            <a:spLocks noChangeShapeType="1"/>
          </p:cNvSpPr>
          <p:nvPr/>
        </p:nvSpPr>
        <p:spPr bwMode="auto">
          <a:xfrm>
            <a:off x="1698625" y="3494088"/>
            <a:ext cx="457200" cy="1066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04" name="Oval 9"/>
          <p:cNvSpPr>
            <a:spLocks noChangeArrowheads="1"/>
          </p:cNvSpPr>
          <p:nvPr/>
        </p:nvSpPr>
        <p:spPr bwMode="auto">
          <a:xfrm>
            <a:off x="3451225" y="32654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3305" name="Oval 10"/>
          <p:cNvSpPr>
            <a:spLocks noChangeArrowheads="1"/>
          </p:cNvSpPr>
          <p:nvPr/>
        </p:nvSpPr>
        <p:spPr bwMode="auto">
          <a:xfrm>
            <a:off x="1470025" y="32654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3306" name="Rectangle 12"/>
          <p:cNvSpPr>
            <a:spLocks noChangeArrowheads="1"/>
          </p:cNvSpPr>
          <p:nvPr/>
        </p:nvSpPr>
        <p:spPr bwMode="auto">
          <a:xfrm>
            <a:off x="814388" y="920750"/>
            <a:ext cx="4267200" cy="457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三、败者树及其使用</a:t>
            </a:r>
          </a:p>
        </p:txBody>
      </p:sp>
      <p:sp>
        <p:nvSpPr>
          <p:cNvPr id="183307" name="Oval 13"/>
          <p:cNvSpPr>
            <a:spLocks noChangeArrowheads="1"/>
          </p:cNvSpPr>
          <p:nvPr/>
        </p:nvSpPr>
        <p:spPr bwMode="auto">
          <a:xfrm>
            <a:off x="1927225" y="4408488"/>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183308" name="Oval 14"/>
          <p:cNvSpPr>
            <a:spLocks noChangeArrowheads="1"/>
          </p:cNvSpPr>
          <p:nvPr/>
        </p:nvSpPr>
        <p:spPr bwMode="auto">
          <a:xfrm>
            <a:off x="2994025" y="4408488"/>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3309" name="Oval 15"/>
          <p:cNvSpPr>
            <a:spLocks noChangeArrowheads="1"/>
          </p:cNvSpPr>
          <p:nvPr/>
        </p:nvSpPr>
        <p:spPr bwMode="auto">
          <a:xfrm>
            <a:off x="936625" y="4408488"/>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5</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3310" name="Oval 16"/>
          <p:cNvSpPr>
            <a:spLocks noChangeArrowheads="1"/>
          </p:cNvSpPr>
          <p:nvPr/>
        </p:nvSpPr>
        <p:spPr bwMode="auto">
          <a:xfrm>
            <a:off x="4060825" y="4408488"/>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3311" name="Oval 17"/>
          <p:cNvSpPr>
            <a:spLocks noChangeArrowheads="1"/>
          </p:cNvSpPr>
          <p:nvPr/>
        </p:nvSpPr>
        <p:spPr bwMode="auto">
          <a:xfrm>
            <a:off x="2460625" y="21986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3312" name="Rectangle 18"/>
          <p:cNvSpPr>
            <a:spLocks noChangeArrowheads="1"/>
          </p:cNvSpPr>
          <p:nvPr/>
        </p:nvSpPr>
        <p:spPr bwMode="auto">
          <a:xfrm>
            <a:off x="936625" y="4868863"/>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3313" name="Line 19"/>
          <p:cNvSpPr>
            <a:spLocks noChangeShapeType="1"/>
          </p:cNvSpPr>
          <p:nvPr/>
        </p:nvSpPr>
        <p:spPr bwMode="auto">
          <a:xfrm>
            <a:off x="1165225" y="6392863"/>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14" name="Rectangle 20"/>
          <p:cNvSpPr>
            <a:spLocks noChangeArrowheads="1"/>
          </p:cNvSpPr>
          <p:nvPr/>
        </p:nvSpPr>
        <p:spPr bwMode="auto">
          <a:xfrm>
            <a:off x="2003425" y="4868863"/>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84</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3315" name="Line 21"/>
          <p:cNvSpPr>
            <a:spLocks noChangeShapeType="1"/>
          </p:cNvSpPr>
          <p:nvPr/>
        </p:nvSpPr>
        <p:spPr bwMode="auto">
          <a:xfrm>
            <a:off x="2232025" y="6392863"/>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16" name="Rectangle 22"/>
          <p:cNvSpPr>
            <a:spLocks noChangeArrowheads="1"/>
          </p:cNvSpPr>
          <p:nvPr/>
        </p:nvSpPr>
        <p:spPr bwMode="auto">
          <a:xfrm>
            <a:off x="3070225" y="4868863"/>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57</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66</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71</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3317" name="Line 23"/>
          <p:cNvSpPr>
            <a:spLocks noChangeShapeType="1"/>
          </p:cNvSpPr>
          <p:nvPr/>
        </p:nvSpPr>
        <p:spPr bwMode="auto">
          <a:xfrm>
            <a:off x="3222625" y="6392863"/>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18" name="Rectangle 24"/>
          <p:cNvSpPr>
            <a:spLocks noChangeArrowheads="1"/>
          </p:cNvSpPr>
          <p:nvPr/>
        </p:nvSpPr>
        <p:spPr bwMode="auto">
          <a:xfrm>
            <a:off x="4137025" y="4868863"/>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3319" name="Line 25"/>
          <p:cNvSpPr>
            <a:spLocks noChangeShapeType="1"/>
          </p:cNvSpPr>
          <p:nvPr/>
        </p:nvSpPr>
        <p:spPr bwMode="auto">
          <a:xfrm>
            <a:off x="4365625" y="6392863"/>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20" name="Text Box 29"/>
          <p:cNvSpPr txBox="1">
            <a:spLocks noChangeArrowheads="1"/>
          </p:cNvSpPr>
          <p:nvPr/>
        </p:nvSpPr>
        <p:spPr bwMode="auto">
          <a:xfrm>
            <a:off x="631825" y="4090988"/>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b[0]</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21" name="Text Box 32"/>
          <p:cNvSpPr txBox="1">
            <a:spLocks noChangeArrowheads="1"/>
          </p:cNvSpPr>
          <p:nvPr/>
        </p:nvSpPr>
        <p:spPr bwMode="auto">
          <a:xfrm>
            <a:off x="1906588" y="1957388"/>
            <a:ext cx="727075"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ls[1]</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22" name="Text Box 33"/>
          <p:cNvSpPr txBox="1">
            <a:spLocks noChangeArrowheads="1"/>
          </p:cNvSpPr>
          <p:nvPr/>
        </p:nvSpPr>
        <p:spPr bwMode="auto">
          <a:xfrm>
            <a:off x="365125" y="4892675"/>
            <a:ext cx="533400" cy="18034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入</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区</a:t>
            </a:r>
            <a:endParaRPr kumimoji="0" lang="zh-CN" altLang="en-US" sz="16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183323" name="Text Box 34"/>
          <p:cNvSpPr txBox="1">
            <a:spLocks noChangeArrowheads="1"/>
          </p:cNvSpPr>
          <p:nvPr/>
        </p:nvSpPr>
        <p:spPr bwMode="auto">
          <a:xfrm>
            <a:off x="5106988" y="4894263"/>
            <a:ext cx="533400" cy="18034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出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区</a:t>
            </a:r>
            <a:endParaRPr kumimoji="0" lang="zh-CN" altLang="en-US" sz="16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183324" name="Rectangle 35"/>
          <p:cNvSpPr>
            <a:spLocks noChangeArrowheads="1"/>
          </p:cNvSpPr>
          <p:nvPr/>
        </p:nvSpPr>
        <p:spPr bwMode="auto">
          <a:xfrm>
            <a:off x="3908425" y="2471738"/>
            <a:ext cx="4876800" cy="381000"/>
          </a:xfrm>
          <a:prstGeom prst="rect">
            <a:avLst/>
          </a:prstGeom>
          <a:solidFill>
            <a:schemeClr val="accent1">
              <a:lumMod val="60000"/>
              <a:lumOff val="40000"/>
            </a:schemeClr>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3325" name="Line 36"/>
          <p:cNvSpPr>
            <a:spLocks noChangeShapeType="1"/>
          </p:cNvSpPr>
          <p:nvPr/>
        </p:nvSpPr>
        <p:spPr bwMode="auto">
          <a:xfrm>
            <a:off x="6346825" y="2471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3326" name="Line 37"/>
          <p:cNvSpPr>
            <a:spLocks noChangeShapeType="1"/>
          </p:cNvSpPr>
          <p:nvPr/>
        </p:nvSpPr>
        <p:spPr bwMode="auto">
          <a:xfrm>
            <a:off x="8175625" y="2471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3327" name="Line 38"/>
          <p:cNvSpPr>
            <a:spLocks noChangeShapeType="1"/>
          </p:cNvSpPr>
          <p:nvPr/>
        </p:nvSpPr>
        <p:spPr bwMode="auto">
          <a:xfrm>
            <a:off x="7564438" y="2471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3328" name="Line 39"/>
          <p:cNvSpPr>
            <a:spLocks noChangeShapeType="1"/>
          </p:cNvSpPr>
          <p:nvPr/>
        </p:nvSpPr>
        <p:spPr bwMode="auto">
          <a:xfrm>
            <a:off x="6956425" y="2471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3329" name="Line 40"/>
          <p:cNvSpPr>
            <a:spLocks noChangeShapeType="1"/>
          </p:cNvSpPr>
          <p:nvPr/>
        </p:nvSpPr>
        <p:spPr bwMode="auto">
          <a:xfrm>
            <a:off x="5737225" y="2471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3330" name="Line 41"/>
          <p:cNvSpPr>
            <a:spLocks noChangeShapeType="1"/>
          </p:cNvSpPr>
          <p:nvPr/>
        </p:nvSpPr>
        <p:spPr bwMode="auto">
          <a:xfrm>
            <a:off x="5127625" y="2471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3331" name="Text Box 42"/>
          <p:cNvSpPr txBox="1">
            <a:spLocks noChangeArrowheads="1"/>
          </p:cNvSpPr>
          <p:nvPr/>
        </p:nvSpPr>
        <p:spPr bwMode="auto">
          <a:xfrm>
            <a:off x="4518025" y="2471738"/>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p>
        </p:txBody>
      </p:sp>
      <p:sp>
        <p:nvSpPr>
          <p:cNvPr id="183332" name="Text Box 43"/>
          <p:cNvSpPr txBox="1">
            <a:spLocks noChangeArrowheads="1"/>
          </p:cNvSpPr>
          <p:nvPr/>
        </p:nvSpPr>
        <p:spPr bwMode="auto">
          <a:xfrm>
            <a:off x="5127625" y="2471738"/>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183333" name="Text Box 44"/>
          <p:cNvSpPr txBox="1">
            <a:spLocks noChangeArrowheads="1"/>
          </p:cNvSpPr>
          <p:nvPr/>
        </p:nvSpPr>
        <p:spPr bwMode="auto">
          <a:xfrm>
            <a:off x="5737225" y="2471738"/>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p>
        </p:txBody>
      </p:sp>
      <p:sp>
        <p:nvSpPr>
          <p:cNvPr id="183334" name="Text Box 45"/>
          <p:cNvSpPr txBox="1">
            <a:spLocks noChangeArrowheads="1"/>
          </p:cNvSpPr>
          <p:nvPr/>
        </p:nvSpPr>
        <p:spPr bwMode="auto">
          <a:xfrm>
            <a:off x="6346825" y="2471738"/>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5</a:t>
            </a:r>
          </a:p>
        </p:txBody>
      </p:sp>
      <p:sp>
        <p:nvSpPr>
          <p:cNvPr id="183335" name="Text Box 46"/>
          <p:cNvSpPr txBox="1">
            <a:spLocks noChangeArrowheads="1"/>
          </p:cNvSpPr>
          <p:nvPr/>
        </p:nvSpPr>
        <p:spPr bwMode="auto">
          <a:xfrm>
            <a:off x="6956425" y="2471738"/>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183336" name="Text Box 47"/>
          <p:cNvSpPr txBox="1">
            <a:spLocks noChangeArrowheads="1"/>
          </p:cNvSpPr>
          <p:nvPr/>
        </p:nvSpPr>
        <p:spPr bwMode="auto">
          <a:xfrm>
            <a:off x="7566025" y="2471738"/>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p>
        </p:txBody>
      </p:sp>
      <p:sp>
        <p:nvSpPr>
          <p:cNvPr id="183337" name="Text Box 48"/>
          <p:cNvSpPr txBox="1">
            <a:spLocks noChangeArrowheads="1"/>
          </p:cNvSpPr>
          <p:nvPr/>
        </p:nvSpPr>
        <p:spPr bwMode="auto">
          <a:xfrm>
            <a:off x="8175625" y="2471738"/>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p>
        </p:txBody>
      </p:sp>
      <p:sp>
        <p:nvSpPr>
          <p:cNvPr id="183338" name="Text Box 49"/>
          <p:cNvSpPr txBox="1">
            <a:spLocks noChangeArrowheads="1"/>
          </p:cNvSpPr>
          <p:nvPr/>
        </p:nvSpPr>
        <p:spPr bwMode="auto">
          <a:xfrm>
            <a:off x="8175625" y="2166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83339" name="Text Box 50"/>
          <p:cNvSpPr txBox="1">
            <a:spLocks noChangeArrowheads="1"/>
          </p:cNvSpPr>
          <p:nvPr/>
        </p:nvSpPr>
        <p:spPr bwMode="auto">
          <a:xfrm>
            <a:off x="7566025" y="2166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p>
        </p:txBody>
      </p:sp>
      <p:sp>
        <p:nvSpPr>
          <p:cNvPr id="183340" name="Text Box 51"/>
          <p:cNvSpPr txBox="1">
            <a:spLocks noChangeArrowheads="1"/>
          </p:cNvSpPr>
          <p:nvPr/>
        </p:nvSpPr>
        <p:spPr bwMode="auto">
          <a:xfrm>
            <a:off x="6956425" y="2166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183341" name="Text Box 52"/>
          <p:cNvSpPr txBox="1">
            <a:spLocks noChangeArrowheads="1"/>
          </p:cNvSpPr>
          <p:nvPr/>
        </p:nvSpPr>
        <p:spPr bwMode="auto">
          <a:xfrm>
            <a:off x="6346825" y="2166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p>
        </p:txBody>
      </p:sp>
      <p:sp>
        <p:nvSpPr>
          <p:cNvPr id="183342" name="Text Box 53"/>
          <p:cNvSpPr txBox="1">
            <a:spLocks noChangeArrowheads="1"/>
          </p:cNvSpPr>
          <p:nvPr/>
        </p:nvSpPr>
        <p:spPr bwMode="auto">
          <a:xfrm>
            <a:off x="5737225" y="2166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p>
        </p:txBody>
      </p:sp>
      <p:sp>
        <p:nvSpPr>
          <p:cNvPr id="183343" name="Text Box 54"/>
          <p:cNvSpPr txBox="1">
            <a:spLocks noChangeArrowheads="1"/>
          </p:cNvSpPr>
          <p:nvPr/>
        </p:nvSpPr>
        <p:spPr bwMode="auto">
          <a:xfrm>
            <a:off x="5127625" y="2166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chemeClr val="tx1"/>
                </a:solidFill>
                <a:effectLst/>
                <a:uLnTx/>
                <a:uFillTx/>
                <a:latin typeface="+mn-lt"/>
                <a:ea typeface="+mn-ea"/>
                <a:cs typeface="+mn-ea"/>
                <a:sym typeface="+mn-lt"/>
              </a:rPr>
              <a:t>2</a:t>
            </a:r>
          </a:p>
        </p:txBody>
      </p:sp>
      <p:sp>
        <p:nvSpPr>
          <p:cNvPr id="183344" name="Text Box 55"/>
          <p:cNvSpPr txBox="1">
            <a:spLocks noChangeArrowheads="1"/>
          </p:cNvSpPr>
          <p:nvPr/>
        </p:nvSpPr>
        <p:spPr bwMode="auto">
          <a:xfrm>
            <a:off x="4518025" y="2166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183345" name="Rectangle 56"/>
          <p:cNvSpPr>
            <a:spLocks noChangeArrowheads="1"/>
          </p:cNvSpPr>
          <p:nvPr/>
        </p:nvSpPr>
        <p:spPr bwMode="auto">
          <a:xfrm>
            <a:off x="5649913" y="4879975"/>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3347" name="Text Box 58"/>
          <p:cNvSpPr txBox="1">
            <a:spLocks noChangeArrowheads="1"/>
          </p:cNvSpPr>
          <p:nvPr/>
        </p:nvSpPr>
        <p:spPr bwMode="auto">
          <a:xfrm>
            <a:off x="6357938" y="4881563"/>
            <a:ext cx="2393950" cy="1716088"/>
          </a:xfrm>
          <a:prstGeom prst="rect">
            <a:avLst/>
          </a:prstGeom>
          <a:noFill/>
          <a:ln w="9525">
            <a:solidFill>
              <a:schemeClr val="accent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1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注意：挑出冠军</a:t>
            </a:r>
          </a:p>
          <a:p>
            <a:pPr marL="0" marR="0" lvl="0" indent="0" algn="l" defTabSz="914400" rtl="0" eaLnBrk="0" fontAlgn="base" latinLnBrk="0" hangingPunct="0">
              <a:lnSpc>
                <a:spcPct val="11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需要进行 </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k-1 </a:t>
            </a: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次</a:t>
            </a:r>
          </a:p>
          <a:p>
            <a:pPr marL="0" marR="0" lvl="0" indent="0" algn="l" defTabSz="914400" rtl="0" eaLnBrk="0" fontAlgn="base" latinLnBrk="0" hangingPunct="0">
              <a:lnSpc>
                <a:spcPct val="110000"/>
              </a:lnSpc>
              <a:spcBef>
                <a:spcPts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比较，此处需要</a:t>
            </a:r>
          </a:p>
          <a:p>
            <a:pPr marL="0" marR="0" lvl="0" indent="0" algn="l" defTabSz="914400" rtl="0" eaLnBrk="0" fontAlgn="base" latinLnBrk="0" hangingPunct="0">
              <a:lnSpc>
                <a:spcPct val="110000"/>
              </a:lnSpc>
              <a:spcBef>
                <a:spcPts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比较 3 次</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a:t>
            </a:r>
          </a:p>
        </p:txBody>
      </p:sp>
      <p:sp>
        <p:nvSpPr>
          <p:cNvPr id="183348" name="Oval 59"/>
          <p:cNvSpPr>
            <a:spLocks noChangeArrowheads="1"/>
          </p:cNvSpPr>
          <p:nvPr/>
        </p:nvSpPr>
        <p:spPr bwMode="auto">
          <a:xfrm>
            <a:off x="2460625" y="16652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0</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3349" name="Text Box 60"/>
          <p:cNvSpPr txBox="1">
            <a:spLocks noChangeArrowheads="1"/>
          </p:cNvSpPr>
          <p:nvPr/>
        </p:nvSpPr>
        <p:spPr bwMode="auto">
          <a:xfrm>
            <a:off x="1906588" y="1425575"/>
            <a:ext cx="8382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ls</a:t>
            </a: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 [0]</a:t>
            </a:r>
          </a:p>
        </p:txBody>
      </p:sp>
      <p:sp>
        <p:nvSpPr>
          <p:cNvPr id="183350" name="Line 61"/>
          <p:cNvSpPr>
            <a:spLocks noChangeShapeType="1"/>
          </p:cNvSpPr>
          <p:nvPr/>
        </p:nvSpPr>
        <p:spPr bwMode="auto">
          <a:xfrm>
            <a:off x="4592638" y="2471738"/>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3351" name="Text Box 62"/>
          <p:cNvSpPr txBox="1">
            <a:spLocks noChangeArrowheads="1"/>
          </p:cNvSpPr>
          <p:nvPr/>
        </p:nvSpPr>
        <p:spPr bwMode="auto">
          <a:xfrm>
            <a:off x="3908425" y="2166938"/>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chemeClr val="tx1"/>
                </a:solidFill>
                <a:effectLst/>
                <a:uLnTx/>
                <a:uFillTx/>
                <a:latin typeface="+mn-lt"/>
                <a:ea typeface="+mn-ea"/>
                <a:cs typeface="+mn-ea"/>
                <a:sym typeface="+mn-lt"/>
              </a:rPr>
              <a:t>0</a:t>
            </a:r>
          </a:p>
        </p:txBody>
      </p:sp>
      <p:sp>
        <p:nvSpPr>
          <p:cNvPr id="183352" name="Text Box 63"/>
          <p:cNvSpPr txBox="1">
            <a:spLocks noChangeArrowheads="1"/>
          </p:cNvSpPr>
          <p:nvPr/>
        </p:nvSpPr>
        <p:spPr bwMode="auto">
          <a:xfrm>
            <a:off x="3908425" y="2471738"/>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5</a:t>
            </a:r>
          </a:p>
        </p:txBody>
      </p:sp>
      <p:sp>
        <p:nvSpPr>
          <p:cNvPr id="183353" name="Text Box 65"/>
          <p:cNvSpPr txBox="1">
            <a:spLocks noChangeArrowheads="1"/>
          </p:cNvSpPr>
          <p:nvPr/>
        </p:nvSpPr>
        <p:spPr bwMode="auto">
          <a:xfrm>
            <a:off x="1016000" y="2882900"/>
            <a:ext cx="727075"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ls[2]</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54" name="Text Box 66"/>
          <p:cNvSpPr txBox="1">
            <a:spLocks noChangeArrowheads="1"/>
          </p:cNvSpPr>
          <p:nvPr/>
        </p:nvSpPr>
        <p:spPr bwMode="auto">
          <a:xfrm>
            <a:off x="2808288" y="3003550"/>
            <a:ext cx="727075"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ls[3]</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55" name="Text Box 67"/>
          <p:cNvSpPr txBox="1">
            <a:spLocks noChangeArrowheads="1"/>
          </p:cNvSpPr>
          <p:nvPr/>
        </p:nvSpPr>
        <p:spPr bwMode="auto">
          <a:xfrm>
            <a:off x="2022475" y="3968750"/>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b[1]</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56" name="Text Box 68"/>
          <p:cNvSpPr txBox="1">
            <a:spLocks noChangeArrowheads="1"/>
          </p:cNvSpPr>
          <p:nvPr/>
        </p:nvSpPr>
        <p:spPr bwMode="auto">
          <a:xfrm>
            <a:off x="2692400" y="3956050"/>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b[2]</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57" name="Text Box 69"/>
          <p:cNvSpPr txBox="1">
            <a:spLocks noChangeArrowheads="1"/>
          </p:cNvSpPr>
          <p:nvPr/>
        </p:nvSpPr>
        <p:spPr bwMode="auto">
          <a:xfrm>
            <a:off x="4117975" y="3981450"/>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b[3]</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3358" name="Text Box 70"/>
          <p:cNvSpPr txBox="1">
            <a:spLocks noChangeArrowheads="1"/>
          </p:cNvSpPr>
          <p:nvPr/>
        </p:nvSpPr>
        <p:spPr bwMode="auto">
          <a:xfrm>
            <a:off x="3808413" y="1630363"/>
            <a:ext cx="2763838" cy="46196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4路平衡归并</a:t>
            </a:r>
          </a:p>
        </p:txBody>
      </p:sp>
      <p:sp>
        <p:nvSpPr>
          <p:cNvPr id="66" name="Rectangle 6"/>
          <p:cNvSpPr>
            <a:spLocks noChangeArrowheads="1"/>
          </p:cNvSpPr>
          <p:nvPr/>
        </p:nvSpPr>
        <p:spPr bwMode="auto">
          <a:xfrm>
            <a:off x="847725" y="15875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多路平衡归并的实现</a:t>
            </a:r>
          </a:p>
        </p:txBody>
      </p:sp>
      <p:cxnSp>
        <p:nvCxnSpPr>
          <p:cNvPr id="67" name="直接箭头连接符 66"/>
          <p:cNvCxnSpPr>
            <a:stCxn id="183348" idx="5"/>
          </p:cNvCxnSpPr>
          <p:nvPr/>
        </p:nvCxnSpPr>
        <p:spPr bwMode="auto">
          <a:xfrm>
            <a:off x="2851150" y="1990725"/>
            <a:ext cx="2894013" cy="2798763"/>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Tree>
  </p:cSld>
  <p:clrMapOvr>
    <a:masterClrMapping/>
  </p:clrMapOvr>
  <p:transition>
    <p:wipe dir="d"/>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5" name="Line 2"/>
          <p:cNvSpPr>
            <a:spLocks noChangeShapeType="1"/>
          </p:cNvSpPr>
          <p:nvPr/>
        </p:nvSpPr>
        <p:spPr bwMode="auto">
          <a:xfrm>
            <a:off x="2689225" y="1733550"/>
            <a:ext cx="0" cy="457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46" name="Line 3"/>
          <p:cNvSpPr>
            <a:spLocks noChangeShapeType="1"/>
          </p:cNvSpPr>
          <p:nvPr/>
        </p:nvSpPr>
        <p:spPr bwMode="auto">
          <a:xfrm flipH="1">
            <a:off x="1774825" y="2419350"/>
            <a:ext cx="7620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47" name="Line 4"/>
          <p:cNvSpPr>
            <a:spLocks noChangeShapeType="1"/>
          </p:cNvSpPr>
          <p:nvPr/>
        </p:nvSpPr>
        <p:spPr bwMode="auto">
          <a:xfrm>
            <a:off x="2765425" y="2419350"/>
            <a:ext cx="9144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48" name="Line 5"/>
          <p:cNvSpPr>
            <a:spLocks noChangeShapeType="1"/>
          </p:cNvSpPr>
          <p:nvPr/>
        </p:nvSpPr>
        <p:spPr bwMode="auto">
          <a:xfrm flipH="1">
            <a:off x="3146425" y="3409950"/>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49" name="Line 6"/>
          <p:cNvSpPr>
            <a:spLocks noChangeShapeType="1"/>
          </p:cNvSpPr>
          <p:nvPr/>
        </p:nvSpPr>
        <p:spPr bwMode="auto">
          <a:xfrm>
            <a:off x="3756025" y="3486150"/>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50" name="Line 7"/>
          <p:cNvSpPr>
            <a:spLocks noChangeShapeType="1"/>
          </p:cNvSpPr>
          <p:nvPr/>
        </p:nvSpPr>
        <p:spPr bwMode="auto">
          <a:xfrm flipH="1">
            <a:off x="1165225" y="3409950"/>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51" name="Line 8"/>
          <p:cNvSpPr>
            <a:spLocks noChangeShapeType="1"/>
          </p:cNvSpPr>
          <p:nvPr/>
        </p:nvSpPr>
        <p:spPr bwMode="auto">
          <a:xfrm>
            <a:off x="1698625" y="3409950"/>
            <a:ext cx="457200" cy="1066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52" name="Oval 9"/>
          <p:cNvSpPr>
            <a:spLocks noChangeArrowheads="1"/>
          </p:cNvSpPr>
          <p:nvPr/>
        </p:nvSpPr>
        <p:spPr bwMode="auto">
          <a:xfrm>
            <a:off x="3451225" y="31813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5353" name="Oval 10"/>
          <p:cNvSpPr>
            <a:spLocks noChangeArrowheads="1"/>
          </p:cNvSpPr>
          <p:nvPr/>
        </p:nvSpPr>
        <p:spPr bwMode="auto">
          <a:xfrm>
            <a:off x="1470025" y="31813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0</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5354" name="Rectangle 12"/>
          <p:cNvSpPr>
            <a:spLocks noChangeArrowheads="1"/>
          </p:cNvSpPr>
          <p:nvPr/>
        </p:nvSpPr>
        <p:spPr bwMode="auto">
          <a:xfrm>
            <a:off x="800100" y="890588"/>
            <a:ext cx="4267200" cy="457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三、败者树及其使用</a:t>
            </a:r>
          </a:p>
        </p:txBody>
      </p:sp>
      <p:sp>
        <p:nvSpPr>
          <p:cNvPr id="185355" name="Oval 13"/>
          <p:cNvSpPr>
            <a:spLocks noChangeArrowheads="1"/>
          </p:cNvSpPr>
          <p:nvPr/>
        </p:nvSpPr>
        <p:spPr bwMode="auto">
          <a:xfrm>
            <a:off x="1927225" y="43243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185356" name="Oval 14"/>
          <p:cNvSpPr>
            <a:spLocks noChangeArrowheads="1"/>
          </p:cNvSpPr>
          <p:nvPr/>
        </p:nvSpPr>
        <p:spPr bwMode="auto">
          <a:xfrm>
            <a:off x="2994025" y="43243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5357" name="Oval 15"/>
          <p:cNvSpPr>
            <a:spLocks noChangeArrowheads="1"/>
          </p:cNvSpPr>
          <p:nvPr/>
        </p:nvSpPr>
        <p:spPr bwMode="auto">
          <a:xfrm>
            <a:off x="936625" y="43243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16</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5358" name="Oval 16"/>
          <p:cNvSpPr>
            <a:spLocks noChangeArrowheads="1"/>
          </p:cNvSpPr>
          <p:nvPr/>
        </p:nvSpPr>
        <p:spPr bwMode="auto">
          <a:xfrm>
            <a:off x="4060825" y="43243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5359" name="Oval 17"/>
          <p:cNvSpPr>
            <a:spLocks noChangeArrowheads="1"/>
          </p:cNvSpPr>
          <p:nvPr/>
        </p:nvSpPr>
        <p:spPr bwMode="auto">
          <a:xfrm>
            <a:off x="2460625" y="21145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5360" name="Rectangle 18"/>
          <p:cNvSpPr>
            <a:spLocks noChangeArrowheads="1"/>
          </p:cNvSpPr>
          <p:nvPr/>
        </p:nvSpPr>
        <p:spPr bwMode="auto">
          <a:xfrm>
            <a:off x="936625" y="48577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5361" name="Line 19"/>
          <p:cNvSpPr>
            <a:spLocks noChangeShapeType="1"/>
          </p:cNvSpPr>
          <p:nvPr/>
        </p:nvSpPr>
        <p:spPr bwMode="auto">
          <a:xfrm>
            <a:off x="1165225" y="63817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62" name="Rectangle 20"/>
          <p:cNvSpPr>
            <a:spLocks noChangeArrowheads="1"/>
          </p:cNvSpPr>
          <p:nvPr/>
        </p:nvSpPr>
        <p:spPr bwMode="auto">
          <a:xfrm>
            <a:off x="2003425" y="48577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84</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5363" name="Line 21"/>
          <p:cNvSpPr>
            <a:spLocks noChangeShapeType="1"/>
          </p:cNvSpPr>
          <p:nvPr/>
        </p:nvSpPr>
        <p:spPr bwMode="auto">
          <a:xfrm>
            <a:off x="2232025" y="63817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64" name="Rectangle 22"/>
          <p:cNvSpPr>
            <a:spLocks noChangeArrowheads="1"/>
          </p:cNvSpPr>
          <p:nvPr/>
        </p:nvSpPr>
        <p:spPr bwMode="auto">
          <a:xfrm>
            <a:off x="3070225" y="48577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57</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66</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71</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5365" name="Line 23"/>
          <p:cNvSpPr>
            <a:spLocks noChangeShapeType="1"/>
          </p:cNvSpPr>
          <p:nvPr/>
        </p:nvSpPr>
        <p:spPr bwMode="auto">
          <a:xfrm>
            <a:off x="3222625" y="63817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66" name="Rectangle 24"/>
          <p:cNvSpPr>
            <a:spLocks noChangeArrowheads="1"/>
          </p:cNvSpPr>
          <p:nvPr/>
        </p:nvSpPr>
        <p:spPr bwMode="auto">
          <a:xfrm>
            <a:off x="4137025" y="48577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5367" name="Line 25"/>
          <p:cNvSpPr>
            <a:spLocks noChangeShapeType="1"/>
          </p:cNvSpPr>
          <p:nvPr/>
        </p:nvSpPr>
        <p:spPr bwMode="auto">
          <a:xfrm>
            <a:off x="4365625" y="63817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68" name="Text Box 26"/>
          <p:cNvSpPr txBox="1">
            <a:spLocks noChangeArrowheads="1"/>
          </p:cNvSpPr>
          <p:nvPr/>
        </p:nvSpPr>
        <p:spPr bwMode="auto">
          <a:xfrm>
            <a:off x="631825" y="4006850"/>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b[0]</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69" name="Text Box 27"/>
          <p:cNvSpPr txBox="1">
            <a:spLocks noChangeArrowheads="1"/>
          </p:cNvSpPr>
          <p:nvPr/>
        </p:nvSpPr>
        <p:spPr bwMode="auto">
          <a:xfrm>
            <a:off x="1906588" y="1873250"/>
            <a:ext cx="727075"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ls[1]</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370" name="Text Box 28"/>
          <p:cNvSpPr txBox="1">
            <a:spLocks noChangeArrowheads="1"/>
          </p:cNvSpPr>
          <p:nvPr/>
        </p:nvSpPr>
        <p:spPr bwMode="auto">
          <a:xfrm>
            <a:off x="250825" y="4883150"/>
            <a:ext cx="533400" cy="18034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入</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区</a:t>
            </a:r>
            <a:endParaRPr kumimoji="0" lang="zh-CN" altLang="en-US" sz="16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185371" name="Text Box 29"/>
          <p:cNvSpPr txBox="1">
            <a:spLocks noChangeArrowheads="1"/>
          </p:cNvSpPr>
          <p:nvPr/>
        </p:nvSpPr>
        <p:spPr bwMode="auto">
          <a:xfrm>
            <a:off x="5013325" y="4837113"/>
            <a:ext cx="533400" cy="18034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出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区</a:t>
            </a:r>
            <a:endParaRPr kumimoji="0" lang="zh-CN" altLang="en-US" sz="16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185372" name="Rectangle 30"/>
          <p:cNvSpPr>
            <a:spLocks noChangeArrowheads="1"/>
          </p:cNvSpPr>
          <p:nvPr/>
        </p:nvSpPr>
        <p:spPr bwMode="auto">
          <a:xfrm>
            <a:off x="3908425" y="2343150"/>
            <a:ext cx="4876800" cy="381000"/>
          </a:xfrm>
          <a:prstGeom prst="rect">
            <a:avLst/>
          </a:prstGeom>
          <a:solidFill>
            <a:schemeClr val="accent1">
              <a:lumMod val="60000"/>
              <a:lumOff val="40000"/>
            </a:schemeClr>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5373" name="Line 31"/>
          <p:cNvSpPr>
            <a:spLocks noChangeShapeType="1"/>
          </p:cNvSpPr>
          <p:nvPr/>
        </p:nvSpPr>
        <p:spPr bwMode="auto">
          <a:xfrm>
            <a:off x="6346825" y="2343150"/>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5374" name="Line 32"/>
          <p:cNvSpPr>
            <a:spLocks noChangeShapeType="1"/>
          </p:cNvSpPr>
          <p:nvPr/>
        </p:nvSpPr>
        <p:spPr bwMode="auto">
          <a:xfrm>
            <a:off x="8175625" y="2343150"/>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5375" name="Line 33"/>
          <p:cNvSpPr>
            <a:spLocks noChangeShapeType="1"/>
          </p:cNvSpPr>
          <p:nvPr/>
        </p:nvSpPr>
        <p:spPr bwMode="auto">
          <a:xfrm>
            <a:off x="7564438" y="2343150"/>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5376" name="Line 34"/>
          <p:cNvSpPr>
            <a:spLocks noChangeShapeType="1"/>
          </p:cNvSpPr>
          <p:nvPr/>
        </p:nvSpPr>
        <p:spPr bwMode="auto">
          <a:xfrm>
            <a:off x="6956425" y="2343150"/>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5377" name="Line 35"/>
          <p:cNvSpPr>
            <a:spLocks noChangeShapeType="1"/>
          </p:cNvSpPr>
          <p:nvPr/>
        </p:nvSpPr>
        <p:spPr bwMode="auto">
          <a:xfrm>
            <a:off x="5737225" y="2343150"/>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5378" name="Line 36"/>
          <p:cNvSpPr>
            <a:spLocks noChangeShapeType="1"/>
          </p:cNvSpPr>
          <p:nvPr/>
        </p:nvSpPr>
        <p:spPr bwMode="auto">
          <a:xfrm>
            <a:off x="5127625" y="2343150"/>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5379" name="Text Box 37"/>
          <p:cNvSpPr txBox="1">
            <a:spLocks noChangeArrowheads="1"/>
          </p:cNvSpPr>
          <p:nvPr/>
        </p:nvSpPr>
        <p:spPr bwMode="auto">
          <a:xfrm>
            <a:off x="4518025" y="2343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  9</a:t>
            </a:r>
          </a:p>
        </p:txBody>
      </p:sp>
      <p:sp>
        <p:nvSpPr>
          <p:cNvPr id="185380" name="Text Box 38"/>
          <p:cNvSpPr txBox="1">
            <a:spLocks noChangeArrowheads="1"/>
          </p:cNvSpPr>
          <p:nvPr/>
        </p:nvSpPr>
        <p:spPr bwMode="auto">
          <a:xfrm>
            <a:off x="5127625" y="2343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 7</a:t>
            </a:r>
          </a:p>
        </p:txBody>
      </p:sp>
      <p:sp>
        <p:nvSpPr>
          <p:cNvPr id="185381" name="Text Box 39"/>
          <p:cNvSpPr txBox="1">
            <a:spLocks noChangeArrowheads="1"/>
          </p:cNvSpPr>
          <p:nvPr/>
        </p:nvSpPr>
        <p:spPr bwMode="auto">
          <a:xfrm>
            <a:off x="5737225" y="2343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 29</a:t>
            </a:r>
          </a:p>
        </p:txBody>
      </p:sp>
      <p:sp>
        <p:nvSpPr>
          <p:cNvPr id="185382" name="Text Box 40"/>
          <p:cNvSpPr txBox="1">
            <a:spLocks noChangeArrowheads="1"/>
          </p:cNvSpPr>
          <p:nvPr/>
        </p:nvSpPr>
        <p:spPr bwMode="auto">
          <a:xfrm>
            <a:off x="6346825" y="2343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 5</a:t>
            </a:r>
          </a:p>
        </p:txBody>
      </p:sp>
      <p:sp>
        <p:nvSpPr>
          <p:cNvPr id="185383" name="Text Box 41"/>
          <p:cNvSpPr txBox="1">
            <a:spLocks noChangeArrowheads="1"/>
          </p:cNvSpPr>
          <p:nvPr/>
        </p:nvSpPr>
        <p:spPr bwMode="auto">
          <a:xfrm>
            <a:off x="6956425" y="2343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185384" name="Text Box 42"/>
          <p:cNvSpPr txBox="1">
            <a:spLocks noChangeArrowheads="1"/>
          </p:cNvSpPr>
          <p:nvPr/>
        </p:nvSpPr>
        <p:spPr bwMode="auto">
          <a:xfrm>
            <a:off x="7566025" y="2343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 29</a:t>
            </a:r>
          </a:p>
        </p:txBody>
      </p:sp>
      <p:sp>
        <p:nvSpPr>
          <p:cNvPr id="185385" name="Text Box 43"/>
          <p:cNvSpPr txBox="1">
            <a:spLocks noChangeArrowheads="1"/>
          </p:cNvSpPr>
          <p:nvPr/>
        </p:nvSpPr>
        <p:spPr bwMode="auto">
          <a:xfrm>
            <a:off x="8175625" y="2343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p>
        </p:txBody>
      </p:sp>
      <p:sp>
        <p:nvSpPr>
          <p:cNvPr id="185386" name="Text Box 44"/>
          <p:cNvSpPr txBox="1">
            <a:spLocks noChangeArrowheads="1"/>
          </p:cNvSpPr>
          <p:nvPr/>
        </p:nvSpPr>
        <p:spPr bwMode="auto">
          <a:xfrm>
            <a:off x="8175625" y="20383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85387" name="Text Box 45"/>
          <p:cNvSpPr txBox="1">
            <a:spLocks noChangeArrowheads="1"/>
          </p:cNvSpPr>
          <p:nvPr/>
        </p:nvSpPr>
        <p:spPr bwMode="auto">
          <a:xfrm>
            <a:off x="7566025" y="20383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p>
        </p:txBody>
      </p:sp>
      <p:sp>
        <p:nvSpPr>
          <p:cNvPr id="185388" name="Text Box 46"/>
          <p:cNvSpPr txBox="1">
            <a:spLocks noChangeArrowheads="1"/>
          </p:cNvSpPr>
          <p:nvPr/>
        </p:nvSpPr>
        <p:spPr bwMode="auto">
          <a:xfrm>
            <a:off x="6956425" y="20383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185389" name="Text Box 47"/>
          <p:cNvSpPr txBox="1">
            <a:spLocks noChangeArrowheads="1"/>
          </p:cNvSpPr>
          <p:nvPr/>
        </p:nvSpPr>
        <p:spPr bwMode="auto">
          <a:xfrm>
            <a:off x="6346825" y="20383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p>
        </p:txBody>
      </p:sp>
      <p:sp>
        <p:nvSpPr>
          <p:cNvPr id="185390" name="Text Box 48"/>
          <p:cNvSpPr txBox="1">
            <a:spLocks noChangeArrowheads="1"/>
          </p:cNvSpPr>
          <p:nvPr/>
        </p:nvSpPr>
        <p:spPr bwMode="auto">
          <a:xfrm>
            <a:off x="5737225" y="20383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p>
        </p:txBody>
      </p:sp>
      <p:sp>
        <p:nvSpPr>
          <p:cNvPr id="185391" name="Text Box 49"/>
          <p:cNvSpPr txBox="1">
            <a:spLocks noChangeArrowheads="1"/>
          </p:cNvSpPr>
          <p:nvPr/>
        </p:nvSpPr>
        <p:spPr bwMode="auto">
          <a:xfrm>
            <a:off x="5127625" y="20383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185392" name="Text Box 50"/>
          <p:cNvSpPr txBox="1">
            <a:spLocks noChangeArrowheads="1"/>
          </p:cNvSpPr>
          <p:nvPr/>
        </p:nvSpPr>
        <p:spPr bwMode="auto">
          <a:xfrm>
            <a:off x="4518025" y="20383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185393" name="Rectangle 51"/>
          <p:cNvSpPr>
            <a:spLocks noChangeArrowheads="1"/>
          </p:cNvSpPr>
          <p:nvPr/>
        </p:nvSpPr>
        <p:spPr bwMode="auto">
          <a:xfrm>
            <a:off x="5588000" y="4857750"/>
            <a:ext cx="381000" cy="1935163"/>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5395" name="Text Box 53"/>
          <p:cNvSpPr txBox="1">
            <a:spLocks noChangeArrowheads="1"/>
          </p:cNvSpPr>
          <p:nvPr/>
        </p:nvSpPr>
        <p:spPr bwMode="auto">
          <a:xfrm>
            <a:off x="6270625" y="4859338"/>
            <a:ext cx="2479675" cy="1938338"/>
          </a:xfrm>
          <a:prstGeom prst="rect">
            <a:avLst/>
          </a:prstGeom>
          <a:noFill/>
          <a:ln w="9525">
            <a:solidFill>
              <a:schemeClr val="accent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注意：挑出冠军</a:t>
            </a:r>
          </a:p>
          <a:p>
            <a:pPr marL="0"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需要进行 </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k-1 </a:t>
            </a: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次</a:t>
            </a:r>
          </a:p>
          <a:p>
            <a:pPr marL="0"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比较，此处需要</a:t>
            </a:r>
          </a:p>
          <a:p>
            <a:pPr marL="0"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比较 3 次</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a:t>
            </a:r>
          </a:p>
        </p:txBody>
      </p:sp>
      <p:sp>
        <p:nvSpPr>
          <p:cNvPr id="185396" name="Oval 54"/>
          <p:cNvSpPr>
            <a:spLocks noChangeArrowheads="1"/>
          </p:cNvSpPr>
          <p:nvPr/>
        </p:nvSpPr>
        <p:spPr bwMode="auto">
          <a:xfrm>
            <a:off x="2460625" y="15811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5397" name="Text Box 55"/>
          <p:cNvSpPr txBox="1">
            <a:spLocks noChangeArrowheads="1"/>
          </p:cNvSpPr>
          <p:nvPr/>
        </p:nvSpPr>
        <p:spPr bwMode="auto">
          <a:xfrm>
            <a:off x="1906588" y="1341438"/>
            <a:ext cx="8382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ls</a:t>
            </a: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 [0]</a:t>
            </a:r>
          </a:p>
        </p:txBody>
      </p:sp>
      <p:sp>
        <p:nvSpPr>
          <p:cNvPr id="185398" name="Line 56"/>
          <p:cNvSpPr>
            <a:spLocks noChangeShapeType="1"/>
          </p:cNvSpPr>
          <p:nvPr/>
        </p:nvSpPr>
        <p:spPr bwMode="auto">
          <a:xfrm>
            <a:off x="4592638" y="2343150"/>
            <a:ext cx="1588"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5399" name="Text Box 57"/>
          <p:cNvSpPr txBox="1">
            <a:spLocks noChangeArrowheads="1"/>
          </p:cNvSpPr>
          <p:nvPr/>
        </p:nvSpPr>
        <p:spPr bwMode="auto">
          <a:xfrm>
            <a:off x="3908425" y="20383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185400" name="Text Box 58"/>
          <p:cNvSpPr txBox="1">
            <a:spLocks noChangeArrowheads="1"/>
          </p:cNvSpPr>
          <p:nvPr/>
        </p:nvSpPr>
        <p:spPr bwMode="auto">
          <a:xfrm>
            <a:off x="3908425" y="2343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  5</a:t>
            </a:r>
          </a:p>
        </p:txBody>
      </p:sp>
      <p:sp>
        <p:nvSpPr>
          <p:cNvPr id="185401" name="Text Box 59"/>
          <p:cNvSpPr txBox="1">
            <a:spLocks noChangeArrowheads="1"/>
          </p:cNvSpPr>
          <p:nvPr/>
        </p:nvSpPr>
        <p:spPr bwMode="auto">
          <a:xfrm>
            <a:off x="1016000" y="2798763"/>
            <a:ext cx="727075"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ls[2]</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402" name="Text Box 60"/>
          <p:cNvSpPr txBox="1">
            <a:spLocks noChangeArrowheads="1"/>
          </p:cNvSpPr>
          <p:nvPr/>
        </p:nvSpPr>
        <p:spPr bwMode="auto">
          <a:xfrm>
            <a:off x="2808288" y="2919413"/>
            <a:ext cx="727075"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ls[3]</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403" name="Text Box 61"/>
          <p:cNvSpPr txBox="1">
            <a:spLocks noChangeArrowheads="1"/>
          </p:cNvSpPr>
          <p:nvPr/>
        </p:nvSpPr>
        <p:spPr bwMode="auto">
          <a:xfrm>
            <a:off x="2022475" y="3884613"/>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b[1]</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404" name="Text Box 62"/>
          <p:cNvSpPr txBox="1">
            <a:spLocks noChangeArrowheads="1"/>
          </p:cNvSpPr>
          <p:nvPr/>
        </p:nvSpPr>
        <p:spPr bwMode="auto">
          <a:xfrm>
            <a:off x="2692400" y="3871913"/>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b[2]</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405" name="Text Box 63"/>
          <p:cNvSpPr txBox="1">
            <a:spLocks noChangeArrowheads="1"/>
          </p:cNvSpPr>
          <p:nvPr/>
        </p:nvSpPr>
        <p:spPr bwMode="auto">
          <a:xfrm>
            <a:off x="4117975" y="3897313"/>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b[3]</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5406" name="Text Box 64"/>
          <p:cNvSpPr txBox="1">
            <a:spLocks noChangeArrowheads="1"/>
          </p:cNvSpPr>
          <p:nvPr/>
        </p:nvSpPr>
        <p:spPr bwMode="auto">
          <a:xfrm>
            <a:off x="3794125" y="1619250"/>
            <a:ext cx="2763838" cy="46196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4路平衡归并</a:t>
            </a:r>
          </a:p>
        </p:txBody>
      </p:sp>
      <p:sp>
        <p:nvSpPr>
          <p:cNvPr id="65" name="Rectangle 6"/>
          <p:cNvSpPr>
            <a:spLocks noChangeArrowheads="1"/>
          </p:cNvSpPr>
          <p:nvPr/>
        </p:nvSpPr>
        <p:spPr bwMode="auto">
          <a:xfrm>
            <a:off x="800100" y="1746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多路平衡归并的实现</a:t>
            </a:r>
          </a:p>
        </p:txBody>
      </p:sp>
      <p:cxnSp>
        <p:nvCxnSpPr>
          <p:cNvPr id="66" name="直接箭头连接符 65"/>
          <p:cNvCxnSpPr/>
          <p:nvPr/>
        </p:nvCxnSpPr>
        <p:spPr bwMode="auto">
          <a:xfrm>
            <a:off x="2867025" y="1905000"/>
            <a:ext cx="2894013" cy="2800350"/>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Tree>
  </p:cSld>
  <p:clrMapOvr>
    <a:masterClrMapping/>
  </p:clrMapOvr>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Line 2"/>
          <p:cNvSpPr>
            <a:spLocks noChangeShapeType="1"/>
          </p:cNvSpPr>
          <p:nvPr/>
        </p:nvSpPr>
        <p:spPr bwMode="auto">
          <a:xfrm>
            <a:off x="2971800" y="1784350"/>
            <a:ext cx="0" cy="457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70" name="Line 3"/>
          <p:cNvSpPr>
            <a:spLocks noChangeShapeType="1"/>
          </p:cNvSpPr>
          <p:nvPr/>
        </p:nvSpPr>
        <p:spPr bwMode="auto">
          <a:xfrm flipH="1">
            <a:off x="2057400" y="2470150"/>
            <a:ext cx="7620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71" name="Line 4"/>
          <p:cNvSpPr>
            <a:spLocks noChangeShapeType="1"/>
          </p:cNvSpPr>
          <p:nvPr/>
        </p:nvSpPr>
        <p:spPr bwMode="auto">
          <a:xfrm>
            <a:off x="3048000" y="2470150"/>
            <a:ext cx="914400" cy="838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72" name="Line 5"/>
          <p:cNvSpPr>
            <a:spLocks noChangeShapeType="1"/>
          </p:cNvSpPr>
          <p:nvPr/>
        </p:nvSpPr>
        <p:spPr bwMode="auto">
          <a:xfrm flipH="1">
            <a:off x="3429000" y="3460750"/>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73" name="Line 6"/>
          <p:cNvSpPr>
            <a:spLocks noChangeShapeType="1"/>
          </p:cNvSpPr>
          <p:nvPr/>
        </p:nvSpPr>
        <p:spPr bwMode="auto">
          <a:xfrm>
            <a:off x="4038600" y="3536950"/>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74" name="Line 7"/>
          <p:cNvSpPr>
            <a:spLocks noChangeShapeType="1"/>
          </p:cNvSpPr>
          <p:nvPr/>
        </p:nvSpPr>
        <p:spPr bwMode="auto">
          <a:xfrm flipH="1">
            <a:off x="1447800" y="3460750"/>
            <a:ext cx="53340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75" name="Line 8"/>
          <p:cNvSpPr>
            <a:spLocks noChangeShapeType="1"/>
          </p:cNvSpPr>
          <p:nvPr/>
        </p:nvSpPr>
        <p:spPr bwMode="auto">
          <a:xfrm>
            <a:off x="1981200" y="3460750"/>
            <a:ext cx="457200" cy="1066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76" name="Oval 9"/>
          <p:cNvSpPr>
            <a:spLocks noChangeArrowheads="1"/>
          </p:cNvSpPr>
          <p:nvPr/>
        </p:nvSpPr>
        <p:spPr bwMode="auto">
          <a:xfrm>
            <a:off x="3733800" y="32321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6377" name="Oval 10"/>
          <p:cNvSpPr>
            <a:spLocks noChangeArrowheads="1"/>
          </p:cNvSpPr>
          <p:nvPr/>
        </p:nvSpPr>
        <p:spPr bwMode="auto">
          <a:xfrm>
            <a:off x="1752600" y="32321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0</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6378" name="Rectangle 12"/>
          <p:cNvSpPr>
            <a:spLocks noChangeArrowheads="1"/>
          </p:cNvSpPr>
          <p:nvPr/>
        </p:nvSpPr>
        <p:spPr bwMode="auto">
          <a:xfrm>
            <a:off x="914400" y="919163"/>
            <a:ext cx="4267200" cy="457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三、败者树及其使用</a:t>
            </a:r>
          </a:p>
        </p:txBody>
      </p:sp>
      <p:sp>
        <p:nvSpPr>
          <p:cNvPr id="186379" name="Oval 13"/>
          <p:cNvSpPr>
            <a:spLocks noChangeArrowheads="1"/>
          </p:cNvSpPr>
          <p:nvPr/>
        </p:nvSpPr>
        <p:spPr bwMode="auto">
          <a:xfrm>
            <a:off x="2209800" y="43751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12</a:t>
            </a:r>
          </a:p>
        </p:txBody>
      </p:sp>
      <p:sp>
        <p:nvSpPr>
          <p:cNvPr id="186380" name="Oval 14"/>
          <p:cNvSpPr>
            <a:spLocks noChangeArrowheads="1"/>
          </p:cNvSpPr>
          <p:nvPr/>
        </p:nvSpPr>
        <p:spPr bwMode="auto">
          <a:xfrm>
            <a:off x="3276600" y="43751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6381" name="Oval 15"/>
          <p:cNvSpPr>
            <a:spLocks noChangeArrowheads="1"/>
          </p:cNvSpPr>
          <p:nvPr/>
        </p:nvSpPr>
        <p:spPr bwMode="auto">
          <a:xfrm>
            <a:off x="1219200" y="43751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16</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6382" name="Oval 16"/>
          <p:cNvSpPr>
            <a:spLocks noChangeArrowheads="1"/>
          </p:cNvSpPr>
          <p:nvPr/>
        </p:nvSpPr>
        <p:spPr bwMode="auto">
          <a:xfrm>
            <a:off x="4343400" y="43751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6383" name="Oval 17"/>
          <p:cNvSpPr>
            <a:spLocks noChangeArrowheads="1"/>
          </p:cNvSpPr>
          <p:nvPr/>
        </p:nvSpPr>
        <p:spPr bwMode="auto">
          <a:xfrm>
            <a:off x="2743200" y="21653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1</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6384" name="Rectangle 18"/>
          <p:cNvSpPr>
            <a:spLocks noChangeArrowheads="1"/>
          </p:cNvSpPr>
          <p:nvPr/>
        </p:nvSpPr>
        <p:spPr bwMode="auto">
          <a:xfrm>
            <a:off x="1219200" y="49085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6385" name="Line 19"/>
          <p:cNvSpPr>
            <a:spLocks noChangeShapeType="1"/>
          </p:cNvSpPr>
          <p:nvPr/>
        </p:nvSpPr>
        <p:spPr bwMode="auto">
          <a:xfrm>
            <a:off x="1447800" y="64325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86" name="Rectangle 20"/>
          <p:cNvSpPr>
            <a:spLocks noChangeArrowheads="1"/>
          </p:cNvSpPr>
          <p:nvPr/>
        </p:nvSpPr>
        <p:spPr bwMode="auto">
          <a:xfrm>
            <a:off x="2286000" y="49085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12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84</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6387" name="Line 21"/>
          <p:cNvSpPr>
            <a:spLocks noChangeShapeType="1"/>
          </p:cNvSpPr>
          <p:nvPr/>
        </p:nvSpPr>
        <p:spPr bwMode="auto">
          <a:xfrm>
            <a:off x="2514600" y="64325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88" name="Rectangle 22"/>
          <p:cNvSpPr>
            <a:spLocks noChangeArrowheads="1"/>
          </p:cNvSpPr>
          <p:nvPr/>
        </p:nvSpPr>
        <p:spPr bwMode="auto">
          <a:xfrm>
            <a:off x="3352800" y="49085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57</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66</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71</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6389" name="Line 23"/>
          <p:cNvSpPr>
            <a:spLocks noChangeShapeType="1"/>
          </p:cNvSpPr>
          <p:nvPr/>
        </p:nvSpPr>
        <p:spPr bwMode="auto">
          <a:xfrm>
            <a:off x="3505200" y="64325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90" name="Rectangle 24"/>
          <p:cNvSpPr>
            <a:spLocks noChangeArrowheads="1"/>
          </p:cNvSpPr>
          <p:nvPr/>
        </p:nvSpPr>
        <p:spPr bwMode="auto">
          <a:xfrm>
            <a:off x="4419600" y="490855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22</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6391" name="Line 25"/>
          <p:cNvSpPr>
            <a:spLocks noChangeShapeType="1"/>
          </p:cNvSpPr>
          <p:nvPr/>
        </p:nvSpPr>
        <p:spPr bwMode="auto">
          <a:xfrm>
            <a:off x="4648200" y="6432550"/>
            <a:ext cx="0" cy="381000"/>
          </a:xfrm>
          <a:prstGeom prst="line">
            <a:avLst/>
          </a:prstGeom>
          <a:noFill/>
          <a:ln w="57150"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92" name="Text Box 26"/>
          <p:cNvSpPr txBox="1">
            <a:spLocks noChangeArrowheads="1"/>
          </p:cNvSpPr>
          <p:nvPr/>
        </p:nvSpPr>
        <p:spPr bwMode="auto">
          <a:xfrm>
            <a:off x="914400" y="4057650"/>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b[0]</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93" name="Text Box 27"/>
          <p:cNvSpPr txBox="1">
            <a:spLocks noChangeArrowheads="1"/>
          </p:cNvSpPr>
          <p:nvPr/>
        </p:nvSpPr>
        <p:spPr bwMode="auto">
          <a:xfrm>
            <a:off x="2189163" y="1924050"/>
            <a:ext cx="727075"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ls[1]</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394" name="Text Box 28"/>
          <p:cNvSpPr txBox="1">
            <a:spLocks noChangeArrowheads="1"/>
          </p:cNvSpPr>
          <p:nvPr/>
        </p:nvSpPr>
        <p:spPr bwMode="auto">
          <a:xfrm>
            <a:off x="533400" y="4933950"/>
            <a:ext cx="533400" cy="18034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入</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区</a:t>
            </a:r>
            <a:endParaRPr kumimoji="0" lang="zh-CN" altLang="en-US" sz="16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186395" name="Text Box 29"/>
          <p:cNvSpPr txBox="1">
            <a:spLocks noChangeArrowheads="1"/>
          </p:cNvSpPr>
          <p:nvPr/>
        </p:nvSpPr>
        <p:spPr bwMode="auto">
          <a:xfrm>
            <a:off x="5175250" y="4902200"/>
            <a:ext cx="533400" cy="18034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出 </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缓</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冲</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rgbClr val="FF0000"/>
                </a:solidFill>
                <a:effectLst/>
                <a:uLnTx/>
                <a:uFillTx/>
                <a:latin typeface="+mn-lt"/>
                <a:ea typeface="+mn-ea"/>
                <a:cs typeface="+mn-ea"/>
                <a:sym typeface="+mn-lt"/>
              </a:rPr>
              <a:t>区</a:t>
            </a:r>
            <a:endParaRPr kumimoji="0" lang="zh-CN" altLang="en-US" sz="16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186396" name="Rectangle 30"/>
          <p:cNvSpPr>
            <a:spLocks noChangeArrowheads="1"/>
          </p:cNvSpPr>
          <p:nvPr/>
        </p:nvSpPr>
        <p:spPr bwMode="auto">
          <a:xfrm>
            <a:off x="4191000" y="2393950"/>
            <a:ext cx="4876800" cy="381000"/>
          </a:xfrm>
          <a:prstGeom prst="rect">
            <a:avLst/>
          </a:prstGeom>
          <a:solidFill>
            <a:schemeClr val="accent1">
              <a:lumMod val="60000"/>
              <a:lumOff val="40000"/>
            </a:schemeClr>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6397" name="Line 31"/>
          <p:cNvSpPr>
            <a:spLocks noChangeShapeType="1"/>
          </p:cNvSpPr>
          <p:nvPr/>
        </p:nvSpPr>
        <p:spPr bwMode="auto">
          <a:xfrm>
            <a:off x="6629400" y="2393950"/>
            <a:ext cx="1588" cy="381000"/>
          </a:xfrm>
          <a:prstGeom prst="line">
            <a:avLst/>
          </a:prstGeom>
          <a:noFill/>
          <a:ln w="28575">
            <a:solidFill>
              <a:srgbClr val="000000"/>
            </a:solidFill>
            <a:roun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6398" name="Line 32"/>
          <p:cNvSpPr>
            <a:spLocks noChangeShapeType="1"/>
          </p:cNvSpPr>
          <p:nvPr/>
        </p:nvSpPr>
        <p:spPr bwMode="auto">
          <a:xfrm>
            <a:off x="8458200" y="2393950"/>
            <a:ext cx="1588" cy="381000"/>
          </a:xfrm>
          <a:prstGeom prst="line">
            <a:avLst/>
          </a:prstGeom>
          <a:noFill/>
          <a:ln w="28575">
            <a:solidFill>
              <a:srgbClr val="000000"/>
            </a:solidFill>
            <a:roun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6399" name="Line 33"/>
          <p:cNvSpPr>
            <a:spLocks noChangeShapeType="1"/>
          </p:cNvSpPr>
          <p:nvPr/>
        </p:nvSpPr>
        <p:spPr bwMode="auto">
          <a:xfrm>
            <a:off x="7847013" y="2393950"/>
            <a:ext cx="1588" cy="381000"/>
          </a:xfrm>
          <a:prstGeom prst="line">
            <a:avLst/>
          </a:prstGeom>
          <a:noFill/>
          <a:ln w="28575">
            <a:solidFill>
              <a:srgbClr val="000000"/>
            </a:solidFill>
            <a:roun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6400" name="Line 34"/>
          <p:cNvSpPr>
            <a:spLocks noChangeShapeType="1"/>
          </p:cNvSpPr>
          <p:nvPr/>
        </p:nvSpPr>
        <p:spPr bwMode="auto">
          <a:xfrm>
            <a:off x="7239000" y="2393950"/>
            <a:ext cx="1588" cy="381000"/>
          </a:xfrm>
          <a:prstGeom prst="line">
            <a:avLst/>
          </a:prstGeom>
          <a:noFill/>
          <a:ln w="28575">
            <a:solidFill>
              <a:srgbClr val="000000"/>
            </a:solidFill>
            <a:roun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6401" name="Line 35"/>
          <p:cNvSpPr>
            <a:spLocks noChangeShapeType="1"/>
          </p:cNvSpPr>
          <p:nvPr/>
        </p:nvSpPr>
        <p:spPr bwMode="auto">
          <a:xfrm>
            <a:off x="6019800" y="2393950"/>
            <a:ext cx="1588" cy="381000"/>
          </a:xfrm>
          <a:prstGeom prst="line">
            <a:avLst/>
          </a:prstGeom>
          <a:noFill/>
          <a:ln w="28575">
            <a:solidFill>
              <a:srgbClr val="000000"/>
            </a:solidFill>
            <a:roun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6402" name="Line 36"/>
          <p:cNvSpPr>
            <a:spLocks noChangeShapeType="1"/>
          </p:cNvSpPr>
          <p:nvPr/>
        </p:nvSpPr>
        <p:spPr bwMode="auto">
          <a:xfrm>
            <a:off x="5410200" y="2393950"/>
            <a:ext cx="1588" cy="381000"/>
          </a:xfrm>
          <a:prstGeom prst="line">
            <a:avLst/>
          </a:prstGeom>
          <a:noFill/>
          <a:ln w="28575">
            <a:solidFill>
              <a:srgbClr val="000000"/>
            </a:solidFill>
            <a:roun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6403" name="Text Box 37"/>
          <p:cNvSpPr txBox="1">
            <a:spLocks noChangeArrowheads="1"/>
          </p:cNvSpPr>
          <p:nvPr/>
        </p:nvSpPr>
        <p:spPr bwMode="auto">
          <a:xfrm>
            <a:off x="4800600" y="2393950"/>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p>
        </p:txBody>
      </p:sp>
      <p:sp>
        <p:nvSpPr>
          <p:cNvPr id="186404" name="Text Box 38"/>
          <p:cNvSpPr txBox="1">
            <a:spLocks noChangeArrowheads="1"/>
          </p:cNvSpPr>
          <p:nvPr/>
        </p:nvSpPr>
        <p:spPr bwMode="auto">
          <a:xfrm>
            <a:off x="5410200" y="2393950"/>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186405" name="Text Box 39"/>
          <p:cNvSpPr txBox="1">
            <a:spLocks noChangeArrowheads="1"/>
          </p:cNvSpPr>
          <p:nvPr/>
        </p:nvSpPr>
        <p:spPr bwMode="auto">
          <a:xfrm>
            <a:off x="6019800" y="2393950"/>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p>
        </p:txBody>
      </p:sp>
      <p:sp>
        <p:nvSpPr>
          <p:cNvPr id="186406" name="Text Box 40"/>
          <p:cNvSpPr txBox="1">
            <a:spLocks noChangeArrowheads="1"/>
          </p:cNvSpPr>
          <p:nvPr/>
        </p:nvSpPr>
        <p:spPr bwMode="auto">
          <a:xfrm>
            <a:off x="6629400" y="2393950"/>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5</a:t>
            </a:r>
          </a:p>
        </p:txBody>
      </p:sp>
      <p:sp>
        <p:nvSpPr>
          <p:cNvPr id="186407" name="Text Box 41"/>
          <p:cNvSpPr txBox="1">
            <a:spLocks noChangeArrowheads="1"/>
          </p:cNvSpPr>
          <p:nvPr/>
        </p:nvSpPr>
        <p:spPr bwMode="auto">
          <a:xfrm>
            <a:off x="7239000" y="2393950"/>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186408" name="Text Box 42"/>
          <p:cNvSpPr txBox="1">
            <a:spLocks noChangeArrowheads="1"/>
          </p:cNvSpPr>
          <p:nvPr/>
        </p:nvSpPr>
        <p:spPr bwMode="auto">
          <a:xfrm>
            <a:off x="7848600" y="2393950"/>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29</a:t>
            </a:r>
          </a:p>
        </p:txBody>
      </p:sp>
      <p:sp>
        <p:nvSpPr>
          <p:cNvPr id="186409" name="Text Box 43"/>
          <p:cNvSpPr txBox="1">
            <a:spLocks noChangeArrowheads="1"/>
          </p:cNvSpPr>
          <p:nvPr/>
        </p:nvSpPr>
        <p:spPr bwMode="auto">
          <a:xfrm>
            <a:off x="8458200" y="2393950"/>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9</a:t>
            </a:r>
          </a:p>
        </p:txBody>
      </p:sp>
      <p:sp>
        <p:nvSpPr>
          <p:cNvPr id="186410" name="Text Box 44"/>
          <p:cNvSpPr txBox="1">
            <a:spLocks noChangeArrowheads="1"/>
          </p:cNvSpPr>
          <p:nvPr/>
        </p:nvSpPr>
        <p:spPr bwMode="auto">
          <a:xfrm>
            <a:off x="8458200" y="2089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186411" name="Text Box 45"/>
          <p:cNvSpPr txBox="1">
            <a:spLocks noChangeArrowheads="1"/>
          </p:cNvSpPr>
          <p:nvPr/>
        </p:nvSpPr>
        <p:spPr bwMode="auto">
          <a:xfrm>
            <a:off x="7848600" y="2089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p>
        </p:txBody>
      </p:sp>
      <p:sp>
        <p:nvSpPr>
          <p:cNvPr id="186412" name="Text Box 46"/>
          <p:cNvSpPr txBox="1">
            <a:spLocks noChangeArrowheads="1"/>
          </p:cNvSpPr>
          <p:nvPr/>
        </p:nvSpPr>
        <p:spPr bwMode="auto">
          <a:xfrm>
            <a:off x="7239000" y="2089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186413" name="Text Box 47"/>
          <p:cNvSpPr txBox="1">
            <a:spLocks noChangeArrowheads="1"/>
          </p:cNvSpPr>
          <p:nvPr/>
        </p:nvSpPr>
        <p:spPr bwMode="auto">
          <a:xfrm>
            <a:off x="6629400" y="2089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p>
        </p:txBody>
      </p:sp>
      <p:sp>
        <p:nvSpPr>
          <p:cNvPr id="186414" name="Text Box 48"/>
          <p:cNvSpPr txBox="1">
            <a:spLocks noChangeArrowheads="1"/>
          </p:cNvSpPr>
          <p:nvPr/>
        </p:nvSpPr>
        <p:spPr bwMode="auto">
          <a:xfrm>
            <a:off x="6019800" y="2089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p>
        </p:txBody>
      </p:sp>
      <p:sp>
        <p:nvSpPr>
          <p:cNvPr id="186415" name="Text Box 49"/>
          <p:cNvSpPr txBox="1">
            <a:spLocks noChangeArrowheads="1"/>
          </p:cNvSpPr>
          <p:nvPr/>
        </p:nvSpPr>
        <p:spPr bwMode="auto">
          <a:xfrm>
            <a:off x="5410200" y="2089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186416" name="Text Box 50"/>
          <p:cNvSpPr txBox="1">
            <a:spLocks noChangeArrowheads="1"/>
          </p:cNvSpPr>
          <p:nvPr/>
        </p:nvSpPr>
        <p:spPr bwMode="auto">
          <a:xfrm>
            <a:off x="4800600" y="2089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186417" name="Rectangle 51"/>
          <p:cNvSpPr>
            <a:spLocks noChangeArrowheads="1"/>
          </p:cNvSpPr>
          <p:nvPr/>
        </p:nvSpPr>
        <p:spPr bwMode="auto">
          <a:xfrm>
            <a:off x="5830888" y="4908550"/>
            <a:ext cx="381000" cy="1935163"/>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7</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186419" name="Text Box 53"/>
          <p:cNvSpPr txBox="1">
            <a:spLocks noChangeArrowheads="1"/>
          </p:cNvSpPr>
          <p:nvPr/>
        </p:nvSpPr>
        <p:spPr bwMode="auto">
          <a:xfrm>
            <a:off x="6357938" y="4902200"/>
            <a:ext cx="2514600" cy="1939925"/>
          </a:xfrm>
          <a:prstGeom prst="rect">
            <a:avLst/>
          </a:prstGeom>
          <a:noFill/>
          <a:ln w="9525">
            <a:solidFill>
              <a:schemeClr val="accent1"/>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注意：挑出冠军</a:t>
            </a:r>
          </a:p>
          <a:p>
            <a:pPr marL="0"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需要进行 </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k-1 </a:t>
            </a: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次</a:t>
            </a:r>
          </a:p>
          <a:p>
            <a:pPr marL="0"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比较，此处需要</a:t>
            </a:r>
          </a:p>
          <a:p>
            <a:pPr marL="0"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比较 3 次</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a:t>
            </a:r>
          </a:p>
        </p:txBody>
      </p:sp>
      <p:sp>
        <p:nvSpPr>
          <p:cNvPr id="186420" name="Oval 54"/>
          <p:cNvSpPr>
            <a:spLocks noChangeArrowheads="1"/>
          </p:cNvSpPr>
          <p:nvPr/>
        </p:nvSpPr>
        <p:spPr bwMode="auto">
          <a:xfrm>
            <a:off x="2743200" y="16319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bg1"/>
              </a:solidFill>
              <a:effectLst/>
              <a:uLnTx/>
              <a:uFillTx/>
              <a:latin typeface="+mn-lt"/>
              <a:ea typeface="+mn-ea"/>
              <a:cs typeface="+mn-ea"/>
              <a:sym typeface="+mn-lt"/>
            </a:endParaRPr>
          </a:p>
        </p:txBody>
      </p:sp>
      <p:sp>
        <p:nvSpPr>
          <p:cNvPr id="186421" name="Text Box 55"/>
          <p:cNvSpPr txBox="1">
            <a:spLocks noChangeArrowheads="1"/>
          </p:cNvSpPr>
          <p:nvPr/>
        </p:nvSpPr>
        <p:spPr bwMode="auto">
          <a:xfrm>
            <a:off x="2189163" y="1392238"/>
            <a:ext cx="8382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ls</a:t>
            </a: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 [0]</a:t>
            </a:r>
          </a:p>
        </p:txBody>
      </p:sp>
      <p:sp>
        <p:nvSpPr>
          <p:cNvPr id="186422" name="Line 56"/>
          <p:cNvSpPr>
            <a:spLocks noChangeShapeType="1"/>
          </p:cNvSpPr>
          <p:nvPr/>
        </p:nvSpPr>
        <p:spPr bwMode="auto">
          <a:xfrm>
            <a:off x="4875213" y="2393950"/>
            <a:ext cx="1588" cy="381000"/>
          </a:xfrm>
          <a:prstGeom prst="line">
            <a:avLst/>
          </a:prstGeom>
          <a:noFill/>
          <a:ln w="28575">
            <a:solidFill>
              <a:srgbClr val="000000"/>
            </a:solidFill>
            <a:round/>
          </a:ln>
        </p:spPr>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86423" name="Text Box 57"/>
          <p:cNvSpPr txBox="1">
            <a:spLocks noChangeArrowheads="1"/>
          </p:cNvSpPr>
          <p:nvPr/>
        </p:nvSpPr>
        <p:spPr bwMode="auto">
          <a:xfrm>
            <a:off x="4191000" y="2089150"/>
            <a:ext cx="6096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186424" name="Text Box 58"/>
          <p:cNvSpPr txBox="1">
            <a:spLocks noChangeArrowheads="1"/>
          </p:cNvSpPr>
          <p:nvPr/>
        </p:nvSpPr>
        <p:spPr bwMode="auto">
          <a:xfrm>
            <a:off x="4191000" y="2393950"/>
            <a:ext cx="609600" cy="336550"/>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bg1"/>
                </a:solidFill>
                <a:effectLst/>
                <a:uLnTx/>
                <a:uFillTx/>
                <a:latin typeface="+mn-lt"/>
                <a:ea typeface="+mn-ea"/>
                <a:cs typeface="+mn-ea"/>
                <a:sym typeface="+mn-lt"/>
              </a:rPr>
              <a:t>5</a:t>
            </a:r>
          </a:p>
        </p:txBody>
      </p:sp>
      <p:sp>
        <p:nvSpPr>
          <p:cNvPr id="186425" name="Text Box 59"/>
          <p:cNvSpPr txBox="1">
            <a:spLocks noChangeArrowheads="1"/>
          </p:cNvSpPr>
          <p:nvPr/>
        </p:nvSpPr>
        <p:spPr bwMode="auto">
          <a:xfrm>
            <a:off x="1298575" y="2849563"/>
            <a:ext cx="727075"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ls[2]</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426" name="Text Box 60"/>
          <p:cNvSpPr txBox="1">
            <a:spLocks noChangeArrowheads="1"/>
          </p:cNvSpPr>
          <p:nvPr/>
        </p:nvSpPr>
        <p:spPr bwMode="auto">
          <a:xfrm>
            <a:off x="3090863" y="2970213"/>
            <a:ext cx="727075"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ls[3]</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427" name="Text Box 61"/>
          <p:cNvSpPr txBox="1">
            <a:spLocks noChangeArrowheads="1"/>
          </p:cNvSpPr>
          <p:nvPr/>
        </p:nvSpPr>
        <p:spPr bwMode="auto">
          <a:xfrm>
            <a:off x="2305050" y="3935413"/>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b[1]</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428" name="Text Box 62"/>
          <p:cNvSpPr txBox="1">
            <a:spLocks noChangeArrowheads="1"/>
          </p:cNvSpPr>
          <p:nvPr/>
        </p:nvSpPr>
        <p:spPr bwMode="auto">
          <a:xfrm>
            <a:off x="2974975" y="3922713"/>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b[2]</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429" name="Text Box 63"/>
          <p:cNvSpPr txBox="1">
            <a:spLocks noChangeArrowheads="1"/>
          </p:cNvSpPr>
          <p:nvPr/>
        </p:nvSpPr>
        <p:spPr bwMode="auto">
          <a:xfrm>
            <a:off x="4400550" y="3948113"/>
            <a:ext cx="642938"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b[3]</a:t>
            </a:r>
            <a:endParaRPr kumimoji="0" lang="en-US" altLang="zh-CN"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6430" name="Text Box 64"/>
          <p:cNvSpPr txBox="1">
            <a:spLocks noChangeArrowheads="1"/>
          </p:cNvSpPr>
          <p:nvPr/>
        </p:nvSpPr>
        <p:spPr bwMode="auto">
          <a:xfrm>
            <a:off x="4110038" y="1581150"/>
            <a:ext cx="2763838" cy="46196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0000CC"/>
                </a:solidFill>
                <a:effectLst/>
                <a:uLnTx/>
                <a:uFillTx/>
                <a:latin typeface="+mn-lt"/>
                <a:ea typeface="+mn-ea"/>
                <a:cs typeface="+mn-ea"/>
                <a:sym typeface="+mn-lt"/>
              </a:rPr>
              <a:t>4路平衡归并</a:t>
            </a:r>
          </a:p>
        </p:txBody>
      </p:sp>
      <p:sp>
        <p:nvSpPr>
          <p:cNvPr id="65" name="Rectangle 6"/>
          <p:cNvSpPr>
            <a:spLocks noChangeArrowheads="1"/>
          </p:cNvSpPr>
          <p:nvPr/>
        </p:nvSpPr>
        <p:spPr bwMode="auto">
          <a:xfrm>
            <a:off x="896938" y="14605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多路平衡归并的实现</a:t>
            </a:r>
          </a:p>
        </p:txBody>
      </p:sp>
      <p:cxnSp>
        <p:nvCxnSpPr>
          <p:cNvPr id="66" name="直接箭头连接符 65"/>
          <p:cNvCxnSpPr/>
          <p:nvPr/>
        </p:nvCxnSpPr>
        <p:spPr bwMode="auto">
          <a:xfrm>
            <a:off x="3113088" y="1960563"/>
            <a:ext cx="2790825" cy="2798763"/>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Tree>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3429000"/>
            <a:ext cx="9144000" cy="287972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87393" name="Text Box 3"/>
          <p:cNvSpPr txBox="1">
            <a:spLocks noChangeArrowheads="1"/>
          </p:cNvSpPr>
          <p:nvPr/>
        </p:nvSpPr>
        <p:spPr bwMode="auto">
          <a:xfrm>
            <a:off x="287338" y="957263"/>
            <a:ext cx="8586788" cy="212566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25000"/>
              </a:lnSpc>
              <a:spcBef>
                <a:spcPct val="50000"/>
              </a:spcBef>
              <a:spcAft>
                <a:spcPct val="0"/>
              </a:spcAft>
              <a:buClrTx/>
              <a:buSzTx/>
              <a:buFont typeface="Wingdings" panose="05000000000000000000" pitchFamily="2" charset="2"/>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一、问题的提出</a:t>
            </a:r>
          </a:p>
          <a:p>
            <a:pPr marL="0" marR="0" lvl="0" indent="0" algn="l" defTabSz="7620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个初始归并段做</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路平衡归并排序时归并的趟数为</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log</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m</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为了减少归并趟数，也可以减小</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的值。如何减小初始归并段的个数（也就是增加归并段的长度）?</a:t>
            </a:r>
          </a:p>
        </p:txBody>
      </p:sp>
      <p:sp>
        <p:nvSpPr>
          <p:cNvPr id="593924" name="Text Box 4"/>
          <p:cNvSpPr txBox="1">
            <a:spLocks noChangeArrowheads="1"/>
          </p:cNvSpPr>
          <p:nvPr/>
        </p:nvSpPr>
        <p:spPr bwMode="auto">
          <a:xfrm>
            <a:off x="341313" y="3573463"/>
            <a:ext cx="8442325" cy="973138"/>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解决：</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在内存长度一定时，假设容纳</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条记录，按照通常的 排序方法，初始归并段的长度可以是</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593925" name="Text Box 5"/>
          <p:cNvSpPr txBox="1">
            <a:spLocks noChangeArrowheads="1"/>
          </p:cNvSpPr>
          <p:nvPr/>
        </p:nvSpPr>
        <p:spPr bwMode="auto">
          <a:xfrm>
            <a:off x="295275" y="4808538"/>
            <a:ext cx="8534400" cy="974725"/>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一种更好的方法是使用</a:t>
            </a:r>
            <a:r>
              <a:rPr kumimoji="0" lang="zh-CN" altLang="en-US" sz="2400" b="0" i="0" u="none" strike="noStrike" kern="1200" cap="none" spc="0" normalizeH="0" baseline="0" noProof="0">
                <a:ln>
                  <a:noFill/>
                </a:ln>
                <a:solidFill>
                  <a:schemeClr val="hlink"/>
                </a:solidFill>
                <a:effectLst/>
                <a:uLnTx/>
                <a:uFillTx/>
                <a:latin typeface="+mn-lt"/>
                <a:ea typeface="+mn-ea"/>
                <a:cs typeface="+mn-ea"/>
                <a:sym typeface="+mn-lt"/>
              </a:rPr>
              <a:t>置换选择(</a:t>
            </a:r>
            <a:r>
              <a:rPr kumimoji="0" lang="en-US" altLang="zh-CN" sz="2400" b="0" i="0" u="none" strike="noStrike" kern="1200" cap="none" spc="0" normalizeH="0" baseline="0" noProof="0">
                <a:ln>
                  <a:noFill/>
                </a:ln>
                <a:solidFill>
                  <a:schemeClr val="hlink"/>
                </a:solidFill>
                <a:effectLst/>
                <a:uLnTx/>
                <a:uFillTx/>
                <a:latin typeface="+mn-lt"/>
                <a:ea typeface="+mn-ea"/>
                <a:cs typeface="+mn-ea"/>
                <a:sym typeface="+mn-lt"/>
              </a:rPr>
              <a:t>replace selection)</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算法，平均情况下可以产生可以生成两倍内存长度的初始归并段。</a:t>
            </a:r>
          </a:p>
        </p:txBody>
      </p:sp>
      <p:sp>
        <p:nvSpPr>
          <p:cNvPr id="6"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59392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499"/>
                                          </p:stCondLst>
                                        </p:cTn>
                                        <p:tgtEl>
                                          <p:spTgt spid="5939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93924" grpId="0"/>
      <p:bldP spid="593925"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矩形 1"/>
          <p:cNvSpPr/>
          <p:nvPr/>
        </p:nvSpPr>
        <p:spPr>
          <a:xfrm>
            <a:off x="0" y="2492375"/>
            <a:ext cx="9144000" cy="2376488"/>
          </a:xfrm>
          <a:prstGeom prst="rect">
            <a:avLst/>
          </a:prstGeom>
          <a:solidFill>
            <a:srgbClr val="EAEAEA"/>
          </a:solidFill>
          <a:ln w="9525" cap="flat" cmpd="sng">
            <a:solidFill>
              <a:srgbClr val="CCCCFF"/>
            </a:solidFill>
            <a:prstDash val="solid"/>
            <a:round/>
            <a:headEnd type="none" w="med" len="med"/>
            <a:tailEnd type="none" w="med" len="med"/>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88417" name="Rectangle 3"/>
          <p:cNvSpPr>
            <a:spLocks noChangeArrowheads="1"/>
          </p:cNvSpPr>
          <p:nvPr/>
        </p:nvSpPr>
        <p:spPr bwMode="auto">
          <a:xfrm>
            <a:off x="431800" y="1058863"/>
            <a:ext cx="7845425" cy="11684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Wingdings" panose="05000000000000000000" pitchFamily="2" charset="2"/>
              <a:buNone/>
              <a:defRPr/>
            </a:pP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2.置换选择排序</a:t>
            </a:r>
          </a:p>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置换选择排序是堆排序的变体。</a:t>
            </a:r>
          </a:p>
        </p:txBody>
      </p:sp>
      <p:sp>
        <p:nvSpPr>
          <p:cNvPr id="188418" name="Oval 5"/>
          <p:cNvSpPr>
            <a:spLocks noChangeArrowheads="1"/>
          </p:cNvSpPr>
          <p:nvPr/>
        </p:nvSpPr>
        <p:spPr bwMode="auto">
          <a:xfrm>
            <a:off x="2190750" y="2986088"/>
            <a:ext cx="723900" cy="776288"/>
          </a:xfrm>
          <a:prstGeom prst="ellipse">
            <a:avLst/>
          </a:prstGeom>
          <a:noFill/>
          <a:ln w="28575">
            <a:solidFill>
              <a:srgbClr val="FF0000"/>
            </a:solidFill>
            <a:round/>
          </a:ln>
        </p:spPr>
        <p:txBody>
          <a:bodyPr wrap="none" lIns="92075" tIns="46038" rIns="92075" bIns="46038"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19" name="Line 8"/>
          <p:cNvSpPr>
            <a:spLocks noChangeShapeType="1"/>
          </p:cNvSpPr>
          <p:nvPr/>
        </p:nvSpPr>
        <p:spPr bwMode="auto">
          <a:xfrm>
            <a:off x="3059113" y="3373438"/>
            <a:ext cx="708025" cy="0"/>
          </a:xfrm>
          <a:prstGeom prst="line">
            <a:avLst/>
          </a:prstGeom>
          <a:noFill/>
          <a:ln w="31750">
            <a:solidFill>
              <a:schemeClr val="accent1">
                <a:lumMod val="75000"/>
              </a:schemeClr>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20" name="Rectangle 9"/>
          <p:cNvSpPr>
            <a:spLocks noChangeArrowheads="1"/>
          </p:cNvSpPr>
          <p:nvPr/>
        </p:nvSpPr>
        <p:spPr bwMode="auto">
          <a:xfrm>
            <a:off x="3922713" y="2908300"/>
            <a:ext cx="1008063" cy="931863"/>
          </a:xfrm>
          <a:prstGeom prst="rect">
            <a:avLst/>
          </a:prstGeom>
          <a:noFill/>
          <a:ln w="28575">
            <a:solidFill>
              <a:srgbClr val="0000CC"/>
            </a:solidFill>
            <a:miter lim="800000"/>
          </a:ln>
        </p:spPr>
        <p:txBody>
          <a:bodyPr wrap="none" lIns="92075" tIns="46038" rIns="92075" bIns="46038"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21" name="Line 10"/>
          <p:cNvSpPr>
            <a:spLocks noChangeShapeType="1"/>
          </p:cNvSpPr>
          <p:nvPr/>
        </p:nvSpPr>
        <p:spPr bwMode="auto">
          <a:xfrm>
            <a:off x="5059363" y="3373438"/>
            <a:ext cx="708025" cy="0"/>
          </a:xfrm>
          <a:prstGeom prst="line">
            <a:avLst/>
          </a:prstGeom>
          <a:noFill/>
          <a:ln w="31750">
            <a:solidFill>
              <a:schemeClr val="accent1">
                <a:lumMod val="75000"/>
              </a:schemeClr>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22" name="Oval 13"/>
          <p:cNvSpPr>
            <a:spLocks noChangeArrowheads="1"/>
          </p:cNvSpPr>
          <p:nvPr/>
        </p:nvSpPr>
        <p:spPr bwMode="auto">
          <a:xfrm>
            <a:off x="5842000" y="2973388"/>
            <a:ext cx="723900" cy="800100"/>
          </a:xfrm>
          <a:prstGeom prst="ellipse">
            <a:avLst/>
          </a:prstGeom>
          <a:noFill/>
          <a:ln w="28575">
            <a:solidFill>
              <a:srgbClr val="FF0000"/>
            </a:solidFill>
            <a:round/>
          </a:ln>
        </p:spPr>
        <p:txBody>
          <a:bodyPr wrap="none" lIns="92075" tIns="46038" rIns="92075" bIns="46038"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23" name="Text Box 14"/>
          <p:cNvSpPr txBox="1">
            <a:spLocks noChangeArrowheads="1"/>
          </p:cNvSpPr>
          <p:nvPr/>
        </p:nvSpPr>
        <p:spPr bwMode="auto">
          <a:xfrm>
            <a:off x="333375" y="4084638"/>
            <a:ext cx="1482725" cy="400050"/>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输入文件</a:t>
            </a: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FI</a:t>
            </a:r>
          </a:p>
        </p:txBody>
      </p:sp>
      <p:sp>
        <p:nvSpPr>
          <p:cNvPr id="188424" name="Text Box 16"/>
          <p:cNvSpPr txBox="1">
            <a:spLocks noChangeArrowheads="1"/>
          </p:cNvSpPr>
          <p:nvPr/>
        </p:nvSpPr>
        <p:spPr bwMode="auto">
          <a:xfrm>
            <a:off x="3563938" y="4084638"/>
            <a:ext cx="2149475" cy="400050"/>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内存工作区</a:t>
            </a: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WA</a:t>
            </a:r>
          </a:p>
        </p:txBody>
      </p:sp>
      <p:sp>
        <p:nvSpPr>
          <p:cNvPr id="188425" name="Text Box 18"/>
          <p:cNvSpPr txBox="1">
            <a:spLocks noChangeArrowheads="1"/>
          </p:cNvSpPr>
          <p:nvPr/>
        </p:nvSpPr>
        <p:spPr bwMode="auto">
          <a:xfrm>
            <a:off x="7327900" y="4084638"/>
            <a:ext cx="1576388" cy="400050"/>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输出文件</a:t>
            </a: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Fo</a:t>
            </a:r>
          </a:p>
        </p:txBody>
      </p:sp>
      <p:sp>
        <p:nvSpPr>
          <p:cNvPr id="188426" name="Text Box 21"/>
          <p:cNvSpPr txBox="1">
            <a:spLocks noChangeArrowheads="1"/>
          </p:cNvSpPr>
          <p:nvPr/>
        </p:nvSpPr>
        <p:spPr bwMode="auto">
          <a:xfrm>
            <a:off x="490538" y="5156200"/>
            <a:ext cx="7848600"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内存工作区可容纳</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w</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个记录</a:t>
            </a:r>
          </a:p>
        </p:txBody>
      </p:sp>
      <p:sp>
        <p:nvSpPr>
          <p:cNvPr id="188427" name="Text Box 22"/>
          <p:cNvSpPr txBox="1">
            <a:spLocks noChangeArrowheads="1"/>
          </p:cNvSpPr>
          <p:nvPr/>
        </p:nvSpPr>
        <p:spPr bwMode="auto">
          <a:xfrm>
            <a:off x="5697538" y="4084638"/>
            <a:ext cx="1482725" cy="400050"/>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输出缓冲</a:t>
            </a:r>
            <a:endParaRPr kumimoji="0" lang="en-US" altLang="zh-CN"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28" name="Text Box 24"/>
          <p:cNvSpPr txBox="1">
            <a:spLocks noChangeArrowheads="1"/>
          </p:cNvSpPr>
          <p:nvPr/>
        </p:nvSpPr>
        <p:spPr bwMode="auto">
          <a:xfrm>
            <a:off x="1930400" y="4084638"/>
            <a:ext cx="1482725" cy="400050"/>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输入缓冲</a:t>
            </a:r>
            <a:endParaRPr kumimoji="0" lang="en-US" altLang="zh-CN"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29" name="Line 26"/>
          <p:cNvSpPr>
            <a:spLocks noChangeShapeType="1"/>
          </p:cNvSpPr>
          <p:nvPr/>
        </p:nvSpPr>
        <p:spPr bwMode="auto">
          <a:xfrm>
            <a:off x="1363663" y="3373438"/>
            <a:ext cx="708025" cy="0"/>
          </a:xfrm>
          <a:prstGeom prst="line">
            <a:avLst/>
          </a:prstGeom>
          <a:noFill/>
          <a:ln w="31750">
            <a:solidFill>
              <a:schemeClr val="accent1">
                <a:lumMod val="75000"/>
              </a:schemeClr>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30" name="Line 27"/>
          <p:cNvSpPr>
            <a:spLocks noChangeShapeType="1"/>
          </p:cNvSpPr>
          <p:nvPr/>
        </p:nvSpPr>
        <p:spPr bwMode="auto">
          <a:xfrm>
            <a:off x="6699250" y="3373438"/>
            <a:ext cx="708025" cy="0"/>
          </a:xfrm>
          <a:prstGeom prst="line">
            <a:avLst/>
          </a:prstGeom>
          <a:noFill/>
          <a:ln w="31750">
            <a:solidFill>
              <a:schemeClr val="accent1">
                <a:lumMod val="75000"/>
              </a:schemeClr>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31" name="AutoShape 28"/>
          <p:cNvSpPr>
            <a:spLocks noChangeArrowheads="1"/>
          </p:cNvSpPr>
          <p:nvPr/>
        </p:nvSpPr>
        <p:spPr bwMode="auto">
          <a:xfrm>
            <a:off x="608013" y="2949575"/>
            <a:ext cx="658813" cy="847725"/>
          </a:xfrm>
          <a:prstGeom prst="can">
            <a:avLst>
              <a:gd name="adj" fmla="val 32169"/>
            </a:avLst>
          </a:prstGeom>
          <a:solidFill>
            <a:schemeClr val="accent1">
              <a:lumMod val="40000"/>
              <a:lumOff val="60000"/>
            </a:schemeClr>
          </a:solidFill>
          <a:ln w="9525">
            <a:solidFill>
              <a:schemeClr val="tx1"/>
            </a:solidFill>
            <a:round/>
          </a:ln>
        </p:spPr>
        <p:txBody>
          <a:bodyPr wrap="none" lIns="92075" tIns="46038" rIns="92075" bIns="46038"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8432" name="AutoShape 30"/>
          <p:cNvSpPr>
            <a:spLocks noChangeArrowheads="1"/>
          </p:cNvSpPr>
          <p:nvPr/>
        </p:nvSpPr>
        <p:spPr bwMode="auto">
          <a:xfrm>
            <a:off x="7618413" y="2949575"/>
            <a:ext cx="658813" cy="847725"/>
          </a:xfrm>
          <a:prstGeom prst="can">
            <a:avLst>
              <a:gd name="adj" fmla="val 32169"/>
            </a:avLst>
          </a:prstGeom>
          <a:solidFill>
            <a:schemeClr val="accent1">
              <a:lumMod val="40000"/>
              <a:lumOff val="60000"/>
            </a:schemeClr>
          </a:solidFill>
          <a:ln w="9525">
            <a:solidFill>
              <a:schemeClr val="tx1"/>
            </a:solidFill>
            <a:round/>
          </a:ln>
        </p:spPr>
        <p:txBody>
          <a:bodyPr wrap="none" lIns="92075" tIns="46038" rIns="92075" bIns="46038"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0" name="Rectangle 6"/>
          <p:cNvSpPr>
            <a:spLocks noChangeArrowheads="1"/>
          </p:cNvSpPr>
          <p:nvPr/>
        </p:nvSpPr>
        <p:spPr bwMode="auto">
          <a:xfrm>
            <a:off x="822325" y="157163"/>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a:t>
            </a:r>
          </a:p>
        </p:txBody>
      </p:sp>
    </p:spTree>
  </p:cSld>
  <p:clrMapOvr>
    <a:masterClrMapping/>
  </p:clrMapOvr>
  <p:transition>
    <p:wipe dir="d"/>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Text Box 2"/>
          <p:cNvSpPr txBox="1">
            <a:spLocks noChangeArrowheads="1"/>
          </p:cNvSpPr>
          <p:nvPr/>
        </p:nvSpPr>
        <p:spPr bwMode="auto">
          <a:xfrm>
            <a:off x="1069975" y="1117600"/>
            <a:ext cx="7908925" cy="52943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457200" marR="0" lvl="0" indent="-457200" algn="l" defTabSz="762000" rtl="0" eaLnBrk="0" fontAlgn="base" latinLnBrk="0" hangingPunct="0">
              <a:lnSpc>
                <a:spcPct val="125000"/>
              </a:lnSpc>
              <a:spcBef>
                <a:spcPct val="30000"/>
              </a:spcBef>
              <a:spcAft>
                <a:spcPct val="0"/>
              </a:spcAft>
              <a:buClrTx/>
              <a:buSzTx/>
              <a:buFont typeface="Arial" panose="020B0604020202020204" pitchFamily="34" charset="0"/>
              <a:buAutoNum type="arabicParenBoth"/>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从</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W</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个记录到</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WA；</a:t>
            </a:r>
          </a:p>
          <a:p>
            <a:pPr marL="0" marR="0" lvl="0" indent="0" algn="l" defTabSz="762000" rtl="0" eaLnBrk="0" fontAlgn="base" latinLnBrk="0" hangingPunct="0">
              <a:lnSpc>
                <a:spcPct val="125000"/>
              </a:lnSpc>
              <a:spcBef>
                <a:spcPct val="30000"/>
              </a:spcBef>
              <a:spcAft>
                <a:spcPct val="0"/>
              </a:spcAft>
              <a:buClrTx/>
              <a:buSzTx/>
              <a:buFontTx/>
              <a:buNone/>
              <a:defRPr/>
            </a:pPr>
            <a:endParaRPr kumimoji="0" lang="en-US" altLang="zh-CN" sz="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Tx/>
              <a:buNone/>
              <a:defRPr/>
            </a:pPr>
            <a:endParaRPr kumimoji="0" lang="en-US" altLang="zh-CN" sz="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Tx/>
              <a:buNone/>
              <a:defRPr/>
            </a:pPr>
            <a:endParaRPr kumimoji="0" lang="en-US" altLang="zh-CN" sz="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从</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WA</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中选择关键字最小的记录，记为</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MINIMAX</a:t>
            </a: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endParaRPr kumimoji="0" lang="en-US" altLang="zh-CN" sz="200" b="0" i="0" u="none" strike="noStrike" kern="1200" cap="none" spc="0" normalizeH="0" baseline="0" noProof="0" dirty="0">
              <a:ln>
                <a:noFill/>
              </a:ln>
              <a:solidFill>
                <a:schemeClr val="hlink"/>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endParaRPr kumimoji="0" lang="en-US" altLang="zh-CN" sz="200" b="0" i="0" u="none" strike="noStrike" kern="1200" cap="none" spc="0" normalizeH="0" baseline="0" noProof="0" dirty="0">
              <a:ln>
                <a:noFill/>
              </a:ln>
              <a:solidFill>
                <a:schemeClr val="hlink"/>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将</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MINIMAX</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输出到</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FO</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endParaRPr kumimoji="0" lang="en-US" altLang="zh-CN" sz="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endParaRPr kumimoji="0" lang="zh-CN" altLang="en-US" sz="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(4) 若</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不空，从</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输入下一个记录到</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WA；</a:t>
            </a: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endParaRPr kumimoji="0" lang="en-US" altLang="zh-CN" sz="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endParaRPr kumimoji="0" lang="zh-CN" altLang="en-US" sz="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(5) 从</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WA</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中所有关键字比</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MINIMAX</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的关键字大的记录中选出最小关键字记录，作为新的</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MINIMAX</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记录。</a:t>
            </a: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(6) 重复（3）-（5）直至</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WA</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中选不出新的</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MINIMAX。</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到此得到一个初始归并段</a:t>
            </a:r>
          </a:p>
          <a:p>
            <a:pPr marL="0" marR="0" lvl="0" indent="0" algn="l" defTabSz="762000" rtl="0" eaLnBrk="0" fontAlgn="base" latinLnBrk="0" hangingPunct="0">
              <a:lnSpc>
                <a:spcPct val="125000"/>
              </a:lnSpc>
              <a:spcBef>
                <a:spcPct val="3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7</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重复（2）-（6），直至</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WA</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为空。</a:t>
            </a:r>
          </a:p>
        </p:txBody>
      </p:sp>
      <p:sp>
        <p:nvSpPr>
          <p:cNvPr id="4"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grpSp>
        <p:nvGrpSpPr>
          <p:cNvPr id="208900" name="Group 61"/>
          <p:cNvGrpSpPr/>
          <p:nvPr/>
        </p:nvGrpSpPr>
        <p:grpSpPr>
          <a:xfrm>
            <a:off x="446088" y="1196975"/>
            <a:ext cx="458787" cy="458788"/>
            <a:chOff x="6518563" y="1579415"/>
            <a:chExt cx="831273" cy="831273"/>
          </a:xfrm>
        </p:grpSpPr>
        <p:sp>
          <p:nvSpPr>
            <p:cNvPr id="37" name="Rounded Rectangle 12"/>
            <p:cNvSpPr/>
            <p:nvPr/>
          </p:nvSpPr>
          <p:spPr>
            <a:xfrm>
              <a:off x="6518563" y="1579415"/>
              <a:ext cx="831273" cy="831273"/>
            </a:xfrm>
            <a:prstGeom prst="round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38" name="Group 19"/>
            <p:cNvGrpSpPr/>
            <p:nvPr/>
          </p:nvGrpSpPr>
          <p:grpSpPr>
            <a:xfrm>
              <a:off x="6702027" y="1790527"/>
              <a:ext cx="464344" cy="465138"/>
              <a:chOff x="9145588" y="4435475"/>
              <a:chExt cx="464344" cy="465138"/>
            </a:xfrm>
            <a:solidFill>
              <a:srgbClr val="EEECE1"/>
            </a:solidFill>
          </p:grpSpPr>
          <p:sp>
            <p:nvSpPr>
              <p:cNvPr id="39" name="AutoShape 7"/>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40" name="AutoShape 8"/>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41" name="AutoShape 9"/>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42" name="AutoShape 10"/>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43" name="AutoShape 11"/>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44" name="AutoShape 12"/>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45" name="AutoShape 13"/>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46" name="AutoShape 14"/>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47" name="AutoShape 15"/>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grpSp>
      </p:grpSp>
      <p:grpSp>
        <p:nvGrpSpPr>
          <p:cNvPr id="208901" name="Group 62"/>
          <p:cNvGrpSpPr/>
          <p:nvPr/>
        </p:nvGrpSpPr>
        <p:grpSpPr>
          <a:xfrm>
            <a:off x="446088" y="2590800"/>
            <a:ext cx="458787" cy="458788"/>
            <a:chOff x="6518563" y="2750124"/>
            <a:chExt cx="831273" cy="831273"/>
          </a:xfrm>
        </p:grpSpPr>
        <p:sp>
          <p:nvSpPr>
            <p:cNvPr id="49" name="Rounded Rectangle 13"/>
            <p:cNvSpPr/>
            <p:nvPr/>
          </p:nvSpPr>
          <p:spPr>
            <a:xfrm>
              <a:off x="6518563" y="2750124"/>
              <a:ext cx="831273" cy="831273"/>
            </a:xfrm>
            <a:prstGeom prst="round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50" name="Group 29"/>
            <p:cNvGrpSpPr/>
            <p:nvPr/>
          </p:nvGrpSpPr>
          <p:grpSpPr>
            <a:xfrm>
              <a:off x="6772671" y="2933191"/>
              <a:ext cx="319088" cy="465138"/>
              <a:chOff x="5441157" y="4440238"/>
              <a:chExt cx="319088" cy="465138"/>
            </a:xfrm>
            <a:solidFill>
              <a:srgbClr val="EEECE1"/>
            </a:solidFill>
          </p:grpSpPr>
          <p:sp>
            <p:nvSpPr>
              <p:cNvPr id="51" name="AutoShape 97"/>
              <p:cNvSpPr/>
              <p:nvPr/>
            </p:nvSpPr>
            <p:spPr bwMode="auto">
              <a:xfrm>
                <a:off x="5441157" y="4440238"/>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52" name="AutoShape 98"/>
              <p:cNvSpPr/>
              <p:nvPr/>
            </p:nvSpPr>
            <p:spPr bwMode="auto">
              <a:xfrm>
                <a:off x="5571332" y="4483894"/>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53" name="AutoShape 99"/>
              <p:cNvSpPr/>
              <p:nvPr/>
            </p:nvSpPr>
            <p:spPr bwMode="auto">
              <a:xfrm>
                <a:off x="5586413" y="4847432"/>
                <a:ext cx="285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grpSp>
      </p:grpSp>
      <p:grpSp>
        <p:nvGrpSpPr>
          <p:cNvPr id="208902" name="Group 63"/>
          <p:cNvGrpSpPr/>
          <p:nvPr/>
        </p:nvGrpSpPr>
        <p:grpSpPr>
          <a:xfrm>
            <a:off x="446088" y="3924300"/>
            <a:ext cx="458787" cy="458788"/>
            <a:chOff x="6518563" y="3920833"/>
            <a:chExt cx="831273" cy="831273"/>
          </a:xfrm>
        </p:grpSpPr>
        <p:sp>
          <p:nvSpPr>
            <p:cNvPr id="55" name="Rounded Rectangle 14"/>
            <p:cNvSpPr/>
            <p:nvPr/>
          </p:nvSpPr>
          <p:spPr>
            <a:xfrm>
              <a:off x="6518563" y="3920833"/>
              <a:ext cx="831273" cy="831273"/>
            </a:xfrm>
            <a:prstGeom prst="roundRect">
              <a:avLst/>
            </a:pr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sp>
          <p:nvSpPr>
            <p:cNvPr id="56" name="AutoShape 139"/>
            <p:cNvSpPr/>
            <p:nvPr/>
          </p:nvSpPr>
          <p:spPr bwMode="auto">
            <a:xfrm>
              <a:off x="6699774" y="4119304"/>
              <a:ext cx="465974" cy="448714"/>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rgbClr val="EEECE1"/>
            </a:solid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grpSp>
      <p:grpSp>
        <p:nvGrpSpPr>
          <p:cNvPr id="208903" name="Group 64"/>
          <p:cNvGrpSpPr/>
          <p:nvPr/>
        </p:nvGrpSpPr>
        <p:grpSpPr>
          <a:xfrm>
            <a:off x="446088" y="5953125"/>
            <a:ext cx="458787" cy="458788"/>
            <a:chOff x="6518563" y="5091542"/>
            <a:chExt cx="831273" cy="831273"/>
          </a:xfrm>
        </p:grpSpPr>
        <p:sp>
          <p:nvSpPr>
            <p:cNvPr id="58" name="Rounded Rectangle 15"/>
            <p:cNvSpPr/>
            <p:nvPr/>
          </p:nvSpPr>
          <p:spPr>
            <a:xfrm>
              <a:off x="6518563" y="5091542"/>
              <a:ext cx="831273" cy="831273"/>
            </a:xfrm>
            <a:prstGeom prst="round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59" name="Group 46"/>
            <p:cNvGrpSpPr/>
            <p:nvPr/>
          </p:nvGrpSpPr>
          <p:grpSpPr>
            <a:xfrm>
              <a:off x="6700043" y="5325806"/>
              <a:ext cx="464344" cy="362744"/>
              <a:chOff x="2581275" y="1710532"/>
              <a:chExt cx="464344" cy="362744"/>
            </a:xfrm>
            <a:solidFill>
              <a:srgbClr val="EEECE1"/>
            </a:solidFill>
          </p:grpSpPr>
          <p:sp>
            <p:nvSpPr>
              <p:cNvPr id="60" name="AutoShape 140"/>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61" name="AutoShape 141"/>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62" name="AutoShape 142"/>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63" name="AutoShape 143"/>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64" name="AutoShape 144"/>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65" name="AutoShape 145"/>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66" name="AutoShape 146"/>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grpSp>
      </p:grpSp>
      <p:grpSp>
        <p:nvGrpSpPr>
          <p:cNvPr id="208904" name="Group 58"/>
          <p:cNvGrpSpPr/>
          <p:nvPr/>
        </p:nvGrpSpPr>
        <p:grpSpPr>
          <a:xfrm>
            <a:off x="433388" y="3230563"/>
            <a:ext cx="471487" cy="471487"/>
            <a:chOff x="4842163" y="2750124"/>
            <a:chExt cx="831273" cy="831273"/>
          </a:xfrm>
        </p:grpSpPr>
        <p:sp>
          <p:nvSpPr>
            <p:cNvPr id="119" name="Rounded Rectangle 6"/>
            <p:cNvSpPr/>
            <p:nvPr/>
          </p:nvSpPr>
          <p:spPr>
            <a:xfrm>
              <a:off x="4842163" y="2750124"/>
              <a:ext cx="831273" cy="831273"/>
            </a:xfrm>
            <a:prstGeom prst="round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120" name="Group 33"/>
            <p:cNvGrpSpPr/>
            <p:nvPr/>
          </p:nvGrpSpPr>
          <p:grpSpPr>
            <a:xfrm>
              <a:off x="5019964" y="2946176"/>
              <a:ext cx="465138" cy="435769"/>
              <a:chOff x="5368132" y="3540125"/>
              <a:chExt cx="465138" cy="435769"/>
            </a:xfrm>
            <a:solidFill>
              <a:srgbClr val="EEECE1"/>
            </a:solidFill>
          </p:grpSpPr>
          <p:sp>
            <p:nvSpPr>
              <p:cNvPr id="121" name="AutoShape 110"/>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122" name="AutoShape 111"/>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grpSp>
      </p:grpSp>
      <p:grpSp>
        <p:nvGrpSpPr>
          <p:cNvPr id="208905" name="Group 59"/>
          <p:cNvGrpSpPr/>
          <p:nvPr/>
        </p:nvGrpSpPr>
        <p:grpSpPr>
          <a:xfrm>
            <a:off x="433388" y="4902200"/>
            <a:ext cx="471487" cy="471488"/>
            <a:chOff x="4842163" y="3920833"/>
            <a:chExt cx="831273" cy="831273"/>
          </a:xfrm>
        </p:grpSpPr>
        <p:sp>
          <p:nvSpPr>
            <p:cNvPr id="129" name="Rounded Rectangle 7"/>
            <p:cNvSpPr/>
            <p:nvPr/>
          </p:nvSpPr>
          <p:spPr>
            <a:xfrm>
              <a:off x="4842163" y="3920833"/>
              <a:ext cx="831273" cy="831273"/>
            </a:xfrm>
            <a:prstGeom prst="round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130" name="Group 39"/>
            <p:cNvGrpSpPr/>
            <p:nvPr/>
          </p:nvGrpSpPr>
          <p:grpSpPr>
            <a:xfrm>
              <a:off x="5027504" y="4104297"/>
              <a:ext cx="464344" cy="464344"/>
              <a:chOff x="3510757" y="2582069"/>
              <a:chExt cx="464344" cy="464344"/>
            </a:xfrm>
            <a:solidFill>
              <a:srgbClr val="EEECE1"/>
            </a:solidFill>
          </p:grpSpPr>
          <p:sp>
            <p:nvSpPr>
              <p:cNvPr id="131" name="AutoShape 126"/>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132" name="AutoShape 127"/>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grpSp>
      </p:grpSp>
      <p:grpSp>
        <p:nvGrpSpPr>
          <p:cNvPr id="208906" name="Group 57"/>
          <p:cNvGrpSpPr/>
          <p:nvPr/>
        </p:nvGrpSpPr>
        <p:grpSpPr>
          <a:xfrm>
            <a:off x="433388" y="1887538"/>
            <a:ext cx="471487" cy="471487"/>
            <a:chOff x="4842163" y="1579415"/>
            <a:chExt cx="831273" cy="831273"/>
          </a:xfrm>
        </p:grpSpPr>
        <p:sp>
          <p:nvSpPr>
            <p:cNvPr id="134" name="Rounded Rectangle 3"/>
            <p:cNvSpPr/>
            <p:nvPr/>
          </p:nvSpPr>
          <p:spPr>
            <a:xfrm>
              <a:off x="4842163" y="1579415"/>
              <a:ext cx="831273" cy="831273"/>
            </a:xfrm>
            <a:prstGeom prst="roundRect">
              <a:avLst/>
            </a:pr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135" name="Group 42"/>
            <p:cNvGrpSpPr/>
            <p:nvPr/>
          </p:nvGrpSpPr>
          <p:grpSpPr>
            <a:xfrm>
              <a:off x="5019963" y="1750443"/>
              <a:ext cx="465138" cy="464344"/>
              <a:chOff x="2581275" y="2582069"/>
              <a:chExt cx="465138" cy="464344"/>
            </a:xfrm>
            <a:solidFill>
              <a:srgbClr val="EEECE1"/>
            </a:solidFill>
          </p:grpSpPr>
          <p:sp>
            <p:nvSpPr>
              <p:cNvPr id="136" name="AutoShape 128"/>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137" name="AutoShape 129"/>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grpSp>
      </p:grpSp>
    </p:spTree>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303213" y="1169988"/>
            <a:ext cx="8620125" cy="1897063"/>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中记录关键字为：51、49、39、46、38、29、14、61、15、30、1、48、52、3、63、27、4、13、89、24、46、58、33、76，假定使用的内存可容纳 6 个记录，利用置换-选择分类法产生初始合并段。</a:t>
            </a:r>
            <a:endParaRPr kumimoji="0" lang="zh-CN" altLang="en-US" sz="2400" b="0" i="0" u="none" strike="noStrike" kern="1200" cap="none" spc="0" normalizeH="0" baseline="0" noProof="0" dirty="0">
              <a:ln>
                <a:noFill/>
              </a:ln>
              <a:solidFill>
                <a:schemeClr val="folHlink"/>
              </a:solidFill>
              <a:effectLst/>
              <a:uLnTx/>
              <a:uFillTx/>
              <a:latin typeface="+mn-lt"/>
              <a:ea typeface="+mn-ea"/>
              <a:cs typeface="+mn-ea"/>
              <a:sym typeface="+mn-lt"/>
            </a:endParaRP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1" i="0" u="none" strike="noStrike" kern="1200" cap="none" spc="0" normalizeH="0" baseline="0" noProof="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29</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2400" b="1" i="0" u="none" strike="noStrike" kern="1200" cap="none" spc="0" normalizeH="0" baseline="0" noProof="0">
              <a:ln>
                <a:noFill/>
              </a:ln>
              <a:solidFill>
                <a:schemeClr val="hlink"/>
              </a:solidFill>
              <a:effectLst/>
              <a:uLnTx/>
              <a:uFillTx/>
              <a:latin typeface="+mn-lt"/>
              <a:ea typeface="+mn-ea"/>
              <a:cs typeface="+mn-ea"/>
              <a:sym typeface="+mn-lt"/>
            </a:endParaRP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38 14</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zh-CN" altLang="en-US"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51 49 46 </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39 14 61</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46 14 61 15</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49 14 61 15  30</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51 14 61 15  30 1</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14 61 15  30 1 48</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14 15  30 1 48 52</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14 15  30 1 48 52</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14 15  30 48 52 3</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14 15  30 48 52 63</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15  30 48 52 63 27</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30 48 52 63 27 4</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30 48 52 63 4 13</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48 52 63 4 13 89</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52 63 4 13 89 24</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63 4 13 89 24 46</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4 13 89 24 46 58</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 63</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4 13 24 46 58 33</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 63 89#</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13 24 46 58 33 76</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 63 89#    </a:t>
            </a:r>
          </a:p>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4 </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24 46 58 33 76</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 63 89#    </a:t>
            </a:r>
          </a:p>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4 13</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46 58 33 76</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 63 89#    </a:t>
            </a:r>
          </a:p>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4 13 24</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46 58 76</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 63 89#    </a:t>
            </a:r>
          </a:p>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4 13 24 33</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58 76</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 63 89#    </a:t>
            </a:r>
          </a:p>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4 13 24 33 46</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76</a:t>
            </a: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 63 89#    </a:t>
            </a:r>
          </a:p>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4 13 24 33 46 58</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实例：</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输入文件</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中记录关键字为：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89</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58</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33</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，假定使用的内存可容纳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6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个记录，利用置换</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选择分类法产生初始合并段。</a:t>
            </a:r>
          </a:p>
        </p:txBody>
      </p:sp>
      <p:sp>
        <p:nvSpPr>
          <p:cNvPr id="191490" name="Rectangle 3"/>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51  49   39   46  38  29   14  61  15  30    1   48 52   3    63   27  4    13    89  24 46  58    33  76 </a:t>
            </a:r>
          </a:p>
        </p:txBody>
      </p:sp>
      <p:sp>
        <p:nvSpPr>
          <p:cNvPr id="191491" name="Text Box 4"/>
          <p:cNvSpPr txBox="1">
            <a:spLocks noChangeArrowheads="1"/>
          </p:cNvSpPr>
          <p:nvPr/>
        </p:nvSpPr>
        <p:spPr bwMode="auto">
          <a:xfrm>
            <a:off x="974725"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FI</a:t>
            </a:r>
          </a:p>
        </p:txBody>
      </p:sp>
      <p:sp>
        <p:nvSpPr>
          <p:cNvPr id="191492" name="Text Box 5"/>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191493" name="Text Box 6"/>
          <p:cNvSpPr txBox="1">
            <a:spLocks noChangeArrowheads="1"/>
          </p:cNvSpPr>
          <p:nvPr/>
        </p:nvSpPr>
        <p:spPr bwMode="auto">
          <a:xfrm>
            <a:off x="4011613" y="5384800"/>
            <a:ext cx="1203325"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WA</a:t>
            </a:r>
          </a:p>
        </p:txBody>
      </p:sp>
      <p:sp>
        <p:nvSpPr>
          <p:cNvPr id="191494" name="Text Box 7"/>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29 38 39 46 49 51 61 # 1 3 14 15 27 30 48 52 63 89#    </a:t>
            </a:r>
          </a:p>
          <a:p>
            <a:pPr marL="0" marR="0" lvl="0" indent="0" algn="l" defTabSz="762000" rtl="0" eaLnBrk="0" fontAlgn="base" latinLnBrk="0" hangingPunct="0">
              <a:lnSpc>
                <a:spcPct val="100000"/>
              </a:lnSpc>
              <a:spcBef>
                <a:spcPct val="50000"/>
              </a:spcBef>
              <a:spcAft>
                <a:spcPct val="0"/>
              </a:spcAft>
              <a:buClrTx/>
              <a:buSzTx/>
              <a:buFontTx/>
              <a:buNone/>
              <a:defRPr/>
            </a:pPr>
            <a:r>
              <a:rPr kumimoji="0" lang="en-US" altLang="zh-CN" sz="2400" b="1" i="0" u="none" strike="noStrike" kern="1200" cap="none" spc="0" normalizeH="0" baseline="0" noProof="0" dirty="0">
                <a:ln>
                  <a:noFill/>
                </a:ln>
                <a:solidFill>
                  <a:schemeClr val="bg1"/>
                </a:solidFill>
                <a:effectLst/>
                <a:uLnTx/>
                <a:uFillTx/>
                <a:latin typeface="Times New Roman" panose="02020603050405020304" pitchFamily="18" charset="0"/>
                <a:ea typeface="楷体_GB2312" pitchFamily="49" charset="-122"/>
                <a:cs typeface="+mn-ea"/>
                <a:sym typeface="+mn-lt"/>
              </a:rPr>
              <a:t>4 13 24 33 46 58 76 #</a:t>
            </a:r>
          </a:p>
        </p:txBody>
      </p:sp>
      <p:sp>
        <p:nvSpPr>
          <p:cNvPr id="191495" name="Text Box 8"/>
          <p:cNvSpPr txBox="1">
            <a:spLocks noChangeArrowheads="1"/>
          </p:cNvSpPr>
          <p:nvPr/>
        </p:nvSpPr>
        <p:spPr bwMode="auto">
          <a:xfrm>
            <a:off x="6840538" y="5384800"/>
            <a:ext cx="744538" cy="519113"/>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a:ln>
                  <a:noFill/>
                </a:ln>
                <a:solidFill>
                  <a:srgbClr val="FF0000"/>
                </a:solidFill>
                <a:effectLst/>
                <a:uLnTx/>
                <a:uFillTx/>
                <a:latin typeface="+mn-lt"/>
                <a:ea typeface="+mn-ea"/>
                <a:cs typeface="+mn-ea"/>
                <a:sym typeface="+mn-lt"/>
              </a:rPr>
              <a:t>FO</a:t>
            </a:r>
          </a:p>
        </p:txBody>
      </p:sp>
      <p:sp>
        <p:nvSpPr>
          <p:cNvPr id="9" name="Rectangle 6"/>
          <p:cNvSpPr>
            <a:spLocks noChangeArrowheads="1"/>
          </p:cNvSpPr>
          <p:nvPr/>
        </p:nvSpPr>
        <p:spPr bwMode="auto">
          <a:xfrm>
            <a:off x="900113" y="1619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置换-选择排序的操作过程</a:t>
            </a:r>
          </a:p>
        </p:txBody>
      </p:sp>
    </p:spTree>
  </p:cSld>
  <p:clrMapOvr>
    <a:masterClrMapping/>
  </p:clrMapOvr>
  <p:transition/>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bwMode="auto">
          <a:xfrm>
            <a:off x="600075" y="1941513"/>
            <a:ext cx="8194675" cy="4181475"/>
          </a:xfrm>
          <a:prstGeom prst="roundRect">
            <a:avLst>
              <a:gd name="adj" fmla="val 1239"/>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236547" name="圆角矩形 1"/>
          <p:cNvSpPr/>
          <p:nvPr/>
        </p:nvSpPr>
        <p:spPr>
          <a:xfrm>
            <a:off x="600075" y="1328738"/>
            <a:ext cx="8194675" cy="568325"/>
          </a:xfrm>
          <a:prstGeom prst="roundRect">
            <a:avLst>
              <a:gd name="adj" fmla="val 16667"/>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19137" name="Rectangle 3"/>
          <p:cNvSpPr>
            <a:spLocks noChangeArrowheads="1"/>
          </p:cNvSpPr>
          <p:nvPr/>
        </p:nvSpPr>
        <p:spPr bwMode="auto">
          <a:xfrm>
            <a:off x="-84137" y="1604963"/>
            <a:ext cx="89154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 </a:t>
            </a:r>
            <a:r>
              <a:rPr kumimoji="0" lang="zh-CN" altLang="en-US" sz="1600" b="1" i="0" u="none" strike="noStrike" kern="1200" cap="none" spc="0" normalizeH="0" baseline="0" noProof="0">
                <a:ln>
                  <a:noFill/>
                </a:ln>
                <a:solidFill>
                  <a:schemeClr val="folHlink"/>
                </a:solidFill>
                <a:effectLst/>
                <a:uLnTx/>
                <a:uFillTx/>
                <a:latin typeface="+mn-lt"/>
                <a:ea typeface="+mn-ea"/>
                <a:cs typeface="+mn-ea"/>
                <a:sym typeface="+mn-lt"/>
              </a:rPr>
              <a:t>	</a:t>
            </a:r>
            <a:endParaRPr kumimoji="0" lang="zh-CN" altLang="zh-CN" sz="16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19138" name="Rectangle 4"/>
          <p:cNvSpPr>
            <a:spLocks noChangeArrowheads="1"/>
          </p:cNvSpPr>
          <p:nvPr/>
        </p:nvSpPr>
        <p:spPr bwMode="auto">
          <a:xfrm>
            <a:off x="173038" y="1371600"/>
            <a:ext cx="8621713" cy="470852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3、长度分析：</a:t>
            </a:r>
          </a:p>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设内存可以存放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个记录，则首先从文件读入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记录到内存。这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个记录肯定可以归入本初始合并段内。这样，必须从文件中读入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个记录。这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个记录中平均有一半可以归入本合并段，一半归入下一合并段。</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因此，合并段的平均长度为：</a:t>
            </a:r>
          </a:p>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folHlink"/>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m + m/2 + m/4 + …………  = 2m</a:t>
            </a:r>
          </a:p>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folHlink"/>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rgbClr val="0000CC"/>
                </a:solidFill>
                <a:effectLst/>
                <a:uLnTx/>
                <a:uFillTx/>
                <a:latin typeface="+mn-lt"/>
                <a:ea typeface="+mn-ea"/>
                <a:cs typeface="+mn-ea"/>
                <a:sym typeface="+mn-lt"/>
              </a:rPr>
              <a:t>所以，在平均情况下，</a:t>
            </a:r>
            <a:r>
              <a:rPr kumimoji="0" lang="zh-CN" altLang="zh-CN" sz="2400" b="0" i="0" u="none" strike="noStrike" kern="1200" cap="none" spc="0" normalizeH="0" baseline="0" noProof="0" dirty="0">
                <a:ln>
                  <a:noFill/>
                </a:ln>
                <a:solidFill>
                  <a:srgbClr val="0000CC"/>
                </a:solidFill>
                <a:effectLst/>
                <a:uLnTx/>
                <a:uFillTx/>
                <a:latin typeface="+mn-lt"/>
                <a:ea typeface="+mn-ea"/>
                <a:cs typeface="+mn-ea"/>
                <a:sym typeface="+mn-lt"/>
              </a:rPr>
              <a:t>合并段的平均长度为 2</a:t>
            </a:r>
            <a:r>
              <a:rPr kumimoji="0" lang="en-US" altLang="zh-CN" sz="2400" b="0" i="0" u="none" strike="noStrike" kern="1200" cap="none" spc="0" normalizeH="0" baseline="0" noProof="0" dirty="0">
                <a:ln>
                  <a:noFill/>
                </a:ln>
                <a:solidFill>
                  <a:srgbClr val="0000CC"/>
                </a:solidFill>
                <a:effectLst/>
                <a:uLnTx/>
                <a:uFillTx/>
                <a:latin typeface="+mn-lt"/>
                <a:ea typeface="+mn-ea"/>
                <a:cs typeface="+mn-ea"/>
                <a:sym typeface="+mn-lt"/>
              </a:rPr>
              <a:t>m 。</a:t>
            </a:r>
          </a:p>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该结论由：</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E·F·Moore</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在 1961 年从置换－选择排序同扫雪机的类比中得到的。	</a:t>
            </a:r>
          </a:p>
        </p:txBody>
      </p:sp>
      <p:sp>
        <p:nvSpPr>
          <p:cNvPr id="6" name="Rectangle 6"/>
          <p:cNvSpPr>
            <a:spLocks noChangeArrowheads="1"/>
          </p:cNvSpPr>
          <p:nvPr/>
        </p:nvSpPr>
        <p:spPr bwMode="auto">
          <a:xfrm>
            <a:off x="827088" y="15240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a:t>
            </a:r>
          </a:p>
        </p:txBody>
      </p:sp>
    </p:spTree>
  </p:cSld>
  <p:clrMapOvr>
    <a:masterClrMapping/>
  </p:clrMapOvr>
  <p:transition>
    <p:wipe dir="d"/>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Rectangle 2"/>
          <p:cNvSpPr>
            <a:spLocks noChangeArrowheads="1"/>
          </p:cNvSpPr>
          <p:nvPr/>
        </p:nvSpPr>
        <p:spPr bwMode="auto">
          <a:xfrm>
            <a:off x="468313" y="1484313"/>
            <a:ext cx="7585075" cy="11604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0000CC"/>
                </a:solidFill>
                <a:effectLst/>
                <a:uLnTx/>
                <a:uFillTx/>
                <a:latin typeface="+mn-lt"/>
                <a:ea typeface="+mn-ea"/>
                <a:cs typeface="+mn-ea"/>
                <a:sym typeface="+mn-lt"/>
              </a:rPr>
              <a:t>1)存储结构定义</a:t>
            </a:r>
          </a:p>
          <a:p>
            <a:pPr marL="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可以用败者树的办法 加以实现。</a:t>
            </a:r>
          </a:p>
        </p:txBody>
      </p:sp>
      <p:sp>
        <p:nvSpPr>
          <p:cNvPr id="221186" name="Text Box 3"/>
          <p:cNvSpPr txBox="1">
            <a:spLocks noChangeArrowheads="1"/>
          </p:cNvSpPr>
          <p:nvPr/>
        </p:nvSpPr>
        <p:spPr bwMode="auto">
          <a:xfrm>
            <a:off x="468313" y="2924175"/>
            <a:ext cx="8248650" cy="2963863"/>
          </a:xfrm>
          <a:prstGeom prst="roundRect">
            <a:avLst>
              <a:gd name="adj" fmla="val 4419"/>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0" indent="0" algn="l" defTabSz="914400" rtl="0" eaLnBrk="0" fontAlgn="base" latinLnBrk="0" hangingPunct="0">
              <a:lnSpc>
                <a:spcPct val="8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typedef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struct</a:t>
            </a:r>
            <a:endPar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endParaRPr>
          </a:p>
          <a:p>
            <a:pPr marL="720090" marR="0" lvl="0" indent="0" algn="l" defTabSz="914400" rtl="0" eaLnBrk="0" fontAlgn="base" latinLnBrk="0" hangingPunct="0">
              <a:lnSpc>
                <a:spcPct val="8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RcdType</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rec; </a:t>
            </a:r>
            <a:r>
              <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记录</a:t>
            </a:r>
          </a:p>
          <a:p>
            <a:pPr marL="720090" marR="0" lvl="0" indent="0" algn="l" defTabSz="914400" rtl="0" eaLnBrk="0" fontAlgn="base" latinLnBrk="0" hangingPunct="0">
              <a:lnSpc>
                <a:spcPct val="8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KeyType</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key; </a:t>
            </a:r>
            <a:r>
              <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关键字</a:t>
            </a:r>
          </a:p>
          <a:p>
            <a:pPr marL="720090" marR="0" lvl="0" indent="0" algn="l" defTabSz="914400" rtl="0" eaLnBrk="0" fontAlgn="base" latinLnBrk="0" hangingPunct="0">
              <a:lnSpc>
                <a:spcPct val="8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int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rnum</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所属归并段的段号</a:t>
            </a:r>
          </a:p>
          <a:p>
            <a:pPr marL="720090" marR="0" lvl="0" indent="0" algn="l" defTabSz="914400" rtl="0" eaLnBrk="0" fontAlgn="base" latinLnBrk="0" hangingPunct="0">
              <a:lnSpc>
                <a:spcPct val="8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RcdNode,WorkArea</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[w];</a:t>
            </a:r>
          </a:p>
        </p:txBody>
      </p:sp>
      <p:sp>
        <p:nvSpPr>
          <p:cNvPr id="5" name="Rectangle 6"/>
          <p:cNvSpPr>
            <a:spLocks noChangeArrowheads="1"/>
          </p:cNvSpPr>
          <p:nvPr/>
        </p:nvSpPr>
        <p:spPr bwMode="auto">
          <a:xfrm>
            <a:off x="900113" y="169863"/>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置换-选择排序的实现</a:t>
            </a:r>
          </a:p>
        </p:txBody>
      </p:sp>
    </p:spTree>
  </p:cSld>
  <p:clrMapOvr>
    <a:masterClrMapping/>
  </p:clrMapOvr>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bwMode="auto">
          <a:xfrm>
            <a:off x="0" y="1844675"/>
            <a:ext cx="9144000" cy="42481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222209" name="Rectangle 1026"/>
          <p:cNvSpPr>
            <a:spLocks noChangeArrowheads="1"/>
          </p:cNvSpPr>
          <p:nvPr/>
        </p:nvSpPr>
        <p:spPr bwMode="auto">
          <a:xfrm>
            <a:off x="919163" y="1009650"/>
            <a:ext cx="3343275" cy="523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0000CC"/>
                </a:solidFill>
                <a:effectLst/>
                <a:uLnTx/>
                <a:uFillTx/>
                <a:latin typeface="+mn-lt"/>
                <a:ea typeface="+mn-ea"/>
                <a:cs typeface="+mn-ea"/>
                <a:sym typeface="+mn-lt"/>
              </a:rPr>
              <a:t>2)模块结构图</a:t>
            </a:r>
          </a:p>
        </p:txBody>
      </p:sp>
      <p:sp>
        <p:nvSpPr>
          <p:cNvPr id="222210" name="Text Box 1027"/>
          <p:cNvSpPr txBox="1">
            <a:spLocks noChangeArrowheads="1"/>
          </p:cNvSpPr>
          <p:nvPr/>
        </p:nvSpPr>
        <p:spPr bwMode="auto">
          <a:xfrm>
            <a:off x="1550988" y="2265363"/>
            <a:ext cx="3459163" cy="528638"/>
          </a:xfrm>
          <a:prstGeom prst="rect">
            <a:avLst/>
          </a:prstGeom>
          <a:noFill/>
          <a:ln w="9525">
            <a:solidFill>
              <a:schemeClr val="tx1"/>
            </a:solidFill>
            <a:miter lim="800000"/>
          </a:ln>
        </p:spPr>
        <p:txBody>
          <a:bodyPr lIns="92075" tIns="46038" rIns="92075" bIns="46038" anchor="ctr">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1" i="0" u="none" strike="noStrike" kern="1200" cap="none" spc="0" normalizeH="0" baseline="0" noProof="0" dirty="0" err="1">
                <a:ln>
                  <a:noFill/>
                </a:ln>
                <a:solidFill>
                  <a:schemeClr val="hlink"/>
                </a:solidFill>
                <a:effectLst/>
                <a:uLnTx/>
                <a:uFillTx/>
                <a:latin typeface="+mn-lt"/>
                <a:ea typeface="+mn-ea"/>
                <a:cs typeface="+mn-ea"/>
                <a:sym typeface="+mn-lt"/>
              </a:rPr>
              <a:t>Replace_selection</a:t>
            </a:r>
            <a:endParaRPr kumimoji="0" lang="en-US" altLang="zh-CN" sz="2800" b="1" i="0" u="none" strike="noStrike" kern="1200" cap="none" spc="0" normalizeH="0" baseline="0" noProof="0" dirty="0">
              <a:ln>
                <a:noFill/>
              </a:ln>
              <a:solidFill>
                <a:schemeClr val="hlink"/>
              </a:solidFill>
              <a:effectLst/>
              <a:uLnTx/>
              <a:uFillTx/>
              <a:latin typeface="+mn-lt"/>
              <a:ea typeface="+mn-ea"/>
              <a:cs typeface="+mn-ea"/>
              <a:sym typeface="+mn-lt"/>
            </a:endParaRPr>
          </a:p>
        </p:txBody>
      </p:sp>
      <p:sp>
        <p:nvSpPr>
          <p:cNvPr id="222211" name="Line 1028"/>
          <p:cNvSpPr>
            <a:spLocks noChangeShapeType="1"/>
          </p:cNvSpPr>
          <p:nvPr/>
        </p:nvSpPr>
        <p:spPr bwMode="auto">
          <a:xfrm>
            <a:off x="3594100" y="2805113"/>
            <a:ext cx="500063" cy="611188"/>
          </a:xfrm>
          <a:prstGeom prst="line">
            <a:avLst/>
          </a:prstGeom>
          <a:noFill/>
          <a:ln w="22225">
            <a:solidFill>
              <a:srgbClr val="0000CC"/>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2212" name="Text Box 1029"/>
          <p:cNvSpPr txBox="1">
            <a:spLocks noChangeArrowheads="1"/>
          </p:cNvSpPr>
          <p:nvPr/>
        </p:nvSpPr>
        <p:spPr bwMode="auto">
          <a:xfrm>
            <a:off x="3452813" y="3376613"/>
            <a:ext cx="1617663" cy="528638"/>
          </a:xfrm>
          <a:prstGeom prst="rect">
            <a:avLst/>
          </a:prstGeom>
          <a:noFill/>
          <a:ln w="9525">
            <a:solidFill>
              <a:schemeClr val="tx1"/>
            </a:solidFill>
            <a:miter lim="800000"/>
          </a:ln>
        </p:spPr>
        <p:txBody>
          <a:bodyPr lIns="92075" tIns="46038" rIns="92075" bIns="46038" anchor="ctr">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hlink"/>
                </a:solidFill>
                <a:effectLst/>
                <a:uLnTx/>
                <a:uFillTx/>
                <a:latin typeface="+mn-lt"/>
                <a:ea typeface="+mn-ea"/>
                <a:cs typeface="+mn-ea"/>
                <a:sym typeface="+mn-lt"/>
              </a:rPr>
              <a:t>Get_run</a:t>
            </a:r>
          </a:p>
        </p:txBody>
      </p:sp>
      <p:sp>
        <p:nvSpPr>
          <p:cNvPr id="222213" name="AutoShape 1030"/>
          <p:cNvSpPr>
            <a:spLocks noChangeArrowheads="1"/>
          </p:cNvSpPr>
          <p:nvPr/>
        </p:nvSpPr>
        <p:spPr bwMode="auto">
          <a:xfrm>
            <a:off x="5499100" y="2443163"/>
            <a:ext cx="3200400" cy="723900"/>
          </a:xfrm>
          <a:prstGeom prst="wedgeEllipseCallout">
            <a:avLst>
              <a:gd name="adj1" fmla="val -66718"/>
              <a:gd name="adj2" fmla="val -34648"/>
            </a:avLst>
          </a:prstGeom>
          <a:solidFill>
            <a:schemeClr val="accent1">
              <a:lumMod val="60000"/>
              <a:lumOff val="40000"/>
            </a:schemeClr>
          </a:solidFill>
          <a:ln w="9525">
            <a:solidFill>
              <a:schemeClr val="tx1"/>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7620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bg1"/>
                </a:solidFill>
                <a:effectLst/>
                <a:uLnTx/>
                <a:uFillTx/>
                <a:latin typeface="+mn-lt"/>
                <a:ea typeface="+mn-ea"/>
                <a:cs typeface="+mn-ea"/>
                <a:sym typeface="+mn-lt"/>
              </a:rPr>
              <a:t>置换-选择算法</a:t>
            </a:r>
          </a:p>
        </p:txBody>
      </p:sp>
      <p:sp>
        <p:nvSpPr>
          <p:cNvPr id="222214" name="AutoShape 1031"/>
          <p:cNvSpPr>
            <a:spLocks noChangeArrowheads="1"/>
          </p:cNvSpPr>
          <p:nvPr/>
        </p:nvSpPr>
        <p:spPr bwMode="auto">
          <a:xfrm>
            <a:off x="5499100" y="3446463"/>
            <a:ext cx="3152775" cy="958850"/>
          </a:xfrm>
          <a:prstGeom prst="wedgeEllipseCallout">
            <a:avLst>
              <a:gd name="adj1" fmla="val -62389"/>
              <a:gd name="adj2" fmla="val -23014"/>
            </a:avLst>
          </a:prstGeom>
          <a:solidFill>
            <a:schemeClr val="accent1">
              <a:lumMod val="60000"/>
              <a:lumOff val="40000"/>
            </a:schemeClr>
          </a:solidFill>
          <a:ln w="9525">
            <a:solidFill>
              <a:schemeClr val="tx1"/>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7620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bg1"/>
                </a:solidFill>
                <a:effectLst/>
                <a:uLnTx/>
                <a:uFillTx/>
                <a:latin typeface="+mn-lt"/>
                <a:ea typeface="+mn-ea"/>
                <a:cs typeface="+mn-ea"/>
                <a:sym typeface="+mn-lt"/>
              </a:rPr>
              <a:t>得到一个初始归并段</a:t>
            </a:r>
          </a:p>
        </p:txBody>
      </p:sp>
      <p:sp>
        <p:nvSpPr>
          <p:cNvPr id="222215" name="Line 1032"/>
          <p:cNvSpPr>
            <a:spLocks noChangeShapeType="1"/>
          </p:cNvSpPr>
          <p:nvPr/>
        </p:nvSpPr>
        <p:spPr bwMode="auto">
          <a:xfrm flipH="1">
            <a:off x="1622425" y="2805113"/>
            <a:ext cx="1139825" cy="539750"/>
          </a:xfrm>
          <a:prstGeom prst="line">
            <a:avLst/>
          </a:prstGeom>
          <a:noFill/>
          <a:ln w="22225">
            <a:solidFill>
              <a:srgbClr val="0000CC"/>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2216" name="Text Box 1033"/>
          <p:cNvSpPr txBox="1">
            <a:spLocks noChangeArrowheads="1"/>
          </p:cNvSpPr>
          <p:nvPr/>
        </p:nvSpPr>
        <p:spPr bwMode="auto">
          <a:xfrm>
            <a:off x="419100" y="3363913"/>
            <a:ext cx="2652713" cy="466725"/>
          </a:xfrm>
          <a:prstGeom prst="rect">
            <a:avLst/>
          </a:prstGeom>
          <a:noFill/>
          <a:ln w="9525">
            <a:solidFill>
              <a:schemeClr val="tx1"/>
            </a:solidFill>
            <a:miter lim="800000"/>
          </a:ln>
        </p:spPr>
        <p:txBody>
          <a:bodyPr lIns="92075" tIns="46038" rIns="92075" bIns="46038" anchor="ctr">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hlink"/>
                </a:solidFill>
                <a:effectLst/>
                <a:uLnTx/>
                <a:uFillTx/>
                <a:latin typeface="+mn-lt"/>
                <a:ea typeface="+mn-ea"/>
                <a:cs typeface="+mn-ea"/>
                <a:sym typeface="+mn-lt"/>
              </a:rPr>
              <a:t>Construct_Loser</a:t>
            </a:r>
          </a:p>
        </p:txBody>
      </p:sp>
      <p:sp>
        <p:nvSpPr>
          <p:cNvPr id="222217" name="Line 1034"/>
          <p:cNvSpPr>
            <a:spLocks noChangeShapeType="1"/>
          </p:cNvSpPr>
          <p:nvPr/>
        </p:nvSpPr>
        <p:spPr bwMode="auto">
          <a:xfrm>
            <a:off x="4191000" y="3925888"/>
            <a:ext cx="0" cy="611188"/>
          </a:xfrm>
          <a:prstGeom prst="line">
            <a:avLst/>
          </a:prstGeom>
          <a:noFill/>
          <a:ln w="22225">
            <a:solidFill>
              <a:srgbClr val="0000CC"/>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2218" name="Text Box 1035"/>
          <p:cNvSpPr txBox="1">
            <a:spLocks noChangeArrowheads="1"/>
          </p:cNvSpPr>
          <p:nvPr/>
        </p:nvSpPr>
        <p:spPr bwMode="auto">
          <a:xfrm>
            <a:off x="2938463" y="4546600"/>
            <a:ext cx="2560638" cy="466725"/>
          </a:xfrm>
          <a:prstGeom prst="rect">
            <a:avLst/>
          </a:prstGeom>
          <a:noFill/>
          <a:ln w="9525">
            <a:solidFill>
              <a:schemeClr val="tx1"/>
            </a:solidFill>
            <a:miter lim="800000"/>
          </a:ln>
        </p:spPr>
        <p:txBody>
          <a:bodyPr lIns="92075" tIns="46038" rIns="92075" bIns="46038" anchor="ctr">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7620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hlink"/>
                </a:solidFill>
                <a:effectLst/>
                <a:uLnTx/>
                <a:uFillTx/>
                <a:latin typeface="+mn-lt"/>
                <a:ea typeface="+mn-ea"/>
                <a:cs typeface="+mn-ea"/>
                <a:sym typeface="+mn-lt"/>
              </a:rPr>
              <a:t>Select_MiniMax</a:t>
            </a:r>
          </a:p>
        </p:txBody>
      </p:sp>
      <p:sp>
        <p:nvSpPr>
          <p:cNvPr id="222219" name="AutoShape 1036"/>
          <p:cNvSpPr>
            <a:spLocks noChangeArrowheads="1"/>
          </p:cNvSpPr>
          <p:nvPr/>
        </p:nvSpPr>
        <p:spPr bwMode="auto">
          <a:xfrm>
            <a:off x="5727700" y="4933950"/>
            <a:ext cx="3152775" cy="958850"/>
          </a:xfrm>
          <a:prstGeom prst="wedgeEllipseCallout">
            <a:avLst>
              <a:gd name="adj1" fmla="val -56898"/>
              <a:gd name="adj2" fmla="val -57287"/>
            </a:avLst>
          </a:prstGeom>
          <a:solidFill>
            <a:schemeClr val="accent1">
              <a:lumMod val="60000"/>
              <a:lumOff val="40000"/>
            </a:schemeClr>
          </a:solidFill>
          <a:ln w="9525">
            <a:solidFill>
              <a:schemeClr val="tx1"/>
            </a:solidFill>
            <a:miter lim="800000"/>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7620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bg1"/>
                </a:solidFill>
                <a:effectLst/>
                <a:uLnTx/>
                <a:uFillTx/>
                <a:latin typeface="+mn-lt"/>
                <a:ea typeface="+mn-ea"/>
                <a:cs typeface="+mn-ea"/>
                <a:sym typeface="+mn-lt"/>
              </a:rPr>
              <a:t>选择每个段中最小值</a:t>
            </a:r>
          </a:p>
        </p:txBody>
      </p:sp>
      <p:sp>
        <p:nvSpPr>
          <p:cNvPr id="222220" name="Line 1037"/>
          <p:cNvSpPr>
            <a:spLocks noChangeShapeType="1"/>
          </p:cNvSpPr>
          <p:nvPr/>
        </p:nvSpPr>
        <p:spPr bwMode="auto">
          <a:xfrm>
            <a:off x="1789113" y="3854450"/>
            <a:ext cx="1927225" cy="708025"/>
          </a:xfrm>
          <a:prstGeom prst="line">
            <a:avLst/>
          </a:prstGeom>
          <a:noFill/>
          <a:ln w="22225">
            <a:solidFill>
              <a:srgbClr val="0000CC"/>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4" name="Rectangle 6"/>
          <p:cNvSpPr>
            <a:spLocks noChangeArrowheads="1"/>
          </p:cNvSpPr>
          <p:nvPr/>
        </p:nvSpPr>
        <p:spPr bwMode="auto">
          <a:xfrm>
            <a:off x="900113" y="169863"/>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置换-选择排序的实现</a:t>
            </a:r>
          </a:p>
        </p:txBody>
      </p:sp>
    </p:spTree>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Text Box 3"/>
          <p:cNvSpPr txBox="1">
            <a:spLocks noChangeArrowheads="1"/>
          </p:cNvSpPr>
          <p:nvPr/>
        </p:nvSpPr>
        <p:spPr bwMode="auto">
          <a:xfrm>
            <a:off x="0" y="1730375"/>
            <a:ext cx="9144000" cy="4094163"/>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Replace_Selection</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LoserTree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&amp;</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ls</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WorkArea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&amp;</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FILE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fi,FILE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fo</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rgbClr val="0000CC"/>
                </a:solidFill>
                <a:effectLst/>
                <a:uLnTx/>
                <a:uFillTx/>
                <a:latin typeface="+mn-lt"/>
                <a:ea typeface="+mn-ea"/>
                <a:cs typeface="+mn-ea"/>
                <a:sym typeface="+mn-lt"/>
              </a:rPr>
              <a:t>Construct_Loser</a:t>
            </a:r>
            <a:r>
              <a:rPr kumimoji="0" lang="en-US" altLang="zh-CN" sz="2000" b="0" i="0" u="none" strike="noStrike" kern="1200" cap="none" spc="0" normalizeH="0" baseline="0" noProof="0" dirty="0">
                <a:ln>
                  <a:noFill/>
                </a:ln>
                <a:solidFill>
                  <a:srgbClr val="0000CC"/>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rgbClr val="0000CC"/>
                </a:solidFill>
                <a:effectLst/>
                <a:uLnTx/>
                <a:uFillTx/>
                <a:latin typeface="+mn-lt"/>
                <a:ea typeface="+mn-ea"/>
                <a:cs typeface="+mn-ea"/>
                <a:sym typeface="+mn-lt"/>
              </a:rPr>
              <a:t>ls</a:t>
            </a:r>
            <a:r>
              <a:rPr kumimoji="0" lang="en-US" altLang="zh-CN" sz="2000" b="0" i="0" u="none" strike="noStrike" kern="1200" cap="none" spc="0" normalizeH="0" baseline="0" noProof="0" dirty="0">
                <a:ln>
                  <a:noFill/>
                </a:ln>
                <a:solidFill>
                  <a:srgbClr val="0000CC"/>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0000CC"/>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rgbClr val="0000CC"/>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rc</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rmax</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=1; </a:t>
            </a: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rc</a:t>
            </a:r>
            <a:r>
              <a:rPr kumimoji="0" lang="zh-CN" altLang="en-US" sz="2000" b="0" i="0" u="none" strike="noStrike" kern="1200" cap="none" spc="0" normalizeH="0" baseline="0" noProof="0" dirty="0">
                <a:ln>
                  <a:noFill/>
                </a:ln>
                <a:solidFill>
                  <a:schemeClr val="hlink"/>
                </a:solidFill>
                <a:effectLst/>
                <a:uLnTx/>
                <a:uFillTx/>
                <a:latin typeface="+mn-lt"/>
                <a:ea typeface="+mn-ea"/>
                <a:cs typeface="+mn-ea"/>
                <a:sym typeface="+mn-lt"/>
              </a:rPr>
              <a:t>为当前生成段号，</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rmax</a:t>
            </a:r>
            <a:r>
              <a:rPr kumimoji="0" lang="zh-CN" altLang="en-US" sz="2000" b="0" i="0" u="none" strike="noStrike" kern="1200" cap="none" spc="0" normalizeH="0" baseline="0" noProof="0" dirty="0">
                <a:ln>
                  <a:noFill/>
                </a:ln>
                <a:solidFill>
                  <a:schemeClr val="hlink"/>
                </a:solidFill>
                <a:effectLst/>
                <a:uLnTx/>
                <a:uFillTx/>
                <a:latin typeface="+mn-lt"/>
                <a:ea typeface="+mn-ea"/>
                <a:cs typeface="+mn-ea"/>
                <a:sym typeface="+mn-lt"/>
              </a:rPr>
              <a:t>为最大段的段号</a:t>
            </a:r>
          </a:p>
          <a:p>
            <a:pPr marL="72009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while(</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rc</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&lt;=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rmax</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0000CC"/>
                </a:solidFill>
                <a:effectLst/>
                <a:uLnTx/>
                <a:uFillTx/>
                <a:latin typeface="+mn-lt"/>
                <a:ea typeface="+mn-ea"/>
                <a:cs typeface="+mn-ea"/>
                <a:sym typeface="+mn-lt"/>
              </a:rPr>
              <a:t>get_run</a:t>
            </a:r>
            <a:r>
              <a:rPr kumimoji="0" lang="en-US" altLang="zh-CN" sz="2000" b="0" i="0" u="none" strike="noStrike" kern="1200" cap="none" spc="0" normalizeH="0" baseline="0" noProof="0" dirty="0">
                <a:ln>
                  <a:noFill/>
                </a:ln>
                <a:solidFill>
                  <a:srgbClr val="0000CC"/>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rgbClr val="0000CC"/>
                </a:solidFill>
                <a:effectLst/>
                <a:uLnTx/>
                <a:uFillTx/>
                <a:latin typeface="+mn-lt"/>
                <a:ea typeface="+mn-ea"/>
                <a:cs typeface="+mn-ea"/>
                <a:sym typeface="+mn-lt"/>
              </a:rPr>
              <a:t>ls</a:t>
            </a:r>
            <a:r>
              <a:rPr kumimoji="0" lang="en-US" altLang="zh-CN" sz="2000" b="0" i="0" u="none" strike="noStrike" kern="1200" cap="none" spc="0" normalizeH="0" baseline="0" noProof="0" dirty="0">
                <a:ln>
                  <a:noFill/>
                </a:ln>
                <a:solidFill>
                  <a:srgbClr val="0000CC"/>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0000CC"/>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rgbClr val="0000CC"/>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fwrite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(RUNEND_SYMBLE,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sizeof</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RcdType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1,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fo</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rc</a:t>
            </a: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ls</a:t>
            </a: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[0] ].</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rnum</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72009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Replace_Selection</a:t>
            </a:r>
            <a:endPar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223234" name="Rectangle 5"/>
          <p:cNvSpPr>
            <a:spLocks noChangeArrowheads="1"/>
          </p:cNvSpPr>
          <p:nvPr/>
        </p:nvSpPr>
        <p:spPr bwMode="auto">
          <a:xfrm>
            <a:off x="874713" y="1027113"/>
            <a:ext cx="3343275" cy="519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rgbClr val="0000CC"/>
                </a:solidFill>
                <a:effectLst/>
                <a:uLnTx/>
                <a:uFillTx/>
                <a:latin typeface="+mn-lt"/>
                <a:ea typeface="+mn-ea"/>
                <a:cs typeface="+mn-ea"/>
                <a:sym typeface="+mn-lt"/>
              </a:rPr>
              <a:t>3)</a:t>
            </a:r>
            <a:r>
              <a:rPr kumimoji="0" lang="zh-CN" altLang="en-US" sz="2800" b="0" i="0" u="none" strike="noStrike" kern="1200" cap="none" spc="0" normalizeH="0" baseline="0" noProof="0" dirty="0">
                <a:ln>
                  <a:noFill/>
                </a:ln>
                <a:solidFill>
                  <a:srgbClr val="0000CC"/>
                </a:solidFill>
                <a:effectLst/>
                <a:uLnTx/>
                <a:uFillTx/>
                <a:latin typeface="+mn-lt"/>
                <a:ea typeface="+mn-ea"/>
                <a:cs typeface="+mn-ea"/>
                <a:sym typeface="+mn-lt"/>
              </a:rPr>
              <a:t>模块实现</a:t>
            </a:r>
          </a:p>
        </p:txBody>
      </p:sp>
      <p:sp>
        <p:nvSpPr>
          <p:cNvPr id="4" name="Rectangle 6"/>
          <p:cNvSpPr>
            <a:spLocks noChangeArrowheads="1"/>
          </p:cNvSpPr>
          <p:nvPr/>
        </p:nvSpPr>
        <p:spPr bwMode="auto">
          <a:xfrm>
            <a:off x="900113" y="169863"/>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置换-选择排序的实现</a:t>
            </a:r>
          </a:p>
        </p:txBody>
      </p:sp>
    </p:spTree>
  </p:cSld>
  <p:clrMapOvr>
    <a:masterClrMapping/>
  </p:clrMapOvr>
  <p:transition>
    <p:wipe dir="d"/>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7" name="Text Box 1026"/>
          <p:cNvSpPr txBox="1">
            <a:spLocks noChangeArrowheads="1"/>
          </p:cNvSpPr>
          <p:nvPr/>
        </p:nvSpPr>
        <p:spPr bwMode="auto">
          <a:xfrm>
            <a:off x="0" y="855663"/>
            <a:ext cx="9144000" cy="6002338"/>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get_run</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LoserTree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&amp;</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ls</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WorkArea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&amp;</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while(</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ls</a:t>
            </a: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[0] ].</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rnum</a:t>
            </a: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hlink"/>
                </a:solidFill>
                <a:effectLst/>
                <a:uLnTx/>
                <a:uFillTx/>
                <a:latin typeface="+mn-lt"/>
                <a:ea typeface="+mn-ea"/>
                <a:cs typeface="+mn-ea"/>
                <a:sym typeface="+mn-lt"/>
              </a:rPr>
              <a:t>rc</a:t>
            </a: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{q=</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ls</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[0];</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minimax</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[q].key;</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fwrite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(&amp;</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[q].rec,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sizeof</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RcdType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1,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fo</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If(</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feof</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f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rnum</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=rmax+1;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[q].key=MAXKEY;}</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else {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fread</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(&amp;</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rec,sizeof</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RcdType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),1, fi);</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[q].key=</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rec.key</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If(</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[q].key&lt;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minimax</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rmax</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=rc+1;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rnum</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rmax</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else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[q].</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rnum</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rc</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0000CC"/>
                </a:solidFill>
                <a:effectLst/>
                <a:uLnTx/>
                <a:uFillTx/>
                <a:latin typeface="+mn-lt"/>
                <a:ea typeface="+mn-ea"/>
                <a:cs typeface="+mn-ea"/>
                <a:sym typeface="+mn-lt"/>
              </a:rPr>
              <a:t>select_MiniMax</a:t>
            </a:r>
            <a:r>
              <a:rPr kumimoji="0" lang="en-US" altLang="zh-CN" sz="2000" b="0" i="0" u="none" strike="noStrike" kern="1200" cap="none" spc="0" normalizeH="0" baseline="0" noProof="0" dirty="0">
                <a:ln>
                  <a:noFill/>
                </a:ln>
                <a:solidFill>
                  <a:srgbClr val="0000CC"/>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rgbClr val="0000CC"/>
                </a:solidFill>
                <a:effectLst/>
                <a:uLnTx/>
                <a:uFillTx/>
                <a:latin typeface="+mn-lt"/>
                <a:ea typeface="+mn-ea"/>
                <a:cs typeface="+mn-ea"/>
                <a:sym typeface="+mn-lt"/>
              </a:rPr>
              <a:t>ls</a:t>
            </a:r>
            <a:r>
              <a:rPr kumimoji="0" lang="en-US" altLang="zh-CN" sz="2000" b="0" i="0" u="none" strike="noStrike" kern="1200" cap="none" spc="0" normalizeH="0" baseline="0" noProof="0" dirty="0">
                <a:ln>
                  <a:noFill/>
                </a:ln>
                <a:solidFill>
                  <a:srgbClr val="0000CC"/>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0000CC"/>
                </a:solidFill>
                <a:effectLst/>
                <a:uLnTx/>
                <a:uFillTx/>
                <a:latin typeface="+mn-lt"/>
                <a:ea typeface="+mn-ea"/>
                <a:cs typeface="+mn-ea"/>
                <a:sym typeface="+mn-lt"/>
              </a:rPr>
              <a:t>wa</a:t>
            </a:r>
            <a:r>
              <a:rPr kumimoji="0" lang="en-US" altLang="zh-CN" sz="2000" b="0" i="0" u="none" strike="noStrike" kern="1200" cap="none" spc="0" normalizeH="0" baseline="0" noProof="0" dirty="0">
                <a:ln>
                  <a:noFill/>
                </a:ln>
                <a:solidFill>
                  <a:srgbClr val="0000CC"/>
                </a:solidFill>
                <a:effectLst/>
                <a:uLnTx/>
                <a:uFillTx/>
                <a:latin typeface="+mn-lt"/>
                <a:ea typeface="+mn-ea"/>
                <a:cs typeface="+mn-ea"/>
                <a:sym typeface="+mn-lt"/>
              </a:rPr>
              <a:t>, q);</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hlink"/>
                </a:solidFill>
                <a:effectLst/>
                <a:uLnTx/>
                <a:uFillTx/>
                <a:latin typeface="+mn-lt"/>
                <a:ea typeface="+mn-ea"/>
                <a:cs typeface="+mn-ea"/>
                <a:sym typeface="+mn-lt"/>
              </a:rPr>
              <a:t>//while</a:t>
            </a:r>
          </a:p>
          <a:p>
            <a:pPr marL="72009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get_run</a:t>
            </a:r>
            <a:endPar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 name="Rectangle 6"/>
          <p:cNvSpPr>
            <a:spLocks noChangeArrowheads="1"/>
          </p:cNvSpPr>
          <p:nvPr/>
        </p:nvSpPr>
        <p:spPr bwMode="auto">
          <a:xfrm>
            <a:off x="900113" y="169863"/>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置换-选择排序的实现</a:t>
            </a:r>
          </a:p>
        </p:txBody>
      </p:sp>
      <p:grpSp>
        <p:nvGrpSpPr>
          <p:cNvPr id="241668" name="组合 8"/>
          <p:cNvGrpSpPr/>
          <p:nvPr/>
        </p:nvGrpSpPr>
        <p:grpSpPr>
          <a:xfrm>
            <a:off x="7419975" y="5591175"/>
            <a:ext cx="641350" cy="717550"/>
            <a:chOff x="5330826" y="2798763"/>
            <a:chExt cx="1390650" cy="1555750"/>
          </a:xfrm>
        </p:grpSpPr>
        <p:sp>
          <p:nvSpPr>
            <p:cNvPr id="241671" name="Freeform 57"/>
            <p:cNvSpPr/>
            <p:nvPr/>
          </p:nvSpPr>
          <p:spPr>
            <a:xfrm>
              <a:off x="5614988" y="2798763"/>
              <a:ext cx="1106488" cy="987425"/>
            </a:xfrm>
            <a:custGeom>
              <a:avLst/>
              <a:gdLst/>
              <a:ahLst/>
              <a:cxnLst>
                <a:cxn ang="0">
                  <a:pos x="2147483646"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rect l="0" t="0" r="0" b="0"/>
              <a:pathLst>
                <a:path w="376" h="336">
                  <a:moveTo>
                    <a:pt x="376" y="0"/>
                  </a:moveTo>
                  <a:cubicBezTo>
                    <a:pt x="313" y="5"/>
                    <a:pt x="258" y="16"/>
                    <a:pt x="213" y="37"/>
                  </a:cubicBezTo>
                  <a:cubicBezTo>
                    <a:pt x="202" y="99"/>
                    <a:pt x="202" y="99"/>
                    <a:pt x="202" y="99"/>
                  </a:cubicBezTo>
                  <a:cubicBezTo>
                    <a:pt x="202" y="40"/>
                    <a:pt x="202" y="40"/>
                    <a:pt x="202" y="40"/>
                  </a:cubicBezTo>
                  <a:cubicBezTo>
                    <a:pt x="170" y="53"/>
                    <a:pt x="137" y="70"/>
                    <a:pt x="112" y="94"/>
                  </a:cubicBezTo>
                  <a:cubicBezTo>
                    <a:pt x="111" y="159"/>
                    <a:pt x="111" y="159"/>
                    <a:pt x="111" y="159"/>
                  </a:cubicBezTo>
                  <a:cubicBezTo>
                    <a:pt x="102" y="101"/>
                    <a:pt x="102" y="101"/>
                    <a:pt x="102" y="101"/>
                  </a:cubicBezTo>
                  <a:cubicBezTo>
                    <a:pt x="0" y="171"/>
                    <a:pt x="8" y="276"/>
                    <a:pt x="15" y="321"/>
                  </a:cubicBezTo>
                  <a:cubicBezTo>
                    <a:pt x="75" y="236"/>
                    <a:pt x="191" y="121"/>
                    <a:pt x="291" y="67"/>
                  </a:cubicBezTo>
                  <a:cubicBezTo>
                    <a:pt x="291" y="67"/>
                    <a:pt x="125" y="188"/>
                    <a:pt x="13" y="332"/>
                  </a:cubicBezTo>
                  <a:cubicBezTo>
                    <a:pt x="150" y="336"/>
                    <a:pt x="236" y="286"/>
                    <a:pt x="289" y="223"/>
                  </a:cubicBezTo>
                  <a:cubicBezTo>
                    <a:pt x="189" y="204"/>
                    <a:pt x="189" y="204"/>
                    <a:pt x="189" y="204"/>
                  </a:cubicBezTo>
                  <a:cubicBezTo>
                    <a:pt x="295" y="214"/>
                    <a:pt x="295" y="214"/>
                    <a:pt x="295" y="214"/>
                  </a:cubicBezTo>
                  <a:cubicBezTo>
                    <a:pt x="317" y="189"/>
                    <a:pt x="335" y="154"/>
                    <a:pt x="344" y="131"/>
                  </a:cubicBezTo>
                  <a:cubicBezTo>
                    <a:pt x="255" y="141"/>
                    <a:pt x="255" y="141"/>
                    <a:pt x="255" y="141"/>
                  </a:cubicBezTo>
                  <a:cubicBezTo>
                    <a:pt x="348" y="119"/>
                    <a:pt x="348" y="119"/>
                    <a:pt x="348" y="119"/>
                  </a:cubicBezTo>
                  <a:cubicBezTo>
                    <a:pt x="372" y="64"/>
                    <a:pt x="376" y="0"/>
                    <a:pt x="376" y="0"/>
                  </a:cubicBezTo>
                  <a:close/>
                </a:path>
              </a:pathLst>
            </a:custGeom>
            <a:solidFill>
              <a:srgbClr val="23A3D4">
                <a:alpha val="100000"/>
              </a:srgbClr>
            </a:solidFill>
            <a:ln w="9525">
              <a:noFill/>
            </a:ln>
          </p:spPr>
          <p:txBody>
            <a:bodyPr/>
            <a:lstStyle/>
            <a:p>
              <a:endParaRPr lang="zh-CN" altLang="en-US"/>
            </a:p>
          </p:txBody>
        </p:sp>
        <p:sp>
          <p:nvSpPr>
            <p:cNvPr id="241672" name="Freeform 58"/>
            <p:cNvSpPr/>
            <p:nvPr/>
          </p:nvSpPr>
          <p:spPr>
            <a:xfrm>
              <a:off x="5330826" y="3706813"/>
              <a:ext cx="422275" cy="547688"/>
            </a:xfrm>
            <a:custGeom>
              <a:avLst/>
              <a:gdLst/>
              <a:ahLst/>
              <a:cxnLst>
                <a:cxn ang="0">
                  <a:pos x="2147483646" y="0"/>
                </a:cxn>
                <a:cxn ang="0">
                  <a:pos x="0" y="2147483646"/>
                </a:cxn>
                <a:cxn ang="0">
                  <a:pos x="2147483646" y="2147483646"/>
                </a:cxn>
                <a:cxn ang="0">
                  <a:pos x="2147483646" y="2147483646"/>
                </a:cxn>
                <a:cxn ang="0">
                  <a:pos x="2147483646" y="0"/>
                </a:cxn>
              </a:cxnLst>
              <a:rect l="0" t="0" r="0" b="0"/>
              <a:pathLst>
                <a:path w="144" h="187">
                  <a:moveTo>
                    <a:pt x="129" y="0"/>
                  </a:moveTo>
                  <a:cubicBezTo>
                    <a:pt x="48" y="99"/>
                    <a:pt x="0" y="187"/>
                    <a:pt x="0" y="187"/>
                  </a:cubicBezTo>
                  <a:cubicBezTo>
                    <a:pt x="45" y="121"/>
                    <a:pt x="95" y="60"/>
                    <a:pt x="144" y="7"/>
                  </a:cubicBezTo>
                  <a:cubicBezTo>
                    <a:pt x="139" y="6"/>
                    <a:pt x="133" y="6"/>
                    <a:pt x="128" y="5"/>
                  </a:cubicBezTo>
                  <a:cubicBezTo>
                    <a:pt x="128" y="5"/>
                    <a:pt x="128" y="3"/>
                    <a:pt x="129" y="0"/>
                  </a:cubicBezTo>
                  <a:close/>
                </a:path>
              </a:pathLst>
            </a:custGeom>
            <a:solidFill>
              <a:srgbClr val="23A3D4">
                <a:alpha val="100000"/>
              </a:srgbClr>
            </a:solidFill>
            <a:ln w="9525">
              <a:noFill/>
            </a:ln>
          </p:spPr>
          <p:txBody>
            <a:bodyPr/>
            <a:lstStyle/>
            <a:p>
              <a:endParaRPr lang="zh-CN" altLang="en-US"/>
            </a:p>
          </p:txBody>
        </p:sp>
        <p:sp>
          <p:nvSpPr>
            <p:cNvPr id="241673" name="Freeform 59"/>
            <p:cNvSpPr/>
            <p:nvPr/>
          </p:nvSpPr>
          <p:spPr>
            <a:xfrm>
              <a:off x="5330826" y="4143375"/>
              <a:ext cx="1271588" cy="211138"/>
            </a:xfrm>
            <a:custGeom>
              <a:avLst/>
              <a:gdLst/>
              <a:ahLst/>
              <a:cxnLst>
                <a:cxn ang="0">
                  <a:pos x="2147483646" y="2147483646"/>
                </a:cxn>
                <a:cxn ang="0">
                  <a:pos x="2147483646" y="2147483646"/>
                </a:cxn>
                <a:cxn ang="0">
                  <a:pos x="2147483646" y="2147483646"/>
                </a:cxn>
                <a:cxn ang="0">
                  <a:pos x="2147483646" y="2147483646"/>
                </a:cxn>
                <a:cxn ang="0">
                  <a:pos x="2147483646" y="2147483646"/>
                </a:cxn>
                <a:cxn ang="0">
                  <a:pos x="2147483646" y="0"/>
                </a:cxn>
                <a:cxn ang="0">
                  <a:pos x="2147483646"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0" t="0" r="0" b="0"/>
              <a:pathLst>
                <a:path w="433" h="72">
                  <a:moveTo>
                    <a:pt x="206" y="45"/>
                  </a:moveTo>
                  <a:cubicBezTo>
                    <a:pt x="167" y="26"/>
                    <a:pt x="134" y="20"/>
                    <a:pt x="107" y="20"/>
                  </a:cubicBezTo>
                  <a:cubicBezTo>
                    <a:pt x="107" y="20"/>
                    <a:pt x="107" y="20"/>
                    <a:pt x="107" y="20"/>
                  </a:cubicBezTo>
                  <a:cubicBezTo>
                    <a:pt x="51" y="20"/>
                    <a:pt x="8" y="55"/>
                    <a:pt x="4" y="51"/>
                  </a:cubicBezTo>
                  <a:cubicBezTo>
                    <a:pt x="4" y="51"/>
                    <a:pt x="4" y="51"/>
                    <a:pt x="4" y="51"/>
                  </a:cubicBezTo>
                  <a:cubicBezTo>
                    <a:pt x="0" y="47"/>
                    <a:pt x="39" y="0"/>
                    <a:pt x="107" y="0"/>
                  </a:cubicBezTo>
                  <a:cubicBezTo>
                    <a:pt x="107" y="0"/>
                    <a:pt x="107" y="0"/>
                    <a:pt x="107" y="0"/>
                  </a:cubicBezTo>
                  <a:cubicBezTo>
                    <a:pt x="137" y="0"/>
                    <a:pt x="173" y="7"/>
                    <a:pt x="215" y="27"/>
                  </a:cubicBezTo>
                  <a:cubicBezTo>
                    <a:pt x="215" y="27"/>
                    <a:pt x="215" y="27"/>
                    <a:pt x="215" y="27"/>
                  </a:cubicBezTo>
                  <a:cubicBezTo>
                    <a:pt x="255" y="46"/>
                    <a:pt x="289" y="52"/>
                    <a:pt x="316" y="52"/>
                  </a:cubicBezTo>
                  <a:cubicBezTo>
                    <a:pt x="316" y="52"/>
                    <a:pt x="316" y="52"/>
                    <a:pt x="316" y="52"/>
                  </a:cubicBezTo>
                  <a:cubicBezTo>
                    <a:pt x="380" y="52"/>
                    <a:pt x="410" y="16"/>
                    <a:pt x="413" y="12"/>
                  </a:cubicBezTo>
                  <a:cubicBezTo>
                    <a:pt x="413" y="12"/>
                    <a:pt x="413" y="12"/>
                    <a:pt x="413" y="12"/>
                  </a:cubicBezTo>
                  <a:cubicBezTo>
                    <a:pt x="413" y="12"/>
                    <a:pt x="413" y="12"/>
                    <a:pt x="413" y="12"/>
                  </a:cubicBezTo>
                  <a:cubicBezTo>
                    <a:pt x="413" y="12"/>
                    <a:pt x="413" y="12"/>
                    <a:pt x="413" y="12"/>
                  </a:cubicBezTo>
                  <a:cubicBezTo>
                    <a:pt x="417" y="8"/>
                    <a:pt x="423" y="7"/>
                    <a:pt x="428" y="10"/>
                  </a:cubicBezTo>
                  <a:cubicBezTo>
                    <a:pt x="428" y="10"/>
                    <a:pt x="428" y="10"/>
                    <a:pt x="428" y="10"/>
                  </a:cubicBezTo>
                  <a:cubicBezTo>
                    <a:pt x="432" y="14"/>
                    <a:pt x="433" y="20"/>
                    <a:pt x="430" y="24"/>
                  </a:cubicBezTo>
                  <a:cubicBezTo>
                    <a:pt x="430" y="24"/>
                    <a:pt x="430" y="24"/>
                    <a:pt x="430" y="24"/>
                  </a:cubicBezTo>
                  <a:cubicBezTo>
                    <a:pt x="429" y="26"/>
                    <a:pt x="393" y="72"/>
                    <a:pt x="316" y="72"/>
                  </a:cubicBezTo>
                  <a:cubicBezTo>
                    <a:pt x="316" y="72"/>
                    <a:pt x="316" y="72"/>
                    <a:pt x="316" y="72"/>
                  </a:cubicBezTo>
                  <a:cubicBezTo>
                    <a:pt x="286" y="72"/>
                    <a:pt x="249" y="65"/>
                    <a:pt x="206" y="45"/>
                  </a:cubicBezTo>
                  <a:close/>
                </a:path>
              </a:pathLst>
            </a:custGeom>
            <a:solidFill>
              <a:srgbClr val="3B4449">
                <a:alpha val="100000"/>
              </a:srgbClr>
            </a:solidFill>
            <a:ln w="9525">
              <a:noFill/>
            </a:ln>
          </p:spPr>
          <p:txBody>
            <a:bodyPr/>
            <a:lstStyle/>
            <a:p>
              <a:endParaRPr lang="zh-CN" altLang="en-US"/>
            </a:p>
          </p:txBody>
        </p:sp>
      </p:grpSp>
      <p:cxnSp>
        <p:nvCxnSpPr>
          <p:cNvPr id="13" name="直接连接符 12"/>
          <p:cNvCxnSpPr/>
          <p:nvPr/>
        </p:nvCxnSpPr>
        <p:spPr bwMode="auto">
          <a:xfrm>
            <a:off x="5148263" y="6524625"/>
            <a:ext cx="3816350" cy="0"/>
          </a:xfrm>
          <a:prstGeom prst="line">
            <a:avLst/>
          </a:prstGeom>
          <a:solidFill>
            <a:schemeClr val="accent1"/>
          </a:solidFill>
          <a:ln w="9525" cap="flat" cmpd="sng" algn="ctr">
            <a:solidFill>
              <a:schemeClr val="accent1">
                <a:lumMod val="40000"/>
                <a:lumOff val="60000"/>
              </a:schemeClr>
            </a:solidFill>
            <a:prstDash val="solid"/>
            <a:round/>
            <a:headEnd type="none" w="med" len="med"/>
            <a:tailEnd type="none" w="med" len="med"/>
          </a:ln>
        </p:spPr>
      </p:cxnSp>
      <p:cxnSp>
        <p:nvCxnSpPr>
          <p:cNvPr id="15" name="直接连接符 14"/>
          <p:cNvCxnSpPr/>
          <p:nvPr/>
        </p:nvCxnSpPr>
        <p:spPr bwMode="auto">
          <a:xfrm>
            <a:off x="8243888" y="3857625"/>
            <a:ext cx="0" cy="2884488"/>
          </a:xfrm>
          <a:prstGeom prst="line">
            <a:avLst/>
          </a:prstGeom>
          <a:solidFill>
            <a:schemeClr val="accent1"/>
          </a:solidFill>
          <a:ln w="9525" cap="flat" cmpd="sng" algn="ctr">
            <a:solidFill>
              <a:schemeClr val="accent1">
                <a:lumMod val="40000"/>
                <a:lumOff val="60000"/>
              </a:schemeClr>
            </a:solidFill>
            <a:prstDash val="solid"/>
            <a:round/>
            <a:headEnd type="none" w="med" len="med"/>
            <a:tailEnd type="none" w="med" len="med"/>
          </a:ln>
        </p:spPr>
      </p:cxnSp>
    </p:spTree>
  </p:cSld>
  <p:clrMapOvr>
    <a:masterClrMapping/>
  </p:clrMapOvr>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Text Box 3"/>
          <p:cNvSpPr txBox="1">
            <a:spLocks noChangeArrowheads="1"/>
          </p:cNvSpPr>
          <p:nvPr/>
        </p:nvSpPr>
        <p:spPr bwMode="auto">
          <a:xfrm>
            <a:off x="0" y="1331913"/>
            <a:ext cx="9144000" cy="4421188"/>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0" indent="0" algn="l" defTabSz="914400" rtl="0" eaLnBrk="0" fontAlgn="base" latinLnBrk="0" hangingPunct="0">
              <a:lnSpc>
                <a:spcPct val="11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Select_MiniMax</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LoserTree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&amp;</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ls</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WorkArea</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int q){</a:t>
            </a:r>
          </a:p>
          <a:p>
            <a:pPr marL="720090" marR="0" lvl="0" indent="0" algn="l" defTabSz="914400" rtl="0" eaLnBrk="0" fontAlgn="base" latinLnBrk="0" hangingPunct="0">
              <a:lnSpc>
                <a:spcPct val="11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for(t=(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w+q</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)/2, p=</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ls</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[t]; t&gt;0; t=t/2, p=</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ls</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t ] ) </a:t>
            </a:r>
          </a:p>
          <a:p>
            <a:pPr marL="720090" marR="0" lvl="0" indent="0" algn="l" defTabSz="914400" rtl="0" eaLnBrk="0" fontAlgn="base" latinLnBrk="0" hangingPunct="0">
              <a:lnSpc>
                <a:spcPct val="11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if(</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wa</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[p].</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rnum</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&lt;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wa</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[q].</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rnum</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wa</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[p].</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rnum</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wa</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[q].</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rnum</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&amp;&amp; </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wa</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[p].key &lt; </a:t>
            </a:r>
          </a:p>
          <a:p>
            <a:pPr marL="720090" marR="0" lvl="0" indent="0" algn="l" defTabSz="914400" rtl="0" eaLnBrk="0" fontAlgn="base" latinLnBrk="0" hangingPunct="0">
              <a:lnSpc>
                <a:spcPct val="11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wa</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[q].key)</a:t>
            </a:r>
          </a:p>
          <a:p>
            <a:pPr marL="720090" marR="0" lvl="0" indent="0" algn="l" defTabSz="914400" rtl="0" eaLnBrk="0" fontAlgn="base" latinLnBrk="0" hangingPunct="0">
              <a:lnSpc>
                <a:spcPct val="11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q</a:t>
            </a: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ls</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[t];</a:t>
            </a:r>
          </a:p>
          <a:p>
            <a:pPr marL="720090" marR="0" lvl="0" indent="0" algn="l" defTabSz="914400" rtl="0" eaLnBrk="0" fontAlgn="base" latinLnBrk="0" hangingPunct="0">
              <a:lnSpc>
                <a:spcPct val="11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ls</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[0]=q;</a:t>
            </a:r>
          </a:p>
          <a:p>
            <a:pPr marL="720090" marR="0" lvl="0" indent="0" algn="l" defTabSz="914400" rtl="0" eaLnBrk="0" fontAlgn="base" latinLnBrk="0" hangingPunct="0">
              <a:lnSpc>
                <a:spcPct val="11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3" name="Rectangle 6"/>
          <p:cNvSpPr>
            <a:spLocks noChangeArrowheads="1"/>
          </p:cNvSpPr>
          <p:nvPr/>
        </p:nvSpPr>
        <p:spPr bwMode="auto">
          <a:xfrm>
            <a:off x="900113" y="169863"/>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置换-选择排序的实现</a:t>
            </a:r>
          </a:p>
        </p:txBody>
      </p:sp>
      <p:sp>
        <p:nvSpPr>
          <p:cNvPr id="242692" name="矩形 1"/>
          <p:cNvSpPr/>
          <p:nvPr/>
        </p:nvSpPr>
        <p:spPr>
          <a:xfrm>
            <a:off x="0" y="5949950"/>
            <a:ext cx="9144000" cy="71438"/>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p:wipe dir="d"/>
  </p:transition>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5" name="Text Box 1026"/>
          <p:cNvSpPr txBox="1">
            <a:spLocks noChangeArrowheads="1"/>
          </p:cNvSpPr>
          <p:nvPr/>
        </p:nvSpPr>
        <p:spPr bwMode="auto">
          <a:xfrm>
            <a:off x="0" y="981075"/>
            <a:ext cx="9144000" cy="5643563"/>
          </a:xfrm>
          <a:prstGeom prst="rect">
            <a:avLst/>
          </a:prstGeom>
          <a:solidFill>
            <a:srgbClr val="E2D9EB"/>
          </a:solid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hlink"/>
                </a:solidFill>
                <a:effectLst/>
                <a:uLnTx/>
                <a:uFillTx/>
                <a:latin typeface="+mn-lt"/>
                <a:ea typeface="+mn-ea"/>
                <a:cs typeface="+mn-ea"/>
                <a:sym typeface="+mn-lt"/>
              </a:rPr>
              <a:t>void </a:t>
            </a:r>
            <a:r>
              <a:rPr kumimoji="0" lang="en-US" altLang="zh-CN" sz="2200" b="0" i="0" u="none" strike="noStrike" kern="1200" cap="none" spc="0" normalizeH="0" baseline="0" noProof="0" dirty="0" err="1">
                <a:ln>
                  <a:noFill/>
                </a:ln>
                <a:solidFill>
                  <a:schemeClr val="hlink"/>
                </a:solidFill>
                <a:effectLst/>
                <a:uLnTx/>
                <a:uFillTx/>
                <a:latin typeface="+mn-lt"/>
                <a:ea typeface="+mn-ea"/>
                <a:cs typeface="+mn-ea"/>
                <a:sym typeface="+mn-lt"/>
              </a:rPr>
              <a:t>Construct_Loser</a:t>
            </a:r>
            <a:r>
              <a:rPr kumimoji="0" lang="en-US" altLang="zh-CN" sz="22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hlink"/>
                </a:solidFill>
                <a:effectLst/>
                <a:uLnTx/>
                <a:uFillTx/>
                <a:latin typeface="+mn-lt"/>
                <a:ea typeface="+mn-ea"/>
                <a:cs typeface="+mn-ea"/>
                <a:sym typeface="+mn-lt"/>
              </a:rPr>
              <a:t>LoserTree</a:t>
            </a:r>
            <a:r>
              <a:rPr kumimoji="0" lang="en-US" altLang="zh-CN" sz="2200" b="0" i="0" u="none" strike="noStrike" kern="1200" cap="none" spc="0" normalizeH="0" baseline="0" noProof="0" dirty="0">
                <a:ln>
                  <a:noFill/>
                </a:ln>
                <a:solidFill>
                  <a:schemeClr val="hlink"/>
                </a:solidFill>
                <a:effectLst/>
                <a:uLnTx/>
                <a:uFillTx/>
                <a:latin typeface="+mn-lt"/>
                <a:ea typeface="+mn-ea"/>
                <a:cs typeface="+mn-ea"/>
                <a:sym typeface="+mn-lt"/>
              </a:rPr>
              <a:t> &amp;</a:t>
            </a:r>
            <a:r>
              <a:rPr kumimoji="0" lang="en-US" altLang="zh-CN" sz="2200" b="0" i="0" u="none" strike="noStrike" kern="1200" cap="none" spc="0" normalizeH="0" baseline="0" noProof="0" dirty="0" err="1">
                <a:ln>
                  <a:noFill/>
                </a:ln>
                <a:solidFill>
                  <a:schemeClr val="hlink"/>
                </a:solidFill>
                <a:effectLst/>
                <a:uLnTx/>
                <a:uFillTx/>
                <a:latin typeface="+mn-lt"/>
                <a:ea typeface="+mn-ea"/>
                <a:cs typeface="+mn-ea"/>
                <a:sym typeface="+mn-lt"/>
              </a:rPr>
              <a:t>ls</a:t>
            </a:r>
            <a:r>
              <a:rPr kumimoji="0" lang="en-US" altLang="zh-CN" sz="22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hlink"/>
                </a:solidFill>
                <a:effectLst/>
                <a:uLnTx/>
                <a:uFillTx/>
                <a:latin typeface="+mn-lt"/>
                <a:ea typeface="+mn-ea"/>
                <a:cs typeface="+mn-ea"/>
                <a:sym typeface="+mn-lt"/>
              </a:rPr>
              <a:t>WorkArea</a:t>
            </a:r>
            <a:r>
              <a:rPr kumimoji="0" lang="en-US" altLang="zh-CN" sz="2200" b="0" i="0" u="none" strike="noStrike" kern="1200" cap="none" spc="0" normalizeH="0" baseline="0" noProof="0" dirty="0">
                <a:ln>
                  <a:noFill/>
                </a:ln>
                <a:solidFill>
                  <a:schemeClr val="hlink"/>
                </a:solidFill>
                <a:effectLst/>
                <a:uLnTx/>
                <a:uFillTx/>
                <a:latin typeface="+mn-lt"/>
                <a:ea typeface="+mn-ea"/>
                <a:cs typeface="+mn-ea"/>
                <a:sym typeface="+mn-lt"/>
              </a:rPr>
              <a:t> &amp;</a:t>
            </a:r>
            <a:r>
              <a:rPr kumimoji="0" lang="en-US" altLang="zh-CN" sz="2200" b="0" i="0" u="none" strike="noStrike" kern="1200" cap="none" spc="0" normalizeH="0" baseline="0" noProof="0" dirty="0" err="1">
                <a:ln>
                  <a:noFill/>
                </a:ln>
                <a:solidFill>
                  <a:schemeClr val="hlink"/>
                </a:solidFill>
                <a:effectLst/>
                <a:uLnTx/>
                <a:uFillTx/>
                <a:latin typeface="+mn-lt"/>
                <a:ea typeface="+mn-ea"/>
                <a:cs typeface="+mn-ea"/>
                <a:sym typeface="+mn-lt"/>
              </a:rPr>
              <a:t>wa</a:t>
            </a:r>
            <a:r>
              <a:rPr kumimoji="0" lang="en-US" altLang="zh-CN" sz="2200" b="0" i="0" u="none" strike="noStrike" kern="1200" cap="none" spc="0" normalizeH="0" baseline="0" noProof="0" dirty="0">
                <a:ln>
                  <a:noFill/>
                </a:ln>
                <a:solidFill>
                  <a:schemeClr val="hlink"/>
                </a:solidFill>
                <a:effectLst/>
                <a:uLnTx/>
                <a:uFillTx/>
                <a:latin typeface="+mn-lt"/>
                <a:ea typeface="+mn-ea"/>
                <a:cs typeface="+mn-ea"/>
                <a:sym typeface="+mn-lt"/>
              </a:rPr>
              <a:t>)</a:t>
            </a:r>
          </a:p>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{for(</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=0;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&lt;w;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rnum</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].key=</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ls</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]=0;</a:t>
            </a:r>
          </a:p>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a:ln>
                  <a:noFill/>
                </a:ln>
                <a:solidFill>
                  <a:schemeClr val="hlink"/>
                </a:solidFill>
                <a:effectLst/>
                <a:uLnTx/>
                <a:uFillTx/>
                <a:latin typeface="+mn-lt"/>
                <a:ea typeface="+mn-ea"/>
                <a:cs typeface="+mn-ea"/>
                <a:sym typeface="+mn-lt"/>
              </a:rPr>
              <a:t>for</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=w-1;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&gt;=0; -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fread</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(&amp;</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].rec,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sizeof</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RcdType</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1, fi);</a:t>
            </a:r>
          </a:p>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].key=</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rec.key</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wa</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rnum</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=1;</a:t>
            </a:r>
          </a:p>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rgbClr val="0000CC"/>
                </a:solidFill>
                <a:effectLst/>
                <a:uLnTx/>
                <a:uFillTx/>
                <a:latin typeface="+mn-lt"/>
                <a:ea typeface="+mn-ea"/>
                <a:cs typeface="+mn-ea"/>
                <a:sym typeface="+mn-lt"/>
              </a:rPr>
              <a:t>Select_MiniMax</a:t>
            </a:r>
            <a:r>
              <a:rPr kumimoji="0" lang="en-US" altLang="zh-CN" sz="2200" b="0" i="0" u="none" strike="noStrike" kern="1200" cap="none" spc="0" normalizeH="0" baseline="0" noProof="0" dirty="0">
                <a:ln>
                  <a:noFill/>
                </a:ln>
                <a:solidFill>
                  <a:srgbClr val="0000CC"/>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rgbClr val="0000CC"/>
                </a:solidFill>
                <a:effectLst/>
                <a:uLnTx/>
                <a:uFillTx/>
                <a:latin typeface="+mn-lt"/>
                <a:ea typeface="+mn-ea"/>
                <a:cs typeface="+mn-ea"/>
                <a:sym typeface="+mn-lt"/>
              </a:rPr>
              <a:t>ls</a:t>
            </a:r>
            <a:r>
              <a:rPr kumimoji="0" lang="en-US" altLang="zh-CN" sz="2200" b="0" i="0" u="none" strike="noStrike" kern="1200" cap="none" spc="0" normalizeH="0" baseline="0" noProof="0" dirty="0">
                <a:ln>
                  <a:noFill/>
                </a:ln>
                <a:solidFill>
                  <a:srgbClr val="0000CC"/>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rgbClr val="0000CC"/>
                </a:solidFill>
                <a:effectLst/>
                <a:uLnTx/>
                <a:uFillTx/>
                <a:latin typeface="+mn-lt"/>
                <a:ea typeface="+mn-ea"/>
                <a:cs typeface="+mn-ea"/>
                <a:sym typeface="+mn-lt"/>
              </a:rPr>
              <a:t>wa</a:t>
            </a:r>
            <a:r>
              <a:rPr kumimoji="0" lang="en-US" altLang="zh-CN" sz="2200" b="0" i="0" u="none" strike="noStrike" kern="1200" cap="none" spc="0" normalizeH="0" baseline="0" noProof="0" dirty="0">
                <a:ln>
                  <a:noFill/>
                </a:ln>
                <a:solidFill>
                  <a:srgbClr val="0000CC"/>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rgbClr val="0000CC"/>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rgbClr val="0000CC"/>
                </a:solidFill>
                <a:effectLst/>
                <a:uLnTx/>
                <a:uFillTx/>
                <a:latin typeface="+mn-lt"/>
                <a:ea typeface="+mn-ea"/>
                <a:cs typeface="+mn-ea"/>
                <a:sym typeface="+mn-lt"/>
              </a:rPr>
              <a:t>);</a:t>
            </a:r>
          </a:p>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a:ln>
                  <a:noFill/>
                </a:ln>
                <a:solidFill>
                  <a:schemeClr val="hlink"/>
                </a:solidFill>
                <a:effectLst/>
                <a:uLnTx/>
                <a:uFillTx/>
                <a:latin typeface="+mn-lt"/>
                <a:ea typeface="+mn-ea"/>
                <a:cs typeface="+mn-ea"/>
                <a:sym typeface="+mn-lt"/>
              </a:rPr>
              <a:t>}//end for</a:t>
            </a:r>
          </a:p>
          <a:p>
            <a:pPr marL="720090" marR="0" lvl="0" indent="0" algn="l" defTabSz="762000" rtl="0" eaLnBrk="0" fontAlgn="base" latinLnBrk="0" hangingPunct="0">
              <a:lnSpc>
                <a:spcPct val="120000"/>
              </a:lnSpc>
              <a:spcBef>
                <a:spcPct val="5000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Construct_Loser</a:t>
            </a:r>
            <a:endPar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 name="Rectangle 6"/>
          <p:cNvSpPr>
            <a:spLocks noChangeArrowheads="1"/>
          </p:cNvSpPr>
          <p:nvPr/>
        </p:nvSpPr>
        <p:spPr bwMode="auto">
          <a:xfrm>
            <a:off x="900113" y="169863"/>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置换-选择排序的实现</a:t>
            </a:r>
          </a:p>
        </p:txBody>
      </p:sp>
      <p:sp>
        <p:nvSpPr>
          <p:cNvPr id="243716" name="矩形 1"/>
          <p:cNvSpPr/>
          <p:nvPr/>
        </p:nvSpPr>
        <p:spPr>
          <a:xfrm>
            <a:off x="7524750" y="4927600"/>
            <a:ext cx="1619250" cy="71438"/>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43717" name="矩形 4"/>
          <p:cNvSpPr/>
          <p:nvPr/>
        </p:nvSpPr>
        <p:spPr>
          <a:xfrm>
            <a:off x="7524750" y="5203825"/>
            <a:ext cx="1619250" cy="73025"/>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43718" name="矩形 6"/>
          <p:cNvSpPr/>
          <p:nvPr/>
        </p:nvSpPr>
        <p:spPr>
          <a:xfrm>
            <a:off x="7524750" y="5446713"/>
            <a:ext cx="1619250" cy="71437"/>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43719" name="矩形 7"/>
          <p:cNvSpPr/>
          <p:nvPr/>
        </p:nvSpPr>
        <p:spPr>
          <a:xfrm>
            <a:off x="7524750" y="5688013"/>
            <a:ext cx="1619250" cy="71437"/>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43720" name="矩形 8"/>
          <p:cNvSpPr/>
          <p:nvPr/>
        </p:nvSpPr>
        <p:spPr>
          <a:xfrm>
            <a:off x="7524750" y="5919788"/>
            <a:ext cx="1619250" cy="71437"/>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43721" name="矩形 9"/>
          <p:cNvSpPr/>
          <p:nvPr/>
        </p:nvSpPr>
        <p:spPr>
          <a:xfrm>
            <a:off x="7524750" y="6165850"/>
            <a:ext cx="1619250" cy="71438"/>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Line 2"/>
          <p:cNvSpPr>
            <a:spLocks noChangeShapeType="1"/>
          </p:cNvSpPr>
          <p:nvPr/>
        </p:nvSpPr>
        <p:spPr bwMode="auto">
          <a:xfrm>
            <a:off x="2743200" y="1828800"/>
            <a:ext cx="0" cy="457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30" name="Line 3"/>
          <p:cNvSpPr>
            <a:spLocks noChangeShapeType="1"/>
          </p:cNvSpPr>
          <p:nvPr/>
        </p:nvSpPr>
        <p:spPr bwMode="auto">
          <a:xfrm flipH="1">
            <a:off x="1981200" y="2362200"/>
            <a:ext cx="6096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31" name="Line 4"/>
          <p:cNvSpPr>
            <a:spLocks noChangeShapeType="1"/>
          </p:cNvSpPr>
          <p:nvPr/>
        </p:nvSpPr>
        <p:spPr bwMode="auto">
          <a:xfrm>
            <a:off x="2895600" y="2362200"/>
            <a:ext cx="7620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32" name="Oval 5"/>
          <p:cNvSpPr>
            <a:spLocks noChangeArrowheads="1"/>
          </p:cNvSpPr>
          <p:nvPr/>
        </p:nvSpPr>
        <p:spPr bwMode="auto">
          <a:xfrm>
            <a:off x="2514600" y="2133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7333" name="Text Box 6"/>
          <p:cNvSpPr txBox="1">
            <a:spLocks noChangeArrowheads="1"/>
          </p:cNvSpPr>
          <p:nvPr/>
        </p:nvSpPr>
        <p:spPr bwMode="auto">
          <a:xfrm>
            <a:off x="685800" y="40386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34" name="Line 7"/>
          <p:cNvSpPr>
            <a:spLocks noChangeShapeType="1"/>
          </p:cNvSpPr>
          <p:nvPr/>
        </p:nvSpPr>
        <p:spPr bwMode="auto">
          <a:xfrm flipH="1">
            <a:off x="1219200" y="3200400"/>
            <a:ext cx="5334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35" name="Line 8"/>
          <p:cNvSpPr>
            <a:spLocks noChangeShapeType="1"/>
          </p:cNvSpPr>
          <p:nvPr/>
        </p:nvSpPr>
        <p:spPr bwMode="auto">
          <a:xfrm flipH="1">
            <a:off x="3276600" y="3048000"/>
            <a:ext cx="381000" cy="685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36" name="Line 9"/>
          <p:cNvSpPr>
            <a:spLocks noChangeShapeType="1"/>
          </p:cNvSpPr>
          <p:nvPr/>
        </p:nvSpPr>
        <p:spPr bwMode="auto">
          <a:xfrm>
            <a:off x="3581400" y="3048000"/>
            <a:ext cx="533400" cy="685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37" name="Line 10"/>
          <p:cNvSpPr>
            <a:spLocks noChangeShapeType="1"/>
          </p:cNvSpPr>
          <p:nvPr/>
        </p:nvSpPr>
        <p:spPr bwMode="auto">
          <a:xfrm>
            <a:off x="1905000" y="3200400"/>
            <a:ext cx="533400" cy="5334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38" name="Line 11"/>
          <p:cNvSpPr>
            <a:spLocks noChangeShapeType="1"/>
          </p:cNvSpPr>
          <p:nvPr/>
        </p:nvSpPr>
        <p:spPr bwMode="auto">
          <a:xfrm flipH="1">
            <a:off x="914400" y="3962400"/>
            <a:ext cx="228600"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39" name="Line 12"/>
          <p:cNvSpPr>
            <a:spLocks noChangeShapeType="1"/>
          </p:cNvSpPr>
          <p:nvPr/>
        </p:nvSpPr>
        <p:spPr bwMode="auto">
          <a:xfrm>
            <a:off x="1295400" y="3962400"/>
            <a:ext cx="228600" cy="381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40" name="Line 13"/>
          <p:cNvSpPr>
            <a:spLocks noChangeShapeType="1"/>
          </p:cNvSpPr>
          <p:nvPr/>
        </p:nvSpPr>
        <p:spPr bwMode="auto">
          <a:xfrm flipH="1">
            <a:off x="2133600" y="3962400"/>
            <a:ext cx="228600"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41" name="Line 14"/>
          <p:cNvSpPr>
            <a:spLocks noChangeShapeType="1"/>
          </p:cNvSpPr>
          <p:nvPr/>
        </p:nvSpPr>
        <p:spPr bwMode="auto">
          <a:xfrm>
            <a:off x="2514600" y="3962400"/>
            <a:ext cx="228600" cy="381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42" name="Oval 15"/>
          <p:cNvSpPr>
            <a:spLocks noChangeArrowheads="1"/>
          </p:cNvSpPr>
          <p:nvPr/>
        </p:nvSpPr>
        <p:spPr bwMode="auto">
          <a:xfrm>
            <a:off x="3429000" y="2895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7343" name="Oval 16"/>
          <p:cNvSpPr>
            <a:spLocks noChangeArrowheads="1"/>
          </p:cNvSpPr>
          <p:nvPr/>
        </p:nvSpPr>
        <p:spPr bwMode="auto">
          <a:xfrm>
            <a:off x="1600200" y="2895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7344" name="Oval 19"/>
          <p:cNvSpPr>
            <a:spLocks noChangeArrowheads="1"/>
          </p:cNvSpPr>
          <p:nvPr/>
        </p:nvSpPr>
        <p:spPr bwMode="auto">
          <a:xfrm>
            <a:off x="2209800" y="3657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227345" name="Oval 20"/>
          <p:cNvSpPr>
            <a:spLocks noChangeArrowheads="1"/>
          </p:cNvSpPr>
          <p:nvPr/>
        </p:nvSpPr>
        <p:spPr bwMode="auto">
          <a:xfrm>
            <a:off x="990600" y="3657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7346" name="Rectangle 21"/>
          <p:cNvSpPr>
            <a:spLocks noChangeArrowheads="1"/>
          </p:cNvSpPr>
          <p:nvPr/>
        </p:nvSpPr>
        <p:spPr bwMode="auto">
          <a:xfrm>
            <a:off x="5514975" y="4206875"/>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227348" name="Text Box 23"/>
          <p:cNvSpPr txBox="1">
            <a:spLocks noChangeArrowheads="1"/>
          </p:cNvSpPr>
          <p:nvPr/>
        </p:nvSpPr>
        <p:spPr bwMode="auto">
          <a:xfrm>
            <a:off x="2971800" y="34290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49" name="Text Box 24"/>
          <p:cNvSpPr txBox="1">
            <a:spLocks noChangeArrowheads="1"/>
          </p:cNvSpPr>
          <p:nvPr/>
        </p:nvSpPr>
        <p:spPr bwMode="auto">
          <a:xfrm>
            <a:off x="4114800" y="34290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50" name="Oval 25"/>
          <p:cNvSpPr>
            <a:spLocks noChangeArrowheads="1"/>
          </p:cNvSpPr>
          <p:nvPr/>
        </p:nvSpPr>
        <p:spPr bwMode="auto">
          <a:xfrm>
            <a:off x="2514600" y="16002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7351" name="Rectangle 26"/>
          <p:cNvSpPr>
            <a:spLocks noChangeArrowheads="1"/>
          </p:cNvSpPr>
          <p:nvPr/>
        </p:nvSpPr>
        <p:spPr bwMode="auto">
          <a:xfrm>
            <a:off x="3962400" y="1882775"/>
            <a:ext cx="4876800" cy="3810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51、49、39、46、38、29、14、61、15</a:t>
            </a:r>
          </a:p>
        </p:txBody>
      </p:sp>
      <p:sp>
        <p:nvSpPr>
          <p:cNvPr id="227352" name="Rectangle 27"/>
          <p:cNvSpPr>
            <a:spLocks noChangeArrowheads="1"/>
          </p:cNvSpPr>
          <p:nvPr/>
        </p:nvSpPr>
        <p:spPr bwMode="auto">
          <a:xfrm>
            <a:off x="685800" y="43434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46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7353" name="Rectangle 28"/>
          <p:cNvSpPr>
            <a:spLocks noChangeArrowheads="1"/>
          </p:cNvSpPr>
          <p:nvPr/>
        </p:nvSpPr>
        <p:spPr bwMode="auto">
          <a:xfrm>
            <a:off x="1219200" y="43434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39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7354" name="Rectangle 29"/>
          <p:cNvSpPr>
            <a:spLocks noChangeArrowheads="1"/>
          </p:cNvSpPr>
          <p:nvPr/>
        </p:nvSpPr>
        <p:spPr bwMode="auto">
          <a:xfrm>
            <a:off x="1905000" y="43434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7355" name="Rectangle 30"/>
          <p:cNvSpPr>
            <a:spLocks noChangeArrowheads="1"/>
          </p:cNvSpPr>
          <p:nvPr/>
        </p:nvSpPr>
        <p:spPr bwMode="auto">
          <a:xfrm>
            <a:off x="2438400" y="43434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51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7356" name="Line 31"/>
          <p:cNvSpPr>
            <a:spLocks noChangeShapeType="1"/>
          </p:cNvSpPr>
          <p:nvPr/>
        </p:nvSpPr>
        <p:spPr bwMode="auto">
          <a:xfrm>
            <a:off x="1905000" y="48768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57" name="Rectangle 32"/>
          <p:cNvSpPr>
            <a:spLocks noChangeArrowheads="1"/>
          </p:cNvSpPr>
          <p:nvPr/>
        </p:nvSpPr>
        <p:spPr bwMode="auto">
          <a:xfrm>
            <a:off x="3048000" y="37338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7358" name="Line 33"/>
          <p:cNvSpPr>
            <a:spLocks noChangeShapeType="1"/>
          </p:cNvSpPr>
          <p:nvPr/>
        </p:nvSpPr>
        <p:spPr bwMode="auto">
          <a:xfrm>
            <a:off x="1219200" y="48768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59" name="Rectangle 34"/>
          <p:cNvSpPr>
            <a:spLocks noChangeArrowheads="1"/>
          </p:cNvSpPr>
          <p:nvPr/>
        </p:nvSpPr>
        <p:spPr bwMode="auto">
          <a:xfrm>
            <a:off x="3962400" y="37338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7360" name="Line 35"/>
          <p:cNvSpPr>
            <a:spLocks noChangeShapeType="1"/>
          </p:cNvSpPr>
          <p:nvPr/>
        </p:nvSpPr>
        <p:spPr bwMode="auto">
          <a:xfrm>
            <a:off x="685800" y="48768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61" name="Line 36"/>
          <p:cNvSpPr>
            <a:spLocks noChangeShapeType="1"/>
          </p:cNvSpPr>
          <p:nvPr/>
        </p:nvSpPr>
        <p:spPr bwMode="auto">
          <a:xfrm>
            <a:off x="2438400" y="48768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62" name="Line 37"/>
          <p:cNvSpPr>
            <a:spLocks noChangeShapeType="1"/>
          </p:cNvSpPr>
          <p:nvPr/>
        </p:nvSpPr>
        <p:spPr bwMode="auto">
          <a:xfrm>
            <a:off x="3048000" y="42672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63" name="Line 38"/>
          <p:cNvSpPr>
            <a:spLocks noChangeShapeType="1"/>
          </p:cNvSpPr>
          <p:nvPr/>
        </p:nvSpPr>
        <p:spPr bwMode="auto">
          <a:xfrm>
            <a:off x="3962400" y="42672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64" name="Text Box 39"/>
          <p:cNvSpPr txBox="1">
            <a:spLocks noChangeArrowheads="1"/>
          </p:cNvSpPr>
          <p:nvPr/>
        </p:nvSpPr>
        <p:spPr bwMode="auto">
          <a:xfrm>
            <a:off x="2362200" y="40386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65" name="Text Box 40"/>
          <p:cNvSpPr txBox="1">
            <a:spLocks noChangeArrowheads="1"/>
          </p:cNvSpPr>
          <p:nvPr/>
        </p:nvSpPr>
        <p:spPr bwMode="auto">
          <a:xfrm>
            <a:off x="1905000" y="40386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66" name="Text Box 41"/>
          <p:cNvSpPr txBox="1">
            <a:spLocks noChangeArrowheads="1"/>
          </p:cNvSpPr>
          <p:nvPr/>
        </p:nvSpPr>
        <p:spPr bwMode="auto">
          <a:xfrm>
            <a:off x="1143000" y="40386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7367" name="Line 42"/>
          <p:cNvSpPr>
            <a:spLocks noChangeShapeType="1"/>
          </p:cNvSpPr>
          <p:nvPr/>
        </p:nvSpPr>
        <p:spPr bwMode="auto">
          <a:xfrm>
            <a:off x="7924800" y="2111375"/>
            <a:ext cx="914400" cy="0"/>
          </a:xfrm>
          <a:prstGeom prst="line">
            <a:avLst/>
          </a:prstGeom>
          <a:noFill/>
          <a:ln w="28575"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3" name="Rectangle 6"/>
          <p:cNvSpPr>
            <a:spLocks noChangeArrowheads="1"/>
          </p:cNvSpPr>
          <p:nvPr/>
        </p:nvSpPr>
        <p:spPr bwMode="auto">
          <a:xfrm>
            <a:off x="847725" y="1492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败者树实现置换-选择排序</a:t>
            </a:r>
          </a:p>
        </p:txBody>
      </p:sp>
      <p:cxnSp>
        <p:nvCxnSpPr>
          <p:cNvPr id="244777" name="直接箭头连接符 41"/>
          <p:cNvCxnSpPr/>
          <p:nvPr/>
        </p:nvCxnSpPr>
        <p:spPr>
          <a:xfrm>
            <a:off x="2928938" y="1930400"/>
            <a:ext cx="2733675" cy="2235200"/>
          </a:xfrm>
          <a:prstGeom prst="straightConnector1">
            <a:avLst/>
          </a:prstGeom>
          <a:ln w="38100" cap="flat" cmpd="sng">
            <a:solidFill>
              <a:schemeClr val="tx1"/>
            </a:solidFill>
            <a:prstDash val="solid"/>
            <a:headEnd type="none" w="med" len="med"/>
            <a:tailEnd type="triangle" w="med" len="med"/>
          </a:ln>
        </p:spPr>
      </p:cxnSp>
    </p:spTree>
  </p:cSld>
  <p:clrMapOvr>
    <a:masterClrMapping/>
  </p:clrMapOvr>
  <p:transition>
    <p:wipe dir="d"/>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Line 2"/>
          <p:cNvSpPr>
            <a:spLocks noChangeShapeType="1"/>
          </p:cNvSpPr>
          <p:nvPr/>
        </p:nvSpPr>
        <p:spPr bwMode="auto">
          <a:xfrm>
            <a:off x="2668588" y="1889125"/>
            <a:ext cx="0" cy="457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78" name="Line 3"/>
          <p:cNvSpPr>
            <a:spLocks noChangeShapeType="1"/>
          </p:cNvSpPr>
          <p:nvPr/>
        </p:nvSpPr>
        <p:spPr bwMode="auto">
          <a:xfrm flipH="1">
            <a:off x="1906588" y="2422525"/>
            <a:ext cx="6096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79" name="Line 4"/>
          <p:cNvSpPr>
            <a:spLocks noChangeShapeType="1"/>
          </p:cNvSpPr>
          <p:nvPr/>
        </p:nvSpPr>
        <p:spPr bwMode="auto">
          <a:xfrm>
            <a:off x="2820988" y="2422525"/>
            <a:ext cx="7620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80" name="Oval 5"/>
          <p:cNvSpPr>
            <a:spLocks noChangeArrowheads="1"/>
          </p:cNvSpPr>
          <p:nvPr/>
        </p:nvSpPr>
        <p:spPr bwMode="auto">
          <a:xfrm>
            <a:off x="2439988" y="2193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9381" name="Text Box 6"/>
          <p:cNvSpPr txBox="1">
            <a:spLocks noChangeArrowheads="1"/>
          </p:cNvSpPr>
          <p:nvPr/>
        </p:nvSpPr>
        <p:spPr bwMode="auto">
          <a:xfrm>
            <a:off x="611188" y="409892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82" name="Line 7"/>
          <p:cNvSpPr>
            <a:spLocks noChangeShapeType="1"/>
          </p:cNvSpPr>
          <p:nvPr/>
        </p:nvSpPr>
        <p:spPr bwMode="auto">
          <a:xfrm flipH="1">
            <a:off x="1144588" y="3260725"/>
            <a:ext cx="5334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83" name="Line 8"/>
          <p:cNvSpPr>
            <a:spLocks noChangeShapeType="1"/>
          </p:cNvSpPr>
          <p:nvPr/>
        </p:nvSpPr>
        <p:spPr bwMode="auto">
          <a:xfrm flipH="1">
            <a:off x="3201988" y="3108325"/>
            <a:ext cx="381000" cy="685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84" name="Line 9"/>
          <p:cNvSpPr>
            <a:spLocks noChangeShapeType="1"/>
          </p:cNvSpPr>
          <p:nvPr/>
        </p:nvSpPr>
        <p:spPr bwMode="auto">
          <a:xfrm>
            <a:off x="3506788" y="3108325"/>
            <a:ext cx="533400" cy="685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85" name="Line 10"/>
          <p:cNvSpPr>
            <a:spLocks noChangeShapeType="1"/>
          </p:cNvSpPr>
          <p:nvPr/>
        </p:nvSpPr>
        <p:spPr bwMode="auto">
          <a:xfrm>
            <a:off x="1830388" y="3260725"/>
            <a:ext cx="533400" cy="5334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86" name="Line 11"/>
          <p:cNvSpPr>
            <a:spLocks noChangeShapeType="1"/>
          </p:cNvSpPr>
          <p:nvPr/>
        </p:nvSpPr>
        <p:spPr bwMode="auto">
          <a:xfrm flipH="1">
            <a:off x="839788" y="4022725"/>
            <a:ext cx="228600"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87" name="Line 12"/>
          <p:cNvSpPr>
            <a:spLocks noChangeShapeType="1"/>
          </p:cNvSpPr>
          <p:nvPr/>
        </p:nvSpPr>
        <p:spPr bwMode="auto">
          <a:xfrm>
            <a:off x="1220788" y="4022725"/>
            <a:ext cx="228600" cy="381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88" name="Line 13"/>
          <p:cNvSpPr>
            <a:spLocks noChangeShapeType="1"/>
          </p:cNvSpPr>
          <p:nvPr/>
        </p:nvSpPr>
        <p:spPr bwMode="auto">
          <a:xfrm flipH="1">
            <a:off x="2058988" y="4022725"/>
            <a:ext cx="228600"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89" name="Line 14"/>
          <p:cNvSpPr>
            <a:spLocks noChangeShapeType="1"/>
          </p:cNvSpPr>
          <p:nvPr/>
        </p:nvSpPr>
        <p:spPr bwMode="auto">
          <a:xfrm>
            <a:off x="2439988" y="4022725"/>
            <a:ext cx="228600" cy="381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90" name="Oval 15"/>
          <p:cNvSpPr>
            <a:spLocks noChangeArrowheads="1"/>
          </p:cNvSpPr>
          <p:nvPr/>
        </p:nvSpPr>
        <p:spPr bwMode="auto">
          <a:xfrm>
            <a:off x="3354388" y="2955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9391" name="Oval 16"/>
          <p:cNvSpPr>
            <a:spLocks noChangeArrowheads="1"/>
          </p:cNvSpPr>
          <p:nvPr/>
        </p:nvSpPr>
        <p:spPr bwMode="auto">
          <a:xfrm>
            <a:off x="1525588" y="2955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9392" name="Oval 19"/>
          <p:cNvSpPr>
            <a:spLocks noChangeArrowheads="1"/>
          </p:cNvSpPr>
          <p:nvPr/>
        </p:nvSpPr>
        <p:spPr bwMode="auto">
          <a:xfrm>
            <a:off x="2135188" y="3717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229393" name="Oval 20"/>
          <p:cNvSpPr>
            <a:spLocks noChangeArrowheads="1"/>
          </p:cNvSpPr>
          <p:nvPr/>
        </p:nvSpPr>
        <p:spPr bwMode="auto">
          <a:xfrm>
            <a:off x="915988" y="3717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9394" name="Rectangle 21"/>
          <p:cNvSpPr>
            <a:spLocks noChangeArrowheads="1"/>
          </p:cNvSpPr>
          <p:nvPr/>
        </p:nvSpPr>
        <p:spPr bwMode="auto">
          <a:xfrm>
            <a:off x="5440363" y="4116388"/>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229396" name="Text Box 23"/>
          <p:cNvSpPr txBox="1">
            <a:spLocks noChangeArrowheads="1"/>
          </p:cNvSpPr>
          <p:nvPr/>
        </p:nvSpPr>
        <p:spPr bwMode="auto">
          <a:xfrm>
            <a:off x="2897188" y="348932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97" name="Text Box 24"/>
          <p:cNvSpPr txBox="1">
            <a:spLocks noChangeArrowheads="1"/>
          </p:cNvSpPr>
          <p:nvPr/>
        </p:nvSpPr>
        <p:spPr bwMode="auto">
          <a:xfrm>
            <a:off x="4040188" y="348932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398" name="Oval 25"/>
          <p:cNvSpPr>
            <a:spLocks noChangeArrowheads="1"/>
          </p:cNvSpPr>
          <p:nvPr/>
        </p:nvSpPr>
        <p:spPr bwMode="auto">
          <a:xfrm>
            <a:off x="2439988" y="16605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29399" name="Rectangle 26"/>
          <p:cNvSpPr>
            <a:spLocks noChangeArrowheads="1"/>
          </p:cNvSpPr>
          <p:nvPr/>
        </p:nvSpPr>
        <p:spPr bwMode="auto">
          <a:xfrm>
            <a:off x="3921125" y="2192338"/>
            <a:ext cx="4876800" cy="3810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51、49、39、46、38、29、14、61、15</a:t>
            </a:r>
          </a:p>
        </p:txBody>
      </p:sp>
      <p:sp>
        <p:nvSpPr>
          <p:cNvPr id="229400" name="Rectangle 27"/>
          <p:cNvSpPr>
            <a:spLocks noChangeArrowheads="1"/>
          </p:cNvSpPr>
          <p:nvPr/>
        </p:nvSpPr>
        <p:spPr bwMode="auto">
          <a:xfrm>
            <a:off x="611188" y="440372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46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9401" name="Rectangle 28"/>
          <p:cNvSpPr>
            <a:spLocks noChangeArrowheads="1"/>
          </p:cNvSpPr>
          <p:nvPr/>
        </p:nvSpPr>
        <p:spPr bwMode="auto">
          <a:xfrm>
            <a:off x="1144588" y="440372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39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9402" name="Rectangle 29"/>
          <p:cNvSpPr>
            <a:spLocks noChangeArrowheads="1"/>
          </p:cNvSpPr>
          <p:nvPr/>
        </p:nvSpPr>
        <p:spPr bwMode="auto">
          <a:xfrm>
            <a:off x="1830388" y="440372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9403" name="Rectangle 30"/>
          <p:cNvSpPr>
            <a:spLocks noChangeArrowheads="1"/>
          </p:cNvSpPr>
          <p:nvPr/>
        </p:nvSpPr>
        <p:spPr bwMode="auto">
          <a:xfrm>
            <a:off x="2363788" y="440372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51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9404" name="Line 31"/>
          <p:cNvSpPr>
            <a:spLocks noChangeShapeType="1"/>
          </p:cNvSpPr>
          <p:nvPr/>
        </p:nvSpPr>
        <p:spPr bwMode="auto">
          <a:xfrm>
            <a:off x="1830388" y="493712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405" name="Rectangle 32"/>
          <p:cNvSpPr>
            <a:spLocks noChangeArrowheads="1"/>
          </p:cNvSpPr>
          <p:nvPr/>
        </p:nvSpPr>
        <p:spPr bwMode="auto">
          <a:xfrm>
            <a:off x="2973388" y="379412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14</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229406" name="Line 33"/>
          <p:cNvSpPr>
            <a:spLocks noChangeShapeType="1"/>
          </p:cNvSpPr>
          <p:nvPr/>
        </p:nvSpPr>
        <p:spPr bwMode="auto">
          <a:xfrm>
            <a:off x="1144588" y="493712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407" name="Rectangle 34"/>
          <p:cNvSpPr>
            <a:spLocks noChangeArrowheads="1"/>
          </p:cNvSpPr>
          <p:nvPr/>
        </p:nvSpPr>
        <p:spPr bwMode="auto">
          <a:xfrm>
            <a:off x="3887788" y="379412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29408" name="Line 35"/>
          <p:cNvSpPr>
            <a:spLocks noChangeShapeType="1"/>
          </p:cNvSpPr>
          <p:nvPr/>
        </p:nvSpPr>
        <p:spPr bwMode="auto">
          <a:xfrm>
            <a:off x="611188" y="493712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409" name="Line 36"/>
          <p:cNvSpPr>
            <a:spLocks noChangeShapeType="1"/>
          </p:cNvSpPr>
          <p:nvPr/>
        </p:nvSpPr>
        <p:spPr bwMode="auto">
          <a:xfrm>
            <a:off x="2363788" y="493712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410" name="Line 37"/>
          <p:cNvSpPr>
            <a:spLocks noChangeShapeType="1"/>
          </p:cNvSpPr>
          <p:nvPr/>
        </p:nvSpPr>
        <p:spPr bwMode="auto">
          <a:xfrm>
            <a:off x="2973388" y="432752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411" name="Line 38"/>
          <p:cNvSpPr>
            <a:spLocks noChangeShapeType="1"/>
          </p:cNvSpPr>
          <p:nvPr/>
        </p:nvSpPr>
        <p:spPr bwMode="auto">
          <a:xfrm>
            <a:off x="3887788" y="432752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412" name="Text Box 39"/>
          <p:cNvSpPr txBox="1">
            <a:spLocks noChangeArrowheads="1"/>
          </p:cNvSpPr>
          <p:nvPr/>
        </p:nvSpPr>
        <p:spPr bwMode="auto">
          <a:xfrm>
            <a:off x="2287588" y="409892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413" name="Text Box 40"/>
          <p:cNvSpPr txBox="1">
            <a:spLocks noChangeArrowheads="1"/>
          </p:cNvSpPr>
          <p:nvPr/>
        </p:nvSpPr>
        <p:spPr bwMode="auto">
          <a:xfrm>
            <a:off x="1830388" y="409892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414" name="Text Box 41"/>
          <p:cNvSpPr txBox="1">
            <a:spLocks noChangeArrowheads="1"/>
          </p:cNvSpPr>
          <p:nvPr/>
        </p:nvSpPr>
        <p:spPr bwMode="auto">
          <a:xfrm>
            <a:off x="1068388" y="409892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29415" name="Line 42"/>
          <p:cNvSpPr>
            <a:spLocks noChangeShapeType="1"/>
          </p:cNvSpPr>
          <p:nvPr/>
        </p:nvSpPr>
        <p:spPr bwMode="auto">
          <a:xfrm>
            <a:off x="7807325" y="2420938"/>
            <a:ext cx="914400" cy="0"/>
          </a:xfrm>
          <a:prstGeom prst="line">
            <a:avLst/>
          </a:prstGeom>
          <a:noFill/>
          <a:ln w="28575"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1" name="Rectangle 6"/>
          <p:cNvSpPr>
            <a:spLocks noChangeArrowheads="1"/>
          </p:cNvSpPr>
          <p:nvPr/>
        </p:nvSpPr>
        <p:spPr bwMode="auto">
          <a:xfrm>
            <a:off x="847725" y="1492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败者树实现置换-选择排序</a:t>
            </a:r>
          </a:p>
        </p:txBody>
      </p:sp>
      <p:cxnSp>
        <p:nvCxnSpPr>
          <p:cNvPr id="246825" name="直接箭头连接符 41"/>
          <p:cNvCxnSpPr/>
          <p:nvPr/>
        </p:nvCxnSpPr>
        <p:spPr>
          <a:xfrm>
            <a:off x="2897188" y="1851025"/>
            <a:ext cx="2733675" cy="2235200"/>
          </a:xfrm>
          <a:prstGeom prst="straightConnector1">
            <a:avLst/>
          </a:prstGeom>
          <a:ln w="38100" cap="flat" cmpd="sng">
            <a:solidFill>
              <a:schemeClr val="tx1"/>
            </a:solidFill>
            <a:prstDash val="solid"/>
            <a:headEnd type="none" w="med" len="med"/>
            <a:tailEnd type="triangle" w="med" len="med"/>
          </a:ln>
        </p:spPr>
      </p:cxnSp>
    </p:spTree>
  </p:cSld>
  <p:clrMapOvr>
    <a:masterClrMapping/>
  </p:clrMapOvr>
  <p:transition>
    <p:wipe dir="d"/>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5" name="Line 2"/>
          <p:cNvSpPr>
            <a:spLocks noChangeShapeType="1"/>
          </p:cNvSpPr>
          <p:nvPr/>
        </p:nvSpPr>
        <p:spPr bwMode="auto">
          <a:xfrm>
            <a:off x="2743200" y="1828800"/>
            <a:ext cx="0" cy="457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26" name="Line 3"/>
          <p:cNvSpPr>
            <a:spLocks noChangeShapeType="1"/>
          </p:cNvSpPr>
          <p:nvPr/>
        </p:nvSpPr>
        <p:spPr bwMode="auto">
          <a:xfrm flipH="1">
            <a:off x="1981200" y="2362200"/>
            <a:ext cx="6096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27" name="Line 4"/>
          <p:cNvSpPr>
            <a:spLocks noChangeShapeType="1"/>
          </p:cNvSpPr>
          <p:nvPr/>
        </p:nvSpPr>
        <p:spPr bwMode="auto">
          <a:xfrm>
            <a:off x="2895600" y="2362200"/>
            <a:ext cx="7620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28" name="Oval 5"/>
          <p:cNvSpPr>
            <a:spLocks noChangeArrowheads="1"/>
          </p:cNvSpPr>
          <p:nvPr/>
        </p:nvSpPr>
        <p:spPr bwMode="auto">
          <a:xfrm>
            <a:off x="2514600" y="2133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1429" name="Text Box 6"/>
          <p:cNvSpPr txBox="1">
            <a:spLocks noChangeArrowheads="1"/>
          </p:cNvSpPr>
          <p:nvPr/>
        </p:nvSpPr>
        <p:spPr bwMode="auto">
          <a:xfrm>
            <a:off x="685800" y="40386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30" name="Line 7"/>
          <p:cNvSpPr>
            <a:spLocks noChangeShapeType="1"/>
          </p:cNvSpPr>
          <p:nvPr/>
        </p:nvSpPr>
        <p:spPr bwMode="auto">
          <a:xfrm flipH="1">
            <a:off x="1219200" y="3200400"/>
            <a:ext cx="5334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31" name="Line 8"/>
          <p:cNvSpPr>
            <a:spLocks noChangeShapeType="1"/>
          </p:cNvSpPr>
          <p:nvPr/>
        </p:nvSpPr>
        <p:spPr bwMode="auto">
          <a:xfrm flipH="1">
            <a:off x="3276600" y="3048000"/>
            <a:ext cx="381000" cy="685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32" name="Line 9"/>
          <p:cNvSpPr>
            <a:spLocks noChangeShapeType="1"/>
          </p:cNvSpPr>
          <p:nvPr/>
        </p:nvSpPr>
        <p:spPr bwMode="auto">
          <a:xfrm>
            <a:off x="3581400" y="3048000"/>
            <a:ext cx="533400" cy="685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33" name="Line 10"/>
          <p:cNvSpPr>
            <a:spLocks noChangeShapeType="1"/>
          </p:cNvSpPr>
          <p:nvPr/>
        </p:nvSpPr>
        <p:spPr bwMode="auto">
          <a:xfrm>
            <a:off x="1905000" y="3200400"/>
            <a:ext cx="533400" cy="5334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34" name="Line 11"/>
          <p:cNvSpPr>
            <a:spLocks noChangeShapeType="1"/>
          </p:cNvSpPr>
          <p:nvPr/>
        </p:nvSpPr>
        <p:spPr bwMode="auto">
          <a:xfrm flipH="1">
            <a:off x="914400" y="3962400"/>
            <a:ext cx="228600"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35" name="Line 12"/>
          <p:cNvSpPr>
            <a:spLocks noChangeShapeType="1"/>
          </p:cNvSpPr>
          <p:nvPr/>
        </p:nvSpPr>
        <p:spPr bwMode="auto">
          <a:xfrm>
            <a:off x="1295400" y="3962400"/>
            <a:ext cx="228600" cy="381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36" name="Line 13"/>
          <p:cNvSpPr>
            <a:spLocks noChangeShapeType="1"/>
          </p:cNvSpPr>
          <p:nvPr/>
        </p:nvSpPr>
        <p:spPr bwMode="auto">
          <a:xfrm flipH="1">
            <a:off x="2133600" y="3962400"/>
            <a:ext cx="228600"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37" name="Line 14"/>
          <p:cNvSpPr>
            <a:spLocks noChangeShapeType="1"/>
          </p:cNvSpPr>
          <p:nvPr/>
        </p:nvSpPr>
        <p:spPr bwMode="auto">
          <a:xfrm>
            <a:off x="2514600" y="3962400"/>
            <a:ext cx="228600" cy="381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38" name="Oval 15"/>
          <p:cNvSpPr>
            <a:spLocks noChangeArrowheads="1"/>
          </p:cNvSpPr>
          <p:nvPr/>
        </p:nvSpPr>
        <p:spPr bwMode="auto">
          <a:xfrm>
            <a:off x="3429000" y="2895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1439" name="Oval 16"/>
          <p:cNvSpPr>
            <a:spLocks noChangeArrowheads="1"/>
          </p:cNvSpPr>
          <p:nvPr/>
        </p:nvSpPr>
        <p:spPr bwMode="auto">
          <a:xfrm>
            <a:off x="1600200" y="2895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1440" name="Oval 19"/>
          <p:cNvSpPr>
            <a:spLocks noChangeArrowheads="1"/>
          </p:cNvSpPr>
          <p:nvPr/>
        </p:nvSpPr>
        <p:spPr bwMode="auto">
          <a:xfrm>
            <a:off x="2209800" y="3657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231441" name="Oval 20"/>
          <p:cNvSpPr>
            <a:spLocks noChangeArrowheads="1"/>
          </p:cNvSpPr>
          <p:nvPr/>
        </p:nvSpPr>
        <p:spPr bwMode="auto">
          <a:xfrm>
            <a:off x="990600" y="3657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1442" name="Rectangle 21"/>
          <p:cNvSpPr>
            <a:spLocks noChangeArrowheads="1"/>
          </p:cNvSpPr>
          <p:nvPr/>
        </p:nvSpPr>
        <p:spPr bwMode="auto">
          <a:xfrm>
            <a:off x="5514975" y="4038600"/>
            <a:ext cx="381000" cy="1905000"/>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231444" name="Text Box 23"/>
          <p:cNvSpPr txBox="1">
            <a:spLocks noChangeArrowheads="1"/>
          </p:cNvSpPr>
          <p:nvPr/>
        </p:nvSpPr>
        <p:spPr bwMode="auto">
          <a:xfrm>
            <a:off x="2971800" y="34290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45" name="Text Box 24"/>
          <p:cNvSpPr txBox="1">
            <a:spLocks noChangeArrowheads="1"/>
          </p:cNvSpPr>
          <p:nvPr/>
        </p:nvSpPr>
        <p:spPr bwMode="auto">
          <a:xfrm>
            <a:off x="4114800" y="34290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46" name="Oval 25"/>
          <p:cNvSpPr>
            <a:spLocks noChangeArrowheads="1"/>
          </p:cNvSpPr>
          <p:nvPr/>
        </p:nvSpPr>
        <p:spPr bwMode="auto">
          <a:xfrm>
            <a:off x="2514600" y="16002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1447" name="Rectangle 26"/>
          <p:cNvSpPr>
            <a:spLocks noChangeArrowheads="1"/>
          </p:cNvSpPr>
          <p:nvPr/>
        </p:nvSpPr>
        <p:spPr bwMode="auto">
          <a:xfrm>
            <a:off x="4114800" y="1963738"/>
            <a:ext cx="4876800" cy="3810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51、49、39、46、38、29、14、61、15</a:t>
            </a:r>
          </a:p>
        </p:txBody>
      </p:sp>
      <p:sp>
        <p:nvSpPr>
          <p:cNvPr id="231448" name="Rectangle 27"/>
          <p:cNvSpPr>
            <a:spLocks noChangeArrowheads="1"/>
          </p:cNvSpPr>
          <p:nvPr/>
        </p:nvSpPr>
        <p:spPr bwMode="auto">
          <a:xfrm>
            <a:off x="685800" y="43434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46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31449" name="Rectangle 28"/>
          <p:cNvSpPr>
            <a:spLocks noChangeArrowheads="1"/>
          </p:cNvSpPr>
          <p:nvPr/>
        </p:nvSpPr>
        <p:spPr bwMode="auto">
          <a:xfrm>
            <a:off x="1219200" y="43434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39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31450" name="Rectangle 29"/>
          <p:cNvSpPr>
            <a:spLocks noChangeArrowheads="1"/>
          </p:cNvSpPr>
          <p:nvPr/>
        </p:nvSpPr>
        <p:spPr bwMode="auto">
          <a:xfrm>
            <a:off x="1905000" y="43434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31451" name="Rectangle 30"/>
          <p:cNvSpPr>
            <a:spLocks noChangeArrowheads="1"/>
          </p:cNvSpPr>
          <p:nvPr/>
        </p:nvSpPr>
        <p:spPr bwMode="auto">
          <a:xfrm>
            <a:off x="2438400" y="43434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51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31452" name="Line 31"/>
          <p:cNvSpPr>
            <a:spLocks noChangeShapeType="1"/>
          </p:cNvSpPr>
          <p:nvPr/>
        </p:nvSpPr>
        <p:spPr bwMode="auto">
          <a:xfrm>
            <a:off x="1905000" y="48768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53" name="Rectangle 32"/>
          <p:cNvSpPr>
            <a:spLocks noChangeArrowheads="1"/>
          </p:cNvSpPr>
          <p:nvPr/>
        </p:nvSpPr>
        <p:spPr bwMode="auto">
          <a:xfrm>
            <a:off x="3048000" y="37338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14</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231454" name="Line 33"/>
          <p:cNvSpPr>
            <a:spLocks noChangeShapeType="1"/>
          </p:cNvSpPr>
          <p:nvPr/>
        </p:nvSpPr>
        <p:spPr bwMode="auto">
          <a:xfrm>
            <a:off x="1219200" y="48768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55" name="Rectangle 34"/>
          <p:cNvSpPr>
            <a:spLocks noChangeArrowheads="1"/>
          </p:cNvSpPr>
          <p:nvPr/>
        </p:nvSpPr>
        <p:spPr bwMode="auto">
          <a:xfrm>
            <a:off x="3962400" y="3733800"/>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61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31456" name="Line 35"/>
          <p:cNvSpPr>
            <a:spLocks noChangeShapeType="1"/>
          </p:cNvSpPr>
          <p:nvPr/>
        </p:nvSpPr>
        <p:spPr bwMode="auto">
          <a:xfrm>
            <a:off x="685800" y="48768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57" name="Line 36"/>
          <p:cNvSpPr>
            <a:spLocks noChangeShapeType="1"/>
          </p:cNvSpPr>
          <p:nvPr/>
        </p:nvSpPr>
        <p:spPr bwMode="auto">
          <a:xfrm>
            <a:off x="2438400" y="48768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58" name="Line 37"/>
          <p:cNvSpPr>
            <a:spLocks noChangeShapeType="1"/>
          </p:cNvSpPr>
          <p:nvPr/>
        </p:nvSpPr>
        <p:spPr bwMode="auto">
          <a:xfrm>
            <a:off x="3048000" y="42672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59" name="Line 38"/>
          <p:cNvSpPr>
            <a:spLocks noChangeShapeType="1"/>
          </p:cNvSpPr>
          <p:nvPr/>
        </p:nvSpPr>
        <p:spPr bwMode="auto">
          <a:xfrm>
            <a:off x="3962400" y="4267200"/>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60" name="Text Box 39"/>
          <p:cNvSpPr txBox="1">
            <a:spLocks noChangeArrowheads="1"/>
          </p:cNvSpPr>
          <p:nvPr/>
        </p:nvSpPr>
        <p:spPr bwMode="auto">
          <a:xfrm>
            <a:off x="2362200" y="40386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61" name="Text Box 40"/>
          <p:cNvSpPr txBox="1">
            <a:spLocks noChangeArrowheads="1"/>
          </p:cNvSpPr>
          <p:nvPr/>
        </p:nvSpPr>
        <p:spPr bwMode="auto">
          <a:xfrm>
            <a:off x="1905000" y="40386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62" name="Text Box 41"/>
          <p:cNvSpPr txBox="1">
            <a:spLocks noChangeArrowheads="1"/>
          </p:cNvSpPr>
          <p:nvPr/>
        </p:nvSpPr>
        <p:spPr bwMode="auto">
          <a:xfrm>
            <a:off x="1143000" y="4038600"/>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1463" name="Line 42"/>
          <p:cNvSpPr>
            <a:spLocks noChangeShapeType="1"/>
          </p:cNvSpPr>
          <p:nvPr/>
        </p:nvSpPr>
        <p:spPr bwMode="auto">
          <a:xfrm>
            <a:off x="8001000" y="2192338"/>
            <a:ext cx="914400" cy="0"/>
          </a:xfrm>
          <a:prstGeom prst="line">
            <a:avLst/>
          </a:prstGeom>
          <a:noFill/>
          <a:ln w="28575"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1" name="Rectangle 6"/>
          <p:cNvSpPr>
            <a:spLocks noChangeArrowheads="1"/>
          </p:cNvSpPr>
          <p:nvPr/>
        </p:nvSpPr>
        <p:spPr bwMode="auto">
          <a:xfrm>
            <a:off x="847725" y="1492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败者树实现置换-选择排序</a:t>
            </a:r>
          </a:p>
        </p:txBody>
      </p:sp>
      <p:cxnSp>
        <p:nvCxnSpPr>
          <p:cNvPr id="248873" name="直接箭头连接符 41"/>
          <p:cNvCxnSpPr>
            <a:stCxn id="231446" idx="6"/>
          </p:cNvCxnSpPr>
          <p:nvPr/>
        </p:nvCxnSpPr>
        <p:spPr>
          <a:xfrm>
            <a:off x="2971800" y="1790700"/>
            <a:ext cx="2733675" cy="2236788"/>
          </a:xfrm>
          <a:prstGeom prst="straightConnector1">
            <a:avLst/>
          </a:prstGeom>
          <a:ln w="38100" cap="flat" cmpd="sng">
            <a:solidFill>
              <a:schemeClr val="tx1"/>
            </a:solidFill>
            <a:prstDash val="solid"/>
            <a:headEnd type="none" w="med" len="med"/>
            <a:tailEnd type="triangle" w="med" len="med"/>
          </a:ln>
        </p:spPr>
      </p:cxnSp>
    </p:spTree>
  </p:cSld>
  <p:clrMapOvr>
    <a:masterClrMapping/>
  </p:clrMapOvr>
  <p:transition>
    <p:wipe dir="d"/>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Line 2"/>
          <p:cNvSpPr>
            <a:spLocks noChangeShapeType="1"/>
          </p:cNvSpPr>
          <p:nvPr/>
        </p:nvSpPr>
        <p:spPr bwMode="auto">
          <a:xfrm>
            <a:off x="2743200" y="1641475"/>
            <a:ext cx="0" cy="457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74" name="Line 3"/>
          <p:cNvSpPr>
            <a:spLocks noChangeShapeType="1"/>
          </p:cNvSpPr>
          <p:nvPr/>
        </p:nvSpPr>
        <p:spPr bwMode="auto">
          <a:xfrm flipH="1">
            <a:off x="1981200" y="2174875"/>
            <a:ext cx="6096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75" name="Line 4"/>
          <p:cNvSpPr>
            <a:spLocks noChangeShapeType="1"/>
          </p:cNvSpPr>
          <p:nvPr/>
        </p:nvSpPr>
        <p:spPr bwMode="auto">
          <a:xfrm>
            <a:off x="2895600" y="2174875"/>
            <a:ext cx="7620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76" name="Oval 5"/>
          <p:cNvSpPr>
            <a:spLocks noChangeArrowheads="1"/>
          </p:cNvSpPr>
          <p:nvPr/>
        </p:nvSpPr>
        <p:spPr bwMode="auto">
          <a:xfrm>
            <a:off x="2514600" y="1946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3477" name="Text Box 6"/>
          <p:cNvSpPr txBox="1">
            <a:spLocks noChangeArrowheads="1"/>
          </p:cNvSpPr>
          <p:nvPr/>
        </p:nvSpPr>
        <p:spPr bwMode="auto">
          <a:xfrm>
            <a:off x="685800" y="385127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78" name="Line 7"/>
          <p:cNvSpPr>
            <a:spLocks noChangeShapeType="1"/>
          </p:cNvSpPr>
          <p:nvPr/>
        </p:nvSpPr>
        <p:spPr bwMode="auto">
          <a:xfrm flipH="1">
            <a:off x="1219200" y="3013075"/>
            <a:ext cx="533400" cy="609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79" name="Line 8"/>
          <p:cNvSpPr>
            <a:spLocks noChangeShapeType="1"/>
          </p:cNvSpPr>
          <p:nvPr/>
        </p:nvSpPr>
        <p:spPr bwMode="auto">
          <a:xfrm flipH="1">
            <a:off x="3276600" y="2860675"/>
            <a:ext cx="381000" cy="685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80" name="Line 9"/>
          <p:cNvSpPr>
            <a:spLocks noChangeShapeType="1"/>
          </p:cNvSpPr>
          <p:nvPr/>
        </p:nvSpPr>
        <p:spPr bwMode="auto">
          <a:xfrm>
            <a:off x="3581400" y="2860675"/>
            <a:ext cx="533400" cy="685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81" name="Line 10"/>
          <p:cNvSpPr>
            <a:spLocks noChangeShapeType="1"/>
          </p:cNvSpPr>
          <p:nvPr/>
        </p:nvSpPr>
        <p:spPr bwMode="auto">
          <a:xfrm>
            <a:off x="1905000" y="3013075"/>
            <a:ext cx="533400" cy="5334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82" name="Line 11"/>
          <p:cNvSpPr>
            <a:spLocks noChangeShapeType="1"/>
          </p:cNvSpPr>
          <p:nvPr/>
        </p:nvSpPr>
        <p:spPr bwMode="auto">
          <a:xfrm flipH="1">
            <a:off x="914400" y="3775075"/>
            <a:ext cx="228600"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83" name="Line 12"/>
          <p:cNvSpPr>
            <a:spLocks noChangeShapeType="1"/>
          </p:cNvSpPr>
          <p:nvPr/>
        </p:nvSpPr>
        <p:spPr bwMode="auto">
          <a:xfrm>
            <a:off x="1295400" y="3775075"/>
            <a:ext cx="228600" cy="381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84" name="Line 13"/>
          <p:cNvSpPr>
            <a:spLocks noChangeShapeType="1"/>
          </p:cNvSpPr>
          <p:nvPr/>
        </p:nvSpPr>
        <p:spPr bwMode="auto">
          <a:xfrm flipH="1">
            <a:off x="2133600" y="3775075"/>
            <a:ext cx="228600" cy="381000"/>
          </a:xfrm>
          <a:prstGeom prst="line">
            <a:avLst/>
          </a:prstGeom>
          <a:noFill/>
          <a:ln w="28575">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85" name="Line 14"/>
          <p:cNvSpPr>
            <a:spLocks noChangeShapeType="1"/>
          </p:cNvSpPr>
          <p:nvPr/>
        </p:nvSpPr>
        <p:spPr bwMode="auto">
          <a:xfrm>
            <a:off x="2514600" y="3775075"/>
            <a:ext cx="228600" cy="381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86" name="Oval 15"/>
          <p:cNvSpPr>
            <a:spLocks noChangeArrowheads="1"/>
          </p:cNvSpPr>
          <p:nvPr/>
        </p:nvSpPr>
        <p:spPr bwMode="auto">
          <a:xfrm>
            <a:off x="3429000" y="2708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3487" name="Oval 16"/>
          <p:cNvSpPr>
            <a:spLocks noChangeArrowheads="1"/>
          </p:cNvSpPr>
          <p:nvPr/>
        </p:nvSpPr>
        <p:spPr bwMode="auto">
          <a:xfrm>
            <a:off x="1600200" y="2708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3488" name="Oval 19"/>
          <p:cNvSpPr>
            <a:spLocks noChangeArrowheads="1"/>
          </p:cNvSpPr>
          <p:nvPr/>
        </p:nvSpPr>
        <p:spPr bwMode="auto">
          <a:xfrm>
            <a:off x="2209800" y="3470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233489" name="Oval 20"/>
          <p:cNvSpPr>
            <a:spLocks noChangeArrowheads="1"/>
          </p:cNvSpPr>
          <p:nvPr/>
        </p:nvSpPr>
        <p:spPr bwMode="auto">
          <a:xfrm>
            <a:off x="990600" y="3470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3490" name="Rectangle 21"/>
          <p:cNvSpPr>
            <a:spLocks noChangeArrowheads="1"/>
          </p:cNvSpPr>
          <p:nvPr/>
        </p:nvSpPr>
        <p:spPr bwMode="auto">
          <a:xfrm>
            <a:off x="5497513" y="4079875"/>
            <a:ext cx="381000" cy="2124075"/>
          </a:xfrm>
          <a:prstGeom prst="rect">
            <a:avLst/>
          </a:prstGeom>
          <a:solidFill>
            <a:srgbClr val="FFFFFF"/>
          </a:solidFill>
          <a:ln w="1905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29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38</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39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400" b="1" i="0" u="none" strike="noStrike" kern="1200" cap="none" spc="0" normalizeH="0" baseline="0" noProof="0">
                <a:ln>
                  <a:noFill/>
                </a:ln>
                <a:solidFill>
                  <a:schemeClr val="tx1"/>
                </a:solidFill>
                <a:effectLst/>
                <a:uLnTx/>
                <a:uFillTx/>
                <a:latin typeface="+mn-lt"/>
                <a:ea typeface="+mn-ea"/>
                <a:cs typeface="+mn-ea"/>
                <a:sym typeface="+mn-lt"/>
              </a:rPr>
              <a:t>46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1" i="0" u="none" strike="noStrike" kern="1200" cap="none" spc="0" normalizeH="0" baseline="0" noProof="0">
              <a:ln>
                <a:noFill/>
              </a:ln>
              <a:solidFill>
                <a:schemeClr val="tx1"/>
              </a:solidFill>
              <a:effectLst/>
              <a:uLnTx/>
              <a:uFillTx/>
              <a:latin typeface="+mn-lt"/>
              <a:ea typeface="+mn-ea"/>
              <a:cs typeface="+mn-ea"/>
              <a:sym typeface="+mn-lt"/>
            </a:endParaRP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folHlink"/>
              </a:solidFill>
              <a:effectLst/>
              <a:uLnTx/>
              <a:uFillTx/>
              <a:latin typeface="+mn-lt"/>
              <a:ea typeface="+mn-ea"/>
              <a:cs typeface="+mn-ea"/>
              <a:sym typeface="+mn-lt"/>
            </a:endParaRPr>
          </a:p>
        </p:txBody>
      </p:sp>
      <p:sp>
        <p:nvSpPr>
          <p:cNvPr id="233492" name="Text Box 23"/>
          <p:cNvSpPr txBox="1">
            <a:spLocks noChangeArrowheads="1"/>
          </p:cNvSpPr>
          <p:nvPr/>
        </p:nvSpPr>
        <p:spPr bwMode="auto">
          <a:xfrm>
            <a:off x="2971800" y="324167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0</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93" name="Text Box 24"/>
          <p:cNvSpPr txBox="1">
            <a:spLocks noChangeArrowheads="1"/>
          </p:cNvSpPr>
          <p:nvPr/>
        </p:nvSpPr>
        <p:spPr bwMode="auto">
          <a:xfrm>
            <a:off x="4114800" y="324167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494" name="Oval 25"/>
          <p:cNvSpPr>
            <a:spLocks noChangeArrowheads="1"/>
          </p:cNvSpPr>
          <p:nvPr/>
        </p:nvSpPr>
        <p:spPr bwMode="auto">
          <a:xfrm>
            <a:off x="2514600" y="14128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3495" name="Rectangle 26"/>
          <p:cNvSpPr>
            <a:spLocks noChangeArrowheads="1"/>
          </p:cNvSpPr>
          <p:nvPr/>
        </p:nvSpPr>
        <p:spPr bwMode="auto">
          <a:xfrm>
            <a:off x="3952875" y="2027238"/>
            <a:ext cx="4876800" cy="3810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51、49、39、46、38、29、14、61、15</a:t>
            </a:r>
          </a:p>
        </p:txBody>
      </p:sp>
      <p:sp>
        <p:nvSpPr>
          <p:cNvPr id="233496" name="Rectangle 27"/>
          <p:cNvSpPr>
            <a:spLocks noChangeArrowheads="1"/>
          </p:cNvSpPr>
          <p:nvPr/>
        </p:nvSpPr>
        <p:spPr bwMode="auto">
          <a:xfrm>
            <a:off x="685800" y="415607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46</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33497" name="Rectangle 28"/>
          <p:cNvSpPr>
            <a:spLocks noChangeArrowheads="1"/>
          </p:cNvSpPr>
          <p:nvPr/>
        </p:nvSpPr>
        <p:spPr bwMode="auto">
          <a:xfrm>
            <a:off x="1219200" y="415607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15</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233498" name="Rectangle 29"/>
          <p:cNvSpPr>
            <a:spLocks noChangeArrowheads="1"/>
          </p:cNvSpPr>
          <p:nvPr/>
        </p:nvSpPr>
        <p:spPr bwMode="auto">
          <a:xfrm>
            <a:off x="1905000" y="415607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49</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33499" name="Rectangle 30"/>
          <p:cNvSpPr>
            <a:spLocks noChangeArrowheads="1"/>
          </p:cNvSpPr>
          <p:nvPr/>
        </p:nvSpPr>
        <p:spPr bwMode="auto">
          <a:xfrm>
            <a:off x="2438400" y="415607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51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33500" name="Line 31"/>
          <p:cNvSpPr>
            <a:spLocks noChangeShapeType="1"/>
          </p:cNvSpPr>
          <p:nvPr/>
        </p:nvSpPr>
        <p:spPr bwMode="auto">
          <a:xfrm>
            <a:off x="1905000" y="468947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01" name="Rectangle 32"/>
          <p:cNvSpPr>
            <a:spLocks noChangeArrowheads="1"/>
          </p:cNvSpPr>
          <p:nvPr/>
        </p:nvSpPr>
        <p:spPr bwMode="auto">
          <a:xfrm>
            <a:off x="3048000" y="354647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14</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233502" name="Line 33"/>
          <p:cNvSpPr>
            <a:spLocks noChangeShapeType="1"/>
          </p:cNvSpPr>
          <p:nvPr/>
        </p:nvSpPr>
        <p:spPr bwMode="auto">
          <a:xfrm>
            <a:off x="1219200" y="468947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03" name="Rectangle 34"/>
          <p:cNvSpPr>
            <a:spLocks noChangeArrowheads="1"/>
          </p:cNvSpPr>
          <p:nvPr/>
        </p:nvSpPr>
        <p:spPr bwMode="auto">
          <a:xfrm>
            <a:off x="3962400" y="3546475"/>
            <a:ext cx="457200" cy="1066800"/>
          </a:xfrm>
          <a:prstGeom prst="rect">
            <a:avLst/>
          </a:prstGeom>
          <a:solidFill>
            <a:srgbClr val="FFFFFF"/>
          </a:solidFill>
          <a:ln w="38100">
            <a:solidFill>
              <a:srgbClr val="000000"/>
            </a:solidFill>
            <a:miter lim="800000"/>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61</a:t>
            </a:r>
          </a:p>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33504" name="Line 35"/>
          <p:cNvSpPr>
            <a:spLocks noChangeShapeType="1"/>
          </p:cNvSpPr>
          <p:nvPr/>
        </p:nvSpPr>
        <p:spPr bwMode="auto">
          <a:xfrm>
            <a:off x="685800" y="468947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05" name="Line 36"/>
          <p:cNvSpPr>
            <a:spLocks noChangeShapeType="1"/>
          </p:cNvSpPr>
          <p:nvPr/>
        </p:nvSpPr>
        <p:spPr bwMode="auto">
          <a:xfrm>
            <a:off x="2438400" y="468947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06" name="Line 37"/>
          <p:cNvSpPr>
            <a:spLocks noChangeShapeType="1"/>
          </p:cNvSpPr>
          <p:nvPr/>
        </p:nvSpPr>
        <p:spPr bwMode="auto">
          <a:xfrm>
            <a:off x="3048000" y="407987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07" name="Line 38"/>
          <p:cNvSpPr>
            <a:spLocks noChangeShapeType="1"/>
          </p:cNvSpPr>
          <p:nvPr/>
        </p:nvSpPr>
        <p:spPr bwMode="auto">
          <a:xfrm>
            <a:off x="3962400" y="4079875"/>
            <a:ext cx="457200" cy="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08" name="Text Box 39"/>
          <p:cNvSpPr txBox="1">
            <a:spLocks noChangeArrowheads="1"/>
          </p:cNvSpPr>
          <p:nvPr/>
        </p:nvSpPr>
        <p:spPr bwMode="auto">
          <a:xfrm>
            <a:off x="2362200" y="385127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09" name="Text Box 40"/>
          <p:cNvSpPr txBox="1">
            <a:spLocks noChangeArrowheads="1"/>
          </p:cNvSpPr>
          <p:nvPr/>
        </p:nvSpPr>
        <p:spPr bwMode="auto">
          <a:xfrm>
            <a:off x="1905000" y="385127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4</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10" name="Text Box 41"/>
          <p:cNvSpPr txBox="1">
            <a:spLocks noChangeArrowheads="1"/>
          </p:cNvSpPr>
          <p:nvPr/>
        </p:nvSpPr>
        <p:spPr bwMode="auto">
          <a:xfrm>
            <a:off x="1143000" y="3851275"/>
            <a:ext cx="4572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11" name="Line 42"/>
          <p:cNvSpPr>
            <a:spLocks noChangeShapeType="1"/>
          </p:cNvSpPr>
          <p:nvPr/>
        </p:nvSpPr>
        <p:spPr bwMode="auto">
          <a:xfrm>
            <a:off x="7839075" y="2255838"/>
            <a:ext cx="914400" cy="0"/>
          </a:xfrm>
          <a:prstGeom prst="line">
            <a:avLst/>
          </a:prstGeom>
          <a:noFill/>
          <a:ln w="28575"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12" name="Line 43"/>
          <p:cNvSpPr>
            <a:spLocks noChangeShapeType="1"/>
          </p:cNvSpPr>
          <p:nvPr/>
        </p:nvSpPr>
        <p:spPr bwMode="auto">
          <a:xfrm>
            <a:off x="5713413" y="5545138"/>
            <a:ext cx="0" cy="533400"/>
          </a:xfrm>
          <a:prstGeom prst="line">
            <a:avLst/>
          </a:prstGeom>
          <a:noFill/>
          <a:ln w="28575" cap="rnd">
            <a:solidFill>
              <a:srgbClr val="000000"/>
            </a:solidFill>
            <a:prstDash val="sysDot"/>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3513" name="Text Box 44"/>
          <p:cNvSpPr txBox="1">
            <a:spLocks noChangeArrowheads="1"/>
          </p:cNvSpPr>
          <p:nvPr/>
        </p:nvSpPr>
        <p:spPr bwMode="auto">
          <a:xfrm>
            <a:off x="6108700" y="4079875"/>
            <a:ext cx="2371725" cy="2124075"/>
          </a:xfrm>
          <a:prstGeom prst="rect">
            <a:avLst/>
          </a:prstGeom>
          <a:noFill/>
          <a:ln w="9525">
            <a:solidFill>
              <a:schemeClr val="accent1">
                <a:lumMod val="60000"/>
                <a:lumOff val="40000"/>
              </a:schemeClr>
            </a:solid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1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注意：在全部的 </a:t>
            </a:r>
          </a:p>
          <a:p>
            <a:pPr marL="0" marR="0" lvl="0" indent="0" algn="l" defTabSz="914400" rtl="0" eaLnBrk="0" fontAlgn="base" latinLnBrk="0" hangingPunct="0">
              <a:lnSpc>
                <a:spcPct val="11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段号标志变成 2 </a:t>
            </a:r>
          </a:p>
          <a:p>
            <a:pPr marL="0" marR="0" lvl="0" indent="0" algn="l" defTabSz="914400" rtl="0" eaLnBrk="0" fontAlgn="base" latinLnBrk="0" hangingPunct="0">
              <a:lnSpc>
                <a:spcPct val="11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之后，合并段 1 </a:t>
            </a:r>
          </a:p>
          <a:p>
            <a:pPr marL="0" marR="0" lvl="0" indent="0" algn="l" defTabSz="914400" rtl="0" eaLnBrk="0" fontAlgn="base" latinLnBrk="0" hangingPunct="0">
              <a:lnSpc>
                <a:spcPct val="11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的记录已全部生</a:t>
            </a:r>
          </a:p>
          <a:p>
            <a:pPr marL="0" marR="0" lvl="0" indent="0" algn="l" defTabSz="914400" rtl="0" eaLnBrk="0" fontAlgn="base" latinLnBrk="0" hangingPunct="0">
              <a:lnSpc>
                <a:spcPct val="110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成。</a:t>
            </a:r>
          </a:p>
        </p:txBody>
      </p:sp>
      <p:sp>
        <p:nvSpPr>
          <p:cNvPr id="233514" name="Text Box 45"/>
          <p:cNvSpPr txBox="1">
            <a:spLocks noChangeArrowheads="1"/>
          </p:cNvSpPr>
          <p:nvPr/>
        </p:nvSpPr>
        <p:spPr bwMode="auto">
          <a:xfrm>
            <a:off x="1219200" y="5746750"/>
            <a:ext cx="3810000" cy="457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0000CC"/>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rgbClr val="0000CC"/>
                </a:solidFill>
                <a:effectLst/>
                <a:uLnTx/>
                <a:uFillTx/>
                <a:latin typeface="+mn-lt"/>
                <a:ea typeface="+mn-ea"/>
                <a:cs typeface="+mn-ea"/>
                <a:sym typeface="+mn-lt"/>
              </a:rPr>
              <a:t>K </a:t>
            </a:r>
            <a:r>
              <a:rPr kumimoji="0" lang="zh-CN" altLang="zh-CN" sz="2400" b="0" i="0" u="none" strike="noStrike" kern="1200" cap="none" spc="0" normalizeH="0" baseline="0" noProof="0" dirty="0">
                <a:ln>
                  <a:noFill/>
                </a:ln>
                <a:solidFill>
                  <a:srgbClr val="0000CC"/>
                </a:solidFill>
                <a:effectLst/>
                <a:uLnTx/>
                <a:uFillTx/>
                <a:latin typeface="+mn-lt"/>
                <a:ea typeface="+mn-ea"/>
                <a:cs typeface="+mn-ea"/>
                <a:sym typeface="+mn-lt"/>
              </a:rPr>
              <a:t>值越大越好吗！</a:t>
            </a:r>
            <a:endParaRPr kumimoji="0" lang="zh-CN" altLang="en-US" sz="1600" b="0" i="0" u="none" strike="noStrike" kern="1200" cap="none" spc="0" normalizeH="0" baseline="0" noProof="0" dirty="0">
              <a:ln>
                <a:noFill/>
              </a:ln>
              <a:solidFill>
                <a:srgbClr val="0000CC"/>
              </a:solidFill>
              <a:effectLst/>
              <a:uLnTx/>
              <a:uFillTx/>
              <a:latin typeface="+mn-lt"/>
              <a:ea typeface="+mn-ea"/>
              <a:cs typeface="+mn-ea"/>
              <a:sym typeface="+mn-lt"/>
            </a:endParaRPr>
          </a:p>
        </p:txBody>
      </p:sp>
      <p:sp>
        <p:nvSpPr>
          <p:cNvPr id="47" name="Rectangle 6"/>
          <p:cNvSpPr>
            <a:spLocks noChangeArrowheads="1"/>
          </p:cNvSpPr>
          <p:nvPr/>
        </p:nvSpPr>
        <p:spPr bwMode="auto">
          <a:xfrm>
            <a:off x="847725" y="149225"/>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败者树实现置换-选择排序</a:t>
            </a:r>
          </a:p>
        </p:txBody>
      </p:sp>
      <p:cxnSp>
        <p:nvCxnSpPr>
          <p:cNvPr id="250924" name="直接箭头连接符 2"/>
          <p:cNvCxnSpPr>
            <a:stCxn id="233494" idx="5"/>
          </p:cNvCxnSpPr>
          <p:nvPr/>
        </p:nvCxnSpPr>
        <p:spPr>
          <a:xfrm>
            <a:off x="2905125" y="1738313"/>
            <a:ext cx="2800350" cy="2289175"/>
          </a:xfrm>
          <a:prstGeom prst="straightConnector1">
            <a:avLst/>
          </a:prstGeom>
          <a:ln w="38100" cap="flat" cmpd="sng">
            <a:solidFill>
              <a:schemeClr val="tx1"/>
            </a:solidFill>
            <a:prstDash val="solid"/>
            <a:headEnd type="none" w="med" len="med"/>
            <a:tailEnd type="triangle" w="med" len="med"/>
          </a:ln>
        </p:spPr>
      </p:cxnSp>
    </p:spTree>
  </p:cSld>
  <p:clrMapOvr>
    <a:masterClrMapping/>
  </p:clrMapOvr>
  <p:transition>
    <p:wipe dir="d"/>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
          <p:cNvSpPr>
            <a:spLocks noChangeArrowheads="1"/>
          </p:cNvSpPr>
          <p:nvPr/>
        </p:nvSpPr>
        <p:spPr bwMode="auto">
          <a:xfrm>
            <a:off x="827088" y="14605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最佳归并树</a:t>
            </a:r>
          </a:p>
        </p:txBody>
      </p:sp>
      <p:grpSp>
        <p:nvGrpSpPr>
          <p:cNvPr id="5" name="组合 4"/>
          <p:cNvGrpSpPr/>
          <p:nvPr/>
        </p:nvGrpSpPr>
        <p:grpSpPr>
          <a:xfrm>
            <a:off x="5740400" y="2647950"/>
            <a:ext cx="2360613" cy="3122613"/>
            <a:chOff x="4561682" y="2200808"/>
            <a:chExt cx="3219450" cy="4258901"/>
          </a:xfrm>
        </p:grpSpPr>
        <p:sp>
          <p:nvSpPr>
            <p:cNvPr id="6" name="i$liḋe-Oval 12"/>
            <p:cNvSpPr/>
            <p:nvPr/>
          </p:nvSpPr>
          <p:spPr bwMode="auto">
            <a:xfrm>
              <a:off x="4996860" y="2200808"/>
              <a:ext cx="2284141" cy="2284261"/>
            </a:xfrm>
            <a:prstGeom prst="ellipse">
              <a:avLst/>
            </a:prstGeom>
            <a:solidFill>
              <a:srgbClr val="4F81BD"/>
            </a:solidFill>
            <a:ln w="50800">
              <a:solidFill>
                <a:sysClr val="windowText" lastClr="000000">
                  <a:alpha val="0"/>
                </a:sysClr>
              </a:solidFill>
              <a:miter lim="800000"/>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 </a:t>
              </a:r>
              <a:r>
                <a:rPr kumimoji="0" lang="zh-CN" altLang="en-US" sz="28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目的</a:t>
              </a:r>
            </a:p>
          </p:txBody>
        </p:sp>
        <p:sp>
          <p:nvSpPr>
            <p:cNvPr id="7" name="i$liḋe-Oval 14"/>
            <p:cNvSpPr/>
            <p:nvPr/>
          </p:nvSpPr>
          <p:spPr bwMode="auto">
            <a:xfrm>
              <a:off x="4561682" y="3049557"/>
              <a:ext cx="326925" cy="324776"/>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 name="i$liḋe-Oval 15"/>
            <p:cNvSpPr/>
            <p:nvPr/>
          </p:nvSpPr>
          <p:spPr bwMode="auto">
            <a:xfrm>
              <a:off x="5878041" y="4355158"/>
              <a:ext cx="543432" cy="543458"/>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 name="i$liḋe-Oval 16"/>
            <p:cNvSpPr/>
            <p:nvPr/>
          </p:nvSpPr>
          <p:spPr bwMode="auto">
            <a:xfrm>
              <a:off x="6856649" y="2222460"/>
              <a:ext cx="173205" cy="173214"/>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0" name="i$liḋe-Oval 17"/>
            <p:cNvSpPr/>
            <p:nvPr/>
          </p:nvSpPr>
          <p:spPr bwMode="auto">
            <a:xfrm>
              <a:off x="7118623" y="3909132"/>
              <a:ext cx="402702" cy="400557"/>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1" name="i$liḋe-Oval 18"/>
            <p:cNvSpPr/>
            <p:nvPr/>
          </p:nvSpPr>
          <p:spPr bwMode="auto">
            <a:xfrm>
              <a:off x="7291828" y="2939134"/>
              <a:ext cx="489304" cy="489330"/>
            </a:xfrm>
            <a:prstGeom prst="ellipse">
              <a:avLst/>
            </a:prstGeom>
            <a:solidFill>
              <a:sysClr val="window" lastClr="FFFFFF">
                <a:lumMod val="75000"/>
                <a:alpha val="20000"/>
              </a:sysClr>
            </a:solidFill>
            <a:ln w="50800">
              <a:solidFill>
                <a:sysClr val="windowText" lastClr="000000">
                  <a:alpha val="0"/>
                </a:sysClr>
              </a:solidFill>
              <a:miter lim="800000"/>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2" name="îṣļîḑé-TextBox 36"/>
            <p:cNvSpPr txBox="1"/>
            <p:nvPr/>
          </p:nvSpPr>
          <p:spPr bwMode="auto">
            <a:xfrm>
              <a:off x="4724062" y="5117300"/>
              <a:ext cx="3057070" cy="1342409"/>
            </a:xfrm>
            <a:prstGeom prst="rect">
              <a:avLst/>
            </a:prstGeom>
            <a:noFill/>
          </p:spPr>
          <p:txBody>
            <a:bodyPr lIns="90000" tIns="46800" rIns="90000" bIns="46800" anchor="ctr" anchorCtr="1"/>
            <a:lstStyle/>
            <a:p>
              <a:pPr marR="0" defTabSz="914400" eaLnBrk="1" fontAlgn="auto" hangingPunct="1">
                <a:lnSpc>
                  <a:spcPct val="120000"/>
                </a:lnSpc>
                <a:spcBef>
                  <a:spcPts val="0"/>
                </a:spcBef>
                <a:spcAft>
                  <a:spcPts val="0"/>
                </a:spcAft>
                <a:buClrTx/>
                <a:buSzTx/>
                <a:buFontTx/>
                <a:buNone/>
                <a:defRPr/>
              </a:pP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减少读写外存的次数。</a:t>
              </a:r>
            </a:p>
          </p:txBody>
        </p:sp>
      </p:grpSp>
      <p:grpSp>
        <p:nvGrpSpPr>
          <p:cNvPr id="13" name="组合 12"/>
          <p:cNvGrpSpPr/>
          <p:nvPr/>
        </p:nvGrpSpPr>
        <p:grpSpPr>
          <a:xfrm>
            <a:off x="841375" y="1293813"/>
            <a:ext cx="3548063" cy="4554537"/>
            <a:chOff x="267298" y="1929345"/>
            <a:chExt cx="4839674" cy="6210770"/>
          </a:xfrm>
        </p:grpSpPr>
        <p:sp>
          <p:nvSpPr>
            <p:cNvPr id="14" name="i$liḋe-Oval 4"/>
            <p:cNvSpPr/>
            <p:nvPr/>
          </p:nvSpPr>
          <p:spPr bwMode="auto">
            <a:xfrm>
              <a:off x="1562208" y="2262722"/>
              <a:ext cx="2219538" cy="2223234"/>
            </a:xfrm>
            <a:prstGeom prst="ellipse">
              <a:avLst/>
            </a:prstGeom>
            <a:solidFill>
              <a:srgbClr val="8064A2"/>
            </a:solidFill>
            <a:ln w="50800" cap="flat">
              <a:solidFill>
                <a:sysClr val="windowText" lastClr="000000">
                  <a:alpha val="0"/>
                </a:sysClr>
              </a:solidFill>
              <a:prstDash val="solid"/>
              <a:miter lim="800000"/>
              <a:headEnd type="none" w="med" len="med"/>
              <a:tailEnd type="none" w="med" len="med"/>
            </a:ln>
          </p:spPr>
          <p:txBody>
            <a:bodyPr wrap="none" lIns="0" tIns="0" rIns="0" bIns="0" anchor="ctr">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800" b="0" i="0" u="none" strike="noStrike" kern="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cs"/>
                  <a:sym typeface="Arial" panose="020B0604020202020204" pitchFamily="34" charset="0"/>
                </a:rPr>
                <a:t>起因</a:t>
              </a:r>
            </a:p>
          </p:txBody>
        </p:sp>
        <p:sp>
          <p:nvSpPr>
            <p:cNvPr id="15" name="i$liḋe-Oval 6"/>
            <p:cNvSpPr/>
            <p:nvPr/>
          </p:nvSpPr>
          <p:spPr bwMode="auto">
            <a:xfrm>
              <a:off x="3967971" y="3600560"/>
              <a:ext cx="348629" cy="35069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6" name="i$liḋe-Oval 7"/>
            <p:cNvSpPr/>
            <p:nvPr/>
          </p:nvSpPr>
          <p:spPr bwMode="auto">
            <a:xfrm>
              <a:off x="1525397" y="3834357"/>
              <a:ext cx="348629" cy="35069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7" name="i$liḋe-Oval 8"/>
            <p:cNvSpPr/>
            <p:nvPr/>
          </p:nvSpPr>
          <p:spPr bwMode="auto">
            <a:xfrm>
              <a:off x="2012612" y="4362564"/>
              <a:ext cx="601982" cy="60397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8" name="i$liḋe-Oval 9"/>
            <p:cNvSpPr/>
            <p:nvPr/>
          </p:nvSpPr>
          <p:spPr bwMode="auto">
            <a:xfrm>
              <a:off x="2486836" y="1929345"/>
              <a:ext cx="201382" cy="201324"/>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9" name="i$liḋe-Oval 10"/>
            <p:cNvSpPr/>
            <p:nvPr/>
          </p:nvSpPr>
          <p:spPr bwMode="auto">
            <a:xfrm>
              <a:off x="756679" y="3109153"/>
              <a:ext cx="433080" cy="435123"/>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0" name="îṣļîḑé-TextBox 44"/>
            <p:cNvSpPr txBox="1"/>
            <p:nvPr/>
          </p:nvSpPr>
          <p:spPr bwMode="auto">
            <a:xfrm>
              <a:off x="267298" y="5115910"/>
              <a:ext cx="4839674" cy="3024205"/>
            </a:xfrm>
            <a:prstGeom prst="rect">
              <a:avLst/>
            </a:prstGeom>
            <a:noFill/>
          </p:spPr>
          <p:txBody>
            <a:bodyPr lIns="90000" tIns="46800" rIns="90000" bIns="46800" anchor="ctr" anchorCtr="1"/>
            <a:lstStyle/>
            <a:p>
              <a:pPr marR="0" defTabSz="914400" eaLnBrk="1" fontAlgn="auto" hangingPunct="1">
                <a:lnSpc>
                  <a:spcPct val="120000"/>
                </a:lnSpc>
                <a:spcBef>
                  <a:spcPts val="0"/>
                </a:spcBef>
                <a:spcAft>
                  <a:spcPts val="0"/>
                </a:spcAft>
                <a:buClrTx/>
                <a:buSzTx/>
                <a:buFontTx/>
                <a:buNone/>
                <a:defRPr/>
              </a:pP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由于初始归并段通常不等长</a:t>
              </a:r>
              <a:r>
                <a:rPr kumimoji="0" lang="en-US" altLang="zh-CN"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a:t>
              </a: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进行归并时</a:t>
              </a:r>
              <a:r>
                <a:rPr kumimoji="0" lang="en-US" altLang="zh-CN"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a:t>
              </a: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长度不同的初始归并段归并的顺序不同</a:t>
              </a:r>
              <a:r>
                <a:rPr kumimoji="0" lang="en-US" altLang="zh-CN"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a:t>
              </a:r>
              <a:r>
                <a:rPr kumimoji="0" lang="zh-CN" altLang="en-US" sz="2400" b="0" kern="0" cap="none" spc="0" normalizeH="0" baseline="0" noProof="0" dirty="0">
                  <a:solidFill>
                    <a:prstClr val="black">
                      <a:lumMod val="85000"/>
                      <a:lumOff val="15000"/>
                    </a:prstClr>
                  </a:solidFill>
                  <a:latin typeface="Arial" panose="020B0604020202020204" pitchFamily="34" charset="0"/>
                  <a:ea typeface="微软雅黑" panose="020B0503020204020204" pitchFamily="34" charset="-122"/>
                  <a:cs typeface="+mn-cs"/>
                  <a:sym typeface="Arial" panose="020B0604020202020204" pitchFamily="34" charset="0"/>
                </a:rPr>
                <a:t>读写外存的总次数也不同。</a:t>
              </a:r>
            </a:p>
          </p:txBody>
        </p:sp>
      </p:grpSp>
    </p:spTree>
  </p:cSld>
  <p:clrMapOvr>
    <a:masterClrMapping/>
  </p:clrMapOvr>
  <p:transition>
    <p:wipe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矩形 1"/>
          <p:cNvSpPr/>
          <p:nvPr/>
        </p:nvSpPr>
        <p:spPr>
          <a:xfrm>
            <a:off x="0" y="2817813"/>
            <a:ext cx="9144000" cy="3924300"/>
          </a:xfrm>
          <a:prstGeom prst="rect">
            <a:avLst/>
          </a:prstGeom>
          <a:solidFill>
            <a:srgbClr val="CCCCFF"/>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37569" name="Line 2"/>
          <p:cNvSpPr>
            <a:spLocks noChangeShapeType="1"/>
          </p:cNvSpPr>
          <p:nvPr/>
        </p:nvSpPr>
        <p:spPr bwMode="auto">
          <a:xfrm flipH="1">
            <a:off x="2122488" y="3355975"/>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0" name="Line 3"/>
          <p:cNvSpPr>
            <a:spLocks noChangeShapeType="1"/>
          </p:cNvSpPr>
          <p:nvPr/>
        </p:nvSpPr>
        <p:spPr bwMode="auto">
          <a:xfrm flipH="1">
            <a:off x="5699125" y="3355975"/>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1" name="Line 4"/>
          <p:cNvSpPr>
            <a:spLocks noChangeShapeType="1"/>
          </p:cNvSpPr>
          <p:nvPr/>
        </p:nvSpPr>
        <p:spPr bwMode="auto">
          <a:xfrm>
            <a:off x="4860925" y="3355975"/>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2" name="Line 5"/>
          <p:cNvSpPr>
            <a:spLocks noChangeShapeType="1"/>
          </p:cNvSpPr>
          <p:nvPr/>
        </p:nvSpPr>
        <p:spPr bwMode="auto">
          <a:xfrm>
            <a:off x="1360488" y="3355975"/>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3" name="Line 6"/>
          <p:cNvSpPr>
            <a:spLocks noChangeShapeType="1"/>
          </p:cNvSpPr>
          <p:nvPr/>
        </p:nvSpPr>
        <p:spPr bwMode="auto">
          <a:xfrm>
            <a:off x="3048000" y="3355975"/>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4" name="Line 7"/>
          <p:cNvSpPr>
            <a:spLocks noChangeShapeType="1"/>
          </p:cNvSpPr>
          <p:nvPr/>
        </p:nvSpPr>
        <p:spPr bwMode="auto">
          <a:xfrm>
            <a:off x="1589088" y="411797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5" name="Line 8"/>
          <p:cNvSpPr>
            <a:spLocks noChangeShapeType="1"/>
          </p:cNvSpPr>
          <p:nvPr/>
        </p:nvSpPr>
        <p:spPr bwMode="auto">
          <a:xfrm>
            <a:off x="3352800" y="411797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6" name="Line 9"/>
          <p:cNvSpPr>
            <a:spLocks noChangeShapeType="1"/>
          </p:cNvSpPr>
          <p:nvPr/>
        </p:nvSpPr>
        <p:spPr bwMode="auto">
          <a:xfrm>
            <a:off x="5165725" y="411797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7" name="Line 10"/>
          <p:cNvSpPr>
            <a:spLocks noChangeShapeType="1"/>
          </p:cNvSpPr>
          <p:nvPr/>
        </p:nvSpPr>
        <p:spPr bwMode="auto">
          <a:xfrm flipH="1">
            <a:off x="5470525" y="3355975"/>
            <a:ext cx="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8" name="Line 11"/>
          <p:cNvSpPr>
            <a:spLocks noChangeShapeType="1"/>
          </p:cNvSpPr>
          <p:nvPr/>
        </p:nvSpPr>
        <p:spPr bwMode="auto">
          <a:xfrm flipH="1">
            <a:off x="3886200" y="3355975"/>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79" name="Line 12"/>
          <p:cNvSpPr>
            <a:spLocks noChangeShapeType="1"/>
          </p:cNvSpPr>
          <p:nvPr/>
        </p:nvSpPr>
        <p:spPr bwMode="auto">
          <a:xfrm flipH="1">
            <a:off x="3581400" y="3355975"/>
            <a:ext cx="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80" name="Line 13"/>
          <p:cNvSpPr>
            <a:spLocks noChangeShapeType="1"/>
          </p:cNvSpPr>
          <p:nvPr/>
        </p:nvSpPr>
        <p:spPr bwMode="auto">
          <a:xfrm flipH="1">
            <a:off x="1893888" y="3355975"/>
            <a:ext cx="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81" name="Freeform 14"/>
          <p:cNvSpPr>
            <a:spLocks noChangeArrowheads="1"/>
          </p:cNvSpPr>
          <p:nvPr/>
        </p:nvSpPr>
        <p:spPr bwMode="auto">
          <a:xfrm>
            <a:off x="1530350" y="2425700"/>
            <a:ext cx="2320925" cy="392113"/>
          </a:xfrm>
          <a:custGeom>
            <a:avLst/>
            <a:gdLst>
              <a:gd name="T0" fmla="*/ 0 w 1462"/>
              <a:gd name="T1" fmla="*/ 0 h 247"/>
              <a:gd name="T2" fmla="*/ 567 w 1462"/>
              <a:gd name="T3" fmla="*/ 94 h 247"/>
              <a:gd name="T4" fmla="*/ 749 w 1462"/>
              <a:gd name="T5" fmla="*/ 131 h 247"/>
              <a:gd name="T6" fmla="*/ 866 w 1462"/>
              <a:gd name="T7" fmla="*/ 160 h 247"/>
              <a:gd name="T8" fmla="*/ 1156 w 1462"/>
              <a:gd name="T9" fmla="*/ 167 h 247"/>
              <a:gd name="T10" fmla="*/ 1266 w 1462"/>
              <a:gd name="T11" fmla="*/ 218 h 247"/>
              <a:gd name="T12" fmla="*/ 1418 w 1462"/>
              <a:gd name="T13" fmla="*/ 232 h 247"/>
              <a:gd name="T14" fmla="*/ 1462 w 1462"/>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2" h="247">
                <a:moveTo>
                  <a:pt x="0" y="0"/>
                </a:moveTo>
                <a:cubicBezTo>
                  <a:pt x="175" y="84"/>
                  <a:pt x="375" y="87"/>
                  <a:pt x="567" y="94"/>
                </a:cubicBezTo>
                <a:cubicBezTo>
                  <a:pt x="628" y="105"/>
                  <a:pt x="689" y="117"/>
                  <a:pt x="749" y="131"/>
                </a:cubicBezTo>
                <a:cubicBezTo>
                  <a:pt x="788" y="140"/>
                  <a:pt x="826" y="158"/>
                  <a:pt x="866" y="160"/>
                </a:cubicBezTo>
                <a:cubicBezTo>
                  <a:pt x="963" y="164"/>
                  <a:pt x="1059" y="165"/>
                  <a:pt x="1156" y="167"/>
                </a:cubicBezTo>
                <a:cubicBezTo>
                  <a:pt x="1209" y="184"/>
                  <a:pt x="1171" y="171"/>
                  <a:pt x="1266" y="218"/>
                </a:cubicBezTo>
                <a:cubicBezTo>
                  <a:pt x="1312" y="241"/>
                  <a:pt x="1367" y="227"/>
                  <a:pt x="1418" y="232"/>
                </a:cubicBezTo>
                <a:cubicBezTo>
                  <a:pt x="1452" y="241"/>
                  <a:pt x="1438" y="236"/>
                  <a:pt x="1462" y="247"/>
                </a:cubicBezTo>
              </a:path>
            </a:pathLst>
          </a:custGeom>
          <a:noFill/>
          <a:ln>
            <a:noFill/>
          </a:ln>
        </p:spPr>
        <p:txBody>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82" name="Text Box 15"/>
          <p:cNvSpPr txBox="1">
            <a:spLocks noChangeArrowheads="1"/>
          </p:cNvSpPr>
          <p:nvPr/>
        </p:nvSpPr>
        <p:spPr bwMode="auto">
          <a:xfrm>
            <a:off x="381000" y="946150"/>
            <a:ext cx="8229600" cy="14779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rgbClr val="FF0000"/>
                </a:solidFill>
                <a:effectLst/>
                <a:uLnTx/>
                <a:uFillTx/>
                <a:latin typeface="+mn-lt"/>
                <a:ea typeface="+mn-ea"/>
                <a:cs typeface="+mn-ea"/>
                <a:sym typeface="+mn-lt"/>
              </a:rPr>
              <a:t>e.g</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假定由置换－选择分类法生成了 9 个初始归并段</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，记录数分别为 9、30、12、18、3、17、2、6、24 。如果进行 3-路归并，请讨论在各种情况下的对外存的读写次数。</a:t>
            </a:r>
          </a:p>
        </p:txBody>
      </p:sp>
      <p:sp>
        <p:nvSpPr>
          <p:cNvPr id="237583" name="Oval 16"/>
          <p:cNvSpPr>
            <a:spLocks noChangeArrowheads="1"/>
          </p:cNvSpPr>
          <p:nvPr/>
        </p:nvSpPr>
        <p:spPr bwMode="auto">
          <a:xfrm>
            <a:off x="1665288"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30</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7584" name="Oval 17"/>
          <p:cNvSpPr>
            <a:spLocks noChangeArrowheads="1"/>
          </p:cNvSpPr>
          <p:nvPr/>
        </p:nvSpPr>
        <p:spPr bwMode="auto">
          <a:xfrm>
            <a:off x="2198688"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7585" name="Oval 18"/>
          <p:cNvSpPr>
            <a:spLocks noChangeArrowheads="1"/>
          </p:cNvSpPr>
          <p:nvPr/>
        </p:nvSpPr>
        <p:spPr bwMode="auto">
          <a:xfrm>
            <a:off x="1131888"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7586" name="Oval 19"/>
          <p:cNvSpPr>
            <a:spLocks noChangeArrowheads="1"/>
          </p:cNvSpPr>
          <p:nvPr/>
        </p:nvSpPr>
        <p:spPr bwMode="auto">
          <a:xfrm>
            <a:off x="3352800"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7587" name="Oval 20"/>
          <p:cNvSpPr>
            <a:spLocks noChangeArrowheads="1"/>
          </p:cNvSpPr>
          <p:nvPr/>
        </p:nvSpPr>
        <p:spPr bwMode="auto">
          <a:xfrm>
            <a:off x="3886200"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17</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7588" name="Oval 21"/>
          <p:cNvSpPr>
            <a:spLocks noChangeArrowheads="1"/>
          </p:cNvSpPr>
          <p:nvPr/>
        </p:nvSpPr>
        <p:spPr bwMode="auto">
          <a:xfrm>
            <a:off x="2819400"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18</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7589" name="Oval 22"/>
          <p:cNvSpPr>
            <a:spLocks noChangeArrowheads="1"/>
          </p:cNvSpPr>
          <p:nvPr/>
        </p:nvSpPr>
        <p:spPr bwMode="auto">
          <a:xfrm>
            <a:off x="5165725"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7590" name="Oval 23"/>
          <p:cNvSpPr>
            <a:spLocks noChangeArrowheads="1"/>
          </p:cNvSpPr>
          <p:nvPr/>
        </p:nvSpPr>
        <p:spPr bwMode="auto">
          <a:xfrm>
            <a:off x="5699125"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24</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7591" name="Oval 24"/>
          <p:cNvSpPr>
            <a:spLocks noChangeArrowheads="1"/>
          </p:cNvSpPr>
          <p:nvPr/>
        </p:nvSpPr>
        <p:spPr bwMode="auto">
          <a:xfrm>
            <a:off x="4632325"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7592" name="Line 25"/>
          <p:cNvSpPr>
            <a:spLocks noChangeShapeType="1"/>
          </p:cNvSpPr>
          <p:nvPr/>
        </p:nvSpPr>
        <p:spPr bwMode="auto">
          <a:xfrm>
            <a:off x="1589088" y="442277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93" name="Line 26"/>
          <p:cNvSpPr>
            <a:spLocks noChangeShapeType="1"/>
          </p:cNvSpPr>
          <p:nvPr/>
        </p:nvSpPr>
        <p:spPr bwMode="auto">
          <a:xfrm>
            <a:off x="1589088" y="411797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94" name="Line 27"/>
          <p:cNvSpPr>
            <a:spLocks noChangeShapeType="1"/>
          </p:cNvSpPr>
          <p:nvPr/>
        </p:nvSpPr>
        <p:spPr bwMode="auto">
          <a:xfrm>
            <a:off x="2122488" y="411797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95" name="Text Box 28"/>
          <p:cNvSpPr txBox="1">
            <a:spLocks noChangeArrowheads="1"/>
          </p:cNvSpPr>
          <p:nvPr/>
        </p:nvSpPr>
        <p:spPr bwMode="auto">
          <a:xfrm>
            <a:off x="1512888" y="4117975"/>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51</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96" name="Line 29"/>
          <p:cNvSpPr>
            <a:spLocks noChangeShapeType="1"/>
          </p:cNvSpPr>
          <p:nvPr/>
        </p:nvSpPr>
        <p:spPr bwMode="auto">
          <a:xfrm>
            <a:off x="3352800" y="442277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97" name="Line 30"/>
          <p:cNvSpPr>
            <a:spLocks noChangeShapeType="1"/>
          </p:cNvSpPr>
          <p:nvPr/>
        </p:nvSpPr>
        <p:spPr bwMode="auto">
          <a:xfrm>
            <a:off x="3352800" y="411797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98" name="Line 31"/>
          <p:cNvSpPr>
            <a:spLocks noChangeShapeType="1"/>
          </p:cNvSpPr>
          <p:nvPr/>
        </p:nvSpPr>
        <p:spPr bwMode="auto">
          <a:xfrm>
            <a:off x="3886200" y="411797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599" name="Text Box 32"/>
          <p:cNvSpPr txBox="1">
            <a:spLocks noChangeArrowheads="1"/>
          </p:cNvSpPr>
          <p:nvPr/>
        </p:nvSpPr>
        <p:spPr bwMode="auto">
          <a:xfrm>
            <a:off x="3429000" y="4117975"/>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38</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00" name="Line 33"/>
          <p:cNvSpPr>
            <a:spLocks noChangeShapeType="1"/>
          </p:cNvSpPr>
          <p:nvPr/>
        </p:nvSpPr>
        <p:spPr bwMode="auto">
          <a:xfrm>
            <a:off x="5165725" y="442277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01" name="Line 34"/>
          <p:cNvSpPr>
            <a:spLocks noChangeShapeType="1"/>
          </p:cNvSpPr>
          <p:nvPr/>
        </p:nvSpPr>
        <p:spPr bwMode="auto">
          <a:xfrm>
            <a:off x="5165725" y="411797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02" name="Line 35"/>
          <p:cNvSpPr>
            <a:spLocks noChangeShapeType="1"/>
          </p:cNvSpPr>
          <p:nvPr/>
        </p:nvSpPr>
        <p:spPr bwMode="auto">
          <a:xfrm>
            <a:off x="5702300" y="412432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03" name="Text Box 36"/>
          <p:cNvSpPr txBox="1">
            <a:spLocks noChangeArrowheads="1"/>
          </p:cNvSpPr>
          <p:nvPr/>
        </p:nvSpPr>
        <p:spPr bwMode="auto">
          <a:xfrm>
            <a:off x="5165725" y="4117975"/>
            <a:ext cx="457200" cy="338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dirty="0">
                <a:ln>
                  <a:noFill/>
                </a:ln>
                <a:solidFill>
                  <a:schemeClr val="tx1"/>
                </a:solidFill>
                <a:effectLst/>
                <a:uLnTx/>
                <a:uFillTx/>
                <a:latin typeface="+mn-lt"/>
                <a:ea typeface="+mn-ea"/>
                <a:cs typeface="+mn-ea"/>
                <a:sym typeface="+mn-lt"/>
              </a:rPr>
              <a:t> 32</a:t>
            </a:r>
            <a:endPar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237604" name="Line 37"/>
          <p:cNvSpPr>
            <a:spLocks noChangeShapeType="1"/>
          </p:cNvSpPr>
          <p:nvPr/>
        </p:nvSpPr>
        <p:spPr bwMode="auto">
          <a:xfrm>
            <a:off x="3352800" y="541337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05" name="Line 38"/>
          <p:cNvSpPr>
            <a:spLocks noChangeShapeType="1"/>
          </p:cNvSpPr>
          <p:nvPr/>
        </p:nvSpPr>
        <p:spPr bwMode="auto">
          <a:xfrm>
            <a:off x="3352800" y="571817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06" name="Line 39"/>
          <p:cNvSpPr>
            <a:spLocks noChangeShapeType="1"/>
          </p:cNvSpPr>
          <p:nvPr/>
        </p:nvSpPr>
        <p:spPr bwMode="auto">
          <a:xfrm>
            <a:off x="3352800" y="541337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07" name="Text Box 40"/>
          <p:cNvSpPr txBox="1">
            <a:spLocks noChangeArrowheads="1"/>
          </p:cNvSpPr>
          <p:nvPr/>
        </p:nvSpPr>
        <p:spPr bwMode="auto">
          <a:xfrm>
            <a:off x="3352800" y="5413375"/>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121</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08" name="Line 41"/>
          <p:cNvSpPr>
            <a:spLocks noChangeShapeType="1"/>
          </p:cNvSpPr>
          <p:nvPr/>
        </p:nvSpPr>
        <p:spPr bwMode="auto">
          <a:xfrm>
            <a:off x="3886200" y="541337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09" name="Line 42"/>
          <p:cNvSpPr>
            <a:spLocks noChangeShapeType="1"/>
          </p:cNvSpPr>
          <p:nvPr/>
        </p:nvSpPr>
        <p:spPr bwMode="auto">
          <a:xfrm flipH="1">
            <a:off x="3581400" y="4422775"/>
            <a:ext cx="0" cy="9906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10" name="Line 43"/>
          <p:cNvSpPr>
            <a:spLocks noChangeShapeType="1"/>
          </p:cNvSpPr>
          <p:nvPr/>
        </p:nvSpPr>
        <p:spPr bwMode="auto">
          <a:xfrm flipH="1">
            <a:off x="3886200" y="4429125"/>
            <a:ext cx="1371600" cy="98425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11" name="Line 44"/>
          <p:cNvSpPr>
            <a:spLocks noChangeShapeType="1"/>
          </p:cNvSpPr>
          <p:nvPr/>
        </p:nvSpPr>
        <p:spPr bwMode="auto">
          <a:xfrm>
            <a:off x="2108200" y="4438650"/>
            <a:ext cx="1244600" cy="9747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7612" name="Text Box 45"/>
          <p:cNvSpPr txBox="1">
            <a:spLocks noChangeArrowheads="1"/>
          </p:cNvSpPr>
          <p:nvPr/>
        </p:nvSpPr>
        <p:spPr bwMode="auto">
          <a:xfrm>
            <a:off x="6497638" y="3043238"/>
            <a:ext cx="248285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从外存读 121 个记录</a:t>
            </a:r>
          </a:p>
        </p:txBody>
      </p:sp>
      <p:sp>
        <p:nvSpPr>
          <p:cNvPr id="237613" name="Text Box 46"/>
          <p:cNvSpPr txBox="1">
            <a:spLocks noChangeArrowheads="1"/>
          </p:cNvSpPr>
          <p:nvPr/>
        </p:nvSpPr>
        <p:spPr bwMode="auto">
          <a:xfrm>
            <a:off x="6497638" y="3873500"/>
            <a:ext cx="2538413"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写入外存 121 个记录</a:t>
            </a:r>
          </a:p>
        </p:txBody>
      </p:sp>
      <p:sp>
        <p:nvSpPr>
          <p:cNvPr id="237614" name="Text Box 47"/>
          <p:cNvSpPr txBox="1">
            <a:spLocks noChangeArrowheads="1"/>
          </p:cNvSpPr>
          <p:nvPr/>
        </p:nvSpPr>
        <p:spPr bwMode="auto">
          <a:xfrm>
            <a:off x="6497638" y="4264025"/>
            <a:ext cx="2538413"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从外存读 121 个记录</a:t>
            </a:r>
          </a:p>
        </p:txBody>
      </p:sp>
      <p:sp>
        <p:nvSpPr>
          <p:cNvPr id="237615" name="Text Box 48"/>
          <p:cNvSpPr txBox="1">
            <a:spLocks noChangeArrowheads="1"/>
          </p:cNvSpPr>
          <p:nvPr/>
        </p:nvSpPr>
        <p:spPr bwMode="auto">
          <a:xfrm>
            <a:off x="6497638" y="5330825"/>
            <a:ext cx="2505075"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写入外存 121 个记录</a:t>
            </a:r>
          </a:p>
        </p:txBody>
      </p:sp>
      <p:sp>
        <p:nvSpPr>
          <p:cNvPr id="237616" name="Text Box 49"/>
          <p:cNvSpPr txBox="1">
            <a:spLocks noChangeArrowheads="1"/>
          </p:cNvSpPr>
          <p:nvPr/>
        </p:nvSpPr>
        <p:spPr bwMode="auto">
          <a:xfrm>
            <a:off x="169863" y="3043238"/>
            <a:ext cx="6096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A.</a:t>
            </a:r>
            <a:endPar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237617" name="Text Box 50"/>
          <p:cNvSpPr txBox="1">
            <a:spLocks noChangeArrowheads="1"/>
          </p:cNvSpPr>
          <p:nvPr/>
        </p:nvSpPr>
        <p:spPr bwMode="auto">
          <a:xfrm>
            <a:off x="2133600" y="6070600"/>
            <a:ext cx="32004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0000CC"/>
                </a:solidFill>
                <a:effectLst/>
                <a:uLnTx/>
                <a:uFillTx/>
                <a:latin typeface="+mn-lt"/>
                <a:ea typeface="+mn-ea"/>
                <a:cs typeface="+mn-ea"/>
                <a:sym typeface="+mn-lt"/>
              </a:rPr>
              <a:t>总共读写外存 484 个记录</a:t>
            </a:r>
          </a:p>
        </p:txBody>
      </p:sp>
      <p:sp>
        <p:nvSpPr>
          <p:cNvPr id="52" name="Rectangle 6"/>
          <p:cNvSpPr>
            <a:spLocks noChangeArrowheads="1"/>
          </p:cNvSpPr>
          <p:nvPr/>
        </p:nvSpPr>
        <p:spPr bwMode="auto">
          <a:xfrm>
            <a:off x="827088" y="14605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最佳归并树</a:t>
            </a:r>
          </a:p>
        </p:txBody>
      </p:sp>
    </p:spTree>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矩形 51"/>
          <p:cNvSpPr/>
          <p:nvPr/>
        </p:nvSpPr>
        <p:spPr>
          <a:xfrm>
            <a:off x="0" y="1052513"/>
            <a:ext cx="9144000" cy="5564187"/>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38593" name="Line 2"/>
          <p:cNvSpPr>
            <a:spLocks noChangeShapeType="1"/>
          </p:cNvSpPr>
          <p:nvPr/>
        </p:nvSpPr>
        <p:spPr bwMode="auto">
          <a:xfrm>
            <a:off x="793750" y="4173538"/>
            <a:ext cx="1828800" cy="12954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594" name="Line 3"/>
          <p:cNvSpPr>
            <a:spLocks noChangeShapeType="1"/>
          </p:cNvSpPr>
          <p:nvPr/>
        </p:nvSpPr>
        <p:spPr bwMode="auto">
          <a:xfrm>
            <a:off x="2089150" y="2801938"/>
            <a:ext cx="533400" cy="1143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595" name="Line 4"/>
          <p:cNvSpPr>
            <a:spLocks noChangeShapeType="1"/>
          </p:cNvSpPr>
          <p:nvPr/>
        </p:nvSpPr>
        <p:spPr bwMode="auto">
          <a:xfrm flipH="1">
            <a:off x="2927350" y="4249738"/>
            <a:ext cx="0" cy="1219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596" name="Line 5"/>
          <p:cNvSpPr>
            <a:spLocks noChangeShapeType="1"/>
          </p:cNvSpPr>
          <p:nvPr/>
        </p:nvSpPr>
        <p:spPr bwMode="auto">
          <a:xfrm flipH="1">
            <a:off x="3155950" y="1811338"/>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597" name="Line 6"/>
          <p:cNvSpPr>
            <a:spLocks noChangeShapeType="1"/>
          </p:cNvSpPr>
          <p:nvPr/>
        </p:nvSpPr>
        <p:spPr bwMode="auto">
          <a:xfrm flipH="1">
            <a:off x="5746750" y="2878138"/>
            <a:ext cx="228600" cy="1066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598" name="Line 7"/>
          <p:cNvSpPr>
            <a:spLocks noChangeShapeType="1"/>
          </p:cNvSpPr>
          <p:nvPr/>
        </p:nvSpPr>
        <p:spPr bwMode="auto">
          <a:xfrm>
            <a:off x="4832350" y="2801938"/>
            <a:ext cx="381000" cy="1143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599" name="Line 8"/>
          <p:cNvSpPr>
            <a:spLocks noChangeShapeType="1"/>
          </p:cNvSpPr>
          <p:nvPr/>
        </p:nvSpPr>
        <p:spPr bwMode="auto">
          <a:xfrm>
            <a:off x="2393950" y="1811338"/>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00" name="Line 9"/>
          <p:cNvSpPr>
            <a:spLocks noChangeShapeType="1"/>
          </p:cNvSpPr>
          <p:nvPr/>
        </p:nvSpPr>
        <p:spPr bwMode="auto">
          <a:xfrm>
            <a:off x="2622550" y="257333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01" name="Line 10"/>
          <p:cNvSpPr>
            <a:spLocks noChangeShapeType="1"/>
          </p:cNvSpPr>
          <p:nvPr/>
        </p:nvSpPr>
        <p:spPr bwMode="auto">
          <a:xfrm>
            <a:off x="2622550" y="394493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02" name="Line 11"/>
          <p:cNvSpPr>
            <a:spLocks noChangeShapeType="1"/>
          </p:cNvSpPr>
          <p:nvPr/>
        </p:nvSpPr>
        <p:spPr bwMode="auto">
          <a:xfrm>
            <a:off x="5213350" y="394493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03" name="Line 12"/>
          <p:cNvSpPr>
            <a:spLocks noChangeShapeType="1"/>
          </p:cNvSpPr>
          <p:nvPr/>
        </p:nvSpPr>
        <p:spPr bwMode="auto">
          <a:xfrm flipH="1">
            <a:off x="5441950" y="2878138"/>
            <a:ext cx="0" cy="1066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04" name="Line 13"/>
          <p:cNvSpPr>
            <a:spLocks noChangeShapeType="1"/>
          </p:cNvSpPr>
          <p:nvPr/>
        </p:nvSpPr>
        <p:spPr bwMode="auto">
          <a:xfrm flipH="1">
            <a:off x="3155950" y="2801938"/>
            <a:ext cx="609600" cy="1143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05" name="Line 14"/>
          <p:cNvSpPr>
            <a:spLocks noChangeShapeType="1"/>
          </p:cNvSpPr>
          <p:nvPr/>
        </p:nvSpPr>
        <p:spPr bwMode="auto">
          <a:xfrm flipH="1">
            <a:off x="2927350" y="1811338"/>
            <a:ext cx="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06" name="Oval 17"/>
          <p:cNvSpPr>
            <a:spLocks noChangeArrowheads="1"/>
          </p:cNvSpPr>
          <p:nvPr/>
        </p:nvSpPr>
        <p:spPr bwMode="auto">
          <a:xfrm>
            <a:off x="3232150" y="15065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8607" name="Oval 18"/>
          <p:cNvSpPr>
            <a:spLocks noChangeArrowheads="1"/>
          </p:cNvSpPr>
          <p:nvPr/>
        </p:nvSpPr>
        <p:spPr bwMode="auto">
          <a:xfrm>
            <a:off x="2165350" y="15065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8608" name="Oval 19"/>
          <p:cNvSpPr>
            <a:spLocks noChangeArrowheads="1"/>
          </p:cNvSpPr>
          <p:nvPr/>
        </p:nvSpPr>
        <p:spPr bwMode="auto">
          <a:xfrm>
            <a:off x="2698750" y="15065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8609" name="Oval 20"/>
          <p:cNvSpPr>
            <a:spLocks noChangeArrowheads="1"/>
          </p:cNvSpPr>
          <p:nvPr/>
        </p:nvSpPr>
        <p:spPr bwMode="auto">
          <a:xfrm>
            <a:off x="17843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8610" name="Oval 21"/>
          <p:cNvSpPr>
            <a:spLocks noChangeArrowheads="1"/>
          </p:cNvSpPr>
          <p:nvPr/>
        </p:nvSpPr>
        <p:spPr bwMode="auto">
          <a:xfrm>
            <a:off x="58229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24</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8611" name="Oval 22"/>
          <p:cNvSpPr>
            <a:spLocks noChangeArrowheads="1"/>
          </p:cNvSpPr>
          <p:nvPr/>
        </p:nvSpPr>
        <p:spPr bwMode="auto">
          <a:xfrm>
            <a:off x="45275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17</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8612" name="Oval 23"/>
          <p:cNvSpPr>
            <a:spLocks noChangeArrowheads="1"/>
          </p:cNvSpPr>
          <p:nvPr/>
        </p:nvSpPr>
        <p:spPr bwMode="auto">
          <a:xfrm>
            <a:off x="51371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18</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8613" name="Oval 24"/>
          <p:cNvSpPr>
            <a:spLocks noChangeArrowheads="1"/>
          </p:cNvSpPr>
          <p:nvPr/>
        </p:nvSpPr>
        <p:spPr bwMode="auto">
          <a:xfrm>
            <a:off x="488950" y="38687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30</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8614" name="Line 25"/>
          <p:cNvSpPr>
            <a:spLocks noChangeShapeType="1"/>
          </p:cNvSpPr>
          <p:nvPr/>
        </p:nvSpPr>
        <p:spPr bwMode="auto">
          <a:xfrm>
            <a:off x="2622550" y="287813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15" name="Line 26"/>
          <p:cNvSpPr>
            <a:spLocks noChangeShapeType="1"/>
          </p:cNvSpPr>
          <p:nvPr/>
        </p:nvSpPr>
        <p:spPr bwMode="auto">
          <a:xfrm>
            <a:off x="2622550" y="25733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16" name="Line 27"/>
          <p:cNvSpPr>
            <a:spLocks noChangeShapeType="1"/>
          </p:cNvSpPr>
          <p:nvPr/>
        </p:nvSpPr>
        <p:spPr bwMode="auto">
          <a:xfrm>
            <a:off x="3155950" y="25733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17" name="Text Box 28"/>
          <p:cNvSpPr txBox="1">
            <a:spLocks noChangeArrowheads="1"/>
          </p:cNvSpPr>
          <p:nvPr/>
        </p:nvSpPr>
        <p:spPr bwMode="auto">
          <a:xfrm>
            <a:off x="2546350" y="2573338"/>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11</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18" name="Line 29"/>
          <p:cNvSpPr>
            <a:spLocks noChangeShapeType="1"/>
          </p:cNvSpPr>
          <p:nvPr/>
        </p:nvSpPr>
        <p:spPr bwMode="auto">
          <a:xfrm>
            <a:off x="2622550" y="424973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19" name="Line 30"/>
          <p:cNvSpPr>
            <a:spLocks noChangeShapeType="1"/>
          </p:cNvSpPr>
          <p:nvPr/>
        </p:nvSpPr>
        <p:spPr bwMode="auto">
          <a:xfrm>
            <a:off x="2622550" y="39449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0" name="Line 31"/>
          <p:cNvSpPr>
            <a:spLocks noChangeShapeType="1"/>
          </p:cNvSpPr>
          <p:nvPr/>
        </p:nvSpPr>
        <p:spPr bwMode="auto">
          <a:xfrm>
            <a:off x="3155950" y="39449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1" name="Text Box 32"/>
          <p:cNvSpPr txBox="1">
            <a:spLocks noChangeArrowheads="1"/>
          </p:cNvSpPr>
          <p:nvPr/>
        </p:nvSpPr>
        <p:spPr bwMode="auto">
          <a:xfrm>
            <a:off x="2698750" y="3944938"/>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32</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2" name="Line 33"/>
          <p:cNvSpPr>
            <a:spLocks noChangeShapeType="1"/>
          </p:cNvSpPr>
          <p:nvPr/>
        </p:nvSpPr>
        <p:spPr bwMode="auto">
          <a:xfrm>
            <a:off x="5213350" y="424973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3" name="Line 34"/>
          <p:cNvSpPr>
            <a:spLocks noChangeShapeType="1"/>
          </p:cNvSpPr>
          <p:nvPr/>
        </p:nvSpPr>
        <p:spPr bwMode="auto">
          <a:xfrm>
            <a:off x="5213350" y="39449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4" name="Line 35"/>
          <p:cNvSpPr>
            <a:spLocks noChangeShapeType="1"/>
          </p:cNvSpPr>
          <p:nvPr/>
        </p:nvSpPr>
        <p:spPr bwMode="auto">
          <a:xfrm>
            <a:off x="5746750" y="39449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5" name="Text Box 36"/>
          <p:cNvSpPr txBox="1">
            <a:spLocks noChangeArrowheads="1"/>
          </p:cNvSpPr>
          <p:nvPr/>
        </p:nvSpPr>
        <p:spPr bwMode="auto">
          <a:xfrm>
            <a:off x="5213350" y="3944938"/>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 59</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6" name="Line 37"/>
          <p:cNvSpPr>
            <a:spLocks noChangeShapeType="1"/>
          </p:cNvSpPr>
          <p:nvPr/>
        </p:nvSpPr>
        <p:spPr bwMode="auto">
          <a:xfrm>
            <a:off x="2622550" y="546893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7" name="Line 38"/>
          <p:cNvSpPr>
            <a:spLocks noChangeShapeType="1"/>
          </p:cNvSpPr>
          <p:nvPr/>
        </p:nvSpPr>
        <p:spPr bwMode="auto">
          <a:xfrm>
            <a:off x="2622550" y="577373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8" name="Line 39"/>
          <p:cNvSpPr>
            <a:spLocks noChangeShapeType="1"/>
          </p:cNvSpPr>
          <p:nvPr/>
        </p:nvSpPr>
        <p:spPr bwMode="auto">
          <a:xfrm>
            <a:off x="2622550" y="54689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29" name="Text Box 40"/>
          <p:cNvSpPr txBox="1">
            <a:spLocks noChangeArrowheads="1"/>
          </p:cNvSpPr>
          <p:nvPr/>
        </p:nvSpPr>
        <p:spPr bwMode="auto">
          <a:xfrm>
            <a:off x="2698750" y="5468938"/>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121</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30" name="Line 41"/>
          <p:cNvSpPr>
            <a:spLocks noChangeShapeType="1"/>
          </p:cNvSpPr>
          <p:nvPr/>
        </p:nvSpPr>
        <p:spPr bwMode="auto">
          <a:xfrm>
            <a:off x="3155950" y="54689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31" name="Line 42"/>
          <p:cNvSpPr>
            <a:spLocks noChangeShapeType="1"/>
          </p:cNvSpPr>
          <p:nvPr/>
        </p:nvSpPr>
        <p:spPr bwMode="auto">
          <a:xfrm flipH="1">
            <a:off x="3155950" y="4249738"/>
            <a:ext cx="2057400" cy="1219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32" name="Text Box 43"/>
          <p:cNvSpPr txBox="1">
            <a:spLocks noChangeArrowheads="1"/>
          </p:cNvSpPr>
          <p:nvPr/>
        </p:nvSpPr>
        <p:spPr bwMode="auto">
          <a:xfrm>
            <a:off x="6443663" y="1563688"/>
            <a:ext cx="2605088"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从外存读 11 个记录</a:t>
            </a:r>
          </a:p>
        </p:txBody>
      </p:sp>
      <p:sp>
        <p:nvSpPr>
          <p:cNvPr id="238633" name="Text Box 44"/>
          <p:cNvSpPr txBox="1">
            <a:spLocks noChangeArrowheads="1"/>
          </p:cNvSpPr>
          <p:nvPr/>
        </p:nvSpPr>
        <p:spPr bwMode="auto">
          <a:xfrm>
            <a:off x="6443663" y="2395538"/>
            <a:ext cx="2449513"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写入外存 11 个记录</a:t>
            </a:r>
          </a:p>
        </p:txBody>
      </p:sp>
      <p:sp>
        <p:nvSpPr>
          <p:cNvPr id="238634" name="Text Box 45"/>
          <p:cNvSpPr txBox="1">
            <a:spLocks noChangeArrowheads="1"/>
          </p:cNvSpPr>
          <p:nvPr/>
        </p:nvSpPr>
        <p:spPr bwMode="auto">
          <a:xfrm>
            <a:off x="6443663" y="2789238"/>
            <a:ext cx="2449513"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从外存读  91个记录</a:t>
            </a:r>
          </a:p>
        </p:txBody>
      </p:sp>
      <p:sp>
        <p:nvSpPr>
          <p:cNvPr id="238635" name="Text Box 46"/>
          <p:cNvSpPr txBox="1">
            <a:spLocks noChangeArrowheads="1"/>
          </p:cNvSpPr>
          <p:nvPr/>
        </p:nvSpPr>
        <p:spPr bwMode="auto">
          <a:xfrm>
            <a:off x="6443663" y="5291138"/>
            <a:ext cx="2555875"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写入外存 121 个记录</a:t>
            </a:r>
          </a:p>
        </p:txBody>
      </p:sp>
      <p:sp>
        <p:nvSpPr>
          <p:cNvPr id="238636" name="Text Box 47"/>
          <p:cNvSpPr txBox="1">
            <a:spLocks noChangeArrowheads="1"/>
          </p:cNvSpPr>
          <p:nvPr/>
        </p:nvSpPr>
        <p:spPr bwMode="auto">
          <a:xfrm>
            <a:off x="476250" y="1484313"/>
            <a:ext cx="8382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B.</a:t>
            </a:r>
            <a:endPar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238637" name="Text Box 48"/>
          <p:cNvSpPr txBox="1">
            <a:spLocks noChangeArrowheads="1"/>
          </p:cNvSpPr>
          <p:nvPr/>
        </p:nvSpPr>
        <p:spPr bwMode="auto">
          <a:xfrm>
            <a:off x="6443663" y="3694113"/>
            <a:ext cx="273685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写入外存  91 个记录</a:t>
            </a:r>
          </a:p>
        </p:txBody>
      </p:sp>
      <p:sp>
        <p:nvSpPr>
          <p:cNvPr id="238638" name="Text Box 49"/>
          <p:cNvSpPr txBox="1">
            <a:spLocks noChangeArrowheads="1"/>
          </p:cNvSpPr>
          <p:nvPr/>
        </p:nvSpPr>
        <p:spPr bwMode="auto">
          <a:xfrm>
            <a:off x="6443663" y="4071938"/>
            <a:ext cx="2555875"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从外存读  121 个记录</a:t>
            </a:r>
          </a:p>
        </p:txBody>
      </p:sp>
      <p:sp>
        <p:nvSpPr>
          <p:cNvPr id="238639" name="Line 50"/>
          <p:cNvSpPr>
            <a:spLocks noChangeShapeType="1"/>
          </p:cNvSpPr>
          <p:nvPr/>
        </p:nvSpPr>
        <p:spPr bwMode="auto">
          <a:xfrm flipH="1">
            <a:off x="2927350" y="2878138"/>
            <a:ext cx="0" cy="10668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38640" name="Oval 51"/>
          <p:cNvSpPr>
            <a:spLocks noChangeArrowheads="1"/>
          </p:cNvSpPr>
          <p:nvPr/>
        </p:nvSpPr>
        <p:spPr bwMode="auto">
          <a:xfrm>
            <a:off x="35369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38641" name="Text Box 52"/>
          <p:cNvSpPr txBox="1">
            <a:spLocks noChangeArrowheads="1"/>
          </p:cNvSpPr>
          <p:nvPr/>
        </p:nvSpPr>
        <p:spPr bwMode="auto">
          <a:xfrm>
            <a:off x="1517650" y="5991225"/>
            <a:ext cx="327660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0000CC"/>
                </a:solidFill>
                <a:effectLst/>
                <a:uLnTx/>
                <a:uFillTx/>
                <a:latin typeface="+mn-lt"/>
                <a:ea typeface="+mn-ea"/>
                <a:cs typeface="+mn-ea"/>
                <a:sym typeface="+mn-lt"/>
              </a:rPr>
              <a:t>总共读写外存 446 个记录</a:t>
            </a:r>
          </a:p>
        </p:txBody>
      </p:sp>
      <p:sp>
        <p:nvSpPr>
          <p:cNvPr id="51" name="Rectangle 6"/>
          <p:cNvSpPr>
            <a:spLocks noChangeArrowheads="1"/>
          </p:cNvSpPr>
          <p:nvPr/>
        </p:nvSpPr>
        <p:spPr bwMode="auto">
          <a:xfrm>
            <a:off x="827088" y="14605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最佳归并树</a:t>
            </a:r>
          </a:p>
        </p:txBody>
      </p:sp>
    </p:spTree>
  </p:cSld>
  <p:clrMapOvr>
    <a:masterClrMapping/>
  </p:clrMapOvr>
  <p:transition>
    <p:wipe dir="d"/>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矩形 1"/>
          <p:cNvSpPr/>
          <p:nvPr/>
        </p:nvSpPr>
        <p:spPr>
          <a:xfrm>
            <a:off x="0" y="2065338"/>
            <a:ext cx="9144000" cy="4551362"/>
          </a:xfrm>
          <a:prstGeom prst="rect">
            <a:avLst/>
          </a:prstGeom>
          <a:solidFill>
            <a:srgbClr val="EAEAEA"/>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40641" name="Line 1026"/>
          <p:cNvSpPr>
            <a:spLocks noChangeShapeType="1"/>
          </p:cNvSpPr>
          <p:nvPr/>
        </p:nvSpPr>
        <p:spPr bwMode="auto">
          <a:xfrm>
            <a:off x="3722688" y="4619625"/>
            <a:ext cx="25400" cy="868363"/>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42" name="Line 1027"/>
          <p:cNvSpPr>
            <a:spLocks noChangeShapeType="1"/>
          </p:cNvSpPr>
          <p:nvPr/>
        </p:nvSpPr>
        <p:spPr bwMode="auto">
          <a:xfrm flipH="1">
            <a:off x="1998663" y="2560638"/>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43" name="Line 1028"/>
          <p:cNvSpPr>
            <a:spLocks noChangeShapeType="1"/>
          </p:cNvSpPr>
          <p:nvPr/>
        </p:nvSpPr>
        <p:spPr bwMode="auto">
          <a:xfrm flipH="1">
            <a:off x="5365750" y="3336925"/>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44" name="Line 1029"/>
          <p:cNvSpPr>
            <a:spLocks noChangeShapeType="1"/>
          </p:cNvSpPr>
          <p:nvPr/>
        </p:nvSpPr>
        <p:spPr bwMode="auto">
          <a:xfrm>
            <a:off x="4527550" y="3336925"/>
            <a:ext cx="30480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45" name="Line 1030"/>
          <p:cNvSpPr>
            <a:spLocks noChangeShapeType="1"/>
          </p:cNvSpPr>
          <p:nvPr/>
        </p:nvSpPr>
        <p:spPr bwMode="auto">
          <a:xfrm>
            <a:off x="1212850" y="2841625"/>
            <a:ext cx="328613" cy="481013"/>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46" name="Line 1031"/>
          <p:cNvSpPr>
            <a:spLocks noChangeShapeType="1"/>
          </p:cNvSpPr>
          <p:nvPr/>
        </p:nvSpPr>
        <p:spPr bwMode="auto">
          <a:xfrm>
            <a:off x="1465263" y="3321050"/>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47" name="Line 1032"/>
          <p:cNvSpPr>
            <a:spLocks noChangeShapeType="1"/>
          </p:cNvSpPr>
          <p:nvPr/>
        </p:nvSpPr>
        <p:spPr bwMode="auto">
          <a:xfrm>
            <a:off x="2292350" y="4068763"/>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48" name="Line 1033"/>
          <p:cNvSpPr>
            <a:spLocks noChangeShapeType="1"/>
          </p:cNvSpPr>
          <p:nvPr/>
        </p:nvSpPr>
        <p:spPr bwMode="auto">
          <a:xfrm>
            <a:off x="4832350" y="409892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49" name="Line 1034"/>
          <p:cNvSpPr>
            <a:spLocks noChangeShapeType="1"/>
          </p:cNvSpPr>
          <p:nvPr/>
        </p:nvSpPr>
        <p:spPr bwMode="auto">
          <a:xfrm flipH="1">
            <a:off x="5137150" y="3336925"/>
            <a:ext cx="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50" name="Line 1035"/>
          <p:cNvSpPr>
            <a:spLocks noChangeShapeType="1"/>
          </p:cNvSpPr>
          <p:nvPr/>
        </p:nvSpPr>
        <p:spPr bwMode="auto">
          <a:xfrm flipH="1">
            <a:off x="2749550" y="3611563"/>
            <a:ext cx="315913" cy="4572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51" name="Line 1036"/>
          <p:cNvSpPr>
            <a:spLocks noChangeShapeType="1"/>
          </p:cNvSpPr>
          <p:nvPr/>
        </p:nvSpPr>
        <p:spPr bwMode="auto">
          <a:xfrm flipH="1">
            <a:off x="2444750" y="3306763"/>
            <a:ext cx="0" cy="7620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52" name="Freeform 1039"/>
          <p:cNvSpPr>
            <a:spLocks noChangeArrowheads="1"/>
          </p:cNvSpPr>
          <p:nvPr/>
        </p:nvSpPr>
        <p:spPr bwMode="auto">
          <a:xfrm>
            <a:off x="1435100" y="3267075"/>
            <a:ext cx="2320925" cy="392113"/>
          </a:xfrm>
          <a:custGeom>
            <a:avLst/>
            <a:gdLst>
              <a:gd name="T0" fmla="*/ 0 w 1462"/>
              <a:gd name="T1" fmla="*/ 0 h 247"/>
              <a:gd name="T2" fmla="*/ 567 w 1462"/>
              <a:gd name="T3" fmla="*/ 94 h 247"/>
              <a:gd name="T4" fmla="*/ 749 w 1462"/>
              <a:gd name="T5" fmla="*/ 131 h 247"/>
              <a:gd name="T6" fmla="*/ 866 w 1462"/>
              <a:gd name="T7" fmla="*/ 160 h 247"/>
              <a:gd name="T8" fmla="*/ 1156 w 1462"/>
              <a:gd name="T9" fmla="*/ 167 h 247"/>
              <a:gd name="T10" fmla="*/ 1266 w 1462"/>
              <a:gd name="T11" fmla="*/ 218 h 247"/>
              <a:gd name="T12" fmla="*/ 1418 w 1462"/>
              <a:gd name="T13" fmla="*/ 232 h 247"/>
              <a:gd name="T14" fmla="*/ 1462 w 1462"/>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2" h="247">
                <a:moveTo>
                  <a:pt x="0" y="0"/>
                </a:moveTo>
                <a:cubicBezTo>
                  <a:pt x="175" y="84"/>
                  <a:pt x="375" y="87"/>
                  <a:pt x="567" y="94"/>
                </a:cubicBezTo>
                <a:cubicBezTo>
                  <a:pt x="628" y="105"/>
                  <a:pt x="689" y="117"/>
                  <a:pt x="749" y="131"/>
                </a:cubicBezTo>
                <a:cubicBezTo>
                  <a:pt x="788" y="140"/>
                  <a:pt x="826" y="158"/>
                  <a:pt x="866" y="160"/>
                </a:cubicBezTo>
                <a:cubicBezTo>
                  <a:pt x="963" y="164"/>
                  <a:pt x="1059" y="165"/>
                  <a:pt x="1156" y="167"/>
                </a:cubicBezTo>
                <a:cubicBezTo>
                  <a:pt x="1209" y="184"/>
                  <a:pt x="1171" y="171"/>
                  <a:pt x="1266" y="218"/>
                </a:cubicBezTo>
                <a:cubicBezTo>
                  <a:pt x="1312" y="241"/>
                  <a:pt x="1367" y="227"/>
                  <a:pt x="1418" y="232"/>
                </a:cubicBezTo>
                <a:cubicBezTo>
                  <a:pt x="1452" y="241"/>
                  <a:pt x="1438" y="236"/>
                  <a:pt x="1462" y="247"/>
                </a:cubicBezTo>
              </a:path>
            </a:pathLst>
          </a:custGeom>
          <a:noFill/>
          <a:ln>
            <a:noFill/>
          </a:ln>
        </p:spPr>
        <p:txBody>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53" name="Oval 1040"/>
          <p:cNvSpPr>
            <a:spLocks noChangeArrowheads="1"/>
          </p:cNvSpPr>
          <p:nvPr/>
        </p:nvSpPr>
        <p:spPr bwMode="auto">
          <a:xfrm>
            <a:off x="2062163" y="246221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3</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40654" name="Oval 1041"/>
          <p:cNvSpPr>
            <a:spLocks noChangeArrowheads="1"/>
          </p:cNvSpPr>
          <p:nvPr/>
        </p:nvSpPr>
        <p:spPr bwMode="auto">
          <a:xfrm>
            <a:off x="971550" y="24638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40655" name="Oval 1042"/>
          <p:cNvSpPr>
            <a:spLocks noChangeArrowheads="1"/>
          </p:cNvSpPr>
          <p:nvPr/>
        </p:nvSpPr>
        <p:spPr bwMode="auto">
          <a:xfrm>
            <a:off x="2227263" y="32464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6</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40656" name="Oval 1043"/>
          <p:cNvSpPr>
            <a:spLocks noChangeArrowheads="1"/>
          </p:cNvSpPr>
          <p:nvPr/>
        </p:nvSpPr>
        <p:spPr bwMode="auto">
          <a:xfrm>
            <a:off x="2870200" y="32702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40657" name="Oval 1044"/>
          <p:cNvSpPr>
            <a:spLocks noChangeArrowheads="1"/>
          </p:cNvSpPr>
          <p:nvPr/>
        </p:nvSpPr>
        <p:spPr bwMode="auto">
          <a:xfrm>
            <a:off x="3519488" y="41798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24</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40658" name="Oval 1045"/>
          <p:cNvSpPr>
            <a:spLocks noChangeArrowheads="1"/>
          </p:cNvSpPr>
          <p:nvPr/>
        </p:nvSpPr>
        <p:spPr bwMode="auto">
          <a:xfrm>
            <a:off x="4832350" y="30321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17</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40659" name="Oval 1046"/>
          <p:cNvSpPr>
            <a:spLocks noChangeArrowheads="1"/>
          </p:cNvSpPr>
          <p:nvPr/>
        </p:nvSpPr>
        <p:spPr bwMode="auto">
          <a:xfrm>
            <a:off x="5365750" y="30321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18</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40660" name="Oval 1047"/>
          <p:cNvSpPr>
            <a:spLocks noChangeArrowheads="1"/>
          </p:cNvSpPr>
          <p:nvPr/>
        </p:nvSpPr>
        <p:spPr bwMode="auto">
          <a:xfrm>
            <a:off x="4298950" y="30321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12</a:t>
            </a:r>
            <a:endParaRPr kumimoji="0" lang="zh-CN" altLang="en-US"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240661" name="Line 1048"/>
          <p:cNvSpPr>
            <a:spLocks noChangeShapeType="1"/>
          </p:cNvSpPr>
          <p:nvPr/>
        </p:nvSpPr>
        <p:spPr bwMode="auto">
          <a:xfrm>
            <a:off x="1465263" y="362743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62" name="Line 1049"/>
          <p:cNvSpPr>
            <a:spLocks noChangeShapeType="1"/>
          </p:cNvSpPr>
          <p:nvPr/>
        </p:nvSpPr>
        <p:spPr bwMode="auto">
          <a:xfrm>
            <a:off x="1465263" y="33226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63" name="Line 1050"/>
          <p:cNvSpPr>
            <a:spLocks noChangeShapeType="1"/>
          </p:cNvSpPr>
          <p:nvPr/>
        </p:nvSpPr>
        <p:spPr bwMode="auto">
          <a:xfrm>
            <a:off x="1998663" y="332263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64" name="Text Box 1051"/>
          <p:cNvSpPr txBox="1">
            <a:spLocks noChangeArrowheads="1"/>
          </p:cNvSpPr>
          <p:nvPr/>
        </p:nvSpPr>
        <p:spPr bwMode="auto">
          <a:xfrm>
            <a:off x="1377950" y="3346450"/>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5</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65" name="Line 1052"/>
          <p:cNvSpPr>
            <a:spLocks noChangeShapeType="1"/>
          </p:cNvSpPr>
          <p:nvPr/>
        </p:nvSpPr>
        <p:spPr bwMode="auto">
          <a:xfrm>
            <a:off x="2292350" y="4373563"/>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66" name="Line 1053"/>
          <p:cNvSpPr>
            <a:spLocks noChangeShapeType="1"/>
          </p:cNvSpPr>
          <p:nvPr/>
        </p:nvSpPr>
        <p:spPr bwMode="auto">
          <a:xfrm>
            <a:off x="2292350" y="4068763"/>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67" name="Line 1054"/>
          <p:cNvSpPr>
            <a:spLocks noChangeShapeType="1"/>
          </p:cNvSpPr>
          <p:nvPr/>
        </p:nvSpPr>
        <p:spPr bwMode="auto">
          <a:xfrm>
            <a:off x="2825750" y="4068763"/>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68" name="Text Box 1055"/>
          <p:cNvSpPr txBox="1">
            <a:spLocks noChangeArrowheads="1"/>
          </p:cNvSpPr>
          <p:nvPr/>
        </p:nvSpPr>
        <p:spPr bwMode="auto">
          <a:xfrm>
            <a:off x="2368550" y="4068763"/>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20</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69" name="Line 1056"/>
          <p:cNvSpPr>
            <a:spLocks noChangeShapeType="1"/>
          </p:cNvSpPr>
          <p:nvPr/>
        </p:nvSpPr>
        <p:spPr bwMode="auto">
          <a:xfrm>
            <a:off x="4832350" y="4403725"/>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0" name="Line 1057"/>
          <p:cNvSpPr>
            <a:spLocks noChangeShapeType="1"/>
          </p:cNvSpPr>
          <p:nvPr/>
        </p:nvSpPr>
        <p:spPr bwMode="auto">
          <a:xfrm>
            <a:off x="4832350" y="409892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1" name="Line 1058"/>
          <p:cNvSpPr>
            <a:spLocks noChangeShapeType="1"/>
          </p:cNvSpPr>
          <p:nvPr/>
        </p:nvSpPr>
        <p:spPr bwMode="auto">
          <a:xfrm>
            <a:off x="5365750" y="4098925"/>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2" name="Text Box 1059"/>
          <p:cNvSpPr txBox="1">
            <a:spLocks noChangeArrowheads="1"/>
          </p:cNvSpPr>
          <p:nvPr/>
        </p:nvSpPr>
        <p:spPr bwMode="auto">
          <a:xfrm>
            <a:off x="4832350" y="4098925"/>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 47</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3" name="Line 1060"/>
          <p:cNvSpPr>
            <a:spLocks noChangeShapeType="1"/>
          </p:cNvSpPr>
          <p:nvPr/>
        </p:nvSpPr>
        <p:spPr bwMode="auto">
          <a:xfrm>
            <a:off x="3519488" y="548798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4" name="Line 1061"/>
          <p:cNvSpPr>
            <a:spLocks noChangeShapeType="1"/>
          </p:cNvSpPr>
          <p:nvPr/>
        </p:nvSpPr>
        <p:spPr bwMode="auto">
          <a:xfrm>
            <a:off x="3519488" y="5792788"/>
            <a:ext cx="533400" cy="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5" name="Line 1062"/>
          <p:cNvSpPr>
            <a:spLocks noChangeShapeType="1"/>
          </p:cNvSpPr>
          <p:nvPr/>
        </p:nvSpPr>
        <p:spPr bwMode="auto">
          <a:xfrm>
            <a:off x="3519488" y="548798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6" name="Text Box 1063"/>
          <p:cNvSpPr txBox="1">
            <a:spLocks noChangeArrowheads="1"/>
          </p:cNvSpPr>
          <p:nvPr/>
        </p:nvSpPr>
        <p:spPr bwMode="auto">
          <a:xfrm>
            <a:off x="3595688" y="5487988"/>
            <a:ext cx="762000" cy="3365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1600" b="1" i="0" u="none" strike="noStrike" kern="1200" cap="none" spc="0" normalizeH="0" baseline="0" noProof="0">
                <a:ln>
                  <a:noFill/>
                </a:ln>
                <a:solidFill>
                  <a:schemeClr val="tx1"/>
                </a:solidFill>
                <a:effectLst/>
                <a:uLnTx/>
                <a:uFillTx/>
                <a:latin typeface="+mn-lt"/>
                <a:ea typeface="+mn-ea"/>
                <a:cs typeface="+mn-ea"/>
                <a:sym typeface="+mn-lt"/>
              </a:rPr>
              <a:t>91</a:t>
            </a:r>
            <a:endParaRPr kumimoji="0" lang="zh-CN" altLang="en-US" sz="20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7" name="Line 1064"/>
          <p:cNvSpPr>
            <a:spLocks noChangeShapeType="1"/>
          </p:cNvSpPr>
          <p:nvPr/>
        </p:nvSpPr>
        <p:spPr bwMode="auto">
          <a:xfrm>
            <a:off x="4052888" y="5487988"/>
            <a:ext cx="0" cy="304800"/>
          </a:xfrm>
          <a:prstGeom prst="line">
            <a:avLst/>
          </a:prstGeom>
          <a:noFill/>
          <a:ln w="38100">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8" name="Line 1065"/>
          <p:cNvSpPr>
            <a:spLocks noChangeShapeType="1"/>
          </p:cNvSpPr>
          <p:nvPr/>
        </p:nvSpPr>
        <p:spPr bwMode="auto">
          <a:xfrm flipH="1">
            <a:off x="4052888" y="4427538"/>
            <a:ext cx="1060450" cy="106045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79" name="Line 1066"/>
          <p:cNvSpPr>
            <a:spLocks noChangeShapeType="1"/>
          </p:cNvSpPr>
          <p:nvPr/>
        </p:nvSpPr>
        <p:spPr bwMode="auto">
          <a:xfrm>
            <a:off x="2498725" y="4360863"/>
            <a:ext cx="1020763" cy="1127125"/>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80" name="Text Box 1071"/>
          <p:cNvSpPr txBox="1">
            <a:spLocks noChangeArrowheads="1"/>
          </p:cNvSpPr>
          <p:nvPr/>
        </p:nvSpPr>
        <p:spPr bwMode="auto">
          <a:xfrm>
            <a:off x="276225" y="2219325"/>
            <a:ext cx="838200"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1" i="0" u="none" strike="noStrike" kern="1200" cap="none" spc="0" normalizeH="0" baseline="0" noProof="0" dirty="0">
                <a:ln>
                  <a:noFill/>
                </a:ln>
                <a:solidFill>
                  <a:srgbClr val="FF0000"/>
                </a:solidFill>
                <a:effectLst/>
                <a:uLnTx/>
                <a:uFillTx/>
                <a:latin typeface="+mn-lt"/>
                <a:ea typeface="+mn-ea"/>
                <a:cs typeface="+mn-ea"/>
                <a:sym typeface="+mn-lt"/>
              </a:rPr>
              <a:t>C.</a:t>
            </a:r>
            <a:endPar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endParaRPr>
          </a:p>
        </p:txBody>
      </p:sp>
      <p:sp>
        <p:nvSpPr>
          <p:cNvPr id="240681" name="Line 1072"/>
          <p:cNvSpPr>
            <a:spLocks noChangeShapeType="1"/>
          </p:cNvSpPr>
          <p:nvPr/>
        </p:nvSpPr>
        <p:spPr bwMode="auto">
          <a:xfrm>
            <a:off x="1914525" y="3662363"/>
            <a:ext cx="377825" cy="406400"/>
          </a:xfrm>
          <a:prstGeom prst="line">
            <a:avLst/>
          </a:prstGeom>
          <a:noFill/>
          <a:ln w="38100">
            <a:solidFill>
              <a:srgbClr val="000000"/>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0682" name="Text Box 1075"/>
          <p:cNvSpPr txBox="1">
            <a:spLocks noChangeArrowheads="1"/>
          </p:cNvSpPr>
          <p:nvPr/>
        </p:nvSpPr>
        <p:spPr bwMode="auto">
          <a:xfrm>
            <a:off x="2122488" y="6002338"/>
            <a:ext cx="3578225" cy="4619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0000CC"/>
                </a:solidFill>
                <a:effectLst/>
                <a:uLnTx/>
                <a:uFillTx/>
                <a:latin typeface="+mn-lt"/>
                <a:ea typeface="+mn-ea"/>
                <a:cs typeface="+mn-ea"/>
                <a:sym typeface="+mn-lt"/>
              </a:rPr>
              <a:t>总共读写外存 326 个记录</a:t>
            </a:r>
          </a:p>
        </p:txBody>
      </p:sp>
      <p:sp>
        <p:nvSpPr>
          <p:cNvPr id="240683" name="Text Box 1076"/>
          <p:cNvSpPr txBox="1">
            <a:spLocks noChangeArrowheads="1"/>
          </p:cNvSpPr>
          <p:nvPr/>
        </p:nvSpPr>
        <p:spPr bwMode="auto">
          <a:xfrm>
            <a:off x="200025" y="982663"/>
            <a:ext cx="8683625" cy="10160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50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按照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HUFFMAN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树的思想，记录少的段最先合并。不够时增加虚段。如下例所示。</a:t>
            </a:r>
          </a:p>
        </p:txBody>
      </p:sp>
      <p:sp>
        <p:nvSpPr>
          <p:cNvPr id="240684" name="Text Box 1077"/>
          <p:cNvSpPr txBox="1">
            <a:spLocks noChangeArrowheads="1"/>
          </p:cNvSpPr>
          <p:nvPr/>
        </p:nvSpPr>
        <p:spPr bwMode="auto">
          <a:xfrm>
            <a:off x="6156325" y="2439988"/>
            <a:ext cx="2251075"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从外存读 5个记录</a:t>
            </a:r>
          </a:p>
        </p:txBody>
      </p:sp>
      <p:sp>
        <p:nvSpPr>
          <p:cNvPr id="240685" name="Text Box 1078"/>
          <p:cNvSpPr txBox="1">
            <a:spLocks noChangeArrowheads="1"/>
          </p:cNvSpPr>
          <p:nvPr/>
        </p:nvSpPr>
        <p:spPr bwMode="auto">
          <a:xfrm>
            <a:off x="6172200" y="3046413"/>
            <a:ext cx="2371725"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写入外存 11 个记录</a:t>
            </a:r>
          </a:p>
        </p:txBody>
      </p:sp>
      <p:sp>
        <p:nvSpPr>
          <p:cNvPr id="240686" name="Text Box 1079"/>
          <p:cNvSpPr txBox="1">
            <a:spLocks noChangeArrowheads="1"/>
          </p:cNvSpPr>
          <p:nvPr/>
        </p:nvSpPr>
        <p:spPr bwMode="auto">
          <a:xfrm>
            <a:off x="6172200" y="4160838"/>
            <a:ext cx="239395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从外存读  91个记录</a:t>
            </a:r>
          </a:p>
        </p:txBody>
      </p:sp>
      <p:sp>
        <p:nvSpPr>
          <p:cNvPr id="240687" name="Text Box 1080"/>
          <p:cNvSpPr txBox="1">
            <a:spLocks noChangeArrowheads="1"/>
          </p:cNvSpPr>
          <p:nvPr/>
        </p:nvSpPr>
        <p:spPr bwMode="auto">
          <a:xfrm>
            <a:off x="6161088" y="3779838"/>
            <a:ext cx="2524125"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写入外存  67 个记录</a:t>
            </a:r>
          </a:p>
        </p:txBody>
      </p:sp>
      <p:sp>
        <p:nvSpPr>
          <p:cNvPr id="240688" name="Text Box 1081"/>
          <p:cNvSpPr txBox="1">
            <a:spLocks noChangeArrowheads="1"/>
          </p:cNvSpPr>
          <p:nvPr/>
        </p:nvSpPr>
        <p:spPr bwMode="auto">
          <a:xfrm>
            <a:off x="6156325" y="5456238"/>
            <a:ext cx="2711450" cy="4000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写入外存  91 个记录</a:t>
            </a:r>
          </a:p>
        </p:txBody>
      </p:sp>
      <p:sp>
        <p:nvSpPr>
          <p:cNvPr id="50" name="Rectangle 6"/>
          <p:cNvSpPr>
            <a:spLocks noChangeArrowheads="1"/>
          </p:cNvSpPr>
          <p:nvPr/>
        </p:nvSpPr>
        <p:spPr bwMode="auto">
          <a:xfrm>
            <a:off x="827088" y="14605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最佳归并树</a:t>
            </a:r>
          </a:p>
        </p:txBody>
      </p:sp>
    </p:spTree>
  </p:cSld>
  <p:clrMapOvr>
    <a:masterClrMapping/>
  </p:clrMapOvr>
  <p:transition>
    <p:wipe dir="d"/>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89" name="Text Box 4"/>
          <p:cNvSpPr txBox="1">
            <a:spLocks noChangeArrowheads="1"/>
          </p:cNvSpPr>
          <p:nvPr/>
        </p:nvSpPr>
        <p:spPr bwMode="auto">
          <a:xfrm>
            <a:off x="827088" y="917575"/>
            <a:ext cx="7848600" cy="457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 虚段的补法:</a:t>
            </a:r>
          </a:p>
        </p:txBody>
      </p:sp>
      <p:sp>
        <p:nvSpPr>
          <p:cNvPr id="242690" name="Rectangle 5"/>
          <p:cNvSpPr>
            <a:spLocks noChangeArrowheads="1"/>
          </p:cNvSpPr>
          <p:nvPr/>
        </p:nvSpPr>
        <p:spPr bwMode="auto">
          <a:xfrm>
            <a:off x="0" y="1536700"/>
            <a:ext cx="9144000" cy="5127625"/>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60045"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在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路平衡归并时，它的归并树的模型是一棵</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度为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的树。在这棵树上的结点要么是叶子，要么是具有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子女</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的内部结点。设具有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个子女的内部结点共有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n</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个。初始归并段的个数为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个。设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n</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m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故：从结点出发的枝条，共计有</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n</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个。若从进入结点的角度进行考虑，则共有：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n</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m － 1   </a:t>
            </a: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注意：没有枝条进入根结点。</a:t>
            </a:r>
          </a:p>
          <a:p>
            <a:pPr marL="360045"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      所以，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n</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n</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m － 1 </a:t>
            </a:r>
          </a:p>
          <a:p>
            <a:pPr marL="360045"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于是</a:t>
            </a: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rgbClr val="FF0000"/>
                </a:solidFill>
                <a:effectLst/>
                <a:uLnTx/>
                <a:uFillTx/>
                <a:latin typeface="+mn-lt"/>
                <a:ea typeface="+mn-ea"/>
                <a:cs typeface="+mn-ea"/>
                <a:sym typeface="+mn-lt"/>
              </a:rPr>
              <a:t>n</a:t>
            </a:r>
            <a:r>
              <a:rPr kumimoji="0" lang="en-US" altLang="zh-CN" sz="2400" b="0" i="0" u="none" strike="noStrike" kern="1200" cap="none" spc="0" normalizeH="0" baseline="-25000" noProof="0" dirty="0" err="1">
                <a:ln>
                  <a:noFill/>
                </a:ln>
                <a:solidFill>
                  <a:srgbClr val="FF0000"/>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 ＝  ( m － 1 ) / ( K - 1)</a:t>
            </a:r>
          </a:p>
          <a:p>
            <a:pPr marL="360045"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这就意味着，若 (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 － 1 ) MOD ( K - 1) ＝ 0，</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无需增加虚段。否则，要增加虚段，其数目为：</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360045" marR="0" lvl="0" indent="0" algn="l" defTabSz="914400" rtl="0" eaLnBrk="0" fontAlgn="base" latinLnBrk="0" hangingPunct="0">
              <a:lnSpc>
                <a:spcPct val="125000"/>
              </a:lnSpc>
              <a:spcBef>
                <a:spcPts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K－1）－ ( m － 1 ) MOD ( K - 1) </a:t>
            </a:r>
          </a:p>
        </p:txBody>
      </p:sp>
      <p:sp>
        <p:nvSpPr>
          <p:cNvPr id="4" name="Rectangle 6"/>
          <p:cNvSpPr>
            <a:spLocks noChangeArrowheads="1"/>
          </p:cNvSpPr>
          <p:nvPr/>
        </p:nvSpPr>
        <p:spPr bwMode="auto">
          <a:xfrm>
            <a:off x="827088" y="14605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最佳归并树</a:t>
            </a:r>
          </a:p>
        </p:txBody>
      </p:sp>
    </p:spTree>
  </p:cSld>
  <p:clrMapOvr>
    <a:masterClrMapping/>
  </p:clrMapOvr>
  <p:transition>
    <p:wipe dir="d"/>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7" name="Rectangle 2"/>
          <p:cNvSpPr>
            <a:spLocks noChangeArrowheads="1"/>
          </p:cNvSpPr>
          <p:nvPr/>
        </p:nvSpPr>
        <p:spPr bwMode="auto">
          <a:xfrm>
            <a:off x="684213" y="998538"/>
            <a:ext cx="6551613" cy="654050"/>
          </a:xfrm>
          <a:prstGeom prst="rect">
            <a:avLst/>
          </a:prstGeom>
          <a:no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571500" defTabSz="762000">
              <a:defRPr sz="2800" b="1">
                <a:solidFill>
                  <a:schemeClr val="tx1"/>
                </a:solidFill>
                <a:latin typeface="Times New Roman" panose="02020603050405020304" pitchFamily="18" charset="0"/>
                <a:ea typeface="楷体_GB2312" pitchFamily="49" charset="-122"/>
              </a:defRPr>
            </a:lvl2pPr>
            <a:lvl3pPr defTabSz="762000">
              <a:defRPr sz="2800" b="1">
                <a:solidFill>
                  <a:schemeClr val="tx1"/>
                </a:solidFill>
                <a:latin typeface="Times New Roman" panose="02020603050405020304" pitchFamily="18" charset="0"/>
                <a:ea typeface="楷体_GB2312" pitchFamily="49" charset="-122"/>
              </a:defRPr>
            </a:lvl3pPr>
            <a:lvl4pPr defTabSz="762000">
              <a:defRPr sz="2800" b="1">
                <a:solidFill>
                  <a:schemeClr val="tx1"/>
                </a:solidFill>
                <a:latin typeface="Times New Roman" panose="02020603050405020304" pitchFamily="18" charset="0"/>
                <a:ea typeface="楷体_GB2312" pitchFamily="49" charset="-122"/>
              </a:defRPr>
            </a:lvl4pPr>
            <a:lvl5pPr defTabSz="762000">
              <a:defRPr sz="2800" b="1">
                <a:solidFill>
                  <a:schemeClr val="tx1"/>
                </a:solidFill>
                <a:latin typeface="Times New Roman" panose="02020603050405020304" pitchFamily="18" charset="0"/>
                <a:ea typeface="楷体_GB2312" pitchFamily="49"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762000" rtl="0" eaLnBrk="0" fontAlgn="base" latinLnBrk="0" hangingPunct="0">
              <a:lnSpc>
                <a:spcPct val="130000"/>
              </a:lnSpc>
              <a:spcBef>
                <a:spcPct val="50000"/>
              </a:spcBef>
              <a:spcAft>
                <a:spcPct val="0"/>
              </a:spcAft>
              <a:buClrTx/>
              <a:buSzTx/>
              <a:buFontTx/>
              <a:buNone/>
              <a:defRPr/>
            </a:pP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限制：</a:t>
            </a:r>
          </a:p>
        </p:txBody>
      </p:sp>
      <p:sp>
        <p:nvSpPr>
          <p:cNvPr id="3" name="Rectangle 6"/>
          <p:cNvSpPr>
            <a:spLocks noChangeArrowheads="1"/>
          </p:cNvSpPr>
          <p:nvPr/>
        </p:nvSpPr>
        <p:spPr bwMode="auto">
          <a:xfrm>
            <a:off x="827088" y="146050"/>
            <a:ext cx="4857750"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最佳归并树</a:t>
            </a:r>
          </a:p>
        </p:txBody>
      </p:sp>
      <p:sp>
        <p:nvSpPr>
          <p:cNvPr id="5" name="Rectangle 6"/>
          <p:cNvSpPr>
            <a:spLocks noChangeArrowheads="1"/>
          </p:cNvSpPr>
          <p:nvPr/>
        </p:nvSpPr>
        <p:spPr bwMode="auto">
          <a:xfrm>
            <a:off x="827088" y="4348163"/>
            <a:ext cx="3384550" cy="1865313"/>
          </a:xfrm>
          <a:prstGeom prst="rect">
            <a:avLst/>
          </a:prstGeom>
          <a:noFill/>
          <a:ln>
            <a:noFill/>
          </a:ln>
        </p:spPr>
        <p:txBody>
          <a:bodyPr>
            <a:spAutoFit/>
          </a:bodyPr>
          <a:lstStyle>
            <a:lvl1pPr marL="381000" indent="-3810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0000"/>
              </a:lnSpc>
              <a:spcBef>
                <a:spcPct val="3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由于磁带寻找具有最少记录的初始归并段，必须反复倒带。所以，实用性不强。</a:t>
            </a:r>
          </a:p>
        </p:txBody>
      </p:sp>
      <p:grpSp>
        <p:nvGrpSpPr>
          <p:cNvPr id="6" name="组合 5"/>
          <p:cNvGrpSpPr/>
          <p:nvPr/>
        </p:nvGrpSpPr>
        <p:grpSpPr>
          <a:xfrm>
            <a:off x="1457325" y="1974850"/>
            <a:ext cx="1900238" cy="2141538"/>
            <a:chOff x="1168053" y="2217316"/>
            <a:chExt cx="1901372" cy="2140857"/>
          </a:xfrm>
        </p:grpSpPr>
        <p:sp>
          <p:nvSpPr>
            <p:cNvPr id="7" name="íṡľíḍè-Rectangle 22"/>
            <p:cNvSpPr/>
            <p:nvPr/>
          </p:nvSpPr>
          <p:spPr>
            <a:xfrm>
              <a:off x="1168053" y="2217316"/>
              <a:ext cx="1901372" cy="1901220"/>
            </a:xfrm>
            <a:prstGeom prst="rect">
              <a:avLst/>
            </a:prstGeom>
            <a:solidFill>
              <a:srgbClr val="4F81B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8" name="íṡľíḍè-Freeform: Shape 23"/>
            <p:cNvSpPr/>
            <p:nvPr/>
          </p:nvSpPr>
          <p:spPr>
            <a:xfrm rot="10800000">
              <a:off x="1168053" y="3988403"/>
              <a:ext cx="1901372" cy="369770"/>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4F81BD">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9" name="îŝḷîḓé-Freeform: Shape 42"/>
            <p:cNvSpPr/>
            <p:nvPr/>
          </p:nvSpPr>
          <p:spPr bwMode="auto">
            <a:xfrm>
              <a:off x="1689064" y="2469649"/>
              <a:ext cx="945127" cy="944262"/>
            </a:xfrm>
            <a:custGeom>
              <a:avLst/>
              <a:gdLst>
                <a:gd name="T0" fmla="*/ 184 w 260"/>
                <a:gd name="T1" fmla="*/ 106 h 260"/>
                <a:gd name="T2" fmla="*/ 193 w 260"/>
                <a:gd name="T3" fmla="*/ 143 h 260"/>
                <a:gd name="T4" fmla="*/ 117 w 260"/>
                <a:gd name="T5" fmla="*/ 219 h 260"/>
                <a:gd name="T6" fmla="*/ 42 w 260"/>
                <a:gd name="T7" fmla="*/ 143 h 260"/>
                <a:gd name="T8" fmla="*/ 117 w 260"/>
                <a:gd name="T9" fmla="*/ 66 h 260"/>
                <a:gd name="T10" fmla="*/ 154 w 260"/>
                <a:gd name="T11" fmla="*/ 76 h 260"/>
                <a:gd name="T12" fmla="*/ 183 w 260"/>
                <a:gd name="T13" fmla="*/ 46 h 260"/>
                <a:gd name="T14" fmla="*/ 117 w 260"/>
                <a:gd name="T15" fmla="*/ 25 h 260"/>
                <a:gd name="T16" fmla="*/ 0 w 260"/>
                <a:gd name="T17" fmla="*/ 143 h 260"/>
                <a:gd name="T18" fmla="*/ 117 w 260"/>
                <a:gd name="T19" fmla="*/ 260 h 260"/>
                <a:gd name="T20" fmla="*/ 233 w 260"/>
                <a:gd name="T21" fmla="*/ 143 h 260"/>
                <a:gd name="T22" fmla="*/ 213 w 260"/>
                <a:gd name="T23" fmla="*/ 77 h 260"/>
                <a:gd name="T24" fmla="*/ 184 w 260"/>
                <a:gd name="T25" fmla="*/ 106 h 260"/>
                <a:gd name="T26" fmla="*/ 225 w 260"/>
                <a:gd name="T27" fmla="*/ 35 h 260"/>
                <a:gd name="T28" fmla="*/ 225 w 260"/>
                <a:gd name="T29" fmla="*/ 35 h 260"/>
                <a:gd name="T30" fmla="*/ 225 w 260"/>
                <a:gd name="T31" fmla="*/ 0 h 260"/>
                <a:gd name="T32" fmla="*/ 203 w 260"/>
                <a:gd name="T33" fmla="*/ 23 h 260"/>
                <a:gd name="T34" fmla="*/ 203 w 260"/>
                <a:gd name="T35" fmla="*/ 46 h 260"/>
                <a:gd name="T36" fmla="*/ 139 w 260"/>
                <a:gd name="T37" fmla="*/ 111 h 260"/>
                <a:gd name="T38" fmla="*/ 117 w 260"/>
                <a:gd name="T39" fmla="*/ 104 h 260"/>
                <a:gd name="T40" fmla="*/ 79 w 260"/>
                <a:gd name="T41" fmla="*/ 143 h 260"/>
                <a:gd name="T42" fmla="*/ 117 w 260"/>
                <a:gd name="T43" fmla="*/ 181 h 260"/>
                <a:gd name="T44" fmla="*/ 155 w 260"/>
                <a:gd name="T45" fmla="*/ 143 h 260"/>
                <a:gd name="T46" fmla="*/ 150 w 260"/>
                <a:gd name="T47" fmla="*/ 123 h 260"/>
                <a:gd name="T48" fmla="*/ 215 w 260"/>
                <a:gd name="T49" fmla="*/ 58 h 260"/>
                <a:gd name="T50" fmla="*/ 237 w 260"/>
                <a:gd name="T51" fmla="*/ 58 h 260"/>
                <a:gd name="T52" fmla="*/ 260 w 260"/>
                <a:gd name="T53" fmla="*/ 35 h 260"/>
                <a:gd name="T54" fmla="*/ 225 w 260"/>
                <a:gd name="T55" fmla="*/ 3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0" h="260">
                  <a:moveTo>
                    <a:pt x="184" y="106"/>
                  </a:moveTo>
                  <a:cubicBezTo>
                    <a:pt x="190" y="117"/>
                    <a:pt x="193" y="129"/>
                    <a:pt x="193" y="143"/>
                  </a:cubicBezTo>
                  <a:cubicBezTo>
                    <a:pt x="193" y="185"/>
                    <a:pt x="159" y="219"/>
                    <a:pt x="117" y="219"/>
                  </a:cubicBezTo>
                  <a:cubicBezTo>
                    <a:pt x="76" y="219"/>
                    <a:pt x="42" y="185"/>
                    <a:pt x="42" y="143"/>
                  </a:cubicBezTo>
                  <a:cubicBezTo>
                    <a:pt x="42" y="100"/>
                    <a:pt x="76" y="66"/>
                    <a:pt x="117" y="66"/>
                  </a:cubicBezTo>
                  <a:cubicBezTo>
                    <a:pt x="131" y="66"/>
                    <a:pt x="143" y="70"/>
                    <a:pt x="154" y="76"/>
                  </a:cubicBezTo>
                  <a:cubicBezTo>
                    <a:pt x="183" y="46"/>
                    <a:pt x="183" y="46"/>
                    <a:pt x="183" y="46"/>
                  </a:cubicBezTo>
                  <a:cubicBezTo>
                    <a:pt x="165" y="33"/>
                    <a:pt x="141" y="25"/>
                    <a:pt x="117" y="25"/>
                  </a:cubicBezTo>
                  <a:cubicBezTo>
                    <a:pt x="52" y="25"/>
                    <a:pt x="0" y="78"/>
                    <a:pt x="0" y="143"/>
                  </a:cubicBezTo>
                  <a:cubicBezTo>
                    <a:pt x="0" y="207"/>
                    <a:pt x="52" y="260"/>
                    <a:pt x="117" y="260"/>
                  </a:cubicBezTo>
                  <a:cubicBezTo>
                    <a:pt x="181" y="260"/>
                    <a:pt x="233" y="207"/>
                    <a:pt x="233" y="143"/>
                  </a:cubicBezTo>
                  <a:cubicBezTo>
                    <a:pt x="233" y="118"/>
                    <a:pt x="226" y="96"/>
                    <a:pt x="213" y="77"/>
                  </a:cubicBezTo>
                  <a:cubicBezTo>
                    <a:pt x="184" y="106"/>
                    <a:pt x="184" y="106"/>
                    <a:pt x="184" y="106"/>
                  </a:cubicBezTo>
                  <a:close/>
                  <a:moveTo>
                    <a:pt x="225" y="35"/>
                  </a:moveTo>
                  <a:cubicBezTo>
                    <a:pt x="225" y="35"/>
                    <a:pt x="225" y="35"/>
                    <a:pt x="225" y="35"/>
                  </a:cubicBezTo>
                  <a:cubicBezTo>
                    <a:pt x="225" y="0"/>
                    <a:pt x="225" y="0"/>
                    <a:pt x="225" y="0"/>
                  </a:cubicBezTo>
                  <a:cubicBezTo>
                    <a:pt x="203" y="23"/>
                    <a:pt x="203" y="23"/>
                    <a:pt x="203" y="23"/>
                  </a:cubicBezTo>
                  <a:cubicBezTo>
                    <a:pt x="203" y="46"/>
                    <a:pt x="203" y="46"/>
                    <a:pt x="203" y="46"/>
                  </a:cubicBezTo>
                  <a:cubicBezTo>
                    <a:pt x="139" y="111"/>
                    <a:pt x="139" y="111"/>
                    <a:pt x="139" y="111"/>
                  </a:cubicBezTo>
                  <a:cubicBezTo>
                    <a:pt x="133" y="106"/>
                    <a:pt x="125" y="104"/>
                    <a:pt x="117" y="104"/>
                  </a:cubicBezTo>
                  <a:cubicBezTo>
                    <a:pt x="96" y="104"/>
                    <a:pt x="79" y="121"/>
                    <a:pt x="79" y="143"/>
                  </a:cubicBezTo>
                  <a:cubicBezTo>
                    <a:pt x="79" y="164"/>
                    <a:pt x="96" y="181"/>
                    <a:pt x="117" y="181"/>
                  </a:cubicBezTo>
                  <a:cubicBezTo>
                    <a:pt x="138" y="181"/>
                    <a:pt x="155" y="164"/>
                    <a:pt x="155" y="143"/>
                  </a:cubicBezTo>
                  <a:cubicBezTo>
                    <a:pt x="155" y="136"/>
                    <a:pt x="154" y="129"/>
                    <a:pt x="150" y="123"/>
                  </a:cubicBezTo>
                  <a:cubicBezTo>
                    <a:pt x="215" y="58"/>
                    <a:pt x="215" y="58"/>
                    <a:pt x="215" y="58"/>
                  </a:cubicBezTo>
                  <a:cubicBezTo>
                    <a:pt x="237" y="58"/>
                    <a:pt x="237" y="58"/>
                    <a:pt x="237" y="58"/>
                  </a:cubicBezTo>
                  <a:cubicBezTo>
                    <a:pt x="260" y="35"/>
                    <a:pt x="260" y="35"/>
                    <a:pt x="260" y="35"/>
                  </a:cubicBezTo>
                  <a:cubicBezTo>
                    <a:pt x="225" y="35"/>
                    <a:pt x="225" y="35"/>
                    <a:pt x="225" y="35"/>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10" name="组合 9"/>
          <p:cNvGrpSpPr/>
          <p:nvPr/>
        </p:nvGrpSpPr>
        <p:grpSpPr>
          <a:xfrm>
            <a:off x="5691188" y="1971675"/>
            <a:ext cx="1901825" cy="2144713"/>
            <a:chOff x="3869067" y="2217316"/>
            <a:chExt cx="1901372" cy="2144485"/>
          </a:xfrm>
        </p:grpSpPr>
        <p:sp>
          <p:nvSpPr>
            <p:cNvPr id="11" name="íṡľíḍè-Rectangle 18"/>
            <p:cNvSpPr/>
            <p:nvPr/>
          </p:nvSpPr>
          <p:spPr>
            <a:xfrm>
              <a:off x="3869067" y="2217316"/>
              <a:ext cx="1901372" cy="1901623"/>
            </a:xfrm>
            <a:prstGeom prst="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2" name="íṡľíḍè-Freeform: Shape 19"/>
            <p:cNvSpPr/>
            <p:nvPr/>
          </p:nvSpPr>
          <p:spPr>
            <a:xfrm rot="10800000">
              <a:off x="3869067" y="3991952"/>
              <a:ext cx="1901372" cy="369849"/>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C0504D">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13" name="îŝḷîḓé-Freeform: Shape 44"/>
            <p:cNvSpPr/>
            <p:nvPr/>
          </p:nvSpPr>
          <p:spPr bwMode="auto">
            <a:xfrm>
              <a:off x="4388055" y="2568117"/>
              <a:ext cx="852285" cy="850810"/>
            </a:xfrm>
            <a:custGeom>
              <a:avLst/>
              <a:gdLst>
                <a:gd name="T0" fmla="*/ 187 w 228"/>
                <a:gd name="T1" fmla="*/ 114 h 240"/>
                <a:gd name="T2" fmla="*/ 114 w 228"/>
                <a:gd name="T3" fmla="*/ 40 h 240"/>
                <a:gd name="T4" fmla="*/ 40 w 228"/>
                <a:gd name="T5" fmla="*/ 114 h 240"/>
                <a:gd name="T6" fmla="*/ 68 w 228"/>
                <a:gd name="T7" fmla="*/ 171 h 240"/>
                <a:gd name="T8" fmla="*/ 74 w 228"/>
                <a:gd name="T9" fmla="*/ 173 h 240"/>
                <a:gd name="T10" fmla="*/ 81 w 228"/>
                <a:gd name="T11" fmla="*/ 169 h 240"/>
                <a:gd name="T12" fmla="*/ 79 w 228"/>
                <a:gd name="T13" fmla="*/ 156 h 240"/>
                <a:gd name="T14" fmla="*/ 59 w 228"/>
                <a:gd name="T15" fmla="*/ 114 h 240"/>
                <a:gd name="T16" fmla="*/ 114 w 228"/>
                <a:gd name="T17" fmla="*/ 59 h 240"/>
                <a:gd name="T18" fmla="*/ 169 w 228"/>
                <a:gd name="T19" fmla="*/ 114 h 240"/>
                <a:gd name="T20" fmla="*/ 152 w 228"/>
                <a:gd name="T21" fmla="*/ 153 h 240"/>
                <a:gd name="T22" fmla="*/ 151 w 228"/>
                <a:gd name="T23" fmla="*/ 166 h 240"/>
                <a:gd name="T24" fmla="*/ 165 w 228"/>
                <a:gd name="T25" fmla="*/ 167 h 240"/>
                <a:gd name="T26" fmla="*/ 187 w 228"/>
                <a:gd name="T27" fmla="*/ 114 h 240"/>
                <a:gd name="T28" fmla="*/ 116 w 228"/>
                <a:gd name="T29" fmla="*/ 79 h 240"/>
                <a:gd name="T30" fmla="*/ 81 w 228"/>
                <a:gd name="T31" fmla="*/ 114 h 240"/>
                <a:gd name="T32" fmla="*/ 101 w 228"/>
                <a:gd name="T33" fmla="*/ 144 h 240"/>
                <a:gd name="T34" fmla="*/ 101 w 228"/>
                <a:gd name="T35" fmla="*/ 226 h 240"/>
                <a:gd name="T36" fmla="*/ 115 w 228"/>
                <a:gd name="T37" fmla="*/ 240 h 240"/>
                <a:gd name="T38" fmla="*/ 129 w 228"/>
                <a:gd name="T39" fmla="*/ 226 h 240"/>
                <a:gd name="T40" fmla="*/ 129 w 228"/>
                <a:gd name="T41" fmla="*/ 145 h 240"/>
                <a:gd name="T42" fmla="*/ 150 w 228"/>
                <a:gd name="T43" fmla="*/ 114 h 240"/>
                <a:gd name="T44" fmla="*/ 116 w 228"/>
                <a:gd name="T45" fmla="*/ 79 h 240"/>
                <a:gd name="T46" fmla="*/ 114 w 228"/>
                <a:gd name="T47" fmla="*/ 0 h 240"/>
                <a:gd name="T48" fmla="*/ 0 w 228"/>
                <a:gd name="T49" fmla="*/ 114 h 240"/>
                <a:gd name="T50" fmla="*/ 52 w 228"/>
                <a:gd name="T51" fmla="*/ 209 h 240"/>
                <a:gd name="T52" fmla="*/ 57 w 228"/>
                <a:gd name="T53" fmla="*/ 211 h 240"/>
                <a:gd name="T54" fmla="*/ 65 w 228"/>
                <a:gd name="T55" fmla="*/ 206 h 240"/>
                <a:gd name="T56" fmla="*/ 62 w 228"/>
                <a:gd name="T57" fmla="*/ 193 h 240"/>
                <a:gd name="T58" fmla="*/ 19 w 228"/>
                <a:gd name="T59" fmla="*/ 114 h 240"/>
                <a:gd name="T60" fmla="*/ 114 w 228"/>
                <a:gd name="T61" fmla="*/ 18 h 240"/>
                <a:gd name="T62" fmla="*/ 209 w 228"/>
                <a:gd name="T63" fmla="*/ 114 h 240"/>
                <a:gd name="T64" fmla="*/ 168 w 228"/>
                <a:gd name="T65" fmla="*/ 192 h 240"/>
                <a:gd name="T66" fmla="*/ 165 w 228"/>
                <a:gd name="T67" fmla="*/ 205 h 240"/>
                <a:gd name="T68" fmla="*/ 178 w 228"/>
                <a:gd name="T69" fmla="*/ 208 h 240"/>
                <a:gd name="T70" fmla="*/ 228 w 228"/>
                <a:gd name="T71" fmla="*/ 114 h 240"/>
                <a:gd name="T72" fmla="*/ 114 w 228"/>
                <a:gd name="T7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8" h="240">
                  <a:moveTo>
                    <a:pt x="187" y="114"/>
                  </a:moveTo>
                  <a:cubicBezTo>
                    <a:pt x="187" y="73"/>
                    <a:pt x="154" y="40"/>
                    <a:pt x="114" y="40"/>
                  </a:cubicBezTo>
                  <a:cubicBezTo>
                    <a:pt x="73" y="40"/>
                    <a:pt x="40" y="73"/>
                    <a:pt x="40" y="114"/>
                  </a:cubicBezTo>
                  <a:cubicBezTo>
                    <a:pt x="40" y="136"/>
                    <a:pt x="50" y="157"/>
                    <a:pt x="68" y="171"/>
                  </a:cubicBezTo>
                  <a:cubicBezTo>
                    <a:pt x="69" y="172"/>
                    <a:pt x="71" y="173"/>
                    <a:pt x="74" y="173"/>
                  </a:cubicBezTo>
                  <a:cubicBezTo>
                    <a:pt x="76" y="173"/>
                    <a:pt x="79" y="171"/>
                    <a:pt x="81" y="169"/>
                  </a:cubicBezTo>
                  <a:cubicBezTo>
                    <a:pt x="84" y="165"/>
                    <a:pt x="83" y="159"/>
                    <a:pt x="79" y="156"/>
                  </a:cubicBezTo>
                  <a:cubicBezTo>
                    <a:pt x="67" y="146"/>
                    <a:pt x="59" y="130"/>
                    <a:pt x="59" y="114"/>
                  </a:cubicBezTo>
                  <a:cubicBezTo>
                    <a:pt x="59" y="83"/>
                    <a:pt x="84" y="59"/>
                    <a:pt x="114" y="59"/>
                  </a:cubicBezTo>
                  <a:cubicBezTo>
                    <a:pt x="144" y="59"/>
                    <a:pt x="169" y="83"/>
                    <a:pt x="169" y="114"/>
                  </a:cubicBezTo>
                  <a:cubicBezTo>
                    <a:pt x="169" y="129"/>
                    <a:pt x="163" y="143"/>
                    <a:pt x="152" y="153"/>
                  </a:cubicBezTo>
                  <a:cubicBezTo>
                    <a:pt x="148" y="157"/>
                    <a:pt x="148" y="163"/>
                    <a:pt x="151" y="166"/>
                  </a:cubicBezTo>
                  <a:cubicBezTo>
                    <a:pt x="155" y="170"/>
                    <a:pt x="161" y="170"/>
                    <a:pt x="165" y="167"/>
                  </a:cubicBezTo>
                  <a:cubicBezTo>
                    <a:pt x="179" y="153"/>
                    <a:pt x="187" y="134"/>
                    <a:pt x="187" y="114"/>
                  </a:cubicBezTo>
                  <a:close/>
                  <a:moveTo>
                    <a:pt x="116" y="79"/>
                  </a:moveTo>
                  <a:cubicBezTo>
                    <a:pt x="97" y="79"/>
                    <a:pt x="81" y="95"/>
                    <a:pt x="81" y="114"/>
                  </a:cubicBezTo>
                  <a:cubicBezTo>
                    <a:pt x="81" y="127"/>
                    <a:pt x="89" y="139"/>
                    <a:pt x="101" y="144"/>
                  </a:cubicBezTo>
                  <a:cubicBezTo>
                    <a:pt x="101" y="226"/>
                    <a:pt x="101" y="226"/>
                    <a:pt x="101" y="226"/>
                  </a:cubicBezTo>
                  <a:cubicBezTo>
                    <a:pt x="101" y="233"/>
                    <a:pt x="107" y="240"/>
                    <a:pt x="115" y="240"/>
                  </a:cubicBezTo>
                  <a:cubicBezTo>
                    <a:pt x="123" y="240"/>
                    <a:pt x="129" y="233"/>
                    <a:pt x="129" y="226"/>
                  </a:cubicBezTo>
                  <a:cubicBezTo>
                    <a:pt x="129" y="145"/>
                    <a:pt x="129" y="145"/>
                    <a:pt x="129" y="145"/>
                  </a:cubicBezTo>
                  <a:cubicBezTo>
                    <a:pt x="141" y="140"/>
                    <a:pt x="150" y="128"/>
                    <a:pt x="150" y="114"/>
                  </a:cubicBezTo>
                  <a:cubicBezTo>
                    <a:pt x="150" y="95"/>
                    <a:pt x="134" y="79"/>
                    <a:pt x="116" y="79"/>
                  </a:cubicBezTo>
                  <a:close/>
                  <a:moveTo>
                    <a:pt x="114" y="0"/>
                  </a:moveTo>
                  <a:cubicBezTo>
                    <a:pt x="51" y="0"/>
                    <a:pt x="0" y="51"/>
                    <a:pt x="0" y="114"/>
                  </a:cubicBezTo>
                  <a:cubicBezTo>
                    <a:pt x="0" y="152"/>
                    <a:pt x="19" y="188"/>
                    <a:pt x="52" y="209"/>
                  </a:cubicBezTo>
                  <a:cubicBezTo>
                    <a:pt x="54" y="210"/>
                    <a:pt x="55" y="211"/>
                    <a:pt x="57" y="211"/>
                  </a:cubicBezTo>
                  <a:cubicBezTo>
                    <a:pt x="60" y="211"/>
                    <a:pt x="63" y="209"/>
                    <a:pt x="65" y="206"/>
                  </a:cubicBezTo>
                  <a:cubicBezTo>
                    <a:pt x="68" y="202"/>
                    <a:pt x="67" y="196"/>
                    <a:pt x="62" y="193"/>
                  </a:cubicBezTo>
                  <a:cubicBezTo>
                    <a:pt x="35" y="176"/>
                    <a:pt x="19" y="146"/>
                    <a:pt x="19" y="114"/>
                  </a:cubicBezTo>
                  <a:cubicBezTo>
                    <a:pt x="19" y="61"/>
                    <a:pt x="61" y="18"/>
                    <a:pt x="114" y="18"/>
                  </a:cubicBezTo>
                  <a:cubicBezTo>
                    <a:pt x="166" y="18"/>
                    <a:pt x="209" y="61"/>
                    <a:pt x="209" y="114"/>
                  </a:cubicBezTo>
                  <a:cubicBezTo>
                    <a:pt x="209" y="145"/>
                    <a:pt x="194" y="174"/>
                    <a:pt x="168" y="192"/>
                  </a:cubicBezTo>
                  <a:cubicBezTo>
                    <a:pt x="163" y="195"/>
                    <a:pt x="162" y="201"/>
                    <a:pt x="165" y="205"/>
                  </a:cubicBezTo>
                  <a:cubicBezTo>
                    <a:pt x="168" y="209"/>
                    <a:pt x="174" y="211"/>
                    <a:pt x="178" y="208"/>
                  </a:cubicBezTo>
                  <a:cubicBezTo>
                    <a:pt x="209" y="186"/>
                    <a:pt x="228" y="151"/>
                    <a:pt x="228" y="114"/>
                  </a:cubicBezTo>
                  <a:cubicBezTo>
                    <a:pt x="228" y="51"/>
                    <a:pt x="177" y="0"/>
                    <a:pt x="114" y="0"/>
                  </a:cubicBezTo>
                  <a:close/>
                </a:path>
              </a:pathLst>
            </a:custGeom>
            <a:solidFill>
              <a:sysClr val="window" lastClr="FFFFFF"/>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defRPr/>
              </a:pPr>
              <a:endParaRPr kumimoji="0" sz="1800" b="0" i="0" u="none" strike="noStrike" kern="0" cap="none" spc="0" normalizeH="0" baseline="0" noProof="0">
                <a:ln>
                  <a:noFill/>
                </a:ln>
                <a:solidFill>
                  <a:prstClr val="black"/>
                </a:solidFill>
                <a:effectLst/>
                <a:uLnTx/>
                <a:uFillTx/>
                <a:latin typeface="+mn-lt"/>
                <a:ea typeface="+mn-ea"/>
                <a:cs typeface="+mn-ea"/>
                <a:sym typeface="+mn-lt"/>
              </a:endParaRPr>
            </a:p>
          </p:txBody>
        </p:sp>
      </p:grpSp>
      <p:sp>
        <p:nvSpPr>
          <p:cNvPr id="14" name="Rectangle 6"/>
          <p:cNvSpPr>
            <a:spLocks noChangeArrowheads="1"/>
          </p:cNvSpPr>
          <p:nvPr/>
        </p:nvSpPr>
        <p:spPr bwMode="auto">
          <a:xfrm>
            <a:off x="4649788" y="4348163"/>
            <a:ext cx="3883025" cy="2270125"/>
          </a:xfrm>
          <a:prstGeom prst="rect">
            <a:avLst/>
          </a:prstGeom>
          <a:noFill/>
          <a:ln>
            <a:noFill/>
          </a:ln>
        </p:spPr>
        <p:txBody>
          <a:bodyPr>
            <a:spAutoFit/>
          </a:bodyPr>
          <a:lstStyle>
            <a:lvl1pPr marL="381000" indent="-3810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0000"/>
              </a:lnSpc>
              <a:spcBef>
                <a:spcPct val="3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在磁盘的情况下，需要有段包含的记录数信息、段的位置信息等。文件如集中放置在几个相邻的柱面上的情况比较合适。</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
                                            <p:txEl>
                                              <p:pRg st="0" end="0"/>
                                            </p:txEl>
                                          </p:spTgt>
                                        </p:tgtEl>
                                        <p:attrNameLst>
                                          <p:attrName>style.visibility</p:attrName>
                                        </p:attrNameLst>
                                      </p:cBhvr>
                                      <p:to>
                                        <p:strVal val="visible"/>
                                      </p:to>
                                    </p:set>
                                    <p:anim calcmode="lin" valueType="num">
                                      <p:cBhvr additive="base">
                                        <p:cTn id="12" dur="5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nodeType="click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 fill="hold"/>
                                        <p:tgtEl>
                                          <p:spTgt spid="10"/>
                                        </p:tgtEl>
                                        <p:attrNameLst>
                                          <p:attrName>ppt_x</p:attrName>
                                        </p:attrNameLst>
                                      </p:cBhvr>
                                      <p:tavLst>
                                        <p:tav tm="0">
                                          <p:val>
                                            <p:strVal val="0-#ppt_w/2"/>
                                          </p:val>
                                        </p:tav>
                                        <p:tav tm="100000">
                                          <p:val>
                                            <p:strVal val="#ppt_x"/>
                                          </p:val>
                                        </p:tav>
                                      </p:tavLst>
                                    </p:anim>
                                    <p:anim calcmode="lin" valueType="num">
                                      <p:cBhvr additive="base">
                                        <p:cTn id="19" dur="500" fill="hold"/>
                                        <p:tgtEl>
                                          <p:spTgt spid="10"/>
                                        </p:tgtEl>
                                        <p:attrNameLst>
                                          <p:attrName>ppt_y</p:attrName>
                                        </p:attrNameLst>
                                      </p:cBhvr>
                                      <p:tavLst>
                                        <p:tav tm="0">
                                          <p:val>
                                            <p:strVal val="#ppt_y"/>
                                          </p:val>
                                        </p:tav>
                                        <p:tav tm="100000">
                                          <p:val>
                                            <p:strVal val="#ppt_y"/>
                                          </p:val>
                                        </p:tav>
                                      </p:tavLst>
                                    </p:anim>
                                  </p:childTnLst>
                                </p:cTn>
                              </p:par>
                            </p:childTnLst>
                          </p:cTn>
                        </p:par>
                        <p:par>
                          <p:cTn id="20" fill="hold">
                            <p:stCondLst>
                              <p:cond delay="500"/>
                            </p:stCondLst>
                            <p:childTnLst>
                              <p:par>
                                <p:cTn id="21" presetID="2" presetClass="entr" presetSubtype="8" fill="hold" grpId="0" nodeType="afterEffect">
                                  <p:stCondLst>
                                    <p:cond delay="0"/>
                                  </p:stCondLst>
                                  <p:childTnLst>
                                    <p:set>
                                      <p:cBhvr>
                                        <p:cTn id="22" dur="1" fill="hold">
                                          <p:stCondLst>
                                            <p:cond delay="0"/>
                                          </p:stCondLst>
                                        </p:cTn>
                                        <p:tgtEl>
                                          <p:spTgt spid="14">
                                            <p:txEl>
                                              <p:pRg st="0" end="0"/>
                                            </p:txEl>
                                          </p:spTgt>
                                        </p:tgtEl>
                                        <p:attrNameLst>
                                          <p:attrName>style.visibility</p:attrName>
                                        </p:attrNameLst>
                                      </p:cBhvr>
                                      <p:to>
                                        <p:strVal val="visible"/>
                                      </p:to>
                                    </p:set>
                                    <p:anim calcmode="lin" valueType="num">
                                      <p:cBhvr additive="base">
                                        <p:cTn id="23"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14" grpId="0" build="p"/>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11266" name="矩形: 圆角 16"/>
          <p:cNvSpPr>
            <a:spLocks noChangeArrowheads="1"/>
          </p:cNvSpPr>
          <p:nvPr/>
        </p:nvSpPr>
        <p:spPr bwMode="auto">
          <a:xfrm>
            <a:off x="2830513" y="6152198"/>
            <a:ext cx="4432300" cy="504825"/>
          </a:xfrm>
          <a:prstGeom prst="roundRect">
            <a:avLst>
              <a:gd name="adj" fmla="val 16667"/>
            </a:avLst>
          </a:prstGeom>
          <a:solidFill>
            <a:srgbClr val="9476B6"/>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1885950" y="6152198"/>
            <a:ext cx="839788" cy="504825"/>
          </a:xfrm>
          <a:prstGeom prst="roundRect">
            <a:avLst>
              <a:gd name="adj" fmla="val 16667"/>
            </a:avLst>
          </a:prstGeom>
          <a:solidFill>
            <a:schemeClr val="accent1"/>
          </a:solidFill>
          <a:ln>
            <a:noFill/>
          </a:ln>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sp>
        <p:nvSpPr>
          <p:cNvPr id="14" name="文本框 13"/>
          <p:cNvSpPr txBox="1"/>
          <p:nvPr/>
        </p:nvSpPr>
        <p:spPr>
          <a:xfrm>
            <a:off x="2005013" y="2205990"/>
            <a:ext cx="720725" cy="4523105"/>
          </a:xfrm>
          <a:prstGeom prst="rect">
            <a:avLst/>
          </a:prstGeom>
          <a:noFill/>
        </p:spPr>
        <p:txBody>
          <a:bodyPr>
            <a:spAutoFit/>
          </a:bodyPr>
          <a:lstStyle/>
          <a:p>
            <a:pPr marR="0" defTabSz="914400">
              <a:lnSpc>
                <a:spcPct val="150000"/>
              </a:lnSpc>
              <a:buClrTx/>
              <a:buSzTx/>
              <a:buFontTx/>
              <a:buNone/>
              <a:defRPr/>
            </a:pPr>
            <a:r>
              <a:rPr kumimoji="0" lang="en-US" altLang="zh-CN" sz="2400" b="0" kern="1200" cap="none" spc="0" normalizeH="0" baseline="0" noProof="0" dirty="0">
                <a:solidFill>
                  <a:schemeClr val="tx1"/>
                </a:solidFill>
                <a:latin typeface="+mn-lt"/>
                <a:ea typeface="+mn-ea"/>
                <a:cs typeface="+mn-ea"/>
                <a:sym typeface="+mn-lt"/>
              </a:rPr>
              <a:t>8.1</a:t>
            </a:r>
            <a:endParaRPr kumimoji="0" lang="zh-CN" altLang="en-US" sz="24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8.2</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8.3</a:t>
            </a:r>
            <a:endParaRPr kumimoji="0" lang="zh-CN" altLang="en-US" sz="24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8.4</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8.5</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8.6</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8.7</a:t>
            </a:r>
          </a:p>
          <a:p>
            <a:pPr marR="0" defTabSz="914400">
              <a:lnSpc>
                <a:spcPct val="150000"/>
              </a:lnSpc>
              <a:buClrTx/>
              <a:buSzTx/>
              <a:buFontTx/>
              <a:buNone/>
              <a:defRPr/>
            </a:pPr>
            <a:r>
              <a:rPr kumimoji="0" lang="en-US" altLang="zh-CN" sz="2400" b="0" kern="1200" cap="none" spc="0" normalizeH="0" baseline="0" noProof="0" dirty="0">
                <a:solidFill>
                  <a:schemeClr val="bg1"/>
                </a:solidFill>
                <a:latin typeface="+mn-lt"/>
                <a:ea typeface="+mn-ea"/>
                <a:cs typeface="+mn-ea"/>
                <a:sym typeface="+mn-lt"/>
              </a:rPr>
              <a:t>8.8</a:t>
            </a:r>
          </a:p>
        </p:txBody>
      </p:sp>
      <p:sp>
        <p:nvSpPr>
          <p:cNvPr id="15" name="文本框 14"/>
          <p:cNvSpPr txBox="1"/>
          <p:nvPr/>
        </p:nvSpPr>
        <p:spPr>
          <a:xfrm>
            <a:off x="2843530" y="2205990"/>
            <a:ext cx="4177665" cy="4523105"/>
          </a:xfrm>
          <a:prstGeom prst="rect">
            <a:avLst/>
          </a:prstGeom>
          <a:noFill/>
        </p:spPr>
        <p:txBody>
          <a:bodyPr wrap="square">
            <a:spAutoFit/>
          </a:bodyPr>
          <a:lstStyle/>
          <a:p>
            <a:pPr marR="0" defTabSz="914400">
              <a:lnSpc>
                <a:spcPct val="150000"/>
              </a:lnSpc>
              <a:buClrTx/>
              <a:buSzTx/>
              <a:buFontTx/>
              <a:buNone/>
              <a:defRPr/>
            </a:pPr>
            <a:r>
              <a:rPr kumimoji="0" lang="zh-CN" altLang="en-US" sz="2400" b="0" kern="1200" cap="none" spc="0" normalizeH="0" baseline="0" noProof="0" dirty="0">
                <a:solidFill>
                  <a:schemeClr val="bg1"/>
                </a:solidFill>
                <a:latin typeface="+mn-lt"/>
                <a:ea typeface="+mn-ea"/>
                <a:cs typeface="+mn-ea"/>
                <a:sym typeface="+mn-lt"/>
              </a:rPr>
              <a:t>　</a:t>
            </a:r>
            <a:r>
              <a:rPr kumimoji="0" lang="zh-CN" altLang="en-US" sz="2400" b="0" kern="1200" cap="none" spc="0" normalizeH="0" baseline="0" noProof="0" dirty="0">
                <a:solidFill>
                  <a:schemeClr val="tx1"/>
                </a:solidFill>
                <a:latin typeface="+mn-lt"/>
                <a:ea typeface="+mn-ea"/>
                <a:cs typeface="+mn-ea"/>
                <a:sym typeface="+mn-lt"/>
              </a:rPr>
              <a:t>概述</a:t>
            </a:r>
            <a:endParaRPr kumimoji="0" lang="zh-CN" altLang="en-US" sz="24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插入排序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交换排序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选择排序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归并排序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基数排序</a:t>
            </a:r>
          </a:p>
          <a:p>
            <a:pPr marR="0" defTabSz="914400">
              <a:lnSpc>
                <a:spcPct val="150000"/>
              </a:lnSpc>
              <a:buClrTx/>
              <a:buSzTx/>
              <a:buFontTx/>
              <a:buNone/>
              <a:defRPr/>
            </a:pPr>
            <a:r>
              <a:rPr kumimoji="0" lang="zh-CN" altLang="en-US" sz="2400" b="0" kern="1200" cap="none" spc="0" normalizeH="0" baseline="0" noProof="0" dirty="0">
                <a:solidFill>
                  <a:srgbClr val="000000">
                    <a:lumMod val="95000"/>
                    <a:lumOff val="5000"/>
                  </a:srgbClr>
                </a:solidFill>
                <a:latin typeface="+mn-lt"/>
                <a:ea typeface="+mn-ea"/>
                <a:cs typeface="+mn-ea"/>
                <a:sym typeface="+mn-lt"/>
              </a:rPr>
              <a:t>　外部排序（考试不作要求）</a:t>
            </a:r>
          </a:p>
          <a:p>
            <a:pPr marR="0" defTabSz="914400">
              <a:lnSpc>
                <a:spcPct val="150000"/>
              </a:lnSpc>
              <a:buClrTx/>
              <a:buSzTx/>
              <a:buFontTx/>
              <a:buNone/>
              <a:defRPr/>
            </a:pPr>
            <a:r>
              <a:rPr kumimoji="0" lang="en-US" altLang="zh-CN" sz="2400" b="0" kern="1200" cap="none" spc="0" normalizeH="0" baseline="0" noProof="0" dirty="0">
                <a:solidFill>
                  <a:srgbClr val="000000">
                    <a:lumMod val="95000"/>
                    <a:lumOff val="5000"/>
                  </a:srgbClr>
                </a:solidFill>
                <a:latin typeface="+mn-lt"/>
                <a:ea typeface="+mn-ea"/>
                <a:cs typeface="+mn-ea"/>
                <a:sym typeface="+mn-lt"/>
              </a:rPr>
              <a:t>   </a:t>
            </a:r>
            <a:r>
              <a:rPr kumimoji="0" lang="en-US" altLang="zh-CN" sz="2400" b="0" kern="1200" cap="none" spc="0" normalizeH="0" baseline="0" noProof="0" dirty="0">
                <a:solidFill>
                  <a:schemeClr val="bg1"/>
                </a:solidFill>
                <a:latin typeface="+mn-lt"/>
                <a:ea typeface="+mn-ea"/>
                <a:cs typeface="+mn-ea"/>
                <a:sym typeface="+mn-lt"/>
              </a:rPr>
              <a:t> </a:t>
            </a:r>
            <a:r>
              <a:rPr kumimoji="0" lang="zh-CN" altLang="en-US" sz="2400" b="0" kern="1200" cap="none" spc="0" normalizeH="0" baseline="0" noProof="0" dirty="0">
                <a:solidFill>
                  <a:schemeClr val="bg1"/>
                </a:solidFill>
                <a:latin typeface="+mn-lt"/>
                <a:ea typeface="+mn-ea"/>
                <a:cs typeface="+mn-ea"/>
                <a:sym typeface="+mn-lt"/>
              </a:rPr>
              <a:t>LeetCode算法题</a:t>
            </a:r>
          </a:p>
        </p:txBody>
      </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transition spd="slow"/>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539750" y="188595"/>
            <a:ext cx="842962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8.1】LeetCode 769 最多能完成排序的块</a:t>
            </a:r>
          </a:p>
        </p:txBody>
      </p:sp>
      <p:sp>
        <p:nvSpPr>
          <p:cNvPr id="180227" name="矩形 5"/>
          <p:cNvSpPr>
            <a:spLocks noChangeArrowheads="1"/>
          </p:cNvSpPr>
          <p:nvPr/>
        </p:nvSpPr>
        <p:spPr bwMode="auto">
          <a:xfrm>
            <a:off x="0" y="98234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【问题描述】</a:t>
            </a:r>
          </a:p>
        </p:txBody>
      </p:sp>
      <p:sp>
        <p:nvSpPr>
          <p:cNvPr id="2" name="圆角矩形 1"/>
          <p:cNvSpPr/>
          <p:nvPr/>
        </p:nvSpPr>
        <p:spPr>
          <a:xfrm>
            <a:off x="431165" y="1700530"/>
            <a:ext cx="7739380" cy="2063115"/>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noProof="0" dirty="0">
                <a:ln>
                  <a:noFill/>
                </a:ln>
                <a:solidFill>
                  <a:schemeClr val="tx1"/>
                </a:solidFill>
                <a:effectLst/>
                <a:uLnTx/>
                <a:uFillTx/>
                <a:latin typeface="+mn-lt"/>
                <a:ea typeface="+mn-ea"/>
                <a:cs typeface="+mn-ea"/>
                <a:sym typeface="+mn-lt"/>
              </a:rPr>
              <a:t>给定一个长度为 n 的整数数组 arr，其中的元素在 [0, n-1] 范围内，且互不相同。将 arr 分割成若干块 ( 即分区 )，并对每个块单独排序。将它们连接起来后，连接的结果和按升序排序后的原数组相同。返回数组能分成的最多块数。</a:t>
            </a:r>
          </a:p>
        </p:txBody>
      </p:sp>
      <p:sp>
        <p:nvSpPr>
          <p:cNvPr id="3" name="矩形 5"/>
          <p:cNvSpPr>
            <a:spLocks noChangeArrowheads="1"/>
          </p:cNvSpPr>
          <p:nvPr/>
        </p:nvSpPr>
        <p:spPr bwMode="auto">
          <a:xfrm>
            <a:off x="0" y="3933825"/>
            <a:ext cx="328104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【输入输出示例】</a:t>
            </a:r>
          </a:p>
        </p:txBody>
      </p:sp>
      <p:sp>
        <p:nvSpPr>
          <p:cNvPr id="5" name="圆角矩形 4"/>
          <p:cNvSpPr/>
          <p:nvPr/>
        </p:nvSpPr>
        <p:spPr>
          <a:xfrm>
            <a:off x="431165" y="4655185"/>
            <a:ext cx="7766685" cy="2014220"/>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sz="2400" b="0" noProof="0" dirty="0">
                <a:ln>
                  <a:noFill/>
                </a:ln>
                <a:effectLst/>
                <a:uLnTx/>
                <a:uFillTx/>
                <a:latin typeface="+mn-lt"/>
                <a:ea typeface="+mn-ea"/>
                <a:cs typeface="+mn-ea"/>
                <a:sym typeface="+mn-lt"/>
              </a:rPr>
              <a:t>输入 ：arr = [1, 0, 2, 3, 4]</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noProof="0" dirty="0">
                <a:ln>
                  <a:noFill/>
                </a:ln>
                <a:effectLst/>
                <a:uLnTx/>
                <a:uFillTx/>
                <a:latin typeface="+mn-lt"/>
                <a:ea typeface="+mn-ea"/>
                <a:cs typeface="+mn-ea"/>
                <a:sym typeface="+mn-lt"/>
              </a:rPr>
              <a:t>输出 ：4</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noProof="0" dirty="0">
                <a:ln>
                  <a:noFill/>
                </a:ln>
                <a:effectLst/>
                <a:uLnTx/>
                <a:uFillTx/>
                <a:latin typeface="+mn-lt"/>
                <a:ea typeface="+mn-ea"/>
                <a:cs typeface="+mn-ea"/>
                <a:sym typeface="+mn-lt"/>
              </a:rPr>
              <a:t>解释 ：可以把它分成两块，如 [1, 0]， [2, 3, 4] ；但分成 [1, 0]， [2]， [3]， [4] 可以得到最多的块数，对每个块单独排序后，结果为 [0, 1]， [2]， [3]， [4]。</a:t>
            </a:r>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539750" y="188595"/>
            <a:ext cx="8441690"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8.1】LeetCode 769 最多能完成排序的块</a:t>
            </a:r>
          </a:p>
        </p:txBody>
      </p:sp>
      <p:sp>
        <p:nvSpPr>
          <p:cNvPr id="180227" name="矩形 5"/>
          <p:cNvSpPr>
            <a:spLocks noChangeArrowheads="1"/>
          </p:cNvSpPr>
          <p:nvPr/>
        </p:nvSpPr>
        <p:spPr bwMode="auto">
          <a:xfrm>
            <a:off x="0" y="105410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【问题分析】</a:t>
            </a:r>
          </a:p>
        </p:txBody>
      </p:sp>
      <p:pic>
        <p:nvPicPr>
          <p:cNvPr id="2" name="图片 1"/>
          <p:cNvPicPr>
            <a:picLocks noChangeAspect="1"/>
          </p:cNvPicPr>
          <p:nvPr/>
        </p:nvPicPr>
        <p:blipFill>
          <a:blip r:embed="rId2"/>
          <a:stretch>
            <a:fillRect/>
          </a:stretch>
        </p:blipFill>
        <p:spPr>
          <a:xfrm>
            <a:off x="409575" y="2421255"/>
            <a:ext cx="8324850" cy="3033395"/>
          </a:xfrm>
          <a:prstGeom prst="rect">
            <a:avLst/>
          </a:prstGeom>
        </p:spPr>
      </p:pic>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539750" y="188595"/>
            <a:ext cx="837501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8.1】LeetCode 769 最多能完成排序的块</a:t>
            </a:r>
          </a:p>
        </p:txBody>
      </p:sp>
      <p:sp>
        <p:nvSpPr>
          <p:cNvPr id="180227" name="矩形 5"/>
          <p:cNvSpPr>
            <a:spLocks noChangeArrowheads="1"/>
          </p:cNvSpPr>
          <p:nvPr/>
        </p:nvSpPr>
        <p:spPr bwMode="auto">
          <a:xfrm>
            <a:off x="0" y="112585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【算法步骤】</a:t>
            </a:r>
          </a:p>
        </p:txBody>
      </p:sp>
      <p:sp>
        <p:nvSpPr>
          <p:cNvPr id="3" name="圆角矩形 2"/>
          <p:cNvSpPr/>
          <p:nvPr/>
        </p:nvSpPr>
        <p:spPr>
          <a:xfrm>
            <a:off x="323850" y="1988820"/>
            <a:ext cx="8398510" cy="3235448"/>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b="0" i="0" u="none" strike="noStrike" kern="1200" cap="none" spc="0" normalizeH="0" baseline="0" noProof="0" dirty="0">
                <a:ln>
                  <a:noFill/>
                </a:ln>
                <a:solidFill>
                  <a:schemeClr val="tx1"/>
                </a:solidFill>
                <a:effectLst/>
                <a:uLnTx/>
                <a:uFillTx/>
                <a:latin typeface="+mn-lt"/>
                <a:ea typeface="+mn-ea"/>
                <a:cs typeface="+mn-ea"/>
                <a:sym typeface="+mn-lt"/>
              </a:rPr>
              <a:t>① 定义变量 chunknum 和 max， 分 别 表 示 当 前 块 数 和 当 前 块 中 的 最 大 值， 初 始 时，chunknum = 0，max = 0。</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b="0" i="0" u="none" strike="noStrike" kern="1200" cap="none" spc="0" normalizeH="0" baseline="0" noProof="0" dirty="0">
                <a:ln>
                  <a:noFill/>
                </a:ln>
                <a:solidFill>
                  <a:schemeClr val="tx1"/>
                </a:solidFill>
                <a:effectLst/>
                <a:uLnTx/>
                <a:uFillTx/>
                <a:latin typeface="+mn-lt"/>
                <a:ea typeface="+mn-ea"/>
                <a:cs typeface="+mn-ea"/>
                <a:sym typeface="+mn-lt"/>
              </a:rPr>
              <a:t>② 遍历数组 arr，循环执行以下操作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b="0" i="0" u="none" strike="noStrike" kern="1200" cap="none" spc="0" normalizeH="0" baseline="0" noProof="0" dirty="0">
                <a:ln>
                  <a:noFill/>
                </a:ln>
                <a:solidFill>
                  <a:schemeClr val="tx1"/>
                </a:solidFill>
                <a:effectLst/>
                <a:uLnTx/>
                <a:uFillTx/>
                <a:latin typeface="+mn-lt"/>
                <a:ea typeface="+mn-ea"/>
                <a:cs typeface="+mn-ea"/>
                <a:sym typeface="+mn-lt"/>
              </a:rPr>
              <a:t>将当前元素 arr[i] 和 max 中的较大值赋值给 max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b="0" i="0" u="none" strike="noStrike" kern="1200" cap="none" spc="0" normalizeH="0" baseline="0" noProof="0" dirty="0">
                <a:ln>
                  <a:noFill/>
                </a:ln>
                <a:solidFill>
                  <a:schemeClr val="tx1"/>
                </a:solidFill>
                <a:effectLst/>
                <a:uLnTx/>
                <a:uFillTx/>
                <a:latin typeface="+mn-lt"/>
                <a:ea typeface="+mn-ea"/>
                <a:cs typeface="+mn-ea"/>
                <a:sym typeface="+mn-lt"/>
              </a:rPr>
              <a:t>若 max 等于 i，块数 chunknum 加 1。</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b="0" i="0" u="none" strike="noStrike" kern="1200" cap="none" spc="0" normalizeH="0" baseline="0" noProof="0" dirty="0">
                <a:ln>
                  <a:noFill/>
                </a:ln>
                <a:solidFill>
                  <a:schemeClr val="tx1"/>
                </a:solidFill>
                <a:effectLst/>
                <a:uLnTx/>
                <a:uFillTx/>
                <a:latin typeface="+mn-lt"/>
                <a:ea typeface="+mn-ea"/>
                <a:cs typeface="+mn-ea"/>
                <a:sym typeface="+mn-lt"/>
              </a:rPr>
              <a:t>③ 返回最多可分块数 chunknum。</a:t>
            </a:r>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539750" y="188595"/>
            <a:ext cx="8356600"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8.1】LeetCode 769 最多能完成排序的块</a:t>
            </a:r>
          </a:p>
        </p:txBody>
      </p:sp>
      <p:sp>
        <p:nvSpPr>
          <p:cNvPr id="180227" name="矩形 5"/>
          <p:cNvSpPr>
            <a:spLocks noChangeArrowheads="1"/>
          </p:cNvSpPr>
          <p:nvPr/>
        </p:nvSpPr>
        <p:spPr bwMode="auto">
          <a:xfrm>
            <a:off x="0" y="119761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3" name="图片 2"/>
          <p:cNvPicPr>
            <a:picLocks noChangeAspect="1"/>
          </p:cNvPicPr>
          <p:nvPr/>
        </p:nvPicPr>
        <p:blipFill>
          <a:blip r:embed="rId2"/>
          <a:stretch>
            <a:fillRect/>
          </a:stretch>
        </p:blipFill>
        <p:spPr>
          <a:xfrm>
            <a:off x="323215" y="2278380"/>
            <a:ext cx="8639810" cy="3361055"/>
          </a:xfrm>
          <a:prstGeom prst="rect">
            <a:avLst/>
          </a:prstGeom>
        </p:spPr>
      </p:pic>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539750" y="188595"/>
            <a:ext cx="8345170"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8.1】LeetCode 769 最多能完成排序的块</a:t>
            </a:r>
          </a:p>
        </p:txBody>
      </p:sp>
      <p:sp>
        <p:nvSpPr>
          <p:cNvPr id="180227" name="矩形 5"/>
          <p:cNvSpPr>
            <a:spLocks noChangeArrowheads="1"/>
          </p:cNvSpPr>
          <p:nvPr/>
        </p:nvSpPr>
        <p:spPr bwMode="auto">
          <a:xfrm>
            <a:off x="0" y="148463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【算法分析】</a:t>
            </a:r>
          </a:p>
        </p:txBody>
      </p:sp>
      <p:sp>
        <p:nvSpPr>
          <p:cNvPr id="3" name="圆角矩形 2"/>
          <p:cNvSpPr/>
          <p:nvPr/>
        </p:nvSpPr>
        <p:spPr>
          <a:xfrm>
            <a:off x="394970" y="2710180"/>
            <a:ext cx="8398510" cy="1440497"/>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算法需要遍历整个数组一次，因此时间复杂度为O(n) ；算法只需要申请几个额外的常量空间，因此空间复杂度为 O(1)。</a:t>
            </a:r>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392160"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8.2】LeetCode 215 数组中的第 k 大元素</a:t>
            </a:r>
          </a:p>
        </p:txBody>
      </p:sp>
      <p:sp>
        <p:nvSpPr>
          <p:cNvPr id="180227" name="矩形 5"/>
          <p:cNvSpPr>
            <a:spLocks noChangeArrowheads="1"/>
          </p:cNvSpPr>
          <p:nvPr/>
        </p:nvSpPr>
        <p:spPr bwMode="auto">
          <a:xfrm>
            <a:off x="0" y="119761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【问题描述】</a:t>
            </a:r>
          </a:p>
        </p:txBody>
      </p:sp>
      <p:sp>
        <p:nvSpPr>
          <p:cNvPr id="2" name="圆角矩形 1"/>
          <p:cNvSpPr/>
          <p:nvPr/>
        </p:nvSpPr>
        <p:spPr>
          <a:xfrm>
            <a:off x="461645" y="2059940"/>
            <a:ext cx="8194675" cy="1706880"/>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noProof="0" dirty="0">
                <a:ln>
                  <a:noFill/>
                </a:ln>
                <a:solidFill>
                  <a:schemeClr val="tx1"/>
                </a:solidFill>
                <a:effectLst/>
                <a:uLnTx/>
                <a:uFillTx/>
                <a:latin typeface="+mn-lt"/>
                <a:ea typeface="+mn-ea"/>
                <a:cs typeface="+mn-ea"/>
                <a:sym typeface="+mn-lt"/>
              </a:rPr>
              <a:t>给定一个整数数组 nums 和一个整数 k，返回数组中第 k 大的元素。请设计并实现时间复杂度为 O(n) 的算法来解决此问题。</a:t>
            </a:r>
          </a:p>
        </p:txBody>
      </p:sp>
      <p:sp>
        <p:nvSpPr>
          <p:cNvPr id="3" name="矩形 5"/>
          <p:cNvSpPr>
            <a:spLocks noChangeArrowheads="1"/>
          </p:cNvSpPr>
          <p:nvPr/>
        </p:nvSpPr>
        <p:spPr bwMode="auto">
          <a:xfrm>
            <a:off x="0" y="4151630"/>
            <a:ext cx="328104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【输入输出示例】</a:t>
            </a:r>
          </a:p>
        </p:txBody>
      </p:sp>
      <p:sp>
        <p:nvSpPr>
          <p:cNvPr id="5" name="圆角矩形 4"/>
          <p:cNvSpPr/>
          <p:nvPr/>
        </p:nvSpPr>
        <p:spPr>
          <a:xfrm>
            <a:off x="395605" y="5013325"/>
            <a:ext cx="8249920" cy="1253490"/>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输入 ：nums = [3, 2, 1, 5, 6, 4]，k = 2</a:t>
            </a:r>
          </a:p>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输出 ：5</a:t>
            </a:r>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41819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l">
              <a:lnSpc>
                <a:spcPct val="100000"/>
              </a:lnSpc>
            </a:pPr>
            <a:r>
              <a:rPr lang="zh-CN" altLang="en-US" dirty="0">
                <a:solidFill>
                  <a:schemeClr val="bg1"/>
                </a:solidFill>
                <a:sym typeface="+mn-lt"/>
              </a:rPr>
              <a:t>【算法练习题 8.2】LeetCode 215 数组中的第 k 大元素</a:t>
            </a:r>
          </a:p>
        </p:txBody>
      </p:sp>
      <p:sp>
        <p:nvSpPr>
          <p:cNvPr id="180227" name="矩形 5"/>
          <p:cNvSpPr>
            <a:spLocks noChangeArrowheads="1"/>
          </p:cNvSpPr>
          <p:nvPr/>
        </p:nvSpPr>
        <p:spPr bwMode="auto">
          <a:xfrm>
            <a:off x="0" y="98234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【问题分析】</a:t>
            </a:r>
          </a:p>
        </p:txBody>
      </p:sp>
      <p:pic>
        <p:nvPicPr>
          <p:cNvPr id="3" name="图片 2"/>
          <p:cNvPicPr>
            <a:picLocks noChangeAspect="1"/>
          </p:cNvPicPr>
          <p:nvPr/>
        </p:nvPicPr>
        <p:blipFill>
          <a:blip r:embed="rId2"/>
          <a:stretch>
            <a:fillRect/>
          </a:stretch>
        </p:blipFill>
        <p:spPr>
          <a:xfrm>
            <a:off x="3203575" y="1125220"/>
            <a:ext cx="4501515" cy="5503545"/>
          </a:xfrm>
          <a:prstGeom prst="rect">
            <a:avLst/>
          </a:prstGeom>
        </p:spPr>
      </p:pic>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35469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l">
              <a:lnSpc>
                <a:spcPct val="100000"/>
              </a:lnSpc>
            </a:pPr>
            <a:r>
              <a:rPr lang="zh-CN" altLang="en-US" dirty="0">
                <a:solidFill>
                  <a:schemeClr val="bg1"/>
                </a:solidFill>
                <a:sym typeface="+mn-lt"/>
              </a:rPr>
              <a:t>【算法练习题 8.2】LeetCode 215 数组中的第 k 大元素</a:t>
            </a:r>
          </a:p>
        </p:txBody>
      </p:sp>
      <p:sp>
        <p:nvSpPr>
          <p:cNvPr id="180227" name="矩形 5"/>
          <p:cNvSpPr>
            <a:spLocks noChangeArrowheads="1"/>
          </p:cNvSpPr>
          <p:nvPr/>
        </p:nvSpPr>
        <p:spPr bwMode="auto">
          <a:xfrm>
            <a:off x="0" y="105410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【算法步骤】</a:t>
            </a:r>
          </a:p>
        </p:txBody>
      </p:sp>
      <p:sp>
        <p:nvSpPr>
          <p:cNvPr id="3" name="圆角矩形 2"/>
          <p:cNvSpPr/>
          <p:nvPr/>
        </p:nvSpPr>
        <p:spPr>
          <a:xfrm>
            <a:off x="395605" y="1917065"/>
            <a:ext cx="8398510" cy="3235292"/>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① 选择数组 nums 的第一个元素作为枢轴 pivotkey。</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② 遍历数组 nums，将其划分为两部分 ：小于或等于枢轴 pivotkey 的元素移至 pivotkey 的左边，大于枢轴 pivotkey 的元素移至 pivotkey 的右边。</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③ 遍历结束后，判断枢轴的下标 j 与目标下标 k 的大小关系。如果 j 小于 k，在左子区间中继续查找，否则在右子区间中继续查找。</a:t>
            </a:r>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328660"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l">
              <a:lnSpc>
                <a:spcPct val="100000"/>
              </a:lnSpc>
            </a:pPr>
            <a:r>
              <a:rPr lang="zh-CN" altLang="en-US" dirty="0">
                <a:solidFill>
                  <a:schemeClr val="bg1"/>
                </a:solidFill>
                <a:sym typeface="+mn-lt"/>
              </a:rPr>
              <a:t>【算法练习题 8.2】LeetCode 215 数组中的第 k 大元素</a:t>
            </a:r>
          </a:p>
        </p:txBody>
      </p:sp>
      <p:sp>
        <p:nvSpPr>
          <p:cNvPr id="180227" name="矩形 5"/>
          <p:cNvSpPr>
            <a:spLocks noChangeArrowheads="1"/>
          </p:cNvSpPr>
          <p:nvPr/>
        </p:nvSpPr>
        <p:spPr bwMode="auto">
          <a:xfrm>
            <a:off x="0" y="83756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2" name="图片 1"/>
          <p:cNvPicPr>
            <a:picLocks noChangeAspect="1"/>
          </p:cNvPicPr>
          <p:nvPr/>
        </p:nvPicPr>
        <p:blipFill>
          <a:blip r:embed="rId2"/>
          <a:stretch>
            <a:fillRect/>
          </a:stretch>
        </p:blipFill>
        <p:spPr>
          <a:xfrm>
            <a:off x="467995" y="1557655"/>
            <a:ext cx="8090535" cy="1915795"/>
          </a:xfrm>
          <a:prstGeom prst="rect">
            <a:avLst/>
          </a:prstGeom>
        </p:spPr>
      </p:pic>
      <p:pic>
        <p:nvPicPr>
          <p:cNvPr id="5" name="图片 4"/>
          <p:cNvPicPr>
            <a:picLocks noChangeAspect="1"/>
          </p:cNvPicPr>
          <p:nvPr/>
        </p:nvPicPr>
        <p:blipFill>
          <a:blip r:embed="rId3"/>
          <a:stretch>
            <a:fillRect/>
          </a:stretch>
        </p:blipFill>
        <p:spPr>
          <a:xfrm>
            <a:off x="467995" y="3501390"/>
            <a:ext cx="8091170" cy="3138170"/>
          </a:xfrm>
          <a:prstGeom prst="rect">
            <a:avLst/>
          </a:prstGeom>
        </p:spPr>
      </p:pic>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24420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l">
              <a:lnSpc>
                <a:spcPct val="100000"/>
              </a:lnSpc>
            </a:pPr>
            <a:r>
              <a:rPr lang="zh-CN" altLang="en-US" dirty="0">
                <a:solidFill>
                  <a:schemeClr val="bg1"/>
                </a:solidFill>
                <a:sym typeface="+mn-lt"/>
              </a:rPr>
              <a:t>【算法练习题 8.2】LeetCode 215 数组中的第 k 大元素</a:t>
            </a:r>
          </a:p>
        </p:txBody>
      </p:sp>
      <p:sp>
        <p:nvSpPr>
          <p:cNvPr id="180227" name="矩形 5"/>
          <p:cNvSpPr>
            <a:spLocks noChangeArrowheads="1"/>
          </p:cNvSpPr>
          <p:nvPr/>
        </p:nvSpPr>
        <p:spPr bwMode="auto">
          <a:xfrm>
            <a:off x="0" y="126936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3" name="图片 2"/>
          <p:cNvPicPr>
            <a:picLocks noChangeAspect="1"/>
          </p:cNvPicPr>
          <p:nvPr/>
        </p:nvPicPr>
        <p:blipFill>
          <a:blip r:embed="rId2"/>
          <a:stretch>
            <a:fillRect/>
          </a:stretch>
        </p:blipFill>
        <p:spPr>
          <a:xfrm>
            <a:off x="210185" y="3102610"/>
            <a:ext cx="8723630" cy="1658620"/>
          </a:xfrm>
          <a:prstGeom prst="rect">
            <a:avLst/>
          </a:prstGeom>
        </p:spPr>
      </p:pic>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37501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l">
              <a:lnSpc>
                <a:spcPct val="100000"/>
              </a:lnSpc>
            </a:pPr>
            <a:r>
              <a:rPr lang="zh-CN" altLang="en-US" dirty="0">
                <a:solidFill>
                  <a:schemeClr val="bg1"/>
                </a:solidFill>
                <a:sym typeface="+mn-lt"/>
              </a:rPr>
              <a:t>【算法练习题 8.2】LeetCode 215 数组中的第 k 大元素</a:t>
            </a:r>
          </a:p>
        </p:txBody>
      </p:sp>
      <p:sp>
        <p:nvSpPr>
          <p:cNvPr id="180227" name="矩形 5"/>
          <p:cNvSpPr>
            <a:spLocks noChangeArrowheads="1"/>
          </p:cNvSpPr>
          <p:nvPr/>
        </p:nvSpPr>
        <p:spPr bwMode="auto">
          <a:xfrm>
            <a:off x="0" y="112585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【算法分析】</a:t>
            </a:r>
          </a:p>
        </p:txBody>
      </p:sp>
      <mc:AlternateContent xmlns:mc="http://schemas.openxmlformats.org/markup-compatibility/2006" xmlns:a14="http://schemas.microsoft.com/office/drawing/2010/main">
        <mc:Choice Requires="a14">
          <p:sp>
            <p:nvSpPr>
              <p:cNvPr id="3" name="圆角矩形 2"/>
              <p:cNvSpPr/>
              <p:nvPr/>
            </p:nvSpPr>
            <p:spPr>
              <a:xfrm>
                <a:off x="394970" y="1849120"/>
                <a:ext cx="8398510" cy="4771886"/>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在最坏情况下，每次划分都会选择到数组的最大或最小元素作为枢轴，每次只排除一个元素，从而使递归深度达到 O(n) 级别，这样会导致时间复杂度为 T(n) = T(n − 1) + O(n)，解这个递归关系得到的时间复杂度为 O(n</a:t>
                </a:r>
                <a:r>
                  <a:rPr kumimoji="1" lang="en-US" altLang="zh-CN" sz="2800" b="0" i="0" u="none" strike="noStrike" kern="1200" cap="none" spc="0" normalizeH="0" baseline="30000" noProof="0" dirty="0">
                    <a:ln>
                      <a:noFill/>
                    </a:ln>
                    <a:solidFill>
                      <a:schemeClr val="tx1"/>
                    </a:solidFill>
                    <a:effectLst/>
                    <a:uLnTx/>
                    <a:uFillTx/>
                    <a:latin typeface="+mn-lt"/>
                    <a:ea typeface="+mn-ea"/>
                    <a:cs typeface="+mn-ea"/>
                    <a:sym typeface="+mn-lt"/>
                  </a:rPr>
                  <a:t>2</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 ；在平均情况下，快速选择算法的每次划分都会将数组分成近似均匀的两部分，这样划分的递归深度是对数级别的，平均时间复杂度为 T(n) = T(</a:t>
                </a:r>
                <a14:m>
                  <m:oMath xmlns:m="http://schemas.openxmlformats.org/officeDocument/2006/math">
                    <m:f>
                      <m:fPr>
                        <m:ctrlPr>
                          <a:rPr kumimoji="1" lang="en-US" altLang="zh-CN" sz="2800" b="0" i="1" u="none" strike="noStrike" kern="1200" cap="none" spc="0" normalizeH="0" noProof="0" dirty="0">
                            <a:ln>
                              <a:noFill/>
                            </a:ln>
                            <a:solidFill>
                              <a:schemeClr val="tx1"/>
                            </a:solidFill>
                            <a:effectLst/>
                            <a:uLnTx/>
                            <a:uFillTx/>
                            <a:latin typeface="Cambria Math"/>
                            <a:ea typeface="+mn-ea"/>
                            <a:cs typeface="Cambria Math" panose="02040503050406030204" charset="0"/>
                            <a:sym typeface="+mn-lt"/>
                          </a:rPr>
                        </m:ctrlPr>
                      </m:fPr>
                      <m:num>
                        <m:r>
                          <a:rPr kumimoji="1" lang="en-US" altLang="zh-CN" sz="2800" b="0" i="1" u="none" strike="noStrike" kern="1200" cap="none" spc="0" normalizeH="0" noProof="0" dirty="0">
                            <a:ln>
                              <a:noFill/>
                            </a:ln>
                            <a:solidFill>
                              <a:schemeClr val="tx1"/>
                            </a:solidFill>
                            <a:effectLst/>
                            <a:uLnTx/>
                            <a:uFillTx/>
                            <a:latin typeface="Cambria Math" panose="02040503050406030204" charset="0"/>
                            <a:ea typeface="+mn-ea"/>
                            <a:cs typeface="Cambria Math" panose="02040503050406030204" charset="0"/>
                            <a:sym typeface="+mn-lt"/>
                          </a:rPr>
                          <m:t>𝑛</m:t>
                        </m:r>
                      </m:num>
                      <m:den>
                        <m:r>
                          <a:rPr kumimoji="1" lang="en-US" altLang="zh-CN" sz="2800" b="0" i="1" u="none" strike="noStrike" kern="1200" cap="none" spc="0" normalizeH="0" noProof="0" dirty="0">
                            <a:ln>
                              <a:noFill/>
                            </a:ln>
                            <a:solidFill>
                              <a:schemeClr val="tx1"/>
                            </a:solidFill>
                            <a:effectLst/>
                            <a:uLnTx/>
                            <a:uFillTx/>
                            <a:latin typeface="Cambria Math" panose="02040503050406030204" charset="0"/>
                            <a:ea typeface="+mn-ea"/>
                            <a:cs typeface="Cambria Math" panose="02040503050406030204" charset="0"/>
                            <a:sym typeface="+mn-lt"/>
                          </a:rPr>
                          <m:t>2</m:t>
                        </m:r>
                      </m:den>
                    </m:f>
                  </m:oMath>
                </a14:m>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 + O(n)，求解该递归关系得到的时间复杂度为 O(n)。由于递归时需要 log</a:t>
                </a:r>
                <a:r>
                  <a:rPr kumimoji="1"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2</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n 大小的栈空间，因此空间复杂度为 O(log</a:t>
                </a:r>
                <a:r>
                  <a:rPr kumimoji="1"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2</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n)。</a:t>
                </a:r>
              </a:p>
            </p:txBody>
          </p:sp>
        </mc:Choice>
        <mc:Fallback xmlns="">
          <p:sp>
            <p:nvSpPr>
              <p:cNvPr id="3" name="圆角矩形 2"/>
              <p:cNvSpPr>
                <a:spLocks noRot="1" noChangeAspect="1" noMove="1" noResize="1" noEditPoints="1" noAdjustHandles="1" noChangeArrowheads="1" noChangeShapeType="1" noTextEdit="1"/>
              </p:cNvSpPr>
              <p:nvPr/>
            </p:nvSpPr>
            <p:spPr>
              <a:xfrm>
                <a:off x="394970" y="1849120"/>
                <a:ext cx="8398510" cy="4771886"/>
              </a:xfrm>
              <a:prstGeom prst="roundRect">
                <a:avLst>
                  <a:gd name="adj" fmla="val 6741"/>
                </a:avLst>
              </a:prstGeom>
              <a:blipFill rotWithShape="1">
                <a:blip r:embed="rId2"/>
                <a:stretch>
                  <a:fillRect b="10"/>
                </a:stretch>
              </a:blipFill>
            </p:spPr>
            <p:txBody>
              <a:bodyPr/>
              <a:lstStyle/>
              <a:p>
                <a:r>
                  <a:rPr lang="zh-CN" altLang="en-US">
                    <a:noFill/>
                  </a:rPr>
                  <a:t> </a:t>
                </a:r>
              </a:p>
            </p:txBody>
          </p:sp>
        </mc:Fallback>
      </mc:AlternateContent>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291830"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8.3】LeetCode 23 合并 k 个升序链表</a:t>
            </a:r>
          </a:p>
        </p:txBody>
      </p:sp>
      <p:sp>
        <p:nvSpPr>
          <p:cNvPr id="180227" name="矩形 5"/>
          <p:cNvSpPr>
            <a:spLocks noChangeArrowheads="1"/>
          </p:cNvSpPr>
          <p:nvPr/>
        </p:nvSpPr>
        <p:spPr bwMode="auto">
          <a:xfrm>
            <a:off x="0" y="91059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【问题描述】</a:t>
            </a:r>
          </a:p>
        </p:txBody>
      </p:sp>
      <p:sp>
        <p:nvSpPr>
          <p:cNvPr id="2" name="圆角矩形 1"/>
          <p:cNvSpPr/>
          <p:nvPr/>
        </p:nvSpPr>
        <p:spPr>
          <a:xfrm>
            <a:off x="431165" y="1557655"/>
            <a:ext cx="8218170" cy="964565"/>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给定一个链表数组，每个链表都已按升序排列，要求将所有链表合并到一个升序链表中，返回合并后的链表。</a:t>
            </a:r>
          </a:p>
        </p:txBody>
      </p:sp>
      <p:sp>
        <p:nvSpPr>
          <p:cNvPr id="3" name="矩形 5"/>
          <p:cNvSpPr>
            <a:spLocks noChangeArrowheads="1"/>
          </p:cNvSpPr>
          <p:nvPr/>
        </p:nvSpPr>
        <p:spPr bwMode="auto">
          <a:xfrm>
            <a:off x="0" y="2640965"/>
            <a:ext cx="328104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【输入输出示例】</a:t>
            </a:r>
          </a:p>
        </p:txBody>
      </p:sp>
      <p:sp>
        <p:nvSpPr>
          <p:cNvPr id="5" name="圆角矩形 4"/>
          <p:cNvSpPr/>
          <p:nvPr/>
        </p:nvSpPr>
        <p:spPr>
          <a:xfrm>
            <a:off x="382270" y="3237865"/>
            <a:ext cx="8267065" cy="3509645"/>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输入 ：lists = [[1, 4, 5], [1, 3, 4], [2, 6]]</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输出 ：[1, 1, 2, 3, 4, 4, 5, 6]</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解释 ：链表数组为</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 1-&gt;4-&gt;5,</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 1-&gt;3-&gt;4,</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 2-&gt;6</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1" fontAlgn="base" latinLnBrk="0" hangingPunct="1">
              <a:lnSpc>
                <a:spcPct val="100000"/>
              </a:lnSpc>
              <a:spcBef>
                <a:spcPct val="0"/>
              </a:spcBef>
              <a:spcAft>
                <a:spcPct val="0"/>
              </a:spcAft>
              <a:buClrTx/>
              <a:buSzTx/>
              <a:buFontTx/>
              <a:buNone/>
              <a:defRPr/>
            </a:pPr>
            <a:r>
              <a:rPr kumimoji="1" sz="2400" b="0" i="0" u="none" strike="noStrike" kern="1200" cap="none" spc="0" normalizeH="0" baseline="0" noProof="0" dirty="0">
                <a:ln>
                  <a:noFill/>
                </a:ln>
                <a:solidFill>
                  <a:schemeClr val="tx1"/>
                </a:solidFill>
                <a:effectLst/>
                <a:uLnTx/>
                <a:uFillTx/>
                <a:latin typeface="+mn-lt"/>
                <a:ea typeface="+mn-ea"/>
                <a:cs typeface="+mn-ea"/>
                <a:sym typeface="+mn-lt"/>
              </a:rPr>
              <a:t>将它们合并到一个有序链表中得到 1-&gt;1-&gt;2-&gt;3-&gt;4-&gt;4-&gt;5-&gt;6。</a:t>
            </a:r>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l">
              <a:lnSpc>
                <a:spcPct val="100000"/>
              </a:lnSpc>
            </a:pPr>
            <a:r>
              <a:rPr lang="zh-CN" altLang="en-US" dirty="0">
                <a:solidFill>
                  <a:schemeClr val="bg1"/>
                </a:solidFill>
                <a:sym typeface="+mn-lt"/>
              </a:rPr>
              <a:t>【算法练习题 8.3】LeetCode 23 合并 k 个升序链表</a:t>
            </a:r>
            <a:endParaRPr lang="zh-CN" altLang="en-US" sz="2200" dirty="0">
              <a:solidFill>
                <a:schemeClr val="bg1"/>
              </a:solidFill>
              <a:sym typeface="+mn-lt"/>
            </a:endParaRPr>
          </a:p>
        </p:txBody>
      </p:sp>
      <p:sp>
        <p:nvSpPr>
          <p:cNvPr id="180227" name="矩形 5"/>
          <p:cNvSpPr>
            <a:spLocks noChangeArrowheads="1"/>
          </p:cNvSpPr>
          <p:nvPr/>
        </p:nvSpPr>
        <p:spPr bwMode="auto">
          <a:xfrm>
            <a:off x="0" y="126936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【问题分析】</a:t>
            </a:r>
          </a:p>
        </p:txBody>
      </p:sp>
      <p:sp>
        <p:nvSpPr>
          <p:cNvPr id="5" name="圆角矩形 4"/>
          <p:cNvSpPr/>
          <p:nvPr/>
        </p:nvSpPr>
        <p:spPr>
          <a:xfrm>
            <a:off x="395605" y="2348865"/>
            <a:ext cx="8267065" cy="3509645"/>
          </a:xfrm>
          <a:prstGeom prst="roundRect">
            <a:avLst>
              <a:gd name="adj" fmla="val 6741"/>
            </a:avLst>
          </a:prstGeom>
          <a:solidFill>
            <a:srgbClr val="EAEAEA"/>
          </a:solidFill>
        </p:spPr>
        <p:txBody>
          <a:bodyPr wrap="square">
            <a:noAutofit/>
          </a:bodyPr>
          <a:lstStyle/>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由于每个链表都是升序的，因此可以利用归并排序将各链表合并为一个有序链表。</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首先使用递归方法对 k 个链表进行划分，然后两两一组对链表进行合并 </a:t>
            </a:r>
            <a:r>
              <a:rPr kumimoji="1" lang="zh-CN" b="0" i="0" u="none" strike="noStrike" kern="1200" cap="none" spc="0" normalizeH="0" baseline="0" noProof="0" dirty="0">
                <a:ln>
                  <a:noFill/>
                </a:ln>
                <a:solidFill>
                  <a:schemeClr val="tx1"/>
                </a:solidFill>
                <a:effectLst/>
                <a:uLnTx/>
                <a:uFillTx/>
                <a:latin typeface="+mn-lt"/>
                <a:ea typeface="+mn-ea"/>
                <a:cs typeface="+mn-ea"/>
                <a:sym typeface="+mn-lt"/>
              </a:rPr>
              <a:t>。</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第一轮合并之后，k 个链表被合并为 k/2 个链表，然后重复上述过程，直到将其合并为一个有序链表。</a:t>
            </a:r>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l">
              <a:lnSpc>
                <a:spcPct val="100000"/>
              </a:lnSpc>
            </a:pPr>
            <a:r>
              <a:rPr lang="zh-CN" altLang="en-US" dirty="0">
                <a:solidFill>
                  <a:schemeClr val="bg1"/>
                </a:solidFill>
                <a:sym typeface="+mn-lt"/>
              </a:rPr>
              <a:t>【算法练习题 8.3】LeetCode 23 合并 k 个升序链表</a:t>
            </a:r>
          </a:p>
        </p:txBody>
      </p:sp>
      <p:sp>
        <p:nvSpPr>
          <p:cNvPr id="180227" name="矩形 5"/>
          <p:cNvSpPr>
            <a:spLocks noChangeArrowheads="1"/>
          </p:cNvSpPr>
          <p:nvPr/>
        </p:nvSpPr>
        <p:spPr bwMode="auto">
          <a:xfrm>
            <a:off x="0" y="112585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【算法步骤】</a:t>
            </a:r>
          </a:p>
        </p:txBody>
      </p:sp>
      <p:sp>
        <p:nvSpPr>
          <p:cNvPr id="3" name="圆角矩形 2"/>
          <p:cNvSpPr/>
          <p:nvPr/>
        </p:nvSpPr>
        <p:spPr>
          <a:xfrm>
            <a:off x="323850" y="2061210"/>
            <a:ext cx="8398510" cy="2786425"/>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b="0" i="0" u="none" strike="noStrike" kern="1200" cap="none" spc="0" normalizeH="0" baseline="0" noProof="0" dirty="0">
                <a:ln>
                  <a:noFill/>
                </a:ln>
                <a:solidFill>
                  <a:schemeClr val="tx1"/>
                </a:solidFill>
                <a:effectLst/>
                <a:uLnTx/>
                <a:uFillTx/>
                <a:latin typeface="+mn-lt"/>
                <a:ea typeface="+mn-ea"/>
                <a:cs typeface="+mn-ea"/>
                <a:sym typeface="+mn-lt"/>
              </a:rPr>
              <a:t>① 利用递归方法将 k 个链表两两一组进行合并，当下界 low 等于上界 high 时，返回lists[low] ；当 low 大于 high 时，返回 NULL。</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b="0" i="0" u="none" strike="noStrike" kern="1200" cap="none" spc="0" normalizeH="0" baseline="0" noProof="0" dirty="0">
                <a:ln>
                  <a:noFill/>
                </a:ln>
                <a:solidFill>
                  <a:schemeClr val="tx1"/>
                </a:solidFill>
                <a:effectLst/>
                <a:uLnTx/>
                <a:uFillTx/>
                <a:latin typeface="+mn-lt"/>
                <a:ea typeface="+mn-ea"/>
                <a:cs typeface="+mn-ea"/>
                <a:sym typeface="+mn-lt"/>
              </a:rPr>
              <a:t>② 取 mid = (low + high)/2， mid 将链表分为两部分，分别递归调用链表的左子表和右子表，然后将这两部分合并。</a:t>
            </a:r>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l">
              <a:lnSpc>
                <a:spcPct val="100000"/>
              </a:lnSpc>
            </a:pPr>
            <a:r>
              <a:rPr lang="zh-CN" altLang="en-US" dirty="0">
                <a:solidFill>
                  <a:schemeClr val="bg1"/>
                </a:solidFill>
                <a:sym typeface="+mn-lt"/>
              </a:rPr>
              <a:t>【算法练习题 8.3】LeetCode 23 合并 k 个升序链表</a:t>
            </a:r>
          </a:p>
        </p:txBody>
      </p:sp>
      <p:sp>
        <p:nvSpPr>
          <p:cNvPr id="180227" name="矩形 5"/>
          <p:cNvSpPr>
            <a:spLocks noChangeArrowheads="1"/>
          </p:cNvSpPr>
          <p:nvPr/>
        </p:nvSpPr>
        <p:spPr bwMode="auto">
          <a:xfrm>
            <a:off x="0" y="98234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2" name="图片 1"/>
          <p:cNvPicPr>
            <a:picLocks noChangeAspect="1"/>
          </p:cNvPicPr>
          <p:nvPr/>
        </p:nvPicPr>
        <p:blipFill>
          <a:blip r:embed="rId2"/>
          <a:stretch>
            <a:fillRect/>
          </a:stretch>
        </p:blipFill>
        <p:spPr>
          <a:xfrm>
            <a:off x="755650" y="1640205"/>
            <a:ext cx="7866380" cy="4932680"/>
          </a:xfrm>
          <a:prstGeom prst="rect">
            <a:avLst/>
          </a:prstGeom>
        </p:spPr>
      </p:pic>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l">
              <a:lnSpc>
                <a:spcPct val="100000"/>
              </a:lnSpc>
            </a:pPr>
            <a:r>
              <a:rPr lang="zh-CN" altLang="en-US" dirty="0">
                <a:solidFill>
                  <a:schemeClr val="bg1"/>
                </a:solidFill>
                <a:sym typeface="+mn-lt"/>
              </a:rPr>
              <a:t>【算法练习题 8.3】LeetCode 23 合并 k 个升序链表</a:t>
            </a:r>
          </a:p>
        </p:txBody>
      </p:sp>
      <p:sp>
        <p:nvSpPr>
          <p:cNvPr id="180227" name="矩形 5"/>
          <p:cNvSpPr>
            <a:spLocks noChangeArrowheads="1"/>
          </p:cNvSpPr>
          <p:nvPr/>
        </p:nvSpPr>
        <p:spPr bwMode="auto">
          <a:xfrm>
            <a:off x="0" y="98234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3" name="图片 2"/>
          <p:cNvPicPr>
            <a:picLocks noChangeAspect="1"/>
          </p:cNvPicPr>
          <p:nvPr/>
        </p:nvPicPr>
        <p:blipFill>
          <a:blip r:embed="rId2"/>
          <a:stretch>
            <a:fillRect/>
          </a:stretch>
        </p:blipFill>
        <p:spPr>
          <a:xfrm>
            <a:off x="323850" y="2446020"/>
            <a:ext cx="8479790" cy="3140075"/>
          </a:xfrm>
          <a:prstGeom prst="rect">
            <a:avLst/>
          </a:prstGeom>
        </p:spPr>
      </p:pic>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endParaRPr lang="zh-CN" altLang="en-US"/>
          </a:p>
        </p:txBody>
      </p:sp>
      <p:sp>
        <p:nvSpPr>
          <p:cNvPr id="3" name="内容占位符 2"/>
          <p:cNvSpPr>
            <a:spLocks noGrp="1"/>
          </p:cNvSpPr>
          <p:nvPr>
            <p:ph idx="1"/>
          </p:nvPr>
        </p:nvSpPr>
        <p:spPr/>
        <p:txBody>
          <a:bodyPr/>
          <a:lstStyle/>
          <a:p>
            <a:endParaRPr lang="zh-CN" altLang="en-US"/>
          </a:p>
        </p:txBody>
      </p:sp>
    </p:spTree>
    <p:extLst>
      <p:ext uri="{BB962C8B-B14F-4D97-AF65-F5344CB8AC3E}">
        <p14:creationId xmlns:p14="http://schemas.microsoft.com/office/powerpoint/2010/main" val="3014444216"/>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9748" name="Comment 4"/>
          <p:cNvSpPr>
            <a:spLocks noChangeArrowheads="1"/>
          </p:cNvSpPr>
          <p:nvPr/>
        </p:nvSpPr>
        <p:spPr bwMode="auto">
          <a:xfrm>
            <a:off x="827088" y="134938"/>
            <a:ext cx="1676400" cy="581025"/>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小结</a:t>
            </a:r>
          </a:p>
        </p:txBody>
      </p:sp>
      <p:grpSp>
        <p:nvGrpSpPr>
          <p:cNvPr id="263171" name="组合 28"/>
          <p:cNvGrpSpPr/>
          <p:nvPr/>
        </p:nvGrpSpPr>
        <p:grpSpPr>
          <a:xfrm>
            <a:off x="322263" y="1184275"/>
            <a:ext cx="590550" cy="627063"/>
            <a:chOff x="6242320" y="1105727"/>
            <a:chExt cx="589786" cy="626517"/>
          </a:xfrm>
        </p:grpSpPr>
        <p:sp>
          <p:nvSpPr>
            <p:cNvPr id="7" name="TextBox 6"/>
            <p:cNvSpPr txBox="1">
              <a:spLocks noChangeArrowheads="1"/>
            </p:cNvSpPr>
            <p:nvPr/>
          </p:nvSpPr>
          <p:spPr bwMode="auto">
            <a:xfrm>
              <a:off x="6327934" y="1105727"/>
              <a:ext cx="447096" cy="491696"/>
            </a:xfrm>
            <a:prstGeom prst="rect">
              <a:avLst/>
            </a:prstGeom>
            <a:noFill/>
            <a:ln>
              <a:noFill/>
            </a:ln>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FF9900"/>
                  </a:solidFill>
                  <a:effectLst/>
                  <a:uLnTx/>
                  <a:uFillTx/>
                  <a:latin typeface="+mn-lt"/>
                  <a:ea typeface="+mn-ea"/>
                  <a:cs typeface="+mn-ea"/>
                  <a:sym typeface="+mn-lt"/>
                </a:rPr>
                <a:t>01</a:t>
              </a:r>
              <a:endParaRPr kumimoji="0" lang="zh-CN" altLang="en-US" sz="3200" b="0" i="0" u="none" strike="noStrike" kern="1200" cap="none" spc="0" normalizeH="0" baseline="0" noProof="0" dirty="0">
                <a:ln>
                  <a:noFill/>
                </a:ln>
                <a:solidFill>
                  <a:srgbClr val="FF9900"/>
                </a:solidFill>
                <a:effectLst/>
                <a:uLnTx/>
                <a:uFillTx/>
                <a:latin typeface="+mn-lt"/>
                <a:ea typeface="+mn-ea"/>
                <a:cs typeface="+mn-ea"/>
                <a:sym typeface="+mn-lt"/>
              </a:endParaRPr>
            </a:p>
          </p:txBody>
        </p:sp>
        <p:sp>
          <p:nvSpPr>
            <p:cNvPr id="8" name="文本框 22"/>
            <p:cNvSpPr txBox="1">
              <a:spLocks noChangeArrowheads="1"/>
            </p:cNvSpPr>
            <p:nvPr/>
          </p:nvSpPr>
          <p:spPr bwMode="auto">
            <a:xfrm>
              <a:off x="6242320" y="1516532"/>
              <a:ext cx="589786" cy="215712"/>
            </a:xfrm>
            <a:prstGeom prst="rect">
              <a:avLst/>
            </a:prstGeom>
            <a:noFill/>
            <a:ln>
              <a:noFill/>
            </a:ln>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grpSp>
        <p:nvGrpSpPr>
          <p:cNvPr id="263172" name="组合 45"/>
          <p:cNvGrpSpPr/>
          <p:nvPr/>
        </p:nvGrpSpPr>
        <p:grpSpPr>
          <a:xfrm>
            <a:off x="322263" y="3355975"/>
            <a:ext cx="590550" cy="631825"/>
            <a:chOff x="6242320" y="2373233"/>
            <a:chExt cx="589786" cy="631741"/>
          </a:xfrm>
        </p:grpSpPr>
        <p:sp>
          <p:nvSpPr>
            <p:cNvPr id="10" name="TextBox 6"/>
            <p:cNvSpPr txBox="1">
              <a:spLocks noChangeArrowheads="1"/>
            </p:cNvSpPr>
            <p:nvPr/>
          </p:nvSpPr>
          <p:spPr bwMode="auto">
            <a:xfrm>
              <a:off x="6327934" y="2373233"/>
              <a:ext cx="447096" cy="492060"/>
            </a:xfrm>
            <a:prstGeom prst="rect">
              <a:avLst/>
            </a:prstGeom>
            <a:noFill/>
            <a:ln>
              <a:noFill/>
            </a:ln>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6C4C8F"/>
                  </a:solidFill>
                  <a:effectLst/>
                  <a:uLnTx/>
                  <a:uFillTx/>
                  <a:latin typeface="+mn-lt"/>
                  <a:ea typeface="+mn-ea"/>
                  <a:cs typeface="+mn-ea"/>
                  <a:sym typeface="+mn-lt"/>
                </a:rPr>
                <a:t>02</a:t>
              </a:r>
              <a:endParaRPr kumimoji="0" lang="zh-CN" altLang="en-US" sz="3200" b="0" i="0" u="none" strike="noStrike" kern="1200" cap="none" spc="0" normalizeH="0" baseline="0" noProof="0" dirty="0">
                <a:ln>
                  <a:noFill/>
                </a:ln>
                <a:solidFill>
                  <a:srgbClr val="6C4C8F"/>
                </a:solidFill>
                <a:effectLst/>
                <a:uLnTx/>
                <a:uFillTx/>
                <a:latin typeface="+mn-lt"/>
                <a:ea typeface="+mn-ea"/>
                <a:cs typeface="+mn-ea"/>
                <a:sym typeface="+mn-lt"/>
              </a:endParaRPr>
            </a:p>
          </p:txBody>
        </p:sp>
        <p:sp>
          <p:nvSpPr>
            <p:cNvPr id="11" name="文本框 23"/>
            <p:cNvSpPr txBox="1">
              <a:spLocks noChangeArrowheads="1"/>
            </p:cNvSpPr>
            <p:nvPr/>
          </p:nvSpPr>
          <p:spPr bwMode="auto">
            <a:xfrm>
              <a:off x="6242320" y="2789103"/>
              <a:ext cx="589786" cy="215871"/>
            </a:xfrm>
            <a:prstGeom prst="rect">
              <a:avLst/>
            </a:prstGeom>
            <a:noFill/>
            <a:ln>
              <a:noFill/>
            </a:ln>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grpSp>
        <p:nvGrpSpPr>
          <p:cNvPr id="263173" name="组合 48"/>
          <p:cNvGrpSpPr/>
          <p:nvPr/>
        </p:nvGrpSpPr>
        <p:grpSpPr>
          <a:xfrm>
            <a:off x="322263" y="4134803"/>
            <a:ext cx="590550" cy="620712"/>
            <a:chOff x="6242320" y="3640739"/>
            <a:chExt cx="589786" cy="620418"/>
          </a:xfrm>
        </p:grpSpPr>
        <p:sp>
          <p:nvSpPr>
            <p:cNvPr id="13" name="TextBox 6"/>
            <p:cNvSpPr txBox="1">
              <a:spLocks noChangeArrowheads="1"/>
            </p:cNvSpPr>
            <p:nvPr/>
          </p:nvSpPr>
          <p:spPr bwMode="auto">
            <a:xfrm>
              <a:off x="6327934" y="3640739"/>
              <a:ext cx="447096" cy="491891"/>
            </a:xfrm>
            <a:prstGeom prst="rect">
              <a:avLst/>
            </a:prstGeom>
            <a:noFill/>
            <a:ln>
              <a:noFill/>
            </a:ln>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76AEDD"/>
                  </a:solidFill>
                  <a:effectLst/>
                  <a:uLnTx/>
                  <a:uFillTx/>
                  <a:latin typeface="+mn-lt"/>
                  <a:ea typeface="+mn-ea"/>
                  <a:cs typeface="+mn-ea"/>
                  <a:sym typeface="+mn-lt"/>
                </a:rPr>
                <a:t>03</a:t>
              </a:r>
              <a:endParaRPr kumimoji="0" lang="zh-CN" altLang="en-US" sz="3200" b="0" i="0" u="none" strike="noStrike" kern="1200" cap="none" spc="0" normalizeH="0" baseline="0" noProof="0" dirty="0">
                <a:ln>
                  <a:noFill/>
                </a:ln>
                <a:solidFill>
                  <a:srgbClr val="76AEDD"/>
                </a:solidFill>
                <a:effectLst/>
                <a:uLnTx/>
                <a:uFillTx/>
                <a:latin typeface="+mn-lt"/>
                <a:ea typeface="+mn-ea"/>
                <a:cs typeface="+mn-ea"/>
                <a:sym typeface="+mn-lt"/>
              </a:endParaRPr>
            </a:p>
          </p:txBody>
        </p:sp>
        <p:sp>
          <p:nvSpPr>
            <p:cNvPr id="14" name="文本框 24"/>
            <p:cNvSpPr txBox="1">
              <a:spLocks noChangeArrowheads="1"/>
            </p:cNvSpPr>
            <p:nvPr/>
          </p:nvSpPr>
          <p:spPr bwMode="auto">
            <a:xfrm>
              <a:off x="6242320" y="4045360"/>
              <a:ext cx="589786" cy="215797"/>
            </a:xfrm>
            <a:prstGeom prst="rect">
              <a:avLst/>
            </a:prstGeom>
            <a:noFill/>
            <a:ln>
              <a:noFill/>
            </a:ln>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sp>
        <p:nvSpPr>
          <p:cNvPr id="28"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20" name="Rectangle 114"/>
          <p:cNvSpPr>
            <a:spLocks noChangeArrowheads="1"/>
          </p:cNvSpPr>
          <p:nvPr/>
        </p:nvSpPr>
        <p:spPr bwMode="auto">
          <a:xfrm>
            <a:off x="1036638" y="1143000"/>
            <a:ext cx="7894638" cy="4949825"/>
          </a:xfrm>
          <a:prstGeom prst="rect">
            <a:avLst/>
          </a:prstGeom>
          <a:noFill/>
          <a:ln w="9525">
            <a:noFill/>
            <a:miter lim="800000"/>
          </a:ln>
          <a:effectLst/>
        </p:spPr>
        <p:txBody>
          <a:bodyPr/>
          <a:lstStyle/>
          <a:p>
            <a:pPr marL="0" marR="0" lvl="0" indent="0" algn="l" defTabSz="914400" rtl="0" eaLnBrk="0" fontAlgn="base" latinLnBrk="0" hangingPunct="0">
              <a:lnSpc>
                <a:spcPct val="125000"/>
              </a:lnSpc>
              <a:spcBef>
                <a:spcPts val="1000"/>
              </a:spcBef>
              <a:spcAft>
                <a:spcPct val="0"/>
              </a:spcAft>
              <a:buClrTx/>
              <a:buSzTx/>
              <a:buFontTx/>
              <a:buNone/>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掌握直接插入排序、折半插入排序、冒泡排序、快速排序、简单选择排序、归并排序的算法实现及其性能分析，掌握希尔排序、堆排序的方法及其性能分析。</a:t>
            </a:r>
            <a:r>
              <a:rPr kumimoji="1"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（排序过程必考一道应用题，可能涉及两或三种排序方法）</a:t>
            </a:r>
          </a:p>
          <a:p>
            <a:pPr marL="0" marR="0" lvl="0" indent="0" algn="l" defTabSz="914400" rtl="0" eaLnBrk="0" fontAlgn="base" latinLnBrk="0" hangingPunct="0">
              <a:lnSpc>
                <a:spcPct val="125000"/>
              </a:lnSpc>
              <a:spcBef>
                <a:spcPts val="1000"/>
              </a:spcBef>
              <a:spcAft>
                <a:spcPct val="0"/>
              </a:spcAft>
              <a:buClrTx/>
              <a:buSzTx/>
              <a:buFontTx/>
              <a:buNone/>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各种内部排序方法的比较分析（时间、空间、稳定性、适用情况）。</a:t>
            </a:r>
          </a:p>
          <a:p>
            <a:pPr marL="0" marR="0" lvl="0" indent="0" algn="l" defTabSz="914400" rtl="0" eaLnBrk="0" fontAlgn="base" latinLnBrk="0" hangingPunct="0">
              <a:lnSpc>
                <a:spcPct val="125000"/>
              </a:lnSpc>
              <a:spcBef>
                <a:spcPts val="1000"/>
              </a:spcBef>
              <a:spcAft>
                <a:spcPct val="0"/>
              </a:spcAft>
              <a:buClrTx/>
              <a:buSzTx/>
              <a:buFontTx/>
              <a:buNone/>
              <a:defRPr/>
            </a:pP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掌握堆的概念、判别方法，明确堆是一种完全二叉树的存储结构。</a:t>
            </a:r>
            <a:endPar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p:txBody>
      </p:sp>
      <p:cxnSp>
        <p:nvCxnSpPr>
          <p:cNvPr id="2" name="直接连接符 1"/>
          <p:cNvCxnSpPr/>
          <p:nvPr/>
        </p:nvCxnSpPr>
        <p:spPr bwMode="auto">
          <a:xfrm>
            <a:off x="-3175" y="3068960"/>
            <a:ext cx="9144000" cy="0"/>
          </a:xfrm>
          <a:prstGeom prst="line">
            <a:avLst/>
          </a:prstGeom>
          <a:solidFill>
            <a:schemeClr val="accent1"/>
          </a:solidFill>
          <a:ln w="28575" cap="flat" cmpd="sng" algn="ctr">
            <a:solidFill>
              <a:schemeClr val="tx1">
                <a:lumMod val="50000"/>
                <a:lumOff val="50000"/>
              </a:schemeClr>
            </a:solidFill>
            <a:prstDash val="dash"/>
            <a:round/>
            <a:headEnd type="none" w="med" len="med"/>
            <a:tailEnd type="none" w="med" len="med"/>
          </a:ln>
        </p:spPr>
      </p:cxnSp>
      <p:cxnSp>
        <p:nvCxnSpPr>
          <p:cNvPr id="3" name="直接连接符 2"/>
          <p:cNvCxnSpPr/>
          <p:nvPr/>
        </p:nvCxnSpPr>
        <p:spPr bwMode="auto">
          <a:xfrm>
            <a:off x="-3175" y="4077072"/>
            <a:ext cx="9144000" cy="0"/>
          </a:xfrm>
          <a:prstGeom prst="line">
            <a:avLst/>
          </a:prstGeom>
          <a:solidFill>
            <a:schemeClr val="accent1"/>
          </a:solidFill>
          <a:ln w="28575" cap="flat" cmpd="sng" algn="ctr">
            <a:solidFill>
              <a:schemeClr val="tx1">
                <a:lumMod val="50000"/>
                <a:lumOff val="50000"/>
              </a:schemeClr>
            </a:solidFill>
            <a:prstDash val="dash"/>
            <a:round/>
            <a:headEnd type="none" w="med" len="med"/>
            <a:tailEnd type="none" w="med" len="med"/>
          </a:ln>
        </p:spPr>
      </p:cxnSp>
    </p:spTree>
  </p:cSld>
  <p:clrMapOvr>
    <a:masterClrMapping/>
  </p:clrMapOvr>
  <p:transition>
    <p:check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1000"/>
                                        <p:tgtEl>
                                          <p:spTgt spid="28"/>
                                        </p:tgtEl>
                                      </p:cBhvr>
                                    </p:animEffect>
                                    <p:anim calcmode="lin" valueType="num">
                                      <p:cBhvr>
                                        <p:cTn id="8" dur="1000" fill="hold"/>
                                        <p:tgtEl>
                                          <p:spTgt spid="28"/>
                                        </p:tgtEl>
                                        <p:attrNameLst>
                                          <p:attrName>ppt_x</p:attrName>
                                        </p:attrNameLst>
                                      </p:cBhvr>
                                      <p:tavLst>
                                        <p:tav tm="0">
                                          <p:val>
                                            <p:strVal val="#ppt_x"/>
                                          </p:val>
                                        </p:tav>
                                        <p:tav tm="100000">
                                          <p:val>
                                            <p:strVal val="#ppt_x"/>
                                          </p:val>
                                        </p:tav>
                                      </p:tavLst>
                                    </p:anim>
                                    <p:anim calcmode="lin" valueType="num">
                                      <p:cBhvr>
                                        <p:cTn id="9"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4194" name="Object 4"/>
          <p:cNvGraphicFramePr/>
          <p:nvPr/>
        </p:nvGraphicFramePr>
        <p:xfrm>
          <a:off x="325438" y="458788"/>
          <a:ext cx="8767762" cy="6570662"/>
        </p:xfrm>
        <a:graphic>
          <a:graphicData uri="http://schemas.openxmlformats.org/presentationml/2006/ole">
            <mc:AlternateContent xmlns:mc="http://schemas.openxmlformats.org/markup-compatibility/2006">
              <mc:Choice xmlns:v="urn:schemas-microsoft-com:vml" Requires="v">
                <p:oleObj spid="_x0000_s13318" r:id="rId3" imgW="4495800" imgH="3633470" progId="Word.Document.8">
                  <p:embed/>
                </p:oleObj>
              </mc:Choice>
              <mc:Fallback>
                <p:oleObj r:id="rId3" imgW="4495800" imgH="3633470" progId="Word.Document.8">
                  <p:embed/>
                  <p:pic>
                    <p:nvPicPr>
                      <p:cNvPr id="0" name="图片 3093"/>
                      <p:cNvPicPr/>
                      <p:nvPr/>
                    </p:nvPicPr>
                    <p:blipFill>
                      <a:blip r:embed="rId4"/>
                      <a:stretch>
                        <a:fillRect/>
                      </a:stretch>
                    </p:blipFill>
                    <p:spPr>
                      <a:xfrm>
                        <a:off x="325438" y="458788"/>
                        <a:ext cx="8767762" cy="6570662"/>
                      </a:xfrm>
                      <a:prstGeom prst="rect">
                        <a:avLst/>
                      </a:prstGeom>
                      <a:noFill/>
                      <a:ln w="38100">
                        <a:noFill/>
                        <a:miter/>
                      </a:ln>
                    </p:spPr>
                  </p:pic>
                </p:oleObj>
              </mc:Fallback>
            </mc:AlternateContent>
          </a:graphicData>
        </a:graphic>
      </p:graphicFrame>
      <p:sp>
        <p:nvSpPr>
          <p:cNvPr id="246787" name="Rectangle 5"/>
          <p:cNvSpPr>
            <a:spLocks noChangeArrowheads="1"/>
          </p:cNvSpPr>
          <p:nvPr/>
        </p:nvSpPr>
        <p:spPr bwMode="auto">
          <a:xfrm>
            <a:off x="923925" y="6381750"/>
            <a:ext cx="7321550" cy="461963"/>
          </a:xfrm>
          <a:prstGeom prst="rect">
            <a:avLst/>
          </a:prstGeom>
          <a:solidFill>
            <a:srgbClr val="CC99FF"/>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（数据不是</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顺次后移</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时将导致方法不稳定）</a:t>
            </a:r>
          </a:p>
        </p:txBody>
      </p:sp>
      <p:sp>
        <p:nvSpPr>
          <p:cNvPr id="1186822" name="Rectangle 6"/>
          <p:cNvSpPr>
            <a:spLocks noChangeArrowheads="1"/>
          </p:cNvSpPr>
          <p:nvPr/>
        </p:nvSpPr>
        <p:spPr bwMode="auto">
          <a:xfrm>
            <a:off x="760413" y="142875"/>
            <a:ext cx="3203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排序算法比较</a:t>
            </a:r>
          </a:p>
        </p:txBody>
      </p:sp>
    </p:spTree>
  </p:cSld>
  <p:clrMapOvr>
    <a:masterClrMapping/>
  </p:clrMapOvr>
  <p:transition spd="slow"/>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4"/>
          <p:cNvSpPr>
            <a:spLocks noChangeArrowheads="1"/>
          </p:cNvSpPr>
          <p:nvPr/>
        </p:nvSpPr>
        <p:spPr bwMode="auto">
          <a:xfrm>
            <a:off x="1662113" y="1177925"/>
            <a:ext cx="7488238" cy="1011238"/>
          </a:xfrm>
          <a:prstGeom prst="rect">
            <a:avLst/>
          </a:prstGeom>
          <a:noFill/>
          <a:ln>
            <a:noFill/>
          </a:ln>
        </p:spPr>
        <p:txBody>
          <a:bodyPr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按平均时间排序方法分为四类</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O(n</a:t>
            </a:r>
            <a:r>
              <a:rPr kumimoji="0" lang="en-US" altLang="zh-CN" sz="2400" b="0" i="0" u="none" strike="noStrike" kern="1200" cap="none" spc="0" normalizeH="0" baseline="30000" noProof="0" dirty="0">
                <a:ln>
                  <a:noFill/>
                </a:ln>
                <a:solidFill>
                  <a:srgbClr val="FF3300"/>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O(</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nlog</a:t>
            </a:r>
            <a:r>
              <a:rPr kumimoji="0" lang="en-US" altLang="zh-CN" sz="2400" b="0" i="0" u="none" strike="noStrike" kern="1200" cap="none" spc="0" normalizeH="0" baseline="30000" noProof="0" dirty="0" err="1">
                <a:ln>
                  <a:noFill/>
                </a:ln>
                <a:solidFill>
                  <a:srgbClr val="FF3300"/>
                </a:solidFill>
                <a:effectLst/>
                <a:uLnTx/>
                <a:uFillTx/>
                <a:latin typeface="+mn-lt"/>
                <a:ea typeface="+mn-ea"/>
                <a:cs typeface="+mn-ea"/>
                <a:sym typeface="+mn-lt"/>
              </a:rPr>
              <a:t>n</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O(n</a:t>
            </a:r>
            <a:r>
              <a:rPr kumimoji="0" lang="en-US" altLang="zh-CN" sz="2400" b="0" i="0" u="none" strike="noStrike" kern="1200" cap="none" spc="0" normalizeH="0" baseline="30000" noProof="0" dirty="0">
                <a:ln>
                  <a:noFill/>
                </a:ln>
                <a:solidFill>
                  <a:srgbClr val="FF3300"/>
                </a:solidFill>
                <a:effectLst/>
                <a:uLnTx/>
                <a:uFillTx/>
                <a:latin typeface="+mn-lt"/>
                <a:ea typeface="+mn-ea"/>
                <a:cs typeface="+mn-ea"/>
                <a:sym typeface="+mn-lt"/>
              </a:rPr>
              <a:t>1+</a:t>
            </a:r>
            <a:r>
              <a:rPr kumimoji="0" lang="en-US" altLang="zh-CN" sz="2400" b="0" i="0" u="none" strike="noStrike" kern="1200" cap="none" spc="0" normalizeH="0" baseline="30000" noProof="0" dirty="0">
                <a:ln>
                  <a:noFill/>
                </a:ln>
                <a:solidFill>
                  <a:srgbClr val="FF3300"/>
                </a:solidFill>
                <a:effectLst/>
                <a:uLnTx/>
                <a:uFillTx/>
                <a:latin typeface="楷体_GB2312" pitchFamily="49" charset="-122"/>
                <a:ea typeface="楷体_GB2312" pitchFamily="49" charset="-122"/>
                <a:cs typeface="+mn-cs"/>
                <a:sym typeface="Symbol" panose="05050102010706020507" pitchFamily="18" charset="2"/>
              </a:rPr>
              <a:t>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O(n)</a:t>
            </a:r>
          </a:p>
        </p:txBody>
      </p:sp>
      <p:grpSp>
        <p:nvGrpSpPr>
          <p:cNvPr id="2" name="Group 11"/>
          <p:cNvGrpSpPr/>
          <p:nvPr/>
        </p:nvGrpSpPr>
        <p:grpSpPr>
          <a:xfrm>
            <a:off x="6350" y="4291013"/>
            <a:ext cx="9144000" cy="1854200"/>
            <a:chOff x="1091" y="1796"/>
            <a:chExt cx="5760" cy="1168"/>
          </a:xfrm>
        </p:grpSpPr>
        <p:sp>
          <p:nvSpPr>
            <p:cNvPr id="247812" name="Rectangle 6"/>
            <p:cNvSpPr>
              <a:spLocks noChangeArrowheads="1"/>
            </p:cNvSpPr>
            <p:nvPr/>
          </p:nvSpPr>
          <p:spPr bwMode="auto">
            <a:xfrm>
              <a:off x="1091" y="2394"/>
              <a:ext cx="5760" cy="570"/>
            </a:xfrm>
            <a:prstGeom prst="rect">
              <a:avLst/>
            </a:prstGeom>
            <a:solidFill>
              <a:schemeClr val="accent1">
                <a:lumMod val="20000"/>
                <a:lumOff val="80000"/>
              </a:schemeClr>
            </a:solidFill>
            <a:ln>
              <a:noFill/>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914400" marR="0" lvl="2"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知道各级关键字的</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主次关系</a:t>
              </a:r>
            </a:p>
            <a:p>
              <a:pPr marL="914400" marR="0" lvl="2" indent="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知道各级关键字的</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取值范围</a:t>
              </a:r>
            </a:p>
          </p:txBody>
        </p:sp>
        <p:sp>
          <p:nvSpPr>
            <p:cNvPr id="247813" name="AutoShape 7"/>
            <p:cNvSpPr>
              <a:spLocks noChangeArrowheads="1"/>
            </p:cNvSpPr>
            <p:nvPr/>
          </p:nvSpPr>
          <p:spPr bwMode="auto">
            <a:xfrm>
              <a:off x="4356" y="1796"/>
              <a:ext cx="227" cy="461"/>
            </a:xfrm>
            <a:prstGeom prst="downArrow">
              <a:avLst>
                <a:gd name="adj1" fmla="val 50000"/>
                <a:gd name="adj2" fmla="val 50752"/>
              </a:avLst>
            </a:prstGeom>
            <a:solidFill>
              <a:schemeClr val="accent1"/>
            </a:solidFill>
            <a:ln>
              <a:noFill/>
            </a:ln>
          </p:spPr>
          <p:txBody>
            <a:bodyPr wrap="none" anchor="ct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188874" name="Rectangle 10"/>
          <p:cNvSpPr>
            <a:spLocks noChangeArrowheads="1"/>
          </p:cNvSpPr>
          <p:nvPr/>
        </p:nvSpPr>
        <p:spPr bwMode="auto">
          <a:xfrm>
            <a:off x="760413" y="142875"/>
            <a:ext cx="3203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排序算法比较</a:t>
            </a:r>
          </a:p>
        </p:txBody>
      </p:sp>
      <p:grpSp>
        <p:nvGrpSpPr>
          <p:cNvPr id="265221" name="Group 61"/>
          <p:cNvGrpSpPr/>
          <p:nvPr/>
        </p:nvGrpSpPr>
        <p:grpSpPr>
          <a:xfrm>
            <a:off x="839788" y="1243013"/>
            <a:ext cx="647700" cy="647700"/>
            <a:chOff x="6518563" y="1579415"/>
            <a:chExt cx="831273" cy="831273"/>
          </a:xfrm>
        </p:grpSpPr>
        <p:sp>
          <p:nvSpPr>
            <p:cNvPr id="10" name="Rounded Rectangle 12"/>
            <p:cNvSpPr/>
            <p:nvPr/>
          </p:nvSpPr>
          <p:spPr>
            <a:xfrm>
              <a:off x="6518563" y="1579415"/>
              <a:ext cx="831273" cy="831273"/>
            </a:xfrm>
            <a:prstGeom prst="round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11" name="Group 19"/>
            <p:cNvGrpSpPr/>
            <p:nvPr/>
          </p:nvGrpSpPr>
          <p:grpSpPr>
            <a:xfrm>
              <a:off x="6702027" y="1790527"/>
              <a:ext cx="464344" cy="465138"/>
              <a:chOff x="9145588" y="4435475"/>
              <a:chExt cx="464344" cy="465138"/>
            </a:xfrm>
            <a:solidFill>
              <a:srgbClr val="EEECE1"/>
            </a:solidFill>
          </p:grpSpPr>
          <p:sp>
            <p:nvSpPr>
              <p:cNvPr id="12" name="AutoShape 7"/>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13" name="AutoShape 8"/>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14" name="AutoShape 9"/>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15" name="AutoShape 10"/>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16" name="AutoShape 11"/>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17" name="AutoShape 12"/>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18" name="AutoShape 13"/>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19" name="AutoShape 14"/>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20" name="AutoShape 15"/>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grpSp>
      </p:grpSp>
      <p:grpSp>
        <p:nvGrpSpPr>
          <p:cNvPr id="3" name="组合 2"/>
          <p:cNvGrpSpPr/>
          <p:nvPr/>
        </p:nvGrpSpPr>
        <p:grpSpPr>
          <a:xfrm>
            <a:off x="839788" y="2414588"/>
            <a:ext cx="8135937" cy="1819275"/>
            <a:chOff x="839269" y="2414482"/>
            <a:chExt cx="8136234" cy="1818940"/>
          </a:xfrm>
        </p:grpSpPr>
        <p:sp>
          <p:nvSpPr>
            <p:cNvPr id="1188872" name="Rectangle 8"/>
            <p:cNvSpPr>
              <a:spLocks noChangeArrowheads="1"/>
            </p:cNvSpPr>
            <p:nvPr/>
          </p:nvSpPr>
          <p:spPr bwMode="auto">
            <a:xfrm>
              <a:off x="1486993" y="2757319"/>
              <a:ext cx="7488510" cy="1152313"/>
            </a:xfrm>
            <a:prstGeom prst="rect">
              <a:avLst/>
            </a:prstGeom>
            <a:noFill/>
            <a:ln>
              <a:noFill/>
            </a:ln>
          </p:spPr>
          <p:txBody>
            <a:bodyPr anchor="ct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快速排序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是基于比较的内部排序中平均性能最好的</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Char char="•"/>
                <a:defRPr/>
              </a:pPr>
              <a:endParaRPr kumimoji="0" lang="en-US" altLang="zh-CN" sz="1000" b="0" i="0" u="none" strike="noStrike" kern="1200" cap="none" spc="0" normalizeH="0" baseline="0" noProof="0" dirty="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Char char="•"/>
                <a:defRPr/>
              </a:pP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Char char="•"/>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基数排序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时间复杂度最低，但对关键字结构有要求</a:t>
              </a:r>
            </a:p>
          </p:txBody>
        </p:sp>
        <p:grpSp>
          <p:nvGrpSpPr>
            <p:cNvPr id="265224" name="Group 62"/>
            <p:cNvGrpSpPr/>
            <p:nvPr/>
          </p:nvGrpSpPr>
          <p:grpSpPr>
            <a:xfrm>
              <a:off x="839269" y="2414482"/>
              <a:ext cx="647724" cy="647959"/>
              <a:chOff x="6518563" y="2750124"/>
              <a:chExt cx="831273" cy="831273"/>
            </a:xfrm>
          </p:grpSpPr>
          <p:sp>
            <p:nvSpPr>
              <p:cNvPr id="22" name="Rounded Rectangle 13"/>
              <p:cNvSpPr/>
              <p:nvPr/>
            </p:nvSpPr>
            <p:spPr>
              <a:xfrm>
                <a:off x="6518563" y="2750124"/>
                <a:ext cx="831273" cy="830788"/>
              </a:xfrm>
              <a:prstGeom prst="round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23" name="Group 29"/>
              <p:cNvGrpSpPr/>
              <p:nvPr/>
            </p:nvGrpSpPr>
            <p:grpSpPr>
              <a:xfrm>
                <a:off x="6772671" y="2933191"/>
                <a:ext cx="319088" cy="465138"/>
                <a:chOff x="5441157" y="4440238"/>
                <a:chExt cx="319088" cy="465138"/>
              </a:xfrm>
              <a:solidFill>
                <a:srgbClr val="EEECE1"/>
              </a:solidFill>
            </p:grpSpPr>
            <p:sp>
              <p:nvSpPr>
                <p:cNvPr id="24" name="AutoShape 97"/>
                <p:cNvSpPr/>
                <p:nvPr/>
              </p:nvSpPr>
              <p:spPr bwMode="auto">
                <a:xfrm>
                  <a:off x="5441157" y="4440238"/>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25" name="AutoShape 98"/>
                <p:cNvSpPr/>
                <p:nvPr/>
              </p:nvSpPr>
              <p:spPr bwMode="auto">
                <a:xfrm>
                  <a:off x="5571332" y="4483894"/>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26" name="AutoShape 99"/>
                <p:cNvSpPr/>
                <p:nvPr/>
              </p:nvSpPr>
              <p:spPr bwMode="auto">
                <a:xfrm>
                  <a:off x="5586413" y="4847432"/>
                  <a:ext cx="285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grpSp>
        </p:grpSp>
        <p:grpSp>
          <p:nvGrpSpPr>
            <p:cNvPr id="265225" name="Group 63"/>
            <p:cNvGrpSpPr/>
            <p:nvPr/>
          </p:nvGrpSpPr>
          <p:grpSpPr>
            <a:xfrm>
              <a:off x="839269" y="3585463"/>
              <a:ext cx="647724" cy="647959"/>
              <a:chOff x="6518563" y="3920833"/>
              <a:chExt cx="831273" cy="831273"/>
            </a:xfrm>
          </p:grpSpPr>
          <p:sp>
            <p:nvSpPr>
              <p:cNvPr id="28" name="Rounded Rectangle 14"/>
              <p:cNvSpPr/>
              <p:nvPr/>
            </p:nvSpPr>
            <p:spPr>
              <a:xfrm>
                <a:off x="6518563" y="3921318"/>
                <a:ext cx="831273" cy="830788"/>
              </a:xfrm>
              <a:prstGeom prst="roundRect">
                <a:avLst/>
              </a:prstGeom>
              <a:solidFill>
                <a:srgbClr val="F79646"/>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sp>
            <p:nvSpPr>
              <p:cNvPr id="29" name="AutoShape 139"/>
              <p:cNvSpPr/>
              <p:nvPr/>
            </p:nvSpPr>
            <p:spPr bwMode="auto">
              <a:xfrm>
                <a:off x="6699894" y="4118833"/>
                <a:ext cx="464535" cy="450011"/>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rgbClr val="EEECE1"/>
              </a:solid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gr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51"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770" decel="100000"/>
                                        <p:tgtEl>
                                          <p:spTgt spid="2"/>
                                        </p:tgtEl>
                                      </p:cBhvr>
                                    </p:animEffect>
                                    <p:animScale>
                                      <p:cBhvr>
                                        <p:cTn id="13" dur="770" decel="100000"/>
                                        <p:tgtEl>
                                          <p:spTgt spid="2"/>
                                        </p:tgtEl>
                                      </p:cBhvr>
                                      <p:from x="10000" y="10000"/>
                                      <p:to x="200000" y="450000"/>
                                    </p:animScale>
                                    <p:animScale>
                                      <p:cBhvr>
                                        <p:cTn id="14" dur="1230" accel="100000" fill="hold">
                                          <p:stCondLst>
                                            <p:cond delay="770"/>
                                          </p:stCondLst>
                                        </p:cTn>
                                        <p:tgtEl>
                                          <p:spTgt spid="2"/>
                                        </p:tgtEl>
                                      </p:cBhvr>
                                      <p:from x="200000" y="450000"/>
                                      <p:to x="100000" y="100000"/>
                                    </p:animScale>
                                    <p:set>
                                      <p:cBhvr>
                                        <p:cTn id="15" dur="770" fill="hold"/>
                                        <p:tgtEl>
                                          <p:spTgt spid="2"/>
                                        </p:tgtEl>
                                        <p:attrNameLst>
                                          <p:attrName>ppt_x</p:attrName>
                                        </p:attrNameLst>
                                      </p:cBhvr>
                                      <p:to>
                                        <p:strVal val="(0.5)"/>
                                      </p:to>
                                    </p:set>
                                    <p:anim from="(0.5)" to="(#ppt_x)" calcmode="lin" valueType="num">
                                      <p:cBhvr>
                                        <p:cTn id="16" dur="1230" accel="100000" fill="hold">
                                          <p:stCondLst>
                                            <p:cond delay="770"/>
                                          </p:stCondLst>
                                        </p:cTn>
                                        <p:tgtEl>
                                          <p:spTgt spid="2"/>
                                        </p:tgtEl>
                                        <p:attrNameLst>
                                          <p:attrName>ppt_x</p:attrName>
                                        </p:attrNameLst>
                                      </p:cBhvr>
                                    </p:anim>
                                    <p:set>
                                      <p:cBhvr>
                                        <p:cTn id="17" dur="770" fill="hold"/>
                                        <p:tgtEl>
                                          <p:spTgt spid="2"/>
                                        </p:tgtEl>
                                        <p:attrNameLst>
                                          <p:attrName>ppt_y</p:attrName>
                                        </p:attrNameLst>
                                      </p:cBhvr>
                                      <p:to>
                                        <p:strVal val="(#ppt_y+0.4)"/>
                                      </p:to>
                                    </p:set>
                                    <p:anim from="(#ppt_y+0.4)" to="(#ppt_y)" calcmode="lin" valueType="num">
                                      <p:cBhvr>
                                        <p:cTn id="18" dur="1230" accel="100000" fill="hold">
                                          <p:stCondLst>
                                            <p:cond delay="770"/>
                                          </p:stCondLst>
                                        </p:cTn>
                                        <p:tgtEl>
                                          <p:spTgt spid="2"/>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40" name="Rectangle 4"/>
          <p:cNvSpPr>
            <a:spLocks noChangeArrowheads="1"/>
          </p:cNvSpPr>
          <p:nvPr/>
        </p:nvSpPr>
        <p:spPr bwMode="auto">
          <a:xfrm>
            <a:off x="349250" y="1911350"/>
            <a:ext cx="8255198" cy="973280"/>
          </a:xfrm>
          <a:prstGeom prst="rect">
            <a:avLst/>
          </a:prstGeom>
          <a:noFill/>
          <a:ln>
            <a:noFill/>
          </a:ln>
        </p:spPr>
        <p:txBody>
          <a:bodyPr wrap="squar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为避免顺序存储时大量移动记录的时间开销，可考虑用</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链表作为存储结构：直接插入排序、归并排序、基数排序</a:t>
            </a:r>
          </a:p>
        </p:txBody>
      </p:sp>
      <p:sp>
        <p:nvSpPr>
          <p:cNvPr id="1191941" name="Rectangle 5"/>
          <p:cNvSpPr>
            <a:spLocks noChangeArrowheads="1"/>
          </p:cNvSpPr>
          <p:nvPr/>
        </p:nvSpPr>
        <p:spPr bwMode="auto">
          <a:xfrm>
            <a:off x="327024" y="4149725"/>
            <a:ext cx="8277423" cy="973280"/>
          </a:xfrm>
          <a:prstGeom prst="rect">
            <a:avLst/>
          </a:prstGeom>
          <a:noFill/>
          <a:ln>
            <a:noFill/>
          </a:ln>
        </p:spPr>
        <p:txBody>
          <a:bodyPr wrap="squar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不宜采用</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链表作为存储结构的折半插入排序、希尔排序、快速排序、堆排序</a:t>
            </a:r>
          </a:p>
        </p:txBody>
      </p:sp>
      <p:sp>
        <p:nvSpPr>
          <p:cNvPr id="6" name="Rectangle 10"/>
          <p:cNvSpPr>
            <a:spLocks noChangeArrowheads="1"/>
          </p:cNvSpPr>
          <p:nvPr/>
        </p:nvSpPr>
        <p:spPr bwMode="auto">
          <a:xfrm>
            <a:off x="760413" y="142875"/>
            <a:ext cx="3203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排序算法比较</a:t>
            </a:r>
          </a:p>
        </p:txBody>
      </p:sp>
      <p:sp>
        <p:nvSpPr>
          <p:cNvPr id="266246" name="矩形 2"/>
          <p:cNvSpPr/>
          <p:nvPr/>
        </p:nvSpPr>
        <p:spPr>
          <a:xfrm>
            <a:off x="0" y="6021388"/>
            <a:ext cx="9144000" cy="144462"/>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91940"/>
                                        </p:tgtEl>
                                        <p:attrNameLst>
                                          <p:attrName>style.visibility</p:attrName>
                                        </p:attrNameLst>
                                      </p:cBhvr>
                                      <p:to>
                                        <p:strVal val="visible"/>
                                      </p:to>
                                    </p:set>
                                    <p:anim calcmode="lin" valueType="num">
                                      <p:cBhvr additive="base">
                                        <p:cTn id="7" dur="500" fill="hold"/>
                                        <p:tgtEl>
                                          <p:spTgt spid="1191940"/>
                                        </p:tgtEl>
                                        <p:attrNameLst>
                                          <p:attrName>ppt_x</p:attrName>
                                        </p:attrNameLst>
                                      </p:cBhvr>
                                      <p:tavLst>
                                        <p:tav tm="0">
                                          <p:val>
                                            <p:strVal val="#ppt_x"/>
                                          </p:val>
                                        </p:tav>
                                        <p:tav tm="100000">
                                          <p:val>
                                            <p:strVal val="#ppt_x"/>
                                          </p:val>
                                        </p:tav>
                                      </p:tavLst>
                                    </p:anim>
                                    <p:anim calcmode="lin" valueType="num">
                                      <p:cBhvr additive="base">
                                        <p:cTn id="8" dur="500" fill="hold"/>
                                        <p:tgtEl>
                                          <p:spTgt spid="119194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91941"/>
                                        </p:tgtEl>
                                        <p:attrNameLst>
                                          <p:attrName>style.visibility</p:attrName>
                                        </p:attrNameLst>
                                      </p:cBhvr>
                                      <p:to>
                                        <p:strVal val="visible"/>
                                      </p:to>
                                    </p:set>
                                    <p:anim calcmode="lin" valueType="num">
                                      <p:cBhvr additive="base">
                                        <p:cTn id="13" dur="500" fill="hold"/>
                                        <p:tgtEl>
                                          <p:spTgt spid="1191941"/>
                                        </p:tgtEl>
                                        <p:attrNameLst>
                                          <p:attrName>ppt_x</p:attrName>
                                        </p:attrNameLst>
                                      </p:cBhvr>
                                      <p:tavLst>
                                        <p:tav tm="0">
                                          <p:val>
                                            <p:strVal val="#ppt_x"/>
                                          </p:val>
                                        </p:tav>
                                        <p:tav tm="100000">
                                          <p:val>
                                            <p:strVal val="#ppt_x"/>
                                          </p:val>
                                        </p:tav>
                                      </p:tavLst>
                                    </p:anim>
                                    <p:anim calcmode="lin" valueType="num">
                                      <p:cBhvr additive="base">
                                        <p:cTn id="14" dur="500" fill="hold"/>
                                        <p:tgtEl>
                                          <p:spTgt spid="11919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1940" grpId="0"/>
      <p:bldP spid="1191941"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6" name="Text Box 4"/>
          <p:cNvSpPr txBox="1">
            <a:spLocks noChangeArrowheads="1"/>
          </p:cNvSpPr>
          <p:nvPr/>
        </p:nvSpPr>
        <p:spPr bwMode="auto">
          <a:xfrm>
            <a:off x="554038" y="1716088"/>
            <a:ext cx="7902575" cy="1993900"/>
          </a:xfrm>
          <a:prstGeom prst="rect">
            <a:avLst/>
          </a:prstGeom>
          <a:solidFill>
            <a:schemeClr val="bg2">
              <a:lumMod val="20000"/>
              <a:lumOff val="80000"/>
            </a:schemeClr>
          </a:solidFill>
          <a:ln w="76200">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just"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）分布随机，稳定性不做要求，则采用</a:t>
            </a:r>
            <a:r>
              <a:rPr kumimoji="0" lang="zh-CN" altLang="en-US" sz="2400" b="0" i="0" u="none" strike="noStrike" kern="1200" cap="none" spc="0" normalizeH="0" baseline="0" noProof="0">
                <a:ln>
                  <a:noFill/>
                </a:ln>
                <a:solidFill>
                  <a:srgbClr val="FF3300"/>
                </a:solidFill>
                <a:effectLst/>
                <a:uLnTx/>
                <a:uFillTx/>
                <a:latin typeface="+mn-lt"/>
                <a:ea typeface="+mn-ea"/>
                <a:cs typeface="+mn-ea"/>
                <a:sym typeface="+mn-lt"/>
              </a:rPr>
              <a:t>快速</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排序</a:t>
            </a:r>
          </a:p>
          <a:p>
            <a:pPr marL="0" marR="0" lvl="0" indent="0" algn="just"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2</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）内存允许，要求排序稳定时，则采用</a:t>
            </a:r>
            <a:r>
              <a:rPr kumimoji="0" lang="zh-CN" altLang="en-US" sz="2400" b="0" i="0" u="none" strike="noStrike" kern="1200" cap="none" spc="0" normalizeH="0" baseline="0" noProof="0">
                <a:ln>
                  <a:noFill/>
                </a:ln>
                <a:solidFill>
                  <a:srgbClr val="FF3300"/>
                </a:solidFill>
                <a:effectLst/>
                <a:uLnTx/>
                <a:uFillTx/>
                <a:latin typeface="+mn-lt"/>
                <a:ea typeface="+mn-ea"/>
                <a:cs typeface="+mn-ea"/>
                <a:sym typeface="+mn-lt"/>
              </a:rPr>
              <a:t>归并</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排序</a:t>
            </a:r>
          </a:p>
          <a:p>
            <a:pPr marL="0" marR="0" lvl="0" indent="0" algn="just"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3</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）可能会出现正序或逆序，稳定性不做要求，则采用</a:t>
            </a:r>
            <a:r>
              <a:rPr kumimoji="0" lang="zh-CN" altLang="en-US" sz="2400" b="0" i="0" u="none" strike="noStrike" kern="1200" cap="none" spc="0" normalizeH="0" baseline="0" noProof="0">
                <a:ln>
                  <a:noFill/>
                </a:ln>
                <a:solidFill>
                  <a:srgbClr val="FF3300"/>
                </a:solidFill>
                <a:effectLst/>
                <a:uLnTx/>
                <a:uFillTx/>
                <a:latin typeface="+mn-lt"/>
                <a:ea typeface="+mn-ea"/>
                <a:cs typeface="+mn-ea"/>
                <a:sym typeface="+mn-lt"/>
              </a:rPr>
              <a:t>堆</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排序或</a:t>
            </a:r>
            <a:r>
              <a:rPr kumimoji="0" lang="zh-CN" altLang="en-US" sz="2400" b="0" i="0" u="none" strike="noStrike" kern="1200" cap="none" spc="0" normalizeH="0" baseline="0" noProof="0">
                <a:ln>
                  <a:noFill/>
                </a:ln>
                <a:solidFill>
                  <a:srgbClr val="FF3300"/>
                </a:solidFill>
                <a:effectLst/>
                <a:uLnTx/>
                <a:uFillTx/>
                <a:latin typeface="+mn-lt"/>
                <a:ea typeface="+mn-ea"/>
                <a:cs typeface="+mn-ea"/>
                <a:sym typeface="+mn-lt"/>
              </a:rPr>
              <a:t>归并</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排序</a:t>
            </a:r>
          </a:p>
        </p:txBody>
      </p:sp>
      <p:sp>
        <p:nvSpPr>
          <p:cNvPr id="1190917" name="Rectangle 5"/>
          <p:cNvSpPr>
            <a:spLocks noChangeArrowheads="1"/>
          </p:cNvSpPr>
          <p:nvPr/>
        </p:nvSpPr>
        <p:spPr bwMode="auto">
          <a:xfrm>
            <a:off x="779463" y="131763"/>
            <a:ext cx="3529013" cy="534988"/>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排序算法选择规则</a:t>
            </a:r>
          </a:p>
        </p:txBody>
      </p:sp>
      <p:sp>
        <p:nvSpPr>
          <p:cNvPr id="1190920" name="Rectangle 8"/>
          <p:cNvSpPr>
            <a:spLocks noChangeArrowheads="1"/>
          </p:cNvSpPr>
          <p:nvPr/>
        </p:nvSpPr>
        <p:spPr bwMode="auto">
          <a:xfrm>
            <a:off x="571500" y="1171575"/>
            <a:ext cx="7885113" cy="519113"/>
          </a:xfrm>
          <a:prstGeom prst="rect">
            <a:avLst/>
          </a:prstGeom>
          <a:solidFill>
            <a:schemeClr val="accent1">
              <a:lumMod val="60000"/>
              <a:lumOff val="4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较大时</a:t>
            </a:r>
          </a:p>
        </p:txBody>
      </p:sp>
      <p:sp>
        <p:nvSpPr>
          <p:cNvPr id="1190921" name="Text Box 9"/>
          <p:cNvSpPr txBox="1">
            <a:spLocks noChangeArrowheads="1"/>
          </p:cNvSpPr>
          <p:nvPr/>
        </p:nvSpPr>
        <p:spPr bwMode="auto">
          <a:xfrm>
            <a:off x="539750" y="4783138"/>
            <a:ext cx="7850188" cy="1274763"/>
          </a:xfrm>
          <a:prstGeom prst="rect">
            <a:avLst/>
          </a:prstGeom>
          <a:solidFill>
            <a:schemeClr val="bg2">
              <a:lumMod val="20000"/>
              <a:lumOff val="80000"/>
            </a:schemeClr>
          </a:solidFill>
          <a:ln w="76200">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）基本有序，则采用</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直接插入</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排序</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）分布随机，则采用</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简单选择</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排序，若排序码不接近逆序，也可以采用直接插入排序</a:t>
            </a:r>
          </a:p>
        </p:txBody>
      </p:sp>
      <p:sp>
        <p:nvSpPr>
          <p:cNvPr id="1190922" name="Rectangle 10"/>
          <p:cNvSpPr>
            <a:spLocks noChangeArrowheads="1"/>
          </p:cNvSpPr>
          <p:nvPr/>
        </p:nvSpPr>
        <p:spPr bwMode="auto">
          <a:xfrm>
            <a:off x="539750" y="4221163"/>
            <a:ext cx="7850188" cy="519113"/>
          </a:xfrm>
          <a:prstGeom prst="rect">
            <a:avLst/>
          </a:prstGeom>
          <a:solidFill>
            <a:schemeClr val="accent1">
              <a:lumMod val="60000"/>
              <a:lumOff val="4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a:defRPr sz="2800" b="1">
                <a:solidFill>
                  <a:schemeClr val="tx1"/>
                </a:solidFill>
                <a:latin typeface="Times New Roman" panose="02020603050405020304" pitchFamily="18" charset="0"/>
                <a:ea typeface="楷体_GB2312" pitchFamily="49" charset="-122"/>
              </a:defRPr>
            </a:lvl4pPr>
            <a:lvl5pPr>
              <a:defRPr sz="2800" b="1">
                <a:solidFill>
                  <a:schemeClr val="tx1"/>
                </a:solidFill>
                <a:latin typeface="Times New Roman" panose="02020603050405020304" pitchFamily="18" charset="0"/>
                <a:ea typeface="楷体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itchFamily="49" charset="-122"/>
              </a:defRPr>
            </a:lvl9pPr>
          </a:lstStyle>
          <a:p>
            <a:pPr marL="342900" marR="0" lvl="0" indent="-34290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较小时</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90920"/>
                                        </p:tgtEl>
                                        <p:attrNameLst>
                                          <p:attrName>style.visibility</p:attrName>
                                        </p:attrNameLst>
                                      </p:cBhvr>
                                      <p:to>
                                        <p:strVal val="visible"/>
                                      </p:to>
                                    </p:set>
                                    <p:anim calcmode="lin" valueType="num">
                                      <p:cBhvr additive="base">
                                        <p:cTn id="7" dur="500" fill="hold"/>
                                        <p:tgtEl>
                                          <p:spTgt spid="1190920"/>
                                        </p:tgtEl>
                                        <p:attrNameLst>
                                          <p:attrName>ppt_x</p:attrName>
                                        </p:attrNameLst>
                                      </p:cBhvr>
                                      <p:tavLst>
                                        <p:tav tm="0">
                                          <p:val>
                                            <p:strVal val="#ppt_x"/>
                                          </p:val>
                                        </p:tav>
                                        <p:tav tm="100000">
                                          <p:val>
                                            <p:strVal val="#ppt_x"/>
                                          </p:val>
                                        </p:tav>
                                      </p:tavLst>
                                    </p:anim>
                                    <p:anim calcmode="lin" valueType="num">
                                      <p:cBhvr additive="base">
                                        <p:cTn id="8" dur="500" fill="hold"/>
                                        <p:tgtEl>
                                          <p:spTgt spid="119092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4" presetClass="entr" presetSubtype="0" accel="100000" fill="hold" grpId="0" nodeType="clickEffect">
                                  <p:stCondLst>
                                    <p:cond delay="0"/>
                                  </p:stCondLst>
                                  <p:childTnLst>
                                    <p:set>
                                      <p:cBhvr>
                                        <p:cTn id="12" dur="1" fill="hold">
                                          <p:stCondLst>
                                            <p:cond delay="0"/>
                                          </p:stCondLst>
                                        </p:cTn>
                                        <p:tgtEl>
                                          <p:spTgt spid="1190916">
                                            <p:bg/>
                                          </p:spTgt>
                                        </p:tgtEl>
                                        <p:attrNameLst>
                                          <p:attrName>style.visibility</p:attrName>
                                        </p:attrNameLst>
                                      </p:cBhvr>
                                      <p:to>
                                        <p:strVal val="visible"/>
                                      </p:to>
                                    </p:set>
                                    <p:anim calcmode="lin" valueType="num">
                                      <p:cBhvr>
                                        <p:cTn id="13" dur="500" fill="hold"/>
                                        <p:tgtEl>
                                          <p:spTgt spid="1190916">
                                            <p:bg/>
                                          </p:spTgt>
                                        </p:tgtEl>
                                        <p:attrNameLst>
                                          <p:attrName>ppt_w</p:attrName>
                                        </p:attrNameLst>
                                      </p:cBhvr>
                                      <p:tavLst>
                                        <p:tav tm="0">
                                          <p:val>
                                            <p:strVal val="#ppt_w*0.05"/>
                                          </p:val>
                                        </p:tav>
                                        <p:tav tm="100000">
                                          <p:val>
                                            <p:strVal val="#ppt_w"/>
                                          </p:val>
                                        </p:tav>
                                      </p:tavLst>
                                    </p:anim>
                                    <p:anim calcmode="lin" valueType="num">
                                      <p:cBhvr>
                                        <p:cTn id="14" dur="500" fill="hold"/>
                                        <p:tgtEl>
                                          <p:spTgt spid="1190916">
                                            <p:bg/>
                                          </p:spTgt>
                                        </p:tgtEl>
                                        <p:attrNameLst>
                                          <p:attrName>ppt_h</p:attrName>
                                        </p:attrNameLst>
                                      </p:cBhvr>
                                      <p:tavLst>
                                        <p:tav tm="0">
                                          <p:val>
                                            <p:strVal val="#ppt_h"/>
                                          </p:val>
                                        </p:tav>
                                        <p:tav tm="100000">
                                          <p:val>
                                            <p:strVal val="#ppt_h"/>
                                          </p:val>
                                        </p:tav>
                                      </p:tavLst>
                                    </p:anim>
                                    <p:anim calcmode="lin" valueType="num">
                                      <p:cBhvr>
                                        <p:cTn id="15" dur="500" fill="hold"/>
                                        <p:tgtEl>
                                          <p:spTgt spid="1190916">
                                            <p:bg/>
                                          </p:spTgt>
                                        </p:tgtEl>
                                        <p:attrNameLst>
                                          <p:attrName>ppt_x</p:attrName>
                                        </p:attrNameLst>
                                      </p:cBhvr>
                                      <p:tavLst>
                                        <p:tav tm="0">
                                          <p:val>
                                            <p:strVal val="#ppt_x-.2"/>
                                          </p:val>
                                        </p:tav>
                                        <p:tav tm="100000">
                                          <p:val>
                                            <p:strVal val="#ppt_x"/>
                                          </p:val>
                                        </p:tav>
                                      </p:tavLst>
                                    </p:anim>
                                    <p:anim calcmode="lin" valueType="num">
                                      <p:cBhvr>
                                        <p:cTn id="16" dur="500" fill="hold"/>
                                        <p:tgtEl>
                                          <p:spTgt spid="1190916">
                                            <p:bg/>
                                          </p:spTgt>
                                        </p:tgtEl>
                                        <p:attrNameLst>
                                          <p:attrName>ppt_y</p:attrName>
                                        </p:attrNameLst>
                                      </p:cBhvr>
                                      <p:tavLst>
                                        <p:tav tm="0">
                                          <p:val>
                                            <p:strVal val="#ppt_y"/>
                                          </p:val>
                                        </p:tav>
                                        <p:tav tm="100000">
                                          <p:val>
                                            <p:strVal val="#ppt_y"/>
                                          </p:val>
                                        </p:tav>
                                      </p:tavLst>
                                    </p:anim>
                                    <p:animEffect transition="in" filter="fade">
                                      <p:cBhvr>
                                        <p:cTn id="17" dur="500"/>
                                        <p:tgtEl>
                                          <p:spTgt spid="1190916">
                                            <p:bg/>
                                          </p:spTgt>
                                        </p:tgtEl>
                                      </p:cBhvr>
                                    </p:animEffect>
                                  </p:childTnLst>
                                </p:cTn>
                              </p:par>
                            </p:childTnLst>
                          </p:cTn>
                        </p:par>
                      </p:childTnLst>
                    </p:cTn>
                  </p:par>
                  <p:par>
                    <p:cTn id="18" fill="hold">
                      <p:stCondLst>
                        <p:cond delay="indefinite"/>
                      </p:stCondLst>
                      <p:childTnLst>
                        <p:par>
                          <p:cTn id="19" fill="hold">
                            <p:stCondLst>
                              <p:cond delay="0"/>
                            </p:stCondLst>
                            <p:childTnLst>
                              <p:par>
                                <p:cTn id="20" presetID="54" presetClass="entr" presetSubtype="0" accel="100000" fill="hold" grpId="0" nodeType="clickEffect">
                                  <p:stCondLst>
                                    <p:cond delay="0"/>
                                  </p:stCondLst>
                                  <p:childTnLst>
                                    <p:set>
                                      <p:cBhvr>
                                        <p:cTn id="21" dur="1" fill="hold">
                                          <p:stCondLst>
                                            <p:cond delay="0"/>
                                          </p:stCondLst>
                                        </p:cTn>
                                        <p:tgtEl>
                                          <p:spTgt spid="1190916">
                                            <p:txEl>
                                              <p:pRg st="0" end="0"/>
                                            </p:txEl>
                                          </p:spTgt>
                                        </p:tgtEl>
                                        <p:attrNameLst>
                                          <p:attrName>style.visibility</p:attrName>
                                        </p:attrNameLst>
                                      </p:cBhvr>
                                      <p:to>
                                        <p:strVal val="visible"/>
                                      </p:to>
                                    </p:set>
                                    <p:anim calcmode="lin" valueType="num">
                                      <p:cBhvr>
                                        <p:cTn id="22" dur="500" fill="hold"/>
                                        <p:tgtEl>
                                          <p:spTgt spid="1190916">
                                            <p:txEl>
                                              <p:pRg st="0" end="0"/>
                                            </p:txEl>
                                          </p:spTgt>
                                        </p:tgtEl>
                                        <p:attrNameLst>
                                          <p:attrName>ppt_w</p:attrName>
                                        </p:attrNameLst>
                                      </p:cBhvr>
                                      <p:tavLst>
                                        <p:tav tm="0">
                                          <p:val>
                                            <p:strVal val="#ppt_w*0.05"/>
                                          </p:val>
                                        </p:tav>
                                        <p:tav tm="100000">
                                          <p:val>
                                            <p:strVal val="#ppt_w"/>
                                          </p:val>
                                        </p:tav>
                                      </p:tavLst>
                                    </p:anim>
                                    <p:anim calcmode="lin" valueType="num">
                                      <p:cBhvr>
                                        <p:cTn id="23" dur="500" fill="hold"/>
                                        <p:tgtEl>
                                          <p:spTgt spid="1190916">
                                            <p:txEl>
                                              <p:pRg st="0" end="0"/>
                                            </p:txEl>
                                          </p:spTgt>
                                        </p:tgtEl>
                                        <p:attrNameLst>
                                          <p:attrName>ppt_h</p:attrName>
                                        </p:attrNameLst>
                                      </p:cBhvr>
                                      <p:tavLst>
                                        <p:tav tm="0">
                                          <p:val>
                                            <p:strVal val="#ppt_h"/>
                                          </p:val>
                                        </p:tav>
                                        <p:tav tm="100000">
                                          <p:val>
                                            <p:strVal val="#ppt_h"/>
                                          </p:val>
                                        </p:tav>
                                      </p:tavLst>
                                    </p:anim>
                                    <p:anim calcmode="lin" valueType="num">
                                      <p:cBhvr>
                                        <p:cTn id="24" dur="500" fill="hold"/>
                                        <p:tgtEl>
                                          <p:spTgt spid="1190916">
                                            <p:txEl>
                                              <p:pRg st="0" end="0"/>
                                            </p:txEl>
                                          </p:spTgt>
                                        </p:tgtEl>
                                        <p:attrNameLst>
                                          <p:attrName>ppt_x</p:attrName>
                                        </p:attrNameLst>
                                      </p:cBhvr>
                                      <p:tavLst>
                                        <p:tav tm="0">
                                          <p:val>
                                            <p:strVal val="#ppt_x-.2"/>
                                          </p:val>
                                        </p:tav>
                                        <p:tav tm="100000">
                                          <p:val>
                                            <p:strVal val="#ppt_x"/>
                                          </p:val>
                                        </p:tav>
                                      </p:tavLst>
                                    </p:anim>
                                    <p:anim calcmode="lin" valueType="num">
                                      <p:cBhvr>
                                        <p:cTn id="25" dur="500" fill="hold"/>
                                        <p:tgtEl>
                                          <p:spTgt spid="1190916">
                                            <p:txEl>
                                              <p:pRg st="0" end="0"/>
                                            </p:txEl>
                                          </p:spTgt>
                                        </p:tgtEl>
                                        <p:attrNameLst>
                                          <p:attrName>ppt_y</p:attrName>
                                        </p:attrNameLst>
                                      </p:cBhvr>
                                      <p:tavLst>
                                        <p:tav tm="0">
                                          <p:val>
                                            <p:strVal val="#ppt_y"/>
                                          </p:val>
                                        </p:tav>
                                        <p:tav tm="100000">
                                          <p:val>
                                            <p:strVal val="#ppt_y"/>
                                          </p:val>
                                        </p:tav>
                                      </p:tavLst>
                                    </p:anim>
                                    <p:animEffect transition="in" filter="fade">
                                      <p:cBhvr>
                                        <p:cTn id="26" dur="500"/>
                                        <p:tgtEl>
                                          <p:spTgt spid="1190916">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54" presetClass="entr" presetSubtype="0" accel="100000" fill="hold" grpId="0" nodeType="clickEffect">
                                  <p:stCondLst>
                                    <p:cond delay="0"/>
                                  </p:stCondLst>
                                  <p:childTnLst>
                                    <p:set>
                                      <p:cBhvr>
                                        <p:cTn id="30" dur="1" fill="hold">
                                          <p:stCondLst>
                                            <p:cond delay="0"/>
                                          </p:stCondLst>
                                        </p:cTn>
                                        <p:tgtEl>
                                          <p:spTgt spid="1190916">
                                            <p:txEl>
                                              <p:pRg st="1" end="1"/>
                                            </p:txEl>
                                          </p:spTgt>
                                        </p:tgtEl>
                                        <p:attrNameLst>
                                          <p:attrName>style.visibility</p:attrName>
                                        </p:attrNameLst>
                                      </p:cBhvr>
                                      <p:to>
                                        <p:strVal val="visible"/>
                                      </p:to>
                                    </p:set>
                                    <p:anim calcmode="lin" valueType="num">
                                      <p:cBhvr>
                                        <p:cTn id="31" dur="500" fill="hold"/>
                                        <p:tgtEl>
                                          <p:spTgt spid="1190916">
                                            <p:txEl>
                                              <p:pRg st="1" end="1"/>
                                            </p:txEl>
                                          </p:spTgt>
                                        </p:tgtEl>
                                        <p:attrNameLst>
                                          <p:attrName>ppt_w</p:attrName>
                                        </p:attrNameLst>
                                      </p:cBhvr>
                                      <p:tavLst>
                                        <p:tav tm="0">
                                          <p:val>
                                            <p:strVal val="#ppt_w*0.05"/>
                                          </p:val>
                                        </p:tav>
                                        <p:tav tm="100000">
                                          <p:val>
                                            <p:strVal val="#ppt_w"/>
                                          </p:val>
                                        </p:tav>
                                      </p:tavLst>
                                    </p:anim>
                                    <p:anim calcmode="lin" valueType="num">
                                      <p:cBhvr>
                                        <p:cTn id="32" dur="500" fill="hold"/>
                                        <p:tgtEl>
                                          <p:spTgt spid="1190916">
                                            <p:txEl>
                                              <p:pRg st="1" end="1"/>
                                            </p:txEl>
                                          </p:spTgt>
                                        </p:tgtEl>
                                        <p:attrNameLst>
                                          <p:attrName>ppt_h</p:attrName>
                                        </p:attrNameLst>
                                      </p:cBhvr>
                                      <p:tavLst>
                                        <p:tav tm="0">
                                          <p:val>
                                            <p:strVal val="#ppt_h"/>
                                          </p:val>
                                        </p:tav>
                                        <p:tav tm="100000">
                                          <p:val>
                                            <p:strVal val="#ppt_h"/>
                                          </p:val>
                                        </p:tav>
                                      </p:tavLst>
                                    </p:anim>
                                    <p:anim calcmode="lin" valueType="num">
                                      <p:cBhvr>
                                        <p:cTn id="33" dur="500" fill="hold"/>
                                        <p:tgtEl>
                                          <p:spTgt spid="1190916">
                                            <p:txEl>
                                              <p:pRg st="1" end="1"/>
                                            </p:txEl>
                                          </p:spTgt>
                                        </p:tgtEl>
                                        <p:attrNameLst>
                                          <p:attrName>ppt_x</p:attrName>
                                        </p:attrNameLst>
                                      </p:cBhvr>
                                      <p:tavLst>
                                        <p:tav tm="0">
                                          <p:val>
                                            <p:strVal val="#ppt_x-.2"/>
                                          </p:val>
                                        </p:tav>
                                        <p:tav tm="100000">
                                          <p:val>
                                            <p:strVal val="#ppt_x"/>
                                          </p:val>
                                        </p:tav>
                                      </p:tavLst>
                                    </p:anim>
                                    <p:anim calcmode="lin" valueType="num">
                                      <p:cBhvr>
                                        <p:cTn id="34" dur="500" fill="hold"/>
                                        <p:tgtEl>
                                          <p:spTgt spid="1190916">
                                            <p:txEl>
                                              <p:pRg st="1" end="1"/>
                                            </p:txEl>
                                          </p:spTgt>
                                        </p:tgtEl>
                                        <p:attrNameLst>
                                          <p:attrName>ppt_y</p:attrName>
                                        </p:attrNameLst>
                                      </p:cBhvr>
                                      <p:tavLst>
                                        <p:tav tm="0">
                                          <p:val>
                                            <p:strVal val="#ppt_y"/>
                                          </p:val>
                                        </p:tav>
                                        <p:tav tm="100000">
                                          <p:val>
                                            <p:strVal val="#ppt_y"/>
                                          </p:val>
                                        </p:tav>
                                      </p:tavLst>
                                    </p:anim>
                                    <p:animEffect transition="in" filter="fade">
                                      <p:cBhvr>
                                        <p:cTn id="35" dur="500"/>
                                        <p:tgtEl>
                                          <p:spTgt spid="1190916">
                                            <p:txEl>
                                              <p:pRg st="1" end="1"/>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54" presetClass="entr" presetSubtype="0" accel="100000" fill="hold" grpId="0" nodeType="clickEffect">
                                  <p:stCondLst>
                                    <p:cond delay="0"/>
                                  </p:stCondLst>
                                  <p:childTnLst>
                                    <p:set>
                                      <p:cBhvr>
                                        <p:cTn id="39" dur="1" fill="hold">
                                          <p:stCondLst>
                                            <p:cond delay="0"/>
                                          </p:stCondLst>
                                        </p:cTn>
                                        <p:tgtEl>
                                          <p:spTgt spid="1190916">
                                            <p:txEl>
                                              <p:pRg st="2" end="2"/>
                                            </p:txEl>
                                          </p:spTgt>
                                        </p:tgtEl>
                                        <p:attrNameLst>
                                          <p:attrName>style.visibility</p:attrName>
                                        </p:attrNameLst>
                                      </p:cBhvr>
                                      <p:to>
                                        <p:strVal val="visible"/>
                                      </p:to>
                                    </p:set>
                                    <p:anim calcmode="lin" valueType="num">
                                      <p:cBhvr>
                                        <p:cTn id="40" dur="500" fill="hold"/>
                                        <p:tgtEl>
                                          <p:spTgt spid="1190916">
                                            <p:txEl>
                                              <p:pRg st="2" end="2"/>
                                            </p:txEl>
                                          </p:spTgt>
                                        </p:tgtEl>
                                        <p:attrNameLst>
                                          <p:attrName>ppt_w</p:attrName>
                                        </p:attrNameLst>
                                      </p:cBhvr>
                                      <p:tavLst>
                                        <p:tav tm="0">
                                          <p:val>
                                            <p:strVal val="#ppt_w*0.05"/>
                                          </p:val>
                                        </p:tav>
                                        <p:tav tm="100000">
                                          <p:val>
                                            <p:strVal val="#ppt_w"/>
                                          </p:val>
                                        </p:tav>
                                      </p:tavLst>
                                    </p:anim>
                                    <p:anim calcmode="lin" valueType="num">
                                      <p:cBhvr>
                                        <p:cTn id="41" dur="500" fill="hold"/>
                                        <p:tgtEl>
                                          <p:spTgt spid="1190916">
                                            <p:txEl>
                                              <p:pRg st="2" end="2"/>
                                            </p:txEl>
                                          </p:spTgt>
                                        </p:tgtEl>
                                        <p:attrNameLst>
                                          <p:attrName>ppt_h</p:attrName>
                                        </p:attrNameLst>
                                      </p:cBhvr>
                                      <p:tavLst>
                                        <p:tav tm="0">
                                          <p:val>
                                            <p:strVal val="#ppt_h"/>
                                          </p:val>
                                        </p:tav>
                                        <p:tav tm="100000">
                                          <p:val>
                                            <p:strVal val="#ppt_h"/>
                                          </p:val>
                                        </p:tav>
                                      </p:tavLst>
                                    </p:anim>
                                    <p:anim calcmode="lin" valueType="num">
                                      <p:cBhvr>
                                        <p:cTn id="42" dur="500" fill="hold"/>
                                        <p:tgtEl>
                                          <p:spTgt spid="1190916">
                                            <p:txEl>
                                              <p:pRg st="2" end="2"/>
                                            </p:txEl>
                                          </p:spTgt>
                                        </p:tgtEl>
                                        <p:attrNameLst>
                                          <p:attrName>ppt_x</p:attrName>
                                        </p:attrNameLst>
                                      </p:cBhvr>
                                      <p:tavLst>
                                        <p:tav tm="0">
                                          <p:val>
                                            <p:strVal val="#ppt_x-.2"/>
                                          </p:val>
                                        </p:tav>
                                        <p:tav tm="100000">
                                          <p:val>
                                            <p:strVal val="#ppt_x"/>
                                          </p:val>
                                        </p:tav>
                                      </p:tavLst>
                                    </p:anim>
                                    <p:anim calcmode="lin" valueType="num">
                                      <p:cBhvr>
                                        <p:cTn id="43" dur="500" fill="hold"/>
                                        <p:tgtEl>
                                          <p:spTgt spid="1190916">
                                            <p:txEl>
                                              <p:pRg st="2" end="2"/>
                                            </p:txEl>
                                          </p:spTgt>
                                        </p:tgtEl>
                                        <p:attrNameLst>
                                          <p:attrName>ppt_y</p:attrName>
                                        </p:attrNameLst>
                                      </p:cBhvr>
                                      <p:tavLst>
                                        <p:tav tm="0">
                                          <p:val>
                                            <p:strVal val="#ppt_y"/>
                                          </p:val>
                                        </p:tav>
                                        <p:tav tm="100000">
                                          <p:val>
                                            <p:strVal val="#ppt_y"/>
                                          </p:val>
                                        </p:tav>
                                      </p:tavLst>
                                    </p:anim>
                                    <p:animEffect transition="in" filter="fade">
                                      <p:cBhvr>
                                        <p:cTn id="44" dur="500"/>
                                        <p:tgtEl>
                                          <p:spTgt spid="1190916">
                                            <p:txEl>
                                              <p:pRg st="2" end="2"/>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51" presetClass="entr" presetSubtype="0" fill="hold" grpId="0" nodeType="clickEffect">
                                  <p:stCondLst>
                                    <p:cond delay="0"/>
                                  </p:stCondLst>
                                  <p:childTnLst>
                                    <p:set>
                                      <p:cBhvr>
                                        <p:cTn id="48" dur="1" fill="hold">
                                          <p:stCondLst>
                                            <p:cond delay="0"/>
                                          </p:stCondLst>
                                        </p:cTn>
                                        <p:tgtEl>
                                          <p:spTgt spid="1190922"/>
                                        </p:tgtEl>
                                        <p:attrNameLst>
                                          <p:attrName>style.visibility</p:attrName>
                                        </p:attrNameLst>
                                      </p:cBhvr>
                                      <p:to>
                                        <p:strVal val="visible"/>
                                      </p:to>
                                    </p:set>
                                    <p:animEffect transition="in" filter="fade">
                                      <p:cBhvr>
                                        <p:cTn id="49" dur="770" decel="100000"/>
                                        <p:tgtEl>
                                          <p:spTgt spid="1190922"/>
                                        </p:tgtEl>
                                      </p:cBhvr>
                                    </p:animEffect>
                                    <p:animScale>
                                      <p:cBhvr>
                                        <p:cTn id="50" dur="770" decel="100000"/>
                                        <p:tgtEl>
                                          <p:spTgt spid="1190922"/>
                                        </p:tgtEl>
                                      </p:cBhvr>
                                      <p:from x="10000" y="10000"/>
                                      <p:to x="200000" y="450000"/>
                                    </p:animScale>
                                    <p:animScale>
                                      <p:cBhvr>
                                        <p:cTn id="51" dur="1230" accel="100000" fill="hold">
                                          <p:stCondLst>
                                            <p:cond delay="770"/>
                                          </p:stCondLst>
                                        </p:cTn>
                                        <p:tgtEl>
                                          <p:spTgt spid="1190922"/>
                                        </p:tgtEl>
                                      </p:cBhvr>
                                      <p:from x="200000" y="450000"/>
                                      <p:to x="100000" y="100000"/>
                                    </p:animScale>
                                    <p:set>
                                      <p:cBhvr>
                                        <p:cTn id="52" dur="770" fill="hold"/>
                                        <p:tgtEl>
                                          <p:spTgt spid="1190922"/>
                                        </p:tgtEl>
                                        <p:attrNameLst>
                                          <p:attrName>ppt_x</p:attrName>
                                        </p:attrNameLst>
                                      </p:cBhvr>
                                      <p:to>
                                        <p:strVal val="(0.5)"/>
                                      </p:to>
                                    </p:set>
                                    <p:anim from="(0.5)" to="(#ppt_x)" calcmode="lin" valueType="num">
                                      <p:cBhvr>
                                        <p:cTn id="53" dur="1230" accel="100000" fill="hold">
                                          <p:stCondLst>
                                            <p:cond delay="770"/>
                                          </p:stCondLst>
                                        </p:cTn>
                                        <p:tgtEl>
                                          <p:spTgt spid="1190922"/>
                                        </p:tgtEl>
                                        <p:attrNameLst>
                                          <p:attrName>ppt_x</p:attrName>
                                        </p:attrNameLst>
                                      </p:cBhvr>
                                    </p:anim>
                                    <p:set>
                                      <p:cBhvr>
                                        <p:cTn id="54" dur="770" fill="hold"/>
                                        <p:tgtEl>
                                          <p:spTgt spid="1190922"/>
                                        </p:tgtEl>
                                        <p:attrNameLst>
                                          <p:attrName>ppt_y</p:attrName>
                                        </p:attrNameLst>
                                      </p:cBhvr>
                                      <p:to>
                                        <p:strVal val="(#ppt_y+0.4)"/>
                                      </p:to>
                                    </p:set>
                                    <p:anim from="(#ppt_y+0.4)" to="(#ppt_y)" calcmode="lin" valueType="num">
                                      <p:cBhvr>
                                        <p:cTn id="55" dur="1230" accel="100000" fill="hold">
                                          <p:stCondLst>
                                            <p:cond delay="770"/>
                                          </p:stCondLst>
                                        </p:cTn>
                                        <p:tgtEl>
                                          <p:spTgt spid="1190922"/>
                                        </p:tgtEl>
                                        <p:attrNameLst>
                                          <p:attrName>ppt_y</p:attrName>
                                        </p:attrNameLst>
                                      </p:cBhvr>
                                    </p:anim>
                                  </p:childTnLst>
                                </p:cTn>
                              </p:par>
                            </p:childTnLst>
                          </p:cTn>
                        </p:par>
                      </p:childTnLst>
                    </p:cTn>
                  </p:par>
                  <p:par>
                    <p:cTn id="56" fill="hold">
                      <p:stCondLst>
                        <p:cond delay="indefinite"/>
                      </p:stCondLst>
                      <p:childTnLst>
                        <p:par>
                          <p:cTn id="57" fill="hold">
                            <p:stCondLst>
                              <p:cond delay="0"/>
                            </p:stCondLst>
                            <p:childTnLst>
                              <p:par>
                                <p:cTn id="58" presetID="21" presetClass="entr" presetSubtype="4" fill="hold" grpId="0" nodeType="clickEffect">
                                  <p:stCondLst>
                                    <p:cond delay="0"/>
                                  </p:stCondLst>
                                  <p:childTnLst>
                                    <p:set>
                                      <p:cBhvr>
                                        <p:cTn id="59" dur="1" fill="hold">
                                          <p:stCondLst>
                                            <p:cond delay="0"/>
                                          </p:stCondLst>
                                        </p:cTn>
                                        <p:tgtEl>
                                          <p:spTgt spid="1190921">
                                            <p:bg/>
                                          </p:spTgt>
                                        </p:tgtEl>
                                        <p:attrNameLst>
                                          <p:attrName>style.visibility</p:attrName>
                                        </p:attrNameLst>
                                      </p:cBhvr>
                                      <p:to>
                                        <p:strVal val="visible"/>
                                      </p:to>
                                    </p:set>
                                    <p:animEffect transition="in" filter="wheel(4)">
                                      <p:cBhvr>
                                        <p:cTn id="60" dur="2000"/>
                                        <p:tgtEl>
                                          <p:spTgt spid="1190921">
                                            <p:bg/>
                                          </p:spTgt>
                                        </p:tgtEl>
                                      </p:cBhvr>
                                    </p:animEffect>
                                  </p:childTnLst>
                                </p:cTn>
                              </p:par>
                            </p:childTnLst>
                          </p:cTn>
                        </p:par>
                      </p:childTnLst>
                    </p:cTn>
                  </p:par>
                  <p:par>
                    <p:cTn id="61" fill="hold">
                      <p:stCondLst>
                        <p:cond delay="indefinite"/>
                      </p:stCondLst>
                      <p:childTnLst>
                        <p:par>
                          <p:cTn id="62" fill="hold">
                            <p:stCondLst>
                              <p:cond delay="0"/>
                            </p:stCondLst>
                            <p:childTnLst>
                              <p:par>
                                <p:cTn id="63" presetID="21" presetClass="entr" presetSubtype="4" fill="hold" grpId="0" nodeType="clickEffect">
                                  <p:stCondLst>
                                    <p:cond delay="0"/>
                                  </p:stCondLst>
                                  <p:childTnLst>
                                    <p:set>
                                      <p:cBhvr>
                                        <p:cTn id="64" dur="1" fill="hold">
                                          <p:stCondLst>
                                            <p:cond delay="0"/>
                                          </p:stCondLst>
                                        </p:cTn>
                                        <p:tgtEl>
                                          <p:spTgt spid="1190921">
                                            <p:txEl>
                                              <p:pRg st="0" end="0"/>
                                            </p:txEl>
                                          </p:spTgt>
                                        </p:tgtEl>
                                        <p:attrNameLst>
                                          <p:attrName>style.visibility</p:attrName>
                                        </p:attrNameLst>
                                      </p:cBhvr>
                                      <p:to>
                                        <p:strVal val="visible"/>
                                      </p:to>
                                    </p:set>
                                    <p:animEffect transition="in" filter="wheel(4)">
                                      <p:cBhvr>
                                        <p:cTn id="65" dur="2000"/>
                                        <p:tgtEl>
                                          <p:spTgt spid="1190921">
                                            <p:txEl>
                                              <p:pRg st="0" end="0"/>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21" presetClass="entr" presetSubtype="4" fill="hold" grpId="0" nodeType="clickEffect">
                                  <p:stCondLst>
                                    <p:cond delay="0"/>
                                  </p:stCondLst>
                                  <p:childTnLst>
                                    <p:set>
                                      <p:cBhvr>
                                        <p:cTn id="69" dur="1" fill="hold">
                                          <p:stCondLst>
                                            <p:cond delay="0"/>
                                          </p:stCondLst>
                                        </p:cTn>
                                        <p:tgtEl>
                                          <p:spTgt spid="1190921">
                                            <p:txEl>
                                              <p:pRg st="1" end="1"/>
                                            </p:txEl>
                                          </p:spTgt>
                                        </p:tgtEl>
                                        <p:attrNameLst>
                                          <p:attrName>style.visibility</p:attrName>
                                        </p:attrNameLst>
                                      </p:cBhvr>
                                      <p:to>
                                        <p:strVal val="visible"/>
                                      </p:to>
                                    </p:set>
                                    <p:animEffect transition="in" filter="wheel(4)">
                                      <p:cBhvr>
                                        <p:cTn id="70" dur="2000"/>
                                        <p:tgtEl>
                                          <p:spTgt spid="119092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0916" grpId="0" build="p" animBg="1"/>
      <p:bldP spid="1190920" grpId="0" animBg="1"/>
      <p:bldP spid="1190921" grpId="0" build="p" animBg="1"/>
      <p:bldP spid="1190922"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 xmlns:a16="http://schemas.microsoft.com/office/drawing/2014/main" id="{312FBC45-C347-AA9E-782C-30566E4C3B9F}"/>
            </a:ext>
          </a:extLst>
        </p:cNvPr>
        <p:cNvGrpSpPr/>
        <p:nvPr/>
      </p:nvGrpSpPr>
      <p:grpSpPr>
        <a:xfrm>
          <a:off x="0" y="0"/>
          <a:ext cx="0" cy="0"/>
          <a:chOff x="0" y="0"/>
          <a:chExt cx="0" cy="0"/>
        </a:xfrm>
      </p:grpSpPr>
      <p:sp>
        <p:nvSpPr>
          <p:cNvPr id="2" name="Rectangle 10">
            <a:extLst>
              <a:ext uri="{FF2B5EF4-FFF2-40B4-BE49-F238E27FC236}">
                <a16:creationId xmlns="" xmlns:a16="http://schemas.microsoft.com/office/drawing/2014/main" id="{DA08BF1F-ED7D-FAFE-8448-44B87EDA016A}"/>
              </a:ext>
            </a:extLst>
          </p:cNvPr>
          <p:cNvSpPr>
            <a:spLocks noChangeArrowheads="1"/>
          </p:cNvSpPr>
          <p:nvPr/>
        </p:nvSpPr>
        <p:spPr bwMode="auto">
          <a:xfrm>
            <a:off x="760413" y="142875"/>
            <a:ext cx="3203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排序算法应用</a:t>
            </a:r>
          </a:p>
        </p:txBody>
      </p:sp>
      <p:pic>
        <p:nvPicPr>
          <p:cNvPr id="4" name="图片 3">
            <a:extLst>
              <a:ext uri="{FF2B5EF4-FFF2-40B4-BE49-F238E27FC236}">
                <a16:creationId xmlns="" xmlns:a16="http://schemas.microsoft.com/office/drawing/2014/main" id="{C246AACD-4ACD-D682-CE3C-7B04FA3AE3C9}"/>
              </a:ext>
            </a:extLst>
          </p:cNvPr>
          <p:cNvPicPr>
            <a:picLocks noChangeAspect="1"/>
          </p:cNvPicPr>
          <p:nvPr/>
        </p:nvPicPr>
        <p:blipFill>
          <a:blip r:embed="rId2"/>
          <a:stretch>
            <a:fillRect/>
          </a:stretch>
        </p:blipFill>
        <p:spPr>
          <a:xfrm>
            <a:off x="178202" y="1333500"/>
            <a:ext cx="8389535" cy="4399756"/>
          </a:xfrm>
          <a:prstGeom prst="rect">
            <a:avLst/>
          </a:prstGeom>
        </p:spPr>
      </p:pic>
    </p:spTree>
    <p:extLst>
      <p:ext uri="{BB962C8B-B14F-4D97-AF65-F5344CB8AC3E}">
        <p14:creationId xmlns:p14="http://schemas.microsoft.com/office/powerpoint/2010/main" val="2600019672"/>
      </p:ext>
    </p:extLst>
  </p:cSld>
  <p:clrMapOvr>
    <a:masterClrMapping/>
  </p:clrMapOvr>
  <p:transition spd="slow"/>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图片 5">
            <a:extLst>
              <a:ext uri="{FF2B5EF4-FFF2-40B4-BE49-F238E27FC236}">
                <a16:creationId xmlns="" xmlns:a16="http://schemas.microsoft.com/office/drawing/2014/main" id="{843DCA98-DBE2-D248-A179-E43D43DB1059}"/>
              </a:ext>
            </a:extLst>
          </p:cNvPr>
          <p:cNvPicPr>
            <a:picLocks noChangeAspect="1"/>
          </p:cNvPicPr>
          <p:nvPr/>
        </p:nvPicPr>
        <p:blipFill>
          <a:blip r:embed="rId2"/>
          <a:stretch>
            <a:fillRect/>
          </a:stretch>
        </p:blipFill>
        <p:spPr>
          <a:xfrm>
            <a:off x="2610754" y="1772816"/>
            <a:ext cx="6408712" cy="3856627"/>
          </a:xfrm>
          <a:prstGeom prst="rect">
            <a:avLst/>
          </a:prstGeom>
        </p:spPr>
      </p:pic>
      <p:pic>
        <p:nvPicPr>
          <p:cNvPr id="4" name="Picture 6">
            <a:extLst>
              <a:ext uri="{FF2B5EF4-FFF2-40B4-BE49-F238E27FC236}">
                <a16:creationId xmlns="" xmlns:a16="http://schemas.microsoft.com/office/drawing/2014/main" id="{579D3352-4A81-5F58-6C9F-301A17516429}"/>
              </a:ext>
            </a:extLst>
          </p:cNvPr>
          <p:cNvPicPr>
            <a:picLocks noChangeAspect="1"/>
          </p:cNvPicPr>
          <p:nvPr/>
        </p:nvPicPr>
        <p:blipFill>
          <a:blip r:embed="rId3">
            <a:alphaModFix/>
          </a:blip>
          <a:srcRect/>
          <a:stretch>
            <a:fillRect/>
          </a:stretch>
        </p:blipFill>
        <p:spPr>
          <a:xfrm>
            <a:off x="-108520" y="2011234"/>
            <a:ext cx="2755163" cy="2755163"/>
          </a:xfrm>
          <a:prstGeom prst="ellipse">
            <a:avLst/>
          </a:prstGeom>
        </p:spPr>
      </p:pic>
      <p:sp>
        <p:nvSpPr>
          <p:cNvPr id="7" name="Rectangle 10">
            <a:extLst>
              <a:ext uri="{FF2B5EF4-FFF2-40B4-BE49-F238E27FC236}">
                <a16:creationId xmlns="" xmlns:a16="http://schemas.microsoft.com/office/drawing/2014/main" id="{ECCE8677-D5F2-8C64-186E-0A359F134BDD}"/>
              </a:ext>
            </a:extLst>
          </p:cNvPr>
          <p:cNvSpPr>
            <a:spLocks noChangeArrowheads="1"/>
          </p:cNvSpPr>
          <p:nvPr/>
        </p:nvSpPr>
        <p:spPr bwMode="auto">
          <a:xfrm>
            <a:off x="760413" y="142875"/>
            <a:ext cx="3203575" cy="533400"/>
          </a:xfrm>
          <a:prstGeom prst="rect">
            <a:avLst/>
          </a:prstGeom>
        </p:spPr>
        <p:txBody>
          <a:bodyPr/>
          <a:lstStyle/>
          <a:p>
            <a:pPr marL="0" marR="0" lvl="0" indent="0" algn="l" defTabSz="914400" rtl="0" eaLnBrk="0" fontAlgn="base" latinLnBrk="0" hangingPunct="0">
              <a:lnSpc>
                <a:spcPct val="125000"/>
              </a:lnSpc>
              <a:spcBef>
                <a:spcPct val="0"/>
              </a:spcBef>
              <a:spcAft>
                <a:spcPct val="0"/>
              </a:spcAft>
              <a:buClrTx/>
              <a:buSzTx/>
              <a:buFontTx/>
              <a:buNone/>
              <a:defRPr/>
            </a:pPr>
            <a:r>
              <a:rPr kumimoji="0" lang="zh-CN" altLang="en-US" sz="2800" b="0" i="0" u="none" strike="noStrike" kern="0" cap="none" spc="0" normalizeH="0" baseline="0" noProof="0" dirty="0">
                <a:ln>
                  <a:noFill/>
                </a:ln>
                <a:solidFill>
                  <a:schemeClr val="bg1"/>
                </a:solidFill>
                <a:effectLst/>
                <a:uLnTx/>
                <a:uFillTx/>
                <a:latin typeface="+mn-lt"/>
                <a:ea typeface="+mn-ea"/>
                <a:cs typeface="+mn-ea"/>
                <a:sym typeface="+mn-lt"/>
              </a:rPr>
              <a:t>排序算法应用</a:t>
            </a:r>
          </a:p>
        </p:txBody>
      </p:sp>
    </p:spTree>
    <p:extLst>
      <p:ext uri="{BB962C8B-B14F-4D97-AF65-F5344CB8AC3E}">
        <p14:creationId xmlns:p14="http://schemas.microsoft.com/office/powerpoint/2010/main" val="3145919313"/>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矩形 28"/>
          <p:cNvSpPr/>
          <p:nvPr/>
        </p:nvSpPr>
        <p:spPr bwMode="auto">
          <a:xfrm>
            <a:off x="0" y="-66675"/>
            <a:ext cx="9144000" cy="6924675"/>
          </a:xfrm>
          <a:prstGeom prst="rect">
            <a:avLst/>
          </a:prstGeom>
          <a:solidFill>
            <a:schemeClr val="accent3">
              <a:alpha val="2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0" name="平行四边形 19"/>
          <p:cNvSpPr/>
          <p:nvPr/>
        </p:nvSpPr>
        <p:spPr>
          <a:xfrm>
            <a:off x="423863" y="1474788"/>
            <a:ext cx="7134225" cy="2644775"/>
          </a:xfrm>
          <a:prstGeom prst="parallelogram">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800" b="1" i="0" u="none" strike="noStrike" kern="1200" cap="none" spc="0" normalizeH="0" baseline="0" noProof="0" dirty="0">
              <a:ln>
                <a:noFill/>
              </a:ln>
              <a:solidFill>
                <a:schemeClr val="lt1"/>
              </a:solidFill>
              <a:effectLst/>
              <a:uLnTx/>
              <a:uFillTx/>
              <a:latin typeface="+mn-lt"/>
              <a:ea typeface="+mn-ea"/>
              <a:cs typeface="+mn-ea"/>
              <a:sym typeface="+mn-lt"/>
            </a:endParaRPr>
          </a:p>
        </p:txBody>
      </p:sp>
      <p:sp>
        <p:nvSpPr>
          <p:cNvPr id="21" name="平行四边形 20"/>
          <p:cNvSpPr/>
          <p:nvPr/>
        </p:nvSpPr>
        <p:spPr>
          <a:xfrm>
            <a:off x="1104900" y="1960563"/>
            <a:ext cx="7477125" cy="2644775"/>
          </a:xfrm>
          <a:prstGeom prst="parallelogram">
            <a:avLst/>
          </a:prstGeom>
          <a:solidFill>
            <a:srgbClr val="6C4C8F">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800" b="1" i="0" u="none" strike="noStrike" kern="1200" cap="none" spc="0" normalizeH="0" baseline="0" noProof="0">
              <a:ln>
                <a:noFill/>
              </a:ln>
              <a:solidFill>
                <a:schemeClr val="lt1"/>
              </a:solidFill>
              <a:effectLst/>
              <a:uLnTx/>
              <a:uFillTx/>
              <a:latin typeface="+mn-lt"/>
              <a:ea typeface="+mn-ea"/>
              <a:cs typeface="+mn-ea"/>
              <a:sym typeface="+mn-lt"/>
            </a:endParaRPr>
          </a:p>
        </p:txBody>
      </p:sp>
      <p:sp>
        <p:nvSpPr>
          <p:cNvPr id="24" name="文本框 23"/>
          <p:cNvSpPr txBox="1"/>
          <p:nvPr/>
        </p:nvSpPr>
        <p:spPr>
          <a:xfrm>
            <a:off x="2219325" y="2087563"/>
            <a:ext cx="5832475" cy="831850"/>
          </a:xfrm>
          <a:prstGeom prst="rect">
            <a:avLst/>
          </a:prstGeom>
          <a:noFill/>
          <a:ln w="0">
            <a:noFill/>
          </a:ln>
        </p:spPr>
        <p:txBody>
          <a:bodyPr lIns="89535" tIns="46355" rIns="89535" bIns="46355">
            <a:spAutoFit/>
          </a:bodyPr>
          <a:lstStyle/>
          <a:p>
            <a:pPr marR="0" algn="dist" defTabSz="508000" fontAlgn="auto">
              <a:spcBef>
                <a:spcPts val="0"/>
              </a:spcBef>
              <a:spcAft>
                <a:spcPts val="0"/>
              </a:spcAft>
              <a:buClrTx/>
              <a:buSzTx/>
              <a:buFontTx/>
              <a:buNone/>
              <a:defRPr/>
            </a:pPr>
            <a:r>
              <a:rPr kumimoji="0" lang="zh-CN" altLang="en-US" sz="4800" kern="1200" cap="none" spc="0" normalizeH="0" baseline="0" noProof="0" dirty="0">
                <a:solidFill>
                  <a:schemeClr val="bg1"/>
                </a:solidFill>
                <a:latin typeface="+mn-lt"/>
                <a:ea typeface="+mn-ea"/>
                <a:cs typeface="+mn-ea"/>
                <a:sym typeface="+mn-lt"/>
              </a:rPr>
              <a:t>互助互利 共同进步</a:t>
            </a:r>
            <a:endParaRPr kumimoji="0" lang="ko-KR" altLang="en-US" sz="4800" kern="1200" cap="none" spc="0" normalizeH="0" baseline="0" noProof="0" dirty="0">
              <a:solidFill>
                <a:schemeClr val="bg1"/>
              </a:solidFill>
              <a:latin typeface="+mn-lt"/>
              <a:ea typeface="+mn-ea"/>
              <a:cs typeface="+mn-ea"/>
              <a:sym typeface="+mn-lt"/>
            </a:endParaRPr>
          </a:p>
        </p:txBody>
      </p:sp>
      <p:cxnSp>
        <p:nvCxnSpPr>
          <p:cNvPr id="25" name="直接连接符 24"/>
          <p:cNvCxnSpPr/>
          <p:nvPr/>
        </p:nvCxnSpPr>
        <p:spPr>
          <a:xfrm>
            <a:off x="1952625" y="2989263"/>
            <a:ext cx="5986463" cy="0"/>
          </a:xfrm>
          <a:prstGeom prst="line">
            <a:avLst/>
          </a:prstGeom>
          <a:ln>
            <a:solidFill>
              <a:schemeClr val="bg1"/>
            </a:solidFill>
            <a:headEnd type="none" w="med" len="med"/>
            <a:tailEnd type="none" w="med" len="med"/>
          </a:ln>
        </p:spPr>
        <p:style>
          <a:lnRef idx="1">
            <a:schemeClr val="dk1"/>
          </a:lnRef>
          <a:fillRef idx="0">
            <a:schemeClr val="dk1"/>
          </a:fillRef>
          <a:effectRef idx="0">
            <a:schemeClr val="dk1"/>
          </a:effectRef>
          <a:fontRef idx="minor">
            <a:schemeClr val="tx1"/>
          </a:fontRef>
        </p:style>
      </p:cxnSp>
      <p:sp>
        <p:nvSpPr>
          <p:cNvPr id="26" name="文本框 25"/>
          <p:cNvSpPr txBox="1"/>
          <p:nvPr/>
        </p:nvSpPr>
        <p:spPr>
          <a:xfrm>
            <a:off x="2185988" y="3205163"/>
            <a:ext cx="5397500" cy="400050"/>
          </a:xfrm>
          <a:prstGeom prst="rect">
            <a:avLst/>
          </a:prstGeom>
          <a:noFill/>
          <a:ln w="12700">
            <a:solidFill>
              <a:schemeClr val="bg1"/>
            </a:solidFill>
          </a:ln>
        </p:spPr>
        <p:txBody>
          <a:bodyPr lIns="89535" tIns="46355" rIns="89535" bIns="46355">
            <a:spAutoFit/>
          </a:bodyPr>
          <a:lstStyle/>
          <a:p>
            <a:pPr marR="0" defTabSz="508000" fontAlgn="auto">
              <a:spcBef>
                <a:spcPts val="0"/>
              </a:spcBef>
              <a:spcAft>
                <a:spcPts val="0"/>
              </a:spcAft>
              <a:buClrTx/>
              <a:buSzTx/>
              <a:buFontTx/>
              <a:buNone/>
              <a:defRPr/>
            </a:pPr>
            <a:r>
              <a:rPr kumimoji="0" lang="zh-CN" altLang="en-US" sz="2000" kern="1200" cap="none" spc="0" normalizeH="0" baseline="0" noProof="0" dirty="0">
                <a:solidFill>
                  <a:schemeClr val="bg1"/>
                </a:solidFill>
                <a:latin typeface="+mn-lt"/>
                <a:ea typeface="+mn-ea"/>
                <a:cs typeface="+mn-ea"/>
                <a:sym typeface="+mn-lt"/>
              </a:rPr>
              <a:t>数据结构（</a:t>
            </a:r>
            <a:r>
              <a:rPr kumimoji="0" lang="en-US" altLang="zh-CN" sz="2000" kern="1200" cap="none" spc="0" normalizeH="0" baseline="0" noProof="0" dirty="0">
                <a:solidFill>
                  <a:schemeClr val="bg1"/>
                </a:solidFill>
                <a:latin typeface="+mn-lt"/>
                <a:ea typeface="+mn-ea"/>
                <a:cs typeface="+mn-ea"/>
                <a:sym typeface="+mn-lt"/>
              </a:rPr>
              <a:t>C</a:t>
            </a:r>
            <a:r>
              <a:rPr kumimoji="0" lang="zh-CN" altLang="en-US" sz="2000" kern="1200" cap="none" spc="0" normalizeH="0" baseline="0" noProof="0" dirty="0">
                <a:solidFill>
                  <a:schemeClr val="bg1"/>
                </a:solidFill>
                <a:latin typeface="+mn-lt"/>
                <a:ea typeface="+mn-ea"/>
                <a:cs typeface="+mn-ea"/>
                <a:sym typeface="+mn-lt"/>
              </a:rPr>
              <a:t>语言版）（第</a:t>
            </a:r>
            <a:r>
              <a:rPr kumimoji="0" lang="en-US" altLang="zh-CN" sz="2000" kern="1200" cap="none" spc="0" normalizeH="0" baseline="0" noProof="0" dirty="0">
                <a:solidFill>
                  <a:schemeClr val="bg1"/>
                </a:solidFill>
                <a:latin typeface="+mn-lt"/>
                <a:ea typeface="+mn-ea"/>
                <a:cs typeface="+mn-ea"/>
                <a:sym typeface="+mn-lt"/>
              </a:rPr>
              <a:t>2</a:t>
            </a:r>
            <a:r>
              <a:rPr kumimoji="0" lang="zh-CN" altLang="en-US" sz="2000" kern="1200" cap="none" spc="0" normalizeH="0" baseline="0" noProof="0" dirty="0">
                <a:solidFill>
                  <a:schemeClr val="bg1"/>
                </a:solidFill>
                <a:latin typeface="+mn-lt"/>
                <a:ea typeface="+mn-ea"/>
                <a:cs typeface="+mn-ea"/>
                <a:sym typeface="+mn-lt"/>
              </a:rPr>
              <a:t>版）</a:t>
            </a:r>
          </a:p>
        </p:txBody>
      </p:sp>
      <p:sp>
        <p:nvSpPr>
          <p:cNvPr id="30" name="平行四边形 29"/>
          <p:cNvSpPr/>
          <p:nvPr/>
        </p:nvSpPr>
        <p:spPr>
          <a:xfrm>
            <a:off x="663575" y="1166813"/>
            <a:ext cx="882650" cy="574675"/>
          </a:xfrm>
          <a:prstGeom prst="parallelogram">
            <a:avLst>
              <a:gd name="adj" fmla="val 24123"/>
            </a:avLst>
          </a:pr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800" b="1" i="0" u="none" strike="noStrike" kern="1200" cap="none" spc="0" normalizeH="0" baseline="0" noProof="0">
              <a:ln>
                <a:noFill/>
              </a:ln>
              <a:solidFill>
                <a:schemeClr val="lt1"/>
              </a:solidFill>
              <a:effectLst/>
              <a:uLnTx/>
              <a:uFillTx/>
              <a:latin typeface="+mn-lt"/>
              <a:ea typeface="+mn-ea"/>
              <a:cs typeface="+mn-ea"/>
              <a:sym typeface="+mn-lt"/>
            </a:endParaRPr>
          </a:p>
        </p:txBody>
      </p:sp>
      <p:sp>
        <p:nvSpPr>
          <p:cNvPr id="31" name="平行四边形 30"/>
          <p:cNvSpPr/>
          <p:nvPr/>
        </p:nvSpPr>
        <p:spPr>
          <a:xfrm>
            <a:off x="7583488" y="4414838"/>
            <a:ext cx="733425" cy="374650"/>
          </a:xfrm>
          <a:prstGeom prst="parallelogram">
            <a:avLst>
              <a:gd name="adj" fmla="val 24123"/>
            </a:avLst>
          </a:pr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800" b="1" i="0" u="none" strike="noStrike" kern="1200" cap="none" spc="0" normalizeH="0" baseline="0" noProof="0">
              <a:ln>
                <a:noFill/>
              </a:ln>
              <a:solidFill>
                <a:schemeClr val="lt1"/>
              </a:solidFill>
              <a:effectLst/>
              <a:uLnTx/>
              <a:uFillTx/>
              <a:latin typeface="+mn-lt"/>
              <a:ea typeface="+mn-ea"/>
              <a:cs typeface="+mn-ea"/>
              <a:sym typeface="+mn-lt"/>
            </a:endParaRPr>
          </a:p>
        </p:txBody>
      </p:sp>
      <p:pic>
        <p:nvPicPr>
          <p:cNvPr id="6" name="图片 5"/>
          <p:cNvPicPr>
            <a:picLocks noChangeAspect="1"/>
          </p:cNvPicPr>
          <p:nvPr/>
        </p:nvPicPr>
        <p:blipFill>
          <a:blip r:embed="rId3"/>
          <a:stretch>
            <a:fillRect/>
          </a:stretch>
        </p:blipFill>
        <p:spPr>
          <a:xfrm>
            <a:off x="2219325" y="3776663"/>
            <a:ext cx="1638300" cy="339725"/>
          </a:xfrm>
          <a:prstGeom prst="rect">
            <a:avLst/>
          </a:prstGeom>
          <a:noFill/>
          <a:ln w="9525">
            <a:noFill/>
          </a:ln>
        </p:spPr>
      </p:pic>
      <p:sp>
        <p:nvSpPr>
          <p:cNvPr id="18"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1" i="0" u="none" strike="noStrike" kern="1200" cap="none" spc="0" normalizeH="0" baseline="0" noProof="0">
              <a:ln>
                <a:noFill/>
              </a:ln>
              <a:solidFill>
                <a:schemeClr val="dk1"/>
              </a:solidFill>
              <a:effectLst/>
              <a:uLnTx/>
              <a:uFillTx/>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1000"/>
                                        <p:tgtEl>
                                          <p:spTgt spid="21"/>
                                        </p:tgtEl>
                                      </p:cBhvr>
                                    </p:animEffect>
                                    <p:anim calcmode="lin" valueType="num">
                                      <p:cBhvr>
                                        <p:cTn id="13" dur="1000" fill="hold"/>
                                        <p:tgtEl>
                                          <p:spTgt spid="21"/>
                                        </p:tgtEl>
                                        <p:attrNameLst>
                                          <p:attrName>ppt_x</p:attrName>
                                        </p:attrNameLst>
                                      </p:cBhvr>
                                      <p:tavLst>
                                        <p:tav tm="0">
                                          <p:val>
                                            <p:strVal val="#ppt_x"/>
                                          </p:val>
                                        </p:tav>
                                        <p:tav tm="100000">
                                          <p:val>
                                            <p:strVal val="#ppt_x"/>
                                          </p:val>
                                        </p:tav>
                                      </p:tavLst>
                                    </p:anim>
                                    <p:anim calcmode="lin" valueType="num">
                                      <p:cBhvr>
                                        <p:cTn id="14" dur="1000" fill="hold"/>
                                        <p:tgtEl>
                                          <p:spTgt spid="21"/>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1000"/>
                                        <p:tgtEl>
                                          <p:spTgt spid="24"/>
                                        </p:tgtEl>
                                      </p:cBhvr>
                                    </p:animEffect>
                                    <p:anim calcmode="lin" valueType="num">
                                      <p:cBhvr>
                                        <p:cTn id="18" dur="1000" fill="hold"/>
                                        <p:tgtEl>
                                          <p:spTgt spid="24"/>
                                        </p:tgtEl>
                                        <p:attrNameLst>
                                          <p:attrName>ppt_x</p:attrName>
                                        </p:attrNameLst>
                                      </p:cBhvr>
                                      <p:tavLst>
                                        <p:tav tm="0">
                                          <p:val>
                                            <p:strVal val="#ppt_x"/>
                                          </p:val>
                                        </p:tav>
                                        <p:tav tm="100000">
                                          <p:val>
                                            <p:strVal val="#ppt_x"/>
                                          </p:val>
                                        </p:tav>
                                      </p:tavLst>
                                    </p:anim>
                                    <p:anim calcmode="lin" valueType="num">
                                      <p:cBhvr>
                                        <p:cTn id="19" dur="1000" fill="hold"/>
                                        <p:tgtEl>
                                          <p:spTgt spid="24"/>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fade">
                                      <p:cBhvr>
                                        <p:cTn id="22" dur="1000"/>
                                        <p:tgtEl>
                                          <p:spTgt spid="25"/>
                                        </p:tgtEl>
                                      </p:cBhvr>
                                    </p:animEffect>
                                    <p:anim calcmode="lin" valueType="num">
                                      <p:cBhvr>
                                        <p:cTn id="23" dur="1000" fill="hold"/>
                                        <p:tgtEl>
                                          <p:spTgt spid="25"/>
                                        </p:tgtEl>
                                        <p:attrNameLst>
                                          <p:attrName>ppt_x</p:attrName>
                                        </p:attrNameLst>
                                      </p:cBhvr>
                                      <p:tavLst>
                                        <p:tav tm="0">
                                          <p:val>
                                            <p:strVal val="#ppt_x"/>
                                          </p:val>
                                        </p:tav>
                                        <p:tav tm="100000">
                                          <p:val>
                                            <p:strVal val="#ppt_x"/>
                                          </p:val>
                                        </p:tav>
                                      </p:tavLst>
                                    </p:anim>
                                    <p:anim calcmode="lin" valueType="num">
                                      <p:cBhvr>
                                        <p:cTn id="24" dur="1000" fill="hold"/>
                                        <p:tgtEl>
                                          <p:spTgt spid="25"/>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1000"/>
                                        <p:tgtEl>
                                          <p:spTgt spid="26"/>
                                        </p:tgtEl>
                                      </p:cBhvr>
                                    </p:animEffect>
                                    <p:anim calcmode="lin" valueType="num">
                                      <p:cBhvr>
                                        <p:cTn id="28" dur="1000" fill="hold"/>
                                        <p:tgtEl>
                                          <p:spTgt spid="26"/>
                                        </p:tgtEl>
                                        <p:attrNameLst>
                                          <p:attrName>ppt_x</p:attrName>
                                        </p:attrNameLst>
                                      </p:cBhvr>
                                      <p:tavLst>
                                        <p:tav tm="0">
                                          <p:val>
                                            <p:strVal val="#ppt_x"/>
                                          </p:val>
                                        </p:tav>
                                        <p:tav tm="100000">
                                          <p:val>
                                            <p:strVal val="#ppt_x"/>
                                          </p:val>
                                        </p:tav>
                                      </p:tavLst>
                                    </p:anim>
                                    <p:anim calcmode="lin" valueType="num">
                                      <p:cBhvr>
                                        <p:cTn id="29" dur="1000" fill="hold"/>
                                        <p:tgtEl>
                                          <p:spTgt spid="26"/>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1000"/>
                                        <p:tgtEl>
                                          <p:spTgt spid="30"/>
                                        </p:tgtEl>
                                      </p:cBhvr>
                                    </p:animEffect>
                                    <p:anim calcmode="lin" valueType="num">
                                      <p:cBhvr>
                                        <p:cTn id="33" dur="1000" fill="hold"/>
                                        <p:tgtEl>
                                          <p:spTgt spid="30"/>
                                        </p:tgtEl>
                                        <p:attrNameLst>
                                          <p:attrName>ppt_x</p:attrName>
                                        </p:attrNameLst>
                                      </p:cBhvr>
                                      <p:tavLst>
                                        <p:tav tm="0">
                                          <p:val>
                                            <p:strVal val="#ppt_x"/>
                                          </p:val>
                                        </p:tav>
                                        <p:tav tm="100000">
                                          <p:val>
                                            <p:strVal val="#ppt_x"/>
                                          </p:val>
                                        </p:tav>
                                      </p:tavLst>
                                    </p:anim>
                                    <p:anim calcmode="lin" valueType="num">
                                      <p:cBhvr>
                                        <p:cTn id="34" dur="1000" fill="hold"/>
                                        <p:tgtEl>
                                          <p:spTgt spid="30"/>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fade">
                                      <p:cBhvr>
                                        <p:cTn id="37" dur="1000"/>
                                        <p:tgtEl>
                                          <p:spTgt spid="31"/>
                                        </p:tgtEl>
                                      </p:cBhvr>
                                    </p:animEffect>
                                    <p:anim calcmode="lin" valueType="num">
                                      <p:cBhvr>
                                        <p:cTn id="38" dur="1000" fill="hold"/>
                                        <p:tgtEl>
                                          <p:spTgt spid="31"/>
                                        </p:tgtEl>
                                        <p:attrNameLst>
                                          <p:attrName>ppt_x</p:attrName>
                                        </p:attrNameLst>
                                      </p:cBhvr>
                                      <p:tavLst>
                                        <p:tav tm="0">
                                          <p:val>
                                            <p:strVal val="#ppt_x"/>
                                          </p:val>
                                        </p:tav>
                                        <p:tav tm="100000">
                                          <p:val>
                                            <p:strVal val="#ppt_x"/>
                                          </p:val>
                                        </p:tav>
                                      </p:tavLst>
                                    </p:anim>
                                    <p:anim calcmode="lin" valueType="num">
                                      <p:cBhvr>
                                        <p:cTn id="39" dur="1000" fill="hold"/>
                                        <p:tgtEl>
                                          <p:spTgt spid="31"/>
                                        </p:tgtEl>
                                        <p:attrNameLst>
                                          <p:attrName>ppt_y</p:attrName>
                                        </p:attrNameLst>
                                      </p:cBhvr>
                                      <p:tavLst>
                                        <p:tav tm="0">
                                          <p:val>
                                            <p:strVal val="#ppt_y+.1"/>
                                          </p:val>
                                        </p:tav>
                                        <p:tav tm="100000">
                                          <p:val>
                                            <p:strVal val="#ppt_y"/>
                                          </p:val>
                                        </p:tav>
                                      </p:tavLst>
                                    </p:anim>
                                  </p:childTnLst>
                                </p:cTn>
                              </p:par>
                              <p:par>
                                <p:cTn id="40" presetID="42" presetClass="entr" presetSubtype="0" fill="hold" nodeType="with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1000"/>
                                        <p:tgtEl>
                                          <p:spTgt spid="6"/>
                                        </p:tgtEl>
                                      </p:cBhvr>
                                    </p:animEffect>
                                    <p:anim calcmode="lin" valueType="num">
                                      <p:cBhvr>
                                        <p:cTn id="43" dur="1000" fill="hold"/>
                                        <p:tgtEl>
                                          <p:spTgt spid="6"/>
                                        </p:tgtEl>
                                        <p:attrNameLst>
                                          <p:attrName>ppt_x</p:attrName>
                                        </p:attrNameLst>
                                      </p:cBhvr>
                                      <p:tavLst>
                                        <p:tav tm="0">
                                          <p:val>
                                            <p:strVal val="#ppt_x"/>
                                          </p:val>
                                        </p:tav>
                                        <p:tav tm="100000">
                                          <p:val>
                                            <p:strVal val="#ppt_x"/>
                                          </p:val>
                                        </p:tav>
                                      </p:tavLst>
                                    </p:anim>
                                    <p:anim calcmode="lin" valueType="num">
                                      <p:cBhvr>
                                        <p:cTn id="4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4" grpId="0"/>
      <p:bldP spid="26" grpId="0" animBg="1"/>
      <p:bldP spid="30" grpId="0" animBg="1"/>
      <p:bldP spid="31"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KSO_WPP_MARK_KEY" val="5e977389-368a-45d5-8927-51a258db605d"/>
  <p:tag name="COMMONDATA" val="eyJoZGlkIjoiZjhkMjM2ZGM2ZmEyYjQ3YmNmOTBkMTVhNzBmNjcyNmMifQ=="/>
</p:tagLst>
</file>

<file path=ppt/tags/tag2.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3.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6.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8.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0.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5.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6.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7.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8.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9.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20.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21.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22.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23.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24.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25.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2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27.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2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2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30.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3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32.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33.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3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3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36.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37.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3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3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40.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41.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42.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4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4.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4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9.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50.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51.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2.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5.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56.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5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5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59.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60.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1.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6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6.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67.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68.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69.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70.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71.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72.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73.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74.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75.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76.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7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78.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7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80.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8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8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83.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84.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8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86.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87.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88.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8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90.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91.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92.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93.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9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95.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9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9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9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9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00.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01.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02.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0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0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0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06.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0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0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0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10.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1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2.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1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7.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18.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19.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20.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21.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22.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23.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24.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25.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26.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27.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2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29.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30.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4.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35.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36.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37.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38.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39.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40.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41.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42.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43.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44.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4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46.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4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4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4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50.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51.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52.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5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5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5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56.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5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5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5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60.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61.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6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3.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6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8.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69.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70.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71.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72.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7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74.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75.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76.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7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78.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7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80.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8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8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8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8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heme/theme1.xml><?xml version="1.0" encoding="utf-8"?>
<a:theme xmlns:a="http://schemas.openxmlformats.org/drawingml/2006/main" name="1_默认设计模板">
  <a:themeElements>
    <a:clrScheme name="自定义 33">
      <a:dk1>
        <a:srgbClr val="000000"/>
      </a:dk1>
      <a:lt1>
        <a:srgbClr val="FEFFFF"/>
      </a:lt1>
      <a:dk2>
        <a:srgbClr val="000000"/>
      </a:dk2>
      <a:lt2>
        <a:srgbClr val="969696"/>
      </a:lt2>
      <a:accent1>
        <a:srgbClr val="6C4C8F"/>
      </a:accent1>
      <a:accent2>
        <a:srgbClr val="3333CC"/>
      </a:accent2>
      <a:accent3>
        <a:srgbClr val="FEFFFF"/>
      </a:accent3>
      <a:accent4>
        <a:srgbClr val="000000"/>
      </a:accent4>
      <a:accent5>
        <a:srgbClr val="AAE2CA"/>
      </a:accent5>
      <a:accent6>
        <a:srgbClr val="2D2DB9"/>
      </a:accent6>
      <a:hlink>
        <a:srgbClr val="0000FF"/>
      </a:hlink>
      <a:folHlink>
        <a:srgbClr val="003366"/>
      </a:folHlink>
    </a:clrScheme>
    <a:fontScheme name="mowxx4hs">
      <a:majorFont>
        <a:latin typeface="Times New Roman"/>
        <a:ea typeface="Microsoft YaHei"/>
        <a:cs typeface=""/>
      </a:majorFont>
      <a:minorFont>
        <a:latin typeface="Times New Roman"/>
        <a:ea typeface="Microsoft YaHei"/>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defRPr>
        </a:defPPr>
      </a:lstStyle>
    </a:spDef>
    <a:ln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defRPr>
        </a:defPPr>
      </a:lstStyle>
    </a:lnDef>
  </a:objectDefaults>
  <a:extraClrSchemeLst>
    <a:extraClrScheme>
      <a:clrScheme name="默认设计模板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默认设计模板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默认设计模板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默认设计模板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默认设计模板">
  <a:themeElements>
    <a:clrScheme name="自定义 33">
      <a:dk1>
        <a:srgbClr val="000000"/>
      </a:dk1>
      <a:lt1>
        <a:srgbClr val="FEFFFF"/>
      </a:lt1>
      <a:dk2>
        <a:srgbClr val="000000"/>
      </a:dk2>
      <a:lt2>
        <a:srgbClr val="969696"/>
      </a:lt2>
      <a:accent1>
        <a:srgbClr val="6C4C8F"/>
      </a:accent1>
      <a:accent2>
        <a:srgbClr val="3333CC"/>
      </a:accent2>
      <a:accent3>
        <a:srgbClr val="FEFFFF"/>
      </a:accent3>
      <a:accent4>
        <a:srgbClr val="000000"/>
      </a:accent4>
      <a:accent5>
        <a:srgbClr val="AAE2CA"/>
      </a:accent5>
      <a:accent6>
        <a:srgbClr val="2D2DB9"/>
      </a:accent6>
      <a:hlink>
        <a:srgbClr val="0000FF"/>
      </a:hlink>
      <a:folHlink>
        <a:srgbClr val="003366"/>
      </a:folHlink>
    </a:clrScheme>
    <a:fontScheme name="mowxx4hs">
      <a:majorFont>
        <a:latin typeface="Times New Roman"/>
        <a:ea typeface="Microsoft YaHei"/>
        <a:cs typeface=""/>
      </a:majorFont>
      <a:minorFont>
        <a:latin typeface="Times New Roman"/>
        <a:ea typeface="Microsoft YaHei"/>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defRPr>
        </a:defPPr>
      </a:lstStyle>
    </a:spDef>
    <a:ln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defRPr>
        </a:defPPr>
      </a:lstStyle>
    </a:lnDef>
  </a:objectDefaults>
  <a:extraClrSchemeLst>
    <a:extraClrScheme>
      <a:clrScheme name="默认设计模板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默认设计模板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默认设计模板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默认设计模板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159</TotalTime>
  <Words>15845</Words>
  <Application>Microsoft Office PowerPoint</Application>
  <PresentationFormat>全屏显示(4:3)</PresentationFormat>
  <Paragraphs>4723</Paragraphs>
  <Slides>261</Slides>
  <Notes>25</Notes>
  <HiddenSlides>0</HiddenSlides>
  <MMClips>0</MMClips>
  <ScaleCrop>false</ScaleCrop>
  <HeadingPairs>
    <vt:vector size="6" baseType="variant">
      <vt:variant>
        <vt:lpstr>主题</vt:lpstr>
      </vt:variant>
      <vt:variant>
        <vt:i4>2</vt:i4>
      </vt:variant>
      <vt:variant>
        <vt:lpstr>嵌入 OLE 服务器</vt:lpstr>
      </vt:variant>
      <vt:variant>
        <vt:i4>3</vt:i4>
      </vt:variant>
      <vt:variant>
        <vt:lpstr>幻灯片标题</vt:lpstr>
      </vt:variant>
      <vt:variant>
        <vt:i4>261</vt:i4>
      </vt:variant>
    </vt:vector>
  </HeadingPairs>
  <TitlesOfParts>
    <vt:vector size="266" baseType="lpstr">
      <vt:lpstr>1_默认设计模板</vt:lpstr>
      <vt:lpstr>默认设计模板</vt:lpstr>
      <vt:lpstr>Microsoft 公式 3.0</vt:lpstr>
      <vt:lpstr>SmartDraw.2</vt:lpstr>
      <vt:lpstr>Microsoft Word 97 - 2003 文档</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bjfu</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wyw-office</dc:creator>
  <cp:lastModifiedBy>wyw-office</cp:lastModifiedBy>
  <cp:revision>26</cp:revision>
  <dcterms:created xsi:type="dcterms:W3CDTF">1996-07-15T15:40:00Z</dcterms:created>
  <dcterms:modified xsi:type="dcterms:W3CDTF">2025-06-03T02:58:27Z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2052-12.1.0.17857</vt:lpwstr>
  </property>
  <property fmtid="{D5CDD505-2E9C-101B-9397-08002B2CF9AE}" pid="3" name="ICV">
    <vt:lpwstr>B8906FA08D774B9B8BF0693719C75D0E_12</vt:lpwstr>
  </property>
</Properties>
</file>